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表紙スライド。経済学・経済政策の全体像を示す。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PART1区切りスライド。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PART2区切りスライド。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01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経済学・経済政策</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マクロ経済学とミクロ経済学の2分野、36論点。「用語の定義」と「グラフの動く方向」を正確に押さえれば得点源にできる、数式・グラフ問題中心の科目。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36</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4</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28/36</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docs/textbook/A_economics_textbook.md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A-1〜A-6</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経済指標の見方や読み方</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日本経済は今どんな状態にあるのか。それを客観的に把握するための「ものさし」となる経済指標を扱う。ニュースで見る数字の意味を正確に理解することがゴール。</a:t>
            </a:r>
            <a:endParaRPr lang="en-US" sz="1400" dirty="0"/>
          </a:p>
        </p:txBody>
      </p:sp>
      <p:sp>
        <p:nvSpPr>
          <p:cNvPr id="6" name="Shape 4"/>
          <p:cNvSpPr/>
          <p:nvPr/>
        </p:nvSpPr>
        <p:spPr>
          <a:xfrm>
            <a:off x="640080" y="4800600"/>
            <a:ext cx="1184148" cy="384048"/>
          </a:xfrm>
          <a:prstGeom prst="rect">
            <a:avLst/>
          </a:prstGeom>
          <a:ln w="9525">
            <a:solidFill>
              <a:srgbClr val="7F7F7F"/>
            </a:solidFill>
            <a:prstDash val="solid"/>
          </a:ln>
        </p:spPr>
      </p:sp>
      <p:sp>
        <p:nvSpPr>
          <p:cNvPr id="7" name="Text 5"/>
          <p:cNvSpPr txBox="1"/>
          <p:nvPr/>
        </p:nvSpPr>
        <p:spPr>
          <a:xfrm>
            <a:off x="640080" y="4800600"/>
            <a:ext cx="118414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 GDP</a:t>
            </a:r>
            <a:endParaRPr lang="en-US" sz="1000" dirty="0"/>
          </a:p>
        </p:txBody>
      </p:sp>
      <p:sp>
        <p:nvSpPr>
          <p:cNvPr id="8" name="Shape 6"/>
          <p:cNvSpPr/>
          <p:nvPr/>
        </p:nvSpPr>
        <p:spPr>
          <a:xfrm>
            <a:off x="2052828" y="4800600"/>
            <a:ext cx="1307592" cy="384048"/>
          </a:xfrm>
          <a:prstGeom prst="rect">
            <a:avLst/>
          </a:prstGeom>
          <a:ln w="9525">
            <a:solidFill>
              <a:srgbClr val="7F7F7F"/>
            </a:solidFill>
            <a:prstDash val="solid"/>
          </a:ln>
        </p:spPr>
      </p:sp>
      <p:sp>
        <p:nvSpPr>
          <p:cNvPr id="9" name="Text 7"/>
          <p:cNvSpPr txBox="1"/>
          <p:nvPr/>
        </p:nvSpPr>
        <p:spPr>
          <a:xfrm>
            <a:off x="20528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A-3 物価指数</a:t>
            </a:r>
            <a:endParaRPr lang="en-US" sz="1000" dirty="0"/>
          </a:p>
        </p:txBody>
      </p:sp>
      <p:sp>
        <p:nvSpPr>
          <p:cNvPr id="10" name="Shape 8"/>
          <p:cNvSpPr/>
          <p:nvPr/>
        </p:nvSpPr>
        <p:spPr>
          <a:xfrm>
            <a:off x="3589020" y="4800600"/>
            <a:ext cx="1307592" cy="384048"/>
          </a:xfrm>
          <a:prstGeom prst="rect">
            <a:avLst/>
          </a:prstGeom>
          <a:ln w="9525">
            <a:solidFill>
              <a:srgbClr val="7F7F7F"/>
            </a:solidFill>
            <a:prstDash val="solid"/>
          </a:ln>
        </p:spPr>
      </p:sp>
      <p:sp>
        <p:nvSpPr>
          <p:cNvPr id="11" name="Text 9"/>
          <p:cNvSpPr txBox="1"/>
          <p:nvPr/>
        </p:nvSpPr>
        <p:spPr>
          <a:xfrm>
            <a:off x="3589020"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A-6 国際収支</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 ／ 国民経済計算の概念・国民所得統計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GDPは「国内」の付加価値の合計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同じ経済活動を生産・分配・支出の3側面から見ても合計額は必ず一致する（三面等価の原則）。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a:t>
            </a:r>
            <a:endParaRPr lang="en-US" sz="1500" dirty="0"/>
          </a:p>
        </p:txBody>
      </p:sp>
      <p:sp>
        <p:nvSpPr>
          <p:cNvPr id="9" name="Text 7"/>
          <p:cNvSpPr txBox="1"/>
          <p:nvPr/>
        </p:nvSpPr>
        <p:spPr>
          <a:xfrm>
            <a:off x="2148840" y="191109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国内総生産</a:t>
            </a:r>
            <a:endParaRPr lang="en-US" sz="1100" dirty="0"/>
          </a:p>
        </p:txBody>
      </p:sp>
      <p:sp>
        <p:nvSpPr>
          <p:cNvPr id="10" name="Text 8"/>
          <p:cNvSpPr txBox="1"/>
          <p:nvPr/>
        </p:nvSpPr>
        <p:spPr>
          <a:xfrm>
            <a:off x="4069080" y="1856232"/>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国内で生産された付加価値の合計（国籍を問わない）</a:t>
            </a:r>
            <a:endParaRPr lang="en-US" sz="1100" dirty="0"/>
          </a:p>
        </p:txBody>
      </p:sp>
      <p:sp>
        <p:nvSpPr>
          <p:cNvPr id="11" name="Shape 9"/>
          <p:cNvSpPr/>
          <p:nvPr/>
        </p:nvSpPr>
        <p:spPr>
          <a:xfrm>
            <a:off x="502920" y="2624328"/>
            <a:ext cx="11201400" cy="0"/>
          </a:xfrm>
          <a:prstGeom prst="line">
            <a:avLst/>
          </a:prstGeom>
          <a:noFill/>
          <a:ln w="12700">
            <a:solidFill>
              <a:srgbClr val="E6E6E6"/>
            </a:solidFill>
            <a:prstDash val="solid"/>
          </a:ln>
        </p:spPr>
      </p:sp>
      <p:sp>
        <p:nvSpPr>
          <p:cNvPr id="12" name="Text 10"/>
          <p:cNvSpPr txBox="1"/>
          <p:nvPr/>
        </p:nvSpPr>
        <p:spPr>
          <a:xfrm>
            <a:off x="502920" y="2734056"/>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GNI／GNP</a:t>
            </a:r>
            <a:endParaRPr lang="en-US" sz="1500" dirty="0"/>
          </a:p>
        </p:txBody>
      </p:sp>
      <p:sp>
        <p:nvSpPr>
          <p:cNvPr id="13" name="Text 11"/>
          <p:cNvSpPr txBox="1"/>
          <p:nvPr/>
        </p:nvSpPr>
        <p:spPr>
          <a:xfrm>
            <a:off x="2148840" y="2752344"/>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国民総所得</a:t>
            </a:r>
            <a:endParaRPr lang="en-US" sz="1100" dirty="0"/>
          </a:p>
        </p:txBody>
      </p:sp>
      <p:sp>
        <p:nvSpPr>
          <p:cNvPr id="14" name="Text 12"/>
          <p:cNvSpPr txBox="1"/>
          <p:nvPr/>
        </p:nvSpPr>
        <p:spPr>
          <a:xfrm>
            <a:off x="4069080" y="2697480"/>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自国民（居住者）が生み出した所得の合計。GNI＝GDP＋海外からの純所得受取</a:t>
            </a:r>
            <a:endParaRPr lang="en-US" sz="1100" dirty="0"/>
          </a:p>
        </p:txBody>
      </p:sp>
      <p:sp>
        <p:nvSpPr>
          <p:cNvPr id="15" name="Shape 13"/>
          <p:cNvSpPr/>
          <p:nvPr/>
        </p:nvSpPr>
        <p:spPr>
          <a:xfrm>
            <a:off x="502920" y="3465576"/>
            <a:ext cx="11201400" cy="0"/>
          </a:xfrm>
          <a:prstGeom prst="line">
            <a:avLst/>
          </a:prstGeom>
          <a:noFill/>
          <a:ln w="12700">
            <a:solidFill>
              <a:srgbClr val="E6E6E6"/>
            </a:solidFill>
            <a:prstDash val="solid"/>
          </a:ln>
        </p:spPr>
      </p:sp>
      <p:sp>
        <p:nvSpPr>
          <p:cNvPr id="16" name="Text 14"/>
          <p:cNvSpPr txBox="1"/>
          <p:nvPr/>
        </p:nvSpPr>
        <p:spPr>
          <a:xfrm>
            <a:off x="502920" y="3575304"/>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NNP</a:t>
            </a:r>
            <a:endParaRPr lang="en-US" sz="1500" dirty="0"/>
          </a:p>
        </p:txBody>
      </p:sp>
      <p:sp>
        <p:nvSpPr>
          <p:cNvPr id="17" name="Text 15"/>
          <p:cNvSpPr txBox="1"/>
          <p:nvPr/>
        </p:nvSpPr>
        <p:spPr>
          <a:xfrm>
            <a:off x="2148840" y="3593592"/>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国民純生産</a:t>
            </a:r>
            <a:endParaRPr lang="en-US" sz="1100" dirty="0"/>
          </a:p>
        </p:txBody>
      </p:sp>
      <p:sp>
        <p:nvSpPr>
          <p:cNvPr id="18" name="Text 16"/>
          <p:cNvSpPr txBox="1"/>
          <p:nvPr/>
        </p:nvSpPr>
        <p:spPr>
          <a:xfrm>
            <a:off x="4069080" y="3538728"/>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GNP（GNI）から固定資本減耗（減価償却相当）を差し引いたもの</a:t>
            </a:r>
            <a:endParaRPr lang="en-US" sz="1100" dirty="0"/>
          </a:p>
        </p:txBody>
      </p:sp>
      <p:sp>
        <p:nvSpPr>
          <p:cNvPr id="19" name="Shape 17"/>
          <p:cNvSpPr/>
          <p:nvPr/>
        </p:nvSpPr>
        <p:spPr>
          <a:xfrm>
            <a:off x="502920" y="4306824"/>
            <a:ext cx="11201400" cy="0"/>
          </a:xfrm>
          <a:prstGeom prst="line">
            <a:avLst/>
          </a:prstGeom>
          <a:noFill/>
          <a:ln w="12700">
            <a:solidFill>
              <a:srgbClr val="E6E6E6"/>
            </a:solidFill>
            <a:prstDash val="solid"/>
          </a:ln>
        </p:spPr>
      </p:sp>
      <p:sp>
        <p:nvSpPr>
          <p:cNvPr id="20" name="Text 18"/>
          <p:cNvSpPr txBox="1"/>
          <p:nvPr/>
        </p:nvSpPr>
        <p:spPr>
          <a:xfrm>
            <a:off x="502920" y="4416552"/>
            <a:ext cx="15544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NI</a:t>
            </a:r>
            <a:endParaRPr lang="en-US" sz="1500" dirty="0"/>
          </a:p>
        </p:txBody>
      </p:sp>
      <p:sp>
        <p:nvSpPr>
          <p:cNvPr id="21" name="Text 19"/>
          <p:cNvSpPr txBox="1"/>
          <p:nvPr/>
        </p:nvSpPr>
        <p:spPr>
          <a:xfrm>
            <a:off x="2148840" y="4434840"/>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国民所得</a:t>
            </a:r>
            <a:endParaRPr lang="en-US" sz="1100" dirty="0"/>
          </a:p>
        </p:txBody>
      </p:sp>
      <p:sp>
        <p:nvSpPr>
          <p:cNvPr id="22" name="Text 20"/>
          <p:cNvSpPr txBox="1"/>
          <p:nvPr/>
        </p:nvSpPr>
        <p:spPr>
          <a:xfrm>
            <a:off x="4069080" y="4379976"/>
            <a:ext cx="7635240" cy="68580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NNPから間接税を差し引き、補助金を加えたもの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ひっかけ：GDPは一定期間の「フロー」概念。ある時点の資産総額を示す「ストック」（国富等）と混同しないこと。中古品・株式の売買はGDPに計上されない。</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A-2 ／ 雇用統計（失業率、有効求人倍率等）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完全失業率と有効求人倍率で労働市場を見る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15歳以上人口は労働力人口と非労働力人口に分かれ、労働力人口はさらに就業者と完全失業者に分かれる。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15歳以上人口は「労働力人口」（働く意思のある人）と「非労働力人口」に分かれ、労働力人口はさらに「就業者」と「完全失業者」に分かれる。</a:t>
            </a:r>
            <a:endParaRPr lang="en-US" sz="1150" dirty="0"/>
          </a:p>
        </p:txBody>
      </p:sp>
      <p:sp>
        <p:nvSpPr>
          <p:cNvPr id="9" name="Text 7"/>
          <p:cNvSpPr txBox="1"/>
          <p:nvPr/>
        </p:nvSpPr>
        <p:spPr>
          <a:xfrm>
            <a:off x="502920" y="22219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完全失業率</a:t>
            </a:r>
            <a:endParaRPr lang="en-US" sz="1150" dirty="0"/>
          </a:p>
        </p:txBody>
      </p:sp>
      <p:sp>
        <p:nvSpPr>
          <p:cNvPr id="10" name="Shape 8"/>
          <p:cNvSpPr/>
          <p:nvPr/>
        </p:nvSpPr>
        <p:spPr>
          <a:xfrm>
            <a:off x="2039112" y="2221992"/>
            <a:ext cx="0" cy="256032"/>
          </a:xfrm>
          <a:prstGeom prst="line">
            <a:avLst/>
          </a:prstGeom>
          <a:noFill/>
          <a:ln w="12700">
            <a:solidFill>
              <a:srgbClr val="E6E6E6"/>
            </a:solidFill>
            <a:prstDash val="solid"/>
          </a:ln>
        </p:spPr>
      </p:sp>
      <p:sp>
        <p:nvSpPr>
          <p:cNvPr id="11" name="Text 9"/>
          <p:cNvSpPr txBox="1"/>
          <p:nvPr/>
        </p:nvSpPr>
        <p:spPr>
          <a:xfrm>
            <a:off x="2194560" y="22219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完全失業者数 ÷ 労働力人口 × 100。仕事がなく、求職活動をしている人が対象</a:t>
            </a:r>
            <a:endParaRPr lang="en-US" sz="1150" dirty="0"/>
          </a:p>
        </p:txBody>
      </p:sp>
      <p:sp>
        <p:nvSpPr>
          <p:cNvPr id="12" name="Text 10"/>
          <p:cNvSpPr txBox="1"/>
          <p:nvPr/>
        </p:nvSpPr>
        <p:spPr>
          <a:xfrm>
            <a:off x="502920" y="267919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有効求人倍率</a:t>
            </a:r>
            <a:endParaRPr lang="en-US" sz="1150" dirty="0"/>
          </a:p>
        </p:txBody>
      </p:sp>
      <p:sp>
        <p:nvSpPr>
          <p:cNvPr id="13" name="Shape 11"/>
          <p:cNvSpPr/>
          <p:nvPr/>
        </p:nvSpPr>
        <p:spPr>
          <a:xfrm>
            <a:off x="2039112" y="2679192"/>
            <a:ext cx="0" cy="256032"/>
          </a:xfrm>
          <a:prstGeom prst="line">
            <a:avLst/>
          </a:prstGeom>
          <a:noFill/>
          <a:ln w="12700">
            <a:solidFill>
              <a:srgbClr val="E6E6E6"/>
            </a:solidFill>
            <a:prstDash val="solid"/>
          </a:ln>
        </p:spPr>
      </p:sp>
      <p:sp>
        <p:nvSpPr>
          <p:cNvPr id="14" name="Text 12"/>
          <p:cNvSpPr txBox="1"/>
          <p:nvPr/>
        </p:nvSpPr>
        <p:spPr>
          <a:xfrm>
            <a:off x="2194560" y="267919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有効求人数 ÷ 有効求職者数。1.0超は「人手不足・売り手市場」を示す</a:t>
            </a:r>
            <a:endParaRPr lang="en-US" sz="1150" dirty="0"/>
          </a:p>
        </p:txBody>
      </p:sp>
      <p:sp>
        <p:nvSpPr>
          <p:cNvPr id="15" name="Text 13"/>
          <p:cNvSpPr txBox="1"/>
          <p:nvPr/>
        </p:nvSpPr>
        <p:spPr>
          <a:xfrm>
            <a:off x="502920" y="322783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好景気で企業が採用を増やすと有効求人倍率は上昇し、完全失業率は低下する傾向。不況期は逆の動きになる。</a:t>
            </a:r>
            <a:endParaRPr lang="en-US" sz="850" dirty="0"/>
          </a:p>
        </p:txBody>
      </p:sp>
      <p:sp>
        <p:nvSpPr>
          <p:cNvPr id="16" name="Text 14"/>
          <p:cNvSpPr txBox="1"/>
          <p:nvPr/>
        </p:nvSpPr>
        <p:spPr>
          <a:xfrm>
            <a:off x="502920" y="384962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完全失業率の低下＝景気回復とは限らない。求職をあきらめた人（求職意欲喪失効果）が非労働力人口に移ると、分母が縮み見かけ上失業率が下がることがある。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A-3 ／ 物価指数（CPI、GDPデフレーター等）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3つの物価指数と2つの計算方式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物価の測り方には対象範囲の異なる3指標と、ウェイトの取り方が異なる2つの計算方式がある。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CPI</a:t>
            </a:r>
            <a:endParaRPr lang="en-US" sz="1500" dirty="0"/>
          </a:p>
        </p:txBody>
      </p:sp>
      <p:sp>
        <p:nvSpPr>
          <p:cNvPr id="9" name="Text 7"/>
          <p:cNvSpPr txBox="1"/>
          <p:nvPr/>
        </p:nvSpPr>
        <p:spPr>
          <a:xfrm>
            <a:off x="2971800" y="19110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消費者物価指数</a:t>
            </a:r>
            <a:endParaRPr lang="en-US" sz="1100" dirty="0"/>
          </a:p>
        </p:txBody>
      </p:sp>
      <p:sp>
        <p:nvSpPr>
          <p:cNvPr id="10" name="Text 8"/>
          <p:cNvSpPr txBox="1"/>
          <p:nvPr/>
        </p:nvSpPr>
        <p:spPr>
          <a:xfrm>
            <a:off x="5440680" y="18562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総務省公表。消費者が購入する財・サービスの価格変動（ラスパイレス方式）</a:t>
            </a:r>
            <a:endParaRPr lang="en-US" sz="1100" dirty="0"/>
          </a:p>
        </p:txBody>
      </p:sp>
      <p:sp>
        <p:nvSpPr>
          <p:cNvPr id="11" name="Shape 9"/>
          <p:cNvSpPr/>
          <p:nvPr/>
        </p:nvSpPr>
        <p:spPr>
          <a:xfrm>
            <a:off x="502920" y="2697480"/>
            <a:ext cx="11201400" cy="0"/>
          </a:xfrm>
          <a:prstGeom prst="line">
            <a:avLst/>
          </a:prstGeom>
          <a:noFill/>
          <a:ln w="12700">
            <a:solidFill>
              <a:srgbClr val="E6E6E6"/>
            </a:solidFill>
            <a:prstDash val="solid"/>
          </a:ln>
        </p:spPr>
      </p:sp>
      <p:sp>
        <p:nvSpPr>
          <p:cNvPr id="12" name="Text 10"/>
          <p:cNvSpPr txBox="1"/>
          <p:nvPr/>
        </p:nvSpPr>
        <p:spPr>
          <a:xfrm>
            <a:off x="502920" y="28072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CGPI</a:t>
            </a:r>
            <a:endParaRPr lang="en-US" sz="1500" dirty="0"/>
          </a:p>
        </p:txBody>
      </p:sp>
      <p:sp>
        <p:nvSpPr>
          <p:cNvPr id="13" name="Text 11"/>
          <p:cNvSpPr txBox="1"/>
          <p:nvPr/>
        </p:nvSpPr>
        <p:spPr>
          <a:xfrm>
            <a:off x="2971800" y="28254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企業物価指数</a:t>
            </a:r>
            <a:endParaRPr lang="en-US" sz="1100" dirty="0"/>
          </a:p>
        </p:txBody>
      </p:sp>
      <p:sp>
        <p:nvSpPr>
          <p:cNvPr id="14" name="Text 12"/>
          <p:cNvSpPr txBox="1"/>
          <p:nvPr/>
        </p:nvSpPr>
        <p:spPr>
          <a:xfrm>
            <a:off x="5440680" y="27706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日本銀行公表。企業間で取引される商品（原材料・中間財）の価格変動</a:t>
            </a:r>
            <a:endParaRPr lang="en-US" sz="1100" dirty="0"/>
          </a:p>
        </p:txBody>
      </p:sp>
      <p:sp>
        <p:nvSpPr>
          <p:cNvPr id="15" name="Shape 13"/>
          <p:cNvSpPr/>
          <p:nvPr/>
        </p:nvSpPr>
        <p:spPr>
          <a:xfrm>
            <a:off x="502920" y="3611880"/>
            <a:ext cx="11201400" cy="0"/>
          </a:xfrm>
          <a:prstGeom prst="line">
            <a:avLst/>
          </a:prstGeom>
          <a:noFill/>
          <a:ln w="12700">
            <a:solidFill>
              <a:srgbClr val="E6E6E6"/>
            </a:solidFill>
            <a:prstDash val="solid"/>
          </a:ln>
        </p:spPr>
      </p:sp>
      <p:sp>
        <p:nvSpPr>
          <p:cNvPr id="16" name="Text 14"/>
          <p:cNvSpPr txBox="1"/>
          <p:nvPr/>
        </p:nvSpPr>
        <p:spPr>
          <a:xfrm>
            <a:off x="502920" y="37216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GDPデフレーター</a:t>
            </a:r>
            <a:endParaRPr lang="en-US" sz="1500" dirty="0"/>
          </a:p>
        </p:txBody>
      </p:sp>
      <p:sp>
        <p:nvSpPr>
          <p:cNvPr id="17" name="Text 15"/>
          <p:cNvSpPr txBox="1"/>
          <p:nvPr/>
        </p:nvSpPr>
        <p:spPr>
          <a:xfrm>
            <a:off x="2971800" y="3739896"/>
            <a:ext cx="23774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名目GDP÷実質GDP×100</a:t>
            </a:r>
            <a:endParaRPr lang="en-US" sz="1100" dirty="0"/>
          </a:p>
        </p:txBody>
      </p:sp>
      <p:sp>
        <p:nvSpPr>
          <p:cNvPr id="18" name="Text 16"/>
          <p:cNvSpPr txBox="1"/>
          <p:nvPr/>
        </p:nvSpPr>
        <p:spPr>
          <a:xfrm>
            <a:off x="5440680" y="3685032"/>
            <a:ext cx="6263640" cy="7589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経済全体（消費・投資・政府支出・輸出入）の物価動向（パーシェ方式に近い）</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ひっかけ：CPI（ラスパイレス方式＝基準年数量固定）は代替効果を反映できず物価上昇率を実態より高めに示す傾向。CPIとGDPデフレーターは算出方式が異なる点が頻出。</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A-4 ／ 景気動向指数（DI・CI）</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DIは波及度合い、CIは大きさを見る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内閣府が毎月公表する景気動向指数には、着目点の異なるDIとCIの2種類がある。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景気動向指数は複数の経済指標（約30種）を統合したもの。着目点の違う2種類がある。</a:t>
            </a:r>
            <a:endParaRPr lang="en-US" sz="1150" dirty="0"/>
          </a:p>
        </p:txBody>
      </p:sp>
      <p:sp>
        <p:nvSpPr>
          <p:cNvPr id="9" name="Text 7"/>
          <p:cNvSpPr txBox="1"/>
          <p:nvPr/>
        </p:nvSpPr>
        <p:spPr>
          <a:xfrm>
            <a:off x="502920" y="21305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DI（拡散指数）</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改善している指標の割合。景気の「波及の度合い（範囲）」を見る。50%が拡張／後退の境目</a:t>
            </a:r>
            <a:endParaRPr lang="en-US" sz="1150" dirty="0"/>
          </a:p>
        </p:txBody>
      </p:sp>
      <p:sp>
        <p:nvSpPr>
          <p:cNvPr id="12" name="Text 10"/>
          <p:cNvSpPr txBox="1"/>
          <p:nvPr/>
        </p:nvSpPr>
        <p:spPr>
          <a:xfrm>
            <a:off x="502920" y="2587752"/>
            <a:ext cx="155448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CI（合成指数）</a:t>
            </a:r>
            <a:endParaRPr lang="en-US" sz="1150" dirty="0"/>
          </a:p>
        </p:txBody>
      </p:sp>
      <p:sp>
        <p:nvSpPr>
          <p:cNvPr id="13" name="Shape 11"/>
          <p:cNvSpPr/>
          <p:nvPr/>
        </p:nvSpPr>
        <p:spPr>
          <a:xfrm>
            <a:off x="2039112" y="2587752"/>
            <a:ext cx="0" cy="256032"/>
          </a:xfrm>
          <a:prstGeom prst="line">
            <a:avLst/>
          </a:prstGeom>
          <a:noFill/>
          <a:ln w="12700">
            <a:solidFill>
              <a:srgbClr val="E6E6E6"/>
            </a:solidFill>
            <a:prstDash val="solid"/>
          </a:ln>
        </p:spPr>
      </p:sp>
      <p:sp>
        <p:nvSpPr>
          <p:cNvPr id="14" name="Text 12"/>
          <p:cNvSpPr txBox="1"/>
          <p:nvPr/>
        </p:nvSpPr>
        <p:spPr>
          <a:xfrm>
            <a:off x="2194560" y="2587752"/>
            <a:ext cx="950976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各指標の変化率を合成。景気変動の「大きさ・テンポ（量）」を見る</a:t>
            </a:r>
            <a:endParaRPr lang="en-US" sz="1150" dirty="0"/>
          </a:p>
        </p:txBody>
      </p:sp>
      <p:sp>
        <p:nvSpPr>
          <p:cNvPr id="15" name="Text 13"/>
          <p:cNvSpPr txBox="1"/>
          <p:nvPr/>
        </p:nvSpPr>
        <p:spPr>
          <a:xfrm>
            <a:off x="502920" y="3136392"/>
            <a:ext cx="11201400" cy="59436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景気回復期は、まず株価・新規求人数（先行指数）が上向き、生産・有効求人倍率（一致指数）が続き、最後に失業率（遅行指数）が下がる、という順序で波及する。</a:t>
            </a:r>
            <a:endParaRPr lang="en-US" sz="850" dirty="0"/>
          </a:p>
        </p:txBody>
      </p:sp>
      <p:sp>
        <p:nvSpPr>
          <p:cNvPr id="16" name="Text 14"/>
          <p:cNvSpPr txBox="1"/>
          <p:nvPr/>
        </p:nvSpPr>
        <p:spPr>
          <a:xfrm>
            <a:off x="502920" y="3803904"/>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「DIは量、CIは範囲」という説明は逆。DI＝波及度合い（範囲）、CI＝大きさ・テンポ（量）が正しい対応。景気の「山」「谷」は一致指数をもとに事後決定される。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 雇用統計（完全失業率は遅行指数の代表例）。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A-5 ／ マネーストック統計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M1〜M3の違いは「対象金融機関の広さ」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金融機関・中央政府を除く経済主体が保有する通貨量の残高。範囲の狭いものから広いものへ4段階に分類される。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M1</a:t>
            </a:r>
            <a:endParaRPr lang="en-US" sz="1500" dirty="0"/>
          </a:p>
        </p:txBody>
      </p:sp>
      <p:sp>
        <p:nvSpPr>
          <p:cNvPr id="9" name="Text 7"/>
          <p:cNvSpPr txBox="1"/>
          <p:nvPr/>
        </p:nvSpPr>
        <p:spPr>
          <a:xfrm>
            <a:off x="2423160" y="19110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現金＋預金通貨</a:t>
            </a:r>
            <a:endParaRPr lang="en-US" sz="1100" dirty="0"/>
          </a:p>
        </p:txBody>
      </p:sp>
      <p:sp>
        <p:nvSpPr>
          <p:cNvPr id="10" name="Text 8"/>
          <p:cNvSpPr txBox="1"/>
          <p:nvPr/>
        </p:nvSpPr>
        <p:spPr>
          <a:xfrm>
            <a:off x="4526280" y="18562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いつでも引き出せる現金通貨と普通・当座預金</a:t>
            </a:r>
            <a:endParaRPr lang="en-US" sz="1100" dirty="0"/>
          </a:p>
        </p:txBody>
      </p:sp>
      <p:sp>
        <p:nvSpPr>
          <p:cNvPr id="11" name="Shape 9"/>
          <p:cNvSpPr/>
          <p:nvPr/>
        </p:nvSpPr>
        <p:spPr>
          <a:xfrm>
            <a:off x="502920" y="2468880"/>
            <a:ext cx="11201400" cy="0"/>
          </a:xfrm>
          <a:prstGeom prst="line">
            <a:avLst/>
          </a:prstGeom>
          <a:noFill/>
          <a:ln w="12700">
            <a:solidFill>
              <a:srgbClr val="E6E6E6"/>
            </a:solidFill>
            <a:prstDash val="solid"/>
          </a:ln>
        </p:spPr>
      </p:sp>
      <p:sp>
        <p:nvSpPr>
          <p:cNvPr id="12" name="Text 10"/>
          <p:cNvSpPr txBox="1"/>
          <p:nvPr/>
        </p:nvSpPr>
        <p:spPr>
          <a:xfrm>
            <a:off x="502920" y="25786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M2</a:t>
            </a:r>
            <a:endParaRPr lang="en-US" sz="1500" dirty="0"/>
          </a:p>
        </p:txBody>
      </p:sp>
      <p:sp>
        <p:nvSpPr>
          <p:cNvPr id="13" name="Text 11"/>
          <p:cNvSpPr txBox="1"/>
          <p:nvPr/>
        </p:nvSpPr>
        <p:spPr>
          <a:xfrm>
            <a:off x="2423160" y="25968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M1＋準通貨＋CD</a:t>
            </a:r>
            <a:endParaRPr lang="en-US" sz="1100" dirty="0"/>
          </a:p>
        </p:txBody>
      </p:sp>
      <p:sp>
        <p:nvSpPr>
          <p:cNvPr id="14" name="Text 12"/>
          <p:cNvSpPr txBox="1"/>
          <p:nvPr/>
        </p:nvSpPr>
        <p:spPr>
          <a:xfrm>
            <a:off x="4526280" y="25420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対象は国内銀行・信用金庫等に限定（ゆうちょ銀行等は含まない）</a:t>
            </a:r>
            <a:endParaRPr lang="en-US" sz="110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644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M3</a:t>
            </a:r>
            <a:endParaRPr lang="en-US" sz="1500" dirty="0"/>
          </a:p>
        </p:txBody>
      </p:sp>
      <p:sp>
        <p:nvSpPr>
          <p:cNvPr id="17" name="Text 15"/>
          <p:cNvSpPr txBox="1"/>
          <p:nvPr/>
        </p:nvSpPr>
        <p:spPr>
          <a:xfrm>
            <a:off x="2423160" y="32826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範囲を拡大</a:t>
            </a:r>
            <a:endParaRPr lang="en-US" sz="1100" dirty="0"/>
          </a:p>
        </p:txBody>
      </p:sp>
      <p:sp>
        <p:nvSpPr>
          <p:cNvPr id="18" name="Text 16"/>
          <p:cNvSpPr txBox="1"/>
          <p:nvPr/>
        </p:nvSpPr>
        <p:spPr>
          <a:xfrm>
            <a:off x="4526280" y="32278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ゆうちょ銀行・信用組合・農協なども含む全預金取扱機関が対象</a:t>
            </a:r>
            <a:endParaRPr lang="en-US" sz="1100" dirty="0"/>
          </a:p>
        </p:txBody>
      </p:sp>
      <p:sp>
        <p:nvSpPr>
          <p:cNvPr id="19" name="Shape 17"/>
          <p:cNvSpPr/>
          <p:nvPr/>
        </p:nvSpPr>
        <p:spPr>
          <a:xfrm>
            <a:off x="502920" y="3840480"/>
            <a:ext cx="11201400" cy="0"/>
          </a:xfrm>
          <a:prstGeom prst="line">
            <a:avLst/>
          </a:prstGeom>
          <a:noFill/>
          <a:ln w="12700">
            <a:solidFill>
              <a:srgbClr val="E6E6E6"/>
            </a:solidFill>
            <a:prstDash val="solid"/>
          </a:ln>
        </p:spPr>
      </p:sp>
      <p:sp>
        <p:nvSpPr>
          <p:cNvPr id="20" name="Text 18"/>
          <p:cNvSpPr txBox="1"/>
          <p:nvPr/>
        </p:nvSpPr>
        <p:spPr>
          <a:xfrm>
            <a:off x="502920" y="39502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広義流動性</a:t>
            </a:r>
            <a:endParaRPr lang="en-US" sz="1500" dirty="0"/>
          </a:p>
        </p:txBody>
      </p:sp>
      <p:sp>
        <p:nvSpPr>
          <p:cNvPr id="21" name="Text 19"/>
          <p:cNvSpPr txBox="1"/>
          <p:nvPr/>
        </p:nvSpPr>
        <p:spPr>
          <a:xfrm>
            <a:off x="2423160" y="3968496"/>
            <a:ext cx="20116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最も広い範囲</a:t>
            </a:r>
            <a:endParaRPr lang="en-US" sz="1100" dirty="0"/>
          </a:p>
        </p:txBody>
      </p:sp>
      <p:sp>
        <p:nvSpPr>
          <p:cNvPr id="22" name="Text 20"/>
          <p:cNvSpPr txBox="1"/>
          <p:nvPr/>
        </p:nvSpPr>
        <p:spPr>
          <a:xfrm>
            <a:off x="4526280" y="3913632"/>
            <a:ext cx="7178040" cy="53035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M3に金銭信託・投資信託・国債・外債等の金融商品を加えたもの</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ひっかけ：M1〜M3の違いは通貨の種類でなく対象金融機関の広さ。マネタリーベース（日銀が直接供給する通貨）とマネーストックは別概念で、両者は信用乗数を介した間接的な関係。</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A-6 ／ 国際収支・為替レート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経常収支＋資本移転等収支－金融収支＋誤差脱漏＝0</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国際収支統計は一国が一定期間に外国と行った取引の記録。複式簿記の考え方に基づく恒等式が成り立つ。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国際収支統計は一国が一定期間に外国と行った取引の記録。3つの大項目で構成される。</a:t>
            </a:r>
            <a:endParaRPr lang="en-US" sz="1150" dirty="0"/>
          </a:p>
        </p:txBody>
      </p:sp>
      <p:sp>
        <p:nvSpPr>
          <p:cNvPr id="9" name="Text 7"/>
          <p:cNvSpPr txBox="1"/>
          <p:nvPr/>
        </p:nvSpPr>
        <p:spPr>
          <a:xfrm>
            <a:off x="502920" y="2130552"/>
            <a:ext cx="1920240" cy="48463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経常収支</a:t>
            </a:r>
            <a:endParaRPr lang="en-US" sz="1150" dirty="0"/>
          </a:p>
        </p:txBody>
      </p:sp>
      <p:sp>
        <p:nvSpPr>
          <p:cNvPr id="10" name="Shape 8"/>
          <p:cNvSpPr/>
          <p:nvPr/>
        </p:nvSpPr>
        <p:spPr>
          <a:xfrm>
            <a:off x="2404872" y="2130552"/>
            <a:ext cx="0" cy="256032"/>
          </a:xfrm>
          <a:prstGeom prst="line">
            <a:avLst/>
          </a:prstGeom>
          <a:noFill/>
          <a:ln w="12700">
            <a:solidFill>
              <a:srgbClr val="E6E6E6"/>
            </a:solidFill>
            <a:prstDash val="solid"/>
          </a:ln>
        </p:spPr>
      </p:sp>
      <p:sp>
        <p:nvSpPr>
          <p:cNvPr id="11" name="Text 9"/>
          <p:cNvSpPr txBox="1"/>
          <p:nvPr/>
        </p:nvSpPr>
        <p:spPr>
          <a:xfrm>
            <a:off x="2560320" y="2130552"/>
            <a:ext cx="9144000" cy="48463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貿易・サービス収支、第一次所得収支（配当・利子）、第二次所得収支（無償の資金移動）の合計</a:t>
            </a:r>
            <a:endParaRPr lang="en-US" sz="1150" dirty="0"/>
          </a:p>
        </p:txBody>
      </p:sp>
      <p:sp>
        <p:nvSpPr>
          <p:cNvPr id="12" name="Text 10"/>
          <p:cNvSpPr txBox="1"/>
          <p:nvPr/>
        </p:nvSpPr>
        <p:spPr>
          <a:xfrm>
            <a:off x="502920" y="263347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資本移転等収支</a:t>
            </a:r>
            <a:endParaRPr lang="en-US" sz="1150" dirty="0"/>
          </a:p>
        </p:txBody>
      </p:sp>
      <p:sp>
        <p:nvSpPr>
          <p:cNvPr id="13" name="Shape 11"/>
          <p:cNvSpPr/>
          <p:nvPr/>
        </p:nvSpPr>
        <p:spPr>
          <a:xfrm>
            <a:off x="2404872" y="2633472"/>
            <a:ext cx="0" cy="256032"/>
          </a:xfrm>
          <a:prstGeom prst="line">
            <a:avLst/>
          </a:prstGeom>
          <a:noFill/>
          <a:ln w="12700">
            <a:solidFill>
              <a:srgbClr val="E6E6E6"/>
            </a:solidFill>
            <a:prstDash val="solid"/>
          </a:ln>
        </p:spPr>
      </p:sp>
      <p:sp>
        <p:nvSpPr>
          <p:cNvPr id="14" name="Text 12"/>
          <p:cNvSpPr txBox="1"/>
          <p:nvPr/>
        </p:nvSpPr>
        <p:spPr>
          <a:xfrm>
            <a:off x="2560320" y="263347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対価を伴わない資本の移転（インフラ無償援助等）</a:t>
            </a:r>
            <a:endParaRPr lang="en-US" sz="1150" dirty="0"/>
          </a:p>
        </p:txBody>
      </p:sp>
      <p:sp>
        <p:nvSpPr>
          <p:cNvPr id="15" name="Text 13"/>
          <p:cNvSpPr txBox="1"/>
          <p:nvPr/>
        </p:nvSpPr>
        <p:spPr>
          <a:xfrm>
            <a:off x="502920" y="299923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金融収支</a:t>
            </a:r>
            <a:endParaRPr lang="en-US" sz="1150" dirty="0"/>
          </a:p>
        </p:txBody>
      </p:sp>
      <p:sp>
        <p:nvSpPr>
          <p:cNvPr id="16" name="Shape 14"/>
          <p:cNvSpPr/>
          <p:nvPr/>
        </p:nvSpPr>
        <p:spPr>
          <a:xfrm>
            <a:off x="2404872" y="2999232"/>
            <a:ext cx="0" cy="256032"/>
          </a:xfrm>
          <a:prstGeom prst="line">
            <a:avLst/>
          </a:prstGeom>
          <a:noFill/>
          <a:ln w="12700">
            <a:solidFill>
              <a:srgbClr val="E6E6E6"/>
            </a:solidFill>
            <a:prstDash val="solid"/>
          </a:ln>
        </p:spPr>
      </p:sp>
      <p:sp>
        <p:nvSpPr>
          <p:cNvPr id="17" name="Text 15"/>
          <p:cNvSpPr txBox="1"/>
          <p:nvPr/>
        </p:nvSpPr>
        <p:spPr>
          <a:xfrm>
            <a:off x="2560320" y="299923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対外的な金融資産・負債の増減。海外への投資（資産の増加）はプラスとして計上</a:t>
            </a:r>
            <a:endParaRPr lang="en-US" sz="1150" dirty="0"/>
          </a:p>
        </p:txBody>
      </p:sp>
      <p:sp>
        <p:nvSpPr>
          <p:cNvPr id="18" name="Text 16"/>
          <p:cNvSpPr txBox="1"/>
          <p:nvPr/>
        </p:nvSpPr>
        <p:spPr>
          <a:xfrm>
            <a:off x="502920" y="35478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近年の日本は貿易収支が赤字の月・年もあるが、過去の対外投資から得られる配当・利子収入（第一次所得収支）が大幅黒字のため、経常収支全体は黒字を維持している。</a:t>
            </a:r>
            <a:endParaRPr lang="en-US" sz="8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ひっかけ：金融収支は「対外資産の増加はプラス」と符号が直感に反する。「金融収支の黒字＝海外への資金流出（対外資産の増加）超過」という意味を正しく理解すること。</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経済学・経済政策 ／ A-7〜A-17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マクロ経済理論・国際経済</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一国全体の経済がどう動くかを理論的に説明するマクロ経済学の中核。45度線分析・IS-LM分析という2大フレームワークに加え、開放経済（貿易・為替）まで扱う、A科目で最も出題数が多い山場。</a:t>
            </a:r>
            <a:endParaRPr lang="en-US" sz="1400" dirty="0"/>
          </a:p>
        </p:txBody>
      </p:sp>
      <p:sp>
        <p:nvSpPr>
          <p:cNvPr id="6" name="Shape 4"/>
          <p:cNvSpPr/>
          <p:nvPr/>
        </p:nvSpPr>
        <p:spPr>
          <a:xfrm>
            <a:off x="640080" y="4800600"/>
            <a:ext cx="1677924" cy="384048"/>
          </a:xfrm>
          <a:prstGeom prst="rect">
            <a:avLst/>
          </a:prstGeom>
          <a:ln w="9525">
            <a:solidFill>
              <a:srgbClr val="7F7F7F"/>
            </a:solidFill>
            <a:prstDash val="solid"/>
          </a:ln>
        </p:spPr>
      </p:sp>
      <p:sp>
        <p:nvSpPr>
          <p:cNvPr id="7" name="Text 5"/>
          <p:cNvSpPr txBox="1"/>
          <p:nvPr/>
        </p:nvSpPr>
        <p:spPr>
          <a:xfrm>
            <a:off x="640080"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A-9 IS-LM分析</a:t>
            </a:r>
            <a:endParaRPr lang="en-US" sz="1000" dirty="0"/>
          </a:p>
        </p:txBody>
      </p:sp>
      <p:sp>
        <p:nvSpPr>
          <p:cNvPr id="8" name="Shape 6"/>
          <p:cNvSpPr/>
          <p:nvPr/>
        </p:nvSpPr>
        <p:spPr>
          <a:xfrm>
            <a:off x="2546604" y="4800600"/>
            <a:ext cx="1677924" cy="384048"/>
          </a:xfrm>
          <a:prstGeom prst="rect">
            <a:avLst/>
          </a:prstGeom>
          <a:ln w="9525">
            <a:solidFill>
              <a:srgbClr val="7F7F7F"/>
            </a:solidFill>
            <a:prstDash val="solid"/>
          </a:ln>
        </p:spPr>
      </p:sp>
      <p:sp>
        <p:nvSpPr>
          <p:cNvPr id="9" name="Text 7"/>
          <p:cNvSpPr txBox="1"/>
          <p:nvPr/>
        </p:nvSpPr>
        <p:spPr>
          <a:xfrm>
            <a:off x="2546604"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A-14 比較生産費説</a:t>
            </a:r>
            <a:endParaRPr lang="en-US" sz="1000" dirty="0"/>
          </a:p>
        </p:txBody>
      </p:sp>
      <p:sp>
        <p:nvSpPr>
          <p:cNvPr id="10" name="Shape 8"/>
          <p:cNvSpPr/>
          <p:nvPr/>
        </p:nvSpPr>
        <p:spPr>
          <a:xfrm>
            <a:off x="4453128" y="4800600"/>
            <a:ext cx="2171700" cy="384048"/>
          </a:xfrm>
          <a:prstGeom prst="rect">
            <a:avLst/>
          </a:prstGeom>
          <a:ln w="9525">
            <a:solidFill>
              <a:srgbClr val="7F7F7F"/>
            </a:solidFill>
            <a:prstDash val="solid"/>
          </a:ln>
        </p:spPr>
      </p:sp>
      <p:sp>
        <p:nvSpPr>
          <p:cNvPr id="11" name="Text 9"/>
          <p:cNvSpPr txBox="1"/>
          <p:nvPr/>
        </p:nvSpPr>
        <p:spPr>
          <a:xfrm>
            <a:off x="4453128"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A-17 マンデル=フレミング</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A-7 ／ 生産物市場とGDP決定理論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45度線分析：総支出線と45度線の交点で均衡GDPが決まる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有効需要の原理：GDPの水準は需要（Y=C+I+G）の大きさで決まる。政府支出の増加はそれ以上にGDPを押し上げる（乗数効果）。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国民所得 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総支出 E</a:t>
            </a:r>
            <a:endParaRPr lang="en-US" sz="1000" dirty="0"/>
          </a:p>
        </p:txBody>
      </p:sp>
      <p:sp>
        <p:nvSpPr>
          <p:cNvPr id="12" name="Shape 10"/>
          <p:cNvSpPr/>
          <p:nvPr/>
        </p:nvSpPr>
        <p:spPr>
          <a:xfrm flipV="1">
            <a:off x="822960" y="2761488"/>
            <a:ext cx="5157216" cy="2816352"/>
          </a:xfrm>
          <a:prstGeom prst="line">
            <a:avLst/>
          </a:prstGeom>
          <a:noFill/>
          <a:ln w="16510">
            <a:solidFill>
              <a:srgbClr val="8A8A8A"/>
            </a:solidFill>
            <a:prstDash val="dash"/>
          </a:ln>
        </p:spPr>
      </p:sp>
      <p:sp>
        <p:nvSpPr>
          <p:cNvPr id="13" name="Text 11"/>
          <p:cNvSpPr txBox="1"/>
          <p:nvPr/>
        </p:nvSpPr>
        <p:spPr>
          <a:xfrm>
            <a:off x="5477256" y="2807208"/>
            <a:ext cx="548640" cy="274320"/>
          </a:xfrm>
          <a:prstGeom prst="rect">
            <a:avLst/>
          </a:prstGeom>
          <a:noFill/>
          <a:ln/>
        </p:spPr>
        <p:txBody>
          <a:bodyPr wrap="square" lIns="0" tIns="0" rIns="0" bIns="0" rtlCol="0" anchor="ctr"/>
          <a:lstStyle/>
          <a:p>
            <a:pPr indent="0" marL="0">
              <a:buNone/>
            </a:pPr>
            <a:r>
              <a:rPr lang="en-US" sz="1100" b="1" dirty="0">
                <a:solidFill>
                  <a:srgbClr val="8A8A8A"/>
                </a:solidFill>
                <a:latin typeface="Yu Gothic" pitchFamily="34" charset="0"/>
                <a:ea typeface="Yu Gothic" pitchFamily="34" charset="-122"/>
                <a:cs typeface="Yu Gothic" pitchFamily="34" charset="-120"/>
              </a:rPr>
              <a:t>45°</a:t>
            </a:r>
            <a:endParaRPr lang="en-US" sz="1100" dirty="0"/>
          </a:p>
        </p:txBody>
      </p:sp>
      <p:sp>
        <p:nvSpPr>
          <p:cNvPr id="14" name="Shape 12"/>
          <p:cNvSpPr/>
          <p:nvPr/>
        </p:nvSpPr>
        <p:spPr>
          <a:xfrm flipV="1">
            <a:off x="1145286" y="3043123"/>
            <a:ext cx="5801868" cy="2006651"/>
          </a:xfrm>
          <a:prstGeom prst="line">
            <a:avLst/>
          </a:prstGeom>
          <a:noFill/>
          <a:ln w="27940">
            <a:solidFill>
              <a:srgbClr val="FF3B1F"/>
            </a:solidFill>
            <a:prstDash val="solid"/>
          </a:ln>
        </p:spPr>
      </p:sp>
      <p:sp>
        <p:nvSpPr>
          <p:cNvPr id="15" name="Text 13"/>
          <p:cNvSpPr txBox="1"/>
          <p:nvPr/>
        </p:nvSpPr>
        <p:spPr>
          <a:xfrm>
            <a:off x="6992874" y="2905963"/>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C+I+G</a:t>
            </a:r>
            <a:endParaRPr lang="en-US" sz="1100" dirty="0"/>
          </a:p>
        </p:txBody>
      </p:sp>
      <p:sp>
        <p:nvSpPr>
          <p:cNvPr id="16" name="Shape 14"/>
          <p:cNvSpPr/>
          <p:nvPr/>
        </p:nvSpPr>
        <p:spPr>
          <a:xfrm>
            <a:off x="822960" y="4046449"/>
            <a:ext cx="2804236" cy="91"/>
          </a:xfrm>
          <a:prstGeom prst="line">
            <a:avLst/>
          </a:prstGeom>
          <a:noFill/>
          <a:ln w="9525">
            <a:solidFill>
              <a:srgbClr val="8A8A8A"/>
            </a:solidFill>
            <a:prstDash val="dash"/>
          </a:ln>
        </p:spPr>
      </p:sp>
      <p:sp>
        <p:nvSpPr>
          <p:cNvPr id="17" name="Shape 15"/>
          <p:cNvSpPr/>
          <p:nvPr/>
        </p:nvSpPr>
        <p:spPr>
          <a:xfrm>
            <a:off x="3627196" y="4046449"/>
            <a:ext cx="91" cy="1531391"/>
          </a:xfrm>
          <a:prstGeom prst="line">
            <a:avLst/>
          </a:prstGeom>
          <a:noFill/>
          <a:ln w="9525">
            <a:solidFill>
              <a:srgbClr val="8A8A8A"/>
            </a:solidFill>
            <a:prstDash val="dash"/>
          </a:ln>
        </p:spPr>
      </p:sp>
      <p:sp>
        <p:nvSpPr>
          <p:cNvPr id="18" name="Shape 16"/>
          <p:cNvSpPr/>
          <p:nvPr/>
        </p:nvSpPr>
        <p:spPr>
          <a:xfrm>
            <a:off x="3581476" y="4000729"/>
            <a:ext cx="91440" cy="91440"/>
          </a:xfrm>
          <a:prstGeom prst="ellipse">
            <a:avLst/>
          </a:prstGeom>
          <a:solidFill>
            <a:srgbClr val="171717"/>
          </a:solidFill>
          <a:ln/>
        </p:spPr>
      </p:sp>
      <p:sp>
        <p:nvSpPr>
          <p:cNvPr id="19" name="Text 17"/>
          <p:cNvSpPr txBox="1"/>
          <p:nvPr/>
        </p:nvSpPr>
        <p:spPr>
          <a:xfrm>
            <a:off x="3700348" y="3753841"/>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均衡</a:t>
            </a:r>
            <a:endParaRPr lang="en-US" sz="1100" dirty="0"/>
          </a:p>
        </p:txBody>
      </p:sp>
      <p:sp>
        <p:nvSpPr>
          <p:cNvPr id="20" name="Text 18"/>
          <p:cNvSpPr txBox="1"/>
          <p:nvPr/>
        </p:nvSpPr>
        <p:spPr>
          <a:xfrm>
            <a:off x="7543800" y="1920240"/>
            <a:ext cx="3703320" cy="914400"/>
          </a:xfrm>
          <a:prstGeom prst="rect">
            <a:avLst/>
          </a:prstGeom>
          <a:noFill/>
          <a:ln/>
        </p:spPr>
        <p:txBody>
          <a:bodyPr wrap="square" lIns="0" tIns="0" rIns="0" bIns="0" rtlCol="0" anchor="ctr"/>
          <a:lstStyle/>
          <a:p>
            <a:pPr indent="0" marL="0">
              <a:lnSpc>
                <a:spcPct val="135000"/>
              </a:lnSpc>
              <a:buNone/>
            </a:pPr>
            <a:r>
              <a:rPr lang="en-US" sz="1100" b="1" dirty="0">
                <a:solidFill>
                  <a:srgbClr val="171717"/>
                </a:solidFill>
                <a:latin typeface="Yu Gothic" pitchFamily="34" charset="0"/>
                <a:ea typeface="Yu Gothic" pitchFamily="34" charset="-122"/>
                <a:cs typeface="Yu Gothic" pitchFamily="34" charset="-120"/>
              </a:rPr>
              <a:t>総支出線（C+I+G）</a:t>
            </a:r>
            <a:pPr indent="0" marL="0">
              <a:lnSpc>
                <a:spcPct val="135000"/>
              </a:lnSpc>
              <a:buNone/>
            </a:pPr>
            <a:r>
              <a:rPr lang="en-US" sz="1100" dirty="0">
                <a:solidFill>
                  <a:srgbClr val="171717"/>
                </a:solidFill>
                <a:latin typeface="Yu Gothic" pitchFamily="34" charset="0"/>
                <a:ea typeface="Yu Gothic" pitchFamily="34" charset="-122"/>
                <a:cs typeface="Yu Gothic" pitchFamily="34" charset="-120"/>
              </a:rPr>
              <a:t>の傾き＝限界消費性向（1より小さい）のため45度線より緩やか。</a:t>
            </a:r>
            <a:endParaRPr lang="en-US" sz="1100" dirty="0"/>
          </a:p>
        </p:txBody>
      </p:sp>
      <p:sp>
        <p:nvSpPr>
          <p:cNvPr id="21" name="Text 19"/>
          <p:cNvSpPr txBox="1"/>
          <p:nvPr/>
        </p:nvSpPr>
        <p:spPr>
          <a:xfrm>
            <a:off x="7543800" y="3017520"/>
            <a:ext cx="3703320" cy="1463040"/>
          </a:xfrm>
          <a:prstGeom prst="rect">
            <a:avLst/>
          </a:prstGeom>
          <a:noFill/>
          <a:ln/>
        </p:spPr>
        <p:txBody>
          <a:bodyPr wrap="square" lIns="0" tIns="0" rIns="0" bIns="0" rtlCol="0" anchor="ctr"/>
          <a:lstStyle/>
          <a:p>
            <a:pPr indent="0" marL="0">
              <a:lnSpc>
                <a:spcPct val="140000"/>
              </a:lnSpc>
              <a:buNone/>
            </a:pPr>
            <a:r>
              <a:rPr lang="en-US" sz="1050" dirty="0">
                <a:solidFill>
                  <a:srgbClr val="8A8A8A"/>
                </a:solidFill>
                <a:latin typeface="Yu Gothic" pitchFamily="34" charset="0"/>
                <a:ea typeface="Yu Gothic" pitchFamily="34" charset="-122"/>
                <a:cs typeface="Yu Gothic" pitchFamily="34" charset="-120"/>
              </a:rPr>
              <a:t>政府支出Gを1増やすとGDPは1/(1-c)倍（乗数）増加する。均衡予算（同額増税とセット）でもGDPは支出増加分だけ増える（均衡予算乗数＝1）。</a:t>
            </a:r>
            <a:endParaRPr lang="en-US" sz="10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IS-LM分析（財市場の均衡を利子率も含めて拡張したもの）。</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A-8 ／ 貨幣市場と利子率</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貨幣需要の3つの動機（流動性選好理論）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ケインズは貨幣を持ちたがる動機を3つに整理した。投機的動機だけが利子率に依存する点がポイント。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貨幣需要は「所得が増えるほど増加し、利子率が上がるほど減少する」性質を持つ。3つの動機に整理される。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取引動機</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日々の決済のための需要。所得に依存する</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予備的動機</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不測の事態に備える需要。これも所得に依存する</a:t>
            </a:r>
            <a:endParaRPr lang="en-US" sz="1150" dirty="0"/>
          </a:p>
        </p:txBody>
      </p:sp>
      <p:sp>
        <p:nvSpPr>
          <p:cNvPr id="15" name="Text 13"/>
          <p:cNvSpPr txBox="1"/>
          <p:nvPr/>
        </p:nvSpPr>
        <p:spPr>
          <a:xfrm>
            <a:off x="502920" y="28620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投機的動機</a:t>
            </a:r>
            <a:endParaRPr lang="en-US" sz="1150" dirty="0"/>
          </a:p>
        </p:txBody>
      </p:sp>
      <p:sp>
        <p:nvSpPr>
          <p:cNvPr id="16" name="Shape 14"/>
          <p:cNvSpPr/>
          <p:nvPr/>
        </p:nvSpPr>
        <p:spPr>
          <a:xfrm>
            <a:off x="2039112" y="2862072"/>
            <a:ext cx="0" cy="256032"/>
          </a:xfrm>
          <a:prstGeom prst="line">
            <a:avLst/>
          </a:prstGeom>
          <a:noFill/>
          <a:ln w="12700">
            <a:solidFill>
              <a:srgbClr val="E6E6E6"/>
            </a:solidFill>
            <a:prstDash val="solid"/>
          </a:ln>
        </p:spPr>
      </p:sp>
      <p:sp>
        <p:nvSpPr>
          <p:cNvPr id="17" name="Text 15"/>
          <p:cNvSpPr txBox="1"/>
          <p:nvPr/>
        </p:nvSpPr>
        <p:spPr>
          <a:xfrm>
            <a:off x="2194560" y="28620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投資タイミングを計る需要。利子率が低いほど大きくなる</a:t>
            </a:r>
            <a:endParaRPr lang="en-US" sz="1150" dirty="0"/>
          </a:p>
        </p:txBody>
      </p:sp>
      <p:sp>
        <p:nvSpPr>
          <p:cNvPr id="18" name="Text 16"/>
          <p:cNvSpPr txBox="1"/>
          <p:nvPr/>
        </p:nvSpPr>
        <p:spPr>
          <a:xfrm>
            <a:off x="502920" y="3319272"/>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好況で所得が増えると取引に必要なお金が増え利子率に上昇圧力。金融緩和で貨幣供給を増やすと利子率は低下圧力を受ける。</a:t>
            </a:r>
            <a:endParaRPr lang="en-US" sz="850" dirty="0"/>
          </a:p>
        </p:txBody>
      </p:sp>
      <p:sp>
        <p:nvSpPr>
          <p:cNvPr id="19" name="Text 17"/>
          <p:cNvSpPr txBox="1"/>
          <p:nvPr/>
        </p:nvSpPr>
        <p:spPr>
          <a:xfrm>
            <a:off x="502920" y="3941064"/>
            <a:ext cx="1120140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機的動機は「利子率」に依存し「所得」には依存しない。取引・予備的動機は逆に「所得」に依存し「利子率」にはあまり依存しない。流動性の罠（利子率が下限に達し金融政策が効かなくなる状態）もあわせて押さえ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IS-LM分析（貨幣市場の均衡がLM曲線として組み込まれる）。</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IS-LM曲線・分析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財市場と貨幣市場を同時に満たすIS-LM分析</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IS曲線（財市場の均衡）は右下がり、LM曲線（貨幣市場の均衡）は右上がり。交点で均衡GDPと均衡利子率が決まる。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822960" y="5577840"/>
            <a:ext cx="6446520" cy="0"/>
          </a:xfrm>
          <a:prstGeom prst="line">
            <a:avLst/>
          </a:prstGeom>
          <a:noFill/>
          <a:ln w="20320">
            <a:solidFill>
              <a:srgbClr val="171717"/>
            </a:solidFill>
            <a:prstDash val="solid"/>
            <a:tailEnd type="triangle"/>
          </a:ln>
        </p:spPr>
      </p:sp>
      <p:sp>
        <p:nvSpPr>
          <p:cNvPr id="9" name="Shape 7"/>
          <p:cNvSpPr/>
          <p:nvPr/>
        </p:nvSpPr>
        <p:spPr>
          <a:xfrm flipV="1">
            <a:off x="822960" y="2057400"/>
            <a:ext cx="0" cy="3520440"/>
          </a:xfrm>
          <a:prstGeom prst="line">
            <a:avLst/>
          </a:prstGeom>
          <a:noFill/>
          <a:ln w="20320">
            <a:solidFill>
              <a:srgbClr val="171717"/>
            </a:solidFill>
            <a:prstDash val="solid"/>
            <a:tailEnd type="triangle"/>
          </a:ln>
        </p:spPr>
      </p:sp>
      <p:sp>
        <p:nvSpPr>
          <p:cNvPr id="10" name="Text 8"/>
          <p:cNvSpPr txBox="1"/>
          <p:nvPr/>
        </p:nvSpPr>
        <p:spPr>
          <a:xfrm>
            <a:off x="6263640" y="5285232"/>
            <a:ext cx="1005840" cy="274320"/>
          </a:xfrm>
          <a:prstGeom prst="rect">
            <a:avLst/>
          </a:prstGeom>
          <a:noFill/>
          <a:ln/>
        </p:spPr>
        <p:txBody>
          <a:bodyPr wrap="square" lIns="0" tIns="0" rIns="0" bIns="0" rtlCol="0" anchor="ctr"/>
          <a:lstStyle/>
          <a:p>
            <a:pPr algn="r" indent="0" marL="0">
              <a:buNone/>
            </a:pPr>
            <a:r>
              <a:rPr lang="en-US" sz="1000" b="1" dirty="0">
                <a:solidFill>
                  <a:srgbClr val="171717"/>
                </a:solidFill>
                <a:latin typeface="Yu Gothic" pitchFamily="34" charset="0"/>
                <a:ea typeface="Yu Gothic" pitchFamily="34" charset="-122"/>
                <a:cs typeface="Yu Gothic" pitchFamily="34" charset="-120"/>
              </a:rPr>
              <a:t>Y</a:t>
            </a:r>
            <a:endParaRPr lang="en-US" sz="1000" dirty="0"/>
          </a:p>
        </p:txBody>
      </p:sp>
      <p:sp>
        <p:nvSpPr>
          <p:cNvPr id="11" name="Text 9"/>
          <p:cNvSpPr txBox="1"/>
          <p:nvPr/>
        </p:nvSpPr>
        <p:spPr>
          <a:xfrm>
            <a:off x="868680" y="2011680"/>
            <a:ext cx="1005840" cy="256032"/>
          </a:xfrm>
          <a:prstGeom prst="rect">
            <a:avLst/>
          </a:prstGeom>
          <a:noFill/>
          <a:ln/>
        </p:spPr>
        <p:txBody>
          <a:bodyPr wrap="square" lIns="0" tIns="0" rIns="0" bIns="0" rtlCol="0" anchor="ctr"/>
          <a:lstStyle/>
          <a:p>
            <a:pPr algn="l" indent="0" marL="0">
              <a:buNone/>
            </a:pPr>
            <a:r>
              <a:rPr lang="en-US" sz="1000" b="1" dirty="0">
                <a:solidFill>
                  <a:srgbClr val="171717"/>
                </a:solidFill>
                <a:latin typeface="Yu Gothic" pitchFamily="34" charset="0"/>
                <a:ea typeface="Yu Gothic" pitchFamily="34" charset="-122"/>
                <a:cs typeface="Yu Gothic" pitchFamily="34" charset="-120"/>
              </a:rPr>
              <a:t>r</a:t>
            </a:r>
            <a:endParaRPr lang="en-US" sz="1000" dirty="0"/>
          </a:p>
        </p:txBody>
      </p:sp>
      <p:sp>
        <p:nvSpPr>
          <p:cNvPr id="12" name="Shape 10"/>
          <p:cNvSpPr/>
          <p:nvPr/>
        </p:nvSpPr>
        <p:spPr>
          <a:xfrm>
            <a:off x="1145286" y="2585466"/>
            <a:ext cx="5801868" cy="2640330"/>
          </a:xfrm>
          <a:prstGeom prst="line">
            <a:avLst/>
          </a:prstGeom>
          <a:noFill/>
          <a:ln w="27940">
            <a:solidFill>
              <a:srgbClr val="171717"/>
            </a:solidFill>
            <a:prstDash val="solid"/>
          </a:ln>
        </p:spPr>
      </p:sp>
      <p:sp>
        <p:nvSpPr>
          <p:cNvPr id="13" name="Text 11"/>
          <p:cNvSpPr txBox="1"/>
          <p:nvPr/>
        </p:nvSpPr>
        <p:spPr>
          <a:xfrm>
            <a:off x="6992874" y="4860036"/>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IS</a:t>
            </a:r>
            <a:endParaRPr lang="en-US" sz="1100" dirty="0"/>
          </a:p>
        </p:txBody>
      </p:sp>
      <p:sp>
        <p:nvSpPr>
          <p:cNvPr id="14" name="Shape 12"/>
          <p:cNvSpPr/>
          <p:nvPr/>
        </p:nvSpPr>
        <p:spPr>
          <a:xfrm flipV="1">
            <a:off x="1145286" y="2585466"/>
            <a:ext cx="5801868" cy="2640330"/>
          </a:xfrm>
          <a:prstGeom prst="line">
            <a:avLst/>
          </a:prstGeom>
          <a:noFill/>
          <a:ln w="27940">
            <a:solidFill>
              <a:srgbClr val="FF3B1F"/>
            </a:solidFill>
            <a:prstDash val="solid"/>
          </a:ln>
        </p:spPr>
      </p:sp>
      <p:sp>
        <p:nvSpPr>
          <p:cNvPr id="15" name="Text 13"/>
          <p:cNvSpPr txBox="1"/>
          <p:nvPr/>
        </p:nvSpPr>
        <p:spPr>
          <a:xfrm>
            <a:off x="6992874" y="2448306"/>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LM</a:t>
            </a:r>
            <a:endParaRPr lang="en-US" sz="1100" dirty="0"/>
          </a:p>
        </p:txBody>
      </p:sp>
      <p:sp>
        <p:nvSpPr>
          <p:cNvPr id="16" name="Shape 14"/>
          <p:cNvSpPr/>
          <p:nvPr/>
        </p:nvSpPr>
        <p:spPr>
          <a:xfrm>
            <a:off x="822960" y="3905631"/>
            <a:ext cx="3223260" cy="91"/>
          </a:xfrm>
          <a:prstGeom prst="line">
            <a:avLst/>
          </a:prstGeom>
          <a:noFill/>
          <a:ln w="9525">
            <a:solidFill>
              <a:srgbClr val="8A8A8A"/>
            </a:solidFill>
            <a:prstDash val="dash"/>
          </a:ln>
        </p:spPr>
      </p:sp>
      <p:sp>
        <p:nvSpPr>
          <p:cNvPr id="17" name="Shape 15"/>
          <p:cNvSpPr/>
          <p:nvPr/>
        </p:nvSpPr>
        <p:spPr>
          <a:xfrm>
            <a:off x="4046220" y="3905631"/>
            <a:ext cx="91" cy="1672209"/>
          </a:xfrm>
          <a:prstGeom prst="line">
            <a:avLst/>
          </a:prstGeom>
          <a:noFill/>
          <a:ln w="9525">
            <a:solidFill>
              <a:srgbClr val="8A8A8A"/>
            </a:solidFill>
            <a:prstDash val="dash"/>
          </a:ln>
        </p:spPr>
      </p:sp>
      <p:sp>
        <p:nvSpPr>
          <p:cNvPr id="18" name="Shape 16"/>
          <p:cNvSpPr/>
          <p:nvPr/>
        </p:nvSpPr>
        <p:spPr>
          <a:xfrm>
            <a:off x="4000500" y="3859911"/>
            <a:ext cx="91440" cy="91440"/>
          </a:xfrm>
          <a:prstGeom prst="ellipse">
            <a:avLst/>
          </a:prstGeom>
          <a:solidFill>
            <a:srgbClr val="171717"/>
          </a:solidFill>
          <a:ln/>
        </p:spPr>
      </p:sp>
      <p:sp>
        <p:nvSpPr>
          <p:cNvPr id="19" name="Text 17"/>
          <p:cNvSpPr txBox="1"/>
          <p:nvPr/>
        </p:nvSpPr>
        <p:spPr>
          <a:xfrm>
            <a:off x="4119372" y="3613023"/>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E</a:t>
            </a:r>
            <a:endParaRPr lang="en-US" sz="1100" dirty="0"/>
          </a:p>
        </p:txBody>
      </p:sp>
      <p:sp>
        <p:nvSpPr>
          <p:cNvPr id="20" name="Text 18"/>
          <p:cNvSpPr txBox="1"/>
          <p:nvPr/>
        </p:nvSpPr>
        <p:spPr>
          <a:xfrm>
            <a:off x="7543800" y="1828800"/>
            <a:ext cx="3703320" cy="3657600"/>
          </a:xfrm>
          <a:prstGeom prst="rect">
            <a:avLst/>
          </a:prstGeom>
          <a:noFill/>
          <a:ln/>
        </p:spPr>
        <p:txBody>
          <a:bodyPr wrap="square" lIns="0" tIns="0" rIns="0" bIns="0" rtlCol="0" anchor="ctr"/>
          <a:lstStyle/>
          <a:p>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IS曲線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：財市場の均衡。右下がり（利子率↓→投資↑→GDP↑）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LM曲線</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：貨幣市場の均衡。右上がり（GDP↑→取引需要↑→利子率↑）
</a:t>
            </a:r>
            <a:pPr indent="0" marL="0">
              <a:lnSpc>
                <a:spcPct val="130000"/>
              </a:lnSpc>
              <a:buNone/>
            </a:pPr>
            <a:r>
              <a:rPr lang="en-US" sz="1050" b="1" dirty="0">
                <a:solidFill>
                  <a:srgbClr val="171717"/>
                </a:solidFill>
                <a:latin typeface="Yu Gothic" pitchFamily="34" charset="0"/>
                <a:ea typeface="Yu Gothic" pitchFamily="34" charset="-122"/>
                <a:cs typeface="Yu Gothic" pitchFamily="34" charset="-120"/>
              </a:rPr>
              <a:t>財政政策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→ISが右へシフト（クラウディングアウト発生）
</a:t>
            </a:r>
            <a:pPr indent="0" marL="0">
              <a:lnSpc>
                <a:spcPct val="130000"/>
              </a:lnSpc>
              <a:buNone/>
            </a:pPr>
            <a:r>
              <a:rPr lang="en-US" sz="1050" b="1" dirty="0">
                <a:solidFill>
                  <a:srgbClr val="FF3B1F"/>
                </a:solidFill>
                <a:latin typeface="Yu Gothic" pitchFamily="34" charset="0"/>
                <a:ea typeface="Yu Gothic" pitchFamily="34" charset="-122"/>
                <a:cs typeface="Yu Gothic" pitchFamily="34" charset="-120"/>
              </a:rPr>
              <a:t>金融政策</a:t>
            </a:r>
            <a:pPr indent="0" marL="0">
              <a:lnSpc>
                <a:spcPct val="130000"/>
              </a:lnSpc>
              <a:buNone/>
            </a:pPr>
            <a:r>
              <a:rPr lang="en-US" sz="1050" dirty="0">
                <a:solidFill>
                  <a:srgbClr val="171717"/>
                </a:solidFill>
                <a:latin typeface="Yu Gothic" pitchFamily="34" charset="0"/>
                <a:ea typeface="Yu Gothic" pitchFamily="34" charset="-122"/>
                <a:cs typeface="Yu Gothic" pitchFamily="34" charset="-120"/>
              </a:rPr>
              <a:t>→LMが右へシフト</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ひっかけ：IS・LM曲線が緩やかなほど「もう一方」の政策が効きやすい（IS緩やか→金融政策が効く、LM緩やか→財政政策が効く）という対応関係が頻出。</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IS曲線とLM曲線に関する記述の正誤の組み合わせとして、最も適切なものを下記の解答群から選べ。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限界消費性向が大きいほどIS曲線の傾きはより緩やかになり、貨幣供給の増加によるGDPの拡大効果は大きくなる。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投資の利子感応度が小さいほど、IS曲線の傾きはより急になり、貨幣供給の増加によるGDPの拡大効果は小さくなる。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貨幣需要の所得感応度が大きいほど、LM曲線の傾きはより緩やかになり、政府支出の増加によるGDPの拡大効果は小さくなる。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貨幣需要の利子感応度が大きいほど、LM曲線の傾きはより緩やかになり、政府支出の増加によるGDPの拡大効果は大きくなる。</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3" name="Text 11"/>
          <p:cNvSpPr txBox="1"/>
          <p:nvPr/>
        </p:nvSpPr>
        <p:spPr>
          <a:xfrm>
            <a:off x="731520" y="47365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4" name="Text 12"/>
          <p:cNvSpPr txBox="1"/>
          <p:nvPr/>
        </p:nvSpPr>
        <p:spPr>
          <a:xfrm>
            <a:off x="502920" y="53492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出典：past_exams/1st_stage/1ji2025/A1JI2025.pdf（令和7年度第1次試験）第10問</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第10問設問2）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正解はア。cの前半（LM曲線の傾きの説明）が誤りである点に注意。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ｄ：正</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ｃ：誤　ｄ：正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100584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d正）。ａ：限界消費性向cが大きいほど乗数1/(1-c)が大きくIS曲線は緩やかになり、金融政策の効果は大きくなる＝正。ｂ：投資の利子感応度が小さいとIS曲線は急になり、金融政策の効果は小さくなる＝正。ｃ：貨幣需要の所得感応度が大きいとLM曲線は急になる（「緩やかになる」が誤り）。ｄ：貨幣需要の利子感応度が大きいとLM曲線は緩やかになり、財政政策の効果は大きくなる＝正。</a:t>
            </a:r>
            <a:endParaRPr lang="en-US" sz="1050" dirty="0"/>
          </a:p>
        </p:txBody>
      </p:sp>
      <p:sp>
        <p:nvSpPr>
          <p:cNvPr id="17" name="Text 15"/>
          <p:cNvSpPr txBox="1"/>
          <p:nvPr/>
        </p:nvSpPr>
        <p:spPr>
          <a:xfrm>
            <a:off x="502920" y="535838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投資が利子率にほとんど反応しない経済（IS曲線が急）では、金融緩和で利子率を下げても設備投資は増えにくく金融政策の効果は限定的。逆にこの経済では財政政策の方がGDP押し上げ効果が大きい。</a:t>
            </a:r>
            <a:endParaRPr lang="en-US" sz="850" dirty="0"/>
          </a:p>
        </p:txBody>
      </p:sp>
      <p:sp>
        <p:nvSpPr>
          <p:cNvPr id="18" name="Text 16"/>
          <p:cNvSpPr txBox="1"/>
          <p:nvPr/>
        </p:nvSpPr>
        <p:spPr>
          <a:xfrm>
            <a:off x="502920" y="607161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関連知識：IS・LM曲線の傾きの4決定要因と政策効果の対応は「その曲線自体が緩やかであるほど、もう一方の政策が効きやすい」という覚え方が有効。</a:t>
            </a:r>
            <a:endParaRPr lang="en-US" sz="950" dirty="0"/>
          </a:p>
        </p:txBody>
      </p:sp>
      <p:sp>
        <p:nvSpPr>
          <p:cNvPr id="19" name="Text 17"/>
          <p:cNvSpPr txBox="1"/>
          <p:nvPr/>
        </p:nvSpPr>
        <p:spPr>
          <a:xfrm>
            <a:off x="502920" y="645566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出典：past_exams/1st_stage/1ji2025/A1JI2025.pdf（令和7年度第1次試験）第10問／正解：past_exams/1st_stage_answers/r07/2025a.pdf</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A-10 ／ 政府支出・租税と財政政策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裁量的財政政策とビルトイン・スタビライザー</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財政政策は歳出・歳入を通じて景気を調整する。政府が発動する裁量的政策と、制度に組み込まれた自動調整機能がある。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財政政策は歳出（政府支出）・歳入（租税）を通じて景気を調整する。不況期は拡張的、好況期は緊縮的に運用する。</a:t>
            </a:r>
            <a:endParaRPr lang="en-US" sz="1150" dirty="0"/>
          </a:p>
        </p:txBody>
      </p:sp>
      <p:sp>
        <p:nvSpPr>
          <p:cNvPr id="9" name="Text 7"/>
          <p:cNvSpPr txBox="1"/>
          <p:nvPr/>
        </p:nvSpPr>
        <p:spPr>
          <a:xfrm>
            <a:off x="502920" y="213055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裁量的財政政策</a:t>
            </a:r>
            <a:endParaRPr lang="en-US" sz="1150" dirty="0"/>
          </a:p>
        </p:txBody>
      </p:sp>
      <p:sp>
        <p:nvSpPr>
          <p:cNvPr id="10" name="Shape 8"/>
          <p:cNvSpPr/>
          <p:nvPr/>
        </p:nvSpPr>
        <p:spPr>
          <a:xfrm>
            <a:off x="2862072" y="2130552"/>
            <a:ext cx="0" cy="256032"/>
          </a:xfrm>
          <a:prstGeom prst="line">
            <a:avLst/>
          </a:prstGeom>
          <a:noFill/>
          <a:ln w="12700">
            <a:solidFill>
              <a:srgbClr val="E6E6E6"/>
            </a:solidFill>
            <a:prstDash val="solid"/>
          </a:ln>
        </p:spPr>
      </p:sp>
      <p:sp>
        <p:nvSpPr>
          <p:cNvPr id="11" name="Text 9"/>
          <p:cNvSpPr txBox="1"/>
          <p:nvPr/>
        </p:nvSpPr>
        <p:spPr>
          <a:xfrm>
            <a:off x="3017520" y="213055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政府が意図的・都度判断で発動する政策</a:t>
            </a:r>
            <a:endParaRPr lang="en-US" sz="1150" dirty="0"/>
          </a:p>
        </p:txBody>
      </p:sp>
      <p:sp>
        <p:nvSpPr>
          <p:cNvPr id="12" name="Text 10"/>
          <p:cNvSpPr txBox="1"/>
          <p:nvPr/>
        </p:nvSpPr>
        <p:spPr>
          <a:xfrm>
            <a:off x="502920" y="2496312"/>
            <a:ext cx="23774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ビルトイン・スタビライザー</a:t>
            </a:r>
            <a:endParaRPr lang="en-US" sz="1150" dirty="0"/>
          </a:p>
        </p:txBody>
      </p:sp>
      <p:sp>
        <p:nvSpPr>
          <p:cNvPr id="13" name="Shape 11"/>
          <p:cNvSpPr/>
          <p:nvPr/>
        </p:nvSpPr>
        <p:spPr>
          <a:xfrm>
            <a:off x="2862072" y="2496312"/>
            <a:ext cx="0" cy="256032"/>
          </a:xfrm>
          <a:prstGeom prst="line">
            <a:avLst/>
          </a:prstGeom>
          <a:noFill/>
          <a:ln w="12700">
            <a:solidFill>
              <a:srgbClr val="E6E6E6"/>
            </a:solidFill>
            <a:prstDash val="solid"/>
          </a:ln>
        </p:spPr>
      </p:sp>
      <p:sp>
        <p:nvSpPr>
          <p:cNvPr id="14" name="Text 12"/>
          <p:cNvSpPr txBox="1"/>
          <p:nvPr/>
        </p:nvSpPr>
        <p:spPr>
          <a:xfrm>
            <a:off x="3017520" y="2496312"/>
            <a:ext cx="86868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累進課税・失業保険給付など、制度に組み込まれた自動安定化機能</a:t>
            </a:r>
            <a:endParaRPr lang="en-US" sz="1150" dirty="0"/>
          </a:p>
        </p:txBody>
      </p:sp>
      <p:sp>
        <p:nvSpPr>
          <p:cNvPr id="15" name="Text 13"/>
          <p:cNvSpPr txBox="1"/>
          <p:nvPr/>
        </p:nvSpPr>
        <p:spPr>
          <a:xfrm>
            <a:off x="502920" y="295351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不況期に所得税を減税しても、消費者が「将来の増税」を予想して減税分を貯蓄に回すと、期待ほど消費が増えない（リカードの中立命題）。</a:t>
            </a:r>
            <a:endParaRPr lang="en-US" sz="850" dirty="0"/>
          </a:p>
        </p:txBody>
      </p:sp>
      <p:sp>
        <p:nvSpPr>
          <p:cNvPr id="16" name="Text 14"/>
          <p:cNvSpPr txBox="1"/>
          <p:nvPr/>
        </p:nvSpPr>
        <p:spPr>
          <a:xfrm>
            <a:off x="502920" y="3803904"/>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ビルトイン・スタビライザーは「政府が都度判断して発動する政策」ではなく、税制・社会保障制度に組み込まれた自動的な機能。</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IS-LM分析（クラウディングアウトは財政政策の効果を弱める代表的な要因）。</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A-11 ／ 貨幣理論と金融政策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中央銀行が持つ6つの金融政策手段</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日本銀行が金利・通貨量を調整して物価安定・景気調整を図る手段。買いオペ＝資金供給（緩和）の方向を正確に覚える。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公開市場操作</a:t>
            </a:r>
            <a:endParaRPr lang="en-US" sz="1500" dirty="0"/>
          </a:p>
        </p:txBody>
      </p:sp>
      <p:sp>
        <p:nvSpPr>
          <p:cNvPr id="9" name="Text 7"/>
          <p:cNvSpPr txBox="1"/>
          <p:nvPr/>
        </p:nvSpPr>
        <p:spPr>
          <a:xfrm>
            <a:off x="36118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オペレーション</a:t>
            </a:r>
            <a:endParaRPr lang="en-US" sz="1100" dirty="0"/>
          </a:p>
        </p:txBody>
      </p:sp>
      <p:sp>
        <p:nvSpPr>
          <p:cNvPr id="10" name="Text 8"/>
          <p:cNvSpPr txBox="1"/>
          <p:nvPr/>
        </p:nvSpPr>
        <p:spPr>
          <a:xfrm>
            <a:off x="5440680" y="185623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国債等の売買で資金量を調整。買いオペ＝資金供給（緩和）、売りオペ＝資金吸収（引締）</a:t>
            </a:r>
            <a:endParaRPr lang="en-US" sz="1100" dirty="0"/>
          </a:p>
        </p:txBody>
      </p:sp>
      <p:sp>
        <p:nvSpPr>
          <p:cNvPr id="11" name="Shape 9"/>
          <p:cNvSpPr/>
          <p:nvPr/>
        </p:nvSpPr>
        <p:spPr>
          <a:xfrm>
            <a:off x="502920" y="2350008"/>
            <a:ext cx="11201400" cy="0"/>
          </a:xfrm>
          <a:prstGeom prst="line">
            <a:avLst/>
          </a:prstGeom>
          <a:noFill/>
          <a:ln w="12700">
            <a:solidFill>
              <a:srgbClr val="E6E6E6"/>
            </a:solidFill>
            <a:prstDash val="solid"/>
          </a:ln>
        </p:spPr>
      </p:sp>
      <p:sp>
        <p:nvSpPr>
          <p:cNvPr id="12" name="Text 10"/>
          <p:cNvSpPr txBox="1"/>
          <p:nvPr/>
        </p:nvSpPr>
        <p:spPr>
          <a:xfrm>
            <a:off x="502920" y="2459736"/>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政策金利操作</a:t>
            </a:r>
            <a:endParaRPr lang="en-US" sz="1500" dirty="0"/>
          </a:p>
        </p:txBody>
      </p:sp>
      <p:sp>
        <p:nvSpPr>
          <p:cNvPr id="13" name="Text 11"/>
          <p:cNvSpPr txBox="1"/>
          <p:nvPr/>
        </p:nvSpPr>
        <p:spPr>
          <a:xfrm>
            <a:off x="3611880" y="2478024"/>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無担保コールレート</a:t>
            </a:r>
            <a:endParaRPr lang="en-US" sz="1100" dirty="0"/>
          </a:p>
        </p:txBody>
      </p:sp>
      <p:sp>
        <p:nvSpPr>
          <p:cNvPr id="14" name="Text 12"/>
          <p:cNvSpPr txBox="1"/>
          <p:nvPr/>
        </p:nvSpPr>
        <p:spPr>
          <a:xfrm>
            <a:off x="5440680" y="2423160"/>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中央銀行が誘導目標とする短期金利を操作</a:t>
            </a:r>
            <a:endParaRPr lang="en-US" sz="1100" dirty="0"/>
          </a:p>
        </p:txBody>
      </p:sp>
      <p:sp>
        <p:nvSpPr>
          <p:cNvPr id="15" name="Shape 13"/>
          <p:cNvSpPr/>
          <p:nvPr/>
        </p:nvSpPr>
        <p:spPr>
          <a:xfrm>
            <a:off x="502920" y="2916936"/>
            <a:ext cx="11201400" cy="0"/>
          </a:xfrm>
          <a:prstGeom prst="line">
            <a:avLst/>
          </a:prstGeom>
          <a:noFill/>
          <a:ln w="12700">
            <a:solidFill>
              <a:srgbClr val="E6E6E6"/>
            </a:solidFill>
            <a:prstDash val="solid"/>
          </a:ln>
        </p:spPr>
      </p:sp>
      <p:sp>
        <p:nvSpPr>
          <p:cNvPr id="16" name="Text 14"/>
          <p:cNvSpPr txBox="1"/>
          <p:nvPr/>
        </p:nvSpPr>
        <p:spPr>
          <a:xfrm>
            <a:off x="502920" y="3026664"/>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預金準備率操作</a:t>
            </a:r>
            <a:endParaRPr lang="en-US" sz="1500" dirty="0"/>
          </a:p>
        </p:txBody>
      </p:sp>
      <p:sp>
        <p:nvSpPr>
          <p:cNvPr id="17" name="Text 15"/>
          <p:cNvSpPr txBox="1"/>
          <p:nvPr/>
        </p:nvSpPr>
        <p:spPr>
          <a:xfrm>
            <a:off x="3611880" y="3044952"/>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準備率</a:t>
            </a:r>
            <a:endParaRPr lang="en-US" sz="1100" dirty="0"/>
          </a:p>
        </p:txBody>
      </p:sp>
      <p:sp>
        <p:nvSpPr>
          <p:cNvPr id="18" name="Text 16"/>
          <p:cNvSpPr txBox="1"/>
          <p:nvPr/>
        </p:nvSpPr>
        <p:spPr>
          <a:xfrm>
            <a:off x="5440680" y="2990088"/>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金融機関が中央銀行に預け入れる比率を上下させ貸出余力を調整</a:t>
            </a:r>
            <a:endParaRPr lang="en-US" sz="1100" dirty="0"/>
          </a:p>
        </p:txBody>
      </p:sp>
      <p:sp>
        <p:nvSpPr>
          <p:cNvPr id="19" name="Shape 17"/>
          <p:cNvSpPr/>
          <p:nvPr/>
        </p:nvSpPr>
        <p:spPr>
          <a:xfrm>
            <a:off x="502920" y="3483864"/>
            <a:ext cx="11201400" cy="0"/>
          </a:xfrm>
          <a:prstGeom prst="line">
            <a:avLst/>
          </a:prstGeom>
          <a:noFill/>
          <a:ln w="12700">
            <a:solidFill>
              <a:srgbClr val="E6E6E6"/>
            </a:solidFill>
            <a:prstDash val="solid"/>
          </a:ln>
        </p:spPr>
      </p:sp>
      <p:sp>
        <p:nvSpPr>
          <p:cNvPr id="20" name="Text 18"/>
          <p:cNvSpPr txBox="1"/>
          <p:nvPr/>
        </p:nvSpPr>
        <p:spPr>
          <a:xfrm>
            <a:off x="502920" y="3593592"/>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量的緩和政策</a:t>
            </a:r>
            <a:endParaRPr lang="en-US" sz="1500" dirty="0"/>
          </a:p>
        </p:txBody>
      </p:sp>
      <p:sp>
        <p:nvSpPr>
          <p:cNvPr id="21" name="Text 19"/>
          <p:cNvSpPr txBox="1"/>
          <p:nvPr/>
        </p:nvSpPr>
        <p:spPr>
          <a:xfrm>
            <a:off x="3611880" y="3611880"/>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QE</a:t>
            </a:r>
            <a:endParaRPr lang="en-US" sz="1100" dirty="0"/>
          </a:p>
        </p:txBody>
      </p:sp>
      <p:sp>
        <p:nvSpPr>
          <p:cNvPr id="22" name="Text 20"/>
          <p:cNvSpPr txBox="1"/>
          <p:nvPr/>
        </p:nvSpPr>
        <p:spPr>
          <a:xfrm>
            <a:off x="5440680" y="3557016"/>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政策金利がほぼゼロになった後、資金供給「量」そのものを拡大</a:t>
            </a:r>
            <a:endParaRPr lang="en-US" sz="1100" dirty="0"/>
          </a:p>
        </p:txBody>
      </p:sp>
      <p:sp>
        <p:nvSpPr>
          <p:cNvPr id="23" name="Shape 21"/>
          <p:cNvSpPr/>
          <p:nvPr/>
        </p:nvSpPr>
        <p:spPr>
          <a:xfrm>
            <a:off x="502920" y="4050792"/>
            <a:ext cx="11201400" cy="0"/>
          </a:xfrm>
          <a:prstGeom prst="line">
            <a:avLst/>
          </a:prstGeom>
          <a:noFill/>
          <a:ln w="12700">
            <a:solidFill>
              <a:srgbClr val="E6E6E6"/>
            </a:solidFill>
            <a:prstDash val="solid"/>
          </a:ln>
        </p:spPr>
      </p:sp>
      <p:sp>
        <p:nvSpPr>
          <p:cNvPr id="24" name="Text 22"/>
          <p:cNvSpPr txBox="1"/>
          <p:nvPr/>
        </p:nvSpPr>
        <p:spPr>
          <a:xfrm>
            <a:off x="502920" y="4160520"/>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マイナス金利政策</a:t>
            </a:r>
            <a:endParaRPr lang="en-US" sz="1500" dirty="0"/>
          </a:p>
        </p:txBody>
      </p:sp>
      <p:sp>
        <p:nvSpPr>
          <p:cNvPr id="25" name="Text 23"/>
          <p:cNvSpPr txBox="1"/>
          <p:nvPr/>
        </p:nvSpPr>
        <p:spPr>
          <a:xfrm>
            <a:off x="3611880" y="4123944"/>
            <a:ext cx="80924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日銀当座預金の一部にマイナス金利を適用し貸出・投資を促す</a:t>
            </a:r>
            <a:endParaRPr lang="en-US" sz="1100" dirty="0"/>
          </a:p>
        </p:txBody>
      </p:sp>
      <p:sp>
        <p:nvSpPr>
          <p:cNvPr id="26" name="Shape 24"/>
          <p:cNvSpPr/>
          <p:nvPr/>
        </p:nvSpPr>
        <p:spPr>
          <a:xfrm>
            <a:off x="502920" y="4617720"/>
            <a:ext cx="11201400" cy="0"/>
          </a:xfrm>
          <a:prstGeom prst="line">
            <a:avLst/>
          </a:prstGeom>
          <a:noFill/>
          <a:ln w="12700">
            <a:solidFill>
              <a:srgbClr val="E6E6E6"/>
            </a:solidFill>
            <a:prstDash val="solid"/>
          </a:ln>
        </p:spPr>
      </p:sp>
      <p:sp>
        <p:nvSpPr>
          <p:cNvPr id="27" name="Text 25"/>
          <p:cNvSpPr txBox="1"/>
          <p:nvPr/>
        </p:nvSpPr>
        <p:spPr>
          <a:xfrm>
            <a:off x="502920" y="4727448"/>
            <a:ext cx="30175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イールドカーブ・コントロール</a:t>
            </a:r>
            <a:endParaRPr lang="en-US" sz="1500" dirty="0"/>
          </a:p>
        </p:txBody>
      </p:sp>
      <p:sp>
        <p:nvSpPr>
          <p:cNvPr id="28" name="Text 26"/>
          <p:cNvSpPr txBox="1"/>
          <p:nvPr/>
        </p:nvSpPr>
        <p:spPr>
          <a:xfrm>
            <a:off x="3611880" y="47457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YCC</a:t>
            </a:r>
            <a:endParaRPr lang="en-US" sz="1100" dirty="0"/>
          </a:p>
        </p:txBody>
      </p:sp>
      <p:sp>
        <p:nvSpPr>
          <p:cNvPr id="29" name="Text 27"/>
          <p:cNvSpPr txBox="1"/>
          <p:nvPr/>
        </p:nvSpPr>
        <p:spPr>
          <a:xfrm>
            <a:off x="5440680" y="4690872"/>
            <a:ext cx="6263640" cy="411480"/>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長期金利（長期国債利回り）にも誘導目標を設定</a:t>
            </a:r>
            <a:endParaRPr lang="en-US" sz="11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ひっかけ：「買いオペは資金を吸収する」は誤り。買いオペは資金を「供給する」緩和的な政策。売りオペとの方向を逆に覚えないこと。</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FFFF"/>
          </a:solidFill>
          <a:ln w="12700">
            <a:solidFill>
              <a:srgbClr val="E6E6E6"/>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A-12 ／ 雇用と物価水準（フィリップス曲線等）</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短期は右下がり、長期は垂直（自然失業率仮説）</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フィリップス曲線はインフレ率と失業率のトレードオフを示す。ただし長期的にはこのトレードオフは成立しない。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フィリップス曲線：縦軸インフレ率、横軸失業率の右下がりの関係。「失業率を下げようとするとインフレ率が高まる」という経験則。</a:t>
            </a:r>
            <a:endParaRPr lang="en-US" sz="1150" dirty="0"/>
          </a:p>
        </p:txBody>
      </p:sp>
      <p:sp>
        <p:nvSpPr>
          <p:cNvPr id="9" name="Text 7"/>
          <p:cNvSpPr txBox="1"/>
          <p:nvPr/>
        </p:nvSpPr>
        <p:spPr>
          <a:xfrm>
            <a:off x="502920" y="2221992"/>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短期フィリップス曲線</a:t>
            </a:r>
            <a:endParaRPr lang="en-US" sz="1150" dirty="0"/>
          </a:p>
        </p:txBody>
      </p:sp>
      <p:sp>
        <p:nvSpPr>
          <p:cNvPr id="10" name="Shape 8"/>
          <p:cNvSpPr/>
          <p:nvPr/>
        </p:nvSpPr>
        <p:spPr>
          <a:xfrm>
            <a:off x="2404872" y="2221992"/>
            <a:ext cx="0" cy="256032"/>
          </a:xfrm>
          <a:prstGeom prst="line">
            <a:avLst/>
          </a:prstGeom>
          <a:noFill/>
          <a:ln w="12700">
            <a:solidFill>
              <a:srgbClr val="E6E6E6"/>
            </a:solidFill>
            <a:prstDash val="solid"/>
          </a:ln>
        </p:spPr>
      </p:sp>
      <p:sp>
        <p:nvSpPr>
          <p:cNvPr id="11" name="Text 9"/>
          <p:cNvSpPr txBox="1"/>
          <p:nvPr/>
        </p:nvSpPr>
        <p:spPr>
          <a:xfrm>
            <a:off x="2560320" y="2221992"/>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右下がり。インフレ率と失業率のトレードオフが観察される</a:t>
            </a:r>
            <a:endParaRPr lang="en-US" sz="1150" dirty="0"/>
          </a:p>
        </p:txBody>
      </p:sp>
      <p:sp>
        <p:nvSpPr>
          <p:cNvPr id="12" name="Text 10"/>
          <p:cNvSpPr txBox="1"/>
          <p:nvPr/>
        </p:nvSpPr>
        <p:spPr>
          <a:xfrm>
            <a:off x="502920" y="2587752"/>
            <a:ext cx="19202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自然失業率仮説</a:t>
            </a:r>
            <a:endParaRPr lang="en-US" sz="1150" dirty="0"/>
          </a:p>
        </p:txBody>
      </p:sp>
      <p:sp>
        <p:nvSpPr>
          <p:cNvPr id="13" name="Shape 11"/>
          <p:cNvSpPr/>
          <p:nvPr/>
        </p:nvSpPr>
        <p:spPr>
          <a:xfrm>
            <a:off x="2404872" y="2587752"/>
            <a:ext cx="0" cy="256032"/>
          </a:xfrm>
          <a:prstGeom prst="line">
            <a:avLst/>
          </a:prstGeom>
          <a:noFill/>
          <a:ln w="12700">
            <a:solidFill>
              <a:srgbClr val="E6E6E6"/>
            </a:solidFill>
            <a:prstDash val="solid"/>
          </a:ln>
        </p:spPr>
      </p:sp>
      <p:sp>
        <p:nvSpPr>
          <p:cNvPr id="14" name="Text 12"/>
          <p:cNvSpPr txBox="1"/>
          <p:nvPr/>
        </p:nvSpPr>
        <p:spPr>
          <a:xfrm>
            <a:off x="2560320" y="2587752"/>
            <a:ext cx="91440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予想インフレ率が織り込まれると曲線が上方シフト。長期は自然失業率の水準で垂直になる</a:t>
            </a:r>
            <a:endParaRPr lang="en-US" sz="1150" dirty="0"/>
          </a:p>
        </p:txBody>
      </p:sp>
      <p:sp>
        <p:nvSpPr>
          <p:cNvPr id="15" name="Text 13"/>
          <p:cNvSpPr txBox="1"/>
          <p:nvPr/>
        </p:nvSpPr>
        <p:spPr>
          <a:xfrm>
            <a:off x="502920" y="313639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1970年代の石油危機後、原油高でインフレが進む一方、不況で失業率も高止まりする「スタグフレーション」が発生し、単純なフィリップス曲線の想定が崩れた。</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ひっかけ：「トレードオフは長期でも常に成立」は誤り。長期の曲線は自然失業率の水準で垂直になる。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景気変動と景気循環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4つの景気循環：周期の短い順に原因とペアで覚える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キチン（在庫）＜ジュグラー（設備）＜クズネッツ（建築）＜コンドラチェフ（技術革新）の順に周期が長くなる。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キチン・サイクル</a:t>
            </a:r>
            <a:endParaRPr lang="en-US" sz="1500" dirty="0"/>
          </a:p>
        </p:txBody>
      </p:sp>
      <p:sp>
        <p:nvSpPr>
          <p:cNvPr id="9" name="Text 7"/>
          <p:cNvSpPr txBox="1"/>
          <p:nvPr/>
        </p:nvSpPr>
        <p:spPr>
          <a:xfrm>
            <a:off x="3246120" y="191109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約40か月</a:t>
            </a:r>
            <a:endParaRPr lang="en-US" sz="1100" dirty="0"/>
          </a:p>
        </p:txBody>
      </p:sp>
      <p:sp>
        <p:nvSpPr>
          <p:cNvPr id="10" name="Text 8"/>
          <p:cNvSpPr txBox="1"/>
          <p:nvPr/>
        </p:nvSpPr>
        <p:spPr>
          <a:xfrm>
            <a:off x="4892040" y="185623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企業の在庫投資（在庫の積み増し・取り崩し）の変動による短期循環</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ジュグラー・サイクル</a:t>
            </a:r>
            <a:endParaRPr lang="en-US" sz="1500" dirty="0"/>
          </a:p>
        </p:txBody>
      </p:sp>
      <p:sp>
        <p:nvSpPr>
          <p:cNvPr id="13" name="Text 11"/>
          <p:cNvSpPr txBox="1"/>
          <p:nvPr/>
        </p:nvSpPr>
        <p:spPr>
          <a:xfrm>
            <a:off x="3246120" y="268833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約7〜10年</a:t>
            </a:r>
            <a:endParaRPr lang="en-US" sz="1100" dirty="0"/>
          </a:p>
        </p:txBody>
      </p:sp>
      <p:sp>
        <p:nvSpPr>
          <p:cNvPr id="14" name="Text 12"/>
          <p:cNvSpPr txBox="1"/>
          <p:nvPr/>
        </p:nvSpPr>
        <p:spPr>
          <a:xfrm>
            <a:off x="4892040" y="263347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企業の設備投資（生産設備の更新投資）の波による中期循環</a:t>
            </a:r>
            <a:endParaRPr lang="en-US" sz="110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クズネッツの波</a:t>
            </a:r>
            <a:endParaRPr lang="en-US" sz="1500" dirty="0"/>
          </a:p>
        </p:txBody>
      </p:sp>
      <p:sp>
        <p:nvSpPr>
          <p:cNvPr id="17" name="Text 15"/>
          <p:cNvSpPr txBox="1"/>
          <p:nvPr/>
        </p:nvSpPr>
        <p:spPr>
          <a:xfrm>
            <a:off x="3246120" y="346557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約15〜25年</a:t>
            </a:r>
            <a:endParaRPr lang="en-US" sz="1100" dirty="0"/>
          </a:p>
        </p:txBody>
      </p:sp>
      <p:sp>
        <p:nvSpPr>
          <p:cNvPr id="18" name="Text 16"/>
          <p:cNvSpPr txBox="1"/>
          <p:nvPr/>
        </p:nvSpPr>
        <p:spPr>
          <a:xfrm>
            <a:off x="4892040" y="341071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住宅・商工業建築物の建て替え需要の変動（建築循環）</a:t>
            </a:r>
            <a:endParaRPr lang="en-US" sz="1100" dirty="0"/>
          </a:p>
        </p:txBody>
      </p:sp>
      <p:sp>
        <p:nvSpPr>
          <p:cNvPr id="19" name="Shape 17"/>
          <p:cNvSpPr/>
          <p:nvPr/>
        </p:nvSpPr>
        <p:spPr>
          <a:xfrm>
            <a:off x="502920" y="4114800"/>
            <a:ext cx="11201400" cy="0"/>
          </a:xfrm>
          <a:prstGeom prst="line">
            <a:avLst/>
          </a:prstGeom>
          <a:noFill/>
          <a:ln w="12700">
            <a:solidFill>
              <a:srgbClr val="E6E6E6"/>
            </a:solidFill>
            <a:prstDash val="solid"/>
          </a:ln>
        </p:spPr>
      </p:sp>
      <p:sp>
        <p:nvSpPr>
          <p:cNvPr id="20" name="Text 18"/>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コンドラチェフ・サイクル</a:t>
            </a:r>
            <a:endParaRPr lang="en-US" sz="1500" dirty="0"/>
          </a:p>
        </p:txBody>
      </p:sp>
      <p:sp>
        <p:nvSpPr>
          <p:cNvPr id="21" name="Text 19"/>
          <p:cNvSpPr txBox="1"/>
          <p:nvPr/>
        </p:nvSpPr>
        <p:spPr>
          <a:xfrm>
            <a:off x="3246120" y="4242816"/>
            <a:ext cx="155448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約50年</a:t>
            </a:r>
            <a:endParaRPr lang="en-US" sz="1100" dirty="0"/>
          </a:p>
        </p:txBody>
      </p:sp>
      <p:sp>
        <p:nvSpPr>
          <p:cNvPr id="22" name="Text 20"/>
          <p:cNvSpPr txBox="1"/>
          <p:nvPr/>
        </p:nvSpPr>
        <p:spPr>
          <a:xfrm>
            <a:off x="4892040" y="4187952"/>
            <a:ext cx="681228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鉄道・電力・情報通信技術のような大規模な技術革新の普及</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関連：A-4 景気動向指数（DI・CI）とあわせて景気の波を把握する視点。周期と原因のペアを入れ替えた誤答が頻出。</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9144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景気循環の周期性に関する記述の正誤の組み合わせとして、最も適切なものを下記の解答群から選べ。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コンドラチェフ・サイクルは、約50年の周期をもつ景気循環で、大規模な技術革新などに起因して生じると考えられている。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キチン・サイクルは、約20年の周期をもつ景気循環で、住宅や商工業建築の建て替えなどに起因して生じると考えられている。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ジュグラー・サイクルは、約7〜10年の周期をもつ景気循環で、生産設備の更新投資などに起因して生じると考えられている。</a:t>
            </a:r>
            <a:endParaRPr lang="en-US" sz="1250" dirty="0"/>
          </a:p>
        </p:txBody>
      </p:sp>
      <p:sp>
        <p:nvSpPr>
          <p:cNvPr id="9" name="Text 7"/>
          <p:cNvSpPr txBox="1"/>
          <p:nvPr/>
        </p:nvSpPr>
        <p:spPr>
          <a:xfrm>
            <a:off x="731520" y="26974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1729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36484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1239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5994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2120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出典：past_exams/1st_stage/1ji2025/A1JI2025.pdf（令和7年度第1次試験）第6問</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A-13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正解はウ。ｂはキチン・サイクルとクズネッツの波の説明が入れ替わっている。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誤・c正）。ａ：コンドラチェフ・サイクルは約50年周期・技術革新が原動力＝正。ｂ：キチン・サイクルは本来「約40か月（3〜4年）」の在庫投資による短期循環。「約20年・住宅や商工業建築の建て替え」はクズネッツの波の説明であり、名称と内容が入れ替わっている＝誤。ｃ：ジュグラー・サイクルは約7〜10年・設備投資が原因＝正。</a:t>
            </a:r>
            <a:endParaRPr lang="en-US" sz="1050" dirty="0"/>
          </a:p>
        </p:txBody>
      </p:sp>
      <p:sp>
        <p:nvSpPr>
          <p:cNvPr id="17" name="Text 15"/>
          <p:cNvSpPr txBox="1"/>
          <p:nvPr/>
        </p:nvSpPr>
        <p:spPr>
          <a:xfrm>
            <a:off x="502920" y="526694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企業が在庫を積みすぎ、その後在庫調整で生産を絞る数年単位のサイクルはキチン・サイクルの典型例。鉄道・電力の普及のような技術革新が経済を長期に押し上げる動きはコンドラチェフ・サイクルとして説明される。</a:t>
            </a:r>
            <a:endParaRPr lang="en-US" sz="850" dirty="0"/>
          </a:p>
        </p:txBody>
      </p:sp>
      <p:sp>
        <p:nvSpPr>
          <p:cNvPr id="18" name="Text 16"/>
          <p:cNvSpPr txBox="1"/>
          <p:nvPr/>
        </p:nvSpPr>
        <p:spPr>
          <a:xfrm>
            <a:off x="502920" y="598017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関連知識：4大景気循環（キチン・ジュグラー・クズネッツ・コンドラチェフ）は「周期の長さ×原因（在庫・設備・建築・技術革新）」のペアで暗記する。</a:t>
            </a:r>
            <a:endParaRPr lang="en-US" sz="950" dirty="0"/>
          </a:p>
        </p:txBody>
      </p:sp>
      <p:sp>
        <p:nvSpPr>
          <p:cNvPr id="19" name="Text 17"/>
          <p:cNvSpPr txBox="1"/>
          <p:nvPr/>
        </p:nvSpPr>
        <p:spPr>
          <a:xfrm>
            <a:off x="502920" y="636422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出典：past_exams/1st_stage/1ji2025/A1JI2025.pdf（令和7年度第1次試験）第6問／正解：past_exams/1st_stage_answers/r07/2025a.pdf</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比較生産費説と貿易理論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「相対的な得意」で特化すると両国とも得をする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リカードの比較生産費説：絶対優位でなく比較優位（機会費用の小ささ）に基づいて特化・貿易すれば両国の生産量が増える。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機会費用（ある財1単位の生産に必要な労働量 ÷ もう一方の財1単位に必要な労働量）が相手国より低い財に特化すると、貿易の利益が生まれる。</a:t>
            </a:r>
            <a:endParaRPr lang="en-US" sz="1150" dirty="0"/>
          </a:p>
        </p:txBody>
      </p:sp>
      <p:sp>
        <p:nvSpPr>
          <p:cNvPr id="9" name="Text 7"/>
          <p:cNvSpPr txBox="1"/>
          <p:nvPr/>
        </p:nvSpPr>
        <p:spPr>
          <a:xfrm>
            <a:off x="502920" y="222199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絶対優位</a:t>
            </a:r>
            <a:endParaRPr lang="en-US" sz="1150" dirty="0"/>
          </a:p>
        </p:txBody>
      </p:sp>
      <p:sp>
        <p:nvSpPr>
          <p:cNvPr id="10" name="Shape 8"/>
          <p:cNvSpPr/>
          <p:nvPr/>
        </p:nvSpPr>
        <p:spPr>
          <a:xfrm>
            <a:off x="1856232" y="2221992"/>
            <a:ext cx="0" cy="256032"/>
          </a:xfrm>
          <a:prstGeom prst="line">
            <a:avLst/>
          </a:prstGeom>
          <a:noFill/>
          <a:ln w="12700">
            <a:solidFill>
              <a:srgbClr val="E6E6E6"/>
            </a:solidFill>
            <a:prstDash val="solid"/>
          </a:ln>
        </p:spPr>
      </p:sp>
      <p:sp>
        <p:nvSpPr>
          <p:cNvPr id="11" name="Text 9"/>
          <p:cNvSpPr txBox="1"/>
          <p:nvPr/>
        </p:nvSpPr>
        <p:spPr>
          <a:xfrm>
            <a:off x="2011680" y="222199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ある国が2財のどちらも他国より効率よく作れること（貿易の必要条件ではない）</a:t>
            </a:r>
            <a:endParaRPr lang="en-US" sz="1150" dirty="0"/>
          </a:p>
        </p:txBody>
      </p:sp>
      <p:sp>
        <p:nvSpPr>
          <p:cNvPr id="12" name="Text 10"/>
          <p:cNvSpPr txBox="1"/>
          <p:nvPr/>
        </p:nvSpPr>
        <p:spPr>
          <a:xfrm>
            <a:off x="502920" y="2587752"/>
            <a:ext cx="137160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比較優位</a:t>
            </a:r>
            <a:endParaRPr lang="en-US" sz="1150" dirty="0"/>
          </a:p>
        </p:txBody>
      </p:sp>
      <p:sp>
        <p:nvSpPr>
          <p:cNvPr id="13" name="Shape 11"/>
          <p:cNvSpPr/>
          <p:nvPr/>
        </p:nvSpPr>
        <p:spPr>
          <a:xfrm>
            <a:off x="1856232" y="2587752"/>
            <a:ext cx="0" cy="256032"/>
          </a:xfrm>
          <a:prstGeom prst="line">
            <a:avLst/>
          </a:prstGeom>
          <a:noFill/>
          <a:ln w="12700">
            <a:solidFill>
              <a:srgbClr val="E6E6E6"/>
            </a:solidFill>
            <a:prstDash val="solid"/>
          </a:ln>
        </p:spPr>
      </p:sp>
      <p:sp>
        <p:nvSpPr>
          <p:cNvPr id="14" name="Text 12"/>
          <p:cNvSpPr txBox="1"/>
          <p:nvPr/>
        </p:nvSpPr>
        <p:spPr>
          <a:xfrm>
            <a:off x="2011680" y="2587752"/>
            <a:ext cx="969264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相対的に機会費用が低い財を持つこと。これに基づき特化すれば両国とも得をする</a:t>
            </a:r>
            <a:endParaRPr lang="en-US" sz="1150" dirty="0"/>
          </a:p>
        </p:txBody>
      </p:sp>
      <p:sp>
        <p:nvSpPr>
          <p:cNvPr id="15" name="Text 13"/>
          <p:cNvSpPr txBox="1"/>
          <p:nvPr/>
        </p:nvSpPr>
        <p:spPr>
          <a:xfrm>
            <a:off x="502920" y="3044952"/>
            <a:ext cx="11201400" cy="7772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カカオ1単位の労働量：A国5、B国4。大豆1単位：A国10、B国2。A国のカカオの機会費用＝5÷10＝0.5、B国＝4÷2＝2。A国はカカオに、B国は大豆に比較優位を持ち、それぞれ完全特化すると特化前より多く生産・消費できる。</a:t>
            </a:r>
            <a:endParaRPr lang="en-US" sz="850" dirty="0"/>
          </a:p>
        </p:txBody>
      </p:sp>
      <p:sp>
        <p:nvSpPr>
          <p:cNvPr id="16" name="Text 14"/>
          <p:cNvSpPr txBox="1"/>
          <p:nvPr/>
        </p:nvSpPr>
        <p:spPr>
          <a:xfrm>
            <a:off x="502920" y="38953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機会費用の式（自国の労働量÷もう一方の財の労働量）をどちらの財について聞かれているか取り違えないこと。</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経済余剰（貿易の利益を余剰の増加として捉える視点）。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691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下表に従って、比較生産費説に基づく国際分業を考える。カカオ1単位を生産するのに必要な労働量は、Ａ国では5、Ｂ国では4である。同様に、大豆1単位を生産するのに必要な労働量は、Ａ国では10、Ｂ国では2である。労働は両国で同質で、当初はどちらの国もカカオと大豆をそれぞれ40単位ずつ生産していたものとする。このような状況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Ａ国におけるカカオ1単位の機会費用は、大豆2単位である。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Ｂ国における大豆のカカオに対する相対価格は、Ａ国のそれよりも高い。</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Ｂ国で2つの財の生産に必要となる労働量の合計は240である。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ｄ　当初の労働量を維持しながら、Ａ国がカカオの生産に、Ｂ国が大豆の生産にそれぞれ完全特化したとき、各国におけるカカオと大豆の生産量はどちらも120となる。</a:t>
            </a:r>
            <a:endParaRPr lang="en-US" sz="1250" dirty="0"/>
          </a:p>
        </p:txBody>
      </p:sp>
      <p:sp>
        <p:nvSpPr>
          <p:cNvPr id="9" name="Text 7"/>
          <p:cNvSpPr txBox="1"/>
          <p:nvPr/>
        </p:nvSpPr>
        <p:spPr>
          <a:xfrm>
            <a:off x="731520" y="3474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10" name="Text 8"/>
          <p:cNvSpPr txBox="1"/>
          <p:nvPr/>
        </p:nvSpPr>
        <p:spPr>
          <a:xfrm>
            <a:off x="731520" y="3950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1" name="Text 9"/>
          <p:cNvSpPr txBox="1"/>
          <p:nvPr/>
        </p:nvSpPr>
        <p:spPr>
          <a:xfrm>
            <a:off x="731520" y="4425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2" name="Text 10"/>
          <p:cNvSpPr txBox="1"/>
          <p:nvPr/>
        </p:nvSpPr>
        <p:spPr>
          <a:xfrm>
            <a:off x="731520" y="4901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3" name="Text 11"/>
          <p:cNvSpPr txBox="1"/>
          <p:nvPr/>
        </p:nvSpPr>
        <p:spPr>
          <a:xfrm>
            <a:off x="731520" y="53766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4" name="Text 12"/>
          <p:cNvSpPr txBox="1"/>
          <p:nvPr/>
        </p:nvSpPr>
        <p:spPr>
          <a:xfrm>
            <a:off x="502920" y="59893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出典：past_exams/1st_stage/1ji2024/A1JI2024.pdf（令和6年度第1次試験）第22問</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解答＆解説（令和6年度 第22問）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正解はエ。機会費用の式（自国の労働量÷もう一方の財の労働量）を正確に適用できるかがカギ。</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　ｄ：誤</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　ｄ：誤</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　ｄ：誤</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ｃ：正　ｄ：正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ｂ：誤　ｃ：誤　ｄ：正</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00" b="1" dirty="0">
                <a:solidFill>
                  <a:srgbClr val="FF3B1F"/>
                </a:solidFill>
                <a:latin typeface="Yu Gothic" pitchFamily="34" charset="0"/>
                <a:ea typeface="Yu Gothic" pitchFamily="34" charset="-122"/>
                <a:cs typeface="Yu Gothic" pitchFamily="34" charset="-120"/>
              </a:rPr>
              <a:t>正解：エ</a:t>
            </a:r>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誤・b誤・c正・d正）。ａ：Ａ国のカカオ1単位の機会費用＝5÷10＝大豆0.5単位（「2単位」はＢ国の機会費用）＝誤。ｂ：大豆の相対価格（大豆の労働量÷カカオの労働量）はＡ国＝10÷5＝2、Ｂ国＝2÷4＝0.5。Ｂ国の方が低いため「Ｂ国の方が高い」は誤。ｃ：Ｂ国の総労働量＝4×40＋2×40＝240＝正。ｄ：Ａ国はカカオに600÷5＝120単位、Ｂ国は大豆に240÷2＝120単位、完全特化。両国とも120＝正。</a:t>
            </a:r>
            <a:endParaRPr lang="en-US" sz="1000" dirty="0"/>
          </a:p>
        </p:txBody>
      </p:sp>
      <p:sp>
        <p:nvSpPr>
          <p:cNvPr id="17" name="Text 15"/>
          <p:cNvSpPr txBox="1"/>
          <p:nvPr/>
        </p:nvSpPr>
        <p:spPr>
          <a:xfrm>
            <a:off x="502920" y="526694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特化前は両国合計でカカオ80単位・大豆80単位だったのに対し、特化後は各国120単位ずつを生産でき、貿易を通じてより多くの量を消費できる可能性が生まれる（貿易の利益）。</a:t>
            </a:r>
            <a:endParaRPr lang="en-US" sz="850" dirty="0"/>
          </a:p>
        </p:txBody>
      </p:sp>
      <p:sp>
        <p:nvSpPr>
          <p:cNvPr id="18" name="Text 16"/>
          <p:cNvSpPr txBox="1"/>
          <p:nvPr/>
        </p:nvSpPr>
        <p:spPr>
          <a:xfrm>
            <a:off x="502920" y="588873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関連知識：「各国の総労働量（一定）÷特化財の労働係数＝特化後の生産量」という計算パターンは頻出。</a:t>
            </a:r>
            <a:endParaRPr lang="en-US" sz="950" dirty="0"/>
          </a:p>
        </p:txBody>
      </p:sp>
      <p:sp>
        <p:nvSpPr>
          <p:cNvPr id="19" name="Text 17"/>
          <p:cNvSpPr txBox="1"/>
          <p:nvPr/>
        </p:nvSpPr>
        <p:spPr>
          <a:xfrm>
            <a:off x="502920" y="627278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出典：past_exams/1st_stage/1ji2024/A1JI2024.pdf（令和6年度第1次試験）第22問／正解：past_exams/1st_stage_answers/r06/2024a.pdf</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A-15 ／ 貿易政策（関税・非関税障壁）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保護貿易は社会全体の総余剰を減らす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関税・非関税障壁いずれも国内生産者を保護する一方、自由貿易と比べ社会全体の総余剰は小さくなる（死荷重の発生）。</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30000"/>
              </a:lnSpc>
              <a:buNone/>
            </a:pPr>
            <a:r>
              <a:rPr lang="en-US" sz="1150" dirty="0">
                <a:solidFill>
                  <a:srgbClr val="8A8A8A"/>
                </a:solidFill>
                <a:latin typeface="Yu Gothic" pitchFamily="34" charset="0"/>
                <a:ea typeface="Yu Gothic" pitchFamily="34" charset="-122"/>
                <a:cs typeface="Yu Gothic" pitchFamily="34" charset="-120"/>
              </a:rPr>
              <a:t>自由貿易は理論上、両国全体の余剰を最大化するが、各国政府は国内産業保護のため保護貿易政策をとることがある。</a:t>
            </a:r>
            <a:endParaRPr lang="en-US" sz="1150" dirty="0"/>
          </a:p>
        </p:txBody>
      </p:sp>
      <p:sp>
        <p:nvSpPr>
          <p:cNvPr id="9" name="Text 7"/>
          <p:cNvSpPr txBox="1"/>
          <p:nvPr/>
        </p:nvSpPr>
        <p:spPr>
          <a:xfrm>
            <a:off x="502920" y="2130552"/>
            <a:ext cx="1463040" cy="53035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関税</a:t>
            </a:r>
            <a:endParaRPr lang="en-US" sz="1150" dirty="0"/>
          </a:p>
        </p:txBody>
      </p:sp>
      <p:sp>
        <p:nvSpPr>
          <p:cNvPr id="10" name="Shape 8"/>
          <p:cNvSpPr/>
          <p:nvPr/>
        </p:nvSpPr>
        <p:spPr>
          <a:xfrm>
            <a:off x="1947672" y="2130552"/>
            <a:ext cx="0" cy="256032"/>
          </a:xfrm>
          <a:prstGeom prst="line">
            <a:avLst/>
          </a:prstGeom>
          <a:noFill/>
          <a:ln w="12700">
            <a:solidFill>
              <a:srgbClr val="E6E6E6"/>
            </a:solidFill>
            <a:prstDash val="solid"/>
          </a:ln>
        </p:spPr>
      </p:sp>
      <p:sp>
        <p:nvSpPr>
          <p:cNvPr id="11" name="Text 9"/>
          <p:cNvSpPr txBox="1"/>
          <p:nvPr/>
        </p:nvSpPr>
        <p:spPr>
          <a:xfrm>
            <a:off x="2103120" y="2130552"/>
            <a:ext cx="9601200" cy="53035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輸入品への課税。国内価格↑で消費者余剰↓・生産者余剰↑・政府に関税収入。総余剰は死荷重の分だけ減少</a:t>
            </a:r>
            <a:endParaRPr lang="en-US" sz="1150" dirty="0"/>
          </a:p>
        </p:txBody>
      </p:sp>
      <p:sp>
        <p:nvSpPr>
          <p:cNvPr id="12" name="Text 10"/>
          <p:cNvSpPr txBox="1"/>
          <p:nvPr/>
        </p:nvSpPr>
        <p:spPr>
          <a:xfrm>
            <a:off x="502920" y="2679192"/>
            <a:ext cx="1463040" cy="43891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非関税障壁</a:t>
            </a:r>
            <a:endParaRPr lang="en-US" sz="1150" dirty="0"/>
          </a:p>
        </p:txBody>
      </p:sp>
      <p:sp>
        <p:nvSpPr>
          <p:cNvPr id="13" name="Shape 11"/>
          <p:cNvSpPr/>
          <p:nvPr/>
        </p:nvSpPr>
        <p:spPr>
          <a:xfrm>
            <a:off x="1947672" y="2679192"/>
            <a:ext cx="0" cy="256032"/>
          </a:xfrm>
          <a:prstGeom prst="line">
            <a:avLst/>
          </a:prstGeom>
          <a:noFill/>
          <a:ln w="12700">
            <a:solidFill>
              <a:srgbClr val="E6E6E6"/>
            </a:solidFill>
            <a:prstDash val="solid"/>
          </a:ln>
        </p:spPr>
      </p:sp>
      <p:sp>
        <p:nvSpPr>
          <p:cNvPr id="14" name="Text 12"/>
          <p:cNvSpPr txBox="1"/>
          <p:nvPr/>
        </p:nvSpPr>
        <p:spPr>
          <a:xfrm>
            <a:off x="2103120" y="2679192"/>
            <a:ext cx="9601200" cy="43891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輸入数量割当（クオータ）、輸出自主規制、国内基準を使った実質的な輸入制限など</a:t>
            </a:r>
            <a:endParaRPr lang="en-US" sz="1150" dirty="0"/>
          </a:p>
        </p:txBody>
      </p:sp>
      <p:sp>
        <p:nvSpPr>
          <p:cNvPr id="15" name="Text 13"/>
          <p:cNvSpPr txBox="1"/>
          <p:nvPr/>
        </p:nvSpPr>
        <p:spPr>
          <a:xfrm>
            <a:off x="502920" y="3227832"/>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輸入農産物に高関税をかけると、消費者は割高な価格を負担（消費者余剰↓）するが、国内農家は保護され（生産者余剰↑）、政府に関税収入が入る。社会全体の総余剰は自由貿易時より小さくなる。</a:t>
            </a:r>
            <a:endParaRPr lang="en-US" sz="8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関連：A-23 経済余剰（死荷重の考え方の土台）。</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国際収支と為替レート決定理論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為替レートの決定理論とマーシャル＝ラーナー条件</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為替レートの変動要因を説明する2理論と、円安が貿易収支を改善させる条件（弾力性の和）を押さえる。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購買力平価説</a:t>
            </a:r>
            <a:endParaRPr lang="en-US" sz="1500" dirty="0"/>
          </a:p>
        </p:txBody>
      </p:sp>
      <p:sp>
        <p:nvSpPr>
          <p:cNvPr id="9" name="Text 7"/>
          <p:cNvSpPr txBox="1"/>
          <p:nvPr/>
        </p:nvSpPr>
        <p:spPr>
          <a:xfrm>
            <a:off x="3246120" y="191109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PPP</a:t>
            </a:r>
            <a:endParaRPr lang="en-US" sz="1100" dirty="0"/>
          </a:p>
        </p:txBody>
      </p:sp>
      <p:sp>
        <p:nvSpPr>
          <p:cNvPr id="10" name="Text 8"/>
          <p:cNvSpPr txBox="1"/>
          <p:nvPr/>
        </p:nvSpPr>
        <p:spPr>
          <a:xfrm>
            <a:off x="5257800" y="185623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二国間の物価上昇率の差で為替レートが決まる。自国の物価上昇率が高いほど自国通貨は減価</a:t>
            </a:r>
            <a:endParaRPr lang="en-US" sz="1100" dirty="0"/>
          </a:p>
        </p:txBody>
      </p:sp>
      <p:sp>
        <p:nvSpPr>
          <p:cNvPr id="11" name="Shape 9"/>
          <p:cNvSpPr/>
          <p:nvPr/>
        </p:nvSpPr>
        <p:spPr>
          <a:xfrm>
            <a:off x="502920" y="2560320"/>
            <a:ext cx="11201400" cy="0"/>
          </a:xfrm>
          <a:prstGeom prst="line">
            <a:avLst/>
          </a:prstGeom>
          <a:noFill/>
          <a:ln w="12700">
            <a:solidFill>
              <a:srgbClr val="E6E6E6"/>
            </a:solidFill>
            <a:prstDash val="solid"/>
          </a:ln>
        </p:spPr>
      </p:sp>
      <p:sp>
        <p:nvSpPr>
          <p:cNvPr id="12" name="Text 10"/>
          <p:cNvSpPr txBox="1"/>
          <p:nvPr/>
        </p:nvSpPr>
        <p:spPr>
          <a:xfrm>
            <a:off x="502920" y="267004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金利平価説</a:t>
            </a:r>
            <a:endParaRPr lang="en-US" sz="1500" dirty="0"/>
          </a:p>
        </p:txBody>
      </p:sp>
      <p:sp>
        <p:nvSpPr>
          <p:cNvPr id="13" name="Text 11"/>
          <p:cNvSpPr txBox="1"/>
          <p:nvPr/>
        </p:nvSpPr>
        <p:spPr>
          <a:xfrm>
            <a:off x="3246120" y="263347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内外の金利差が為替レートの予想変化率と等しくなるよう調整される</a:t>
            </a:r>
            <a:endParaRPr lang="en-US" sz="1100" dirty="0"/>
          </a:p>
        </p:txBody>
      </p:sp>
      <p:sp>
        <p:nvSpPr>
          <p:cNvPr id="14" name="Shape 12"/>
          <p:cNvSpPr/>
          <p:nvPr/>
        </p:nvSpPr>
        <p:spPr>
          <a:xfrm>
            <a:off x="502920" y="3337560"/>
            <a:ext cx="11201400" cy="0"/>
          </a:xfrm>
          <a:prstGeom prst="line">
            <a:avLst/>
          </a:prstGeom>
          <a:noFill/>
          <a:ln w="12700">
            <a:solidFill>
              <a:srgbClr val="E6E6E6"/>
            </a:solidFill>
            <a:prstDash val="solid"/>
          </a:ln>
        </p:spPr>
      </p:sp>
      <p:sp>
        <p:nvSpPr>
          <p:cNvPr id="15" name="Text 13"/>
          <p:cNvSpPr txBox="1"/>
          <p:nvPr/>
        </p:nvSpPr>
        <p:spPr>
          <a:xfrm>
            <a:off x="502920" y="344728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マーシャル＝ラーナー条件</a:t>
            </a:r>
            <a:endParaRPr lang="en-US" sz="1500" dirty="0"/>
          </a:p>
        </p:txBody>
      </p:sp>
      <p:sp>
        <p:nvSpPr>
          <p:cNvPr id="16" name="Text 14"/>
          <p:cNvSpPr txBox="1"/>
          <p:nvPr/>
        </p:nvSpPr>
        <p:spPr>
          <a:xfrm>
            <a:off x="3246120" y="3465576"/>
            <a:ext cx="19202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弾力性の和＞1</a:t>
            </a:r>
            <a:endParaRPr lang="en-US" sz="1100" dirty="0"/>
          </a:p>
        </p:txBody>
      </p:sp>
      <p:sp>
        <p:nvSpPr>
          <p:cNvPr id="17" name="Text 15"/>
          <p:cNvSpPr txBox="1"/>
          <p:nvPr/>
        </p:nvSpPr>
        <p:spPr>
          <a:xfrm>
            <a:off x="5257800" y="3410712"/>
            <a:ext cx="644652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輸出入の価格弾力性の和が1超なら円安は貿易収支を改善、＝1なら不変、＜1なら悪化</a:t>
            </a:r>
            <a:endParaRPr lang="en-US" sz="1100" dirty="0"/>
          </a:p>
        </p:txBody>
      </p:sp>
      <p:sp>
        <p:nvSpPr>
          <p:cNvPr id="18" name="Shape 16"/>
          <p:cNvSpPr/>
          <p:nvPr/>
        </p:nvSpPr>
        <p:spPr>
          <a:xfrm>
            <a:off x="502920" y="4114800"/>
            <a:ext cx="11201400" cy="0"/>
          </a:xfrm>
          <a:prstGeom prst="line">
            <a:avLst/>
          </a:prstGeom>
          <a:noFill/>
          <a:ln w="12700">
            <a:solidFill>
              <a:srgbClr val="E6E6E6"/>
            </a:solidFill>
            <a:prstDash val="solid"/>
          </a:ln>
        </p:spPr>
      </p:sp>
      <p:sp>
        <p:nvSpPr>
          <p:cNvPr id="19" name="Text 17"/>
          <p:cNvSpPr txBox="1"/>
          <p:nvPr/>
        </p:nvSpPr>
        <p:spPr>
          <a:xfrm>
            <a:off x="502920" y="4224528"/>
            <a:ext cx="26517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Jカーブ効果</a:t>
            </a:r>
            <a:endParaRPr lang="en-US" sz="1500" dirty="0"/>
          </a:p>
        </p:txBody>
      </p:sp>
      <p:sp>
        <p:nvSpPr>
          <p:cNvPr id="20" name="Text 18"/>
          <p:cNvSpPr txBox="1"/>
          <p:nvPr/>
        </p:nvSpPr>
        <p:spPr>
          <a:xfrm>
            <a:off x="3246120" y="4187952"/>
            <a:ext cx="8458200" cy="62179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円安直後は数量が反応せず貿易収支が一時悪化し、時間経過とともに改善する現象</a:t>
            </a:r>
            <a:endParaRPr lang="en-US" sz="110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ひっかけ：弾力性の和＝1のケースを「悪化する」とする誤りが典型。正しくは「変化しない（中立）」。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円建ての貿易収支NXが、NX＝PX(e)－eP＊M(e)と表されるとする（X(e)は輸出量、M(e)は輸入量、eは円建て為替レート、Pは円建て輸出財価格（一定）、P＊はドル建て輸入財価格（一定））。為替レートの変化が貿易収支に及ぼす影響に関する記述の正誤の組み合わせとして、最も適切なものを下記の解答群から選べ。</a:t>
            </a:r>
            <a:endParaRPr lang="en-US" sz="1250" dirty="0"/>
          </a:p>
          <a:p>
            <a:pPr indent="0" marL="0">
              <a:lnSpc>
                <a:spcPct val="130000"/>
              </a:lnSpc>
              <a:buNone/>
            </a:pP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ａ　為替レートが変化しても輸出量と輸入量は変化しないとき、為替レートの円安・ドル高への変化は、貿易収支を悪化させる。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ｂ　輸入の価格弾力性と輸出の価格弾力性がいずれも1より大きいとき、為替レートの円安・ドル高への変化は、貿易収支を改善させる。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ｃ　輸入の価格弾力性と輸出の価格弾力性の合計が1に等しいとき、為替レートの円安・ドル高への変化は、貿易収支を悪化させる。</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3" name="Text 11"/>
          <p:cNvSpPr txBox="1"/>
          <p:nvPr/>
        </p:nvSpPr>
        <p:spPr>
          <a:xfrm>
            <a:off x="731520" y="496519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4" name="Text 12"/>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出典：past_exams/1st_stage/1ji2025/A1JI2025.pdf（令和7年度第1次試験）第11問</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第11問設問2）</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正解はイ。ｃは「悪化」でなく「変化しない（中立）」が正しい。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ｂ：正　ｃ：誤</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ａ：正　ｂ：誤　ｃ：正</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ｃ：正</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ａ：誤　ｂ：正　ｃ：誤</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868680"/>
          </a:xfrm>
          <a:prstGeom prst="rect">
            <a:avLst/>
          </a:prstGeom>
          <a:noFill/>
          <a:ln/>
        </p:spPr>
        <p:txBody>
          <a:bodyPr wrap="square" lIns="0" tIns="0" rIns="0" bIns="0" rtlCol="0" anchor="ctr"/>
          <a:lstStyle/>
          <a:p>
            <a:pPr indent="0" marL="0">
              <a:lnSpc>
                <a:spcPct val="125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5000"/>
              </a:lnSpc>
              <a:buNone/>
            </a:pPr>
            <a:r>
              <a:rPr lang="en-US" sz="1050" dirty="0">
                <a:solidFill>
                  <a:srgbClr val="171717"/>
                </a:solidFill>
                <a:latin typeface="Yu Gothic" pitchFamily="34" charset="0"/>
                <a:ea typeface="Yu Gothic" pitchFamily="34" charset="-122"/>
                <a:cs typeface="Yu Gothic" pitchFamily="34" charset="-120"/>
              </a:rPr>
              <a:t>（a正・b正・c誤）。ａ：輸出入数量が一定なら円安は輸入代金の円換算額だけを機械的に押し上げ貿易収支は悪化＝正（Jカーブ効果の谷の局面と同じ理屈）。ｂ：弾力性の和が1超なら数量効果が価格効果を上回り貿易収支は改善＝正。ｃ：弾力性の和がちょうど1のときは数量効果と価格効果が相殺し貿易収支は変化しない（「悪化する」は誤り）。</a:t>
            </a:r>
            <a:endParaRPr lang="en-US" sz="1050" dirty="0"/>
          </a:p>
        </p:txBody>
      </p:sp>
      <p:sp>
        <p:nvSpPr>
          <p:cNvPr id="17" name="Text 15"/>
          <p:cNvSpPr txBox="1"/>
          <p:nvPr/>
        </p:nvSpPr>
        <p:spPr>
          <a:xfrm>
            <a:off x="502920" y="522122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950" dirty="0">
                <a:solidFill>
                  <a:srgbClr val="171717"/>
                </a:solidFill>
                <a:latin typeface="Yu Gothic" pitchFamily="34" charset="0"/>
                <a:ea typeface="Yu Gothic" pitchFamily="34" charset="-122"/>
                <a:cs typeface="Yu Gothic" pitchFamily="34" charset="-120"/>
              </a:rPr>
              <a:t>急激な円安直後は輸入企業が契約済み数量のまま購入を続け輸入代金（円換算）が膨らみ貿易収支が一時悪化する（Jカーブの谷）。時間をかけて数量調整が進むと貿易収支は改善に向かう。</a:t>
            </a:r>
            <a:endParaRPr lang="en-US" sz="850" dirty="0"/>
          </a:p>
        </p:txBody>
      </p:sp>
      <p:sp>
        <p:nvSpPr>
          <p:cNvPr id="18" name="Text 16"/>
          <p:cNvSpPr txBox="1"/>
          <p:nvPr/>
        </p:nvSpPr>
        <p:spPr>
          <a:xfrm>
            <a:off x="502920" y="5934456"/>
            <a:ext cx="11201400" cy="320040"/>
          </a:xfrm>
          <a:prstGeom prst="rect">
            <a:avLst/>
          </a:prstGeom>
          <a:noFill/>
          <a:ln/>
        </p:spPr>
        <p:txBody>
          <a:bodyPr wrap="square" lIns="0" tIns="0" rIns="0" bIns="0" rtlCol="0" anchor="ctr"/>
          <a:lstStyle/>
          <a:p>
            <a:pPr indent="0" marL="0">
              <a:lnSpc>
                <a:spcPct val="120000"/>
              </a:lnSpc>
              <a:buNone/>
            </a:pPr>
            <a:r>
              <a:rPr lang="en-US" sz="950" dirty="0">
                <a:solidFill>
                  <a:srgbClr val="8A8A8A"/>
                </a:solidFill>
                <a:latin typeface="Yu Gothic" pitchFamily="34" charset="0"/>
                <a:ea typeface="Yu Gothic" pitchFamily="34" charset="-122"/>
                <a:cs typeface="Yu Gothic" pitchFamily="34" charset="-120"/>
              </a:rPr>
              <a:t>関連知識：マーシャル＝ラーナー条件は、短期は弾力性の和が小さいため悪化し、時間とともに改善するJカーブ効果とセットで理解する。</a:t>
            </a:r>
            <a:endParaRPr lang="en-US" sz="950" dirty="0"/>
          </a:p>
        </p:txBody>
      </p:sp>
      <p:sp>
        <p:nvSpPr>
          <p:cNvPr id="19" name="Text 17"/>
          <p:cNvSpPr txBox="1"/>
          <p:nvPr/>
        </p:nvSpPr>
        <p:spPr>
          <a:xfrm>
            <a:off x="502920" y="6318504"/>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出典：past_exams/1st_stage/1ji2025/A1JI2025.pdf（令和7年度第1次試験）第11問／正解：past_exams/1st_stage_answers/r07/2025a.pdf</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A-17 ／ 国際マクロ経済の理論と政策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為替相場制度で財政・金融政策の効き方が正反対になる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マンデル＝フレミング・モデル：資本移動自由な小国では、変動相場制と固定相場制で政策効果が逆転する。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経済学・経済政策</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5573268" cy="1572768"/>
          </a:xfrm>
          <a:prstGeom prst="rect">
            <a:avLst/>
          </a:prstGeom>
          <a:solidFill>
            <a:srgbClr val="F4F4F4"/>
          </a:solidFill>
          <a:ln w="12700">
            <a:solidFill>
              <a:srgbClr val="171717"/>
            </a:solidFill>
            <a:prstDash val="solid"/>
          </a:ln>
        </p:spPr>
      </p:sp>
      <p:sp>
        <p:nvSpPr>
          <p:cNvPr id="9" name="Text 7"/>
          <p:cNvSpPr txBox="1"/>
          <p:nvPr/>
        </p:nvSpPr>
        <p:spPr>
          <a:xfrm>
            <a:off x="576072"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効果はほぼ無効。利子率↑→自国通貨高→純輸出減で相殺</a:t>
            </a:r>
            <a:endParaRPr lang="en-US" sz="1200" dirty="0"/>
          </a:p>
        </p:txBody>
      </p:sp>
      <p:sp>
        <p:nvSpPr>
          <p:cNvPr id="10" name="Shape 8"/>
          <p:cNvSpPr/>
          <p:nvPr/>
        </p:nvSpPr>
        <p:spPr>
          <a:xfrm>
            <a:off x="6131052" y="1737360"/>
            <a:ext cx="5573268" cy="1572768"/>
          </a:xfrm>
          <a:prstGeom prst="rect">
            <a:avLst/>
          </a:prstGeom>
          <a:solidFill>
            <a:srgbClr val="F4F4F4"/>
          </a:solidFill>
          <a:ln w="12700">
            <a:solidFill>
              <a:srgbClr val="171717"/>
            </a:solidFill>
            <a:prstDash val="solid"/>
          </a:ln>
        </p:spPr>
      </p:sp>
      <p:sp>
        <p:nvSpPr>
          <p:cNvPr id="11" name="Text 9"/>
          <p:cNvSpPr txBox="1"/>
          <p:nvPr/>
        </p:nvSpPr>
        <p:spPr>
          <a:xfrm>
            <a:off x="6204204" y="1737360"/>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変動相場制×金融政策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効果は有効。利子率↓→自国通貨安→輸出増でGDP拡大</a:t>
            </a:r>
            <a:endParaRPr lang="en-US" sz="1200" dirty="0"/>
          </a:p>
        </p:txBody>
      </p:sp>
      <p:sp>
        <p:nvSpPr>
          <p:cNvPr id="12" name="Shape 10"/>
          <p:cNvSpPr/>
          <p:nvPr/>
        </p:nvSpPr>
        <p:spPr>
          <a:xfrm>
            <a:off x="502920" y="3364992"/>
            <a:ext cx="5573268" cy="1572768"/>
          </a:xfrm>
          <a:prstGeom prst="rect">
            <a:avLst/>
          </a:prstGeom>
          <a:solidFill>
            <a:srgbClr val="F4F4F4"/>
          </a:solidFill>
          <a:ln w="12700">
            <a:solidFill>
              <a:srgbClr val="171717"/>
            </a:solidFill>
            <a:prstDash val="solid"/>
          </a:ln>
        </p:spPr>
      </p:sp>
      <p:sp>
        <p:nvSpPr>
          <p:cNvPr id="13" name="Text 11"/>
          <p:cNvSpPr txBox="1"/>
          <p:nvPr/>
        </p:nvSpPr>
        <p:spPr>
          <a:xfrm>
            <a:off x="576072"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固定相場制×財政政策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効果は増幅。為替介入が金融緩和と同様の効果を持つ</a:t>
            </a:r>
            <a:endParaRPr lang="en-US" sz="1200" dirty="0"/>
          </a:p>
        </p:txBody>
      </p:sp>
      <p:sp>
        <p:nvSpPr>
          <p:cNvPr id="14" name="Shape 12"/>
          <p:cNvSpPr/>
          <p:nvPr/>
        </p:nvSpPr>
        <p:spPr>
          <a:xfrm>
            <a:off x="6131052" y="3364992"/>
            <a:ext cx="5573268" cy="1572768"/>
          </a:xfrm>
          <a:prstGeom prst="rect">
            <a:avLst/>
          </a:prstGeom>
          <a:solidFill>
            <a:srgbClr val="F4F4F4"/>
          </a:solidFill>
          <a:ln w="12700">
            <a:solidFill>
              <a:srgbClr val="171717"/>
            </a:solidFill>
            <a:prstDash val="solid"/>
          </a:ln>
        </p:spPr>
      </p:sp>
      <p:sp>
        <p:nvSpPr>
          <p:cNvPr id="15" name="Text 13"/>
          <p:cNvSpPr txBox="1"/>
          <p:nvPr/>
        </p:nvSpPr>
        <p:spPr>
          <a:xfrm>
            <a:off x="6204204" y="3364992"/>
            <a:ext cx="5426964" cy="157276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固定相場制×金融政策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効果は無効。為替介入で緩和効果が打ち消される</a:t>
            </a:r>
            <a:endParaRPr lang="en-US" sz="1200" dirty="0"/>
          </a:p>
        </p:txBody>
      </p:sp>
      <p:sp>
        <p:nvSpPr>
          <p:cNvPr id="16" name="Text 14"/>
          <p:cNvSpPr txBox="1"/>
          <p:nvPr/>
        </p:nvSpPr>
        <p:spPr>
          <a:xfrm>
            <a:off x="502920" y="502920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資本移動が自由な小国が前提。「変動相場制→財政無効・金融有効」「固定相場制→財政有効・金融無効」という対応関係が最重要。</a:t>
            </a:r>
            <a:endParaRPr lang="en-US" sz="8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関連：A-9 IS-LM分析（開放経済への拡張モデル）。</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2026-09-13T08:59:56Z</dcterms:created>
  <dcterms:modified xsi:type="dcterms:W3CDTF">2026-09-13T08:59:56Z</dcterms:modified>
</cp:coreProperties>
</file>