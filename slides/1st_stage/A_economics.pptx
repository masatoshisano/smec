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表紙スライド。経済学・経済政策の全体像を示す。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PART1区切りスライド。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中小企業診断士 第1次試験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686800" y="502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3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 01 / 07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1031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経済学・経済政策</a:t>
            </a:r>
            <a:pPr indent="0" marL="0">
              <a:buNone/>
            </a:pPr>
            <a:r>
              <a:rPr lang="en-US" sz="6600" b="1" dirty="0">
                <a:solidFill>
                  <a:srgbClr val="FF3B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5C5C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マクロ経済学とミクロ経済学の2分野、36論点。「用語の定義」と「グラフの動く方向」を正確に押さえれば得点源にできる、数式・グラフ問題中心の科目。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5806440"/>
            <a:ext cx="10881360" cy="0"/>
          </a:xfrm>
          <a:prstGeom prst="line">
            <a:avLst/>
          </a:prstGeom>
          <a:noFill/>
          <a:ln w="9525">
            <a:solidFill>
              <a:srgbClr val="51515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5989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3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5C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収録論点数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5989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3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5C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分野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5989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3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28/36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5C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頻出ランクA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63840" y="6172200"/>
            <a:ext cx="3657600" cy="384048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6172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docs/textbook/A_economics_textbook.md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46720" y="1463040"/>
            <a:ext cx="3931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25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01</a:t>
            </a:r>
            <a:pPr indent="0" marL="0">
              <a:buNone/>
            </a:pPr>
            <a:r>
              <a:rPr lang="en-US" sz="1300" dirty="0">
                <a:solidFill>
                  <a:srgbClr val="A2A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経済学・経済政策 ／ A-1〜A-6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331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経済指標の見方や読み方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D1D1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日本経済は今どんな状態にあるのか。それを客観的に把握するための「ものさし」となる経済指標を扱う。ニュースで見る数字の意味を正確に理解することがゴール。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800600"/>
            <a:ext cx="1184148" cy="384048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800600"/>
            <a:ext cx="11841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A-1 GDP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52828" y="4800600"/>
            <a:ext cx="1307592" cy="384048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2828" y="4800600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A-3 物価指数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89020" y="4800600"/>
            <a:ext cx="1307592" cy="384048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89020" y="4800600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A-6 国際収支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A-1 ／ 国民経済計算の概念・国民所得統計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GDPは「国内」の付加価値の合計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同じ経済活動を生産・分配・支出の3側面から見ても合計額は必ず一致する（三面等価の原則）。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92640" y="365760"/>
            <a:ext cx="2057400" cy="329184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92640" y="3657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経済学・経済政策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" y="1481328"/>
            <a:ext cx="11219688" cy="0"/>
          </a:xfrm>
          <a:prstGeom prst="line">
            <a:avLst/>
          </a:prstGeom>
          <a:noFill/>
          <a:ln w="15875">
            <a:solidFill>
              <a:srgbClr val="17171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928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GDP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1911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3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国内総生産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1856232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国内で生産された付加価値の合計（国籍を問わない）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624328"/>
            <a:ext cx="112014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7340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GNI／GNP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2752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3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国民総所得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2697480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自国民（居住者）が生み出した所得の合計。GNI＝GDP＋海外からの純所得受取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465576"/>
            <a:ext cx="112014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35753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NNP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148840" y="3593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3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国民純生産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069080" y="3538728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GNP（GNI）から固定資本減耗（減価償却相当）を差し引いたもの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306824"/>
            <a:ext cx="112014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44165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NI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14884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3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国民所得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4379976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NNPから間接税を差し引き、補助金を加えたもの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5989320"/>
            <a:ext cx="11201400" cy="0"/>
          </a:xfrm>
          <a:prstGeom prst="line">
            <a:avLst/>
          </a:prstGeom>
          <a:noFill/>
          <a:ln w="9525">
            <a:solidFill>
              <a:srgbClr val="1717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6062472"/>
            <a:ext cx="329184" cy="329184"/>
          </a:xfrm>
          <a:prstGeom prst="ellipse">
            <a:avLst/>
          </a:prstGeom>
          <a:solidFill>
            <a:srgbClr val="FF3B1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2920" y="6062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6062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最頻出論点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331720" y="6062472"/>
            <a:ext cx="0" cy="3291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14600" y="6044184"/>
            <a:ext cx="9189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ひっかけ：GDPは一定期間の「フロー」概念。ある時点の資産総額を示す「ストック」（国富等）と混同しないこと。中古品・株式の売買はGDPに計上されない。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4648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出題年度（過去10年）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466594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057400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431286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022092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'17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95978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986784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'18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360670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51476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'19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325362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16168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290054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80860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'21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254746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845552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'22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219438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810244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'23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0184130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774936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'24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1148822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739628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A-2 ／ 雇用統計（失業率、有効求人倍率等）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完全失業率と有効求人倍率で労働市場を見る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15歳以上人口は労働力人口と非労働力人口に分かれ、労働力人口はさらに就業者と完全失業者に分かれる。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92640" y="365760"/>
            <a:ext cx="2057400" cy="329184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92640" y="3657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経済学・経済政策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" y="1481328"/>
            <a:ext cx="11219688" cy="0"/>
          </a:xfrm>
          <a:prstGeom prst="line">
            <a:avLst/>
          </a:prstGeom>
          <a:noFill/>
          <a:ln w="15875">
            <a:solidFill>
              <a:srgbClr val="17171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69164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15歳以上人口は「労働力人口」（働く意思のある人）と「非労働力人口」に分かれ、労働力人口はさらに「就業者」と「完全失業者」に分かれる。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2219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完全失業率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039112" y="2221992"/>
            <a:ext cx="0" cy="256032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94560" y="2221992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完全失業者数 ÷ 労働力人口 × 100。仕事がなく、求職活動をしている人が対象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6791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有効求人倍率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039112" y="2679192"/>
            <a:ext cx="0" cy="256032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94560" y="2679192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有効求人数 ÷ 有効求職者数。1.0超は「人手不足・売り手市場」を示す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22783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具体例
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好景気で企業が採用を増やすと有効求人倍率は上昇し、完全失業率は低下する傾向。不況期は逆の動きになる。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849624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3B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ひっかけ：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3B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完全失業率の低下＝景気回復とは限らない。求職をあきらめた人（求職意欲喪失効果）が非労働力人口に移ると、分母が縮み見かけ上失業率が下がることがある。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5989320"/>
            <a:ext cx="11201400" cy="0"/>
          </a:xfrm>
          <a:prstGeom prst="line">
            <a:avLst/>
          </a:prstGeom>
          <a:noFill/>
          <a:ln w="9525">
            <a:solidFill>
              <a:srgbClr val="1717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6062472"/>
            <a:ext cx="329184" cy="329184"/>
          </a:xfrm>
          <a:prstGeom prst="ellipse">
            <a:avLst/>
          </a:prstGeom>
          <a:solidFill>
            <a:srgbClr val="FF3B1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2920" y="6062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6062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最頻出論点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31720" y="6062472"/>
            <a:ext cx="0" cy="3291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14600" y="6044184"/>
            <a:ext cx="9189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関連：A-4 景気動向指数（完全失業率は遅行指数の代表例）。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648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出題年度（過去10年）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66594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057400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31286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22092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'17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395978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986784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'18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360670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51476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'19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325362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16168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290054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80860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'21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254746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45552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'22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219438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810244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'23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184130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774936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'24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1148822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739628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A-3 ／ 物価指数（CPI、GDPデフレーター等）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3つの物価指数と2つの計算方式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物価の測り方には対象範囲の異なる3指標と、ウェイトの取り方が異なる2つの計算方式がある。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92640" y="365760"/>
            <a:ext cx="2057400" cy="329184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92640" y="3657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経済学・経済政策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" y="1481328"/>
            <a:ext cx="11219688" cy="0"/>
          </a:xfrm>
          <a:prstGeom prst="line">
            <a:avLst/>
          </a:prstGeom>
          <a:noFill/>
          <a:ln w="15875">
            <a:solidFill>
              <a:srgbClr val="17171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92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19110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3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消費者物価指数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856232"/>
            <a:ext cx="6263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総務省公表。消費者が購入する財・サービスの価格変動（ラスパイレス方式）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112014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807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CGPI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2825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3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企業物価指数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770632"/>
            <a:ext cx="6263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日本銀行公表。企業間で取引される商品（原材料・中間財）の価格変動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611880"/>
            <a:ext cx="112014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3721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GDPデフレーター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3739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3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名目GDP÷実質GDP×100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685032"/>
            <a:ext cx="6263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経済全体（消費・投資・政府支出・輸出入）の物価動向（パーシェ方式に近い）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5989320"/>
            <a:ext cx="11201400" cy="0"/>
          </a:xfrm>
          <a:prstGeom prst="line">
            <a:avLst/>
          </a:prstGeom>
          <a:noFill/>
          <a:ln w="9525">
            <a:solidFill>
              <a:srgbClr val="1717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6062472"/>
            <a:ext cx="329184" cy="329184"/>
          </a:xfrm>
          <a:prstGeom prst="ellipse">
            <a:avLst/>
          </a:prstGeom>
          <a:solidFill>
            <a:srgbClr val="FF3B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6062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6062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最頻出論点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331720" y="6062472"/>
            <a:ext cx="0" cy="3291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14600" y="6044184"/>
            <a:ext cx="9189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ひっかけ：CPI（ラスパイレス方式＝基準年数量固定）は代替効果を反映できず物価上昇率を実態より高めに示す傾向。CPIとGDPデフレーターは算出方式が異なる点が頻出。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4648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出題年度（過去10年）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66594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057400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'16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31286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22092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'17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395978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986784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'18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360670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51476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'19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25362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16168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290054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80860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'21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254746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845552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'22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219438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810244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'23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184130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74936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'24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1148822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739628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A-4 ／ 景気動向指数（DI・CI）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DIは波及度合い、CIは大きさを見る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内閣府が毎月公表する景気動向指数には、着目点の異なるDIとCIの2種類がある。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92640" y="365760"/>
            <a:ext cx="2057400" cy="329184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92640" y="3657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経済学・経済政策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" y="1481328"/>
            <a:ext cx="11219688" cy="0"/>
          </a:xfrm>
          <a:prstGeom prst="line">
            <a:avLst/>
          </a:prstGeom>
          <a:noFill/>
          <a:ln w="15875">
            <a:solidFill>
              <a:srgbClr val="17171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69164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景気動向指数は複数の経済指標（約30種）を統合したもの。着目点の違う2種類がある。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13055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DI（拡散指数）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039112" y="2130552"/>
            <a:ext cx="0" cy="256032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94560" y="2130552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改善している指標の割合。景気の「波及の度合い（範囲）」を見る。50%が拡張／後退の境目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58775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CI（合成指数）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039112" y="2587752"/>
            <a:ext cx="0" cy="256032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94560" y="2587752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各指標の変化率を合成。景気変動の「大きさ・テンポ（量）」を見る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136392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具体例
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景気回復期は、まず株価・新規求人数（先行指数）が上向き、生産・有効求人倍率（一致指数）が続き、最後に失業率（遅行指数）が下がる、という順序で波及する。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803904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3B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ひっかけ：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3B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「DIは量、CIは範囲」という説明は逆。DI＝波及度合い（範囲）、CI＝大きさ・テンポ（量）が正しい対応。景気の「山」「谷」は一致指数をもとに事後決定される。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5989320"/>
            <a:ext cx="11201400" cy="0"/>
          </a:xfrm>
          <a:prstGeom prst="line">
            <a:avLst/>
          </a:prstGeom>
          <a:noFill/>
          <a:ln w="9525">
            <a:solidFill>
              <a:srgbClr val="1717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6062472"/>
            <a:ext cx="329184" cy="329184"/>
          </a:xfrm>
          <a:prstGeom prst="ellipse">
            <a:avLst/>
          </a:prstGeom>
          <a:solidFill>
            <a:srgbClr val="FF3B1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2920" y="6062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6062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最頻出論点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31720" y="6062472"/>
            <a:ext cx="0" cy="3291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14600" y="6044184"/>
            <a:ext cx="9189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関連：A-2 雇用統計（完全失業率は遅行指数の代表例）。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648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出題年度（過去10年）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66594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057400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31286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22092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'17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395978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986784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'18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360670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51476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'19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325362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16168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290054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80860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'21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254746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45552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'22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219438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810244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'23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184130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774936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'24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1148822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739628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A-5 ／ マネーストック統計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M1〜M3の違いは「対象金融機関の広さ」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金融機関・中央政府を除く経済主体が保有する通貨量の残高。範囲の狭いものから広いものへ4段階に分類される。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92640" y="365760"/>
            <a:ext cx="2057400" cy="329184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92640" y="3657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経済学・経済政策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" y="1481328"/>
            <a:ext cx="11219688" cy="0"/>
          </a:xfrm>
          <a:prstGeom prst="line">
            <a:avLst/>
          </a:prstGeom>
          <a:noFill/>
          <a:ln w="15875">
            <a:solidFill>
              <a:srgbClr val="17171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928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1911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3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現金＋預金通貨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1856232"/>
            <a:ext cx="7178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いつでも引き出せる現金通貨と普通・当座預金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112014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578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2596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3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M1＋準通貨＋CD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542032"/>
            <a:ext cx="7178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対象は国内銀行・信用金庫等に限定（ゆうちょ銀行等は含まない）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154680"/>
            <a:ext cx="112014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3264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3282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3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範囲を拡大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3227832"/>
            <a:ext cx="7178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ゆうちょ銀行・信用組合・農協なども含む全預金取扱機関が対象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840480"/>
            <a:ext cx="112014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3950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広義流動性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423160" y="39684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3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最も広い範囲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3913632"/>
            <a:ext cx="7178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M3に金銭信託・投資信託・国債・外債等の金融商品を加えたもの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5989320"/>
            <a:ext cx="11201400" cy="0"/>
          </a:xfrm>
          <a:prstGeom prst="line">
            <a:avLst/>
          </a:prstGeom>
          <a:noFill/>
          <a:ln w="9525">
            <a:solidFill>
              <a:srgbClr val="1717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6062472"/>
            <a:ext cx="329184" cy="329184"/>
          </a:xfrm>
          <a:prstGeom prst="ellipse">
            <a:avLst/>
          </a:prstGeom>
          <a:solidFill>
            <a:srgbClr val="FF3B1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2920" y="6062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6062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最頻出論点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331720" y="6062472"/>
            <a:ext cx="0" cy="3291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14600" y="6044184"/>
            <a:ext cx="9189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ひっかけ：M1〜M3の違いは通貨の種類でなく対象金融機関の広さ。マネタリーベース（日銀が直接供給する通貨）とマネーストックは別概念で、両者は信用乗数を介した間接的な関係。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4648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出題年度（過去10年）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466594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057400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431286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022092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'17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95978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986784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'18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360670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51476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'19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325362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16168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290054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80860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'21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254746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845552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'22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219438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810244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'23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0184130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774936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'24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1148822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739628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A-6 ／ 国際収支・為替レート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経常収支＋資本移転等収支－金融収支＋誤差脱漏＝0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国際収支統計は一国が一定期間に外国と行った取引の記録。複式簿記の考え方に基づく恒等式が成り立つ。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92640" y="365760"/>
            <a:ext cx="2057400" cy="329184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92640" y="3657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経済学・経済政策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" y="1481328"/>
            <a:ext cx="11219688" cy="0"/>
          </a:xfrm>
          <a:prstGeom prst="line">
            <a:avLst/>
          </a:prstGeom>
          <a:noFill/>
          <a:ln w="15875">
            <a:solidFill>
              <a:srgbClr val="17171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69164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国際収支統計は一国が一定期間に外国と行った取引の記録。3つの大項目で構成される。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130552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経常収支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04872" y="2130552"/>
            <a:ext cx="0" cy="256032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2130552"/>
            <a:ext cx="9144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貿易・サービス収支、第一次所得収支（配当・利子）、第二次所得収支（無償の資金移動）の合計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6334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資本移転等収支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404872" y="2633472"/>
            <a:ext cx="0" cy="256032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60320" y="263347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対価を伴わない資本の移転（インフラ無償援助等）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29992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金融収支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404872" y="2999232"/>
            <a:ext cx="0" cy="256032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560320" y="2999232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対外的な金融資産・負債の増減。海外への投資（資産の増加）はプラスとして計上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54787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具体例
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近年の日本は貿易収支が赤字の月・年もあるが、過去の対外投資から得られる配当・利子収入（第一次所得収支）が大幅黒字のため、経常収支全体は黒字を維持している。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5989320"/>
            <a:ext cx="11201400" cy="0"/>
          </a:xfrm>
          <a:prstGeom prst="line">
            <a:avLst/>
          </a:prstGeom>
          <a:noFill/>
          <a:ln w="9525">
            <a:solidFill>
              <a:srgbClr val="1717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6062472"/>
            <a:ext cx="329184" cy="329184"/>
          </a:xfrm>
          <a:prstGeom prst="ellipse">
            <a:avLst/>
          </a:prstGeom>
          <a:solidFill>
            <a:srgbClr val="FF3B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6062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6062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7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最頻出論点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331720" y="6062472"/>
            <a:ext cx="0" cy="3291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14600" y="6044184"/>
            <a:ext cx="9189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ひっかけ：金融収支は「対外資産の増加はプラス」と符号が直感に反する。「金融収支の黒字＝海外への資金流出（対外資産の増加）超過」という意味を正しく理解すること。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4648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出題年度（過去10年）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66594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057400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'16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31286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22092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'17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395978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986784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'18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360670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51476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'19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25362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16168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290054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80860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'21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254746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845552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'22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219438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810244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'23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184130" y="6464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74936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'24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1148822" y="6464808"/>
            <a:ext cx="146304" cy="146304"/>
          </a:xfrm>
          <a:prstGeom prst="ellipse">
            <a:avLst/>
          </a:prstGeom>
          <a:solidFill>
            <a:srgbClr val="FF3B1F"/>
          </a:solidFill>
          <a:ln w="12700">
            <a:solidFill>
              <a:srgbClr val="FF3B1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739628" y="6620256"/>
            <a:ext cx="9646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2026-09-13T08:54:48Z</dcterms:created>
  <dcterms:modified xsi:type="dcterms:W3CDTF">2026-09-13T08:54:48Z</dcterms:modified>
</cp:coreProperties>
</file>