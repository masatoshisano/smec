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表紙スライド。経営法務の全体像を示す。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事業開始・倒産／知的財産権パートの区切りスライド。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知的財産権（契約）／取引関係法務／民法・会社法パートの区切りスライド。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独禁法・消費者保護／事業承継／資本市場パートの区切りスライド。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中小企業診断士 第1次試験</a:t>
            </a:r>
            <a:endParaRPr lang="en-US" sz="1200" dirty="0"/>
          </a:p>
        </p:txBody>
      </p:sp>
      <p:sp>
        <p:nvSpPr>
          <p:cNvPr id="3" name="Text 1"/>
          <p:cNvSpPr txBox="1"/>
          <p:nvPr/>
        </p:nvSpPr>
        <p:spPr>
          <a:xfrm>
            <a:off x="8686800" y="502920"/>
            <a:ext cx="2834640" cy="320040"/>
          </a:xfrm>
          <a:prstGeom prst="rect">
            <a:avLst/>
          </a:prstGeom>
          <a:noFill/>
          <a:ln/>
        </p:spPr>
        <p:txBody>
          <a:bodyPr wrap="square" lIns="0" tIns="0" rIns="0" bIns="0" rtlCol="0" anchor="ctr"/>
          <a:lstStyle/>
          <a:p>
            <a:pPr algn="r" indent="0" marL="0">
              <a:buNone/>
            </a:pPr>
            <a:r>
              <a:rPr lang="en-US" sz="1200" dirty="0">
                <a:solidFill>
                  <a:srgbClr val="FF3B1F"/>
                </a:solidFill>
                <a:latin typeface="Consolas" pitchFamily="34" charset="0"/>
                <a:ea typeface="Consolas" pitchFamily="34" charset="-122"/>
                <a:cs typeface="Consolas" pitchFamily="34" charset="-120"/>
              </a:rPr>
              <a:t>SUBJECT 05 / 07</a:t>
            </a:r>
            <a:endParaRPr lang="en-US" sz="1200" dirty="0"/>
          </a:p>
        </p:txBody>
      </p:sp>
      <p:sp>
        <p:nvSpPr>
          <p:cNvPr id="4" name="Text 2"/>
          <p:cNvSpPr txBox="1"/>
          <p:nvPr/>
        </p:nvSpPr>
        <p:spPr>
          <a:xfrm>
            <a:off x="594360" y="2103120"/>
            <a:ext cx="10058400" cy="1371600"/>
          </a:xfrm>
          <a:prstGeom prst="rect">
            <a:avLst/>
          </a:prstGeom>
          <a:noFill/>
          <a:ln/>
        </p:spPr>
        <p:txBody>
          <a:bodyPr wrap="square" lIns="0" tIns="0" rIns="0" bIns="0" rtlCol="0" anchor="ctr"/>
          <a:lstStyle/>
          <a:p>
            <a:pPr indent="0" marL="0">
              <a:buNone/>
            </a:pPr>
            <a:r>
              <a:rPr lang="en-US" sz="6600" b="1" dirty="0">
                <a:solidFill>
                  <a:srgbClr val="FFFFFF"/>
                </a:solidFill>
                <a:latin typeface="Yu Gothic" pitchFamily="34" charset="0"/>
                <a:ea typeface="Yu Gothic" pitchFamily="34" charset="-122"/>
                <a:cs typeface="Yu Gothic" pitchFamily="34" charset="-120"/>
              </a:rPr>
              <a:t>経営法務</a:t>
            </a:r>
            <a:pPr indent="0" marL="0">
              <a:buNone/>
            </a:pPr>
            <a:r>
              <a:rPr lang="en-US" sz="6600" b="1" dirty="0">
                <a:solidFill>
                  <a:srgbClr val="FF3B1F"/>
                </a:solidFill>
                <a:latin typeface="Yu Gothic" pitchFamily="34" charset="0"/>
                <a:ea typeface="Yu Gothic" pitchFamily="34" charset="-122"/>
                <a:cs typeface="Yu Gothic" pitchFamily="34" charset="-120"/>
              </a:rPr>
              <a:t>。</a:t>
            </a:r>
            <a:endParaRPr lang="en-US" sz="6600" dirty="0"/>
          </a:p>
        </p:txBody>
      </p:sp>
      <p:sp>
        <p:nvSpPr>
          <p:cNvPr id="5" name="Text 3"/>
          <p:cNvSpPr txBox="1"/>
          <p:nvPr/>
        </p:nvSpPr>
        <p:spPr>
          <a:xfrm>
            <a:off x="640080" y="3429000"/>
            <a:ext cx="7680960" cy="914400"/>
          </a:xfrm>
          <a:prstGeom prst="rect">
            <a:avLst/>
          </a:prstGeom>
          <a:noFill/>
          <a:ln/>
        </p:spPr>
        <p:txBody>
          <a:bodyPr wrap="square" lIns="0" tIns="0" rIns="0" bIns="0" rtlCol="0" anchor="ctr"/>
          <a:lstStyle/>
          <a:p>
            <a:pPr indent="0" marL="0">
              <a:lnSpc>
                <a:spcPct val="150000"/>
              </a:lnSpc>
              <a:buNone/>
            </a:pPr>
            <a:r>
              <a:rPr lang="en-US" sz="1500" dirty="0">
                <a:solidFill>
                  <a:srgbClr val="C5C5C5"/>
                </a:solidFill>
                <a:latin typeface="Yu Gothic" pitchFamily="34" charset="0"/>
                <a:ea typeface="Yu Gothic" pitchFamily="34" charset="-122"/>
                <a:cs typeface="Yu Gothic" pitchFamily="34" charset="-120"/>
              </a:rPr>
              <a:t>会社の設立・倒産、知的財産権、取引・民法・会社法、独禁法、資本市場まで27論点。丸暗記ではなく「似た制度どうしの比較」がカギになる科目。</a:t>
            </a:r>
            <a:endParaRPr lang="en-US" sz="1500" dirty="0"/>
          </a:p>
        </p:txBody>
      </p:sp>
      <p:sp>
        <p:nvSpPr>
          <p:cNvPr id="6" name="Shape 4"/>
          <p:cNvSpPr/>
          <p:nvPr/>
        </p:nvSpPr>
        <p:spPr>
          <a:xfrm>
            <a:off x="640080" y="5806440"/>
            <a:ext cx="10881360" cy="0"/>
          </a:xfrm>
          <a:prstGeom prst="line">
            <a:avLst/>
          </a:prstGeom>
          <a:noFill/>
          <a:ln w="9525">
            <a:solidFill>
              <a:srgbClr val="515151"/>
            </a:solidFill>
            <a:prstDash val="solid"/>
          </a:ln>
        </p:spPr>
      </p:sp>
      <p:sp>
        <p:nvSpPr>
          <p:cNvPr id="7" name="Text 5"/>
          <p:cNvSpPr txBox="1"/>
          <p:nvPr/>
        </p:nvSpPr>
        <p:spPr>
          <a:xfrm>
            <a:off x="64008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27</a:t>
            </a:r>
            <a:endParaRPr lang="en-US" sz="2400" dirty="0"/>
          </a:p>
        </p:txBody>
      </p:sp>
      <p:sp>
        <p:nvSpPr>
          <p:cNvPr id="8" name="Text 6"/>
          <p:cNvSpPr txBox="1"/>
          <p:nvPr/>
        </p:nvSpPr>
        <p:spPr>
          <a:xfrm>
            <a:off x="64008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収録論点数</a:t>
            </a:r>
            <a:endParaRPr lang="en-US" sz="1000" dirty="0"/>
          </a:p>
        </p:txBody>
      </p:sp>
      <p:sp>
        <p:nvSpPr>
          <p:cNvPr id="9" name="Text 7"/>
          <p:cNvSpPr txBox="1"/>
          <p:nvPr/>
        </p:nvSpPr>
        <p:spPr>
          <a:xfrm>
            <a:off x="256032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5</a:t>
            </a:r>
            <a:endParaRPr lang="en-US" sz="2400" dirty="0"/>
          </a:p>
        </p:txBody>
      </p:sp>
      <p:sp>
        <p:nvSpPr>
          <p:cNvPr id="10" name="Text 8"/>
          <p:cNvSpPr txBox="1"/>
          <p:nvPr/>
        </p:nvSpPr>
        <p:spPr>
          <a:xfrm>
            <a:off x="256032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分野</a:t>
            </a:r>
            <a:endParaRPr lang="en-US" sz="1000" dirty="0"/>
          </a:p>
        </p:txBody>
      </p:sp>
      <p:sp>
        <p:nvSpPr>
          <p:cNvPr id="11" name="Text 9"/>
          <p:cNvSpPr txBox="1"/>
          <p:nvPr/>
        </p:nvSpPr>
        <p:spPr>
          <a:xfrm>
            <a:off x="448056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18/27</a:t>
            </a:r>
            <a:endParaRPr lang="en-US" sz="2400" dirty="0"/>
          </a:p>
        </p:txBody>
      </p:sp>
      <p:sp>
        <p:nvSpPr>
          <p:cNvPr id="12" name="Text 10"/>
          <p:cNvSpPr txBox="1"/>
          <p:nvPr/>
        </p:nvSpPr>
        <p:spPr>
          <a:xfrm>
            <a:off x="448056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頻出ランクA</a:t>
            </a:r>
            <a:endParaRPr lang="en-US" sz="1000" dirty="0"/>
          </a:p>
        </p:txBody>
      </p:sp>
      <p:sp>
        <p:nvSpPr>
          <p:cNvPr id="13" name="Shape 11"/>
          <p:cNvSpPr/>
          <p:nvPr/>
        </p:nvSpPr>
        <p:spPr>
          <a:xfrm>
            <a:off x="7863840" y="6172200"/>
            <a:ext cx="3657600" cy="384048"/>
          </a:xfrm>
          <a:prstGeom prst="rect">
            <a:avLst/>
          </a:prstGeom>
          <a:ln w="9525">
            <a:solidFill>
              <a:srgbClr val="7F7F7F"/>
            </a:solidFill>
            <a:prstDash val="solid"/>
          </a:ln>
        </p:spPr>
      </p:sp>
      <p:sp>
        <p:nvSpPr>
          <p:cNvPr id="14" name="Text 12"/>
          <p:cNvSpPr txBox="1"/>
          <p:nvPr/>
        </p:nvSpPr>
        <p:spPr>
          <a:xfrm>
            <a:off x="7863840" y="6172200"/>
            <a:ext cx="365760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docs/textbook/E_business_law_textbook.md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01</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01</a:t>
            </a:r>
            <a:pPr indent="0" marL="0">
              <a:buNone/>
            </a:pPr>
            <a:r>
              <a:rPr lang="en-US" sz="1300" dirty="0">
                <a:solidFill>
                  <a:srgbClr val="A2A2A2"/>
                </a:solidFill>
                <a:latin typeface="Consolas" pitchFamily="34" charset="0"/>
                <a:ea typeface="Consolas" pitchFamily="34" charset="-122"/>
                <a:cs typeface="Consolas" pitchFamily="34" charset="-120"/>
              </a:rPr>
              <a:t>   経営法務 ／ E-1〜E-9</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事業開始・倒産／知的財産権</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会社を始めるとき・たたむときの基本ルールから、特許・商標・意匠・実用新案・著作権という知的財産権の最頻出分野まで。</a:t>
            </a:r>
            <a:endParaRPr lang="en-US" sz="1400" dirty="0"/>
          </a:p>
        </p:txBody>
      </p:sp>
      <p:sp>
        <p:nvSpPr>
          <p:cNvPr id="6" name="Shape 4"/>
          <p:cNvSpPr/>
          <p:nvPr/>
        </p:nvSpPr>
        <p:spPr>
          <a:xfrm>
            <a:off x="640080" y="4800600"/>
            <a:ext cx="1924812" cy="384048"/>
          </a:xfrm>
          <a:prstGeom prst="rect">
            <a:avLst/>
          </a:prstGeom>
          <a:ln w="9525">
            <a:solidFill>
              <a:srgbClr val="7F7F7F"/>
            </a:solidFill>
            <a:prstDash val="solid"/>
          </a:ln>
        </p:spPr>
      </p:sp>
      <p:sp>
        <p:nvSpPr>
          <p:cNvPr id="7" name="Text 5"/>
          <p:cNvSpPr txBox="1"/>
          <p:nvPr/>
        </p:nvSpPr>
        <p:spPr>
          <a:xfrm>
            <a:off x="640080" y="4800600"/>
            <a:ext cx="1924812"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E-4 事業譲渡と会社分割</a:t>
            </a:r>
            <a:endParaRPr lang="en-US" sz="1000" dirty="0"/>
          </a:p>
        </p:txBody>
      </p:sp>
      <p:sp>
        <p:nvSpPr>
          <p:cNvPr id="8" name="Shape 6"/>
          <p:cNvSpPr/>
          <p:nvPr/>
        </p:nvSpPr>
        <p:spPr>
          <a:xfrm>
            <a:off x="2793492" y="4800600"/>
            <a:ext cx="1184148" cy="384048"/>
          </a:xfrm>
          <a:prstGeom prst="rect">
            <a:avLst/>
          </a:prstGeom>
          <a:ln w="9525">
            <a:solidFill>
              <a:srgbClr val="7F7F7F"/>
            </a:solidFill>
            <a:prstDash val="solid"/>
          </a:ln>
        </p:spPr>
      </p:sp>
      <p:sp>
        <p:nvSpPr>
          <p:cNvPr id="9" name="Text 7"/>
          <p:cNvSpPr txBox="1"/>
          <p:nvPr/>
        </p:nvSpPr>
        <p:spPr>
          <a:xfrm>
            <a:off x="2793492" y="4800600"/>
            <a:ext cx="118414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E-6 特許権</a:t>
            </a:r>
            <a:endParaRPr lang="en-US" sz="1000" dirty="0"/>
          </a:p>
        </p:txBody>
      </p:sp>
      <p:sp>
        <p:nvSpPr>
          <p:cNvPr id="10" name="Shape 8"/>
          <p:cNvSpPr/>
          <p:nvPr/>
        </p:nvSpPr>
        <p:spPr>
          <a:xfrm>
            <a:off x="4206240" y="4800600"/>
            <a:ext cx="1184148" cy="384048"/>
          </a:xfrm>
          <a:prstGeom prst="rect">
            <a:avLst/>
          </a:prstGeom>
          <a:ln w="9525">
            <a:solidFill>
              <a:srgbClr val="7F7F7F"/>
            </a:solidFill>
            <a:prstDash val="solid"/>
          </a:ln>
        </p:spPr>
      </p:sp>
      <p:sp>
        <p:nvSpPr>
          <p:cNvPr id="11" name="Text 9"/>
          <p:cNvSpPr txBox="1"/>
          <p:nvPr/>
        </p:nvSpPr>
        <p:spPr>
          <a:xfrm>
            <a:off x="4206240" y="4800600"/>
            <a:ext cx="118414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E-7 商標権</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 ／ 個人の事業開始（個人事業の特徴、開業準備）</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無限責任か有限責任かが最大の違い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個人事業は開業が簡単な代わりに、失敗時のリスクが大きい。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72768"/>
            <a:ext cx="11201400" cy="365760"/>
          </a:xfrm>
          <a:prstGeom prst="rect">
            <a:avLst/>
          </a:prstGeom>
          <a:noFill/>
          <a:ln/>
        </p:spPr>
        <p:txBody>
          <a:bodyPr wrap="square" lIns="0" tIns="0" rIns="0" bIns="0" rtlCol="0" anchor="t"/>
          <a:lstStyle/>
          <a:p>
            <a:pPr indent="0" marL="0">
              <a:lnSpc>
                <a:spcPct val="130000"/>
              </a:lnSpc>
              <a:buNone/>
            </a:pPr>
            <a:r>
              <a:rPr lang="en-US" sz="1050" dirty="0">
                <a:solidFill>
                  <a:srgbClr val="8A8A8A"/>
                </a:solidFill>
                <a:latin typeface="Yu Gothic" pitchFamily="34" charset="0"/>
                <a:ea typeface="Yu Gothic" pitchFamily="34" charset="-122"/>
                <a:cs typeface="Yu Gothic" pitchFamily="34" charset="-120"/>
              </a:rPr>
              <a:t>個人事業と法人の違いは、突き詰めると「登記の要否」ではなく「責任の範囲」に行き着く。表の3つの観点はすべて、開業のしやすさとリスクの大きさのトレードオフという1つの構図の表れ。</a:t>
            </a:r>
            <a:endParaRPr lang="en-US" sz="1050" dirty="0"/>
          </a:p>
        </p:txBody>
      </p:sp>
      <p:sp>
        <p:nvSpPr>
          <p:cNvPr id="9" name="Text 7"/>
          <p:cNvSpPr txBox="1"/>
          <p:nvPr/>
        </p:nvSpPr>
        <p:spPr>
          <a:xfrm>
            <a:off x="502920" y="230428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設立手続</a:t>
            </a:r>
            <a:endParaRPr lang="en-US" sz="1500" dirty="0"/>
          </a:p>
        </p:txBody>
      </p:sp>
      <p:sp>
        <p:nvSpPr>
          <p:cNvPr id="10" name="Text 8"/>
          <p:cNvSpPr txBox="1"/>
          <p:nvPr/>
        </p:nvSpPr>
        <p:spPr>
          <a:xfrm>
            <a:off x="2423160" y="2267712"/>
            <a:ext cx="9281160" cy="8503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個人事業：開業届のみ／法人：定款作成・認証・設立登記が必要</a:t>
            </a:r>
            <a:endParaRPr lang="en-US" sz="1100" dirty="0"/>
          </a:p>
        </p:txBody>
      </p:sp>
      <p:sp>
        <p:nvSpPr>
          <p:cNvPr id="11" name="Shape 9"/>
          <p:cNvSpPr/>
          <p:nvPr/>
        </p:nvSpPr>
        <p:spPr>
          <a:xfrm>
            <a:off x="502920" y="3200400"/>
            <a:ext cx="11201400" cy="0"/>
          </a:xfrm>
          <a:prstGeom prst="line">
            <a:avLst/>
          </a:prstGeom>
          <a:noFill/>
          <a:ln w="12700">
            <a:solidFill>
              <a:srgbClr val="E6E6E6"/>
            </a:solidFill>
            <a:prstDash val="solid"/>
          </a:ln>
        </p:spPr>
      </p:sp>
      <p:sp>
        <p:nvSpPr>
          <p:cNvPr id="12" name="Text 10"/>
          <p:cNvSpPr txBox="1"/>
          <p:nvPr/>
        </p:nvSpPr>
        <p:spPr>
          <a:xfrm>
            <a:off x="502920" y="331012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責任の範囲</a:t>
            </a:r>
            <a:endParaRPr lang="en-US" sz="1500" dirty="0"/>
          </a:p>
        </p:txBody>
      </p:sp>
      <p:sp>
        <p:nvSpPr>
          <p:cNvPr id="13" name="Text 11"/>
          <p:cNvSpPr txBox="1"/>
          <p:nvPr/>
        </p:nvSpPr>
        <p:spPr>
          <a:xfrm>
            <a:off x="2423160" y="3273552"/>
            <a:ext cx="9281160" cy="8503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個人事業：無限責任（個人財産で返済義務）／法人：出資額の範囲の有限責任</a:t>
            </a:r>
            <a:endParaRPr lang="en-US" sz="1100" dirty="0"/>
          </a:p>
        </p:txBody>
      </p:sp>
      <p:sp>
        <p:nvSpPr>
          <p:cNvPr id="14" name="Shape 12"/>
          <p:cNvSpPr/>
          <p:nvPr/>
        </p:nvSpPr>
        <p:spPr>
          <a:xfrm>
            <a:off x="502920" y="4206240"/>
            <a:ext cx="11201400" cy="0"/>
          </a:xfrm>
          <a:prstGeom prst="line">
            <a:avLst/>
          </a:prstGeom>
          <a:noFill/>
          <a:ln w="12700">
            <a:solidFill>
              <a:srgbClr val="E6E6E6"/>
            </a:solidFill>
            <a:prstDash val="solid"/>
          </a:ln>
        </p:spPr>
      </p:sp>
      <p:sp>
        <p:nvSpPr>
          <p:cNvPr id="15" name="Text 13"/>
          <p:cNvSpPr txBox="1"/>
          <p:nvPr/>
        </p:nvSpPr>
        <p:spPr>
          <a:xfrm>
            <a:off x="502920" y="431596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税金</a:t>
            </a:r>
            <a:endParaRPr lang="en-US" sz="1500" dirty="0"/>
          </a:p>
        </p:txBody>
      </p:sp>
      <p:sp>
        <p:nvSpPr>
          <p:cNvPr id="16" name="Text 14"/>
          <p:cNvSpPr txBox="1"/>
          <p:nvPr/>
        </p:nvSpPr>
        <p:spPr>
          <a:xfrm>
            <a:off x="2423160" y="4279392"/>
            <a:ext cx="9281160" cy="85039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個人事業：所得税（累進課税）／法人：法人税</a:t>
            </a:r>
            <a:endParaRPr lang="en-US" sz="110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直近10年単独出題なし</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ひっかけ：「登記が不要で簡単」と「無限責任か有限責任か」は別の話。簡単に始められる代わりにリスクが大きい表裏の関係。</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FFFF"/>
          </a:solidFill>
          <a:ln w="12700">
            <a:solidFill>
              <a:srgbClr val="E6E6E6"/>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E-2 ／ 法人の事業開始（会社の設立と登記）</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発行可能株式総数は絶対的記載事項ではない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定款作成→認証→出資履行→設立時取締役選任→設立登記の順で会社が成立する。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会社設立は定款作成から設立登記までの一連の手続きであり、登記によって会社が法的に成立する。絶対的記載事項と、成立までに別途定めればよい事項（発行可能株式総数）を区別できるかが問われる。</a:t>
            </a:r>
            <a:endParaRPr lang="en-US" sz="1150" dirty="0"/>
          </a:p>
        </p:txBody>
      </p:sp>
      <p:sp>
        <p:nvSpPr>
          <p:cNvPr id="9" name="Text 7"/>
          <p:cNvSpPr txBox="1"/>
          <p:nvPr/>
        </p:nvSpPr>
        <p:spPr>
          <a:xfrm>
            <a:off x="502920" y="222199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絶対的記載事項</a:t>
            </a:r>
            <a:endParaRPr lang="en-US" sz="1150" dirty="0"/>
          </a:p>
        </p:txBody>
      </p:sp>
      <p:sp>
        <p:nvSpPr>
          <p:cNvPr id="10" name="Shape 8"/>
          <p:cNvSpPr/>
          <p:nvPr/>
        </p:nvSpPr>
        <p:spPr>
          <a:xfrm>
            <a:off x="2404872" y="2221992"/>
            <a:ext cx="0" cy="256032"/>
          </a:xfrm>
          <a:prstGeom prst="line">
            <a:avLst/>
          </a:prstGeom>
          <a:noFill/>
          <a:ln w="12700">
            <a:solidFill>
              <a:srgbClr val="E6E6E6"/>
            </a:solidFill>
            <a:prstDash val="solid"/>
          </a:ln>
        </p:spPr>
      </p:sp>
      <p:sp>
        <p:nvSpPr>
          <p:cNvPr id="11" name="Text 9"/>
          <p:cNvSpPr txBox="1"/>
          <p:nvPr/>
        </p:nvSpPr>
        <p:spPr>
          <a:xfrm>
            <a:off x="2560320" y="222199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目的・商号・本店所在地・出資財産の価額（最低額）・発起人の氏名住所</a:t>
            </a:r>
            <a:endParaRPr lang="en-US" sz="1150" dirty="0"/>
          </a:p>
        </p:txBody>
      </p:sp>
      <p:sp>
        <p:nvSpPr>
          <p:cNvPr id="12" name="Text 10"/>
          <p:cNvSpPr txBox="1"/>
          <p:nvPr/>
        </p:nvSpPr>
        <p:spPr>
          <a:xfrm>
            <a:off x="502920" y="258775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定款認証</a:t>
            </a:r>
            <a:endParaRPr lang="en-US" sz="1150" dirty="0"/>
          </a:p>
        </p:txBody>
      </p:sp>
      <p:sp>
        <p:nvSpPr>
          <p:cNvPr id="13" name="Shape 11"/>
          <p:cNvSpPr/>
          <p:nvPr/>
        </p:nvSpPr>
        <p:spPr>
          <a:xfrm>
            <a:off x="2404872" y="2587752"/>
            <a:ext cx="0" cy="256032"/>
          </a:xfrm>
          <a:prstGeom prst="line">
            <a:avLst/>
          </a:prstGeom>
          <a:noFill/>
          <a:ln w="12700">
            <a:solidFill>
              <a:srgbClr val="E6E6E6"/>
            </a:solidFill>
            <a:prstDash val="solid"/>
          </a:ln>
        </p:spPr>
      </p:sp>
      <p:sp>
        <p:nvSpPr>
          <p:cNvPr id="14" name="Text 12"/>
          <p:cNvSpPr txBox="1"/>
          <p:nvPr/>
        </p:nvSpPr>
        <p:spPr>
          <a:xfrm>
            <a:off x="2560320" y="258775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株式会社は公証人の認証が必要（合同会社は不要）</a:t>
            </a:r>
            <a:endParaRPr lang="en-US" sz="1150" dirty="0"/>
          </a:p>
        </p:txBody>
      </p:sp>
      <p:sp>
        <p:nvSpPr>
          <p:cNvPr id="15" name="Text 13"/>
          <p:cNvSpPr txBox="1"/>
          <p:nvPr/>
        </p:nvSpPr>
        <p:spPr>
          <a:xfrm>
            <a:off x="502920" y="295351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設立登記</a:t>
            </a:r>
            <a:endParaRPr lang="en-US" sz="1150" dirty="0"/>
          </a:p>
        </p:txBody>
      </p:sp>
      <p:sp>
        <p:nvSpPr>
          <p:cNvPr id="16" name="Shape 14"/>
          <p:cNvSpPr/>
          <p:nvPr/>
        </p:nvSpPr>
        <p:spPr>
          <a:xfrm>
            <a:off x="2404872" y="2953512"/>
            <a:ext cx="0" cy="256032"/>
          </a:xfrm>
          <a:prstGeom prst="line">
            <a:avLst/>
          </a:prstGeom>
          <a:noFill/>
          <a:ln w="12700">
            <a:solidFill>
              <a:srgbClr val="E6E6E6"/>
            </a:solidFill>
            <a:prstDash val="solid"/>
          </a:ln>
        </p:spPr>
      </p:sp>
      <p:sp>
        <p:nvSpPr>
          <p:cNvPr id="17" name="Text 15"/>
          <p:cNvSpPr txBox="1"/>
          <p:nvPr/>
        </p:nvSpPr>
        <p:spPr>
          <a:xfrm>
            <a:off x="2560320" y="295351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登記により会社が法的に成立する（成立要件）</a:t>
            </a:r>
            <a:endParaRPr lang="en-US" sz="1150" dirty="0"/>
          </a:p>
        </p:txBody>
      </p:sp>
      <p:sp>
        <p:nvSpPr>
          <p:cNvPr id="18" name="Shape 16"/>
          <p:cNvSpPr/>
          <p:nvPr/>
        </p:nvSpPr>
        <p:spPr>
          <a:xfrm>
            <a:off x="502920" y="3410712"/>
            <a:ext cx="11201400" cy="0"/>
          </a:xfrm>
          <a:prstGeom prst="line">
            <a:avLst/>
          </a:prstGeom>
          <a:noFill/>
          <a:ln w="12700">
            <a:solidFill>
              <a:srgbClr val="E6E6E6"/>
            </a:solidFill>
            <a:prstDash val="solid"/>
          </a:ln>
        </p:spPr>
      </p:sp>
      <p:sp>
        <p:nvSpPr>
          <p:cNvPr id="19" name="Text 17"/>
          <p:cNvSpPr txBox="1"/>
          <p:nvPr/>
        </p:nvSpPr>
        <p:spPr>
          <a:xfrm>
            <a:off x="502920" y="348386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発行可能株式総数は絶対的記載事項に含まれない。定款に記載がなくても定款は無効にならないが、成立時までに別途定める必要がある。</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関連：E-18 会社法（機関設計・取締役会の運営ルール）。</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E-3 ／ 届出・手続（許認可、労働保険・社会保険、税務上の届出）</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業種によって必要な許認可が異なる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会社設立だけでは事業を始められない業種もある。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会社を設立しても、業種によっては許認可や労働・社会保険の手続がなければ事業を開始できない。個々の業種の細部よりも、E-2（会社設立）に続く一連の流れとして全体像を押さえておけば足りる。</a:t>
            </a:r>
            <a:endParaRPr lang="en-US" sz="1150" dirty="0"/>
          </a:p>
        </p:txBody>
      </p:sp>
      <p:sp>
        <p:nvSpPr>
          <p:cNvPr id="9" name="Text 7"/>
          <p:cNvSpPr txBox="1"/>
          <p:nvPr/>
        </p:nvSpPr>
        <p:spPr>
          <a:xfrm>
            <a:off x="502920" y="2221992"/>
            <a:ext cx="2103120" cy="39319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許認可</a:t>
            </a:r>
            <a:endParaRPr lang="en-US" sz="1150" dirty="0"/>
          </a:p>
        </p:txBody>
      </p:sp>
      <p:sp>
        <p:nvSpPr>
          <p:cNvPr id="10" name="Shape 8"/>
          <p:cNvSpPr/>
          <p:nvPr/>
        </p:nvSpPr>
        <p:spPr>
          <a:xfrm>
            <a:off x="2587752" y="2221992"/>
            <a:ext cx="0" cy="256032"/>
          </a:xfrm>
          <a:prstGeom prst="line">
            <a:avLst/>
          </a:prstGeom>
          <a:noFill/>
          <a:ln w="12700">
            <a:solidFill>
              <a:srgbClr val="E6E6E6"/>
            </a:solidFill>
            <a:prstDash val="solid"/>
          </a:ln>
        </p:spPr>
      </p:sp>
      <p:sp>
        <p:nvSpPr>
          <p:cNvPr id="11" name="Text 9"/>
          <p:cNvSpPr txBox="1"/>
          <p:nvPr/>
        </p:nvSpPr>
        <p:spPr>
          <a:xfrm>
            <a:off x="2743200" y="2221992"/>
            <a:ext cx="8961120" cy="39319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飲食業（保健所）、建設業（建設業許可）、古物商（公安委員会）等</a:t>
            </a:r>
            <a:endParaRPr lang="en-US" sz="1150" dirty="0"/>
          </a:p>
        </p:txBody>
      </p:sp>
      <p:sp>
        <p:nvSpPr>
          <p:cNvPr id="12" name="Text 10"/>
          <p:cNvSpPr txBox="1"/>
          <p:nvPr/>
        </p:nvSpPr>
        <p:spPr>
          <a:xfrm>
            <a:off x="502920" y="2633472"/>
            <a:ext cx="2103120" cy="39319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労働・社会保険</a:t>
            </a:r>
            <a:endParaRPr lang="en-US" sz="1150" dirty="0"/>
          </a:p>
        </p:txBody>
      </p:sp>
      <p:sp>
        <p:nvSpPr>
          <p:cNvPr id="13" name="Shape 11"/>
          <p:cNvSpPr/>
          <p:nvPr/>
        </p:nvSpPr>
        <p:spPr>
          <a:xfrm>
            <a:off x="2587752" y="2633472"/>
            <a:ext cx="0" cy="256032"/>
          </a:xfrm>
          <a:prstGeom prst="line">
            <a:avLst/>
          </a:prstGeom>
          <a:noFill/>
          <a:ln w="12700">
            <a:solidFill>
              <a:srgbClr val="E6E6E6"/>
            </a:solidFill>
            <a:prstDash val="solid"/>
          </a:ln>
        </p:spPr>
      </p:sp>
      <p:sp>
        <p:nvSpPr>
          <p:cNvPr id="14" name="Text 12"/>
          <p:cNvSpPr txBox="1"/>
          <p:nvPr/>
        </p:nvSpPr>
        <p:spPr>
          <a:xfrm>
            <a:off x="2743200" y="2633472"/>
            <a:ext cx="8961120" cy="39319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従業員雇用時は労災・雇用保険、健康保険・厚生年金への加入手続</a:t>
            </a:r>
            <a:endParaRPr lang="en-US" sz="1150" dirty="0"/>
          </a:p>
        </p:txBody>
      </p:sp>
      <p:sp>
        <p:nvSpPr>
          <p:cNvPr id="15" name="Shape 13"/>
          <p:cNvSpPr/>
          <p:nvPr/>
        </p:nvSpPr>
        <p:spPr>
          <a:xfrm>
            <a:off x="502920" y="3136392"/>
            <a:ext cx="11201400" cy="0"/>
          </a:xfrm>
          <a:prstGeom prst="line">
            <a:avLst/>
          </a:prstGeom>
          <a:noFill/>
          <a:ln w="12700">
            <a:solidFill>
              <a:srgbClr val="E6E6E6"/>
            </a:solidFill>
            <a:prstDash val="solid"/>
          </a:ln>
        </p:spPr>
      </p:sp>
      <p:sp>
        <p:nvSpPr>
          <p:cNvPr id="16" name="Text 14"/>
          <p:cNvSpPr txBox="1"/>
          <p:nvPr/>
        </p:nvSpPr>
        <p:spPr>
          <a:xfrm>
            <a:off x="502920" y="3209544"/>
            <a:ext cx="11201400" cy="54864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「許可」「認可」「届出」「登録」で行政手続の性質が異なる。個々の業種の詳細より「事前に確認すべき事項が複数ある」という全体像を理解しておけば十分。</a:t>
            </a:r>
            <a:endParaRPr lang="en-US" sz="9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直近10年単独出題なし</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関連：E-2 法人の事業開始（会社設立から営業開始までの流れ）。</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FFFF"/>
          </a:solidFill>
          <a:ln w="12700">
            <a:solidFill>
              <a:srgbClr val="E6E6E6"/>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E-4 ／ 合併等の手続（合併・営業譲渡、組織変更）</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「バラ売り」か「まるごと引っ越し」か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経営法務で最頻出。包括承継か特定承継かで同意・保護手続の要否が変わる。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777240"/>
          </a:xfrm>
          <a:prstGeom prst="rect">
            <a:avLst/>
          </a:prstGeom>
          <a:noFill/>
          <a:ln/>
        </p:spPr>
        <p:txBody>
          <a:bodyPr wrap="square" lIns="0" tIns="0" rIns="0" bIns="0" rtlCol="0" anchor="ctr"/>
          <a:lstStyle/>
          <a:p>
            <a:pPr indent="0" marL="0">
              <a:lnSpc>
                <a:spcPct val="128000"/>
              </a:lnSpc>
              <a:buNone/>
            </a:pPr>
            <a:r>
              <a:rPr lang="en-US" sz="1050" dirty="0">
                <a:solidFill>
                  <a:srgbClr val="8A8A8A"/>
                </a:solidFill>
                <a:latin typeface="Yu Gothic" pitchFamily="34" charset="0"/>
                <a:ea typeface="Yu Gothic" pitchFamily="34" charset="-122"/>
                <a:cs typeface="Yu Gothic" pitchFamily="34" charset="-120"/>
              </a:rPr>
              <a:t>事業を他社に引き継がせる方法は、契約を一つずつ個別に移し替える「特定承継」と、権利義務をまとめて一括移転する「包括承継」に分かれる。どちらを選ぶかで、契約相手方の同意の要否・債権者保護手続の要否まで芋づる式に変わる。</a:t>
            </a:r>
            <a:endParaRPr lang="en-US" sz="1050" dirty="0"/>
          </a:p>
        </p:txBody>
      </p:sp>
      <p:sp>
        <p:nvSpPr>
          <p:cNvPr id="9" name="Text 7"/>
          <p:cNvSpPr txBox="1"/>
          <p:nvPr/>
        </p:nvSpPr>
        <p:spPr>
          <a:xfrm>
            <a:off x="502920" y="2532888"/>
            <a:ext cx="1371600" cy="54864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事業譲渡</a:t>
            </a:r>
            <a:endParaRPr lang="en-US" sz="1050" dirty="0"/>
          </a:p>
        </p:txBody>
      </p:sp>
      <p:sp>
        <p:nvSpPr>
          <p:cNvPr id="10" name="Shape 8"/>
          <p:cNvSpPr/>
          <p:nvPr/>
        </p:nvSpPr>
        <p:spPr>
          <a:xfrm>
            <a:off x="1856232" y="2532888"/>
            <a:ext cx="0" cy="256032"/>
          </a:xfrm>
          <a:prstGeom prst="line">
            <a:avLst/>
          </a:prstGeom>
          <a:noFill/>
          <a:ln w="12700">
            <a:solidFill>
              <a:srgbClr val="E6E6E6"/>
            </a:solidFill>
            <a:prstDash val="solid"/>
          </a:ln>
        </p:spPr>
      </p:sp>
      <p:sp>
        <p:nvSpPr>
          <p:cNvPr id="11" name="Text 9"/>
          <p:cNvSpPr txBox="1"/>
          <p:nvPr/>
        </p:nvSpPr>
        <p:spPr>
          <a:xfrm>
            <a:off x="2011680" y="2532888"/>
            <a:ext cx="5257800" cy="54864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特定承継。個々の契約を個別移転し契約相手方の個別同意が必要。債権者保護手続の規定なし</a:t>
            </a:r>
            <a:endParaRPr lang="en-US" sz="1050" dirty="0"/>
          </a:p>
        </p:txBody>
      </p:sp>
      <p:sp>
        <p:nvSpPr>
          <p:cNvPr id="12" name="Text 10"/>
          <p:cNvSpPr txBox="1"/>
          <p:nvPr/>
        </p:nvSpPr>
        <p:spPr>
          <a:xfrm>
            <a:off x="502920" y="3099816"/>
            <a:ext cx="1371600" cy="54864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会社分割</a:t>
            </a:r>
            <a:endParaRPr lang="en-US" sz="1050" dirty="0"/>
          </a:p>
        </p:txBody>
      </p:sp>
      <p:sp>
        <p:nvSpPr>
          <p:cNvPr id="13" name="Shape 11"/>
          <p:cNvSpPr/>
          <p:nvPr/>
        </p:nvSpPr>
        <p:spPr>
          <a:xfrm>
            <a:off x="1856232" y="3099816"/>
            <a:ext cx="0" cy="256032"/>
          </a:xfrm>
          <a:prstGeom prst="line">
            <a:avLst/>
          </a:prstGeom>
          <a:noFill/>
          <a:ln w="12700">
            <a:solidFill>
              <a:srgbClr val="E6E6E6"/>
            </a:solidFill>
            <a:prstDash val="solid"/>
          </a:ln>
        </p:spPr>
      </p:sp>
      <p:sp>
        <p:nvSpPr>
          <p:cNvPr id="14" name="Text 12"/>
          <p:cNvSpPr txBox="1"/>
          <p:nvPr/>
        </p:nvSpPr>
        <p:spPr>
          <a:xfrm>
            <a:off x="2011680" y="3099816"/>
            <a:ext cx="5257800" cy="54864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包括承継。契約上の地位も一括移転し相手方の同意は不要。原則債権者保護手続が必要</a:t>
            </a:r>
            <a:endParaRPr lang="en-US" sz="1050" dirty="0"/>
          </a:p>
        </p:txBody>
      </p:sp>
      <p:sp>
        <p:nvSpPr>
          <p:cNvPr id="15" name="Text 13"/>
          <p:cNvSpPr txBox="1"/>
          <p:nvPr/>
        </p:nvSpPr>
        <p:spPr>
          <a:xfrm>
            <a:off x="502920" y="3666744"/>
            <a:ext cx="1371600" cy="548640"/>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合併</a:t>
            </a:r>
            <a:endParaRPr lang="en-US" sz="1050" dirty="0"/>
          </a:p>
        </p:txBody>
      </p:sp>
      <p:sp>
        <p:nvSpPr>
          <p:cNvPr id="16" name="Shape 14"/>
          <p:cNvSpPr/>
          <p:nvPr/>
        </p:nvSpPr>
        <p:spPr>
          <a:xfrm>
            <a:off x="1856232" y="3666744"/>
            <a:ext cx="0" cy="256032"/>
          </a:xfrm>
          <a:prstGeom prst="line">
            <a:avLst/>
          </a:prstGeom>
          <a:noFill/>
          <a:ln w="12700">
            <a:solidFill>
              <a:srgbClr val="E6E6E6"/>
            </a:solidFill>
            <a:prstDash val="solid"/>
          </a:ln>
        </p:spPr>
      </p:sp>
      <p:sp>
        <p:nvSpPr>
          <p:cNvPr id="17" name="Text 15"/>
          <p:cNvSpPr txBox="1"/>
          <p:nvPr/>
        </p:nvSpPr>
        <p:spPr>
          <a:xfrm>
            <a:off x="2011680" y="3666744"/>
            <a:ext cx="5257800" cy="548640"/>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包括承継。消滅会社の権利義務全部が移転し同意不要。原則債権者保護手続が必要</a:t>
            </a:r>
            <a:endParaRPr lang="en-US" sz="1050" dirty="0"/>
          </a:p>
        </p:txBody>
      </p:sp>
      <p:sp>
        <p:nvSpPr>
          <p:cNvPr id="18" name="Text 16"/>
          <p:cNvSpPr txBox="1"/>
          <p:nvPr/>
        </p:nvSpPr>
        <p:spPr>
          <a:xfrm>
            <a:off x="502920" y="4279392"/>
            <a:ext cx="6766560" cy="54864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「事業譲渡も包括承継」「会社分割にも保護手続不要」は誤り。事業譲渡＝特定承継、会社分割・合併＝包括承継、と正確に対応させる。</a:t>
            </a:r>
            <a:endParaRPr lang="en-US" sz="950" dirty="0"/>
          </a:p>
        </p:txBody>
      </p:sp>
      <p:sp>
        <p:nvSpPr>
          <p:cNvPr id="19" name="Shape 17"/>
          <p:cNvSpPr/>
          <p:nvPr/>
        </p:nvSpPr>
        <p:spPr>
          <a:xfrm>
            <a:off x="7543800" y="1737360"/>
            <a:ext cx="1783080" cy="3566160"/>
          </a:xfrm>
          <a:prstGeom prst="rect">
            <a:avLst/>
          </a:prstGeom>
          <a:solidFill>
            <a:srgbClr val="F4F4F4"/>
          </a:solidFill>
          <a:ln w="12700">
            <a:solidFill>
              <a:srgbClr val="171717"/>
            </a:solidFill>
            <a:prstDash val="solid"/>
          </a:ln>
        </p:spPr>
      </p:sp>
      <p:sp>
        <p:nvSpPr>
          <p:cNvPr id="20" name="Text 18"/>
          <p:cNvSpPr txBox="1"/>
          <p:nvPr/>
        </p:nvSpPr>
        <p:spPr>
          <a:xfrm>
            <a:off x="7616952" y="1737360"/>
            <a:ext cx="1636776" cy="3566160"/>
          </a:xfrm>
          <a:prstGeom prst="rect">
            <a:avLst/>
          </a:prstGeom>
          <a:noFill/>
          <a:ln/>
        </p:spPr>
        <p:txBody>
          <a:bodyPr wrap="square" lIns="0" tIns="0" rIns="0" bIns="0" rtlCol="0" anchor="ctr"/>
          <a:lstStyle/>
          <a:p>
            <a:pPr algn="ctr" indent="0" marL="0">
              <a:lnSpc>
                <a:spcPct val="115000"/>
              </a:lnSpc>
              <a:buNone/>
            </a:pPr>
            <a:r>
              <a:rPr lang="en-US" sz="1200" b="1" dirty="0">
                <a:solidFill>
                  <a:srgbClr val="171717"/>
                </a:solidFill>
                <a:latin typeface="Yu Gothic" pitchFamily="34" charset="0"/>
                <a:ea typeface="Yu Gothic" pitchFamily="34" charset="-122"/>
                <a:cs typeface="Yu Gothic" pitchFamily="34" charset="-120"/>
              </a:rPr>
              <a:t>事業譲渡
</a:t>
            </a:r>
            <a:endParaRPr lang="en-US" sz="1200" dirty="0"/>
          </a:p>
          <a:p>
            <a:pPr algn="ctr" indent="0" marL="0">
              <a:lnSpc>
                <a:spcPct val="115000"/>
              </a:lnSpc>
              <a:buNone/>
            </a:pPr>
            <a:r>
              <a:rPr lang="en-US" sz="850" dirty="0">
                <a:solidFill>
                  <a:srgbClr val="8A8A8A"/>
                </a:solidFill>
                <a:latin typeface="Yu Gothic" pitchFamily="34" charset="0"/>
                <a:ea typeface="Yu Gothic" pitchFamily="34" charset="-122"/>
                <a:cs typeface="Yu Gothic" pitchFamily="34" charset="-120"/>
              </a:rPr>
              <a:t>個々の契約を
ひとつずつ移転
</a:t>
            </a:r>
            <a:endParaRPr lang="en-US" sz="1200" dirty="0"/>
          </a:p>
          <a:p>
            <a:pPr algn="ctr" indent="0" marL="0">
              <a:lnSpc>
                <a:spcPct val="115000"/>
              </a:lnSpc>
              <a:buNone/>
            </a:pPr>
            <a:r>
              <a:rPr lang="en-US" sz="1050" b="1" dirty="0">
                <a:solidFill>
                  <a:srgbClr val="171717"/>
                </a:solidFill>
                <a:latin typeface="Yu Gothic" pitchFamily="34" charset="0"/>
                <a:ea typeface="Yu Gothic" pitchFamily="34" charset="-122"/>
                <a:cs typeface="Yu Gothic" pitchFamily="34" charset="-120"/>
              </a:rPr>
              <a:t>「特定承継」
</a:t>
            </a:r>
            <a:endParaRPr lang="en-US" sz="1200" dirty="0"/>
          </a:p>
          <a:p>
            <a:pPr algn="ctr" indent="0" marL="0">
              <a:lnSpc>
                <a:spcPct val="115000"/>
              </a:lnSpc>
              <a:buNone/>
            </a:pPr>
            <a:r>
              <a:rPr lang="en-US" sz="750" dirty="0">
                <a:solidFill>
                  <a:srgbClr val="8A8A8A"/>
                </a:solidFill>
                <a:latin typeface="Yu Gothic" pitchFamily="34" charset="0"/>
                <a:ea typeface="Yu Gothic" pitchFamily="34" charset="-122"/>
                <a:cs typeface="Yu Gothic" pitchFamily="34" charset="-120"/>
              </a:rPr>
              <a:t>（個別の同意が必要）</a:t>
            </a:r>
            <a:endParaRPr lang="en-US" sz="1200" dirty="0"/>
          </a:p>
        </p:txBody>
      </p:sp>
      <p:sp>
        <p:nvSpPr>
          <p:cNvPr id="21" name="Shape 19"/>
          <p:cNvSpPr/>
          <p:nvPr/>
        </p:nvSpPr>
        <p:spPr>
          <a:xfrm>
            <a:off x="9464040" y="1737360"/>
            <a:ext cx="1783080" cy="3566160"/>
          </a:xfrm>
          <a:prstGeom prst="rect">
            <a:avLst/>
          </a:prstGeom>
          <a:solidFill>
            <a:srgbClr val="FF3B1F"/>
          </a:solidFill>
          <a:ln/>
        </p:spPr>
      </p:sp>
      <p:sp>
        <p:nvSpPr>
          <p:cNvPr id="22" name="Text 20"/>
          <p:cNvSpPr txBox="1"/>
          <p:nvPr/>
        </p:nvSpPr>
        <p:spPr>
          <a:xfrm>
            <a:off x="9537192" y="1737360"/>
            <a:ext cx="1636776" cy="356616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Yu Gothic" pitchFamily="34" charset="0"/>
                <a:ea typeface="Yu Gothic" pitchFamily="34" charset="-122"/>
                <a:cs typeface="Yu Gothic" pitchFamily="34" charset="-120"/>
              </a:rPr>
              <a:t>会社分割・合併
</a:t>
            </a:r>
            <a:endParaRPr lang="en-US" sz="1200" dirty="0"/>
          </a:p>
          <a:p>
            <a:pPr algn="ctr" indent="0" marL="0">
              <a:lnSpc>
                <a:spcPct val="115000"/>
              </a:lnSpc>
              <a:buNone/>
            </a:pPr>
            <a:r>
              <a:rPr lang="en-US" sz="850" dirty="0">
                <a:solidFill>
                  <a:srgbClr val="FFFFFF"/>
                </a:solidFill>
                <a:latin typeface="Yu Gothic" pitchFamily="34" charset="0"/>
                <a:ea typeface="Yu Gothic" pitchFamily="34" charset="-122"/>
                <a:cs typeface="Yu Gothic" pitchFamily="34" charset="-120"/>
              </a:rPr>
              <a:t>権利義務を
まとめて移転
</a:t>
            </a:r>
            <a:endParaRPr lang="en-US" sz="1200" dirty="0"/>
          </a:p>
          <a:p>
            <a:pPr algn="ctr" indent="0" marL="0">
              <a:lnSpc>
                <a:spcPct val="115000"/>
              </a:lnSpc>
              <a:buNone/>
            </a:pPr>
            <a:r>
              <a:rPr lang="en-US" sz="1050" b="1" dirty="0">
                <a:solidFill>
                  <a:srgbClr val="FFFFFF"/>
                </a:solidFill>
                <a:latin typeface="Yu Gothic" pitchFamily="34" charset="0"/>
                <a:ea typeface="Yu Gothic" pitchFamily="34" charset="-122"/>
                <a:cs typeface="Yu Gothic" pitchFamily="34" charset="-120"/>
              </a:rPr>
              <a:t>「包括承継」
</a:t>
            </a:r>
            <a:endParaRPr lang="en-US" sz="1200" dirty="0"/>
          </a:p>
          <a:p>
            <a:pPr algn="ctr" indent="0" marL="0">
              <a:lnSpc>
                <a:spcPct val="115000"/>
              </a:lnSpc>
              <a:buNone/>
            </a:pPr>
            <a:r>
              <a:rPr lang="en-US" sz="750" dirty="0">
                <a:solidFill>
                  <a:srgbClr val="FFFFFF"/>
                </a:solidFill>
                <a:latin typeface="Yu Gothic" pitchFamily="34" charset="0"/>
                <a:ea typeface="Yu Gothic" pitchFamily="34" charset="-122"/>
                <a:cs typeface="Yu Gothic" pitchFamily="34" charset="-120"/>
              </a:rPr>
              <a:t>（同意は不要）</a:t>
            </a:r>
            <a:endParaRPr lang="en-US" sz="1200" dirty="0"/>
          </a:p>
        </p:txBody>
      </p:sp>
      <p:sp>
        <p:nvSpPr>
          <p:cNvPr id="23" name="Text 21"/>
          <p:cNvSpPr txBox="1"/>
          <p:nvPr/>
        </p:nvSpPr>
        <p:spPr>
          <a:xfrm>
            <a:off x="7543800" y="5413248"/>
            <a:ext cx="3703320" cy="274320"/>
          </a:xfrm>
          <a:prstGeom prst="rect">
            <a:avLst/>
          </a:prstGeom>
          <a:noFill/>
          <a:ln/>
        </p:spPr>
        <p:txBody>
          <a:bodyPr wrap="square" lIns="0" tIns="0" rIns="0" bIns="0" rtlCol="0" anchor="ctr"/>
          <a:lstStyle/>
          <a:p>
            <a:pPr algn="ctr" indent="0" marL="0">
              <a:buNone/>
            </a:pPr>
            <a:r>
              <a:rPr lang="en-US" sz="800" dirty="0">
                <a:solidFill>
                  <a:srgbClr val="8A8A8A"/>
                </a:solidFill>
                <a:latin typeface="Yu Gothic" pitchFamily="34" charset="0"/>
                <a:ea typeface="Yu Gothic" pitchFamily="34" charset="-122"/>
                <a:cs typeface="Yu Gothic" pitchFamily="34" charset="-120"/>
              </a:rPr>
              <a:t>個別に移すか、一括で移すかの違い</a:t>
            </a:r>
            <a:endParaRPr lang="en-US" sz="800" dirty="0"/>
          </a:p>
        </p:txBody>
      </p:sp>
      <p:sp>
        <p:nvSpPr>
          <p:cNvPr id="24" name="Shape 22"/>
          <p:cNvSpPr/>
          <p:nvPr/>
        </p:nvSpPr>
        <p:spPr>
          <a:xfrm>
            <a:off x="502920" y="5989320"/>
            <a:ext cx="11201400" cy="0"/>
          </a:xfrm>
          <a:prstGeom prst="line">
            <a:avLst/>
          </a:prstGeom>
          <a:noFill/>
          <a:ln w="9525">
            <a:solidFill>
              <a:srgbClr val="171717"/>
            </a:solidFill>
            <a:prstDash val="solid"/>
          </a:ln>
        </p:spPr>
      </p:sp>
      <p:sp>
        <p:nvSpPr>
          <p:cNvPr id="25" name="Shape 23"/>
          <p:cNvSpPr/>
          <p:nvPr/>
        </p:nvSpPr>
        <p:spPr>
          <a:xfrm>
            <a:off x="502920" y="6062472"/>
            <a:ext cx="329184" cy="329184"/>
          </a:xfrm>
          <a:prstGeom prst="ellipse">
            <a:avLst/>
          </a:prstGeom>
          <a:solidFill>
            <a:srgbClr val="FF3B1F"/>
          </a:solidFill>
          <a:ln/>
        </p:spPr>
      </p:sp>
      <p:sp>
        <p:nvSpPr>
          <p:cNvPr id="26" name="Text 24"/>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7" name="Text 25"/>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8" name="Shape 26"/>
          <p:cNvSpPr/>
          <p:nvPr/>
        </p:nvSpPr>
        <p:spPr>
          <a:xfrm>
            <a:off x="2331720" y="6062472"/>
            <a:ext cx="0" cy="329184"/>
          </a:xfrm>
          <a:prstGeom prst="line">
            <a:avLst/>
          </a:prstGeom>
          <a:noFill/>
          <a:ln w="12700">
            <a:solidFill>
              <a:srgbClr val="E6E6E6"/>
            </a:solidFill>
            <a:prstDash val="solid"/>
          </a:ln>
        </p:spPr>
      </p:sp>
      <p:sp>
        <p:nvSpPr>
          <p:cNvPr id="29" name="Text 27"/>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ひっかけ：「事業譲渡も包括承継」「会社分割にも保護手続不要」は誤り。3点（承継の性質・同意要否・保護手続要否）をセットで覚える。</a:t>
            </a:r>
            <a:endParaRPr lang="en-US" sz="1000" dirty="0"/>
          </a:p>
        </p:txBody>
      </p:sp>
      <p:sp>
        <p:nvSpPr>
          <p:cNvPr id="30" name="Text 28"/>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1" name="Shape 29"/>
          <p:cNvSpPr/>
          <p:nvPr/>
        </p:nvSpPr>
        <p:spPr>
          <a:xfrm>
            <a:off x="2466594"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3" name="Shape 31"/>
          <p:cNvSpPr/>
          <p:nvPr/>
        </p:nvSpPr>
        <p:spPr>
          <a:xfrm>
            <a:off x="3431286"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5" name="Shape 33"/>
          <p:cNvSpPr/>
          <p:nvPr/>
        </p:nvSpPr>
        <p:spPr>
          <a:xfrm>
            <a:off x="4395978"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7" name="Shape 35"/>
          <p:cNvSpPr/>
          <p:nvPr/>
        </p:nvSpPr>
        <p:spPr>
          <a:xfrm>
            <a:off x="5360670"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9" name="Shape 37"/>
          <p:cNvSpPr/>
          <p:nvPr/>
        </p:nvSpPr>
        <p:spPr>
          <a:xfrm>
            <a:off x="6325362"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1" name="Shape 39"/>
          <p:cNvSpPr/>
          <p:nvPr/>
        </p:nvSpPr>
        <p:spPr>
          <a:xfrm>
            <a:off x="7290054"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3" name="Shape 41"/>
          <p:cNvSpPr/>
          <p:nvPr/>
        </p:nvSpPr>
        <p:spPr>
          <a:xfrm>
            <a:off x="8254746"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5" name="Shape 43"/>
          <p:cNvSpPr/>
          <p:nvPr/>
        </p:nvSpPr>
        <p:spPr>
          <a:xfrm>
            <a:off x="9219438"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7" name="Shape 45"/>
          <p:cNvSpPr/>
          <p:nvPr/>
        </p:nvSpPr>
        <p:spPr>
          <a:xfrm>
            <a:off x="10184130"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9" name="Shape 47"/>
          <p:cNvSpPr/>
          <p:nvPr/>
        </p:nvSpPr>
        <p:spPr>
          <a:xfrm>
            <a:off x="11148822" y="6464808"/>
            <a:ext cx="146304" cy="146304"/>
          </a:xfrm>
          <a:prstGeom prst="ellipse">
            <a:avLst/>
          </a:prstGeom>
          <a:solidFill>
            <a:srgbClr val="FF3B1F"/>
          </a:solidFill>
          <a:ln w="12700">
            <a:solidFill>
              <a:srgbClr val="FF3B1F"/>
            </a:solidFill>
            <a:prstDash val="solid"/>
          </a:ln>
        </p:spPr>
      </p:sp>
      <p:sp>
        <p:nvSpPr>
          <p:cNvPr id="50" name="Text 48"/>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E-4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第6問設問1）</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0058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X社代表取締役甲氏と中小企業診断士の会話：「A事業部門をY社に譲渡する際、事業譲渡と会社分割とで契約関係の移転の効力に違いはあるか（空欄A）」「債権者保護手続に違いはあるか。会社分割で免責的債務引受をしてもらう予定（空欄B）」。空欄ＡとＢに入る記述の組み合わせとして、最も適切なものはどれか。</a:t>
            </a:r>
            <a:endParaRPr lang="en-US" sz="1250" dirty="0"/>
          </a:p>
        </p:txBody>
      </p:sp>
      <p:sp>
        <p:nvSpPr>
          <p:cNvPr id="9" name="Text 7"/>
          <p:cNvSpPr txBox="1"/>
          <p:nvPr/>
        </p:nvSpPr>
        <p:spPr>
          <a:xfrm>
            <a:off x="731520" y="2788920"/>
            <a:ext cx="10789920" cy="61264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A：会社分割は包括承継で契約相手方の同意不要、事業譲渡は個別に同意が必要／B：会社分割は債権者保護手続が必要、事業譲渡は不要（ただし免責的債務引受には個別に債権者の同意が必要）</a:t>
            </a:r>
            <a:endParaRPr lang="en-US" sz="1150" dirty="0"/>
          </a:p>
        </p:txBody>
      </p:sp>
      <p:sp>
        <p:nvSpPr>
          <p:cNvPr id="10" name="Text 8"/>
          <p:cNvSpPr txBox="1"/>
          <p:nvPr/>
        </p:nvSpPr>
        <p:spPr>
          <a:xfrm>
            <a:off x="731520" y="3447288"/>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A：（アと同じ）／B：会社分割も事業譲渡も債権者保護手続が必要</a:t>
            </a:r>
            <a:endParaRPr lang="en-US" sz="1150" dirty="0"/>
          </a:p>
        </p:txBody>
      </p:sp>
      <p:sp>
        <p:nvSpPr>
          <p:cNvPr id="11" name="Text 9"/>
          <p:cNvSpPr txBox="1"/>
          <p:nvPr/>
        </p:nvSpPr>
        <p:spPr>
          <a:xfrm>
            <a:off x="731520" y="3904488"/>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A：会社分割も事業譲渡も包括承継で同意不要／B：会社分割も事業譲渡も債権者保護手続が必要</a:t>
            </a:r>
            <a:endParaRPr lang="en-US" sz="1150" dirty="0"/>
          </a:p>
        </p:txBody>
      </p:sp>
      <p:sp>
        <p:nvSpPr>
          <p:cNvPr id="12" name="Text 10"/>
          <p:cNvSpPr txBox="1"/>
          <p:nvPr/>
        </p:nvSpPr>
        <p:spPr>
          <a:xfrm>
            <a:off x="731520" y="4361688"/>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A：（ウと同じ）／B：会社分割も事業譲渡も債権者保護手続は不要</a:t>
            </a:r>
            <a:endParaRPr lang="en-US" sz="1150" dirty="0"/>
          </a:p>
        </p:txBody>
      </p:sp>
      <p:sp>
        <p:nvSpPr>
          <p:cNvPr id="13" name="Text 11"/>
          <p:cNvSpPr txBox="1"/>
          <p:nvPr/>
        </p:nvSpPr>
        <p:spPr>
          <a:xfrm>
            <a:off x="502920" y="4956048"/>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出典：past_exams/1st_stage/1ji2025/E1JI2025.pdf（令和7年度第1次試験）第6問設問1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E-4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第6問設問1）</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正解はア。事業譲渡は特定承継で同意必要、保護手続の規定はなし。</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658368"/>
          </a:xfrm>
          <a:prstGeom prst="rect">
            <a:avLst/>
          </a:prstGeom>
          <a:solidFill>
            <a:srgbClr val="F4F4F4"/>
          </a:solidFill>
          <a:ln/>
        </p:spPr>
      </p:sp>
      <p:sp>
        <p:nvSpPr>
          <p:cNvPr id="9" name="Shape 7"/>
          <p:cNvSpPr/>
          <p:nvPr/>
        </p:nvSpPr>
        <p:spPr>
          <a:xfrm>
            <a:off x="502920" y="1709928"/>
            <a:ext cx="0" cy="658368"/>
          </a:xfrm>
          <a:prstGeom prst="line">
            <a:avLst/>
          </a:prstGeom>
          <a:noFill/>
          <a:ln w="38100">
            <a:solidFill>
              <a:srgbClr val="FF3B1F"/>
            </a:solidFill>
            <a:prstDash val="solid"/>
          </a:ln>
        </p:spPr>
      </p:sp>
      <p:sp>
        <p:nvSpPr>
          <p:cNvPr id="10" name="Text 8"/>
          <p:cNvSpPr txBox="1"/>
          <p:nvPr/>
        </p:nvSpPr>
        <p:spPr>
          <a:xfrm>
            <a:off x="731520" y="1737360"/>
            <a:ext cx="10789920" cy="61264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A：会社分割は包括承継で契約相手方の同意不要、事業譲渡は個別に同意が必要／B：会社分割は債権者保護手続が必要、事業譲渡は不要（ただし免責的債務引受には個別に債権者の同意が必要）</a:t>
            </a:r>
            <a:endParaRPr lang="en-US" sz="1150" dirty="0"/>
          </a:p>
        </p:txBody>
      </p:sp>
      <p:sp>
        <p:nvSpPr>
          <p:cNvPr id="11" name="Text 9"/>
          <p:cNvSpPr txBox="1"/>
          <p:nvPr/>
        </p:nvSpPr>
        <p:spPr>
          <a:xfrm>
            <a:off x="731520" y="2395728"/>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A：（アと同じ）／B：会社分割も事業譲渡も債権者保護手続が必要</a:t>
            </a:r>
            <a:endParaRPr lang="en-US" sz="1150" dirty="0"/>
          </a:p>
        </p:txBody>
      </p:sp>
      <p:sp>
        <p:nvSpPr>
          <p:cNvPr id="12" name="Text 10"/>
          <p:cNvSpPr txBox="1"/>
          <p:nvPr/>
        </p:nvSpPr>
        <p:spPr>
          <a:xfrm>
            <a:off x="731520" y="2852928"/>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A：会社分割も事業譲渡も包括承継で同意不要／B：会社分割も事業譲渡も債権者保護手続が必要</a:t>
            </a:r>
            <a:endParaRPr lang="en-US" sz="1150" dirty="0"/>
          </a:p>
        </p:txBody>
      </p:sp>
      <p:sp>
        <p:nvSpPr>
          <p:cNvPr id="13" name="Text 11"/>
          <p:cNvSpPr txBox="1"/>
          <p:nvPr/>
        </p:nvSpPr>
        <p:spPr>
          <a:xfrm>
            <a:off x="731520" y="3310128"/>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A：（ウと同じ）／B：会社分割も事業譲渡も債権者保護手続は不要</a:t>
            </a:r>
            <a:endParaRPr lang="en-US" sz="1150" dirty="0"/>
          </a:p>
        </p:txBody>
      </p:sp>
      <p:sp>
        <p:nvSpPr>
          <p:cNvPr id="14" name="Shape 12"/>
          <p:cNvSpPr/>
          <p:nvPr/>
        </p:nvSpPr>
        <p:spPr>
          <a:xfrm>
            <a:off x="502920" y="3840480"/>
            <a:ext cx="11201400" cy="0"/>
          </a:xfrm>
          <a:prstGeom prst="line">
            <a:avLst/>
          </a:prstGeom>
          <a:noFill/>
          <a:ln w="12700">
            <a:solidFill>
              <a:srgbClr val="171717"/>
            </a:solidFill>
            <a:prstDash val="solid"/>
          </a:ln>
        </p:spPr>
      </p:sp>
      <p:sp>
        <p:nvSpPr>
          <p:cNvPr id="15" name="Text 13"/>
          <p:cNvSpPr txBox="1"/>
          <p:nvPr/>
        </p:nvSpPr>
        <p:spPr>
          <a:xfrm>
            <a:off x="502920" y="3931920"/>
            <a:ext cx="11201400" cy="777240"/>
          </a:xfrm>
          <a:prstGeom prst="rect">
            <a:avLst/>
          </a:prstGeom>
          <a:noFill/>
          <a:ln/>
        </p:spPr>
        <p:txBody>
          <a:bodyPr wrap="square" lIns="0" tIns="0" rIns="0" bIns="0" rtlCol="0" anchor="ctr"/>
          <a:lstStyle/>
          <a:p>
            <a:pPr indent="0" marL="0">
              <a:lnSpc>
                <a:spcPct val="115000"/>
              </a:lnSpc>
              <a:buNone/>
            </a:pPr>
            <a:r>
              <a:rPr lang="en-US" sz="950" b="1" dirty="0">
                <a:solidFill>
                  <a:srgbClr val="FF3B1F"/>
                </a:solidFill>
                <a:latin typeface="Yu Gothic" pitchFamily="34" charset="0"/>
                <a:ea typeface="Yu Gothic" pitchFamily="34" charset="-122"/>
                <a:cs typeface="Yu Gothic" pitchFamily="34" charset="-120"/>
              </a:rPr>
              <a:t>正解：ア</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会社分割は分割契約・計画に定めた権利義務が包括的に承継され契約相手方の個別同意は不要（会社法759条等）。事業譲渡は個々の財産・契約ごとの特定承継で契約相手方の同意が原則必要。会社分割は原則債権者保護手続（官報公告・催告）が必要、事業譲渡には会社法上の規定はないが、免責的債務引受には民法上、債権者の個別承諾が必要（民法472条3項）。イ：事業譲渡にも保護手続が必要としている点が誤り。ウ・エ：事業譲渡を包括承継としている点が誤り。</a:t>
            </a:r>
            <a:endParaRPr lang="en-US" sz="950" dirty="0"/>
          </a:p>
        </p:txBody>
      </p:sp>
      <p:sp>
        <p:nvSpPr>
          <p:cNvPr id="16" name="Text 14"/>
          <p:cNvSpPr txBox="1"/>
          <p:nvPr/>
        </p:nvSpPr>
        <p:spPr>
          <a:xfrm>
            <a:off x="502920" y="4773168"/>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950" dirty="0">
                <a:solidFill>
                  <a:srgbClr val="171717"/>
                </a:solidFill>
                <a:latin typeface="Yu Gothic" pitchFamily="34" charset="0"/>
                <a:ea typeface="Yu Gothic" pitchFamily="34" charset="-122"/>
                <a:cs typeface="Yu Gothic" pitchFamily="34" charset="-120"/>
              </a:rPr>
              <a:t>事業譲渡は個々の契約を一つひとつ相手方の同意を得て切り替える必要があり手間がかかるが、譲渡対象を個別に選別できる自由度がある。会社分割は包括的に移転する代わり、債権者保護のため保護手続を経る必要がある。</a:t>
            </a:r>
            <a:endParaRPr lang="en-US" sz="850" dirty="0"/>
          </a:p>
        </p:txBody>
      </p:sp>
      <p:sp>
        <p:nvSpPr>
          <p:cNvPr id="17" name="Text 15"/>
          <p:cNvSpPr txBox="1"/>
          <p:nvPr/>
        </p:nvSpPr>
        <p:spPr>
          <a:xfrm>
            <a:off x="502920" y="5458968"/>
            <a:ext cx="11201400" cy="274320"/>
          </a:xfrm>
          <a:prstGeom prst="rect">
            <a:avLst/>
          </a:prstGeom>
          <a:noFill/>
          <a:ln/>
        </p:spPr>
        <p:txBody>
          <a:bodyPr wrap="square" lIns="0" tIns="0" rIns="0" bIns="0" rtlCol="0" anchor="ctr"/>
          <a:lstStyle/>
          <a:p>
            <a:pPr indent="0" marL="0">
              <a:buNone/>
            </a:pPr>
            <a:r>
              <a:rPr lang="en-US" sz="950" dirty="0">
                <a:solidFill>
                  <a:srgbClr val="8A8A8A"/>
                </a:solidFill>
                <a:latin typeface="Yu Gothic" pitchFamily="34" charset="0"/>
                <a:ea typeface="Yu Gothic" pitchFamily="34" charset="-122"/>
                <a:cs typeface="Yu Gothic" pitchFamily="34" charset="-120"/>
              </a:rPr>
              <a:t>関連知識：事業譲渡と会社分割の比較は経営法務の最頻出論点。「包括承継か特定承継か」「契約相手方の同意の要否」「債権者保護手続の要否」の3点をセットで押さえること。</a:t>
            </a:r>
            <a:endParaRPr lang="en-US" sz="950" dirty="0"/>
          </a:p>
        </p:txBody>
      </p:sp>
      <p:sp>
        <p:nvSpPr>
          <p:cNvPr id="18" name="Text 16"/>
          <p:cNvSpPr txBox="1"/>
          <p:nvPr/>
        </p:nvSpPr>
        <p:spPr>
          <a:xfrm>
            <a:off x="502920" y="577900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出典：past_exams/1st_stage/1ji2025/E1JI2025.pdf（令和7年度第1次試験）第6問設問1／正解：past_exams/1st_stage_answers/r07/2025e.pdf</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E-5 ／ 倒産等の手続</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会社更生法は株式会社のみ、民事再生法は誰でも</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再建型（民事再生・会社更生）と清算型（破産・解散清算）に大別される。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72768"/>
            <a:ext cx="11201400" cy="365760"/>
          </a:xfrm>
          <a:prstGeom prst="rect">
            <a:avLst/>
          </a:prstGeom>
          <a:noFill/>
          <a:ln/>
        </p:spPr>
        <p:txBody>
          <a:bodyPr wrap="square" lIns="0" tIns="0" rIns="0" bIns="0" rtlCol="0" anchor="t"/>
          <a:lstStyle/>
          <a:p>
            <a:pPr indent="0" marL="0">
              <a:lnSpc>
                <a:spcPct val="130000"/>
              </a:lnSpc>
              <a:buNone/>
            </a:pPr>
            <a:r>
              <a:rPr lang="en-US" sz="1050" dirty="0">
                <a:solidFill>
                  <a:srgbClr val="8A8A8A"/>
                </a:solidFill>
                <a:latin typeface="Yu Gothic" pitchFamily="34" charset="0"/>
                <a:ea typeface="Yu Gothic" pitchFamily="34" charset="-122"/>
                <a:cs typeface="Yu Gothic" pitchFamily="34" charset="-120"/>
              </a:rPr>
              <a:t>会社が立ち行かなくなったときの手続は、会社を存続させる「再建型」と会社をたたむ「清算型」に大別される。同じ再建型でも民事再生と会社更生では対象と経営権の帰趨が異なる点が最大のひっかけ。</a:t>
            </a:r>
            <a:endParaRPr lang="en-US" sz="1050" dirty="0"/>
          </a:p>
        </p:txBody>
      </p:sp>
      <p:sp>
        <p:nvSpPr>
          <p:cNvPr id="9" name="Text 7"/>
          <p:cNvSpPr txBox="1"/>
          <p:nvPr/>
        </p:nvSpPr>
        <p:spPr>
          <a:xfrm>
            <a:off x="502920" y="2304288"/>
            <a:ext cx="16459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民事再生法</a:t>
            </a:r>
            <a:endParaRPr lang="en-US" sz="1500" dirty="0"/>
          </a:p>
        </p:txBody>
      </p:sp>
      <p:sp>
        <p:nvSpPr>
          <p:cNvPr id="10" name="Text 8"/>
          <p:cNvSpPr txBox="1"/>
          <p:nvPr/>
        </p:nvSpPr>
        <p:spPr>
          <a:xfrm>
            <a:off x="2240280" y="2322576"/>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再建型</a:t>
            </a:r>
            <a:endParaRPr lang="en-US" sz="1100" dirty="0"/>
          </a:p>
        </p:txBody>
      </p:sp>
      <p:sp>
        <p:nvSpPr>
          <p:cNvPr id="11" name="Text 9"/>
          <p:cNvSpPr txBox="1"/>
          <p:nvPr/>
        </p:nvSpPr>
        <p:spPr>
          <a:xfrm>
            <a:off x="4434840" y="2267712"/>
            <a:ext cx="726948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株式会社に限らず利用可。現経営陣が続投し再建（DIP型）</a:t>
            </a:r>
            <a:endParaRPr lang="en-US" sz="1100" dirty="0"/>
          </a:p>
        </p:txBody>
      </p:sp>
      <p:sp>
        <p:nvSpPr>
          <p:cNvPr id="12" name="Shape 10"/>
          <p:cNvSpPr/>
          <p:nvPr/>
        </p:nvSpPr>
        <p:spPr>
          <a:xfrm>
            <a:off x="502920" y="3291840"/>
            <a:ext cx="11201400" cy="0"/>
          </a:xfrm>
          <a:prstGeom prst="line">
            <a:avLst/>
          </a:prstGeom>
          <a:noFill/>
          <a:ln w="12700">
            <a:solidFill>
              <a:srgbClr val="E6E6E6"/>
            </a:solidFill>
            <a:prstDash val="solid"/>
          </a:ln>
        </p:spPr>
      </p:sp>
      <p:sp>
        <p:nvSpPr>
          <p:cNvPr id="13" name="Text 11"/>
          <p:cNvSpPr txBox="1"/>
          <p:nvPr/>
        </p:nvSpPr>
        <p:spPr>
          <a:xfrm>
            <a:off x="502920" y="3401568"/>
            <a:ext cx="16459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会社更生法</a:t>
            </a:r>
            <a:endParaRPr lang="en-US" sz="1500" dirty="0"/>
          </a:p>
        </p:txBody>
      </p:sp>
      <p:sp>
        <p:nvSpPr>
          <p:cNvPr id="14" name="Text 12"/>
          <p:cNvSpPr txBox="1"/>
          <p:nvPr/>
        </p:nvSpPr>
        <p:spPr>
          <a:xfrm>
            <a:off x="2240280" y="3419856"/>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再建型・株式会社限定</a:t>
            </a:r>
            <a:endParaRPr lang="en-US" sz="1100" dirty="0"/>
          </a:p>
        </p:txBody>
      </p:sp>
      <p:sp>
        <p:nvSpPr>
          <p:cNvPr id="15" name="Text 13"/>
          <p:cNvSpPr txBox="1"/>
          <p:nvPr/>
        </p:nvSpPr>
        <p:spPr>
          <a:xfrm>
            <a:off x="4434840" y="3364992"/>
            <a:ext cx="726948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更生管財人が経営権を握り現経営陣は原則退任。大企業向け</a:t>
            </a:r>
            <a:endParaRPr lang="en-US" sz="1100" dirty="0"/>
          </a:p>
        </p:txBody>
      </p:sp>
      <p:sp>
        <p:nvSpPr>
          <p:cNvPr id="16" name="Shape 14"/>
          <p:cNvSpPr/>
          <p:nvPr/>
        </p:nvSpPr>
        <p:spPr>
          <a:xfrm>
            <a:off x="502920" y="4389120"/>
            <a:ext cx="11201400" cy="0"/>
          </a:xfrm>
          <a:prstGeom prst="line">
            <a:avLst/>
          </a:prstGeom>
          <a:noFill/>
          <a:ln w="12700">
            <a:solidFill>
              <a:srgbClr val="E6E6E6"/>
            </a:solidFill>
            <a:prstDash val="solid"/>
          </a:ln>
        </p:spPr>
      </p:sp>
      <p:sp>
        <p:nvSpPr>
          <p:cNvPr id="17" name="Text 15"/>
          <p:cNvSpPr txBox="1"/>
          <p:nvPr/>
        </p:nvSpPr>
        <p:spPr>
          <a:xfrm>
            <a:off x="502920" y="4498848"/>
            <a:ext cx="16459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破産法</a:t>
            </a:r>
            <a:endParaRPr lang="en-US" sz="1500" dirty="0"/>
          </a:p>
        </p:txBody>
      </p:sp>
      <p:sp>
        <p:nvSpPr>
          <p:cNvPr id="18" name="Text 16"/>
          <p:cNvSpPr txBox="1"/>
          <p:nvPr/>
        </p:nvSpPr>
        <p:spPr>
          <a:xfrm>
            <a:off x="2240280" y="4517136"/>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清算型</a:t>
            </a:r>
            <a:endParaRPr lang="en-US" sz="1100" dirty="0"/>
          </a:p>
        </p:txBody>
      </p:sp>
      <p:sp>
        <p:nvSpPr>
          <p:cNvPr id="19" name="Text 17"/>
          <p:cNvSpPr txBox="1"/>
          <p:nvPr/>
        </p:nvSpPr>
        <p:spPr>
          <a:xfrm>
            <a:off x="4434840" y="4462272"/>
            <a:ext cx="726948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破産管財人が財産を換価し配当後、会社を消滅させる</a:t>
            </a:r>
            <a:endParaRPr lang="en-US" sz="110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ひっかけ：対象（株式会社限定か否か）と経営権の帰趨（続投か退任か）の違いが頻出。</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E-6 ／ 産業財産権の内容と取得方法（特許権）</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職務発明の通常実施権は登録不要</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出願から20年。職務発明では使用者等が無償の通常実施権を当然取得する。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特許権は出願・審査を経て発生する権利で、新規性・進歩性という要件、そして職務発明という会社員ならではの論点が頻出する。E-9（著作権の職務著作）と対比すると理解が深まる。</a:t>
            </a:r>
            <a:endParaRPr lang="en-US" sz="1150" dirty="0"/>
          </a:p>
        </p:txBody>
      </p:sp>
      <p:sp>
        <p:nvSpPr>
          <p:cNvPr id="9" name="Text 7"/>
          <p:cNvSpPr txBox="1"/>
          <p:nvPr/>
        </p:nvSpPr>
        <p:spPr>
          <a:xfrm>
            <a:off x="502920" y="222199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存続期間</a:t>
            </a:r>
            <a:endParaRPr lang="en-US" sz="1150" dirty="0"/>
          </a:p>
        </p:txBody>
      </p:sp>
      <p:sp>
        <p:nvSpPr>
          <p:cNvPr id="10" name="Shape 8"/>
          <p:cNvSpPr/>
          <p:nvPr/>
        </p:nvSpPr>
        <p:spPr>
          <a:xfrm>
            <a:off x="2404872" y="2221992"/>
            <a:ext cx="0" cy="256032"/>
          </a:xfrm>
          <a:prstGeom prst="line">
            <a:avLst/>
          </a:prstGeom>
          <a:noFill/>
          <a:ln w="12700">
            <a:solidFill>
              <a:srgbClr val="E6E6E6"/>
            </a:solidFill>
            <a:prstDash val="solid"/>
          </a:ln>
        </p:spPr>
      </p:sp>
      <p:sp>
        <p:nvSpPr>
          <p:cNvPr id="11" name="Text 9"/>
          <p:cNvSpPr txBox="1"/>
          <p:nvPr/>
        </p:nvSpPr>
        <p:spPr>
          <a:xfrm>
            <a:off x="2560320" y="222199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出願日から20年（延長制度あり）</a:t>
            </a:r>
            <a:endParaRPr lang="en-US" sz="1150" dirty="0"/>
          </a:p>
        </p:txBody>
      </p:sp>
      <p:sp>
        <p:nvSpPr>
          <p:cNvPr id="12" name="Text 10"/>
          <p:cNvSpPr txBox="1"/>
          <p:nvPr/>
        </p:nvSpPr>
        <p:spPr>
          <a:xfrm>
            <a:off x="502920" y="258775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新規性喪失の例外</a:t>
            </a:r>
            <a:endParaRPr lang="en-US" sz="1150" dirty="0"/>
          </a:p>
        </p:txBody>
      </p:sp>
      <p:sp>
        <p:nvSpPr>
          <p:cNvPr id="13" name="Shape 11"/>
          <p:cNvSpPr/>
          <p:nvPr/>
        </p:nvSpPr>
        <p:spPr>
          <a:xfrm>
            <a:off x="2404872" y="2587752"/>
            <a:ext cx="0" cy="256032"/>
          </a:xfrm>
          <a:prstGeom prst="line">
            <a:avLst/>
          </a:prstGeom>
          <a:noFill/>
          <a:ln w="12700">
            <a:solidFill>
              <a:srgbClr val="E6E6E6"/>
            </a:solidFill>
            <a:prstDash val="solid"/>
          </a:ln>
        </p:spPr>
      </p:sp>
      <p:sp>
        <p:nvSpPr>
          <p:cNvPr id="14" name="Text 12"/>
          <p:cNvSpPr txBox="1"/>
          <p:nvPr/>
        </p:nvSpPr>
        <p:spPr>
          <a:xfrm>
            <a:off x="2560320" y="258775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公開日から1年以内に手続を伴い出願すれば新規性を失わない扱い</a:t>
            </a:r>
            <a:endParaRPr lang="en-US" sz="1150" dirty="0"/>
          </a:p>
        </p:txBody>
      </p:sp>
      <p:sp>
        <p:nvSpPr>
          <p:cNvPr id="15" name="Text 13"/>
          <p:cNvSpPr txBox="1"/>
          <p:nvPr/>
        </p:nvSpPr>
        <p:spPr>
          <a:xfrm>
            <a:off x="502920" y="295351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職務発明</a:t>
            </a:r>
            <a:endParaRPr lang="en-US" sz="1150" dirty="0"/>
          </a:p>
        </p:txBody>
      </p:sp>
      <p:sp>
        <p:nvSpPr>
          <p:cNvPr id="16" name="Shape 14"/>
          <p:cNvSpPr/>
          <p:nvPr/>
        </p:nvSpPr>
        <p:spPr>
          <a:xfrm>
            <a:off x="2404872" y="2953512"/>
            <a:ext cx="0" cy="256032"/>
          </a:xfrm>
          <a:prstGeom prst="line">
            <a:avLst/>
          </a:prstGeom>
          <a:noFill/>
          <a:ln w="12700">
            <a:solidFill>
              <a:srgbClr val="E6E6E6"/>
            </a:solidFill>
            <a:prstDash val="solid"/>
          </a:ln>
        </p:spPr>
      </p:sp>
      <p:sp>
        <p:nvSpPr>
          <p:cNvPr id="17" name="Text 15"/>
          <p:cNvSpPr txBox="1"/>
          <p:nvPr/>
        </p:nvSpPr>
        <p:spPr>
          <a:xfrm>
            <a:off x="2560320" y="295351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特許を受ける権利は原則発明者本人。使用者等は無償の通常実施権を当然取得</a:t>
            </a:r>
            <a:endParaRPr lang="en-US" sz="1150" dirty="0"/>
          </a:p>
        </p:txBody>
      </p:sp>
      <p:sp>
        <p:nvSpPr>
          <p:cNvPr id="18" name="Shape 16"/>
          <p:cNvSpPr/>
          <p:nvPr/>
        </p:nvSpPr>
        <p:spPr>
          <a:xfrm>
            <a:off x="502920" y="3410712"/>
            <a:ext cx="11201400" cy="0"/>
          </a:xfrm>
          <a:prstGeom prst="line">
            <a:avLst/>
          </a:prstGeom>
          <a:noFill/>
          <a:ln w="12700">
            <a:solidFill>
              <a:srgbClr val="E6E6E6"/>
            </a:solidFill>
            <a:prstDash val="solid"/>
          </a:ln>
        </p:spPr>
      </p:sp>
      <p:sp>
        <p:nvSpPr>
          <p:cNvPr id="19" name="Text 17"/>
          <p:cNvSpPr txBox="1"/>
          <p:nvPr/>
        </p:nvSpPr>
        <p:spPr>
          <a:xfrm>
            <a:off x="502920" y="348386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使用者等の通常実施権は登録不要で法律上当然に発生し第三者にも対抗できる。「過去の職務」に属する発明も職務発明に含まれる。</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関連：E-11 知的財産権に関する契約（専用実施権・通常実施権の違い）。</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E-6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第9問）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4572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特許法第35条に規定する職務発明に関する記述として、最も適切なものはどれか。</a:t>
            </a:r>
            <a:endParaRPr lang="en-US" sz="1250" dirty="0"/>
          </a:p>
        </p:txBody>
      </p:sp>
      <p:sp>
        <p:nvSpPr>
          <p:cNvPr id="9" name="Text 7"/>
          <p:cNvSpPr txBox="1"/>
          <p:nvPr/>
        </p:nvSpPr>
        <p:spPr>
          <a:xfrm>
            <a:off x="731520" y="2240280"/>
            <a:ext cx="10789920" cy="54864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従業者等がした発明については、その発明が職務発明である場合を除き、あらかじめ使用者等に特許を受ける権利を取得させることを定めた契約・勤務規則等の条項は、無効である。</a:t>
            </a:r>
            <a:endParaRPr lang="en-US" sz="1150" dirty="0"/>
          </a:p>
        </p:txBody>
      </p:sp>
      <p:sp>
        <p:nvSpPr>
          <p:cNvPr id="10" name="Text 8"/>
          <p:cNvSpPr txBox="1"/>
          <p:nvPr/>
        </p:nvSpPr>
        <p:spPr>
          <a:xfrm>
            <a:off x="731520" y="283464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使用者等が有する通常実施権は、その発生後に特許権を取得した者に対しては、その効力を有しない。</a:t>
            </a:r>
            <a:endParaRPr lang="en-US" sz="1150" dirty="0"/>
          </a:p>
        </p:txBody>
      </p:sp>
      <p:sp>
        <p:nvSpPr>
          <p:cNvPr id="11" name="Text 9"/>
          <p:cNvSpPr txBox="1"/>
          <p:nvPr/>
        </p:nvSpPr>
        <p:spPr>
          <a:xfrm>
            <a:off x="731520" y="333756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使用者等が有する通常実施権は、登録しなければ、その効力を生じない。</a:t>
            </a:r>
            <a:endParaRPr lang="en-US" sz="1150" dirty="0"/>
          </a:p>
        </p:txBody>
      </p:sp>
      <p:sp>
        <p:nvSpPr>
          <p:cNvPr id="12" name="Text 10"/>
          <p:cNvSpPr txBox="1"/>
          <p:nvPr/>
        </p:nvSpPr>
        <p:spPr>
          <a:xfrm>
            <a:off x="731520" y="379476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職務発明は現在の職務に属する発明を指すので、同一企業内であっても従業者等の過去の職務に属する発明は、職務発明と認められる場合はない。</a:t>
            </a:r>
            <a:endParaRPr lang="en-US" sz="1150" dirty="0"/>
          </a:p>
        </p:txBody>
      </p:sp>
      <p:sp>
        <p:nvSpPr>
          <p:cNvPr id="13" name="Text 11"/>
          <p:cNvSpPr txBox="1"/>
          <p:nvPr/>
        </p:nvSpPr>
        <p:spPr>
          <a:xfrm>
            <a:off x="502920" y="448056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出典：past_exams/1st_stage/1ji2025/E1JI2025.pdf（令和7年度第1次試験）第9問</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E-6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第9問）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正解はア。条文どおり、自由発明への権利取得条項は無効。</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594360"/>
          </a:xfrm>
          <a:prstGeom prst="rect">
            <a:avLst/>
          </a:prstGeom>
          <a:solidFill>
            <a:srgbClr val="F4F4F4"/>
          </a:solidFill>
          <a:ln/>
        </p:spPr>
      </p:sp>
      <p:sp>
        <p:nvSpPr>
          <p:cNvPr id="9" name="Shape 7"/>
          <p:cNvSpPr/>
          <p:nvPr/>
        </p:nvSpPr>
        <p:spPr>
          <a:xfrm>
            <a:off x="502920" y="1709928"/>
            <a:ext cx="0" cy="594360"/>
          </a:xfrm>
          <a:prstGeom prst="line">
            <a:avLst/>
          </a:prstGeom>
          <a:noFill/>
          <a:ln w="38100">
            <a:solidFill>
              <a:srgbClr val="FF3B1F"/>
            </a:solidFill>
            <a:prstDash val="solid"/>
          </a:ln>
        </p:spPr>
      </p:sp>
      <p:sp>
        <p:nvSpPr>
          <p:cNvPr id="10" name="Text 8"/>
          <p:cNvSpPr txBox="1"/>
          <p:nvPr/>
        </p:nvSpPr>
        <p:spPr>
          <a:xfrm>
            <a:off x="731520" y="1737360"/>
            <a:ext cx="10789920" cy="548640"/>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従業者等がした発明については、その発明が職務発明である場合を除き、あらかじめ使用者等に特許を受ける権利を取得させることを定めた契約・勤務規則等の条項は、無効である。</a:t>
            </a:r>
            <a:endParaRPr lang="en-US" sz="1150" dirty="0"/>
          </a:p>
        </p:txBody>
      </p:sp>
      <p:sp>
        <p:nvSpPr>
          <p:cNvPr id="11" name="Text 9"/>
          <p:cNvSpPr txBox="1"/>
          <p:nvPr/>
        </p:nvSpPr>
        <p:spPr>
          <a:xfrm>
            <a:off x="731520" y="233172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使用者等が有する通常実施権は、その発生後に特許権を取得した者に対しては、その効力を有しない。</a:t>
            </a:r>
            <a:endParaRPr lang="en-US" sz="1150" dirty="0"/>
          </a:p>
        </p:txBody>
      </p:sp>
      <p:sp>
        <p:nvSpPr>
          <p:cNvPr id="12" name="Text 10"/>
          <p:cNvSpPr txBox="1"/>
          <p:nvPr/>
        </p:nvSpPr>
        <p:spPr>
          <a:xfrm>
            <a:off x="731520" y="283464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使用者等が有する通常実施権は、登録しなければ、その効力を生じない。</a:t>
            </a:r>
            <a:endParaRPr lang="en-US" sz="1150" dirty="0"/>
          </a:p>
        </p:txBody>
      </p:sp>
      <p:sp>
        <p:nvSpPr>
          <p:cNvPr id="13" name="Text 11"/>
          <p:cNvSpPr txBox="1"/>
          <p:nvPr/>
        </p:nvSpPr>
        <p:spPr>
          <a:xfrm>
            <a:off x="731520" y="329184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職務発明は現在の職務に属する発明を指すので、同一企業内であっても従業者等の過去の職務に属する発明は、職務発明と認められる場合はない。</a:t>
            </a:r>
            <a:endParaRPr lang="en-US" sz="1150" dirty="0"/>
          </a:p>
        </p:txBody>
      </p:sp>
      <p:sp>
        <p:nvSpPr>
          <p:cNvPr id="14" name="Shape 12"/>
          <p:cNvSpPr/>
          <p:nvPr/>
        </p:nvSpPr>
        <p:spPr>
          <a:xfrm>
            <a:off x="502920" y="3913632"/>
            <a:ext cx="11201400" cy="0"/>
          </a:xfrm>
          <a:prstGeom prst="line">
            <a:avLst/>
          </a:prstGeom>
          <a:noFill/>
          <a:ln w="12700">
            <a:solidFill>
              <a:srgbClr val="171717"/>
            </a:solidFill>
            <a:prstDash val="solid"/>
          </a:ln>
        </p:spPr>
      </p:sp>
      <p:sp>
        <p:nvSpPr>
          <p:cNvPr id="15" name="Text 13"/>
          <p:cNvSpPr txBox="1"/>
          <p:nvPr/>
        </p:nvSpPr>
        <p:spPr>
          <a:xfrm>
            <a:off x="502920" y="4005072"/>
            <a:ext cx="11201400" cy="685800"/>
          </a:xfrm>
          <a:prstGeom prst="rect">
            <a:avLst/>
          </a:prstGeom>
          <a:noFill/>
          <a:ln/>
        </p:spPr>
        <p:txBody>
          <a:bodyPr wrap="square" lIns="0" tIns="0" rIns="0" bIns="0" rtlCol="0" anchor="ctr"/>
          <a:lstStyle/>
          <a:p>
            <a:pPr indent="0" marL="0">
              <a:lnSpc>
                <a:spcPct val="118000"/>
              </a:lnSpc>
              <a:buNone/>
            </a:pPr>
            <a:r>
              <a:rPr lang="en-US" sz="950" b="1" dirty="0">
                <a:solidFill>
                  <a:srgbClr val="FF3B1F"/>
                </a:solidFill>
                <a:latin typeface="Yu Gothic" pitchFamily="34" charset="0"/>
                <a:ea typeface="Yu Gothic" pitchFamily="34" charset="-122"/>
                <a:cs typeface="Yu Gothic" pitchFamily="34" charset="-120"/>
              </a:rPr>
              <a:t>正解：ア</a:t>
            </a:r>
            <a:pPr indent="0" marL="0">
              <a:lnSpc>
                <a:spcPct val="118000"/>
              </a:lnSpc>
              <a:buNone/>
            </a:pPr>
            <a:r>
              <a:rPr lang="en-US" sz="950" dirty="0">
                <a:solidFill>
                  <a:srgbClr val="171717"/>
                </a:solidFill>
                <a:latin typeface="Yu Gothic" pitchFamily="34" charset="0"/>
                <a:ea typeface="Yu Gothic" pitchFamily="34" charset="-122"/>
                <a:cs typeface="Yu Gothic" pitchFamily="34" charset="-120"/>
              </a:rPr>
              <a:t>。特許法35条2項どおりの記述で正しい（職務発明でない発明＝自由発明について会社に権利取得させる取り決めは無効）。イ・ウ：使用者等の法定通常実施権（35条1項）は</a:t>
            </a:r>
            <a:pPr indent="0" marL="0">
              <a:lnSpc>
                <a:spcPct val="118000"/>
              </a:lnSpc>
              <a:buNone/>
            </a:pPr>
            <a:r>
              <a:rPr lang="en-US" sz="950" b="1" dirty="0">
                <a:solidFill>
                  <a:srgbClr val="171717"/>
                </a:solidFill>
                <a:latin typeface="Yu Gothic" pitchFamily="34" charset="0"/>
                <a:ea typeface="Yu Gothic" pitchFamily="34" charset="-122"/>
                <a:cs typeface="Yu Gothic" pitchFamily="34" charset="-120"/>
              </a:rPr>
              <a:t>登録不要</a:t>
            </a:r>
            <a:pPr indent="0" marL="0">
              <a:lnSpc>
                <a:spcPct val="118000"/>
              </a:lnSpc>
              <a:buNone/>
            </a:pPr>
            <a:r>
              <a:rPr lang="en-US" sz="950" dirty="0">
                <a:solidFill>
                  <a:srgbClr val="171717"/>
                </a:solidFill>
                <a:latin typeface="Yu Gothic" pitchFamily="34" charset="0"/>
                <a:ea typeface="Yu Gothic" pitchFamily="34" charset="-122"/>
                <a:cs typeface="Yu Gothic" pitchFamily="34" charset="-120"/>
              </a:rPr>
              <a:t>で法律上当然に発生し、後に特許権を取得した第三者にも対抗できる。エ：条文は「現在</a:t>
            </a:r>
            <a:pPr indent="0" marL="0">
              <a:lnSpc>
                <a:spcPct val="118000"/>
              </a:lnSpc>
              <a:buNone/>
            </a:pPr>
            <a:r>
              <a:rPr lang="en-US" sz="950" b="1" dirty="0">
                <a:solidFill>
                  <a:srgbClr val="171717"/>
                </a:solidFill>
                <a:latin typeface="Yu Gothic" pitchFamily="34" charset="0"/>
                <a:ea typeface="Yu Gothic" pitchFamily="34" charset="-122"/>
                <a:cs typeface="Yu Gothic" pitchFamily="34" charset="-120"/>
              </a:rPr>
              <a:t>又は過去</a:t>
            </a:r>
            <a:pPr indent="0" marL="0">
              <a:lnSpc>
                <a:spcPct val="118000"/>
              </a:lnSpc>
              <a:buNone/>
            </a:pPr>
            <a:r>
              <a:rPr lang="en-US" sz="950" dirty="0">
                <a:solidFill>
                  <a:srgbClr val="171717"/>
                </a:solidFill>
                <a:latin typeface="Yu Gothic" pitchFamily="34" charset="0"/>
                <a:ea typeface="Yu Gothic" pitchFamily="34" charset="-122"/>
                <a:cs typeface="Yu Gothic" pitchFamily="34" charset="-120"/>
              </a:rPr>
              <a:t>の職務」と規定しており、過去の職務に属する発明も職務発明に含まれる。</a:t>
            </a:r>
            <a:endParaRPr lang="en-US" sz="950" dirty="0"/>
          </a:p>
        </p:txBody>
      </p:sp>
      <p:sp>
        <p:nvSpPr>
          <p:cNvPr id="16" name="Text 14"/>
          <p:cNvSpPr txBox="1"/>
          <p:nvPr/>
        </p:nvSpPr>
        <p:spPr>
          <a:xfrm>
            <a:off x="502920" y="4754880"/>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950" dirty="0">
                <a:solidFill>
                  <a:srgbClr val="171717"/>
                </a:solidFill>
                <a:latin typeface="Yu Gothic" pitchFamily="34" charset="0"/>
                <a:ea typeface="Yu Gothic" pitchFamily="34" charset="-122"/>
                <a:cs typeface="Yu Gothic" pitchFamily="34" charset="-120"/>
              </a:rPr>
              <a:t>職務発明制度は①特許を受ける権利は原則発明者本人、②使用者等は無償の法定通常実施権を当然取得、③契約・勤務規則等であらかじめ使用者等に権利取得させることも可能、という3点構造。</a:t>
            </a:r>
            <a:endParaRPr lang="en-US" sz="850" dirty="0"/>
          </a:p>
        </p:txBody>
      </p:sp>
      <p:sp>
        <p:nvSpPr>
          <p:cNvPr id="17" name="Text 15"/>
          <p:cNvSpPr txBox="1"/>
          <p:nvPr/>
        </p:nvSpPr>
        <p:spPr>
          <a:xfrm>
            <a:off x="502920" y="5257800"/>
            <a:ext cx="11201400" cy="274320"/>
          </a:xfrm>
          <a:prstGeom prst="rect">
            <a:avLst/>
          </a:prstGeom>
          <a:noFill/>
          <a:ln/>
        </p:spPr>
        <p:txBody>
          <a:bodyPr wrap="square" lIns="0" tIns="0" rIns="0" bIns="0" rtlCol="0" anchor="ctr"/>
          <a:lstStyle/>
          <a:p>
            <a:pPr indent="0" marL="0">
              <a:buNone/>
            </a:pPr>
            <a:r>
              <a:rPr lang="en-US" sz="950" dirty="0">
                <a:solidFill>
                  <a:srgbClr val="8A8A8A"/>
                </a:solidFill>
                <a:latin typeface="Yu Gothic" pitchFamily="34" charset="0"/>
                <a:ea typeface="Yu Gothic" pitchFamily="34" charset="-122"/>
                <a:cs typeface="Yu Gothic" pitchFamily="34" charset="-120"/>
              </a:rPr>
              <a:t>関連知識：存続期間等の基礎知識はdocs/07_key_formulas_and_frameworks.md参照。</a:t>
            </a:r>
            <a:endParaRPr lang="en-US" sz="950" dirty="0"/>
          </a:p>
        </p:txBody>
      </p:sp>
      <p:sp>
        <p:nvSpPr>
          <p:cNvPr id="18" name="Text 16"/>
          <p:cNvSpPr txBox="1"/>
          <p:nvPr/>
        </p:nvSpPr>
        <p:spPr>
          <a:xfrm>
            <a:off x="502920" y="557784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出典：past_exams/1st_stage/1ji2025/E1JI2025.pdf（令和7年度第1次試験）第9問／正解：past_exams/1st_stage_answers/r07/2025e.pdf</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E-7 ／ 産業財産権の内容と取得方法（商標権）</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更新すれば半永久的に権利を維持できる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登録日から10年、更新可。不使用が3年続くと誰でも取消審判を請求できる。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商標権は更新を重ねれば半永久的に維持できる点で、他の産業財産権と一線を画す。不使用取消審判の「3年」「何人も」という数字・請求権者の正確な暗記が得点に直結する。</a:t>
            </a:r>
            <a:endParaRPr lang="en-US" sz="1150" dirty="0"/>
          </a:p>
        </p:txBody>
      </p:sp>
      <p:sp>
        <p:nvSpPr>
          <p:cNvPr id="9" name="Text 7"/>
          <p:cNvSpPr txBox="1"/>
          <p:nvPr/>
        </p:nvSpPr>
        <p:spPr>
          <a:xfrm>
            <a:off x="502920" y="222199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存続期間</a:t>
            </a:r>
            <a:endParaRPr lang="en-US" sz="1150" dirty="0"/>
          </a:p>
        </p:txBody>
      </p:sp>
      <p:sp>
        <p:nvSpPr>
          <p:cNvPr id="10" name="Shape 8"/>
          <p:cNvSpPr/>
          <p:nvPr/>
        </p:nvSpPr>
        <p:spPr>
          <a:xfrm>
            <a:off x="2404872" y="2221992"/>
            <a:ext cx="0" cy="256032"/>
          </a:xfrm>
          <a:prstGeom prst="line">
            <a:avLst/>
          </a:prstGeom>
          <a:noFill/>
          <a:ln w="12700">
            <a:solidFill>
              <a:srgbClr val="E6E6E6"/>
            </a:solidFill>
            <a:prstDash val="solid"/>
          </a:ln>
        </p:spPr>
      </p:sp>
      <p:sp>
        <p:nvSpPr>
          <p:cNvPr id="11" name="Text 9"/>
          <p:cNvSpPr txBox="1"/>
          <p:nvPr/>
        </p:nvSpPr>
        <p:spPr>
          <a:xfrm>
            <a:off x="2560320" y="222199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登録日から10年（更新登録で何度でも延長可能）</a:t>
            </a:r>
            <a:endParaRPr lang="en-US" sz="1150" dirty="0"/>
          </a:p>
        </p:txBody>
      </p:sp>
      <p:sp>
        <p:nvSpPr>
          <p:cNvPr id="12" name="Text 10"/>
          <p:cNvSpPr txBox="1"/>
          <p:nvPr/>
        </p:nvSpPr>
        <p:spPr>
          <a:xfrm>
            <a:off x="502920" y="258775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先使用権</a:t>
            </a:r>
            <a:endParaRPr lang="en-US" sz="1150" dirty="0"/>
          </a:p>
        </p:txBody>
      </p:sp>
      <p:sp>
        <p:nvSpPr>
          <p:cNvPr id="13" name="Shape 11"/>
          <p:cNvSpPr/>
          <p:nvPr/>
        </p:nvSpPr>
        <p:spPr>
          <a:xfrm>
            <a:off x="2404872" y="2587752"/>
            <a:ext cx="0" cy="256032"/>
          </a:xfrm>
          <a:prstGeom prst="line">
            <a:avLst/>
          </a:prstGeom>
          <a:noFill/>
          <a:ln w="12700">
            <a:solidFill>
              <a:srgbClr val="E6E6E6"/>
            </a:solidFill>
            <a:prstDash val="solid"/>
          </a:ln>
        </p:spPr>
      </p:sp>
      <p:sp>
        <p:nvSpPr>
          <p:cNvPr id="14" name="Text 12"/>
          <p:cNvSpPr txBox="1"/>
          <p:nvPr/>
        </p:nvSpPr>
        <p:spPr>
          <a:xfrm>
            <a:off x="2560320" y="258775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登録前から使用し周知になっていれば使い続けられる</a:t>
            </a:r>
            <a:endParaRPr lang="en-US" sz="1150" dirty="0"/>
          </a:p>
        </p:txBody>
      </p:sp>
      <p:sp>
        <p:nvSpPr>
          <p:cNvPr id="15" name="Text 13"/>
          <p:cNvSpPr txBox="1"/>
          <p:nvPr/>
        </p:nvSpPr>
        <p:spPr>
          <a:xfrm>
            <a:off x="502920" y="2953512"/>
            <a:ext cx="192024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不使用取消審判</a:t>
            </a:r>
            <a:endParaRPr lang="en-US" sz="1150" dirty="0"/>
          </a:p>
        </p:txBody>
      </p:sp>
      <p:sp>
        <p:nvSpPr>
          <p:cNvPr id="16" name="Shape 14"/>
          <p:cNvSpPr/>
          <p:nvPr/>
        </p:nvSpPr>
        <p:spPr>
          <a:xfrm>
            <a:off x="2404872" y="2953512"/>
            <a:ext cx="0" cy="256032"/>
          </a:xfrm>
          <a:prstGeom prst="line">
            <a:avLst/>
          </a:prstGeom>
          <a:noFill/>
          <a:ln w="12700">
            <a:solidFill>
              <a:srgbClr val="E6E6E6"/>
            </a:solidFill>
            <a:prstDash val="solid"/>
          </a:ln>
        </p:spPr>
      </p:sp>
      <p:sp>
        <p:nvSpPr>
          <p:cNvPr id="17" name="Text 15"/>
          <p:cNvSpPr txBox="1"/>
          <p:nvPr/>
        </p:nvSpPr>
        <p:spPr>
          <a:xfrm>
            <a:off x="2560320" y="2953512"/>
            <a:ext cx="914400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継続3年以上不使用なら「何人も」取消しを請求できる</a:t>
            </a:r>
            <a:endParaRPr lang="en-US" sz="1150" dirty="0"/>
          </a:p>
        </p:txBody>
      </p:sp>
      <p:sp>
        <p:nvSpPr>
          <p:cNvPr id="18" name="Shape 16"/>
          <p:cNvSpPr/>
          <p:nvPr/>
        </p:nvSpPr>
        <p:spPr>
          <a:xfrm>
            <a:off x="502920" y="3410712"/>
            <a:ext cx="11201400" cy="0"/>
          </a:xfrm>
          <a:prstGeom prst="line">
            <a:avLst/>
          </a:prstGeom>
          <a:noFill/>
          <a:ln w="12700">
            <a:solidFill>
              <a:srgbClr val="E6E6E6"/>
            </a:solidFill>
            <a:prstDash val="solid"/>
          </a:ln>
        </p:spPr>
      </p:sp>
      <p:sp>
        <p:nvSpPr>
          <p:cNvPr id="19" name="Text 17"/>
          <p:cNvSpPr txBox="1"/>
          <p:nvPr/>
        </p:nvSpPr>
        <p:spPr>
          <a:xfrm>
            <a:off x="502920" y="348386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不使用取消審判の期間は「3年」（2年ではない）。請求権者は「利害関係人のみ」ではなく「何人も」。</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関連：E-8 意匠権・実用新案権（存続期間の起算点・年数の横断比較）。</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E-7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第16問）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9144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X社代表取締役甲氏と中小企業診断士の会話。Y社が同一文字商標を先に登録しており、甲氏は自社の商標登録が難しいか相談。Y社はその商標を使用していない。「商標法第50条第1項の不使用取消審判は、継続して国内で【Ａ】年以上、登録商標の使用をしていない場合に請求できる」「不使用取消審判は【Ｂ】」。空欄ＡとＢに入る数値と記述の組み合わせとして、最も適切なものはどれか。</a:t>
            </a:r>
            <a:endParaRPr lang="en-US" sz="1250" dirty="0"/>
          </a:p>
        </p:txBody>
      </p:sp>
      <p:sp>
        <p:nvSpPr>
          <p:cNvPr id="9" name="Text 7"/>
          <p:cNvSpPr txBox="1"/>
          <p:nvPr/>
        </p:nvSpPr>
        <p:spPr>
          <a:xfrm>
            <a:off x="731520" y="269748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Ａ：2　Ｂ：誰でも請求することができます</a:t>
            </a:r>
            <a:endParaRPr lang="en-US" sz="1150" dirty="0"/>
          </a:p>
        </p:txBody>
      </p:sp>
      <p:sp>
        <p:nvSpPr>
          <p:cNvPr id="10" name="Text 8"/>
          <p:cNvSpPr txBox="1"/>
          <p:nvPr/>
        </p:nvSpPr>
        <p:spPr>
          <a:xfrm>
            <a:off x="731520" y="315468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Ａ：2　Ｂ：利害関係人のみが請求することができます</a:t>
            </a:r>
            <a:endParaRPr lang="en-US" sz="1150" dirty="0"/>
          </a:p>
        </p:txBody>
      </p:sp>
      <p:sp>
        <p:nvSpPr>
          <p:cNvPr id="11" name="Text 9"/>
          <p:cNvSpPr txBox="1"/>
          <p:nvPr/>
        </p:nvSpPr>
        <p:spPr>
          <a:xfrm>
            <a:off x="731520" y="361188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Ａ：3　Ｂ：誰でも請求することができます</a:t>
            </a:r>
            <a:endParaRPr lang="en-US" sz="1150" dirty="0"/>
          </a:p>
        </p:txBody>
      </p:sp>
      <p:sp>
        <p:nvSpPr>
          <p:cNvPr id="12" name="Text 10"/>
          <p:cNvSpPr txBox="1"/>
          <p:nvPr/>
        </p:nvSpPr>
        <p:spPr>
          <a:xfrm>
            <a:off x="731520" y="406908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Ａ：3　Ｂ：利害関係人のみが請求することができます</a:t>
            </a:r>
            <a:endParaRPr lang="en-US" sz="1150" dirty="0"/>
          </a:p>
        </p:txBody>
      </p:sp>
      <p:sp>
        <p:nvSpPr>
          <p:cNvPr id="13" name="Text 11"/>
          <p:cNvSpPr txBox="1"/>
          <p:nvPr/>
        </p:nvSpPr>
        <p:spPr>
          <a:xfrm>
            <a:off x="502920" y="466344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出典：past_exams/1st_stage/1ji2025/E1JI2025.pdf（令和7年度第1次試験）第16問</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E-7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第16問）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正解はウ（3年、誰でも請求可能）。</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Ａ：2　Ｂ：誰でも請求することができます</a:t>
            </a:r>
            <a:endParaRPr lang="en-US" sz="1150" dirty="0"/>
          </a:p>
        </p:txBody>
      </p:sp>
      <p:sp>
        <p:nvSpPr>
          <p:cNvPr id="9" name="Text 7"/>
          <p:cNvSpPr txBox="1"/>
          <p:nvPr/>
        </p:nvSpPr>
        <p:spPr>
          <a:xfrm>
            <a:off x="731520" y="219456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Ａ：2　Ｂ：利害関係人のみが請求することができます</a:t>
            </a:r>
            <a:endParaRPr lang="en-US" sz="1150" dirty="0"/>
          </a:p>
        </p:txBody>
      </p:sp>
      <p:sp>
        <p:nvSpPr>
          <p:cNvPr id="10" name="Shape 8"/>
          <p:cNvSpPr/>
          <p:nvPr/>
        </p:nvSpPr>
        <p:spPr>
          <a:xfrm>
            <a:off x="502920" y="2624328"/>
            <a:ext cx="11201400" cy="457200"/>
          </a:xfrm>
          <a:prstGeom prst="rect">
            <a:avLst/>
          </a:prstGeom>
          <a:solidFill>
            <a:srgbClr val="F4F4F4"/>
          </a:solidFill>
          <a:ln/>
        </p:spPr>
      </p:sp>
      <p:sp>
        <p:nvSpPr>
          <p:cNvPr id="11" name="Shape 9"/>
          <p:cNvSpPr/>
          <p:nvPr/>
        </p:nvSpPr>
        <p:spPr>
          <a:xfrm>
            <a:off x="502920" y="2624328"/>
            <a:ext cx="0" cy="457200"/>
          </a:xfrm>
          <a:prstGeom prst="line">
            <a:avLst/>
          </a:prstGeom>
          <a:noFill/>
          <a:ln w="38100">
            <a:solidFill>
              <a:srgbClr val="FF3B1F"/>
            </a:solidFill>
            <a:prstDash val="solid"/>
          </a:ln>
        </p:spPr>
      </p:sp>
      <p:sp>
        <p:nvSpPr>
          <p:cNvPr id="12" name="Text 10"/>
          <p:cNvSpPr txBox="1"/>
          <p:nvPr/>
        </p:nvSpPr>
        <p:spPr>
          <a:xfrm>
            <a:off x="731520" y="265176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Ａ：3　Ｂ：誰でも請求することができます</a:t>
            </a:r>
            <a:endParaRPr lang="en-US" sz="1150" dirty="0"/>
          </a:p>
        </p:txBody>
      </p:sp>
      <p:sp>
        <p:nvSpPr>
          <p:cNvPr id="13" name="Text 11"/>
          <p:cNvSpPr txBox="1"/>
          <p:nvPr/>
        </p:nvSpPr>
        <p:spPr>
          <a:xfrm>
            <a:off x="731520" y="310896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Ａ：3　Ｂ：利害関係人のみが請求することができます</a:t>
            </a:r>
            <a:endParaRPr lang="en-US" sz="1150" dirty="0"/>
          </a:p>
        </p:txBody>
      </p:sp>
      <p:sp>
        <p:nvSpPr>
          <p:cNvPr id="14" name="Shape 12"/>
          <p:cNvSpPr/>
          <p:nvPr/>
        </p:nvSpPr>
        <p:spPr>
          <a:xfrm>
            <a:off x="502920" y="3639312"/>
            <a:ext cx="11201400" cy="0"/>
          </a:xfrm>
          <a:prstGeom prst="line">
            <a:avLst/>
          </a:prstGeom>
          <a:noFill/>
          <a:ln w="12700">
            <a:solidFill>
              <a:srgbClr val="171717"/>
            </a:solidFill>
            <a:prstDash val="solid"/>
          </a:ln>
        </p:spPr>
      </p:sp>
      <p:sp>
        <p:nvSpPr>
          <p:cNvPr id="15" name="Text 13"/>
          <p:cNvSpPr txBox="1"/>
          <p:nvPr/>
        </p:nvSpPr>
        <p:spPr>
          <a:xfrm>
            <a:off x="502920" y="3730752"/>
            <a:ext cx="11201400" cy="731520"/>
          </a:xfrm>
          <a:prstGeom prst="rect">
            <a:avLst/>
          </a:prstGeom>
          <a:noFill/>
          <a:ln/>
        </p:spPr>
        <p:txBody>
          <a:bodyPr wrap="square" lIns="0" tIns="0" rIns="0" bIns="0" rtlCol="0" anchor="ctr"/>
          <a:lstStyle/>
          <a:p>
            <a:pPr indent="0" marL="0">
              <a:lnSpc>
                <a:spcPct val="118000"/>
              </a:lnSpc>
              <a:buNone/>
            </a:pPr>
            <a:r>
              <a:rPr lang="en-US" sz="950" b="1" dirty="0">
                <a:solidFill>
                  <a:srgbClr val="FF3B1F"/>
                </a:solidFill>
                <a:latin typeface="Yu Gothic" pitchFamily="34" charset="0"/>
                <a:ea typeface="Yu Gothic" pitchFamily="34" charset="-122"/>
                <a:cs typeface="Yu Gothic" pitchFamily="34" charset="-120"/>
              </a:rPr>
              <a:t>正解：ウ</a:t>
            </a:r>
            <a:pPr indent="0" marL="0">
              <a:lnSpc>
                <a:spcPct val="118000"/>
              </a:lnSpc>
              <a:buNone/>
            </a:pPr>
            <a:r>
              <a:rPr lang="en-US" sz="950" dirty="0">
                <a:solidFill>
                  <a:srgbClr val="171717"/>
                </a:solidFill>
                <a:latin typeface="Yu Gothic" pitchFamily="34" charset="0"/>
                <a:ea typeface="Yu Gothic" pitchFamily="34" charset="-122"/>
                <a:cs typeface="Yu Gothic" pitchFamily="34" charset="-120"/>
              </a:rPr>
              <a:t>。商標法50条1項は「継続して</a:t>
            </a:r>
            <a:pPr indent="0" marL="0">
              <a:lnSpc>
                <a:spcPct val="118000"/>
              </a:lnSpc>
              <a:buNone/>
            </a:pPr>
            <a:r>
              <a:rPr lang="en-US" sz="950" b="1" dirty="0">
                <a:solidFill>
                  <a:srgbClr val="171717"/>
                </a:solidFill>
                <a:latin typeface="Yu Gothic" pitchFamily="34" charset="0"/>
                <a:ea typeface="Yu Gothic" pitchFamily="34" charset="-122"/>
                <a:cs typeface="Yu Gothic" pitchFamily="34" charset="-120"/>
              </a:rPr>
              <a:t>3年</a:t>
            </a:r>
            <a:pPr indent="0" marL="0">
              <a:lnSpc>
                <a:spcPct val="118000"/>
              </a:lnSpc>
              <a:buNone/>
            </a:pPr>
            <a:r>
              <a:rPr lang="en-US" sz="950" dirty="0">
                <a:solidFill>
                  <a:srgbClr val="171717"/>
                </a:solidFill>
                <a:latin typeface="Yu Gothic" pitchFamily="34" charset="0"/>
                <a:ea typeface="Yu Gothic" pitchFamily="34" charset="-122"/>
                <a:cs typeface="Yu Gothic" pitchFamily="34" charset="-120"/>
              </a:rPr>
              <a:t>以上使用していないときは、</a:t>
            </a:r>
            <a:pPr indent="0" marL="0">
              <a:lnSpc>
                <a:spcPct val="118000"/>
              </a:lnSpc>
              <a:buNone/>
            </a:pPr>
            <a:r>
              <a:rPr lang="en-US" sz="950" b="1" dirty="0">
                <a:solidFill>
                  <a:srgbClr val="171717"/>
                </a:solidFill>
                <a:latin typeface="Yu Gothic" pitchFamily="34" charset="0"/>
                <a:ea typeface="Yu Gothic" pitchFamily="34" charset="-122"/>
                <a:cs typeface="Yu Gothic" pitchFamily="34" charset="-120"/>
              </a:rPr>
              <a:t>何人も</a:t>
            </a:r>
            <a:pPr indent="0" marL="0">
              <a:lnSpc>
                <a:spcPct val="118000"/>
              </a:lnSpc>
              <a:buNone/>
            </a:pPr>
            <a:r>
              <a:rPr lang="en-US" sz="950" dirty="0">
                <a:solidFill>
                  <a:srgbClr val="171717"/>
                </a:solidFill>
                <a:latin typeface="Yu Gothic" pitchFamily="34" charset="0"/>
                <a:ea typeface="Yu Gothic" pitchFamily="34" charset="-122"/>
                <a:cs typeface="Yu Gothic" pitchFamily="34" charset="-120"/>
              </a:rPr>
              <a:t>取消審判を請求できる」と規定する。ア・イ：期間を「2年」としている点が誤り。イ・エ：請求権者を「利害関係人のみ」としている点が誤り（無効審判など利害関係人限定の審判類型と対比される）。</a:t>
            </a:r>
            <a:endParaRPr lang="en-US" sz="950" dirty="0"/>
          </a:p>
        </p:txBody>
      </p:sp>
      <p:sp>
        <p:nvSpPr>
          <p:cNvPr id="16" name="Text 14"/>
          <p:cNvSpPr txBox="1"/>
          <p:nvPr/>
        </p:nvSpPr>
        <p:spPr>
          <a:xfrm>
            <a:off x="502920" y="4507992"/>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950" dirty="0">
                <a:solidFill>
                  <a:srgbClr val="171717"/>
                </a:solidFill>
                <a:latin typeface="Yu Gothic" pitchFamily="34" charset="0"/>
                <a:ea typeface="Yu Gothic" pitchFamily="34" charset="-122"/>
                <a:cs typeface="Yu Gothic" pitchFamily="34" charset="-120"/>
              </a:rPr>
              <a:t>商標権の存続期間は登録から10年（更新可・半永久的）だが、不使用のまま3年が経過すると第三者から取消審判を請求されうる。商標は「使用してこそ価値がある」という思想（信用の化体）に基づく制度。</a:t>
            </a:r>
            <a:endParaRPr lang="en-US" sz="850" dirty="0"/>
          </a:p>
        </p:txBody>
      </p:sp>
      <p:sp>
        <p:nvSpPr>
          <p:cNvPr id="17" name="Text 15"/>
          <p:cNvSpPr txBox="1"/>
          <p:nvPr/>
        </p:nvSpPr>
        <p:spPr>
          <a:xfrm>
            <a:off x="502920" y="5193792"/>
            <a:ext cx="11201400" cy="274320"/>
          </a:xfrm>
          <a:prstGeom prst="rect">
            <a:avLst/>
          </a:prstGeom>
          <a:noFill/>
          <a:ln/>
        </p:spPr>
        <p:txBody>
          <a:bodyPr wrap="square" lIns="0" tIns="0" rIns="0" bIns="0" rtlCol="0" anchor="ctr"/>
          <a:lstStyle/>
          <a:p>
            <a:pPr indent="0" marL="0">
              <a:buNone/>
            </a:pPr>
            <a:r>
              <a:rPr lang="en-US" sz="950" dirty="0">
                <a:solidFill>
                  <a:srgbClr val="8A8A8A"/>
                </a:solidFill>
                <a:latin typeface="Yu Gothic" pitchFamily="34" charset="0"/>
                <a:ea typeface="Yu Gothic" pitchFamily="34" charset="-122"/>
                <a:cs typeface="Yu Gothic" pitchFamily="34" charset="-120"/>
              </a:rPr>
              <a:t>関連知識：特許の新規性喪失例外の「1年」や他の年数規定と混同しないこと。</a:t>
            </a:r>
            <a:endParaRPr lang="en-US" sz="950" dirty="0"/>
          </a:p>
        </p:txBody>
      </p:sp>
      <p:sp>
        <p:nvSpPr>
          <p:cNvPr id="18" name="Text 16"/>
          <p:cNvSpPr txBox="1"/>
          <p:nvPr/>
        </p:nvSpPr>
        <p:spPr>
          <a:xfrm>
            <a:off x="502920" y="5513832"/>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出典：past_exams/1st_stage/1ji2025/E1JI2025.pdf（令和7年度第1次試験）第16問／正解：past_exams/1st_stage_answers/r07/2025e.pdf</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E-8 ／ 産業財産権の内容と取得方法（意匠権・実用新案権）</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存続期間の起算点と年数を横断整理する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特許・実用新案・意匠・商標で起算点も年数も異なる。混同が最頻出のひっかけ。</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685800"/>
          </a:xfrm>
          <a:prstGeom prst="rect">
            <a:avLst/>
          </a:prstGeom>
          <a:noFill/>
          <a:ln/>
        </p:spPr>
        <p:txBody>
          <a:bodyPr wrap="square" lIns="0" tIns="0" rIns="0" bIns="0" rtlCol="0" anchor="ctr"/>
          <a:lstStyle/>
          <a:p>
            <a:pPr indent="0" marL="0">
              <a:lnSpc>
                <a:spcPct val="125000"/>
              </a:lnSpc>
              <a:buNone/>
            </a:pPr>
            <a:r>
              <a:rPr lang="en-US" sz="1000" dirty="0">
                <a:solidFill>
                  <a:srgbClr val="8A8A8A"/>
                </a:solidFill>
                <a:latin typeface="Yu Gothic" pitchFamily="34" charset="0"/>
                <a:ea typeface="Yu Gothic" pitchFamily="34" charset="-122"/>
                <a:cs typeface="Yu Gothic" pitchFamily="34" charset="-120"/>
              </a:rPr>
              <a:t>特許・実用新案・意匠・商標はいずれも産業財産権だが、起算点（出願日か登録日か）と年数がそれぞれ異なる。右図のとおり横断的に整理して覚えるのが最も効率的。</a:t>
            </a:r>
            <a:endParaRPr lang="en-US" sz="1000" dirty="0"/>
          </a:p>
        </p:txBody>
      </p:sp>
      <p:sp>
        <p:nvSpPr>
          <p:cNvPr id="9" name="Text 7"/>
          <p:cNvSpPr txBox="1"/>
          <p:nvPr/>
        </p:nvSpPr>
        <p:spPr>
          <a:xfrm>
            <a:off x="502920" y="2441448"/>
            <a:ext cx="15544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意匠権</a:t>
            </a:r>
            <a:endParaRPr lang="en-US" sz="1100" dirty="0"/>
          </a:p>
        </p:txBody>
      </p:sp>
      <p:sp>
        <p:nvSpPr>
          <p:cNvPr id="10" name="Shape 8"/>
          <p:cNvSpPr/>
          <p:nvPr/>
        </p:nvSpPr>
        <p:spPr>
          <a:xfrm>
            <a:off x="2039112" y="2441448"/>
            <a:ext cx="0" cy="256032"/>
          </a:xfrm>
          <a:prstGeom prst="line">
            <a:avLst/>
          </a:prstGeom>
          <a:noFill/>
          <a:ln w="12700">
            <a:solidFill>
              <a:srgbClr val="E6E6E6"/>
            </a:solidFill>
            <a:prstDash val="solid"/>
          </a:ln>
        </p:spPr>
      </p:sp>
      <p:sp>
        <p:nvSpPr>
          <p:cNvPr id="11" name="Text 9"/>
          <p:cNvSpPr txBox="1"/>
          <p:nvPr/>
        </p:nvSpPr>
        <p:spPr>
          <a:xfrm>
            <a:off x="2194560" y="2441448"/>
            <a:ext cx="50749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出願日から25年（2020年4月以降の出願）</a:t>
            </a:r>
            <a:endParaRPr lang="en-US" sz="1100" dirty="0"/>
          </a:p>
        </p:txBody>
      </p:sp>
      <p:sp>
        <p:nvSpPr>
          <p:cNvPr id="12" name="Text 10"/>
          <p:cNvSpPr txBox="1"/>
          <p:nvPr/>
        </p:nvSpPr>
        <p:spPr>
          <a:xfrm>
            <a:off x="502920" y="2825496"/>
            <a:ext cx="15544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実用新案権</a:t>
            </a:r>
            <a:endParaRPr lang="en-US" sz="1100" dirty="0"/>
          </a:p>
        </p:txBody>
      </p:sp>
      <p:sp>
        <p:nvSpPr>
          <p:cNvPr id="13" name="Shape 11"/>
          <p:cNvSpPr/>
          <p:nvPr/>
        </p:nvSpPr>
        <p:spPr>
          <a:xfrm>
            <a:off x="2039112" y="2825496"/>
            <a:ext cx="0" cy="256032"/>
          </a:xfrm>
          <a:prstGeom prst="line">
            <a:avLst/>
          </a:prstGeom>
          <a:noFill/>
          <a:ln w="12700">
            <a:solidFill>
              <a:srgbClr val="E6E6E6"/>
            </a:solidFill>
            <a:prstDash val="solid"/>
          </a:ln>
        </p:spPr>
      </p:sp>
      <p:sp>
        <p:nvSpPr>
          <p:cNvPr id="14" name="Text 12"/>
          <p:cNvSpPr txBox="1"/>
          <p:nvPr/>
        </p:nvSpPr>
        <p:spPr>
          <a:xfrm>
            <a:off x="2194560" y="2825496"/>
            <a:ext cx="50749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出願日から10年。無審査主義（実体審査なし）</a:t>
            </a:r>
            <a:endParaRPr lang="en-US" sz="1100" dirty="0"/>
          </a:p>
        </p:txBody>
      </p:sp>
      <p:sp>
        <p:nvSpPr>
          <p:cNvPr id="15" name="Text 13"/>
          <p:cNvSpPr txBox="1"/>
          <p:nvPr/>
        </p:nvSpPr>
        <p:spPr>
          <a:xfrm>
            <a:off x="502920" y="3209544"/>
            <a:ext cx="15544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秘密意匠</a:t>
            </a:r>
            <a:endParaRPr lang="en-US" sz="1100" dirty="0"/>
          </a:p>
        </p:txBody>
      </p:sp>
      <p:sp>
        <p:nvSpPr>
          <p:cNvPr id="16" name="Shape 14"/>
          <p:cNvSpPr/>
          <p:nvPr/>
        </p:nvSpPr>
        <p:spPr>
          <a:xfrm>
            <a:off x="2039112" y="3209544"/>
            <a:ext cx="0" cy="256032"/>
          </a:xfrm>
          <a:prstGeom prst="line">
            <a:avLst/>
          </a:prstGeom>
          <a:noFill/>
          <a:ln w="12700">
            <a:solidFill>
              <a:srgbClr val="E6E6E6"/>
            </a:solidFill>
            <a:prstDash val="solid"/>
          </a:ln>
        </p:spPr>
      </p:sp>
      <p:sp>
        <p:nvSpPr>
          <p:cNvPr id="17" name="Text 15"/>
          <p:cNvSpPr txBox="1"/>
          <p:nvPr/>
        </p:nvSpPr>
        <p:spPr>
          <a:xfrm>
            <a:off x="2194560" y="3209544"/>
            <a:ext cx="50749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請求により登録日から最長3年間、公開を遅らせられる</a:t>
            </a:r>
            <a:endParaRPr lang="en-US" sz="1100" dirty="0"/>
          </a:p>
        </p:txBody>
      </p:sp>
      <p:sp>
        <p:nvSpPr>
          <p:cNvPr id="18" name="Text 16"/>
          <p:cNvSpPr txBox="1"/>
          <p:nvPr/>
        </p:nvSpPr>
        <p:spPr>
          <a:xfrm>
            <a:off x="502920" y="3685032"/>
            <a:ext cx="6766560" cy="64008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「意匠権は登録から20年」は2020年改正前の知識で誤り。実用新案は無審査のため権利行使時に技術評価書の提示が必要。</a:t>
            </a:r>
            <a:endParaRPr lang="en-US" sz="950" dirty="0"/>
          </a:p>
        </p:txBody>
      </p:sp>
      <p:sp>
        <p:nvSpPr>
          <p:cNvPr id="19" name="Shape 17"/>
          <p:cNvSpPr/>
          <p:nvPr/>
        </p:nvSpPr>
        <p:spPr>
          <a:xfrm>
            <a:off x="7543800" y="4983480"/>
            <a:ext cx="3703320" cy="0"/>
          </a:xfrm>
          <a:prstGeom prst="line">
            <a:avLst/>
          </a:prstGeom>
          <a:noFill/>
          <a:ln w="19050">
            <a:solidFill>
              <a:srgbClr val="171717"/>
            </a:solidFill>
            <a:prstDash val="solid"/>
          </a:ln>
        </p:spPr>
      </p:sp>
      <p:sp>
        <p:nvSpPr>
          <p:cNvPr id="20" name="Shape 18"/>
          <p:cNvSpPr/>
          <p:nvPr/>
        </p:nvSpPr>
        <p:spPr>
          <a:xfrm>
            <a:off x="7543800" y="2715768"/>
            <a:ext cx="759181" cy="2267712"/>
          </a:xfrm>
          <a:prstGeom prst="rect">
            <a:avLst/>
          </a:prstGeom>
          <a:solidFill>
            <a:srgbClr val="F4F4F4"/>
          </a:solidFill>
          <a:ln w="12700">
            <a:solidFill>
              <a:srgbClr val="171717"/>
            </a:solidFill>
            <a:prstDash val="solid"/>
          </a:ln>
        </p:spPr>
      </p:sp>
      <p:sp>
        <p:nvSpPr>
          <p:cNvPr id="21" name="Text 19"/>
          <p:cNvSpPr txBox="1"/>
          <p:nvPr/>
        </p:nvSpPr>
        <p:spPr>
          <a:xfrm>
            <a:off x="7516368" y="2423160"/>
            <a:ext cx="814045" cy="256032"/>
          </a:xfrm>
          <a:prstGeom prst="rect">
            <a:avLst/>
          </a:prstGeom>
          <a:noFill/>
          <a:ln/>
        </p:spPr>
        <p:txBody>
          <a:bodyPr wrap="square" lIns="0" tIns="0" rIns="0" bIns="0" rtlCol="0" anchor="ctr"/>
          <a:lstStyle/>
          <a:p>
            <a:pPr algn="ctr" indent="0" marL="0">
              <a:buNone/>
            </a:pPr>
            <a:r>
              <a:rPr lang="en-US" sz="1050" dirty="0">
                <a:solidFill>
                  <a:srgbClr val="171717"/>
                </a:solidFill>
                <a:latin typeface="Consolas" pitchFamily="34" charset="0"/>
                <a:ea typeface="Consolas" pitchFamily="34" charset="-122"/>
                <a:cs typeface="Consolas" pitchFamily="34" charset="-120"/>
              </a:rPr>
              <a:t>20</a:t>
            </a:r>
            <a:endParaRPr lang="en-US" sz="1050" dirty="0"/>
          </a:p>
        </p:txBody>
      </p:sp>
      <p:sp>
        <p:nvSpPr>
          <p:cNvPr id="22" name="Text 20"/>
          <p:cNvSpPr txBox="1"/>
          <p:nvPr/>
        </p:nvSpPr>
        <p:spPr>
          <a:xfrm>
            <a:off x="7516368" y="5038344"/>
            <a:ext cx="814045" cy="274320"/>
          </a:xfrm>
          <a:prstGeom prst="rect">
            <a:avLst/>
          </a:prstGeom>
          <a:noFill/>
          <a:ln/>
        </p:spPr>
        <p:txBody>
          <a:bodyPr wrap="square" lIns="0" tIns="0" rIns="0" bIns="0" rtlCol="0" anchor="ctr"/>
          <a:lstStyle/>
          <a:p>
            <a:pPr algn="ctr" indent="0" marL="0">
              <a:buNone/>
            </a:pPr>
            <a:r>
              <a:rPr lang="en-US" sz="900" dirty="0">
                <a:solidFill>
                  <a:srgbClr val="171717"/>
                </a:solidFill>
                <a:latin typeface="Yu Gothic" pitchFamily="34" charset="0"/>
                <a:ea typeface="Yu Gothic" pitchFamily="34" charset="-122"/>
                <a:cs typeface="Yu Gothic" pitchFamily="34" charset="-120"/>
              </a:rPr>
              <a:t>特許</a:t>
            </a:r>
            <a:endParaRPr lang="en-US" sz="900" dirty="0"/>
          </a:p>
        </p:txBody>
      </p:sp>
      <p:sp>
        <p:nvSpPr>
          <p:cNvPr id="23" name="Shape 21"/>
          <p:cNvSpPr/>
          <p:nvPr/>
        </p:nvSpPr>
        <p:spPr>
          <a:xfrm>
            <a:off x="8525180" y="3849624"/>
            <a:ext cx="759181" cy="1133856"/>
          </a:xfrm>
          <a:prstGeom prst="rect">
            <a:avLst/>
          </a:prstGeom>
          <a:solidFill>
            <a:srgbClr val="F4F4F4"/>
          </a:solidFill>
          <a:ln w="12700">
            <a:solidFill>
              <a:srgbClr val="171717"/>
            </a:solidFill>
            <a:prstDash val="solid"/>
          </a:ln>
        </p:spPr>
      </p:sp>
      <p:sp>
        <p:nvSpPr>
          <p:cNvPr id="24" name="Text 22"/>
          <p:cNvSpPr txBox="1"/>
          <p:nvPr/>
        </p:nvSpPr>
        <p:spPr>
          <a:xfrm>
            <a:off x="8497748" y="3557016"/>
            <a:ext cx="814045" cy="256032"/>
          </a:xfrm>
          <a:prstGeom prst="rect">
            <a:avLst/>
          </a:prstGeom>
          <a:noFill/>
          <a:ln/>
        </p:spPr>
        <p:txBody>
          <a:bodyPr wrap="square" lIns="0" tIns="0" rIns="0" bIns="0" rtlCol="0" anchor="ctr"/>
          <a:lstStyle/>
          <a:p>
            <a:pPr algn="ctr" indent="0" marL="0">
              <a:buNone/>
            </a:pPr>
            <a:r>
              <a:rPr lang="en-US" sz="1050" dirty="0">
                <a:solidFill>
                  <a:srgbClr val="171717"/>
                </a:solidFill>
                <a:latin typeface="Consolas" pitchFamily="34" charset="0"/>
                <a:ea typeface="Consolas" pitchFamily="34" charset="-122"/>
                <a:cs typeface="Consolas" pitchFamily="34" charset="-120"/>
              </a:rPr>
              <a:t>10</a:t>
            </a:r>
            <a:endParaRPr lang="en-US" sz="1050" dirty="0"/>
          </a:p>
        </p:txBody>
      </p:sp>
      <p:sp>
        <p:nvSpPr>
          <p:cNvPr id="25" name="Text 23"/>
          <p:cNvSpPr txBox="1"/>
          <p:nvPr/>
        </p:nvSpPr>
        <p:spPr>
          <a:xfrm>
            <a:off x="8497748" y="5038344"/>
            <a:ext cx="814045" cy="274320"/>
          </a:xfrm>
          <a:prstGeom prst="rect">
            <a:avLst/>
          </a:prstGeom>
          <a:noFill/>
          <a:ln/>
        </p:spPr>
        <p:txBody>
          <a:bodyPr wrap="square" lIns="0" tIns="0" rIns="0" bIns="0" rtlCol="0" anchor="ctr"/>
          <a:lstStyle/>
          <a:p>
            <a:pPr algn="ctr" indent="0" marL="0">
              <a:buNone/>
            </a:pPr>
            <a:r>
              <a:rPr lang="en-US" sz="900" dirty="0">
                <a:solidFill>
                  <a:srgbClr val="171717"/>
                </a:solidFill>
                <a:latin typeface="Yu Gothic" pitchFamily="34" charset="0"/>
                <a:ea typeface="Yu Gothic" pitchFamily="34" charset="-122"/>
                <a:cs typeface="Yu Gothic" pitchFamily="34" charset="-120"/>
              </a:rPr>
              <a:t>実用新案</a:t>
            </a:r>
            <a:endParaRPr lang="en-US" sz="900" dirty="0"/>
          </a:p>
        </p:txBody>
      </p:sp>
      <p:sp>
        <p:nvSpPr>
          <p:cNvPr id="26" name="Shape 24"/>
          <p:cNvSpPr/>
          <p:nvPr/>
        </p:nvSpPr>
        <p:spPr>
          <a:xfrm>
            <a:off x="9506560" y="2148840"/>
            <a:ext cx="759181" cy="2834640"/>
          </a:xfrm>
          <a:prstGeom prst="rect">
            <a:avLst/>
          </a:prstGeom>
          <a:solidFill>
            <a:srgbClr val="FF3B1F"/>
          </a:solidFill>
          <a:ln w="12700">
            <a:solidFill>
              <a:srgbClr val="FF3B1F"/>
            </a:solidFill>
            <a:prstDash val="solid"/>
          </a:ln>
        </p:spPr>
      </p:sp>
      <p:sp>
        <p:nvSpPr>
          <p:cNvPr id="27" name="Text 25"/>
          <p:cNvSpPr txBox="1"/>
          <p:nvPr/>
        </p:nvSpPr>
        <p:spPr>
          <a:xfrm>
            <a:off x="9479128" y="1856232"/>
            <a:ext cx="814045" cy="256032"/>
          </a:xfrm>
          <a:prstGeom prst="rect">
            <a:avLst/>
          </a:prstGeom>
          <a:noFill/>
          <a:ln/>
        </p:spPr>
        <p:txBody>
          <a:bodyPr wrap="square" lIns="0" tIns="0" rIns="0" bIns="0" rtlCol="0" anchor="ctr"/>
          <a:lstStyle/>
          <a:p>
            <a:pPr algn="ctr" indent="0" marL="0">
              <a:buNone/>
            </a:pPr>
            <a:r>
              <a:rPr lang="en-US" sz="1300" b="1" dirty="0">
                <a:solidFill>
                  <a:srgbClr val="FF3B1F"/>
                </a:solidFill>
                <a:latin typeface="Consolas" pitchFamily="34" charset="0"/>
                <a:ea typeface="Consolas" pitchFamily="34" charset="-122"/>
                <a:cs typeface="Consolas" pitchFamily="34" charset="-120"/>
              </a:rPr>
              <a:t>25</a:t>
            </a:r>
            <a:endParaRPr lang="en-US" sz="1300" dirty="0"/>
          </a:p>
        </p:txBody>
      </p:sp>
      <p:sp>
        <p:nvSpPr>
          <p:cNvPr id="28" name="Text 26"/>
          <p:cNvSpPr txBox="1"/>
          <p:nvPr/>
        </p:nvSpPr>
        <p:spPr>
          <a:xfrm>
            <a:off x="9479128" y="5038344"/>
            <a:ext cx="814045" cy="274320"/>
          </a:xfrm>
          <a:prstGeom prst="rect">
            <a:avLst/>
          </a:prstGeom>
          <a:noFill/>
          <a:ln/>
        </p:spPr>
        <p:txBody>
          <a:bodyPr wrap="square" lIns="0" tIns="0" rIns="0" bIns="0" rtlCol="0" anchor="ctr"/>
          <a:lstStyle/>
          <a:p>
            <a:pPr algn="ctr" indent="0" marL="0">
              <a:buNone/>
            </a:pPr>
            <a:r>
              <a:rPr lang="en-US" sz="900" dirty="0">
                <a:solidFill>
                  <a:srgbClr val="171717"/>
                </a:solidFill>
                <a:latin typeface="Yu Gothic" pitchFamily="34" charset="0"/>
                <a:ea typeface="Yu Gothic" pitchFamily="34" charset="-122"/>
                <a:cs typeface="Yu Gothic" pitchFamily="34" charset="-120"/>
              </a:rPr>
              <a:t>意匠</a:t>
            </a:r>
            <a:endParaRPr lang="en-US" sz="900" dirty="0"/>
          </a:p>
        </p:txBody>
      </p:sp>
      <p:sp>
        <p:nvSpPr>
          <p:cNvPr id="29" name="Shape 27"/>
          <p:cNvSpPr/>
          <p:nvPr/>
        </p:nvSpPr>
        <p:spPr>
          <a:xfrm>
            <a:off x="10487939" y="3849624"/>
            <a:ext cx="759181" cy="1133856"/>
          </a:xfrm>
          <a:prstGeom prst="rect">
            <a:avLst/>
          </a:prstGeom>
          <a:solidFill>
            <a:srgbClr val="F4F4F4"/>
          </a:solidFill>
          <a:ln w="12700">
            <a:solidFill>
              <a:srgbClr val="171717"/>
            </a:solidFill>
            <a:prstDash val="solid"/>
          </a:ln>
        </p:spPr>
      </p:sp>
      <p:sp>
        <p:nvSpPr>
          <p:cNvPr id="30" name="Text 28"/>
          <p:cNvSpPr txBox="1"/>
          <p:nvPr/>
        </p:nvSpPr>
        <p:spPr>
          <a:xfrm>
            <a:off x="10460507" y="3557016"/>
            <a:ext cx="814045" cy="256032"/>
          </a:xfrm>
          <a:prstGeom prst="rect">
            <a:avLst/>
          </a:prstGeom>
          <a:noFill/>
          <a:ln/>
        </p:spPr>
        <p:txBody>
          <a:bodyPr wrap="square" lIns="0" tIns="0" rIns="0" bIns="0" rtlCol="0" anchor="ctr"/>
          <a:lstStyle/>
          <a:p>
            <a:pPr algn="ctr" indent="0" marL="0">
              <a:buNone/>
            </a:pPr>
            <a:r>
              <a:rPr lang="en-US" sz="1050" dirty="0">
                <a:solidFill>
                  <a:srgbClr val="171717"/>
                </a:solidFill>
                <a:latin typeface="Consolas" pitchFamily="34" charset="0"/>
                <a:ea typeface="Consolas" pitchFamily="34" charset="-122"/>
                <a:cs typeface="Consolas" pitchFamily="34" charset="-120"/>
              </a:rPr>
              <a:t>10</a:t>
            </a:r>
            <a:endParaRPr lang="en-US" sz="1050" dirty="0"/>
          </a:p>
        </p:txBody>
      </p:sp>
      <p:sp>
        <p:nvSpPr>
          <p:cNvPr id="31" name="Text 29"/>
          <p:cNvSpPr txBox="1"/>
          <p:nvPr/>
        </p:nvSpPr>
        <p:spPr>
          <a:xfrm>
            <a:off x="10460507" y="5038344"/>
            <a:ext cx="814045" cy="274320"/>
          </a:xfrm>
          <a:prstGeom prst="rect">
            <a:avLst/>
          </a:prstGeom>
          <a:noFill/>
          <a:ln/>
        </p:spPr>
        <p:txBody>
          <a:bodyPr wrap="square" lIns="0" tIns="0" rIns="0" bIns="0" rtlCol="0" anchor="ctr"/>
          <a:lstStyle/>
          <a:p>
            <a:pPr algn="ctr" indent="0" marL="0">
              <a:buNone/>
            </a:pPr>
            <a:r>
              <a:rPr lang="en-US" sz="900" dirty="0">
                <a:solidFill>
                  <a:srgbClr val="171717"/>
                </a:solidFill>
                <a:latin typeface="Yu Gothic" pitchFamily="34" charset="0"/>
                <a:ea typeface="Yu Gothic" pitchFamily="34" charset="-122"/>
                <a:cs typeface="Yu Gothic" pitchFamily="34" charset="-120"/>
              </a:rPr>
              <a:t>商標</a:t>
            </a:r>
            <a:endParaRPr lang="en-US" sz="900" dirty="0"/>
          </a:p>
        </p:txBody>
      </p:sp>
      <p:sp>
        <p:nvSpPr>
          <p:cNvPr id="32" name="Text 30"/>
          <p:cNvSpPr txBox="1"/>
          <p:nvPr/>
        </p:nvSpPr>
        <p:spPr>
          <a:xfrm>
            <a:off x="7543800" y="5376672"/>
            <a:ext cx="3703320" cy="256032"/>
          </a:xfrm>
          <a:prstGeom prst="rect">
            <a:avLst/>
          </a:prstGeom>
          <a:noFill/>
          <a:ln/>
        </p:spPr>
        <p:txBody>
          <a:bodyPr wrap="square" lIns="0" tIns="0" rIns="0" bIns="0" rtlCol="0" anchor="ctr"/>
          <a:lstStyle/>
          <a:p>
            <a:pPr algn="ctr" indent="0" marL="0">
              <a:buNone/>
            </a:pPr>
            <a:r>
              <a:rPr lang="en-US" sz="850" dirty="0">
                <a:solidFill>
                  <a:srgbClr val="8A8A8A"/>
                </a:solidFill>
                <a:latin typeface="Yu Gothic" pitchFamily="34" charset="0"/>
                <a:ea typeface="Yu Gothic" pitchFamily="34" charset="-122"/>
                <a:cs typeface="Yu Gothic" pitchFamily="34" charset="-120"/>
              </a:rPr>
              <a:t>存続期間の比較（いずれも出願/登録日起算）</a:t>
            </a:r>
            <a:endParaRPr lang="en-US" sz="850" dirty="0"/>
          </a:p>
        </p:txBody>
      </p:sp>
      <p:sp>
        <p:nvSpPr>
          <p:cNvPr id="33" name="Shape 31"/>
          <p:cNvSpPr/>
          <p:nvPr/>
        </p:nvSpPr>
        <p:spPr>
          <a:xfrm>
            <a:off x="502920" y="5989320"/>
            <a:ext cx="11201400" cy="0"/>
          </a:xfrm>
          <a:prstGeom prst="line">
            <a:avLst/>
          </a:prstGeom>
          <a:noFill/>
          <a:ln w="9525">
            <a:solidFill>
              <a:srgbClr val="171717"/>
            </a:solidFill>
            <a:prstDash val="solid"/>
          </a:ln>
        </p:spPr>
      </p:sp>
      <p:sp>
        <p:nvSpPr>
          <p:cNvPr id="34" name="Shape 32"/>
          <p:cNvSpPr/>
          <p:nvPr/>
        </p:nvSpPr>
        <p:spPr>
          <a:xfrm>
            <a:off x="502920" y="6062472"/>
            <a:ext cx="329184" cy="329184"/>
          </a:xfrm>
          <a:prstGeom prst="ellipse">
            <a:avLst/>
          </a:prstGeom>
          <a:solidFill>
            <a:srgbClr val="FF3B1F"/>
          </a:solidFill>
          <a:ln/>
        </p:spPr>
      </p:sp>
      <p:sp>
        <p:nvSpPr>
          <p:cNvPr id="35" name="Text 3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6" name="Text 3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7" name="Shape 35"/>
          <p:cNvSpPr/>
          <p:nvPr/>
        </p:nvSpPr>
        <p:spPr>
          <a:xfrm>
            <a:off x="2331720" y="6062472"/>
            <a:ext cx="0" cy="329184"/>
          </a:xfrm>
          <a:prstGeom prst="line">
            <a:avLst/>
          </a:prstGeom>
          <a:noFill/>
          <a:ln w="12700">
            <a:solidFill>
              <a:srgbClr val="E6E6E6"/>
            </a:solidFill>
            <a:prstDash val="solid"/>
          </a:ln>
        </p:spPr>
      </p:sp>
      <p:sp>
        <p:nvSpPr>
          <p:cNvPr id="38" name="Text 3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具体例：秘密意匠は「先に権利は確保しつつ公開時期を遅らせたい」ニーズに対応。関連意匠制度でバリエーションデザインをまとめて登録可能。</a:t>
            </a:r>
            <a:endParaRPr lang="en-US" sz="1000" dirty="0"/>
          </a:p>
        </p:txBody>
      </p:sp>
      <p:sp>
        <p:nvSpPr>
          <p:cNvPr id="39" name="Text 3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40" name="Shape 38"/>
          <p:cNvSpPr/>
          <p:nvPr/>
        </p:nvSpPr>
        <p:spPr>
          <a:xfrm>
            <a:off x="246659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42" name="Shape 40"/>
          <p:cNvSpPr/>
          <p:nvPr/>
        </p:nvSpPr>
        <p:spPr>
          <a:xfrm>
            <a:off x="343128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44" name="Shape 42"/>
          <p:cNvSpPr/>
          <p:nvPr/>
        </p:nvSpPr>
        <p:spPr>
          <a:xfrm>
            <a:off x="439597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6" name="Shape 44"/>
          <p:cNvSpPr/>
          <p:nvPr/>
        </p:nvSpPr>
        <p:spPr>
          <a:xfrm>
            <a:off x="536067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48" name="Shape 46"/>
          <p:cNvSpPr/>
          <p:nvPr/>
        </p:nvSpPr>
        <p:spPr>
          <a:xfrm>
            <a:off x="632536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50" name="Shape 48"/>
          <p:cNvSpPr/>
          <p:nvPr/>
        </p:nvSpPr>
        <p:spPr>
          <a:xfrm>
            <a:off x="7290054"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52" name="Shape 50"/>
          <p:cNvSpPr/>
          <p:nvPr/>
        </p:nvSpPr>
        <p:spPr>
          <a:xfrm>
            <a:off x="8254746"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54" name="Shape 52"/>
          <p:cNvSpPr/>
          <p:nvPr/>
        </p:nvSpPr>
        <p:spPr>
          <a:xfrm>
            <a:off x="9219438" y="6464808"/>
            <a:ext cx="146304" cy="146304"/>
          </a:xfrm>
          <a:prstGeom prst="ellipse">
            <a:avLst/>
          </a:prstGeom>
          <a:solidFill>
            <a:srgbClr val="FF3B1F"/>
          </a:solidFill>
          <a:ln w="12700">
            <a:solidFill>
              <a:srgbClr val="FF3B1F"/>
            </a:solidFill>
            <a:prstDash val="solid"/>
          </a:ln>
        </p:spPr>
      </p:sp>
      <p:sp>
        <p:nvSpPr>
          <p:cNvPr id="55" name="Text 5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6" name="Shape 54"/>
          <p:cNvSpPr/>
          <p:nvPr/>
        </p:nvSpPr>
        <p:spPr>
          <a:xfrm>
            <a:off x="10184130" y="6464808"/>
            <a:ext cx="146304" cy="146304"/>
          </a:xfrm>
          <a:prstGeom prst="ellipse">
            <a:avLst/>
          </a:prstGeom>
          <a:solidFill>
            <a:srgbClr val="FF3B1F"/>
          </a:solidFill>
          <a:ln w="12700">
            <a:solidFill>
              <a:srgbClr val="FF3B1F"/>
            </a:solidFill>
            <a:prstDash val="solid"/>
          </a:ln>
        </p:spPr>
      </p:sp>
      <p:sp>
        <p:nvSpPr>
          <p:cNvPr id="57" name="Text 5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8" name="Shape 56"/>
          <p:cNvSpPr/>
          <p:nvPr/>
        </p:nvSpPr>
        <p:spPr>
          <a:xfrm>
            <a:off x="11148822" y="6464808"/>
            <a:ext cx="146304" cy="146304"/>
          </a:xfrm>
          <a:prstGeom prst="ellipse">
            <a:avLst/>
          </a:prstGeom>
          <a:solidFill>
            <a:srgbClr val="FFFFFF"/>
          </a:solidFill>
          <a:ln w="12700">
            <a:solidFill>
              <a:srgbClr val="E6E6E6"/>
            </a:solidFill>
            <a:prstDash val="solid"/>
          </a:ln>
        </p:spPr>
      </p:sp>
      <p:sp>
        <p:nvSpPr>
          <p:cNvPr id="59" name="Text 5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E-9 ／ 著作権の内容</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職務著作では会社自身が著作者になる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創作と同時に自動発生（無方式主義）。特許の職務発明とは扱いが対照的。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著作権は特許と異なり出願・登録なしに創作と同時に発生する（無方式主義）。財産権としての著作権と、譲渡できない著作者人格権の違い、そして職務著作で「会社自身が著作者になる」という職務発明との対照性がポイント。</a:t>
            </a:r>
            <a:endParaRPr lang="en-US" sz="1150" dirty="0"/>
          </a:p>
        </p:txBody>
      </p:sp>
      <p:sp>
        <p:nvSpPr>
          <p:cNvPr id="9" name="Text 7"/>
          <p:cNvSpPr txBox="1"/>
          <p:nvPr/>
        </p:nvSpPr>
        <p:spPr>
          <a:xfrm>
            <a:off x="502920" y="2221992"/>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著作権（財産権）</a:t>
            </a:r>
            <a:endParaRPr lang="en-US" sz="1150" dirty="0"/>
          </a:p>
        </p:txBody>
      </p:sp>
      <p:sp>
        <p:nvSpPr>
          <p:cNvPr id="10" name="Shape 8"/>
          <p:cNvSpPr/>
          <p:nvPr/>
        </p:nvSpPr>
        <p:spPr>
          <a:xfrm>
            <a:off x="2587752" y="2221992"/>
            <a:ext cx="0" cy="256032"/>
          </a:xfrm>
          <a:prstGeom prst="line">
            <a:avLst/>
          </a:prstGeom>
          <a:noFill/>
          <a:ln w="12700">
            <a:solidFill>
              <a:srgbClr val="E6E6E6"/>
            </a:solidFill>
            <a:prstDash val="solid"/>
          </a:ln>
        </p:spPr>
      </p:sp>
      <p:sp>
        <p:nvSpPr>
          <p:cNvPr id="11" name="Text 9"/>
          <p:cNvSpPr txBox="1"/>
          <p:nvPr/>
        </p:nvSpPr>
        <p:spPr>
          <a:xfrm>
            <a:off x="2743200" y="2221992"/>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複製権・上演権等。他人に譲渡できる</a:t>
            </a:r>
            <a:endParaRPr lang="en-US" sz="1150" dirty="0"/>
          </a:p>
        </p:txBody>
      </p:sp>
      <p:sp>
        <p:nvSpPr>
          <p:cNvPr id="12" name="Text 10"/>
          <p:cNvSpPr txBox="1"/>
          <p:nvPr/>
        </p:nvSpPr>
        <p:spPr>
          <a:xfrm>
            <a:off x="502920" y="2587752"/>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著作者人格権</a:t>
            </a:r>
            <a:endParaRPr lang="en-US" sz="1150" dirty="0"/>
          </a:p>
        </p:txBody>
      </p:sp>
      <p:sp>
        <p:nvSpPr>
          <p:cNvPr id="13" name="Shape 11"/>
          <p:cNvSpPr/>
          <p:nvPr/>
        </p:nvSpPr>
        <p:spPr>
          <a:xfrm>
            <a:off x="2587752" y="2587752"/>
            <a:ext cx="0" cy="256032"/>
          </a:xfrm>
          <a:prstGeom prst="line">
            <a:avLst/>
          </a:prstGeom>
          <a:noFill/>
          <a:ln w="12700">
            <a:solidFill>
              <a:srgbClr val="E6E6E6"/>
            </a:solidFill>
            <a:prstDash val="solid"/>
          </a:ln>
        </p:spPr>
      </p:sp>
      <p:sp>
        <p:nvSpPr>
          <p:cNvPr id="14" name="Text 12"/>
          <p:cNvSpPr txBox="1"/>
          <p:nvPr/>
        </p:nvSpPr>
        <p:spPr>
          <a:xfrm>
            <a:off x="2743200" y="2587752"/>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氏名表示権・同一性保持権等。一身専属で譲渡できない</a:t>
            </a:r>
            <a:endParaRPr lang="en-US" sz="1150" dirty="0"/>
          </a:p>
        </p:txBody>
      </p:sp>
      <p:sp>
        <p:nvSpPr>
          <p:cNvPr id="15" name="Text 13"/>
          <p:cNvSpPr txBox="1"/>
          <p:nvPr/>
        </p:nvSpPr>
        <p:spPr>
          <a:xfrm>
            <a:off x="502920" y="2953512"/>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職務著作</a:t>
            </a:r>
            <a:endParaRPr lang="en-US" sz="1150" dirty="0"/>
          </a:p>
        </p:txBody>
      </p:sp>
      <p:sp>
        <p:nvSpPr>
          <p:cNvPr id="16" name="Shape 14"/>
          <p:cNvSpPr/>
          <p:nvPr/>
        </p:nvSpPr>
        <p:spPr>
          <a:xfrm>
            <a:off x="2587752" y="2953512"/>
            <a:ext cx="0" cy="256032"/>
          </a:xfrm>
          <a:prstGeom prst="line">
            <a:avLst/>
          </a:prstGeom>
          <a:noFill/>
          <a:ln w="12700">
            <a:solidFill>
              <a:srgbClr val="E6E6E6"/>
            </a:solidFill>
            <a:prstDash val="solid"/>
          </a:ln>
        </p:spPr>
      </p:sp>
      <p:sp>
        <p:nvSpPr>
          <p:cNvPr id="17" name="Text 15"/>
          <p:cNvSpPr txBox="1"/>
          <p:nvPr/>
        </p:nvSpPr>
        <p:spPr>
          <a:xfrm>
            <a:off x="2743200" y="2953512"/>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会社の発意・従業員が職務上作成・会社名義公表なら会社が著作者</a:t>
            </a:r>
            <a:endParaRPr lang="en-US" sz="1150" dirty="0"/>
          </a:p>
        </p:txBody>
      </p:sp>
      <p:sp>
        <p:nvSpPr>
          <p:cNvPr id="18" name="Shape 16"/>
          <p:cNvSpPr/>
          <p:nvPr/>
        </p:nvSpPr>
        <p:spPr>
          <a:xfrm>
            <a:off x="502920" y="3410712"/>
            <a:ext cx="11201400" cy="0"/>
          </a:xfrm>
          <a:prstGeom prst="line">
            <a:avLst/>
          </a:prstGeom>
          <a:noFill/>
          <a:ln w="12700">
            <a:solidFill>
              <a:srgbClr val="E6E6E6"/>
            </a:solidFill>
            <a:prstDash val="solid"/>
          </a:ln>
        </p:spPr>
      </p:sp>
      <p:sp>
        <p:nvSpPr>
          <p:cNvPr id="19" name="Text 17"/>
          <p:cNvSpPr txBox="1"/>
          <p:nvPr/>
        </p:nvSpPr>
        <p:spPr>
          <a:xfrm>
            <a:off x="502920" y="348386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特許の職務発明は発明者本人が原則権利者だが、著作権の職務著作は要件を満たせば会社自身が著作者になる点が対照的。</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関連：E-10 著作権の成立と保護（保護期間の詳細）。</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02</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02</a:t>
            </a:r>
            <a:pPr indent="0" marL="0">
              <a:buNone/>
            </a:pPr>
            <a:r>
              <a:rPr lang="en-US" sz="1300" dirty="0">
                <a:solidFill>
                  <a:srgbClr val="A2A2A2"/>
                </a:solidFill>
                <a:latin typeface="Consolas" pitchFamily="34" charset="0"/>
                <a:ea typeface="Consolas" pitchFamily="34" charset="-122"/>
                <a:cs typeface="Consolas" pitchFamily="34" charset="-120"/>
              </a:rPr>
              <a:t>   経営法務 ／ E-10〜E-19</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取引法務・民法・会社法</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知財の契約・保護期間から、英文契約や紛争解決の実務知識、そして経営法務で最頻出の民法・会社法まで。</a:t>
            </a:r>
            <a:endParaRPr lang="en-US" sz="1400" dirty="0"/>
          </a:p>
        </p:txBody>
      </p:sp>
      <p:sp>
        <p:nvSpPr>
          <p:cNvPr id="6" name="Shape 4"/>
          <p:cNvSpPr/>
          <p:nvPr/>
        </p:nvSpPr>
        <p:spPr>
          <a:xfrm>
            <a:off x="640080" y="4800600"/>
            <a:ext cx="1431036" cy="384048"/>
          </a:xfrm>
          <a:prstGeom prst="rect">
            <a:avLst/>
          </a:prstGeom>
          <a:ln w="9525">
            <a:solidFill>
              <a:srgbClr val="7F7F7F"/>
            </a:solidFill>
            <a:prstDash val="solid"/>
          </a:ln>
        </p:spPr>
      </p:sp>
      <p:sp>
        <p:nvSpPr>
          <p:cNvPr id="7" name="Text 5"/>
          <p:cNvSpPr txBox="1"/>
          <p:nvPr/>
        </p:nvSpPr>
        <p:spPr>
          <a:xfrm>
            <a:off x="640080" y="4800600"/>
            <a:ext cx="143103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E-15 英文契約</a:t>
            </a:r>
            <a:endParaRPr lang="en-US" sz="1000" dirty="0"/>
          </a:p>
        </p:txBody>
      </p:sp>
      <p:sp>
        <p:nvSpPr>
          <p:cNvPr id="8" name="Shape 6"/>
          <p:cNvSpPr/>
          <p:nvPr/>
        </p:nvSpPr>
        <p:spPr>
          <a:xfrm>
            <a:off x="2299716" y="4800600"/>
            <a:ext cx="1801368" cy="384048"/>
          </a:xfrm>
          <a:prstGeom prst="rect">
            <a:avLst/>
          </a:prstGeom>
          <a:ln w="9525">
            <a:solidFill>
              <a:srgbClr val="7F7F7F"/>
            </a:solidFill>
            <a:prstDash val="solid"/>
          </a:ln>
        </p:spPr>
      </p:sp>
      <p:sp>
        <p:nvSpPr>
          <p:cNvPr id="9" name="Text 7"/>
          <p:cNvSpPr txBox="1"/>
          <p:nvPr/>
        </p:nvSpPr>
        <p:spPr>
          <a:xfrm>
            <a:off x="2299716" y="4800600"/>
            <a:ext cx="180136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E-17 民法（遺留分）</a:t>
            </a:r>
            <a:endParaRPr lang="en-US" sz="1000" dirty="0"/>
          </a:p>
        </p:txBody>
      </p:sp>
      <p:sp>
        <p:nvSpPr>
          <p:cNvPr id="10" name="Shape 8"/>
          <p:cNvSpPr/>
          <p:nvPr/>
        </p:nvSpPr>
        <p:spPr>
          <a:xfrm>
            <a:off x="4329684" y="4800600"/>
            <a:ext cx="2048256" cy="384048"/>
          </a:xfrm>
          <a:prstGeom prst="rect">
            <a:avLst/>
          </a:prstGeom>
          <a:ln w="9525">
            <a:solidFill>
              <a:srgbClr val="7F7F7F"/>
            </a:solidFill>
            <a:prstDash val="solid"/>
          </a:ln>
        </p:spPr>
      </p:sp>
      <p:sp>
        <p:nvSpPr>
          <p:cNvPr id="11" name="Text 9"/>
          <p:cNvSpPr txBox="1"/>
          <p:nvPr/>
        </p:nvSpPr>
        <p:spPr>
          <a:xfrm>
            <a:off x="4329684" y="4800600"/>
            <a:ext cx="204825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E-18 会社法（取締役会）</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E-10 ／ 著作権の成立と保護（保護期間、侵害への措置）</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起算点は「死後」か「公表後」かで変わる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2018年改正で死後50年から70年に延長。無名・法人名義・映画は公表後70年。</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著作権の保護期間は、著作者が個人（死後起算）か、無名・法人名義・映画（公表後起算）かで起算点が変わる。E-9で見た著作権の成立を前提に、「いつまで」保護されるかを扱う。</a:t>
            </a:r>
            <a:endParaRPr lang="en-US" sz="1150" dirty="0"/>
          </a:p>
        </p:txBody>
      </p:sp>
      <p:sp>
        <p:nvSpPr>
          <p:cNvPr id="9" name="Text 7"/>
          <p:cNvSpPr txBox="1"/>
          <p:nvPr/>
        </p:nvSpPr>
        <p:spPr>
          <a:xfrm>
            <a:off x="502920" y="2221992"/>
            <a:ext cx="210312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原則</a:t>
            </a:r>
            <a:endParaRPr lang="en-US" sz="1100" dirty="0"/>
          </a:p>
        </p:txBody>
      </p:sp>
      <p:sp>
        <p:nvSpPr>
          <p:cNvPr id="10" name="Shape 8"/>
          <p:cNvSpPr/>
          <p:nvPr/>
        </p:nvSpPr>
        <p:spPr>
          <a:xfrm>
            <a:off x="2587752" y="2221992"/>
            <a:ext cx="0" cy="256032"/>
          </a:xfrm>
          <a:prstGeom prst="line">
            <a:avLst/>
          </a:prstGeom>
          <a:noFill/>
          <a:ln w="12700">
            <a:solidFill>
              <a:srgbClr val="E6E6E6"/>
            </a:solidFill>
            <a:prstDash val="solid"/>
          </a:ln>
        </p:spPr>
      </p:sp>
      <p:sp>
        <p:nvSpPr>
          <p:cNvPr id="11" name="Text 9"/>
          <p:cNvSpPr txBox="1"/>
          <p:nvPr/>
        </p:nvSpPr>
        <p:spPr>
          <a:xfrm>
            <a:off x="2743200" y="2221992"/>
            <a:ext cx="896112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著作者の死後70年</a:t>
            </a:r>
            <a:endParaRPr lang="en-US" sz="1100" dirty="0"/>
          </a:p>
        </p:txBody>
      </p:sp>
      <p:sp>
        <p:nvSpPr>
          <p:cNvPr id="12" name="Text 10"/>
          <p:cNvSpPr txBox="1"/>
          <p:nvPr/>
        </p:nvSpPr>
        <p:spPr>
          <a:xfrm>
            <a:off x="502920" y="2551176"/>
            <a:ext cx="210312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無名・変名・法人名義</a:t>
            </a:r>
            <a:endParaRPr lang="en-US" sz="1100" dirty="0"/>
          </a:p>
        </p:txBody>
      </p:sp>
      <p:sp>
        <p:nvSpPr>
          <p:cNvPr id="13" name="Shape 11"/>
          <p:cNvSpPr/>
          <p:nvPr/>
        </p:nvSpPr>
        <p:spPr>
          <a:xfrm>
            <a:off x="2587752" y="2551176"/>
            <a:ext cx="0" cy="256032"/>
          </a:xfrm>
          <a:prstGeom prst="line">
            <a:avLst/>
          </a:prstGeom>
          <a:noFill/>
          <a:ln w="12700">
            <a:solidFill>
              <a:srgbClr val="E6E6E6"/>
            </a:solidFill>
            <a:prstDash val="solid"/>
          </a:ln>
        </p:spPr>
      </p:sp>
      <p:sp>
        <p:nvSpPr>
          <p:cNvPr id="14" name="Text 12"/>
          <p:cNvSpPr txBox="1"/>
          <p:nvPr/>
        </p:nvSpPr>
        <p:spPr>
          <a:xfrm>
            <a:off x="2743200" y="2551176"/>
            <a:ext cx="896112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公表後70年</a:t>
            </a:r>
            <a:endParaRPr lang="en-US" sz="1100" dirty="0"/>
          </a:p>
        </p:txBody>
      </p:sp>
      <p:sp>
        <p:nvSpPr>
          <p:cNvPr id="15" name="Text 13"/>
          <p:cNvSpPr txBox="1"/>
          <p:nvPr/>
        </p:nvSpPr>
        <p:spPr>
          <a:xfrm>
            <a:off x="502920" y="2880360"/>
            <a:ext cx="210312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映画の著作物</a:t>
            </a:r>
            <a:endParaRPr lang="en-US" sz="1100" dirty="0"/>
          </a:p>
        </p:txBody>
      </p:sp>
      <p:sp>
        <p:nvSpPr>
          <p:cNvPr id="16" name="Shape 14"/>
          <p:cNvSpPr/>
          <p:nvPr/>
        </p:nvSpPr>
        <p:spPr>
          <a:xfrm>
            <a:off x="2587752" y="2880360"/>
            <a:ext cx="0" cy="256032"/>
          </a:xfrm>
          <a:prstGeom prst="line">
            <a:avLst/>
          </a:prstGeom>
          <a:noFill/>
          <a:ln w="12700">
            <a:solidFill>
              <a:srgbClr val="E6E6E6"/>
            </a:solidFill>
            <a:prstDash val="solid"/>
          </a:ln>
        </p:spPr>
      </p:sp>
      <p:sp>
        <p:nvSpPr>
          <p:cNvPr id="17" name="Text 15"/>
          <p:cNvSpPr txBox="1"/>
          <p:nvPr/>
        </p:nvSpPr>
        <p:spPr>
          <a:xfrm>
            <a:off x="2743200" y="2880360"/>
            <a:ext cx="896112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公表後70年</a:t>
            </a:r>
            <a:endParaRPr lang="en-US" sz="1100" dirty="0"/>
          </a:p>
        </p:txBody>
      </p:sp>
      <p:sp>
        <p:nvSpPr>
          <p:cNvPr id="18" name="Text 16"/>
          <p:cNvSpPr txBox="1"/>
          <p:nvPr/>
        </p:nvSpPr>
        <p:spPr>
          <a:xfrm>
            <a:off x="502920" y="3209544"/>
            <a:ext cx="210312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権利侵害への措置</a:t>
            </a:r>
            <a:endParaRPr lang="en-US" sz="1100" dirty="0"/>
          </a:p>
        </p:txBody>
      </p:sp>
      <p:sp>
        <p:nvSpPr>
          <p:cNvPr id="19" name="Shape 17"/>
          <p:cNvSpPr/>
          <p:nvPr/>
        </p:nvSpPr>
        <p:spPr>
          <a:xfrm>
            <a:off x="2587752" y="3209544"/>
            <a:ext cx="0" cy="256032"/>
          </a:xfrm>
          <a:prstGeom prst="line">
            <a:avLst/>
          </a:prstGeom>
          <a:noFill/>
          <a:ln w="12700">
            <a:solidFill>
              <a:srgbClr val="E6E6E6"/>
            </a:solidFill>
            <a:prstDash val="solid"/>
          </a:ln>
        </p:spPr>
      </p:sp>
      <p:sp>
        <p:nvSpPr>
          <p:cNvPr id="20" name="Text 18"/>
          <p:cNvSpPr txBox="1"/>
          <p:nvPr/>
        </p:nvSpPr>
        <p:spPr>
          <a:xfrm>
            <a:off x="2743200" y="3209544"/>
            <a:ext cx="896112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差止請求・損害賠償請求・名誉回復措置の請求ができる</a:t>
            </a:r>
            <a:endParaRPr lang="en-US" sz="1100" dirty="0"/>
          </a:p>
        </p:txBody>
      </p:sp>
      <p:sp>
        <p:nvSpPr>
          <p:cNvPr id="21" name="Shape 19"/>
          <p:cNvSpPr/>
          <p:nvPr/>
        </p:nvSpPr>
        <p:spPr>
          <a:xfrm>
            <a:off x="502920" y="3611880"/>
            <a:ext cx="11201400" cy="0"/>
          </a:xfrm>
          <a:prstGeom prst="line">
            <a:avLst/>
          </a:prstGeom>
          <a:noFill/>
          <a:ln w="12700">
            <a:solidFill>
              <a:srgbClr val="E6E6E6"/>
            </a:solidFill>
            <a:prstDash val="solid"/>
          </a:ln>
        </p:spPr>
      </p:sp>
      <p:sp>
        <p:nvSpPr>
          <p:cNvPr id="22" name="Text 20"/>
          <p:cNvSpPr txBox="1"/>
          <p:nvPr/>
        </p:nvSpPr>
        <p:spPr>
          <a:xfrm>
            <a:off x="502920" y="3685032"/>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「すべて死後70年」と単純に覚えると誤る。無名・変名・法人名義・映画は公表後70年が基準。2018年改正前（死後50年時代）の過去問は当時の年数で判断。</a:t>
            </a:r>
            <a:endParaRPr lang="en-US" sz="9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関連：E-9 著作権の内容（著作者人格権・職務著作の基礎）。</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E-11 ／ 知的財産権に関する契約（移転契約、ライセンス契約）</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専用実施権は登録必須、通常実施権は登録不要</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著作権譲渡は「翻訳権等」が留保推定される点に注意。</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36192"/>
            <a:ext cx="11201400" cy="502920"/>
          </a:xfrm>
          <a:prstGeom prst="rect">
            <a:avLst/>
          </a:prstGeom>
          <a:noFill/>
          <a:ln/>
        </p:spPr>
        <p:txBody>
          <a:bodyPr wrap="square" lIns="0" tIns="0" rIns="0" bIns="0" rtlCol="0" anchor="t"/>
          <a:lstStyle/>
          <a:p>
            <a:pPr indent="0" marL="0">
              <a:lnSpc>
                <a:spcPct val="125000"/>
              </a:lnSpc>
              <a:buNone/>
            </a:pPr>
            <a:r>
              <a:rPr lang="en-US" sz="1000" dirty="0">
                <a:solidFill>
                  <a:srgbClr val="8A8A8A"/>
                </a:solidFill>
                <a:latin typeface="Yu Gothic" pitchFamily="34" charset="0"/>
                <a:ea typeface="Yu Gothic" pitchFamily="34" charset="-122"/>
                <a:cs typeface="Yu Gothic" pitchFamily="34" charset="-120"/>
              </a:rPr>
              <a:t>知的財産権は譲渡もライセンスもできるが、「著作権譲渡は一部権利が留保推定される」「実施権は登録の要否が種類で異なる」という、似て非なる2つの制度が同じ論点の中に同居している。E-6の職務発明の法定通常実施権も、この「通常実施権は登録不要」という原則の一例。</a:t>
            </a:r>
            <a:endParaRPr lang="en-US" sz="1000" dirty="0"/>
          </a:p>
        </p:txBody>
      </p:sp>
      <p:sp>
        <p:nvSpPr>
          <p:cNvPr id="9" name="Text 7"/>
          <p:cNvSpPr txBox="1"/>
          <p:nvPr/>
        </p:nvSpPr>
        <p:spPr>
          <a:xfrm>
            <a:off x="502920" y="230428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著作権譲渡契約</a:t>
            </a:r>
            <a:endParaRPr lang="en-US" sz="1500" dirty="0"/>
          </a:p>
        </p:txBody>
      </p:sp>
      <p:sp>
        <p:nvSpPr>
          <p:cNvPr id="10" name="Text 8"/>
          <p:cNvSpPr txBox="1"/>
          <p:nvPr/>
        </p:nvSpPr>
        <p:spPr>
          <a:xfrm>
            <a:off x="2423160" y="2267712"/>
            <a:ext cx="928116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「著作権を譲渡する」とのみ記載すると翻訳権・翻案権等は譲渡人に留保されたと推定される</a:t>
            </a:r>
            <a:endParaRPr lang="en-US" sz="1100" dirty="0"/>
          </a:p>
        </p:txBody>
      </p:sp>
      <p:sp>
        <p:nvSpPr>
          <p:cNvPr id="11" name="Shape 9"/>
          <p:cNvSpPr/>
          <p:nvPr/>
        </p:nvSpPr>
        <p:spPr>
          <a:xfrm>
            <a:off x="502920" y="3291840"/>
            <a:ext cx="11201400" cy="0"/>
          </a:xfrm>
          <a:prstGeom prst="line">
            <a:avLst/>
          </a:prstGeom>
          <a:noFill/>
          <a:ln w="12700">
            <a:solidFill>
              <a:srgbClr val="E6E6E6"/>
            </a:solidFill>
            <a:prstDash val="solid"/>
          </a:ln>
        </p:spPr>
      </p:sp>
      <p:sp>
        <p:nvSpPr>
          <p:cNvPr id="12" name="Text 10"/>
          <p:cNvSpPr txBox="1"/>
          <p:nvPr/>
        </p:nvSpPr>
        <p:spPr>
          <a:xfrm>
            <a:off x="502920" y="340156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専用実施権</a:t>
            </a:r>
            <a:endParaRPr lang="en-US" sz="1500" dirty="0"/>
          </a:p>
        </p:txBody>
      </p:sp>
      <p:sp>
        <p:nvSpPr>
          <p:cNvPr id="13" name="Text 11"/>
          <p:cNvSpPr txBox="1"/>
          <p:nvPr/>
        </p:nvSpPr>
        <p:spPr>
          <a:xfrm>
            <a:off x="2423160" y="3419856"/>
            <a:ext cx="201168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登録が効力発生要件</a:t>
            </a:r>
            <a:endParaRPr lang="en-US" sz="1100" dirty="0"/>
          </a:p>
        </p:txBody>
      </p:sp>
      <p:sp>
        <p:nvSpPr>
          <p:cNvPr id="14" name="Text 12"/>
          <p:cNvSpPr txBox="1"/>
          <p:nvPr/>
        </p:nvSpPr>
        <p:spPr>
          <a:xfrm>
            <a:off x="4526280" y="3364992"/>
            <a:ext cx="717804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独占的な実施権。設定範囲では特許権者自身も実施不可。自ら差止請求も可能</a:t>
            </a:r>
            <a:endParaRPr lang="en-US" sz="1100" dirty="0"/>
          </a:p>
        </p:txBody>
      </p:sp>
      <p:sp>
        <p:nvSpPr>
          <p:cNvPr id="15" name="Shape 13"/>
          <p:cNvSpPr/>
          <p:nvPr/>
        </p:nvSpPr>
        <p:spPr>
          <a:xfrm>
            <a:off x="502920" y="4389120"/>
            <a:ext cx="11201400" cy="0"/>
          </a:xfrm>
          <a:prstGeom prst="line">
            <a:avLst/>
          </a:prstGeom>
          <a:noFill/>
          <a:ln w="12700">
            <a:solidFill>
              <a:srgbClr val="E6E6E6"/>
            </a:solidFill>
            <a:prstDash val="solid"/>
          </a:ln>
        </p:spPr>
      </p:sp>
      <p:sp>
        <p:nvSpPr>
          <p:cNvPr id="16" name="Text 14"/>
          <p:cNvSpPr txBox="1"/>
          <p:nvPr/>
        </p:nvSpPr>
        <p:spPr>
          <a:xfrm>
            <a:off x="502920" y="449884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通常実施権</a:t>
            </a:r>
            <a:endParaRPr lang="en-US" sz="1500" dirty="0"/>
          </a:p>
        </p:txBody>
      </p:sp>
      <p:sp>
        <p:nvSpPr>
          <p:cNvPr id="17" name="Text 15"/>
          <p:cNvSpPr txBox="1"/>
          <p:nvPr/>
        </p:nvSpPr>
        <p:spPr>
          <a:xfrm>
            <a:off x="2423160" y="4517136"/>
            <a:ext cx="201168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登録不要</a:t>
            </a:r>
            <a:endParaRPr lang="en-US" sz="1100" dirty="0"/>
          </a:p>
        </p:txBody>
      </p:sp>
      <p:sp>
        <p:nvSpPr>
          <p:cNvPr id="18" name="Text 16"/>
          <p:cNvSpPr txBox="1"/>
          <p:nvPr/>
        </p:nvSpPr>
        <p:spPr>
          <a:xfrm>
            <a:off x="4526280" y="4462272"/>
            <a:ext cx="717804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非独占的で複数の相手に重ねて許諾可。当事者間の契約のみで効力発生</a:t>
            </a:r>
            <a:endParaRPr lang="en-US" sz="110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関連：E-6 特許権（職務発明の法定通常実施権も「登録不要」の原則に沿う）。</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E-12 ／ トレードシークレット・国際条約</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営業秘密は3要件をすべて満たして初めて保護される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秘密管理性・有用性・非公知性。1つでも欠けると保護されない。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54480"/>
            <a:ext cx="11201400" cy="41148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営業秘密は特許のように出願・登録する制度ではなく、秘密管理性・有用性・非公知性という3要件をすべて満たして初めて法的保護を受ける。国際的な知財保護の土台となるパリ条約・PCTもあわせて押さえる。</a:t>
            </a:r>
            <a:endParaRPr lang="en-US" sz="1050" dirty="0"/>
          </a:p>
        </p:txBody>
      </p:sp>
      <p:sp>
        <p:nvSpPr>
          <p:cNvPr id="9" name="Text 7"/>
          <p:cNvSpPr txBox="1"/>
          <p:nvPr/>
        </p:nvSpPr>
        <p:spPr>
          <a:xfrm>
            <a:off x="502920" y="2029968"/>
            <a:ext cx="18288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秘密管理性</a:t>
            </a:r>
            <a:endParaRPr lang="en-US" sz="1100" dirty="0"/>
          </a:p>
        </p:txBody>
      </p:sp>
      <p:sp>
        <p:nvSpPr>
          <p:cNvPr id="10" name="Shape 8"/>
          <p:cNvSpPr/>
          <p:nvPr/>
        </p:nvSpPr>
        <p:spPr>
          <a:xfrm>
            <a:off x="2313432" y="2029968"/>
            <a:ext cx="0" cy="256032"/>
          </a:xfrm>
          <a:prstGeom prst="line">
            <a:avLst/>
          </a:prstGeom>
          <a:noFill/>
          <a:ln w="12700">
            <a:solidFill>
              <a:srgbClr val="E6E6E6"/>
            </a:solidFill>
            <a:prstDash val="solid"/>
          </a:ln>
        </p:spPr>
      </p:sp>
      <p:sp>
        <p:nvSpPr>
          <p:cNvPr id="11" name="Text 9"/>
          <p:cNvSpPr txBox="1"/>
          <p:nvPr/>
        </p:nvSpPr>
        <p:spPr>
          <a:xfrm>
            <a:off x="2468880" y="2029968"/>
            <a:ext cx="923544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秘密として管理する意思が従業員等にも客観的に認識できる状態</a:t>
            </a:r>
            <a:endParaRPr lang="en-US" sz="1100" dirty="0"/>
          </a:p>
        </p:txBody>
      </p:sp>
      <p:sp>
        <p:nvSpPr>
          <p:cNvPr id="12" name="Text 10"/>
          <p:cNvSpPr txBox="1"/>
          <p:nvPr/>
        </p:nvSpPr>
        <p:spPr>
          <a:xfrm>
            <a:off x="502920" y="2359152"/>
            <a:ext cx="18288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有用性</a:t>
            </a:r>
            <a:endParaRPr lang="en-US" sz="1100" dirty="0"/>
          </a:p>
        </p:txBody>
      </p:sp>
      <p:sp>
        <p:nvSpPr>
          <p:cNvPr id="13" name="Shape 11"/>
          <p:cNvSpPr/>
          <p:nvPr/>
        </p:nvSpPr>
        <p:spPr>
          <a:xfrm>
            <a:off x="2313432" y="2359152"/>
            <a:ext cx="0" cy="256032"/>
          </a:xfrm>
          <a:prstGeom prst="line">
            <a:avLst/>
          </a:prstGeom>
          <a:noFill/>
          <a:ln w="12700">
            <a:solidFill>
              <a:srgbClr val="E6E6E6"/>
            </a:solidFill>
            <a:prstDash val="solid"/>
          </a:ln>
        </p:spPr>
      </p:sp>
      <p:sp>
        <p:nvSpPr>
          <p:cNvPr id="14" name="Text 12"/>
          <p:cNvSpPr txBox="1"/>
          <p:nvPr/>
        </p:nvSpPr>
        <p:spPr>
          <a:xfrm>
            <a:off x="2468880" y="2359152"/>
            <a:ext cx="923544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事業活動に役立つ技術上・営業上の情報であること</a:t>
            </a:r>
            <a:endParaRPr lang="en-US" sz="1100" dirty="0"/>
          </a:p>
        </p:txBody>
      </p:sp>
      <p:sp>
        <p:nvSpPr>
          <p:cNvPr id="15" name="Text 13"/>
          <p:cNvSpPr txBox="1"/>
          <p:nvPr/>
        </p:nvSpPr>
        <p:spPr>
          <a:xfrm>
            <a:off x="502920" y="2688336"/>
            <a:ext cx="18288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非公知性</a:t>
            </a:r>
            <a:endParaRPr lang="en-US" sz="1100" dirty="0"/>
          </a:p>
        </p:txBody>
      </p:sp>
      <p:sp>
        <p:nvSpPr>
          <p:cNvPr id="16" name="Shape 14"/>
          <p:cNvSpPr/>
          <p:nvPr/>
        </p:nvSpPr>
        <p:spPr>
          <a:xfrm>
            <a:off x="2313432" y="2688336"/>
            <a:ext cx="0" cy="256032"/>
          </a:xfrm>
          <a:prstGeom prst="line">
            <a:avLst/>
          </a:prstGeom>
          <a:noFill/>
          <a:ln w="12700">
            <a:solidFill>
              <a:srgbClr val="E6E6E6"/>
            </a:solidFill>
            <a:prstDash val="solid"/>
          </a:ln>
        </p:spPr>
      </p:sp>
      <p:sp>
        <p:nvSpPr>
          <p:cNvPr id="17" name="Text 15"/>
          <p:cNvSpPr txBox="1"/>
          <p:nvPr/>
        </p:nvSpPr>
        <p:spPr>
          <a:xfrm>
            <a:off x="2468880" y="2688336"/>
            <a:ext cx="923544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一般に知られておらず容易に知ることができない状態</a:t>
            </a:r>
            <a:endParaRPr lang="en-US" sz="1100" dirty="0"/>
          </a:p>
        </p:txBody>
      </p:sp>
      <p:sp>
        <p:nvSpPr>
          <p:cNvPr id="18" name="Text 16"/>
          <p:cNvSpPr txBox="1"/>
          <p:nvPr/>
        </p:nvSpPr>
        <p:spPr>
          <a:xfrm>
            <a:off x="502920" y="3017520"/>
            <a:ext cx="18288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パリ条約</a:t>
            </a:r>
            <a:endParaRPr lang="en-US" sz="1100" dirty="0"/>
          </a:p>
        </p:txBody>
      </p:sp>
      <p:sp>
        <p:nvSpPr>
          <p:cNvPr id="19" name="Shape 17"/>
          <p:cNvSpPr/>
          <p:nvPr/>
        </p:nvSpPr>
        <p:spPr>
          <a:xfrm>
            <a:off x="2313432" y="3017520"/>
            <a:ext cx="0" cy="256032"/>
          </a:xfrm>
          <a:prstGeom prst="line">
            <a:avLst/>
          </a:prstGeom>
          <a:noFill/>
          <a:ln w="12700">
            <a:solidFill>
              <a:srgbClr val="E6E6E6"/>
            </a:solidFill>
            <a:prstDash val="solid"/>
          </a:ln>
        </p:spPr>
      </p:sp>
      <p:sp>
        <p:nvSpPr>
          <p:cNvPr id="20" name="Text 18"/>
          <p:cNvSpPr txBox="1"/>
          <p:nvPr/>
        </p:nvSpPr>
        <p:spPr>
          <a:xfrm>
            <a:off x="2468880" y="3017520"/>
            <a:ext cx="923544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内国民待遇・優先権制度（特許/実用新案12か月、意匠/商標6か月）</a:t>
            </a:r>
            <a:endParaRPr lang="en-US" sz="1100" dirty="0"/>
          </a:p>
        </p:txBody>
      </p:sp>
      <p:sp>
        <p:nvSpPr>
          <p:cNvPr id="21" name="Shape 19"/>
          <p:cNvSpPr/>
          <p:nvPr/>
        </p:nvSpPr>
        <p:spPr>
          <a:xfrm>
            <a:off x="502920" y="3419856"/>
            <a:ext cx="11201400" cy="0"/>
          </a:xfrm>
          <a:prstGeom prst="line">
            <a:avLst/>
          </a:prstGeom>
          <a:noFill/>
          <a:ln w="12700">
            <a:solidFill>
              <a:srgbClr val="E6E6E6"/>
            </a:solidFill>
            <a:prstDash val="solid"/>
          </a:ln>
        </p:spPr>
      </p:sp>
      <p:sp>
        <p:nvSpPr>
          <p:cNvPr id="22" name="Text 20"/>
          <p:cNvSpPr txBox="1"/>
          <p:nvPr/>
        </p:nvSpPr>
        <p:spPr>
          <a:xfrm>
            <a:off x="502920" y="3493008"/>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「業界内で広く知れ渡っているノウハウ」は非公知性を欠き、「管理されていない社内資料」は秘密管理性を欠くため、いずれも営業秘密に該当しない。</a:t>
            </a:r>
            <a:endParaRPr lang="en-US" sz="9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関連：PCT（特許協力条約）＝1国際出願で複数加盟国に同時出願と同様の効果。</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E-13 ／ 契約に関する基礎知識（成立要件、有効要件）</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契約は口頭の合意だけでも成立する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申込みと承諾の意思表示が合致した時点で成立。書面は原則不要。</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59436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契約は書面がなくても申込みと承諾の意思表示が合致すれば成立するのが原則で、例外的に書面を要する契約類型（保証契約等）がある。定型約款は、この原則に「表示していれば合意とみなす」という民法改正の特則を加えたもの。</a:t>
            </a:r>
            <a:endParaRPr lang="en-US" sz="1050" dirty="0"/>
          </a:p>
        </p:txBody>
      </p:sp>
      <p:sp>
        <p:nvSpPr>
          <p:cNvPr id="9" name="Text 7"/>
          <p:cNvSpPr txBox="1"/>
          <p:nvPr/>
        </p:nvSpPr>
        <p:spPr>
          <a:xfrm>
            <a:off x="502920" y="2350008"/>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契約の成立</a:t>
            </a:r>
            <a:endParaRPr lang="en-US" sz="1100" dirty="0"/>
          </a:p>
        </p:txBody>
      </p:sp>
      <p:sp>
        <p:nvSpPr>
          <p:cNvPr id="10" name="Shape 8"/>
          <p:cNvSpPr/>
          <p:nvPr/>
        </p:nvSpPr>
        <p:spPr>
          <a:xfrm>
            <a:off x="2221992" y="2350008"/>
            <a:ext cx="0" cy="256032"/>
          </a:xfrm>
          <a:prstGeom prst="line">
            <a:avLst/>
          </a:prstGeom>
          <a:noFill/>
          <a:ln w="12700">
            <a:solidFill>
              <a:srgbClr val="E6E6E6"/>
            </a:solidFill>
            <a:prstDash val="solid"/>
          </a:ln>
        </p:spPr>
      </p:sp>
      <p:sp>
        <p:nvSpPr>
          <p:cNvPr id="11" name="Text 9"/>
          <p:cNvSpPr txBox="1"/>
          <p:nvPr/>
        </p:nvSpPr>
        <p:spPr>
          <a:xfrm>
            <a:off x="2377440" y="2350008"/>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「申込み」と「承諾」の意思表示が合致した時点。書面は原則不要</a:t>
            </a:r>
            <a:endParaRPr lang="en-US" sz="1100" dirty="0"/>
          </a:p>
        </p:txBody>
      </p:sp>
      <p:sp>
        <p:nvSpPr>
          <p:cNvPr id="12" name="Text 10"/>
          <p:cNvSpPr txBox="1"/>
          <p:nvPr/>
        </p:nvSpPr>
        <p:spPr>
          <a:xfrm>
            <a:off x="502920" y="2734056"/>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例外</a:t>
            </a:r>
            <a:endParaRPr lang="en-US" sz="1100" dirty="0"/>
          </a:p>
        </p:txBody>
      </p:sp>
      <p:sp>
        <p:nvSpPr>
          <p:cNvPr id="13" name="Shape 11"/>
          <p:cNvSpPr/>
          <p:nvPr/>
        </p:nvSpPr>
        <p:spPr>
          <a:xfrm>
            <a:off x="2221992" y="2734056"/>
            <a:ext cx="0" cy="256032"/>
          </a:xfrm>
          <a:prstGeom prst="line">
            <a:avLst/>
          </a:prstGeom>
          <a:noFill/>
          <a:ln w="12700">
            <a:solidFill>
              <a:srgbClr val="E6E6E6"/>
            </a:solidFill>
            <a:prstDash val="solid"/>
          </a:ln>
        </p:spPr>
      </p:sp>
      <p:sp>
        <p:nvSpPr>
          <p:cNvPr id="14" name="Text 12"/>
          <p:cNvSpPr txBox="1"/>
          <p:nvPr/>
        </p:nvSpPr>
        <p:spPr>
          <a:xfrm>
            <a:off x="2377440" y="2734056"/>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保証契約は書面（電磁的記録を含む）を要件とする</a:t>
            </a:r>
            <a:endParaRPr lang="en-US" sz="1100" dirty="0"/>
          </a:p>
        </p:txBody>
      </p:sp>
      <p:sp>
        <p:nvSpPr>
          <p:cNvPr id="15" name="Text 13"/>
          <p:cNvSpPr txBox="1"/>
          <p:nvPr/>
        </p:nvSpPr>
        <p:spPr>
          <a:xfrm>
            <a:off x="502920" y="3118104"/>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定型約款</a:t>
            </a:r>
            <a:endParaRPr lang="en-US" sz="1100" dirty="0"/>
          </a:p>
        </p:txBody>
      </p:sp>
      <p:sp>
        <p:nvSpPr>
          <p:cNvPr id="16" name="Shape 14"/>
          <p:cNvSpPr/>
          <p:nvPr/>
        </p:nvSpPr>
        <p:spPr>
          <a:xfrm>
            <a:off x="2221992" y="3118104"/>
            <a:ext cx="0" cy="256032"/>
          </a:xfrm>
          <a:prstGeom prst="line">
            <a:avLst/>
          </a:prstGeom>
          <a:noFill/>
          <a:ln w="12700">
            <a:solidFill>
              <a:srgbClr val="E6E6E6"/>
            </a:solidFill>
            <a:prstDash val="solid"/>
          </a:ln>
        </p:spPr>
      </p:sp>
      <p:sp>
        <p:nvSpPr>
          <p:cNvPr id="17" name="Text 15"/>
          <p:cNvSpPr txBox="1"/>
          <p:nvPr/>
        </p:nvSpPr>
        <p:spPr>
          <a:xfrm>
            <a:off x="2377440" y="3118104"/>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画一的な取引条件。表示していれば個別の条項未認識でも合意とみなす。不当条項は合意しなかったものとみなす</a:t>
            </a:r>
            <a:endParaRPr lang="en-US" sz="1100" dirty="0"/>
          </a:p>
        </p:txBody>
      </p:sp>
      <p:sp>
        <p:nvSpPr>
          <p:cNvPr id="18" name="Shape 16"/>
          <p:cNvSpPr/>
          <p:nvPr/>
        </p:nvSpPr>
        <p:spPr>
          <a:xfrm>
            <a:off x="502920" y="3575304"/>
            <a:ext cx="11201400" cy="0"/>
          </a:xfrm>
          <a:prstGeom prst="line">
            <a:avLst/>
          </a:prstGeom>
          <a:noFill/>
          <a:ln w="12700">
            <a:solidFill>
              <a:srgbClr val="E6E6E6"/>
            </a:solidFill>
            <a:prstDash val="solid"/>
          </a:ln>
        </p:spPr>
      </p:sp>
      <p:sp>
        <p:nvSpPr>
          <p:cNvPr id="19" name="Text 17"/>
          <p:cNvSpPr txBox="1"/>
          <p:nvPr/>
        </p:nvSpPr>
        <p:spPr>
          <a:xfrm>
            <a:off x="502920" y="3648456"/>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「契約は書面がなければ成立しない」は誤り。口頭でも成立するが、保証契約など例外的に書面が必要な契約類型もある。</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具体例：ネット通販の利用規約は定型約款に該当することが多く、個々の条項を読んでいなくても原則拘束力を持つ。</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E-14 ／ 契約の類型（秘密保持、共同開発、売買、フランチャイズ）</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システム開発契約は「請負」か「準委任」かが焦点</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上流工程は準委任、仕様確定後の開発・実装は請負が採用されやすい。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72768"/>
            <a:ext cx="11201400" cy="365760"/>
          </a:xfrm>
          <a:prstGeom prst="rect">
            <a:avLst/>
          </a:prstGeom>
          <a:noFill/>
          <a:ln/>
        </p:spPr>
        <p:txBody>
          <a:bodyPr wrap="square" lIns="0" tIns="0" rIns="0" bIns="0" rtlCol="0" anchor="t"/>
          <a:lstStyle/>
          <a:p>
            <a:pPr indent="0" marL="0">
              <a:lnSpc>
                <a:spcPct val="130000"/>
              </a:lnSpc>
              <a:buNone/>
            </a:pPr>
            <a:r>
              <a:rPr lang="en-US" sz="1050" dirty="0">
                <a:solidFill>
                  <a:srgbClr val="8A8A8A"/>
                </a:solidFill>
                <a:latin typeface="Yu Gothic" pitchFamily="34" charset="0"/>
                <a:ea typeface="Yu Gothic" pitchFamily="34" charset="-122"/>
                <a:cs typeface="Yu Gothic" pitchFamily="34" charset="-120"/>
              </a:rPr>
              <a:t>中小企業の実務でよく登場する4つの契約類型は、それぞれ何を約束し何を約束しないかが異なる。特にシステム開発契約は「請負か準委任か」で受託側が負う義務の重さが変わる点が頻出。</a:t>
            </a:r>
            <a:endParaRPr lang="en-US" sz="1050" dirty="0"/>
          </a:p>
        </p:txBody>
      </p:sp>
      <p:sp>
        <p:nvSpPr>
          <p:cNvPr id="9" name="Text 7"/>
          <p:cNvSpPr txBox="1"/>
          <p:nvPr/>
        </p:nvSpPr>
        <p:spPr>
          <a:xfrm>
            <a:off x="502920" y="2304288"/>
            <a:ext cx="20116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秘密保持契約</a:t>
            </a:r>
            <a:endParaRPr lang="en-US" sz="1500" dirty="0"/>
          </a:p>
        </p:txBody>
      </p:sp>
      <p:sp>
        <p:nvSpPr>
          <p:cNvPr id="10" name="Text 8"/>
          <p:cNvSpPr txBox="1"/>
          <p:nvPr/>
        </p:nvSpPr>
        <p:spPr>
          <a:xfrm>
            <a:off x="2606040" y="2322576"/>
            <a:ext cx="109728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NDA</a:t>
            </a:r>
            <a:endParaRPr lang="en-US" sz="1100" dirty="0"/>
          </a:p>
        </p:txBody>
      </p:sp>
      <p:sp>
        <p:nvSpPr>
          <p:cNvPr id="11" name="Text 9"/>
          <p:cNvSpPr txBox="1"/>
          <p:nvPr/>
        </p:nvSpPr>
        <p:spPr>
          <a:xfrm>
            <a:off x="3794760" y="2267712"/>
            <a:ext cx="790956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M&amp;A検討・共同開発の前段階でほぼ必ず締結。目的外使用・第三者開示を禁止</a:t>
            </a:r>
            <a:endParaRPr lang="en-US" sz="1100" dirty="0"/>
          </a:p>
        </p:txBody>
      </p:sp>
      <p:sp>
        <p:nvSpPr>
          <p:cNvPr id="12" name="Shape 10"/>
          <p:cNvSpPr/>
          <p:nvPr/>
        </p:nvSpPr>
        <p:spPr>
          <a:xfrm>
            <a:off x="502920" y="3017520"/>
            <a:ext cx="11201400" cy="0"/>
          </a:xfrm>
          <a:prstGeom prst="line">
            <a:avLst/>
          </a:prstGeom>
          <a:noFill/>
          <a:ln w="12700">
            <a:solidFill>
              <a:srgbClr val="E6E6E6"/>
            </a:solidFill>
            <a:prstDash val="solid"/>
          </a:ln>
        </p:spPr>
      </p:sp>
      <p:sp>
        <p:nvSpPr>
          <p:cNvPr id="13" name="Text 11"/>
          <p:cNvSpPr txBox="1"/>
          <p:nvPr/>
        </p:nvSpPr>
        <p:spPr>
          <a:xfrm>
            <a:off x="502920" y="3127248"/>
            <a:ext cx="20116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請負契約</a:t>
            </a:r>
            <a:endParaRPr lang="en-US" sz="1500" dirty="0"/>
          </a:p>
        </p:txBody>
      </p:sp>
      <p:sp>
        <p:nvSpPr>
          <p:cNvPr id="14" name="Text 12"/>
          <p:cNvSpPr txBox="1"/>
          <p:nvPr/>
        </p:nvSpPr>
        <p:spPr>
          <a:xfrm>
            <a:off x="2606040" y="3090672"/>
            <a:ext cx="909828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成果物の完成を約束。完成義務を負う（システム開発の仕様確定後の工程）</a:t>
            </a:r>
            <a:endParaRPr lang="en-US" sz="1100" dirty="0"/>
          </a:p>
        </p:txBody>
      </p:sp>
      <p:sp>
        <p:nvSpPr>
          <p:cNvPr id="15" name="Shape 13"/>
          <p:cNvSpPr/>
          <p:nvPr/>
        </p:nvSpPr>
        <p:spPr>
          <a:xfrm>
            <a:off x="502920" y="3840480"/>
            <a:ext cx="11201400" cy="0"/>
          </a:xfrm>
          <a:prstGeom prst="line">
            <a:avLst/>
          </a:prstGeom>
          <a:noFill/>
          <a:ln w="12700">
            <a:solidFill>
              <a:srgbClr val="E6E6E6"/>
            </a:solidFill>
            <a:prstDash val="solid"/>
          </a:ln>
        </p:spPr>
      </p:sp>
      <p:sp>
        <p:nvSpPr>
          <p:cNvPr id="16" name="Text 14"/>
          <p:cNvSpPr txBox="1"/>
          <p:nvPr/>
        </p:nvSpPr>
        <p:spPr>
          <a:xfrm>
            <a:off x="502920" y="3950208"/>
            <a:ext cx="20116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準委任契約</a:t>
            </a:r>
            <a:endParaRPr lang="en-US" sz="1500" dirty="0"/>
          </a:p>
        </p:txBody>
      </p:sp>
      <p:sp>
        <p:nvSpPr>
          <p:cNvPr id="17" name="Text 15"/>
          <p:cNvSpPr txBox="1"/>
          <p:nvPr/>
        </p:nvSpPr>
        <p:spPr>
          <a:xfrm>
            <a:off x="2606040" y="3913632"/>
            <a:ext cx="909828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業務の遂行を約束。完成義務までは負わない（要件定義等の上流工程）</a:t>
            </a:r>
            <a:endParaRPr lang="en-US" sz="1100" dirty="0"/>
          </a:p>
        </p:txBody>
      </p:sp>
      <p:sp>
        <p:nvSpPr>
          <p:cNvPr id="18" name="Shape 16"/>
          <p:cNvSpPr/>
          <p:nvPr/>
        </p:nvSpPr>
        <p:spPr>
          <a:xfrm>
            <a:off x="502920" y="4663440"/>
            <a:ext cx="11201400" cy="0"/>
          </a:xfrm>
          <a:prstGeom prst="line">
            <a:avLst/>
          </a:prstGeom>
          <a:noFill/>
          <a:ln w="12700">
            <a:solidFill>
              <a:srgbClr val="E6E6E6"/>
            </a:solidFill>
            <a:prstDash val="solid"/>
          </a:ln>
        </p:spPr>
      </p:sp>
      <p:sp>
        <p:nvSpPr>
          <p:cNvPr id="19" name="Text 17"/>
          <p:cNvSpPr txBox="1"/>
          <p:nvPr/>
        </p:nvSpPr>
        <p:spPr>
          <a:xfrm>
            <a:off x="502920" y="4773168"/>
            <a:ext cx="20116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フランチャイズ契約</a:t>
            </a:r>
            <a:endParaRPr lang="en-US" sz="1500" dirty="0"/>
          </a:p>
        </p:txBody>
      </p:sp>
      <p:sp>
        <p:nvSpPr>
          <p:cNvPr id="20" name="Text 18"/>
          <p:cNvSpPr txBox="1"/>
          <p:nvPr/>
        </p:nvSpPr>
        <p:spPr>
          <a:xfrm>
            <a:off x="2606040" y="4736592"/>
            <a:ext cx="909828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商標・ノウハウ使用の対価にロイヤリティ。独禁法（優越的地位の濫用）とも関連</a:t>
            </a:r>
            <a:endParaRPr lang="en-US" sz="110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頻出論点</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ひっかけ：「準委任契約なのに完成義務を負う」といった誤った組み合わせに注意。</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E-15 ／ 外国企業との取引・英文契約</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仲裁は非公開・一審制、訴訟は公開・審級あり</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英文契約特有の条項の趣旨を問う出題が最頻出。</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54480"/>
            <a:ext cx="11201400" cy="41148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英文契約に特有の条項は、日本国内の契約書にはあまり登場しない独特な表現が多いが、趣旨を理解すれば選択肢の正誤を判断できる。とりわけ仲裁条項は、E-16で扱う紛争解決手続の選択肢の一つでもある。</a:t>
            </a:r>
            <a:endParaRPr lang="en-US" sz="1050" dirty="0"/>
          </a:p>
        </p:txBody>
      </p:sp>
      <p:sp>
        <p:nvSpPr>
          <p:cNvPr id="9" name="Text 7"/>
          <p:cNvSpPr txBox="1"/>
          <p:nvPr/>
        </p:nvSpPr>
        <p:spPr>
          <a:xfrm>
            <a:off x="502920" y="2029968"/>
            <a:ext cx="18288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準拠法条項</a:t>
            </a:r>
            <a:endParaRPr lang="en-US" sz="1100" dirty="0"/>
          </a:p>
        </p:txBody>
      </p:sp>
      <p:sp>
        <p:nvSpPr>
          <p:cNvPr id="10" name="Shape 8"/>
          <p:cNvSpPr/>
          <p:nvPr/>
        </p:nvSpPr>
        <p:spPr>
          <a:xfrm>
            <a:off x="2313432" y="2029968"/>
            <a:ext cx="0" cy="256032"/>
          </a:xfrm>
          <a:prstGeom prst="line">
            <a:avLst/>
          </a:prstGeom>
          <a:noFill/>
          <a:ln w="12700">
            <a:solidFill>
              <a:srgbClr val="E6E6E6"/>
            </a:solidFill>
            <a:prstDash val="solid"/>
          </a:ln>
        </p:spPr>
      </p:sp>
      <p:sp>
        <p:nvSpPr>
          <p:cNvPr id="11" name="Text 9"/>
          <p:cNvSpPr txBox="1"/>
          <p:nvPr/>
        </p:nvSpPr>
        <p:spPr>
          <a:xfrm>
            <a:off x="2468880" y="2029968"/>
            <a:ext cx="923544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契約の解釈・履行にどの国の法律を適用するか</a:t>
            </a:r>
            <a:endParaRPr lang="en-US" sz="1100" dirty="0"/>
          </a:p>
        </p:txBody>
      </p:sp>
      <p:sp>
        <p:nvSpPr>
          <p:cNvPr id="12" name="Text 10"/>
          <p:cNvSpPr txBox="1"/>
          <p:nvPr/>
        </p:nvSpPr>
        <p:spPr>
          <a:xfrm>
            <a:off x="502920" y="2359152"/>
            <a:ext cx="18288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仲裁条項</a:t>
            </a:r>
            <a:endParaRPr lang="en-US" sz="1100" dirty="0"/>
          </a:p>
        </p:txBody>
      </p:sp>
      <p:sp>
        <p:nvSpPr>
          <p:cNvPr id="13" name="Shape 11"/>
          <p:cNvSpPr/>
          <p:nvPr/>
        </p:nvSpPr>
        <p:spPr>
          <a:xfrm>
            <a:off x="2313432" y="2359152"/>
            <a:ext cx="0" cy="256032"/>
          </a:xfrm>
          <a:prstGeom prst="line">
            <a:avLst/>
          </a:prstGeom>
          <a:noFill/>
          <a:ln w="12700">
            <a:solidFill>
              <a:srgbClr val="E6E6E6"/>
            </a:solidFill>
            <a:prstDash val="solid"/>
          </a:ln>
        </p:spPr>
      </p:sp>
      <p:sp>
        <p:nvSpPr>
          <p:cNvPr id="14" name="Text 12"/>
          <p:cNvSpPr txBox="1"/>
          <p:nvPr/>
        </p:nvSpPr>
        <p:spPr>
          <a:xfrm>
            <a:off x="2468880" y="2359152"/>
            <a:ext cx="923544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非公開・原則一審制。仲裁判断は確定判決と同様の効力</a:t>
            </a:r>
            <a:endParaRPr lang="en-US" sz="1100" dirty="0"/>
          </a:p>
        </p:txBody>
      </p:sp>
      <p:sp>
        <p:nvSpPr>
          <p:cNvPr id="15" name="Text 13"/>
          <p:cNvSpPr txBox="1"/>
          <p:nvPr/>
        </p:nvSpPr>
        <p:spPr>
          <a:xfrm>
            <a:off x="502920" y="2688336"/>
            <a:ext cx="18288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完全合意条項</a:t>
            </a:r>
            <a:endParaRPr lang="en-US" sz="1100" dirty="0"/>
          </a:p>
        </p:txBody>
      </p:sp>
      <p:sp>
        <p:nvSpPr>
          <p:cNvPr id="16" name="Shape 14"/>
          <p:cNvSpPr/>
          <p:nvPr/>
        </p:nvSpPr>
        <p:spPr>
          <a:xfrm>
            <a:off x="2313432" y="2688336"/>
            <a:ext cx="0" cy="256032"/>
          </a:xfrm>
          <a:prstGeom prst="line">
            <a:avLst/>
          </a:prstGeom>
          <a:noFill/>
          <a:ln w="12700">
            <a:solidFill>
              <a:srgbClr val="E6E6E6"/>
            </a:solidFill>
            <a:prstDash val="solid"/>
          </a:ln>
        </p:spPr>
      </p:sp>
      <p:sp>
        <p:nvSpPr>
          <p:cNvPr id="17" name="Text 15"/>
          <p:cNvSpPr txBox="1"/>
          <p:nvPr/>
        </p:nvSpPr>
        <p:spPr>
          <a:xfrm>
            <a:off x="2468880" y="2688336"/>
            <a:ext cx="923544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契約書の内容が完全な合意。それ以前の合意は効力を失う</a:t>
            </a:r>
            <a:endParaRPr lang="en-US" sz="1100" dirty="0"/>
          </a:p>
        </p:txBody>
      </p:sp>
      <p:sp>
        <p:nvSpPr>
          <p:cNvPr id="18" name="Text 16"/>
          <p:cNvSpPr txBox="1"/>
          <p:nvPr/>
        </p:nvSpPr>
        <p:spPr>
          <a:xfrm>
            <a:off x="502920" y="3017520"/>
            <a:ext cx="182880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不可抗力条項</a:t>
            </a:r>
            <a:endParaRPr lang="en-US" sz="1100" dirty="0"/>
          </a:p>
        </p:txBody>
      </p:sp>
      <p:sp>
        <p:nvSpPr>
          <p:cNvPr id="19" name="Shape 17"/>
          <p:cNvSpPr/>
          <p:nvPr/>
        </p:nvSpPr>
        <p:spPr>
          <a:xfrm>
            <a:off x="2313432" y="3017520"/>
            <a:ext cx="0" cy="256032"/>
          </a:xfrm>
          <a:prstGeom prst="line">
            <a:avLst/>
          </a:prstGeom>
          <a:noFill/>
          <a:ln w="12700">
            <a:solidFill>
              <a:srgbClr val="E6E6E6"/>
            </a:solidFill>
            <a:prstDash val="solid"/>
          </a:ln>
        </p:spPr>
      </p:sp>
      <p:sp>
        <p:nvSpPr>
          <p:cNvPr id="20" name="Text 18"/>
          <p:cNvSpPr txBox="1"/>
          <p:nvPr/>
        </p:nvSpPr>
        <p:spPr>
          <a:xfrm>
            <a:off x="2468880" y="3017520"/>
            <a:ext cx="923544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天災地変等、当事者の責によらない事由での免責</a:t>
            </a:r>
            <a:endParaRPr lang="en-US" sz="1100" dirty="0"/>
          </a:p>
        </p:txBody>
      </p:sp>
      <p:sp>
        <p:nvSpPr>
          <p:cNvPr id="21" name="Shape 19"/>
          <p:cNvSpPr/>
          <p:nvPr/>
        </p:nvSpPr>
        <p:spPr>
          <a:xfrm>
            <a:off x="502920" y="3419856"/>
            <a:ext cx="11201400" cy="0"/>
          </a:xfrm>
          <a:prstGeom prst="line">
            <a:avLst/>
          </a:prstGeom>
          <a:noFill/>
          <a:ln w="12700">
            <a:solidFill>
              <a:srgbClr val="E6E6E6"/>
            </a:solidFill>
            <a:prstDash val="solid"/>
          </a:ln>
        </p:spPr>
      </p:sp>
      <p:sp>
        <p:nvSpPr>
          <p:cNvPr id="22" name="Text 20"/>
          <p:cNvSpPr txBox="1"/>
          <p:nvPr/>
        </p:nvSpPr>
        <p:spPr>
          <a:xfrm>
            <a:off x="502920" y="3493008"/>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仲裁＝非公開・一審制、訴訟＝原則公開・控訴上告ありという対比を押さえておくこと。</a:t>
            </a:r>
            <a:endParaRPr lang="en-US" sz="9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関連：E-16 紛争解決方法（仲裁・訴訟・調停の比較）。</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E-16 ／ 紛争解決方法（訴訟、仲裁、調停）</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少額訴訟は60万円以下、即日判決が原則</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「公開・非公開」「審級の有無」「合意か判断か」で4手続を整理する。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72768"/>
            <a:ext cx="11201400" cy="365760"/>
          </a:xfrm>
          <a:prstGeom prst="rect">
            <a:avLst/>
          </a:prstGeom>
          <a:noFill/>
          <a:ln/>
        </p:spPr>
        <p:txBody>
          <a:bodyPr wrap="square" lIns="0" tIns="0" rIns="0" bIns="0" rtlCol="0" anchor="t"/>
          <a:lstStyle/>
          <a:p>
            <a:pPr indent="0" marL="0">
              <a:lnSpc>
                <a:spcPct val="130000"/>
              </a:lnSpc>
              <a:buNone/>
            </a:pPr>
            <a:r>
              <a:rPr lang="en-US" sz="1050" dirty="0">
                <a:solidFill>
                  <a:srgbClr val="8A8A8A"/>
                </a:solidFill>
                <a:latin typeface="Yu Gothic" pitchFamily="34" charset="0"/>
                <a:ea typeface="Yu Gothic" pitchFamily="34" charset="-122"/>
                <a:cs typeface="Yu Gothic" pitchFamily="34" charset="-120"/>
              </a:rPr>
              <a:t>紛争解決の4手続は「公開か非公開か」「審級があるか」「合意による解決か判断による解決か」という3つの軸の組み合わせで整理できる。少額訴訟は訴訟の中でも簡易・迅速な特別ルールという位置づけ。</a:t>
            </a:r>
            <a:endParaRPr lang="en-US" sz="1050" dirty="0"/>
          </a:p>
        </p:txBody>
      </p:sp>
      <p:sp>
        <p:nvSpPr>
          <p:cNvPr id="9" name="Text 7"/>
          <p:cNvSpPr txBox="1"/>
          <p:nvPr/>
        </p:nvSpPr>
        <p:spPr>
          <a:xfrm>
            <a:off x="502920" y="2304288"/>
            <a:ext cx="15544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訴訟</a:t>
            </a:r>
            <a:endParaRPr lang="en-US" sz="1500" dirty="0"/>
          </a:p>
        </p:txBody>
      </p:sp>
      <p:sp>
        <p:nvSpPr>
          <p:cNvPr id="10" name="Text 8"/>
          <p:cNvSpPr txBox="1"/>
          <p:nvPr/>
        </p:nvSpPr>
        <p:spPr>
          <a:xfrm>
            <a:off x="2148840" y="2267712"/>
            <a:ext cx="955548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裁判所が判決で強制的に解決。原則公開、控訴・上告の審級制度あり</a:t>
            </a:r>
            <a:endParaRPr lang="en-US" sz="1100" dirty="0"/>
          </a:p>
        </p:txBody>
      </p:sp>
      <p:sp>
        <p:nvSpPr>
          <p:cNvPr id="11" name="Shape 9"/>
          <p:cNvSpPr/>
          <p:nvPr/>
        </p:nvSpPr>
        <p:spPr>
          <a:xfrm>
            <a:off x="502920" y="3017520"/>
            <a:ext cx="11201400" cy="0"/>
          </a:xfrm>
          <a:prstGeom prst="line">
            <a:avLst/>
          </a:prstGeom>
          <a:noFill/>
          <a:ln w="12700">
            <a:solidFill>
              <a:srgbClr val="E6E6E6"/>
            </a:solidFill>
            <a:prstDash val="solid"/>
          </a:ln>
        </p:spPr>
      </p:sp>
      <p:sp>
        <p:nvSpPr>
          <p:cNvPr id="12" name="Text 10"/>
          <p:cNvSpPr txBox="1"/>
          <p:nvPr/>
        </p:nvSpPr>
        <p:spPr>
          <a:xfrm>
            <a:off x="502920" y="3127248"/>
            <a:ext cx="15544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少額訴訟</a:t>
            </a:r>
            <a:endParaRPr lang="en-US" sz="1500" dirty="0"/>
          </a:p>
        </p:txBody>
      </p:sp>
      <p:sp>
        <p:nvSpPr>
          <p:cNvPr id="13" name="Text 11"/>
          <p:cNvSpPr txBox="1"/>
          <p:nvPr/>
        </p:nvSpPr>
        <p:spPr>
          <a:xfrm>
            <a:off x="2148840" y="314553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60万円以下</a:t>
            </a:r>
            <a:endParaRPr lang="en-US" sz="1100" dirty="0"/>
          </a:p>
        </p:txBody>
      </p:sp>
      <p:sp>
        <p:nvSpPr>
          <p:cNvPr id="14" name="Text 12"/>
          <p:cNvSpPr txBox="1"/>
          <p:nvPr/>
        </p:nvSpPr>
        <p:spPr>
          <a:xfrm>
            <a:off x="3703320" y="3090672"/>
            <a:ext cx="80010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簡易裁判所。原則1回の期日で審理、即日判決。同一裁判所で年10回まで</a:t>
            </a:r>
            <a:endParaRPr lang="en-US" sz="1100" dirty="0"/>
          </a:p>
        </p:txBody>
      </p:sp>
      <p:sp>
        <p:nvSpPr>
          <p:cNvPr id="15" name="Shape 13"/>
          <p:cNvSpPr/>
          <p:nvPr/>
        </p:nvSpPr>
        <p:spPr>
          <a:xfrm>
            <a:off x="502920" y="3840480"/>
            <a:ext cx="11201400" cy="0"/>
          </a:xfrm>
          <a:prstGeom prst="line">
            <a:avLst/>
          </a:prstGeom>
          <a:noFill/>
          <a:ln w="12700">
            <a:solidFill>
              <a:srgbClr val="E6E6E6"/>
            </a:solidFill>
            <a:prstDash val="solid"/>
          </a:ln>
        </p:spPr>
      </p:sp>
      <p:sp>
        <p:nvSpPr>
          <p:cNvPr id="16" name="Text 14"/>
          <p:cNvSpPr txBox="1"/>
          <p:nvPr/>
        </p:nvSpPr>
        <p:spPr>
          <a:xfrm>
            <a:off x="502920" y="3950208"/>
            <a:ext cx="15544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民事調停</a:t>
            </a:r>
            <a:endParaRPr lang="en-US" sz="1500" dirty="0"/>
          </a:p>
        </p:txBody>
      </p:sp>
      <p:sp>
        <p:nvSpPr>
          <p:cNvPr id="17" name="Text 15"/>
          <p:cNvSpPr txBox="1"/>
          <p:nvPr/>
        </p:nvSpPr>
        <p:spPr>
          <a:xfrm>
            <a:off x="2148840" y="3913632"/>
            <a:ext cx="955548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話し合いによる合意で解決。調停調書は確定判決と同様の効力</a:t>
            </a:r>
            <a:endParaRPr lang="en-US" sz="1100" dirty="0"/>
          </a:p>
        </p:txBody>
      </p:sp>
      <p:sp>
        <p:nvSpPr>
          <p:cNvPr id="18" name="Shape 16"/>
          <p:cNvSpPr/>
          <p:nvPr/>
        </p:nvSpPr>
        <p:spPr>
          <a:xfrm>
            <a:off x="502920" y="4663440"/>
            <a:ext cx="11201400" cy="0"/>
          </a:xfrm>
          <a:prstGeom prst="line">
            <a:avLst/>
          </a:prstGeom>
          <a:noFill/>
          <a:ln w="12700">
            <a:solidFill>
              <a:srgbClr val="E6E6E6"/>
            </a:solidFill>
            <a:prstDash val="solid"/>
          </a:ln>
        </p:spPr>
      </p:sp>
      <p:sp>
        <p:nvSpPr>
          <p:cNvPr id="19" name="Text 17"/>
          <p:cNvSpPr txBox="1"/>
          <p:nvPr/>
        </p:nvSpPr>
        <p:spPr>
          <a:xfrm>
            <a:off x="502920" y="4773168"/>
            <a:ext cx="15544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仲裁</a:t>
            </a:r>
            <a:endParaRPr lang="en-US" sz="1500" dirty="0"/>
          </a:p>
        </p:txBody>
      </p:sp>
      <p:sp>
        <p:nvSpPr>
          <p:cNvPr id="20" name="Text 18"/>
          <p:cNvSpPr txBox="1"/>
          <p:nvPr/>
        </p:nvSpPr>
        <p:spPr>
          <a:xfrm>
            <a:off x="2148840" y="4736592"/>
            <a:ext cx="955548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仲裁人の判断で解決するADR。非公開・原則一審制</a:t>
            </a:r>
            <a:endParaRPr lang="en-US" sz="1100" dirty="0"/>
          </a:p>
        </p:txBody>
      </p:sp>
      <p:sp>
        <p:nvSpPr>
          <p:cNvPr id="21" name="Shape 19"/>
          <p:cNvSpPr/>
          <p:nvPr/>
        </p:nvSpPr>
        <p:spPr>
          <a:xfrm>
            <a:off x="502920" y="5989320"/>
            <a:ext cx="11201400" cy="0"/>
          </a:xfrm>
          <a:prstGeom prst="line">
            <a:avLst/>
          </a:prstGeom>
          <a:noFill/>
          <a:ln w="9525">
            <a:solidFill>
              <a:srgbClr val="171717"/>
            </a:solidFill>
            <a:prstDash val="solid"/>
          </a:ln>
        </p:spPr>
      </p:sp>
      <p:sp>
        <p:nvSpPr>
          <p:cNvPr id="22" name="Shape 20"/>
          <p:cNvSpPr/>
          <p:nvPr/>
        </p:nvSpPr>
        <p:spPr>
          <a:xfrm>
            <a:off x="502920" y="6062472"/>
            <a:ext cx="329184" cy="329184"/>
          </a:xfrm>
          <a:prstGeom prst="ellipse">
            <a:avLst/>
          </a:prstGeom>
          <a:solidFill>
            <a:srgbClr val="FF3B1F"/>
          </a:solidFill>
          <a:ln/>
        </p:spPr>
      </p:sp>
      <p:sp>
        <p:nvSpPr>
          <p:cNvPr id="23" name="Text 2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24" name="Text 2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出題実績あり</a:t>
            </a:r>
            <a:endParaRPr lang="en-US" sz="1050" dirty="0"/>
          </a:p>
        </p:txBody>
      </p:sp>
      <p:sp>
        <p:nvSpPr>
          <p:cNvPr id="25" name="Shape 23"/>
          <p:cNvSpPr/>
          <p:nvPr/>
        </p:nvSpPr>
        <p:spPr>
          <a:xfrm>
            <a:off x="2331720" y="6062472"/>
            <a:ext cx="0" cy="329184"/>
          </a:xfrm>
          <a:prstGeom prst="line">
            <a:avLst/>
          </a:prstGeom>
          <a:noFill/>
          <a:ln w="12700">
            <a:solidFill>
              <a:srgbClr val="E6E6E6"/>
            </a:solidFill>
            <a:prstDash val="solid"/>
          </a:ln>
        </p:spPr>
      </p:sp>
      <p:sp>
        <p:nvSpPr>
          <p:cNvPr id="26" name="Text 2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ひっかけ：少額訴訟の対象額「60万円以下」を正確に覚える。仲裁・調停・訴訟の性質の違いに注意。</a:t>
            </a:r>
            <a:endParaRPr lang="en-US" sz="1000" dirty="0"/>
          </a:p>
        </p:txBody>
      </p:sp>
      <p:sp>
        <p:nvSpPr>
          <p:cNvPr id="27" name="Text 2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8" name="Shape 26"/>
          <p:cNvSpPr/>
          <p:nvPr/>
        </p:nvSpPr>
        <p:spPr>
          <a:xfrm>
            <a:off x="2466594"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0" name="Shape 28"/>
          <p:cNvSpPr/>
          <p:nvPr/>
        </p:nvSpPr>
        <p:spPr>
          <a:xfrm>
            <a:off x="3431286"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2" name="Shape 30"/>
          <p:cNvSpPr/>
          <p:nvPr/>
        </p:nvSpPr>
        <p:spPr>
          <a:xfrm>
            <a:off x="4395978"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4" name="Shape 32"/>
          <p:cNvSpPr/>
          <p:nvPr/>
        </p:nvSpPr>
        <p:spPr>
          <a:xfrm>
            <a:off x="5360670"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6" name="Shape 34"/>
          <p:cNvSpPr/>
          <p:nvPr/>
        </p:nvSpPr>
        <p:spPr>
          <a:xfrm>
            <a:off x="6325362"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8" name="Shape 36"/>
          <p:cNvSpPr/>
          <p:nvPr/>
        </p:nvSpPr>
        <p:spPr>
          <a:xfrm>
            <a:off x="7290054"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0" name="Shape 38"/>
          <p:cNvSpPr/>
          <p:nvPr/>
        </p:nvSpPr>
        <p:spPr>
          <a:xfrm>
            <a:off x="8254746"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2" name="Shape 40"/>
          <p:cNvSpPr/>
          <p:nvPr/>
        </p:nvSpPr>
        <p:spPr>
          <a:xfrm>
            <a:off x="9219438"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4" name="Shape 42"/>
          <p:cNvSpPr/>
          <p:nvPr/>
        </p:nvSpPr>
        <p:spPr>
          <a:xfrm>
            <a:off x="10184130"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6" name="Shape 44"/>
          <p:cNvSpPr/>
          <p:nvPr/>
        </p:nvSpPr>
        <p:spPr>
          <a:xfrm>
            <a:off x="1114882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E-17 ／ 民法（物権、債権、相続）</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兄弟姉妹には遺留分が認められない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経営法務で最頻出の分野。消滅時効・保証・契約不適合責任・共有・遺留分。</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36192"/>
            <a:ext cx="11201400" cy="411480"/>
          </a:xfrm>
          <a:prstGeom prst="rect">
            <a:avLst/>
          </a:prstGeom>
          <a:noFill/>
          <a:ln/>
        </p:spPr>
        <p:txBody>
          <a:bodyPr wrap="square" lIns="0" tIns="0" rIns="0" bIns="0" rtlCol="0" anchor="ctr"/>
          <a:lstStyle/>
          <a:p>
            <a:pPr indent="0" marL="0">
              <a:lnSpc>
                <a:spcPct val="125000"/>
              </a:lnSpc>
              <a:buNone/>
            </a:pPr>
            <a:r>
              <a:rPr lang="en-US" sz="1000" dirty="0">
                <a:solidFill>
                  <a:srgbClr val="8A8A8A"/>
                </a:solidFill>
                <a:latin typeface="Yu Gothic" pitchFamily="34" charset="0"/>
                <a:ea typeface="Yu Gothic" pitchFamily="34" charset="-122"/>
                <a:cs typeface="Yu Gothic" pitchFamily="34" charset="-120"/>
              </a:rPr>
              <a:t>消滅時効・保証・契約不適合責任・共有・遺留分は一見バラバラの制度に見えるが、いずれも2020年施行の民法改正で規律が整理された分野であり、経営法務で最頻出。特に遺留分はE-23の事業承継特例の前提知識になる。</a:t>
            </a:r>
            <a:endParaRPr lang="en-US" sz="1000" dirty="0"/>
          </a:p>
        </p:txBody>
      </p:sp>
      <p:sp>
        <p:nvSpPr>
          <p:cNvPr id="9" name="Text 7"/>
          <p:cNvSpPr txBox="1"/>
          <p:nvPr/>
        </p:nvSpPr>
        <p:spPr>
          <a:xfrm>
            <a:off x="502920" y="2011680"/>
            <a:ext cx="173736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消滅時効</a:t>
            </a:r>
            <a:endParaRPr lang="en-US" sz="1050" dirty="0"/>
          </a:p>
        </p:txBody>
      </p:sp>
      <p:sp>
        <p:nvSpPr>
          <p:cNvPr id="10" name="Shape 8"/>
          <p:cNvSpPr/>
          <p:nvPr/>
        </p:nvSpPr>
        <p:spPr>
          <a:xfrm>
            <a:off x="2221992" y="2011680"/>
            <a:ext cx="0" cy="256032"/>
          </a:xfrm>
          <a:prstGeom prst="line">
            <a:avLst/>
          </a:prstGeom>
          <a:noFill/>
          <a:ln w="12700">
            <a:solidFill>
              <a:srgbClr val="E6E6E6"/>
            </a:solidFill>
            <a:prstDash val="solid"/>
          </a:ln>
        </p:spPr>
      </p:sp>
      <p:sp>
        <p:nvSpPr>
          <p:cNvPr id="11" name="Text 9"/>
          <p:cNvSpPr txBox="1"/>
          <p:nvPr/>
        </p:nvSpPr>
        <p:spPr>
          <a:xfrm>
            <a:off x="2377440" y="2011680"/>
            <a:ext cx="932688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主観的起算点から5年、客観的起算点から10年のいずれか早い方</a:t>
            </a:r>
            <a:endParaRPr lang="en-US" sz="1050" dirty="0"/>
          </a:p>
        </p:txBody>
      </p:sp>
      <p:sp>
        <p:nvSpPr>
          <p:cNvPr id="12" name="Text 10"/>
          <p:cNvSpPr txBox="1"/>
          <p:nvPr/>
        </p:nvSpPr>
        <p:spPr>
          <a:xfrm>
            <a:off x="502920" y="2340864"/>
            <a:ext cx="173736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個人根保証</a:t>
            </a:r>
            <a:endParaRPr lang="en-US" sz="1050" dirty="0"/>
          </a:p>
        </p:txBody>
      </p:sp>
      <p:sp>
        <p:nvSpPr>
          <p:cNvPr id="13" name="Shape 11"/>
          <p:cNvSpPr/>
          <p:nvPr/>
        </p:nvSpPr>
        <p:spPr>
          <a:xfrm>
            <a:off x="2221992" y="2340864"/>
            <a:ext cx="0" cy="256032"/>
          </a:xfrm>
          <a:prstGeom prst="line">
            <a:avLst/>
          </a:prstGeom>
          <a:noFill/>
          <a:ln w="12700">
            <a:solidFill>
              <a:srgbClr val="E6E6E6"/>
            </a:solidFill>
            <a:prstDash val="solid"/>
          </a:ln>
        </p:spPr>
      </p:sp>
      <p:sp>
        <p:nvSpPr>
          <p:cNvPr id="14" name="Text 12"/>
          <p:cNvSpPr txBox="1"/>
          <p:nvPr/>
        </p:nvSpPr>
        <p:spPr>
          <a:xfrm>
            <a:off x="2377440" y="2340864"/>
            <a:ext cx="932688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極度額を書面で定めないと無効。事業性融資は公正証書による保証意思確認が原則必要</a:t>
            </a:r>
            <a:endParaRPr lang="en-US" sz="1050" dirty="0"/>
          </a:p>
        </p:txBody>
      </p:sp>
      <p:sp>
        <p:nvSpPr>
          <p:cNvPr id="15" name="Text 13"/>
          <p:cNvSpPr txBox="1"/>
          <p:nvPr/>
        </p:nvSpPr>
        <p:spPr>
          <a:xfrm>
            <a:off x="502920" y="2670048"/>
            <a:ext cx="173736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共有</a:t>
            </a:r>
            <a:endParaRPr lang="en-US" sz="1050" dirty="0"/>
          </a:p>
        </p:txBody>
      </p:sp>
      <p:sp>
        <p:nvSpPr>
          <p:cNvPr id="16" name="Shape 14"/>
          <p:cNvSpPr/>
          <p:nvPr/>
        </p:nvSpPr>
        <p:spPr>
          <a:xfrm>
            <a:off x="2221992" y="2670048"/>
            <a:ext cx="0" cy="256032"/>
          </a:xfrm>
          <a:prstGeom prst="line">
            <a:avLst/>
          </a:prstGeom>
          <a:noFill/>
          <a:ln w="12700">
            <a:solidFill>
              <a:srgbClr val="E6E6E6"/>
            </a:solidFill>
            <a:prstDash val="solid"/>
          </a:ln>
        </p:spPr>
      </p:sp>
      <p:sp>
        <p:nvSpPr>
          <p:cNvPr id="17" name="Text 15"/>
          <p:cNvSpPr txBox="1"/>
          <p:nvPr/>
        </p:nvSpPr>
        <p:spPr>
          <a:xfrm>
            <a:off x="2377440" y="2670048"/>
            <a:ext cx="932688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保存行為＝単独可／管理行為＝持分の過半数／変更行為＝全員の同意</a:t>
            </a:r>
            <a:endParaRPr lang="en-US" sz="1050" dirty="0"/>
          </a:p>
        </p:txBody>
      </p:sp>
      <p:sp>
        <p:nvSpPr>
          <p:cNvPr id="18" name="Text 16"/>
          <p:cNvSpPr txBox="1"/>
          <p:nvPr/>
        </p:nvSpPr>
        <p:spPr>
          <a:xfrm>
            <a:off x="502920" y="2999232"/>
            <a:ext cx="173736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遺留分</a:t>
            </a:r>
            <a:endParaRPr lang="en-US" sz="1050" dirty="0"/>
          </a:p>
        </p:txBody>
      </p:sp>
      <p:sp>
        <p:nvSpPr>
          <p:cNvPr id="19" name="Shape 17"/>
          <p:cNvSpPr/>
          <p:nvPr/>
        </p:nvSpPr>
        <p:spPr>
          <a:xfrm>
            <a:off x="2221992" y="2999232"/>
            <a:ext cx="0" cy="256032"/>
          </a:xfrm>
          <a:prstGeom prst="line">
            <a:avLst/>
          </a:prstGeom>
          <a:noFill/>
          <a:ln w="12700">
            <a:solidFill>
              <a:srgbClr val="E6E6E6"/>
            </a:solidFill>
            <a:prstDash val="solid"/>
          </a:ln>
        </p:spPr>
      </p:sp>
      <p:sp>
        <p:nvSpPr>
          <p:cNvPr id="20" name="Text 18"/>
          <p:cNvSpPr txBox="1"/>
          <p:nvPr/>
        </p:nvSpPr>
        <p:spPr>
          <a:xfrm>
            <a:off x="2377440" y="2999232"/>
            <a:ext cx="932688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配偶者・子・直系尊属に認められる。兄弟姉妹には認められない</a:t>
            </a:r>
            <a:endParaRPr lang="en-US" sz="1050" dirty="0"/>
          </a:p>
        </p:txBody>
      </p:sp>
      <p:sp>
        <p:nvSpPr>
          <p:cNvPr id="21" name="Shape 19"/>
          <p:cNvSpPr/>
          <p:nvPr/>
        </p:nvSpPr>
        <p:spPr>
          <a:xfrm>
            <a:off x="502920" y="3401568"/>
            <a:ext cx="11201400" cy="0"/>
          </a:xfrm>
          <a:prstGeom prst="line">
            <a:avLst/>
          </a:prstGeom>
          <a:noFill/>
          <a:ln w="12700">
            <a:solidFill>
              <a:srgbClr val="E6E6E6"/>
            </a:solidFill>
            <a:prstDash val="solid"/>
          </a:ln>
        </p:spPr>
      </p:sp>
      <p:sp>
        <p:nvSpPr>
          <p:cNvPr id="22" name="Text 20"/>
          <p:cNvSpPr txBox="1"/>
          <p:nvPr/>
        </p:nvSpPr>
        <p:spPr>
          <a:xfrm>
            <a:off x="502920" y="347472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遺留分侵害額請求権の時効は「相続開始を知った時から1年」（相続開始の時からではない）。相続開始前の放棄のみ家庭裁判所の許可が必要。</a:t>
            </a:r>
            <a:endParaRPr lang="en-US" sz="9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関連：E-23 事業承継（遺留分に関する民法特例＝除外合意・固定合意）。</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E-17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第22問）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4572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遺留分に関する記述として、最も適切なものはどれか。</a:t>
            </a:r>
            <a:endParaRPr lang="en-US" sz="1250" dirty="0"/>
          </a:p>
        </p:txBody>
      </p:sp>
      <p:sp>
        <p:nvSpPr>
          <p:cNvPr id="9" name="Text 7"/>
          <p:cNvSpPr txBox="1"/>
          <p:nvPr/>
        </p:nvSpPr>
        <p:spPr>
          <a:xfrm>
            <a:off x="731520" y="224028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遺留分侵害額請求権は、裁判外で行使することも可能である。</a:t>
            </a:r>
            <a:endParaRPr lang="en-US" sz="1150" dirty="0"/>
          </a:p>
        </p:txBody>
      </p:sp>
      <p:sp>
        <p:nvSpPr>
          <p:cNvPr id="10" name="Text 8"/>
          <p:cNvSpPr txBox="1"/>
          <p:nvPr/>
        </p:nvSpPr>
        <p:spPr>
          <a:xfrm>
            <a:off x="731520" y="269748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遺留分侵害額請求権は、相続開始の時から1年以内に行使しなければ、時効によって消滅する。</a:t>
            </a:r>
            <a:endParaRPr lang="en-US" sz="1150" dirty="0"/>
          </a:p>
        </p:txBody>
      </p:sp>
      <p:sp>
        <p:nvSpPr>
          <p:cNvPr id="11" name="Text 9"/>
          <p:cNvSpPr txBox="1"/>
          <p:nvPr/>
        </p:nvSpPr>
        <p:spPr>
          <a:xfrm>
            <a:off x="731520" y="320040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相続の開始後における遺留分の放棄は、家庭裁判所の許可を受けたときに限り、その効力を生ずる。</a:t>
            </a:r>
            <a:endParaRPr lang="en-US" sz="1150" dirty="0"/>
          </a:p>
        </p:txBody>
      </p:sp>
      <p:sp>
        <p:nvSpPr>
          <p:cNvPr id="12" name="Text 10"/>
          <p:cNvSpPr txBox="1"/>
          <p:nvPr/>
        </p:nvSpPr>
        <p:spPr>
          <a:xfrm>
            <a:off x="731520" y="370332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被相続人の兄弟姉妹は、被相続人の相続について遺留分を有する。</a:t>
            </a:r>
            <a:endParaRPr lang="en-US" sz="1150" dirty="0"/>
          </a:p>
        </p:txBody>
      </p:sp>
      <p:sp>
        <p:nvSpPr>
          <p:cNvPr id="13" name="Text 11"/>
          <p:cNvSpPr txBox="1"/>
          <p:nvPr/>
        </p:nvSpPr>
        <p:spPr>
          <a:xfrm>
            <a:off x="502920" y="429768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出典：past_exams/1st_stage/1ji2025/E1JI2025.pdf（令和7年度第1次試験）第22問</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E-17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第22問）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正解はア。遺留分侵害額請求権は裁判外の意思表示でも行使できる。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457200"/>
          </a:xfrm>
          <a:prstGeom prst="rect">
            <a:avLst/>
          </a:prstGeom>
          <a:solidFill>
            <a:srgbClr val="F4F4F4"/>
          </a:solidFill>
          <a:ln/>
        </p:spPr>
      </p:sp>
      <p:sp>
        <p:nvSpPr>
          <p:cNvPr id="9" name="Shape 7"/>
          <p:cNvSpPr/>
          <p:nvPr/>
        </p:nvSpPr>
        <p:spPr>
          <a:xfrm>
            <a:off x="502920" y="1709928"/>
            <a:ext cx="0" cy="457200"/>
          </a:xfrm>
          <a:prstGeom prst="line">
            <a:avLst/>
          </a:prstGeom>
          <a:noFill/>
          <a:ln w="38100">
            <a:solidFill>
              <a:srgbClr val="FF3B1F"/>
            </a:solidFill>
            <a:prstDash val="solid"/>
          </a:ln>
        </p:spPr>
      </p:sp>
      <p:sp>
        <p:nvSpPr>
          <p:cNvPr id="10" name="Text 8"/>
          <p:cNvSpPr txBox="1"/>
          <p:nvPr/>
        </p:nvSpPr>
        <p:spPr>
          <a:xfrm>
            <a:off x="731520" y="173736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遺留分侵害額請求権は、裁判外で行使することも可能である。</a:t>
            </a:r>
            <a:endParaRPr lang="en-US" sz="1150" dirty="0"/>
          </a:p>
        </p:txBody>
      </p:sp>
      <p:sp>
        <p:nvSpPr>
          <p:cNvPr id="11" name="Text 9"/>
          <p:cNvSpPr txBox="1"/>
          <p:nvPr/>
        </p:nvSpPr>
        <p:spPr>
          <a:xfrm>
            <a:off x="731520" y="219456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遺留分侵害額請求権は、相続開始の時から1年以内に行使しなければ、時効によって消滅する。</a:t>
            </a:r>
            <a:endParaRPr lang="en-US" sz="1150" dirty="0"/>
          </a:p>
        </p:txBody>
      </p:sp>
      <p:sp>
        <p:nvSpPr>
          <p:cNvPr id="12" name="Text 10"/>
          <p:cNvSpPr txBox="1"/>
          <p:nvPr/>
        </p:nvSpPr>
        <p:spPr>
          <a:xfrm>
            <a:off x="731520" y="269748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相続の開始後における遺留分の放棄は、家庭裁判所の許可を受けたときに限り、その効力を生ずる。</a:t>
            </a:r>
            <a:endParaRPr lang="en-US" sz="1150" dirty="0"/>
          </a:p>
        </p:txBody>
      </p:sp>
      <p:sp>
        <p:nvSpPr>
          <p:cNvPr id="13" name="Text 11"/>
          <p:cNvSpPr txBox="1"/>
          <p:nvPr/>
        </p:nvSpPr>
        <p:spPr>
          <a:xfrm>
            <a:off x="731520" y="320040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被相続人の兄弟姉妹は、被相続人の相続について遺留分を有する。</a:t>
            </a:r>
            <a:endParaRPr lang="en-US" sz="1150" dirty="0"/>
          </a:p>
        </p:txBody>
      </p:sp>
      <p:sp>
        <p:nvSpPr>
          <p:cNvPr id="14" name="Shape 12"/>
          <p:cNvSpPr/>
          <p:nvPr/>
        </p:nvSpPr>
        <p:spPr>
          <a:xfrm>
            <a:off x="502920" y="3730752"/>
            <a:ext cx="11201400" cy="0"/>
          </a:xfrm>
          <a:prstGeom prst="line">
            <a:avLst/>
          </a:prstGeom>
          <a:noFill/>
          <a:ln w="12700">
            <a:solidFill>
              <a:srgbClr val="171717"/>
            </a:solidFill>
            <a:prstDash val="solid"/>
          </a:ln>
        </p:spPr>
      </p:sp>
      <p:sp>
        <p:nvSpPr>
          <p:cNvPr id="15" name="Text 13"/>
          <p:cNvSpPr txBox="1"/>
          <p:nvPr/>
        </p:nvSpPr>
        <p:spPr>
          <a:xfrm>
            <a:off x="502920" y="3822192"/>
            <a:ext cx="11201400" cy="731520"/>
          </a:xfrm>
          <a:prstGeom prst="rect">
            <a:avLst/>
          </a:prstGeom>
          <a:noFill/>
          <a:ln/>
        </p:spPr>
        <p:txBody>
          <a:bodyPr wrap="square" lIns="0" tIns="0" rIns="0" bIns="0" rtlCol="0" anchor="ctr"/>
          <a:lstStyle/>
          <a:p>
            <a:pPr indent="0" marL="0">
              <a:lnSpc>
                <a:spcPct val="115000"/>
              </a:lnSpc>
              <a:buNone/>
            </a:pPr>
            <a:r>
              <a:rPr lang="en-US" sz="950" b="1" dirty="0">
                <a:solidFill>
                  <a:srgbClr val="FF3B1F"/>
                </a:solidFill>
                <a:latin typeface="Yu Gothic" pitchFamily="34" charset="0"/>
                <a:ea typeface="Yu Gothic" pitchFamily="34" charset="-122"/>
                <a:cs typeface="Yu Gothic" pitchFamily="34" charset="-120"/>
              </a:rPr>
              <a:t>正解：ア</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遺留分侵害額請求権（民法1046条）は権利者の一方的な意思表示で効果が生じる形成権であり、裁判外の意思表示（内容証明郵便等）でも行使できる。イ：1年の起算点は「相続開始の時」ではなく「相続開始</a:t>
            </a:r>
            <a:pPr indent="0" marL="0">
              <a:lnSpc>
                <a:spcPct val="115000"/>
              </a:lnSpc>
              <a:buNone/>
            </a:pPr>
            <a:r>
              <a:rPr lang="en-US" sz="950" b="1" dirty="0">
                <a:solidFill>
                  <a:srgbClr val="171717"/>
                </a:solidFill>
                <a:latin typeface="Yu Gothic" pitchFamily="34" charset="0"/>
                <a:ea typeface="Yu Gothic" pitchFamily="34" charset="-122"/>
                <a:cs typeface="Yu Gothic" pitchFamily="34" charset="-120"/>
              </a:rPr>
              <a:t>及び侵害する贈与・遺贈があったことを知った時</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」（民法1048条）。ウ：家庭裁判所の許可が必要なのは「相続開始</a:t>
            </a:r>
            <a:pPr indent="0" marL="0">
              <a:lnSpc>
                <a:spcPct val="115000"/>
              </a:lnSpc>
              <a:buNone/>
            </a:pPr>
            <a:r>
              <a:rPr lang="en-US" sz="950" b="1" dirty="0">
                <a:solidFill>
                  <a:srgbClr val="171717"/>
                </a:solidFill>
                <a:latin typeface="Yu Gothic" pitchFamily="34" charset="0"/>
                <a:ea typeface="Yu Gothic" pitchFamily="34" charset="-122"/>
                <a:cs typeface="Yu Gothic" pitchFamily="34" charset="-120"/>
              </a:rPr>
              <a:t>前</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」の放棄であり、開始</a:t>
            </a:r>
            <a:pPr indent="0" marL="0">
              <a:lnSpc>
                <a:spcPct val="115000"/>
              </a:lnSpc>
              <a:buNone/>
            </a:pPr>
            <a:r>
              <a:rPr lang="en-US" sz="950" b="1" dirty="0">
                <a:solidFill>
                  <a:srgbClr val="171717"/>
                </a:solidFill>
                <a:latin typeface="Yu Gothic" pitchFamily="34" charset="0"/>
                <a:ea typeface="Yu Gothic" pitchFamily="34" charset="-122"/>
                <a:cs typeface="Yu Gothic" pitchFamily="34" charset="-120"/>
              </a:rPr>
              <a:t>後</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の放棄には許可は不要（許可を要する時期が逆）。エ：兄弟姉妹には遺留分が認められない（民法1042条1項）。</a:t>
            </a:r>
            <a:endParaRPr lang="en-US" sz="950" dirty="0"/>
          </a:p>
        </p:txBody>
      </p:sp>
      <p:sp>
        <p:nvSpPr>
          <p:cNvPr id="16" name="Text 14"/>
          <p:cNvSpPr txBox="1"/>
          <p:nvPr/>
        </p:nvSpPr>
        <p:spPr>
          <a:xfrm>
            <a:off x="502920" y="4599432"/>
            <a:ext cx="11201400" cy="54864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950" dirty="0">
                <a:solidFill>
                  <a:srgbClr val="171717"/>
                </a:solidFill>
                <a:latin typeface="Yu Gothic" pitchFamily="34" charset="0"/>
                <a:ea typeface="Yu Gothic" pitchFamily="34" charset="-122"/>
                <a:cs typeface="Yu Gothic" pitchFamily="34" charset="-120"/>
              </a:rPr>
              <a:t>先代経営者が長男に自社株式のほとんどを生前贈与していた場合、長女は遺留分を侵害されたとして長男に遺留分侵害額請求権を行使できる。内容証明郵便で意思表示をするだけで足り、裁判を起こす必要はない。</a:t>
            </a:r>
            <a:endParaRPr lang="en-US" sz="850" dirty="0"/>
          </a:p>
        </p:txBody>
      </p:sp>
      <p:sp>
        <p:nvSpPr>
          <p:cNvPr id="17" name="Text 15"/>
          <p:cNvSpPr txBox="1"/>
          <p:nvPr/>
        </p:nvSpPr>
        <p:spPr>
          <a:xfrm>
            <a:off x="502920" y="5193792"/>
            <a:ext cx="11201400" cy="320040"/>
          </a:xfrm>
          <a:prstGeom prst="rect">
            <a:avLst/>
          </a:prstGeom>
          <a:noFill/>
          <a:ln/>
        </p:spPr>
        <p:txBody>
          <a:bodyPr wrap="square" lIns="0" tIns="0" rIns="0" bIns="0" rtlCol="0" anchor="ctr"/>
          <a:lstStyle/>
          <a:p>
            <a:pPr indent="0" marL="0">
              <a:lnSpc>
                <a:spcPct val="115000"/>
              </a:lnSpc>
              <a:buNone/>
            </a:pPr>
            <a:r>
              <a:rPr lang="en-US" sz="900" dirty="0">
                <a:solidFill>
                  <a:srgbClr val="8A8A8A"/>
                </a:solidFill>
                <a:latin typeface="Yu Gothic" pitchFamily="34" charset="0"/>
                <a:ea typeface="Yu Gothic" pitchFamily="34" charset="-122"/>
                <a:cs typeface="Yu Gothic" pitchFamily="34" charset="-120"/>
              </a:rPr>
              <a:t>関連知識：遺留分は配偶者・子（代襲相続人を含む）・直系尊属にのみ認められ、兄弟姉妹には認められない点が頻出。事業承継では経営承継円滑化法上の遺留分に関する民法特例（除外合意・固定合意）とあわせて出題される。</a:t>
            </a:r>
            <a:endParaRPr lang="en-US" sz="900" dirty="0"/>
          </a:p>
        </p:txBody>
      </p:sp>
      <p:sp>
        <p:nvSpPr>
          <p:cNvPr id="18" name="Text 16"/>
          <p:cNvSpPr txBox="1"/>
          <p:nvPr/>
        </p:nvSpPr>
        <p:spPr>
          <a:xfrm>
            <a:off x="502920" y="5559552"/>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出典：past_exams/1st_stage/1ji2025/E1JI2025.pdf（令和7年度第1次試験）第22問／正解：past_exams/1st_stage_answers/r07/2025e.pdf</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E-18 ／ 会社法（会社の種類、株式、機関設計）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取締役会には委任状による代理出席が認められない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株主総会の規律と混同しやすい取締役会の運営ルールが頻出。</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36192"/>
            <a:ext cx="11201400" cy="411480"/>
          </a:xfrm>
          <a:prstGeom prst="rect">
            <a:avLst/>
          </a:prstGeom>
          <a:noFill/>
          <a:ln/>
        </p:spPr>
        <p:txBody>
          <a:bodyPr wrap="square" lIns="0" tIns="0" rIns="0" bIns="0" rtlCol="0" anchor="ctr"/>
          <a:lstStyle/>
          <a:p>
            <a:pPr indent="0" marL="0">
              <a:lnSpc>
                <a:spcPct val="125000"/>
              </a:lnSpc>
              <a:buNone/>
            </a:pPr>
            <a:r>
              <a:rPr lang="en-US" sz="1000" dirty="0">
                <a:solidFill>
                  <a:srgbClr val="8A8A8A"/>
                </a:solidFill>
                <a:latin typeface="Yu Gothic" pitchFamily="34" charset="0"/>
                <a:ea typeface="Yu Gothic" pitchFamily="34" charset="-122"/>
                <a:cs typeface="Yu Gothic" pitchFamily="34" charset="-120"/>
              </a:rPr>
              <a:t>会社法上の会社は株式会社と持分会社に大別され、株式会社はさらに規模・上場の有無に応じて機関設計を選択する。とりわけ取締役会の運営ルールは、E-19やE-2とあわせて会社法分野の最頻出テーマを形成する。</a:t>
            </a:r>
            <a:endParaRPr lang="en-US" sz="1000" dirty="0"/>
          </a:p>
        </p:txBody>
      </p:sp>
      <p:sp>
        <p:nvSpPr>
          <p:cNvPr id="9" name="Text 7"/>
          <p:cNvSpPr txBox="1"/>
          <p:nvPr/>
        </p:nvSpPr>
        <p:spPr>
          <a:xfrm>
            <a:off x="502920" y="2011680"/>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招集通知</a:t>
            </a:r>
            <a:endParaRPr lang="en-US" sz="1050" dirty="0"/>
          </a:p>
        </p:txBody>
      </p:sp>
      <p:sp>
        <p:nvSpPr>
          <p:cNvPr id="10" name="Shape 8"/>
          <p:cNvSpPr/>
          <p:nvPr/>
        </p:nvSpPr>
        <p:spPr>
          <a:xfrm>
            <a:off x="2496312" y="2011680"/>
            <a:ext cx="0" cy="256032"/>
          </a:xfrm>
          <a:prstGeom prst="line">
            <a:avLst/>
          </a:prstGeom>
          <a:noFill/>
          <a:ln w="12700">
            <a:solidFill>
              <a:srgbClr val="E6E6E6"/>
            </a:solidFill>
            <a:prstDash val="solid"/>
          </a:ln>
        </p:spPr>
      </p:sp>
      <p:sp>
        <p:nvSpPr>
          <p:cNvPr id="11" name="Text 9"/>
          <p:cNvSpPr txBox="1"/>
          <p:nvPr/>
        </p:nvSpPr>
        <p:spPr>
          <a:xfrm>
            <a:off x="2651760" y="2011680"/>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会日の1週間前までに発する。定款の定めにより短縮可能</a:t>
            </a:r>
            <a:endParaRPr lang="en-US" sz="1050" dirty="0"/>
          </a:p>
        </p:txBody>
      </p:sp>
      <p:sp>
        <p:nvSpPr>
          <p:cNvPr id="12" name="Text 10"/>
          <p:cNvSpPr txBox="1"/>
          <p:nvPr/>
        </p:nvSpPr>
        <p:spPr>
          <a:xfrm>
            <a:off x="502920" y="2340864"/>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決議の定足数</a:t>
            </a:r>
            <a:endParaRPr lang="en-US" sz="1050" dirty="0"/>
          </a:p>
        </p:txBody>
      </p:sp>
      <p:sp>
        <p:nvSpPr>
          <p:cNvPr id="13" name="Shape 11"/>
          <p:cNvSpPr/>
          <p:nvPr/>
        </p:nvSpPr>
        <p:spPr>
          <a:xfrm>
            <a:off x="2496312" y="2340864"/>
            <a:ext cx="0" cy="256032"/>
          </a:xfrm>
          <a:prstGeom prst="line">
            <a:avLst/>
          </a:prstGeom>
          <a:noFill/>
          <a:ln w="12700">
            <a:solidFill>
              <a:srgbClr val="E6E6E6"/>
            </a:solidFill>
            <a:prstDash val="solid"/>
          </a:ln>
        </p:spPr>
      </p:sp>
      <p:sp>
        <p:nvSpPr>
          <p:cNvPr id="14" name="Text 12"/>
          <p:cNvSpPr txBox="1"/>
          <p:nvPr/>
        </p:nvSpPr>
        <p:spPr>
          <a:xfrm>
            <a:off x="2651760" y="2340864"/>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過半数の出席・過半数の賛成。特別利害関係取締役は定足数からも除外</a:t>
            </a:r>
            <a:endParaRPr lang="en-US" sz="1050" dirty="0"/>
          </a:p>
        </p:txBody>
      </p:sp>
      <p:sp>
        <p:nvSpPr>
          <p:cNvPr id="15" name="Text 13"/>
          <p:cNvSpPr txBox="1"/>
          <p:nvPr/>
        </p:nvSpPr>
        <p:spPr>
          <a:xfrm>
            <a:off x="502920" y="2670048"/>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職務執行状況の報告</a:t>
            </a:r>
            <a:endParaRPr lang="en-US" sz="1050" dirty="0"/>
          </a:p>
        </p:txBody>
      </p:sp>
      <p:sp>
        <p:nvSpPr>
          <p:cNvPr id="16" name="Shape 14"/>
          <p:cNvSpPr/>
          <p:nvPr/>
        </p:nvSpPr>
        <p:spPr>
          <a:xfrm>
            <a:off x="2496312" y="2670048"/>
            <a:ext cx="0" cy="256032"/>
          </a:xfrm>
          <a:prstGeom prst="line">
            <a:avLst/>
          </a:prstGeom>
          <a:noFill/>
          <a:ln w="12700">
            <a:solidFill>
              <a:srgbClr val="E6E6E6"/>
            </a:solidFill>
            <a:prstDash val="solid"/>
          </a:ln>
        </p:spPr>
      </p:sp>
      <p:sp>
        <p:nvSpPr>
          <p:cNvPr id="17" name="Text 15"/>
          <p:cNvSpPr txBox="1"/>
          <p:nvPr/>
        </p:nvSpPr>
        <p:spPr>
          <a:xfrm>
            <a:off x="2651760" y="2670048"/>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3か月に1回以上。書面決議による省略の対象外（省略不可）</a:t>
            </a:r>
            <a:endParaRPr lang="en-US" sz="1050" dirty="0"/>
          </a:p>
        </p:txBody>
      </p:sp>
      <p:sp>
        <p:nvSpPr>
          <p:cNvPr id="18" name="Text 16"/>
          <p:cNvSpPr txBox="1"/>
          <p:nvPr/>
        </p:nvSpPr>
        <p:spPr>
          <a:xfrm>
            <a:off x="502920" y="2999232"/>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議決権の代理行使</a:t>
            </a:r>
            <a:endParaRPr lang="en-US" sz="1050" dirty="0"/>
          </a:p>
        </p:txBody>
      </p:sp>
      <p:sp>
        <p:nvSpPr>
          <p:cNvPr id="19" name="Shape 17"/>
          <p:cNvSpPr/>
          <p:nvPr/>
        </p:nvSpPr>
        <p:spPr>
          <a:xfrm>
            <a:off x="2496312" y="2999232"/>
            <a:ext cx="0" cy="256032"/>
          </a:xfrm>
          <a:prstGeom prst="line">
            <a:avLst/>
          </a:prstGeom>
          <a:noFill/>
          <a:ln w="12700">
            <a:solidFill>
              <a:srgbClr val="E6E6E6"/>
            </a:solidFill>
            <a:prstDash val="solid"/>
          </a:ln>
        </p:spPr>
      </p:sp>
      <p:sp>
        <p:nvSpPr>
          <p:cNvPr id="20" name="Text 18"/>
          <p:cNvSpPr txBox="1"/>
          <p:nvPr/>
        </p:nvSpPr>
        <p:spPr>
          <a:xfrm>
            <a:off x="2651760" y="2999232"/>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取締役会では認められない（株主総会では認められる）</a:t>
            </a:r>
            <a:endParaRPr lang="en-US" sz="1050" dirty="0"/>
          </a:p>
        </p:txBody>
      </p:sp>
      <p:sp>
        <p:nvSpPr>
          <p:cNvPr id="21" name="Shape 19"/>
          <p:cNvSpPr/>
          <p:nvPr/>
        </p:nvSpPr>
        <p:spPr>
          <a:xfrm>
            <a:off x="502920" y="3401568"/>
            <a:ext cx="11201400" cy="0"/>
          </a:xfrm>
          <a:prstGeom prst="line">
            <a:avLst/>
          </a:prstGeom>
          <a:noFill/>
          <a:ln w="12700">
            <a:solidFill>
              <a:srgbClr val="E6E6E6"/>
            </a:solidFill>
            <a:prstDash val="solid"/>
          </a:ln>
        </p:spPr>
      </p:sp>
      <p:sp>
        <p:nvSpPr>
          <p:cNvPr id="22" name="Text 20"/>
          <p:cNvSpPr txBox="1"/>
          <p:nvPr/>
        </p:nvSpPr>
        <p:spPr>
          <a:xfrm>
            <a:off x="502920" y="347472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招集通知期間は定款で短縮できる（できないは誤り）。報告義務は省略できない。代理出席は認められない。</a:t>
            </a:r>
            <a:endParaRPr lang="en-US" sz="9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関連：E-2 法人の事業開始（設立時の機関設計の基礎）。</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E-18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50292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取締役会に関する記述として、最も適切なものはどれか。なお、特別取締役の定めはないものとする。</a:t>
            </a:r>
            <a:endParaRPr lang="en-US" sz="1250" dirty="0"/>
          </a:p>
        </p:txBody>
      </p:sp>
      <p:sp>
        <p:nvSpPr>
          <p:cNvPr id="9" name="Text 7"/>
          <p:cNvSpPr txBox="1"/>
          <p:nvPr/>
        </p:nvSpPr>
        <p:spPr>
          <a:xfrm>
            <a:off x="731520" y="2286000"/>
            <a:ext cx="10789920" cy="54864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代表取締役および業務執行取締役は、3カ月に1回以上、職務執行の状況を取締役会に報告しなければならないが、定款の定めがあれば、取締役全員への書面による通知により、その報告を省略することができる。</a:t>
            </a:r>
            <a:endParaRPr lang="en-US" sz="1150" dirty="0"/>
          </a:p>
        </p:txBody>
      </p:sp>
      <p:sp>
        <p:nvSpPr>
          <p:cNvPr id="10" name="Text 8"/>
          <p:cNvSpPr txBox="1"/>
          <p:nvPr/>
        </p:nvSpPr>
        <p:spPr>
          <a:xfrm>
            <a:off x="731520" y="288036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取締役会の決議の定足数は、当該決議について特別の利害関係があり議決に加わることができない取締役の人数を除いて計算することができる。</a:t>
            </a:r>
            <a:endParaRPr lang="en-US" sz="1150" dirty="0"/>
          </a:p>
        </p:txBody>
      </p:sp>
      <p:sp>
        <p:nvSpPr>
          <p:cNvPr id="11" name="Text 9"/>
          <p:cNvSpPr txBox="1"/>
          <p:nvPr/>
        </p:nvSpPr>
        <p:spPr>
          <a:xfrm>
            <a:off x="731520" y="342900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取締役会を招集する者は、取締役会の日の1週間前までに、その通知を発しなければならず、この通知期間は、定款の定めによっても短縮することはできない。</a:t>
            </a:r>
            <a:endParaRPr lang="en-US" sz="1150" dirty="0"/>
          </a:p>
        </p:txBody>
      </p:sp>
      <p:sp>
        <p:nvSpPr>
          <p:cNvPr id="12" name="Text 10"/>
          <p:cNvSpPr txBox="1"/>
          <p:nvPr/>
        </p:nvSpPr>
        <p:spPr>
          <a:xfrm>
            <a:off x="731520" y="3977640"/>
            <a:ext cx="10789920" cy="54864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取締役が現実に開催される予定の取締役会に出席できない場合、その取締役は、事前に他の取締役に対して委任状を発行することにより、当該取締役会において議決権を行使することができる。</a:t>
            </a:r>
            <a:endParaRPr lang="en-US" sz="1150" dirty="0"/>
          </a:p>
        </p:txBody>
      </p:sp>
      <p:sp>
        <p:nvSpPr>
          <p:cNvPr id="13" name="Text 11"/>
          <p:cNvSpPr txBox="1"/>
          <p:nvPr/>
        </p:nvSpPr>
        <p:spPr>
          <a:xfrm>
            <a:off x="502920" y="470916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出典：past_exams/1st_stage/1ji2025/E1JI2025.pdf（令和7年度第1次試験）第2問</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E-18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正解はイ。特別利害関係取締役は定足数からも除外される。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54864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代表取締役および業務執行取締役は、3カ月に1回以上、職務執行の状況を取締役会に報告しなければならないが、定款の定めがあれば、取締役全員への書面による通知により、その報告を省略することができる。</a:t>
            </a:r>
            <a:endParaRPr lang="en-US" sz="1150" dirty="0"/>
          </a:p>
        </p:txBody>
      </p:sp>
      <p:sp>
        <p:nvSpPr>
          <p:cNvPr id="9" name="Shape 7"/>
          <p:cNvSpPr/>
          <p:nvPr/>
        </p:nvSpPr>
        <p:spPr>
          <a:xfrm>
            <a:off x="502920" y="2304288"/>
            <a:ext cx="11201400" cy="548640"/>
          </a:xfrm>
          <a:prstGeom prst="rect">
            <a:avLst/>
          </a:prstGeom>
          <a:solidFill>
            <a:srgbClr val="F4F4F4"/>
          </a:solidFill>
          <a:ln/>
        </p:spPr>
      </p:sp>
      <p:sp>
        <p:nvSpPr>
          <p:cNvPr id="10" name="Shape 8"/>
          <p:cNvSpPr/>
          <p:nvPr/>
        </p:nvSpPr>
        <p:spPr>
          <a:xfrm>
            <a:off x="502920" y="2304288"/>
            <a:ext cx="0" cy="548640"/>
          </a:xfrm>
          <a:prstGeom prst="line">
            <a:avLst/>
          </a:prstGeom>
          <a:noFill/>
          <a:ln w="38100">
            <a:solidFill>
              <a:srgbClr val="FF3B1F"/>
            </a:solidFill>
            <a:prstDash val="solid"/>
          </a:ln>
        </p:spPr>
      </p:sp>
      <p:sp>
        <p:nvSpPr>
          <p:cNvPr id="11" name="Text 9"/>
          <p:cNvSpPr txBox="1"/>
          <p:nvPr/>
        </p:nvSpPr>
        <p:spPr>
          <a:xfrm>
            <a:off x="731520" y="233172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取締役会の決議の定足数は、当該決議について特別の利害関係があり議決に加わることができない取締役の人数を除いて計算することができる。</a:t>
            </a:r>
            <a:endParaRPr lang="en-US" sz="1150" dirty="0"/>
          </a:p>
        </p:txBody>
      </p:sp>
      <p:sp>
        <p:nvSpPr>
          <p:cNvPr id="12" name="Text 10"/>
          <p:cNvSpPr txBox="1"/>
          <p:nvPr/>
        </p:nvSpPr>
        <p:spPr>
          <a:xfrm>
            <a:off x="731520" y="288036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取締役会を招集する者は、取締役会の日の1週間前までに、その通知を発しなければならず、この通知期間は、定款の定めによっても短縮することはできない。</a:t>
            </a:r>
            <a:endParaRPr lang="en-US" sz="1150" dirty="0"/>
          </a:p>
        </p:txBody>
      </p:sp>
      <p:sp>
        <p:nvSpPr>
          <p:cNvPr id="13" name="Text 11"/>
          <p:cNvSpPr txBox="1"/>
          <p:nvPr/>
        </p:nvSpPr>
        <p:spPr>
          <a:xfrm>
            <a:off x="731520" y="3429000"/>
            <a:ext cx="10789920" cy="54864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取締役が現実に開催される予定の取締役会に出席できない場合、その取締役は、事前に他の取締役に対して委任状を発行することにより、当該取締役会において議決権を行使することができる。</a:t>
            </a:r>
            <a:endParaRPr lang="en-US" sz="1150" dirty="0"/>
          </a:p>
        </p:txBody>
      </p:sp>
      <p:sp>
        <p:nvSpPr>
          <p:cNvPr id="14" name="Shape 12"/>
          <p:cNvSpPr/>
          <p:nvPr/>
        </p:nvSpPr>
        <p:spPr>
          <a:xfrm>
            <a:off x="502920" y="4078224"/>
            <a:ext cx="11201400" cy="0"/>
          </a:xfrm>
          <a:prstGeom prst="line">
            <a:avLst/>
          </a:prstGeom>
          <a:noFill/>
          <a:ln w="12700">
            <a:solidFill>
              <a:srgbClr val="171717"/>
            </a:solidFill>
            <a:prstDash val="solid"/>
          </a:ln>
        </p:spPr>
      </p:sp>
      <p:sp>
        <p:nvSpPr>
          <p:cNvPr id="15" name="Text 13"/>
          <p:cNvSpPr txBox="1"/>
          <p:nvPr/>
        </p:nvSpPr>
        <p:spPr>
          <a:xfrm>
            <a:off x="502920" y="4151376"/>
            <a:ext cx="11201400" cy="658368"/>
          </a:xfrm>
          <a:prstGeom prst="rect">
            <a:avLst/>
          </a:prstGeom>
          <a:noFill/>
          <a:ln/>
        </p:spPr>
        <p:txBody>
          <a:bodyPr wrap="square" lIns="0" tIns="0" rIns="0" bIns="0" rtlCol="0" anchor="ctr"/>
          <a:lstStyle/>
          <a:p>
            <a:pPr indent="0" marL="0">
              <a:lnSpc>
                <a:spcPct val="112000"/>
              </a:lnSpc>
              <a:buNone/>
            </a:pPr>
            <a:r>
              <a:rPr lang="en-US" sz="900" b="1" dirty="0">
                <a:solidFill>
                  <a:srgbClr val="FF3B1F"/>
                </a:solidFill>
                <a:latin typeface="Yu Gothic" pitchFamily="34" charset="0"/>
                <a:ea typeface="Yu Gothic" pitchFamily="34" charset="-122"/>
                <a:cs typeface="Yu Gothic" pitchFamily="34" charset="-120"/>
              </a:rPr>
              <a:t>正解：イ</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取締役会の決議は議決に加わることができる取締役の過半数の出席と、その過半数の賛成で成立（会社法369条1項）。特別の利害関係を有する取締役は議決に加わることができず（同条2項）、定足数の算定対象からも除外される。ア：職務執行状況の報告義務（363条2項）は決議の省略（370条）とは異なり、372条2項により明文で省略</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できない</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とされる。ウ：招集通知期間（1週間）は定款で</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短縮できる</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（368条1項かっこ書き）。エ：取締役会は個人的信頼関係に基づく合議体で、株主総会と異なり委任状による代理行使は</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認められない</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a:t>
            </a:r>
            <a:endParaRPr lang="en-US" sz="900" dirty="0"/>
          </a:p>
        </p:txBody>
      </p:sp>
      <p:sp>
        <p:nvSpPr>
          <p:cNvPr id="16" name="Text 14"/>
          <p:cNvSpPr txBox="1"/>
          <p:nvPr/>
        </p:nvSpPr>
        <p:spPr>
          <a:xfrm>
            <a:off x="502920" y="4864608"/>
            <a:ext cx="11201400" cy="502920"/>
          </a:xfrm>
          <a:prstGeom prst="rect">
            <a:avLst/>
          </a:prstGeom>
          <a:noFill/>
          <a:ln/>
        </p:spPr>
        <p:txBody>
          <a:bodyPr wrap="square" lIns="0" tIns="0" rIns="0" bIns="0" rtlCol="0" anchor="ctr"/>
          <a:lstStyle/>
          <a:p>
            <a:pPr indent="0" marL="0">
              <a:lnSpc>
                <a:spcPct val="115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15000"/>
              </a:lnSpc>
              <a:buNone/>
            </a:pPr>
            <a:r>
              <a:rPr lang="en-US" sz="900" dirty="0">
                <a:solidFill>
                  <a:srgbClr val="171717"/>
                </a:solidFill>
                <a:latin typeface="Yu Gothic" pitchFamily="34" charset="0"/>
                <a:ea typeface="Yu Gothic" pitchFamily="34" charset="-122"/>
                <a:cs typeface="Yu Gothic" pitchFamily="34" charset="-120"/>
              </a:rPr>
              <a:t>資本金1,000万円の非大会社が取締役会を設置する場合、監査役1名で足りる。ある議案について特別利害関係を持つ取締役が1名いれば、その者を除いた残りの取締役の過半数が出席していれば定足数を満たす。</a:t>
            </a:r>
            <a:endParaRPr lang="en-US" sz="850" dirty="0"/>
          </a:p>
        </p:txBody>
      </p:sp>
      <p:sp>
        <p:nvSpPr>
          <p:cNvPr id="17" name="Text 15"/>
          <p:cNvSpPr txBox="1"/>
          <p:nvPr/>
        </p:nvSpPr>
        <p:spPr>
          <a:xfrm>
            <a:off x="502920" y="5413248"/>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Yu Gothic" pitchFamily="34" charset="0"/>
                <a:ea typeface="Yu Gothic" pitchFamily="34" charset="-122"/>
                <a:cs typeface="Yu Gothic" pitchFamily="34" charset="-120"/>
              </a:rPr>
              <a:t>関連知識：取締役会の規律（代理行使不可、決議省略の対象範囲）は株主総会の規律（代理行使可）と対比されやすい。両者の違いを意識して整理すること。</a:t>
            </a:r>
            <a:endParaRPr lang="en-US" sz="900" dirty="0"/>
          </a:p>
        </p:txBody>
      </p:sp>
      <p:sp>
        <p:nvSpPr>
          <p:cNvPr id="18" name="Text 16"/>
          <p:cNvSpPr txBox="1"/>
          <p:nvPr/>
        </p:nvSpPr>
        <p:spPr>
          <a:xfrm>
            <a:off x="502920" y="573328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出典：past_exams/1st_stage/1ji2025/E1JI2025.pdf（令和7年度第1次試験）第2問／正解：past_exams/1st_stage_answers/r07/2025e.pdf</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E-19 ／ 会社法（会社の計算、合併、取締役の忠実義務）</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資本準備金にできるのは払込額の2分の1まで</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配当は分配可能額の範囲内。取締役は善管注意義務・忠実義務を負う。</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36192"/>
            <a:ext cx="11201400" cy="411480"/>
          </a:xfrm>
          <a:prstGeom prst="rect">
            <a:avLst/>
          </a:prstGeom>
          <a:noFill/>
          <a:ln/>
        </p:spPr>
        <p:txBody>
          <a:bodyPr wrap="square" lIns="0" tIns="0" rIns="0" bIns="0" rtlCol="0" anchor="ctr"/>
          <a:lstStyle/>
          <a:p>
            <a:pPr indent="0" marL="0">
              <a:lnSpc>
                <a:spcPct val="125000"/>
              </a:lnSpc>
              <a:buNone/>
            </a:pPr>
            <a:r>
              <a:rPr lang="en-US" sz="1000" dirty="0">
                <a:solidFill>
                  <a:srgbClr val="8A8A8A"/>
                </a:solidFill>
                <a:latin typeface="Yu Gothic" pitchFamily="34" charset="0"/>
                <a:ea typeface="Yu Gothic" pitchFamily="34" charset="-122"/>
                <a:cs typeface="Yu Gothic" pitchFamily="34" charset="-120"/>
              </a:rPr>
              <a:t>取締役は会社に対して善管注意義務・忠実義務を負い、会社の計算（配当・資本組入れ）にも財源規制という制約がある。E-18の機関設計、E-23の株価算定とあわせて会社法分野を構成する。</a:t>
            </a:r>
            <a:endParaRPr lang="en-US" sz="1000" dirty="0"/>
          </a:p>
        </p:txBody>
      </p:sp>
      <p:sp>
        <p:nvSpPr>
          <p:cNvPr id="9" name="Text 7"/>
          <p:cNvSpPr txBox="1"/>
          <p:nvPr/>
        </p:nvSpPr>
        <p:spPr>
          <a:xfrm>
            <a:off x="502920" y="2011680"/>
            <a:ext cx="173736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剰余金の配当</a:t>
            </a:r>
            <a:endParaRPr lang="en-US" sz="1050" dirty="0"/>
          </a:p>
        </p:txBody>
      </p:sp>
      <p:sp>
        <p:nvSpPr>
          <p:cNvPr id="10" name="Shape 8"/>
          <p:cNvSpPr/>
          <p:nvPr/>
        </p:nvSpPr>
        <p:spPr>
          <a:xfrm>
            <a:off x="2221992" y="2011680"/>
            <a:ext cx="0" cy="256032"/>
          </a:xfrm>
          <a:prstGeom prst="line">
            <a:avLst/>
          </a:prstGeom>
          <a:noFill/>
          <a:ln w="12700">
            <a:solidFill>
              <a:srgbClr val="E6E6E6"/>
            </a:solidFill>
            <a:prstDash val="solid"/>
          </a:ln>
        </p:spPr>
      </p:sp>
      <p:sp>
        <p:nvSpPr>
          <p:cNvPr id="11" name="Text 9"/>
          <p:cNvSpPr txBox="1"/>
          <p:nvPr/>
        </p:nvSpPr>
        <p:spPr>
          <a:xfrm>
            <a:off x="2377440" y="2011680"/>
            <a:ext cx="932688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原則株主総会決議。分配可能額を超える配当は不可（財源規制）</a:t>
            </a:r>
            <a:endParaRPr lang="en-US" sz="1050" dirty="0"/>
          </a:p>
        </p:txBody>
      </p:sp>
      <p:sp>
        <p:nvSpPr>
          <p:cNvPr id="12" name="Text 10"/>
          <p:cNvSpPr txBox="1"/>
          <p:nvPr/>
        </p:nvSpPr>
        <p:spPr>
          <a:xfrm>
            <a:off x="502920" y="2340864"/>
            <a:ext cx="173736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資本金組入れ</a:t>
            </a:r>
            <a:endParaRPr lang="en-US" sz="1050" dirty="0"/>
          </a:p>
        </p:txBody>
      </p:sp>
      <p:sp>
        <p:nvSpPr>
          <p:cNvPr id="13" name="Shape 11"/>
          <p:cNvSpPr/>
          <p:nvPr/>
        </p:nvSpPr>
        <p:spPr>
          <a:xfrm>
            <a:off x="2221992" y="2340864"/>
            <a:ext cx="0" cy="256032"/>
          </a:xfrm>
          <a:prstGeom prst="line">
            <a:avLst/>
          </a:prstGeom>
          <a:noFill/>
          <a:ln w="12700">
            <a:solidFill>
              <a:srgbClr val="E6E6E6"/>
            </a:solidFill>
            <a:prstDash val="solid"/>
          </a:ln>
        </p:spPr>
      </p:sp>
      <p:sp>
        <p:nvSpPr>
          <p:cNvPr id="14" name="Text 12"/>
          <p:cNvSpPr txBox="1"/>
          <p:nvPr/>
        </p:nvSpPr>
        <p:spPr>
          <a:xfrm>
            <a:off x="2377440" y="2340864"/>
            <a:ext cx="932688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払込額の2分の1を超えない額は資本準備金にできる</a:t>
            </a:r>
            <a:endParaRPr lang="en-US" sz="1050" dirty="0"/>
          </a:p>
        </p:txBody>
      </p:sp>
      <p:sp>
        <p:nvSpPr>
          <p:cNvPr id="15" name="Text 13"/>
          <p:cNvSpPr txBox="1"/>
          <p:nvPr/>
        </p:nvSpPr>
        <p:spPr>
          <a:xfrm>
            <a:off x="502920" y="2670048"/>
            <a:ext cx="173736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取締役の義務</a:t>
            </a:r>
            <a:endParaRPr lang="en-US" sz="1050" dirty="0"/>
          </a:p>
        </p:txBody>
      </p:sp>
      <p:sp>
        <p:nvSpPr>
          <p:cNvPr id="16" name="Shape 14"/>
          <p:cNvSpPr/>
          <p:nvPr/>
        </p:nvSpPr>
        <p:spPr>
          <a:xfrm>
            <a:off x="2221992" y="2670048"/>
            <a:ext cx="0" cy="256032"/>
          </a:xfrm>
          <a:prstGeom prst="line">
            <a:avLst/>
          </a:prstGeom>
          <a:noFill/>
          <a:ln w="12700">
            <a:solidFill>
              <a:srgbClr val="E6E6E6"/>
            </a:solidFill>
            <a:prstDash val="solid"/>
          </a:ln>
        </p:spPr>
      </p:sp>
      <p:sp>
        <p:nvSpPr>
          <p:cNvPr id="17" name="Text 15"/>
          <p:cNvSpPr txBox="1"/>
          <p:nvPr/>
        </p:nvSpPr>
        <p:spPr>
          <a:xfrm>
            <a:off x="2377440" y="2670048"/>
            <a:ext cx="932688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善管注意義務・忠実義務。利益相反取引・競業取引は取締役会の承認が必要</a:t>
            </a:r>
            <a:endParaRPr lang="en-US" sz="1050" dirty="0"/>
          </a:p>
        </p:txBody>
      </p:sp>
      <p:sp>
        <p:nvSpPr>
          <p:cNvPr id="18" name="Text 16"/>
          <p:cNvSpPr txBox="1"/>
          <p:nvPr/>
        </p:nvSpPr>
        <p:spPr>
          <a:xfrm>
            <a:off x="502920" y="2999232"/>
            <a:ext cx="173736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株価算定</a:t>
            </a:r>
            <a:endParaRPr lang="en-US" sz="1050" dirty="0"/>
          </a:p>
        </p:txBody>
      </p:sp>
      <p:sp>
        <p:nvSpPr>
          <p:cNvPr id="19" name="Shape 17"/>
          <p:cNvSpPr/>
          <p:nvPr/>
        </p:nvSpPr>
        <p:spPr>
          <a:xfrm>
            <a:off x="2221992" y="2999232"/>
            <a:ext cx="0" cy="256032"/>
          </a:xfrm>
          <a:prstGeom prst="line">
            <a:avLst/>
          </a:prstGeom>
          <a:noFill/>
          <a:ln w="12700">
            <a:solidFill>
              <a:srgbClr val="E6E6E6"/>
            </a:solidFill>
            <a:prstDash val="solid"/>
          </a:ln>
        </p:spPr>
      </p:sp>
      <p:sp>
        <p:nvSpPr>
          <p:cNvPr id="20" name="Text 18"/>
          <p:cNvSpPr txBox="1"/>
          <p:nvPr/>
        </p:nvSpPr>
        <p:spPr>
          <a:xfrm>
            <a:off x="2377440" y="2999232"/>
            <a:ext cx="932688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純資産価額方式・類似業種比準方式・DCF方式（インカムアプローチ）</a:t>
            </a:r>
            <a:endParaRPr lang="en-US" sz="1050" dirty="0"/>
          </a:p>
        </p:txBody>
      </p:sp>
      <p:sp>
        <p:nvSpPr>
          <p:cNvPr id="21" name="Shape 19"/>
          <p:cNvSpPr/>
          <p:nvPr/>
        </p:nvSpPr>
        <p:spPr>
          <a:xfrm>
            <a:off x="502920" y="3401568"/>
            <a:ext cx="11201400" cy="0"/>
          </a:xfrm>
          <a:prstGeom prst="line">
            <a:avLst/>
          </a:prstGeom>
          <a:noFill/>
          <a:ln w="12700">
            <a:solidFill>
              <a:srgbClr val="E6E6E6"/>
            </a:solidFill>
            <a:prstDash val="solid"/>
          </a:ln>
        </p:spPr>
      </p:sp>
      <p:sp>
        <p:nvSpPr>
          <p:cNvPr id="22" name="Text 20"/>
          <p:cNvSpPr txBox="1"/>
          <p:nvPr/>
        </p:nvSpPr>
        <p:spPr>
          <a:xfrm>
            <a:off x="502920" y="347472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「払込金額の全額を資本準備金にできる」は誤り。上限は2分の1を超えない額。</a:t>
            </a:r>
            <a:endParaRPr lang="en-US" sz="9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関連：E-23 事業承継（非上場株式の評価手法は本論点の株価算定と共通）。</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03</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03</a:t>
            </a:r>
            <a:pPr indent="0" marL="0">
              <a:buNone/>
            </a:pPr>
            <a:r>
              <a:rPr lang="en-US" sz="1300" dirty="0">
                <a:solidFill>
                  <a:srgbClr val="A2A2A2"/>
                </a:solidFill>
                <a:latin typeface="Consolas" pitchFamily="34" charset="0"/>
                <a:ea typeface="Consolas" pitchFamily="34" charset="-122"/>
                <a:cs typeface="Consolas" pitchFamily="34" charset="-120"/>
              </a:rPr>
              <a:t>   経営法務 ／ E-20〜E-27</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独禁法と消費者保護</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公正な競争を守るルール、製品事故や不当表示から消費者を守る法律、事業承継の民法特例、そして資本市場へのアクセス手続まで、経営法務の最終パート。</a:t>
            </a:r>
            <a:endParaRPr lang="en-US" sz="1400" dirty="0"/>
          </a:p>
        </p:txBody>
      </p:sp>
      <p:sp>
        <p:nvSpPr>
          <p:cNvPr id="6" name="Shape 4"/>
          <p:cNvSpPr/>
          <p:nvPr/>
        </p:nvSpPr>
        <p:spPr>
          <a:xfrm>
            <a:off x="640080" y="4800600"/>
            <a:ext cx="1801368" cy="384048"/>
          </a:xfrm>
          <a:prstGeom prst="rect">
            <a:avLst/>
          </a:prstGeom>
          <a:ln w="9525">
            <a:solidFill>
              <a:srgbClr val="7F7F7F"/>
            </a:solidFill>
            <a:prstDash val="solid"/>
          </a:ln>
        </p:spPr>
      </p:sp>
      <p:sp>
        <p:nvSpPr>
          <p:cNvPr id="7" name="Text 5"/>
          <p:cNvSpPr txBox="1"/>
          <p:nvPr/>
        </p:nvSpPr>
        <p:spPr>
          <a:xfrm>
            <a:off x="640080" y="4800600"/>
            <a:ext cx="180136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E-21 不正競争防止法</a:t>
            </a:r>
            <a:endParaRPr lang="en-US" sz="1000" dirty="0"/>
          </a:p>
        </p:txBody>
      </p:sp>
      <p:sp>
        <p:nvSpPr>
          <p:cNvPr id="8" name="Shape 6"/>
          <p:cNvSpPr/>
          <p:nvPr/>
        </p:nvSpPr>
        <p:spPr>
          <a:xfrm>
            <a:off x="2670048" y="4800600"/>
            <a:ext cx="1924812" cy="384048"/>
          </a:xfrm>
          <a:prstGeom prst="rect">
            <a:avLst/>
          </a:prstGeom>
          <a:ln w="9525">
            <a:solidFill>
              <a:srgbClr val="7F7F7F"/>
            </a:solidFill>
            <a:prstDash val="solid"/>
          </a:ln>
        </p:spPr>
      </p:sp>
      <p:sp>
        <p:nvSpPr>
          <p:cNvPr id="9" name="Text 7"/>
          <p:cNvSpPr txBox="1"/>
          <p:nvPr/>
        </p:nvSpPr>
        <p:spPr>
          <a:xfrm>
            <a:off x="2670048" y="4800600"/>
            <a:ext cx="1924812"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E-23 遺留分の民法特例</a:t>
            </a:r>
            <a:endParaRPr lang="en-US" sz="1000" dirty="0"/>
          </a:p>
        </p:txBody>
      </p:sp>
      <p:sp>
        <p:nvSpPr>
          <p:cNvPr id="10" name="Shape 8"/>
          <p:cNvSpPr/>
          <p:nvPr/>
        </p:nvSpPr>
        <p:spPr>
          <a:xfrm>
            <a:off x="4823460" y="4800600"/>
            <a:ext cx="1677924" cy="384048"/>
          </a:xfrm>
          <a:prstGeom prst="rect">
            <a:avLst/>
          </a:prstGeom>
          <a:ln w="9525">
            <a:solidFill>
              <a:srgbClr val="7F7F7F"/>
            </a:solidFill>
            <a:prstDash val="solid"/>
          </a:ln>
        </p:spPr>
      </p:sp>
      <p:sp>
        <p:nvSpPr>
          <p:cNvPr id="11" name="Text 9"/>
          <p:cNvSpPr txBox="1"/>
          <p:nvPr/>
        </p:nvSpPr>
        <p:spPr>
          <a:xfrm>
            <a:off x="4823460" y="4800600"/>
            <a:ext cx="1677924"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E-27 上場審査基準</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E-20 ／ 金融商品取引法</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発行開示と継続開示の両方を投資家保護のため義務付け</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開示書類の詳細はE-26に、規制の全体像はここで押さえる。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54480"/>
            <a:ext cx="11201400" cy="41148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金融商品取引法は、投資家保護のため証券の発行時（発行開示）と流通後（継続開示）の両方で情報開示を義務付ける。開示書類の具体名はE-26に出題が集約されるため、この論点は制度の全体像として理解しておく。</a:t>
            </a:r>
            <a:endParaRPr lang="en-US" sz="1050" dirty="0"/>
          </a:p>
        </p:txBody>
      </p:sp>
      <p:sp>
        <p:nvSpPr>
          <p:cNvPr id="9" name="Text 7"/>
          <p:cNvSpPr txBox="1"/>
          <p:nvPr/>
        </p:nvSpPr>
        <p:spPr>
          <a:xfrm>
            <a:off x="502920" y="2029968"/>
            <a:ext cx="219456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発行開示</a:t>
            </a:r>
            <a:endParaRPr lang="en-US" sz="1150" dirty="0"/>
          </a:p>
        </p:txBody>
      </p:sp>
      <p:sp>
        <p:nvSpPr>
          <p:cNvPr id="10" name="Shape 8"/>
          <p:cNvSpPr/>
          <p:nvPr/>
        </p:nvSpPr>
        <p:spPr>
          <a:xfrm>
            <a:off x="2679192" y="2029968"/>
            <a:ext cx="0" cy="256032"/>
          </a:xfrm>
          <a:prstGeom prst="line">
            <a:avLst/>
          </a:prstGeom>
          <a:noFill/>
          <a:ln w="12700">
            <a:solidFill>
              <a:srgbClr val="E6E6E6"/>
            </a:solidFill>
            <a:prstDash val="solid"/>
          </a:ln>
        </p:spPr>
      </p:sp>
      <p:sp>
        <p:nvSpPr>
          <p:cNvPr id="11" name="Text 9"/>
          <p:cNvSpPr txBox="1"/>
          <p:nvPr/>
        </p:nvSpPr>
        <p:spPr>
          <a:xfrm>
            <a:off x="2834640" y="2029968"/>
            <a:ext cx="886968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新たに証券を発行する際の有価証券届出書等</a:t>
            </a:r>
            <a:endParaRPr lang="en-US" sz="1150" dirty="0"/>
          </a:p>
        </p:txBody>
      </p:sp>
      <p:sp>
        <p:nvSpPr>
          <p:cNvPr id="12" name="Text 10"/>
          <p:cNvSpPr txBox="1"/>
          <p:nvPr/>
        </p:nvSpPr>
        <p:spPr>
          <a:xfrm>
            <a:off x="502920" y="2395728"/>
            <a:ext cx="219456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継続開示</a:t>
            </a:r>
            <a:endParaRPr lang="en-US" sz="1150" dirty="0"/>
          </a:p>
        </p:txBody>
      </p:sp>
      <p:sp>
        <p:nvSpPr>
          <p:cNvPr id="13" name="Shape 11"/>
          <p:cNvSpPr/>
          <p:nvPr/>
        </p:nvSpPr>
        <p:spPr>
          <a:xfrm>
            <a:off x="2679192" y="2395728"/>
            <a:ext cx="0" cy="256032"/>
          </a:xfrm>
          <a:prstGeom prst="line">
            <a:avLst/>
          </a:prstGeom>
          <a:noFill/>
          <a:ln w="12700">
            <a:solidFill>
              <a:srgbClr val="E6E6E6"/>
            </a:solidFill>
            <a:prstDash val="solid"/>
          </a:ln>
        </p:spPr>
      </p:sp>
      <p:sp>
        <p:nvSpPr>
          <p:cNvPr id="14" name="Text 12"/>
          <p:cNvSpPr txBox="1"/>
          <p:nvPr/>
        </p:nvSpPr>
        <p:spPr>
          <a:xfrm>
            <a:off x="2834640" y="2395728"/>
            <a:ext cx="886968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上場会社等が事業年度ごとに提出する有価証券報告書等</a:t>
            </a:r>
            <a:endParaRPr lang="en-US" sz="1150" dirty="0"/>
          </a:p>
        </p:txBody>
      </p:sp>
      <p:sp>
        <p:nvSpPr>
          <p:cNvPr id="15" name="Text 13"/>
          <p:cNvSpPr txBox="1"/>
          <p:nvPr/>
        </p:nvSpPr>
        <p:spPr>
          <a:xfrm>
            <a:off x="502920" y="2761488"/>
            <a:ext cx="219456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インサイダー取引規制</a:t>
            </a:r>
            <a:endParaRPr lang="en-US" sz="1150" dirty="0"/>
          </a:p>
        </p:txBody>
      </p:sp>
      <p:sp>
        <p:nvSpPr>
          <p:cNvPr id="16" name="Shape 14"/>
          <p:cNvSpPr/>
          <p:nvPr/>
        </p:nvSpPr>
        <p:spPr>
          <a:xfrm>
            <a:off x="2679192" y="2761488"/>
            <a:ext cx="0" cy="256032"/>
          </a:xfrm>
          <a:prstGeom prst="line">
            <a:avLst/>
          </a:prstGeom>
          <a:noFill/>
          <a:ln w="12700">
            <a:solidFill>
              <a:srgbClr val="E6E6E6"/>
            </a:solidFill>
            <a:prstDash val="solid"/>
          </a:ln>
        </p:spPr>
      </p:sp>
      <p:sp>
        <p:nvSpPr>
          <p:cNvPr id="17" name="Text 15"/>
          <p:cNvSpPr txBox="1"/>
          <p:nvPr/>
        </p:nvSpPr>
        <p:spPr>
          <a:xfrm>
            <a:off x="2834640" y="2761488"/>
            <a:ext cx="886968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未公表の重要事実を知る会社関係者による株式売買を禁止</a:t>
            </a:r>
            <a:endParaRPr lang="en-US" sz="1150" dirty="0"/>
          </a:p>
        </p:txBody>
      </p:sp>
      <p:sp>
        <p:nvSpPr>
          <p:cNvPr id="18" name="Shape 16"/>
          <p:cNvSpPr/>
          <p:nvPr/>
        </p:nvSpPr>
        <p:spPr>
          <a:xfrm>
            <a:off x="502920" y="3218688"/>
            <a:ext cx="11201400" cy="0"/>
          </a:xfrm>
          <a:prstGeom prst="line">
            <a:avLst/>
          </a:prstGeom>
          <a:noFill/>
          <a:ln w="12700">
            <a:solidFill>
              <a:srgbClr val="E6E6E6"/>
            </a:solidFill>
            <a:prstDash val="solid"/>
          </a:ln>
        </p:spPr>
      </p:sp>
      <p:sp>
        <p:nvSpPr>
          <p:cNvPr id="19" name="Text 17"/>
          <p:cNvSpPr txBox="1"/>
          <p:nvPr/>
        </p:nvSpPr>
        <p:spPr>
          <a:xfrm>
            <a:off x="502920" y="329184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注意：</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直近10年間この論点単独の出題はなく、関連する開示書類名はE-26に集約されて出題される。E-26と合わせて学習すること。</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直近10年単独出題なし</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関連：E-26 有価証券報告書とディスクロージャー（開示書類の詳細）。</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E-21 ／ 独占禁止法・不正競争防止法</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著名表示冒用行為は「混同」を要件としない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不正競争防止法は号ごとに要件（周知性・著名性・混同の要否）が異なる。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72768"/>
            <a:ext cx="11201400" cy="365760"/>
          </a:xfrm>
          <a:prstGeom prst="rect">
            <a:avLst/>
          </a:prstGeom>
          <a:noFill/>
          <a:ln/>
        </p:spPr>
        <p:txBody>
          <a:bodyPr wrap="square" lIns="0" tIns="0" rIns="0" bIns="0" rtlCol="0" anchor="t"/>
          <a:lstStyle/>
          <a:p>
            <a:pPr indent="0" marL="0">
              <a:lnSpc>
                <a:spcPct val="130000"/>
              </a:lnSpc>
              <a:buNone/>
            </a:pPr>
            <a:r>
              <a:rPr lang="en-US" sz="1050" dirty="0">
                <a:solidFill>
                  <a:srgbClr val="8A8A8A"/>
                </a:solidFill>
                <a:latin typeface="Yu Gothic" pitchFamily="34" charset="0"/>
                <a:ea typeface="Yu Gothic" pitchFamily="34" charset="-122"/>
                <a:cs typeface="Yu Gothic" pitchFamily="34" charset="-120"/>
              </a:rPr>
              <a:t>独占禁止法の課徴金減免制度（リニエンシー）と、不正競争防止法上の4類型はどちらも公正な競争秩序を守る制度だが、不正競争防止法は号ごとに周知性・著名性・混同の要否という要件が異なる点がポイント。</a:t>
            </a:r>
            <a:endParaRPr lang="en-US" sz="1050" dirty="0"/>
          </a:p>
        </p:txBody>
      </p:sp>
      <p:sp>
        <p:nvSpPr>
          <p:cNvPr id="9" name="Text 7"/>
          <p:cNvSpPr txBox="1"/>
          <p:nvPr/>
        </p:nvSpPr>
        <p:spPr>
          <a:xfrm>
            <a:off x="502920" y="2304288"/>
            <a:ext cx="20116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周知表示混同惹起</a:t>
            </a:r>
            <a:endParaRPr lang="en-US" sz="1500" dirty="0"/>
          </a:p>
        </p:txBody>
      </p:sp>
      <p:sp>
        <p:nvSpPr>
          <p:cNvPr id="10" name="Text 8"/>
          <p:cNvSpPr txBox="1"/>
          <p:nvPr/>
        </p:nvSpPr>
        <p:spPr>
          <a:xfrm>
            <a:off x="2606040" y="232257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2条1項1号</a:t>
            </a:r>
            <a:endParaRPr lang="en-US" sz="1100" dirty="0"/>
          </a:p>
        </p:txBody>
      </p:sp>
      <p:sp>
        <p:nvSpPr>
          <p:cNvPr id="11" name="Text 9"/>
          <p:cNvSpPr txBox="1"/>
          <p:nvPr/>
        </p:nvSpPr>
        <p:spPr>
          <a:xfrm>
            <a:off x="4160520" y="2267712"/>
            <a:ext cx="75438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周知の商品等表示と同一・類似を使用し混同を生じさせる行為（混同要件あり）</a:t>
            </a:r>
            <a:endParaRPr lang="en-US" sz="1100" dirty="0"/>
          </a:p>
        </p:txBody>
      </p:sp>
      <p:sp>
        <p:nvSpPr>
          <p:cNvPr id="12" name="Shape 10"/>
          <p:cNvSpPr/>
          <p:nvPr/>
        </p:nvSpPr>
        <p:spPr>
          <a:xfrm>
            <a:off x="502920" y="3017520"/>
            <a:ext cx="11201400" cy="0"/>
          </a:xfrm>
          <a:prstGeom prst="line">
            <a:avLst/>
          </a:prstGeom>
          <a:noFill/>
          <a:ln w="12700">
            <a:solidFill>
              <a:srgbClr val="E6E6E6"/>
            </a:solidFill>
            <a:prstDash val="solid"/>
          </a:ln>
        </p:spPr>
      </p:sp>
      <p:sp>
        <p:nvSpPr>
          <p:cNvPr id="13" name="Text 11"/>
          <p:cNvSpPr txBox="1"/>
          <p:nvPr/>
        </p:nvSpPr>
        <p:spPr>
          <a:xfrm>
            <a:off x="502920" y="3127248"/>
            <a:ext cx="20116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著名表示冒用</a:t>
            </a:r>
            <a:endParaRPr lang="en-US" sz="1500" dirty="0"/>
          </a:p>
        </p:txBody>
      </p:sp>
      <p:sp>
        <p:nvSpPr>
          <p:cNvPr id="14" name="Text 12"/>
          <p:cNvSpPr txBox="1"/>
          <p:nvPr/>
        </p:nvSpPr>
        <p:spPr>
          <a:xfrm>
            <a:off x="2606040" y="314553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2条1項2号</a:t>
            </a:r>
            <a:endParaRPr lang="en-US" sz="1100" dirty="0"/>
          </a:p>
        </p:txBody>
      </p:sp>
      <p:sp>
        <p:nvSpPr>
          <p:cNvPr id="15" name="Text 13"/>
          <p:cNvSpPr txBox="1"/>
          <p:nvPr/>
        </p:nvSpPr>
        <p:spPr>
          <a:xfrm>
            <a:off x="4160520" y="3090672"/>
            <a:ext cx="75438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著名な商品等表示と同一・類似を使用する行為（混同は要件ではない）</a:t>
            </a:r>
            <a:endParaRPr lang="en-US" sz="1100" dirty="0"/>
          </a:p>
        </p:txBody>
      </p:sp>
      <p:sp>
        <p:nvSpPr>
          <p:cNvPr id="16" name="Shape 14"/>
          <p:cNvSpPr/>
          <p:nvPr/>
        </p:nvSpPr>
        <p:spPr>
          <a:xfrm>
            <a:off x="502920" y="3840480"/>
            <a:ext cx="11201400" cy="0"/>
          </a:xfrm>
          <a:prstGeom prst="line">
            <a:avLst/>
          </a:prstGeom>
          <a:noFill/>
          <a:ln w="12700">
            <a:solidFill>
              <a:srgbClr val="E6E6E6"/>
            </a:solidFill>
            <a:prstDash val="solid"/>
          </a:ln>
        </p:spPr>
      </p:sp>
      <p:sp>
        <p:nvSpPr>
          <p:cNvPr id="17" name="Text 15"/>
          <p:cNvSpPr txBox="1"/>
          <p:nvPr/>
        </p:nvSpPr>
        <p:spPr>
          <a:xfrm>
            <a:off x="502920" y="3950208"/>
            <a:ext cx="20116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不正ドメイン取得</a:t>
            </a:r>
            <a:endParaRPr lang="en-US" sz="1500" dirty="0"/>
          </a:p>
        </p:txBody>
      </p:sp>
      <p:sp>
        <p:nvSpPr>
          <p:cNvPr id="18" name="Text 16"/>
          <p:cNvSpPr txBox="1"/>
          <p:nvPr/>
        </p:nvSpPr>
        <p:spPr>
          <a:xfrm>
            <a:off x="2606040" y="396849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2条1項19号</a:t>
            </a:r>
            <a:endParaRPr lang="en-US" sz="1100" dirty="0"/>
          </a:p>
        </p:txBody>
      </p:sp>
      <p:sp>
        <p:nvSpPr>
          <p:cNvPr id="19" name="Text 17"/>
          <p:cNvSpPr txBox="1"/>
          <p:nvPr/>
        </p:nvSpPr>
        <p:spPr>
          <a:xfrm>
            <a:off x="4160520" y="3913632"/>
            <a:ext cx="75438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不正の利益目的等でのドメイン名取得・使用（周知・著名性は不要）</a:t>
            </a:r>
            <a:endParaRPr lang="en-US" sz="1100" dirty="0"/>
          </a:p>
        </p:txBody>
      </p:sp>
      <p:sp>
        <p:nvSpPr>
          <p:cNvPr id="20" name="Shape 18"/>
          <p:cNvSpPr/>
          <p:nvPr/>
        </p:nvSpPr>
        <p:spPr>
          <a:xfrm>
            <a:off x="502920" y="4663440"/>
            <a:ext cx="11201400" cy="0"/>
          </a:xfrm>
          <a:prstGeom prst="line">
            <a:avLst/>
          </a:prstGeom>
          <a:noFill/>
          <a:ln w="12700">
            <a:solidFill>
              <a:srgbClr val="E6E6E6"/>
            </a:solidFill>
            <a:prstDash val="solid"/>
          </a:ln>
        </p:spPr>
      </p:sp>
      <p:sp>
        <p:nvSpPr>
          <p:cNvPr id="21" name="Text 19"/>
          <p:cNvSpPr txBox="1"/>
          <p:nvPr/>
        </p:nvSpPr>
        <p:spPr>
          <a:xfrm>
            <a:off x="502920" y="4773168"/>
            <a:ext cx="20116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課徴金減免制度</a:t>
            </a:r>
            <a:endParaRPr lang="en-US" sz="1500" dirty="0"/>
          </a:p>
        </p:txBody>
      </p:sp>
      <p:sp>
        <p:nvSpPr>
          <p:cNvPr id="22" name="Text 20"/>
          <p:cNvSpPr txBox="1"/>
          <p:nvPr/>
        </p:nvSpPr>
        <p:spPr>
          <a:xfrm>
            <a:off x="2606040" y="479145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独禁法</a:t>
            </a:r>
            <a:endParaRPr lang="en-US" sz="1100" dirty="0"/>
          </a:p>
        </p:txBody>
      </p:sp>
      <p:sp>
        <p:nvSpPr>
          <p:cNvPr id="23" name="Text 21"/>
          <p:cNvSpPr txBox="1"/>
          <p:nvPr/>
        </p:nvSpPr>
        <p:spPr>
          <a:xfrm>
            <a:off x="4160520" y="4736592"/>
            <a:ext cx="75438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自ら公取委に申告した事業者は課徴金が減免される（リニエンシー）</a:t>
            </a:r>
            <a:endParaRPr lang="en-US" sz="1100" dirty="0"/>
          </a:p>
        </p:txBody>
      </p:sp>
      <p:sp>
        <p:nvSpPr>
          <p:cNvPr id="24" name="Shape 22"/>
          <p:cNvSpPr/>
          <p:nvPr/>
        </p:nvSpPr>
        <p:spPr>
          <a:xfrm>
            <a:off x="502920" y="5989320"/>
            <a:ext cx="11201400" cy="0"/>
          </a:xfrm>
          <a:prstGeom prst="line">
            <a:avLst/>
          </a:prstGeom>
          <a:noFill/>
          <a:ln w="9525">
            <a:solidFill>
              <a:srgbClr val="171717"/>
            </a:solidFill>
            <a:prstDash val="solid"/>
          </a:ln>
        </p:spPr>
      </p:sp>
      <p:sp>
        <p:nvSpPr>
          <p:cNvPr id="25" name="Shape 23"/>
          <p:cNvSpPr/>
          <p:nvPr/>
        </p:nvSpPr>
        <p:spPr>
          <a:xfrm>
            <a:off x="502920" y="6062472"/>
            <a:ext cx="329184" cy="329184"/>
          </a:xfrm>
          <a:prstGeom prst="ellipse">
            <a:avLst/>
          </a:prstGeom>
          <a:solidFill>
            <a:srgbClr val="FF3B1F"/>
          </a:solidFill>
          <a:ln/>
        </p:spPr>
      </p:sp>
      <p:sp>
        <p:nvSpPr>
          <p:cNvPr id="26" name="Text 24"/>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7" name="Text 25"/>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8" name="Shape 26"/>
          <p:cNvSpPr/>
          <p:nvPr/>
        </p:nvSpPr>
        <p:spPr>
          <a:xfrm>
            <a:off x="2331720" y="6062472"/>
            <a:ext cx="0" cy="329184"/>
          </a:xfrm>
          <a:prstGeom prst="line">
            <a:avLst/>
          </a:prstGeom>
          <a:noFill/>
          <a:ln w="12700">
            <a:solidFill>
              <a:srgbClr val="E6E6E6"/>
            </a:solidFill>
            <a:prstDash val="solid"/>
          </a:ln>
        </p:spPr>
      </p:sp>
      <p:sp>
        <p:nvSpPr>
          <p:cNvPr id="29" name="Text 27"/>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ひっかけ：「商品等表示の"商標"に役務商標は含まれない」は誤り。役務商標（サービスマーク）も含まれる。</a:t>
            </a:r>
            <a:endParaRPr lang="en-US" sz="1000" dirty="0"/>
          </a:p>
        </p:txBody>
      </p:sp>
      <p:sp>
        <p:nvSpPr>
          <p:cNvPr id="30" name="Text 28"/>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1" name="Shape 29"/>
          <p:cNvSpPr/>
          <p:nvPr/>
        </p:nvSpPr>
        <p:spPr>
          <a:xfrm>
            <a:off x="2466594"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3" name="Shape 31"/>
          <p:cNvSpPr/>
          <p:nvPr/>
        </p:nvSpPr>
        <p:spPr>
          <a:xfrm>
            <a:off x="3431286"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5" name="Shape 33"/>
          <p:cNvSpPr/>
          <p:nvPr/>
        </p:nvSpPr>
        <p:spPr>
          <a:xfrm>
            <a:off x="4395978"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7" name="Shape 35"/>
          <p:cNvSpPr/>
          <p:nvPr/>
        </p:nvSpPr>
        <p:spPr>
          <a:xfrm>
            <a:off x="5360670"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9" name="Shape 37"/>
          <p:cNvSpPr/>
          <p:nvPr/>
        </p:nvSpPr>
        <p:spPr>
          <a:xfrm>
            <a:off x="6325362"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1" name="Shape 39"/>
          <p:cNvSpPr/>
          <p:nvPr/>
        </p:nvSpPr>
        <p:spPr>
          <a:xfrm>
            <a:off x="7290054"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3" name="Shape 41"/>
          <p:cNvSpPr/>
          <p:nvPr/>
        </p:nvSpPr>
        <p:spPr>
          <a:xfrm>
            <a:off x="8254746"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5" name="Shape 43"/>
          <p:cNvSpPr/>
          <p:nvPr/>
        </p:nvSpPr>
        <p:spPr>
          <a:xfrm>
            <a:off x="9219438"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7" name="Shape 45"/>
          <p:cNvSpPr/>
          <p:nvPr/>
        </p:nvSpPr>
        <p:spPr>
          <a:xfrm>
            <a:off x="10184130"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9" name="Shape 47"/>
          <p:cNvSpPr/>
          <p:nvPr/>
        </p:nvSpPr>
        <p:spPr>
          <a:xfrm>
            <a:off x="11148822" y="6464808"/>
            <a:ext cx="146304" cy="146304"/>
          </a:xfrm>
          <a:prstGeom prst="ellipse">
            <a:avLst/>
          </a:prstGeom>
          <a:solidFill>
            <a:srgbClr val="FF3B1F"/>
          </a:solidFill>
          <a:ln w="12700">
            <a:solidFill>
              <a:srgbClr val="FF3B1F"/>
            </a:solidFill>
            <a:prstDash val="solid"/>
          </a:ln>
        </p:spPr>
      </p:sp>
      <p:sp>
        <p:nvSpPr>
          <p:cNvPr id="50" name="Text 48"/>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E-21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7772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不正競争防止法に関する記述として、最も適切なものはどれか。なお、選択肢における「特定商品等表示」とは、人の業務に係る氏名、商号、商標、標章その他の商品又は役務を表示するものをいう。</a:t>
            </a:r>
            <a:endParaRPr lang="en-US" sz="1250" dirty="0"/>
          </a:p>
        </p:txBody>
      </p:sp>
      <p:sp>
        <p:nvSpPr>
          <p:cNvPr id="9" name="Text 7"/>
          <p:cNvSpPr txBox="1"/>
          <p:nvPr/>
        </p:nvSpPr>
        <p:spPr>
          <a:xfrm>
            <a:off x="731520" y="256032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営業秘密を保有する事業者からその営業秘密を示された場合において、不正の利益を得る目的で、その営業秘密を使用する行為は不正競争に該当する旨が、不正競争防止法に規定されている。</a:t>
            </a:r>
            <a:endParaRPr lang="en-US" sz="1150" dirty="0"/>
          </a:p>
        </p:txBody>
      </p:sp>
      <p:sp>
        <p:nvSpPr>
          <p:cNvPr id="10" name="Text 8"/>
          <p:cNvSpPr txBox="1"/>
          <p:nvPr/>
        </p:nvSpPr>
        <p:spPr>
          <a:xfrm>
            <a:off x="731520" y="310896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他人の著名な商品等表示と同一又は類似のものを使用する行為が、著名表示冒用行為と認定されるには、他人の商品又は営業と混同を生じさせることが要件となる。</a:t>
            </a:r>
            <a:endParaRPr lang="en-US" sz="1150" dirty="0"/>
          </a:p>
        </p:txBody>
      </p:sp>
      <p:sp>
        <p:nvSpPr>
          <p:cNvPr id="11" name="Text 9"/>
          <p:cNvSpPr txBox="1"/>
          <p:nvPr/>
        </p:nvSpPr>
        <p:spPr>
          <a:xfrm>
            <a:off x="731520" y="365760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「商品等表示」には商標法上の「商標」が含まれるが、ここでいう「商標」には役務商標は含まれない。</a:t>
            </a:r>
            <a:endParaRPr lang="en-US" sz="1150" dirty="0"/>
          </a:p>
        </p:txBody>
      </p:sp>
      <p:sp>
        <p:nvSpPr>
          <p:cNvPr id="12" name="Text 10"/>
          <p:cNvSpPr txBox="1"/>
          <p:nvPr/>
        </p:nvSpPr>
        <p:spPr>
          <a:xfrm>
            <a:off x="731520" y="411480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不正の利益を得る目的で、他人の特定商品等表示と同一又は類似のドメイン名を使用する権利を取得する行為は、当該表示が周知である場合に限り不正競争を構成する。</a:t>
            </a:r>
            <a:endParaRPr lang="en-US" sz="1150" dirty="0"/>
          </a:p>
        </p:txBody>
      </p:sp>
      <p:sp>
        <p:nvSpPr>
          <p:cNvPr id="13" name="Text 11"/>
          <p:cNvSpPr txBox="1"/>
          <p:nvPr/>
        </p:nvSpPr>
        <p:spPr>
          <a:xfrm>
            <a:off x="502920" y="480060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出典：past_exams/1st_stage/1ji2025/E1JI2025.pdf（令和7年度第1次試験）第11問</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E-21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正解はア。営業秘密の不正使用は不正競争防止法に明文で規定される。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09928"/>
            <a:ext cx="11201400" cy="548640"/>
          </a:xfrm>
          <a:prstGeom prst="rect">
            <a:avLst/>
          </a:prstGeom>
          <a:solidFill>
            <a:srgbClr val="F4F4F4"/>
          </a:solidFill>
          <a:ln/>
        </p:spPr>
      </p:sp>
      <p:sp>
        <p:nvSpPr>
          <p:cNvPr id="9" name="Shape 7"/>
          <p:cNvSpPr/>
          <p:nvPr/>
        </p:nvSpPr>
        <p:spPr>
          <a:xfrm>
            <a:off x="502920" y="1709928"/>
            <a:ext cx="0" cy="548640"/>
          </a:xfrm>
          <a:prstGeom prst="line">
            <a:avLst/>
          </a:prstGeom>
          <a:noFill/>
          <a:ln w="38100">
            <a:solidFill>
              <a:srgbClr val="FF3B1F"/>
            </a:solidFill>
            <a:prstDash val="solid"/>
          </a:ln>
        </p:spPr>
      </p:sp>
      <p:sp>
        <p:nvSpPr>
          <p:cNvPr id="10" name="Text 8"/>
          <p:cNvSpPr txBox="1"/>
          <p:nvPr/>
        </p:nvSpPr>
        <p:spPr>
          <a:xfrm>
            <a:off x="731520" y="173736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営業秘密を保有する事業者からその営業秘密を示された場合において、不正の利益を得る目的で、その営業秘密を使用する行為は不正競争に該当する旨が、不正競争防止法に規定されている。</a:t>
            </a:r>
            <a:endParaRPr lang="en-US" sz="1150" dirty="0"/>
          </a:p>
        </p:txBody>
      </p:sp>
      <p:sp>
        <p:nvSpPr>
          <p:cNvPr id="11" name="Text 9"/>
          <p:cNvSpPr txBox="1"/>
          <p:nvPr/>
        </p:nvSpPr>
        <p:spPr>
          <a:xfrm>
            <a:off x="731520" y="228600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他人の著名な商品等表示と同一又は類似のものを使用する行為が、著名表示冒用行為と認定されるには、他人の商品又は営業と混同を生じさせることが要件となる。</a:t>
            </a:r>
            <a:endParaRPr lang="en-US" sz="1150" dirty="0"/>
          </a:p>
        </p:txBody>
      </p:sp>
      <p:sp>
        <p:nvSpPr>
          <p:cNvPr id="12" name="Text 10"/>
          <p:cNvSpPr txBox="1"/>
          <p:nvPr/>
        </p:nvSpPr>
        <p:spPr>
          <a:xfrm>
            <a:off x="731520" y="283464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「商品等表示」には商標法上の「商標」が含まれるが、ここでいう「商標」には役務商標は含まれない。</a:t>
            </a:r>
            <a:endParaRPr lang="en-US" sz="1150" dirty="0"/>
          </a:p>
        </p:txBody>
      </p:sp>
      <p:sp>
        <p:nvSpPr>
          <p:cNvPr id="13" name="Text 11"/>
          <p:cNvSpPr txBox="1"/>
          <p:nvPr/>
        </p:nvSpPr>
        <p:spPr>
          <a:xfrm>
            <a:off x="731520" y="329184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不正の利益を得る目的で、他人の特定商品等表示と同一又は類似のドメイン名を使用する権利を取得する行為は、当該表示が周知である場合に限り不正競争を構成する。</a:t>
            </a:r>
            <a:endParaRPr lang="en-US" sz="1150" dirty="0"/>
          </a:p>
        </p:txBody>
      </p:sp>
      <p:sp>
        <p:nvSpPr>
          <p:cNvPr id="14" name="Shape 12"/>
          <p:cNvSpPr/>
          <p:nvPr/>
        </p:nvSpPr>
        <p:spPr>
          <a:xfrm>
            <a:off x="502920" y="3895344"/>
            <a:ext cx="11201400" cy="0"/>
          </a:xfrm>
          <a:prstGeom prst="line">
            <a:avLst/>
          </a:prstGeom>
          <a:noFill/>
          <a:ln w="12700">
            <a:solidFill>
              <a:srgbClr val="171717"/>
            </a:solidFill>
            <a:prstDash val="solid"/>
          </a:ln>
        </p:spPr>
      </p:sp>
      <p:sp>
        <p:nvSpPr>
          <p:cNvPr id="15" name="Text 13"/>
          <p:cNvSpPr txBox="1"/>
          <p:nvPr/>
        </p:nvSpPr>
        <p:spPr>
          <a:xfrm>
            <a:off x="502920" y="3968496"/>
            <a:ext cx="11201400" cy="621792"/>
          </a:xfrm>
          <a:prstGeom prst="rect">
            <a:avLst/>
          </a:prstGeom>
          <a:noFill/>
          <a:ln/>
        </p:spPr>
        <p:txBody>
          <a:bodyPr wrap="square" lIns="0" tIns="0" rIns="0" bIns="0" rtlCol="0" anchor="ctr"/>
          <a:lstStyle/>
          <a:p>
            <a:pPr indent="0" marL="0">
              <a:lnSpc>
                <a:spcPct val="112000"/>
              </a:lnSpc>
              <a:buNone/>
            </a:pPr>
            <a:r>
              <a:rPr lang="en-US" sz="900" b="1" dirty="0">
                <a:solidFill>
                  <a:srgbClr val="FF3B1F"/>
                </a:solidFill>
                <a:latin typeface="Yu Gothic" pitchFamily="34" charset="0"/>
                <a:ea typeface="Yu Gothic" pitchFamily="34" charset="-122"/>
                <a:cs typeface="Yu Gothic" pitchFamily="34" charset="-120"/>
              </a:rPr>
              <a:t>正解：ア</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2条1項7号は、営業秘密保有者から示された営業秘密を、不正の利益を得る目的等で使用・開示する行為を不正競争として規定しており、記述どおり正しい。イ：著名表示冒用行為（2条1項2号）は著名性のみで足り</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混同は要件ではない</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（保護の必要性が高く希釈化・汚染から保護する趣旨）。ウ：「商標」には</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役務商標も含まれる</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。エ：ドメイン名の不正取得規制（19号）は</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周知・著名性を要件としない</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a:t>
            </a:r>
            <a:endParaRPr lang="en-US" sz="900" dirty="0"/>
          </a:p>
        </p:txBody>
      </p:sp>
      <p:sp>
        <p:nvSpPr>
          <p:cNvPr id="16" name="Text 14"/>
          <p:cNvSpPr txBox="1"/>
          <p:nvPr/>
        </p:nvSpPr>
        <p:spPr>
          <a:xfrm>
            <a:off x="502920" y="4645152"/>
            <a:ext cx="11201400" cy="457200"/>
          </a:xfrm>
          <a:prstGeom prst="rect">
            <a:avLst/>
          </a:prstGeom>
          <a:noFill/>
          <a:ln/>
        </p:spPr>
        <p:txBody>
          <a:bodyPr wrap="square" lIns="0" tIns="0" rIns="0" bIns="0" rtlCol="0" anchor="ctr"/>
          <a:lstStyle/>
          <a:p>
            <a:pPr indent="0" marL="0">
              <a:lnSpc>
                <a:spcPct val="115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15000"/>
              </a:lnSpc>
              <a:buNone/>
            </a:pPr>
            <a:r>
              <a:rPr lang="en-US" sz="900" dirty="0">
                <a:solidFill>
                  <a:srgbClr val="171717"/>
                </a:solidFill>
                <a:latin typeface="Yu Gothic" pitchFamily="34" charset="0"/>
                <a:ea typeface="Yu Gothic" pitchFamily="34" charset="-122"/>
                <a:cs typeface="Yu Gothic" pitchFamily="34" charset="-120"/>
              </a:rPr>
              <a:t>無名の町工場が有名ブランドと似たロゴを使い始めた場合、実際に消費者が混同していなくても著名表示冒用行為（2号）に該当しうる。これが「混同要件あり」の1号との大きな違い。</a:t>
            </a:r>
            <a:endParaRPr lang="en-US" sz="850" dirty="0"/>
          </a:p>
        </p:txBody>
      </p:sp>
      <p:sp>
        <p:nvSpPr>
          <p:cNvPr id="17" name="Text 15"/>
          <p:cNvSpPr txBox="1"/>
          <p:nvPr/>
        </p:nvSpPr>
        <p:spPr>
          <a:xfrm>
            <a:off x="502920" y="5148072"/>
            <a:ext cx="11201400" cy="320040"/>
          </a:xfrm>
          <a:prstGeom prst="rect">
            <a:avLst/>
          </a:prstGeom>
          <a:noFill/>
          <a:ln/>
        </p:spPr>
        <p:txBody>
          <a:bodyPr wrap="square" lIns="0" tIns="0" rIns="0" bIns="0" rtlCol="0" anchor="ctr"/>
          <a:lstStyle/>
          <a:p>
            <a:pPr indent="0" marL="0">
              <a:lnSpc>
                <a:spcPct val="115000"/>
              </a:lnSpc>
              <a:buNone/>
            </a:pPr>
            <a:r>
              <a:rPr lang="en-US" sz="900" dirty="0">
                <a:solidFill>
                  <a:srgbClr val="8A8A8A"/>
                </a:solidFill>
                <a:latin typeface="Yu Gothic" pitchFamily="34" charset="0"/>
                <a:ea typeface="Yu Gothic" pitchFamily="34" charset="-122"/>
                <a:cs typeface="Yu Gothic" pitchFamily="34" charset="-120"/>
              </a:rPr>
              <a:t>関連知識：1号（周知表示混同惹起）＝周知性＋混同要件あり、2号（著名表示冒用）＝著名性のみで混同要件なし、19号（不正ドメイン取得）＝周知・著名性を問わず目的要件のみ、という整理を押さえること。</a:t>
            </a:r>
            <a:endParaRPr lang="en-US" sz="900" dirty="0"/>
          </a:p>
        </p:txBody>
      </p:sp>
      <p:sp>
        <p:nvSpPr>
          <p:cNvPr id="18" name="Text 16"/>
          <p:cNvSpPr txBox="1"/>
          <p:nvPr/>
        </p:nvSpPr>
        <p:spPr>
          <a:xfrm>
            <a:off x="502920" y="5513832"/>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出典：past_exams/1st_stage/1ji2025/E1JI2025.pdf（令和7年度第1次試験）第11問／正解：past_exams/1st_stage_answers/r07/2025e.pdf</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E-22 ／ 製造物責任法・消費者保護法</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PL法は過失を証明しなくても請求できる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「欠陥」の存在を証明すれば足りる点で被害者保護を図る。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36192"/>
            <a:ext cx="11201400" cy="411480"/>
          </a:xfrm>
          <a:prstGeom prst="rect">
            <a:avLst/>
          </a:prstGeom>
          <a:noFill/>
          <a:ln/>
        </p:spPr>
        <p:txBody>
          <a:bodyPr wrap="square" lIns="0" tIns="0" rIns="0" bIns="0" rtlCol="0" anchor="ctr"/>
          <a:lstStyle/>
          <a:p>
            <a:pPr indent="0" marL="0">
              <a:lnSpc>
                <a:spcPct val="125000"/>
              </a:lnSpc>
              <a:buNone/>
            </a:pPr>
            <a:r>
              <a:rPr lang="en-US" sz="1000" dirty="0">
                <a:solidFill>
                  <a:srgbClr val="8A8A8A"/>
                </a:solidFill>
                <a:latin typeface="Yu Gothic" pitchFamily="34" charset="0"/>
                <a:ea typeface="Yu Gothic" pitchFamily="34" charset="-122"/>
                <a:cs typeface="Yu Gothic" pitchFamily="34" charset="-120"/>
              </a:rPr>
              <a:t>製造物責任法（PL法）は、通常の不法行為責任と異なり過失の証明なしに「欠陥」の証明だけで請求できる被害者保護の制度。消費者契約法・景品表示法は、それぞれ契約段階・表示段階で消費者を守る別の法律として併記される。</a:t>
            </a:r>
            <a:endParaRPr lang="en-US" sz="1000" dirty="0"/>
          </a:p>
        </p:txBody>
      </p:sp>
      <p:sp>
        <p:nvSpPr>
          <p:cNvPr id="9" name="Text 7"/>
          <p:cNvSpPr txBox="1"/>
          <p:nvPr/>
        </p:nvSpPr>
        <p:spPr>
          <a:xfrm>
            <a:off x="502920" y="2011680"/>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PL法の対象</a:t>
            </a:r>
            <a:endParaRPr lang="en-US" sz="1050" dirty="0"/>
          </a:p>
        </p:txBody>
      </p:sp>
      <p:sp>
        <p:nvSpPr>
          <p:cNvPr id="10" name="Shape 8"/>
          <p:cNvSpPr/>
          <p:nvPr/>
        </p:nvSpPr>
        <p:spPr>
          <a:xfrm>
            <a:off x="2313432" y="2011680"/>
            <a:ext cx="0" cy="256032"/>
          </a:xfrm>
          <a:prstGeom prst="line">
            <a:avLst/>
          </a:prstGeom>
          <a:noFill/>
          <a:ln w="12700">
            <a:solidFill>
              <a:srgbClr val="E6E6E6"/>
            </a:solidFill>
            <a:prstDash val="solid"/>
          </a:ln>
        </p:spPr>
      </p:sp>
      <p:sp>
        <p:nvSpPr>
          <p:cNvPr id="11" name="Text 9"/>
          <p:cNvSpPr txBox="1"/>
          <p:nvPr/>
        </p:nvSpPr>
        <p:spPr>
          <a:xfrm>
            <a:off x="2468880" y="2011680"/>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製造・加工された動産。未加工農林畜水産物や不動産、ソフトウェア単体は対象外</a:t>
            </a:r>
            <a:endParaRPr lang="en-US" sz="1050" dirty="0"/>
          </a:p>
        </p:txBody>
      </p:sp>
      <p:sp>
        <p:nvSpPr>
          <p:cNvPr id="12" name="Text 10"/>
          <p:cNvSpPr txBox="1"/>
          <p:nvPr/>
        </p:nvSpPr>
        <p:spPr>
          <a:xfrm>
            <a:off x="502920" y="2340864"/>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請求権の期間</a:t>
            </a:r>
            <a:endParaRPr lang="en-US" sz="1050" dirty="0"/>
          </a:p>
        </p:txBody>
      </p:sp>
      <p:sp>
        <p:nvSpPr>
          <p:cNvPr id="13" name="Shape 11"/>
          <p:cNvSpPr/>
          <p:nvPr/>
        </p:nvSpPr>
        <p:spPr>
          <a:xfrm>
            <a:off x="2313432" y="2340864"/>
            <a:ext cx="0" cy="256032"/>
          </a:xfrm>
          <a:prstGeom prst="line">
            <a:avLst/>
          </a:prstGeom>
          <a:noFill/>
          <a:ln w="12700">
            <a:solidFill>
              <a:srgbClr val="E6E6E6"/>
            </a:solidFill>
            <a:prstDash val="solid"/>
          </a:ln>
        </p:spPr>
      </p:sp>
      <p:sp>
        <p:nvSpPr>
          <p:cNvPr id="14" name="Text 12"/>
          <p:cNvSpPr txBox="1"/>
          <p:nvPr/>
        </p:nvSpPr>
        <p:spPr>
          <a:xfrm>
            <a:off x="2468880" y="2340864"/>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知った時から3年（生命・身体侵害は5年）、引渡しから10年</a:t>
            </a:r>
            <a:endParaRPr lang="en-US" sz="1050" dirty="0"/>
          </a:p>
        </p:txBody>
      </p:sp>
      <p:sp>
        <p:nvSpPr>
          <p:cNvPr id="15" name="Text 13"/>
          <p:cNvSpPr txBox="1"/>
          <p:nvPr/>
        </p:nvSpPr>
        <p:spPr>
          <a:xfrm>
            <a:off x="502920" y="2670048"/>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消費者契約法</a:t>
            </a:r>
            <a:endParaRPr lang="en-US" sz="1050" dirty="0"/>
          </a:p>
        </p:txBody>
      </p:sp>
      <p:sp>
        <p:nvSpPr>
          <p:cNvPr id="16" name="Shape 14"/>
          <p:cNvSpPr/>
          <p:nvPr/>
        </p:nvSpPr>
        <p:spPr>
          <a:xfrm>
            <a:off x="2313432" y="2670048"/>
            <a:ext cx="0" cy="256032"/>
          </a:xfrm>
          <a:prstGeom prst="line">
            <a:avLst/>
          </a:prstGeom>
          <a:noFill/>
          <a:ln w="12700">
            <a:solidFill>
              <a:srgbClr val="E6E6E6"/>
            </a:solidFill>
            <a:prstDash val="solid"/>
          </a:ln>
        </p:spPr>
      </p:sp>
      <p:sp>
        <p:nvSpPr>
          <p:cNvPr id="17" name="Text 15"/>
          <p:cNvSpPr txBox="1"/>
          <p:nvPr/>
        </p:nvSpPr>
        <p:spPr>
          <a:xfrm>
            <a:off x="2468880" y="2670048"/>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不実告知・断定的判断の提供・不退去等があれば契約を取り消せる</a:t>
            </a:r>
            <a:endParaRPr lang="en-US" sz="1050" dirty="0"/>
          </a:p>
        </p:txBody>
      </p:sp>
      <p:sp>
        <p:nvSpPr>
          <p:cNvPr id="18" name="Text 16"/>
          <p:cNvSpPr txBox="1"/>
          <p:nvPr/>
        </p:nvSpPr>
        <p:spPr>
          <a:xfrm>
            <a:off x="502920" y="2999232"/>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景品表示法</a:t>
            </a:r>
            <a:endParaRPr lang="en-US" sz="1050" dirty="0"/>
          </a:p>
        </p:txBody>
      </p:sp>
      <p:sp>
        <p:nvSpPr>
          <p:cNvPr id="19" name="Shape 17"/>
          <p:cNvSpPr/>
          <p:nvPr/>
        </p:nvSpPr>
        <p:spPr>
          <a:xfrm>
            <a:off x="2313432" y="2999232"/>
            <a:ext cx="0" cy="256032"/>
          </a:xfrm>
          <a:prstGeom prst="line">
            <a:avLst/>
          </a:prstGeom>
          <a:noFill/>
          <a:ln w="12700">
            <a:solidFill>
              <a:srgbClr val="E6E6E6"/>
            </a:solidFill>
            <a:prstDash val="solid"/>
          </a:ln>
        </p:spPr>
      </p:sp>
      <p:sp>
        <p:nvSpPr>
          <p:cNvPr id="20" name="Text 18"/>
          <p:cNvSpPr txBox="1"/>
          <p:nvPr/>
        </p:nvSpPr>
        <p:spPr>
          <a:xfrm>
            <a:off x="2468880" y="2999232"/>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優良誤認表示・有利誤認表示を禁止</a:t>
            </a:r>
            <a:endParaRPr lang="en-US" sz="1050" dirty="0"/>
          </a:p>
        </p:txBody>
      </p:sp>
      <p:sp>
        <p:nvSpPr>
          <p:cNvPr id="21" name="Shape 19"/>
          <p:cNvSpPr/>
          <p:nvPr/>
        </p:nvSpPr>
        <p:spPr>
          <a:xfrm>
            <a:off x="502920" y="3401568"/>
            <a:ext cx="11201400" cy="0"/>
          </a:xfrm>
          <a:prstGeom prst="line">
            <a:avLst/>
          </a:prstGeom>
          <a:noFill/>
          <a:ln w="12700">
            <a:solidFill>
              <a:srgbClr val="E6E6E6"/>
            </a:solidFill>
            <a:prstDash val="solid"/>
          </a:ln>
        </p:spPr>
      </p:sp>
      <p:sp>
        <p:nvSpPr>
          <p:cNvPr id="22" name="Text 20"/>
          <p:cNvSpPr txBox="1"/>
          <p:nvPr/>
        </p:nvSpPr>
        <p:spPr>
          <a:xfrm>
            <a:off x="502920" y="347472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期間制限は「一律3年」ではなく、生命・身体の侵害は5年に延長。加えて引渡しから10年の長期制限も別途存在する。</a:t>
            </a:r>
            <a:endParaRPr lang="en-US" sz="9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関連：E-17 民法（PL法は過失不要な点で通常の不法行為責任と異なる）。</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E-23 ／ 事業承継に関する法（経営承継円滑化法）</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「除外」は計算から外す、「固定」は評価額を止める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後継者の自社株式承継が遺留分侵害額請求を受けるリスクを防ぐ特例。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914400"/>
          </a:xfrm>
          <a:prstGeom prst="rect">
            <a:avLst/>
          </a:prstGeom>
          <a:noFill/>
          <a:ln/>
        </p:spPr>
        <p:txBody>
          <a:bodyPr wrap="square" lIns="0" tIns="0" rIns="0" bIns="0" rtlCol="0" anchor="ctr"/>
          <a:lstStyle/>
          <a:p>
            <a:pPr indent="0" marL="0">
              <a:lnSpc>
                <a:spcPct val="125000"/>
              </a:lnSpc>
              <a:buNone/>
            </a:pPr>
            <a:r>
              <a:rPr lang="en-US" sz="1000" dirty="0">
                <a:solidFill>
                  <a:srgbClr val="8A8A8A"/>
                </a:solidFill>
                <a:latin typeface="Yu Gothic" pitchFamily="34" charset="0"/>
                <a:ea typeface="Yu Gothic" pitchFamily="34" charset="-122"/>
                <a:cs typeface="Yu Gothic" pitchFamily="34" charset="-120"/>
              </a:rPr>
              <a:t>後継者に自社株式を集中して承継させると、他の相続人の遺留分を侵害しやすく、後継者が遺留分侵害額請求を受けて経営に必要な株式を手放しかねない。経営承継円滑化法の2つの合意は、右図のとおり遺留分の算定基準そのものを動かしてこのリスクを防ぐ特例。</a:t>
            </a:r>
            <a:endParaRPr lang="en-US" sz="1000" dirty="0"/>
          </a:p>
        </p:txBody>
      </p:sp>
      <p:sp>
        <p:nvSpPr>
          <p:cNvPr id="9" name="Text 7"/>
          <p:cNvSpPr txBox="1"/>
          <p:nvPr/>
        </p:nvSpPr>
        <p:spPr>
          <a:xfrm>
            <a:off x="502920" y="2679192"/>
            <a:ext cx="1554480" cy="53035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除外合意</a:t>
            </a:r>
            <a:endParaRPr lang="en-US" sz="1000" dirty="0"/>
          </a:p>
        </p:txBody>
      </p:sp>
      <p:sp>
        <p:nvSpPr>
          <p:cNvPr id="10" name="Shape 8"/>
          <p:cNvSpPr/>
          <p:nvPr/>
        </p:nvSpPr>
        <p:spPr>
          <a:xfrm>
            <a:off x="2039112" y="2679192"/>
            <a:ext cx="0" cy="256032"/>
          </a:xfrm>
          <a:prstGeom prst="line">
            <a:avLst/>
          </a:prstGeom>
          <a:noFill/>
          <a:ln w="12700">
            <a:solidFill>
              <a:srgbClr val="E6E6E6"/>
            </a:solidFill>
            <a:prstDash val="solid"/>
          </a:ln>
        </p:spPr>
      </p:sp>
      <p:sp>
        <p:nvSpPr>
          <p:cNvPr id="11" name="Text 9"/>
          <p:cNvSpPr txBox="1"/>
          <p:nvPr/>
        </p:nvSpPr>
        <p:spPr>
          <a:xfrm>
            <a:off x="2194560" y="2679192"/>
            <a:ext cx="5074920" cy="53035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贈与株式・事業用資産の価額を遺留分算定の財産から除外する合意</a:t>
            </a:r>
            <a:endParaRPr lang="en-US" sz="1000" dirty="0"/>
          </a:p>
        </p:txBody>
      </p:sp>
      <p:sp>
        <p:nvSpPr>
          <p:cNvPr id="12" name="Text 10"/>
          <p:cNvSpPr txBox="1"/>
          <p:nvPr/>
        </p:nvSpPr>
        <p:spPr>
          <a:xfrm>
            <a:off x="502920" y="3227832"/>
            <a:ext cx="1554480" cy="53035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固定合意</a:t>
            </a:r>
            <a:endParaRPr lang="en-US" sz="1000" dirty="0"/>
          </a:p>
        </p:txBody>
      </p:sp>
      <p:sp>
        <p:nvSpPr>
          <p:cNvPr id="13" name="Shape 11"/>
          <p:cNvSpPr/>
          <p:nvPr/>
        </p:nvSpPr>
        <p:spPr>
          <a:xfrm>
            <a:off x="2039112" y="3227832"/>
            <a:ext cx="0" cy="256032"/>
          </a:xfrm>
          <a:prstGeom prst="line">
            <a:avLst/>
          </a:prstGeom>
          <a:noFill/>
          <a:ln w="12700">
            <a:solidFill>
              <a:srgbClr val="E6E6E6"/>
            </a:solidFill>
            <a:prstDash val="solid"/>
          </a:ln>
        </p:spPr>
      </p:sp>
      <p:sp>
        <p:nvSpPr>
          <p:cNvPr id="14" name="Text 12"/>
          <p:cNvSpPr txBox="1"/>
          <p:nvPr/>
        </p:nvSpPr>
        <p:spPr>
          <a:xfrm>
            <a:off x="2194560" y="3227832"/>
            <a:ext cx="5074920" cy="53035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遺留分算定時の自社株式評価額を合意時の時価に固定する合意（株式のみ）</a:t>
            </a:r>
            <a:endParaRPr lang="en-US" sz="1000" dirty="0"/>
          </a:p>
        </p:txBody>
      </p:sp>
      <p:sp>
        <p:nvSpPr>
          <p:cNvPr id="15" name="Text 13"/>
          <p:cNvSpPr txBox="1"/>
          <p:nvPr/>
        </p:nvSpPr>
        <p:spPr>
          <a:xfrm>
            <a:off x="502920" y="3776472"/>
            <a:ext cx="1554480" cy="53035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効力発生要件</a:t>
            </a:r>
            <a:endParaRPr lang="en-US" sz="1000" dirty="0"/>
          </a:p>
        </p:txBody>
      </p:sp>
      <p:sp>
        <p:nvSpPr>
          <p:cNvPr id="16" name="Shape 14"/>
          <p:cNvSpPr/>
          <p:nvPr/>
        </p:nvSpPr>
        <p:spPr>
          <a:xfrm>
            <a:off x="2039112" y="3776472"/>
            <a:ext cx="0" cy="256032"/>
          </a:xfrm>
          <a:prstGeom prst="line">
            <a:avLst/>
          </a:prstGeom>
          <a:noFill/>
          <a:ln w="12700">
            <a:solidFill>
              <a:srgbClr val="E6E6E6"/>
            </a:solidFill>
            <a:prstDash val="solid"/>
          </a:ln>
        </p:spPr>
      </p:sp>
      <p:sp>
        <p:nvSpPr>
          <p:cNvPr id="17" name="Text 15"/>
          <p:cNvSpPr txBox="1"/>
          <p:nvPr/>
        </p:nvSpPr>
        <p:spPr>
          <a:xfrm>
            <a:off x="2194560" y="3776472"/>
            <a:ext cx="5074920" cy="53035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推定相続人全員の合意＋経済産業大臣の確認＋家庭裁判所の許可</a:t>
            </a:r>
            <a:endParaRPr lang="en-US" sz="1000" dirty="0"/>
          </a:p>
        </p:txBody>
      </p:sp>
      <p:sp>
        <p:nvSpPr>
          <p:cNvPr id="18" name="Text 16"/>
          <p:cNvSpPr txBox="1"/>
          <p:nvPr/>
        </p:nvSpPr>
        <p:spPr>
          <a:xfrm>
            <a:off x="502920" y="4370832"/>
            <a:ext cx="676656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「除外＝計算から外す」「固定＝評価額を止める」を混同しない。固定合意は自社株式のみに使える。</a:t>
            </a:r>
            <a:endParaRPr lang="en-US" sz="950" dirty="0"/>
          </a:p>
        </p:txBody>
      </p:sp>
      <p:sp>
        <p:nvSpPr>
          <p:cNvPr id="19" name="Shape 17"/>
          <p:cNvSpPr/>
          <p:nvPr/>
        </p:nvSpPr>
        <p:spPr>
          <a:xfrm>
            <a:off x="7543800" y="5074920"/>
            <a:ext cx="3703320" cy="0"/>
          </a:xfrm>
          <a:prstGeom prst="line">
            <a:avLst/>
          </a:prstGeom>
          <a:noFill/>
          <a:ln w="15875">
            <a:solidFill>
              <a:srgbClr val="171717"/>
            </a:solidFill>
            <a:prstDash val="solid"/>
          </a:ln>
        </p:spPr>
      </p:sp>
      <p:sp>
        <p:nvSpPr>
          <p:cNvPr id="20" name="Shape 18"/>
          <p:cNvSpPr/>
          <p:nvPr/>
        </p:nvSpPr>
        <p:spPr>
          <a:xfrm>
            <a:off x="7818120" y="2560320"/>
            <a:ext cx="868680" cy="2514600"/>
          </a:xfrm>
          <a:prstGeom prst="rect">
            <a:avLst/>
          </a:prstGeom>
          <a:solidFill>
            <a:srgbClr val="F4F4F4"/>
          </a:solidFill>
          <a:ln w="12700">
            <a:solidFill>
              <a:srgbClr val="171717"/>
            </a:solidFill>
            <a:prstDash val="solid"/>
          </a:ln>
        </p:spPr>
      </p:sp>
      <p:sp>
        <p:nvSpPr>
          <p:cNvPr id="21" name="Text 19"/>
          <p:cNvSpPr txBox="1"/>
          <p:nvPr/>
        </p:nvSpPr>
        <p:spPr>
          <a:xfrm>
            <a:off x="7635240" y="2103120"/>
            <a:ext cx="1234440" cy="420624"/>
          </a:xfrm>
          <a:prstGeom prst="rect">
            <a:avLst/>
          </a:prstGeom>
          <a:noFill/>
          <a:ln/>
        </p:spPr>
        <p:txBody>
          <a:bodyPr wrap="square" lIns="0" tIns="0" rIns="0" bIns="0" rtlCol="0" anchor="ctr"/>
          <a:lstStyle/>
          <a:p>
            <a:pPr algn="ctr" indent="0" marL="0">
              <a:lnSpc>
                <a:spcPct val="105000"/>
              </a:lnSpc>
              <a:buNone/>
            </a:pPr>
            <a:r>
              <a:rPr lang="en-US" sz="750" dirty="0">
                <a:solidFill>
                  <a:srgbClr val="171717"/>
                </a:solidFill>
                <a:latin typeface="Yu Gothic" pitchFamily="34" charset="0"/>
                <a:ea typeface="Yu Gothic" pitchFamily="34" charset="-122"/>
                <a:cs typeface="Yu Gothic" pitchFamily="34" charset="-120"/>
              </a:rPr>
              <a:t>相続開始時の</a:t>
            </a:r>
            <a:endParaRPr lang="en-US" sz="750" dirty="0"/>
          </a:p>
          <a:p>
            <a:pPr algn="ctr" indent="0" marL="0">
              <a:lnSpc>
                <a:spcPct val="105000"/>
              </a:lnSpc>
              <a:buNone/>
            </a:pPr>
            <a:r>
              <a:rPr lang="en-US" sz="750" dirty="0">
                <a:solidFill>
                  <a:srgbClr val="171717"/>
                </a:solidFill>
                <a:latin typeface="Yu Gothic" pitchFamily="34" charset="0"/>
                <a:ea typeface="Yu Gothic" pitchFamily="34" charset="-122"/>
                <a:cs typeface="Yu Gothic" pitchFamily="34" charset="-120"/>
              </a:rPr>
              <a:t>時価まで成長</a:t>
            </a:r>
            <a:endParaRPr lang="en-US" sz="750" dirty="0"/>
          </a:p>
        </p:txBody>
      </p:sp>
      <p:sp>
        <p:nvSpPr>
          <p:cNvPr id="22" name="Text 20"/>
          <p:cNvSpPr txBox="1"/>
          <p:nvPr/>
        </p:nvSpPr>
        <p:spPr>
          <a:xfrm>
            <a:off x="7680960" y="5129784"/>
            <a:ext cx="1143000" cy="274320"/>
          </a:xfrm>
          <a:prstGeom prst="rect">
            <a:avLst/>
          </a:prstGeom>
          <a:noFill/>
          <a:ln/>
        </p:spPr>
        <p:txBody>
          <a:bodyPr wrap="square" lIns="0" tIns="0" rIns="0" bIns="0" rtlCol="0" anchor="ctr"/>
          <a:lstStyle/>
          <a:p>
            <a:pPr algn="ctr" indent="0" marL="0">
              <a:buNone/>
            </a:pPr>
            <a:r>
              <a:rPr lang="en-US" sz="850" dirty="0">
                <a:solidFill>
                  <a:srgbClr val="171717"/>
                </a:solidFill>
                <a:latin typeface="Yu Gothic" pitchFamily="34" charset="0"/>
                <a:ea typeface="Yu Gothic" pitchFamily="34" charset="-122"/>
                <a:cs typeface="Yu Gothic" pitchFamily="34" charset="-120"/>
              </a:rPr>
              <a:t>合意なし</a:t>
            </a:r>
            <a:endParaRPr lang="en-US" sz="850" dirty="0"/>
          </a:p>
        </p:txBody>
      </p:sp>
      <p:sp>
        <p:nvSpPr>
          <p:cNvPr id="23" name="Shape 21"/>
          <p:cNvSpPr/>
          <p:nvPr/>
        </p:nvSpPr>
        <p:spPr>
          <a:xfrm>
            <a:off x="8961120" y="3840480"/>
            <a:ext cx="868680" cy="1234440"/>
          </a:xfrm>
          <a:prstGeom prst="rect">
            <a:avLst/>
          </a:prstGeom>
          <a:solidFill>
            <a:srgbClr val="F4F4F4"/>
          </a:solidFill>
          <a:ln w="12700">
            <a:solidFill>
              <a:srgbClr val="171717"/>
            </a:solidFill>
            <a:prstDash val="solid"/>
          </a:ln>
        </p:spPr>
      </p:sp>
      <p:sp>
        <p:nvSpPr>
          <p:cNvPr id="24" name="Text 22"/>
          <p:cNvSpPr txBox="1"/>
          <p:nvPr/>
        </p:nvSpPr>
        <p:spPr>
          <a:xfrm>
            <a:off x="8778240" y="3383280"/>
            <a:ext cx="1234440" cy="420624"/>
          </a:xfrm>
          <a:prstGeom prst="rect">
            <a:avLst/>
          </a:prstGeom>
          <a:noFill/>
          <a:ln/>
        </p:spPr>
        <p:txBody>
          <a:bodyPr wrap="square" lIns="0" tIns="0" rIns="0" bIns="0" rtlCol="0" anchor="ctr"/>
          <a:lstStyle/>
          <a:p>
            <a:pPr algn="ctr" indent="0" marL="0">
              <a:lnSpc>
                <a:spcPct val="105000"/>
              </a:lnSpc>
              <a:buNone/>
            </a:pPr>
            <a:r>
              <a:rPr lang="en-US" sz="750" dirty="0">
                <a:solidFill>
                  <a:srgbClr val="171717"/>
                </a:solidFill>
                <a:latin typeface="Yu Gothic" pitchFamily="34" charset="0"/>
                <a:ea typeface="Yu Gothic" pitchFamily="34" charset="-122"/>
                <a:cs typeface="Yu Gothic" pitchFamily="34" charset="-120"/>
              </a:rPr>
              <a:t>合意時点で</a:t>
            </a:r>
            <a:endParaRPr lang="en-US" sz="750" dirty="0"/>
          </a:p>
          <a:p>
            <a:pPr algn="ctr" indent="0" marL="0">
              <a:lnSpc>
                <a:spcPct val="105000"/>
              </a:lnSpc>
              <a:buNone/>
            </a:pPr>
            <a:r>
              <a:rPr lang="en-US" sz="750" dirty="0">
                <a:solidFill>
                  <a:srgbClr val="171717"/>
                </a:solidFill>
                <a:latin typeface="Yu Gothic" pitchFamily="34" charset="0"/>
                <a:ea typeface="Yu Gothic" pitchFamily="34" charset="-122"/>
                <a:cs typeface="Yu Gothic" pitchFamily="34" charset="-120"/>
              </a:rPr>
              <a:t>評価額を固定</a:t>
            </a:r>
            <a:endParaRPr lang="en-US" sz="750" dirty="0"/>
          </a:p>
        </p:txBody>
      </p:sp>
      <p:sp>
        <p:nvSpPr>
          <p:cNvPr id="25" name="Text 23"/>
          <p:cNvSpPr txBox="1"/>
          <p:nvPr/>
        </p:nvSpPr>
        <p:spPr>
          <a:xfrm>
            <a:off x="8823960" y="5129784"/>
            <a:ext cx="1143000" cy="274320"/>
          </a:xfrm>
          <a:prstGeom prst="rect">
            <a:avLst/>
          </a:prstGeom>
          <a:noFill/>
          <a:ln/>
        </p:spPr>
        <p:txBody>
          <a:bodyPr wrap="square" lIns="0" tIns="0" rIns="0" bIns="0" rtlCol="0" anchor="ctr"/>
          <a:lstStyle/>
          <a:p>
            <a:pPr algn="ctr" indent="0" marL="0">
              <a:buNone/>
            </a:pPr>
            <a:r>
              <a:rPr lang="en-US" sz="850" dirty="0">
                <a:solidFill>
                  <a:srgbClr val="171717"/>
                </a:solidFill>
                <a:latin typeface="Yu Gothic" pitchFamily="34" charset="0"/>
                <a:ea typeface="Yu Gothic" pitchFamily="34" charset="-122"/>
                <a:cs typeface="Yu Gothic" pitchFamily="34" charset="-120"/>
              </a:rPr>
              <a:t>固定合意</a:t>
            </a:r>
            <a:endParaRPr lang="en-US" sz="850" dirty="0"/>
          </a:p>
        </p:txBody>
      </p:sp>
      <p:sp>
        <p:nvSpPr>
          <p:cNvPr id="26" name="Shape 24"/>
          <p:cNvSpPr/>
          <p:nvPr/>
        </p:nvSpPr>
        <p:spPr>
          <a:xfrm>
            <a:off x="10104120" y="4965192"/>
            <a:ext cx="868680" cy="109728"/>
          </a:xfrm>
          <a:prstGeom prst="rect">
            <a:avLst/>
          </a:prstGeom>
          <a:solidFill>
            <a:srgbClr val="FF3B1F"/>
          </a:solidFill>
          <a:ln/>
        </p:spPr>
      </p:sp>
      <p:sp>
        <p:nvSpPr>
          <p:cNvPr id="27" name="Text 25"/>
          <p:cNvSpPr txBox="1"/>
          <p:nvPr/>
        </p:nvSpPr>
        <p:spPr>
          <a:xfrm>
            <a:off x="9921240" y="4507992"/>
            <a:ext cx="1234440" cy="420624"/>
          </a:xfrm>
          <a:prstGeom prst="rect">
            <a:avLst/>
          </a:prstGeom>
          <a:noFill/>
          <a:ln/>
        </p:spPr>
        <p:txBody>
          <a:bodyPr wrap="square" lIns="0" tIns="0" rIns="0" bIns="0" rtlCol="0" anchor="ctr"/>
          <a:lstStyle/>
          <a:p>
            <a:pPr algn="ctr" indent="0" marL="0">
              <a:lnSpc>
                <a:spcPct val="105000"/>
              </a:lnSpc>
              <a:buNone/>
            </a:pPr>
            <a:r>
              <a:rPr lang="en-US" sz="750" b="1" dirty="0">
                <a:solidFill>
                  <a:srgbClr val="FF3B1F"/>
                </a:solidFill>
                <a:latin typeface="Yu Gothic" pitchFamily="34" charset="0"/>
                <a:ea typeface="Yu Gothic" pitchFamily="34" charset="-122"/>
                <a:cs typeface="Yu Gothic" pitchFamily="34" charset="-120"/>
              </a:rPr>
              <a:t>対象外</a:t>
            </a:r>
            <a:endParaRPr lang="en-US" sz="750" dirty="0"/>
          </a:p>
          <a:p>
            <a:pPr algn="ctr" indent="0" marL="0">
              <a:lnSpc>
                <a:spcPct val="105000"/>
              </a:lnSpc>
              <a:buNone/>
            </a:pPr>
            <a:r>
              <a:rPr lang="en-US" sz="750" b="1" dirty="0">
                <a:solidFill>
                  <a:srgbClr val="FF3B1F"/>
                </a:solidFill>
                <a:latin typeface="Yu Gothic" pitchFamily="34" charset="0"/>
                <a:ea typeface="Yu Gothic" pitchFamily="34" charset="-122"/>
                <a:cs typeface="Yu Gothic" pitchFamily="34" charset="-120"/>
              </a:rPr>
              <a:t>（ゼロ）</a:t>
            </a:r>
            <a:endParaRPr lang="en-US" sz="750" dirty="0"/>
          </a:p>
        </p:txBody>
      </p:sp>
      <p:sp>
        <p:nvSpPr>
          <p:cNvPr id="28" name="Text 26"/>
          <p:cNvSpPr txBox="1"/>
          <p:nvPr/>
        </p:nvSpPr>
        <p:spPr>
          <a:xfrm>
            <a:off x="9966960" y="5129784"/>
            <a:ext cx="1143000" cy="274320"/>
          </a:xfrm>
          <a:prstGeom prst="rect">
            <a:avLst/>
          </a:prstGeom>
          <a:noFill/>
          <a:ln/>
        </p:spPr>
        <p:txBody>
          <a:bodyPr wrap="square" lIns="0" tIns="0" rIns="0" bIns="0" rtlCol="0" anchor="ctr"/>
          <a:lstStyle/>
          <a:p>
            <a:pPr algn="ctr" indent="0" marL="0">
              <a:buNone/>
            </a:pPr>
            <a:r>
              <a:rPr lang="en-US" sz="850" b="1" dirty="0">
                <a:solidFill>
                  <a:srgbClr val="171717"/>
                </a:solidFill>
                <a:latin typeface="Yu Gothic" pitchFamily="34" charset="0"/>
                <a:ea typeface="Yu Gothic" pitchFamily="34" charset="-122"/>
                <a:cs typeface="Yu Gothic" pitchFamily="34" charset="-120"/>
              </a:rPr>
              <a:t>除外合意</a:t>
            </a:r>
            <a:endParaRPr lang="en-US" sz="850" dirty="0"/>
          </a:p>
        </p:txBody>
      </p:sp>
      <p:sp>
        <p:nvSpPr>
          <p:cNvPr id="29" name="Text 27"/>
          <p:cNvSpPr txBox="1"/>
          <p:nvPr/>
        </p:nvSpPr>
        <p:spPr>
          <a:xfrm>
            <a:off x="7543800" y="5458968"/>
            <a:ext cx="3703320" cy="274320"/>
          </a:xfrm>
          <a:prstGeom prst="rect">
            <a:avLst/>
          </a:prstGeom>
          <a:noFill/>
          <a:ln/>
        </p:spPr>
        <p:txBody>
          <a:bodyPr wrap="square" lIns="0" tIns="0" rIns="0" bIns="0" rtlCol="0" anchor="ctr"/>
          <a:lstStyle/>
          <a:p>
            <a:pPr algn="ctr" indent="0" marL="0">
              <a:buNone/>
            </a:pPr>
            <a:r>
              <a:rPr lang="en-US" sz="800" dirty="0">
                <a:solidFill>
                  <a:srgbClr val="8A8A8A"/>
                </a:solidFill>
                <a:latin typeface="Yu Gothic" pitchFamily="34" charset="0"/>
                <a:ea typeface="Yu Gothic" pitchFamily="34" charset="-122"/>
                <a:cs typeface="Yu Gothic" pitchFamily="34" charset="-120"/>
              </a:rPr>
              <a:t>遺留分算定の基準となる評価額のイメージ</a:t>
            </a:r>
            <a:endParaRPr lang="en-US" sz="800" dirty="0"/>
          </a:p>
        </p:txBody>
      </p:sp>
      <p:sp>
        <p:nvSpPr>
          <p:cNvPr id="30" name="Shape 28"/>
          <p:cNvSpPr/>
          <p:nvPr/>
        </p:nvSpPr>
        <p:spPr>
          <a:xfrm>
            <a:off x="502920" y="5989320"/>
            <a:ext cx="11201400" cy="0"/>
          </a:xfrm>
          <a:prstGeom prst="line">
            <a:avLst/>
          </a:prstGeom>
          <a:noFill/>
          <a:ln w="9525">
            <a:solidFill>
              <a:srgbClr val="171717"/>
            </a:solidFill>
            <a:prstDash val="solid"/>
          </a:ln>
        </p:spPr>
      </p:sp>
      <p:sp>
        <p:nvSpPr>
          <p:cNvPr id="31" name="Shape 29"/>
          <p:cNvSpPr/>
          <p:nvPr/>
        </p:nvSpPr>
        <p:spPr>
          <a:xfrm>
            <a:off x="502920" y="6062472"/>
            <a:ext cx="329184" cy="329184"/>
          </a:xfrm>
          <a:prstGeom prst="ellipse">
            <a:avLst/>
          </a:prstGeom>
          <a:solidFill>
            <a:srgbClr val="FF3B1F"/>
          </a:solidFill>
          <a:ln/>
        </p:spPr>
      </p:sp>
      <p:sp>
        <p:nvSpPr>
          <p:cNvPr id="32" name="Text 3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3" name="Text 3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4" name="Shape 32"/>
          <p:cNvSpPr/>
          <p:nvPr/>
        </p:nvSpPr>
        <p:spPr>
          <a:xfrm>
            <a:off x="2331720" y="6062472"/>
            <a:ext cx="0" cy="329184"/>
          </a:xfrm>
          <a:prstGeom prst="line">
            <a:avLst/>
          </a:prstGeom>
          <a:noFill/>
          <a:ln w="12700">
            <a:solidFill>
              <a:srgbClr val="E6E6E6"/>
            </a:solidFill>
            <a:prstDash val="solid"/>
          </a:ln>
        </p:spPr>
      </p:sp>
      <p:sp>
        <p:nvSpPr>
          <p:cNvPr id="35" name="Text 3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ひっかけ：「除外＝計算から外す」「固定＝評価額を止める」を混同しない。固定合意は自社株式のみに使える。</a:t>
            </a:r>
            <a:endParaRPr lang="en-US" sz="1000" dirty="0"/>
          </a:p>
        </p:txBody>
      </p:sp>
      <p:sp>
        <p:nvSpPr>
          <p:cNvPr id="36" name="Text 3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7" name="Shape 35"/>
          <p:cNvSpPr/>
          <p:nvPr/>
        </p:nvSpPr>
        <p:spPr>
          <a:xfrm>
            <a:off x="246659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9" name="Shape 37"/>
          <p:cNvSpPr/>
          <p:nvPr/>
        </p:nvSpPr>
        <p:spPr>
          <a:xfrm>
            <a:off x="343128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41" name="Shape 39"/>
          <p:cNvSpPr/>
          <p:nvPr/>
        </p:nvSpPr>
        <p:spPr>
          <a:xfrm>
            <a:off x="439597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43" name="Shape 41"/>
          <p:cNvSpPr/>
          <p:nvPr/>
        </p:nvSpPr>
        <p:spPr>
          <a:xfrm>
            <a:off x="5360670"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45" name="Shape 43"/>
          <p:cNvSpPr/>
          <p:nvPr/>
        </p:nvSpPr>
        <p:spPr>
          <a:xfrm>
            <a:off x="632536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7" name="Shape 45"/>
          <p:cNvSpPr/>
          <p:nvPr/>
        </p:nvSpPr>
        <p:spPr>
          <a:xfrm>
            <a:off x="7290054"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9" name="Shape 47"/>
          <p:cNvSpPr/>
          <p:nvPr/>
        </p:nvSpPr>
        <p:spPr>
          <a:xfrm>
            <a:off x="8254746" y="6464808"/>
            <a:ext cx="146304" cy="146304"/>
          </a:xfrm>
          <a:prstGeom prst="ellipse">
            <a:avLst/>
          </a:prstGeom>
          <a:solidFill>
            <a:srgbClr val="FFFFFF"/>
          </a:solidFill>
          <a:ln w="12700">
            <a:solidFill>
              <a:srgbClr val="E6E6E6"/>
            </a:solidFill>
            <a:prstDash val="solid"/>
          </a:ln>
        </p:spPr>
      </p:sp>
      <p:sp>
        <p:nvSpPr>
          <p:cNvPr id="50" name="Text 4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51" name="Shape 49"/>
          <p:cNvSpPr/>
          <p:nvPr/>
        </p:nvSpPr>
        <p:spPr>
          <a:xfrm>
            <a:off x="9219438" y="6464808"/>
            <a:ext cx="146304" cy="146304"/>
          </a:xfrm>
          <a:prstGeom prst="ellipse">
            <a:avLst/>
          </a:prstGeom>
          <a:solidFill>
            <a:srgbClr val="FF3B1F"/>
          </a:solidFill>
          <a:ln w="12700">
            <a:solidFill>
              <a:srgbClr val="FF3B1F"/>
            </a:solidFill>
            <a:prstDash val="solid"/>
          </a:ln>
        </p:spPr>
      </p:sp>
      <p:sp>
        <p:nvSpPr>
          <p:cNvPr id="52" name="Text 5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3" name="Shape 51"/>
          <p:cNvSpPr/>
          <p:nvPr/>
        </p:nvSpPr>
        <p:spPr>
          <a:xfrm>
            <a:off x="10184130" y="6464808"/>
            <a:ext cx="146304" cy="146304"/>
          </a:xfrm>
          <a:prstGeom prst="ellipse">
            <a:avLst/>
          </a:prstGeom>
          <a:solidFill>
            <a:srgbClr val="FFFFFF"/>
          </a:solidFill>
          <a:ln w="12700">
            <a:solidFill>
              <a:srgbClr val="E6E6E6"/>
            </a:solidFill>
            <a:prstDash val="solid"/>
          </a:ln>
        </p:spPr>
      </p:sp>
      <p:sp>
        <p:nvSpPr>
          <p:cNvPr id="54" name="Text 5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55" name="Shape 53"/>
          <p:cNvSpPr/>
          <p:nvPr/>
        </p:nvSpPr>
        <p:spPr>
          <a:xfrm>
            <a:off x="11148822" y="6464808"/>
            <a:ext cx="146304" cy="146304"/>
          </a:xfrm>
          <a:prstGeom prst="ellipse">
            <a:avLst/>
          </a:prstGeom>
          <a:solidFill>
            <a:srgbClr val="FFFFFF"/>
          </a:solidFill>
          <a:ln w="12700">
            <a:solidFill>
              <a:srgbClr val="E6E6E6"/>
            </a:solidFill>
            <a:prstDash val="solid"/>
          </a:ln>
        </p:spPr>
      </p:sp>
      <p:sp>
        <p:nvSpPr>
          <p:cNvPr id="56" name="Text 5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E-24 ／ 企業活動に関する国際条約</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準拠法を定めなければウィーン売買条約が適用されうる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知財の国際条約はE-12、それ以外の代表格がウィーン売買条約（CISG）。</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知財関連の国際条約はE-12で扱った通りで、それ以外の代表格がウィーン売買条約（CISG）。準拠法を契約書で定めていない場合に自動的に適用されうる点が、E-15の準拠法条項の重要性を裏付ける。</a:t>
            </a:r>
            <a:endParaRPr lang="en-US" sz="1150" dirty="0"/>
          </a:p>
        </p:txBody>
      </p:sp>
      <p:sp>
        <p:nvSpPr>
          <p:cNvPr id="9" name="Text 7"/>
          <p:cNvSpPr txBox="1"/>
          <p:nvPr/>
        </p:nvSpPr>
        <p:spPr>
          <a:xfrm>
            <a:off x="502920" y="2221992"/>
            <a:ext cx="2926080" cy="39319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ウィーン売買条約（CISG）</a:t>
            </a:r>
            <a:endParaRPr lang="en-US" sz="1150" dirty="0"/>
          </a:p>
        </p:txBody>
      </p:sp>
      <p:sp>
        <p:nvSpPr>
          <p:cNvPr id="10" name="Shape 8"/>
          <p:cNvSpPr/>
          <p:nvPr/>
        </p:nvSpPr>
        <p:spPr>
          <a:xfrm>
            <a:off x="3410712" y="2221992"/>
            <a:ext cx="0" cy="256032"/>
          </a:xfrm>
          <a:prstGeom prst="line">
            <a:avLst/>
          </a:prstGeom>
          <a:noFill/>
          <a:ln w="12700">
            <a:solidFill>
              <a:srgbClr val="E6E6E6"/>
            </a:solidFill>
            <a:prstDash val="solid"/>
          </a:ln>
        </p:spPr>
      </p:sp>
      <p:sp>
        <p:nvSpPr>
          <p:cNvPr id="11" name="Text 9"/>
          <p:cNvSpPr txBox="1"/>
          <p:nvPr/>
        </p:nvSpPr>
        <p:spPr>
          <a:xfrm>
            <a:off x="3566160" y="2221992"/>
            <a:ext cx="8138160" cy="39319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国際的な物品売買契約に適用されるルールを統一する条約</a:t>
            </a:r>
            <a:endParaRPr lang="en-US" sz="1150" dirty="0"/>
          </a:p>
        </p:txBody>
      </p:sp>
      <p:sp>
        <p:nvSpPr>
          <p:cNvPr id="12" name="Text 10"/>
          <p:cNvSpPr txBox="1"/>
          <p:nvPr/>
        </p:nvSpPr>
        <p:spPr>
          <a:xfrm>
            <a:off x="502920" y="2633472"/>
            <a:ext cx="2926080" cy="39319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準拠法条項との関係</a:t>
            </a:r>
            <a:endParaRPr lang="en-US" sz="1150" dirty="0"/>
          </a:p>
        </p:txBody>
      </p:sp>
      <p:sp>
        <p:nvSpPr>
          <p:cNvPr id="13" name="Shape 11"/>
          <p:cNvSpPr/>
          <p:nvPr/>
        </p:nvSpPr>
        <p:spPr>
          <a:xfrm>
            <a:off x="3410712" y="2633472"/>
            <a:ext cx="0" cy="256032"/>
          </a:xfrm>
          <a:prstGeom prst="line">
            <a:avLst/>
          </a:prstGeom>
          <a:noFill/>
          <a:ln w="12700">
            <a:solidFill>
              <a:srgbClr val="E6E6E6"/>
            </a:solidFill>
            <a:prstDash val="solid"/>
          </a:ln>
        </p:spPr>
      </p:sp>
      <p:sp>
        <p:nvSpPr>
          <p:cNvPr id="14" name="Text 12"/>
          <p:cNvSpPr txBox="1"/>
          <p:nvPr/>
        </p:nvSpPr>
        <p:spPr>
          <a:xfrm>
            <a:off x="3566160" y="2633472"/>
            <a:ext cx="8138160" cy="39319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契約書で準拠法を定めていないと、両国が加盟国なら適用されうる</a:t>
            </a:r>
            <a:endParaRPr lang="en-US" sz="1150" dirty="0"/>
          </a:p>
        </p:txBody>
      </p:sp>
      <p:sp>
        <p:nvSpPr>
          <p:cNvPr id="15" name="Shape 13"/>
          <p:cNvSpPr/>
          <p:nvPr/>
        </p:nvSpPr>
        <p:spPr>
          <a:xfrm>
            <a:off x="502920" y="3136392"/>
            <a:ext cx="11201400" cy="0"/>
          </a:xfrm>
          <a:prstGeom prst="line">
            <a:avLst/>
          </a:prstGeom>
          <a:noFill/>
          <a:ln w="12700">
            <a:solidFill>
              <a:srgbClr val="E6E6E6"/>
            </a:solidFill>
            <a:prstDash val="solid"/>
          </a:ln>
        </p:spPr>
      </p:sp>
      <p:sp>
        <p:nvSpPr>
          <p:cNvPr id="16" name="Text 14"/>
          <p:cNvSpPr txBox="1"/>
          <p:nvPr/>
        </p:nvSpPr>
        <p:spPr>
          <a:xfrm>
            <a:off x="502920" y="320954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注意：</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直近10年間この論点単独の出題はなく、知財関連の国際条約の出題はE-12に集約される。E-12・E-15と合わせて学習すること。</a:t>
            </a:r>
            <a:endParaRPr lang="en-US" sz="9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直近10年単独出題なし</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関連：E-12（知財国際条約）・E-15（英文契約の準拠法条項）。</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FFFF"/>
          </a:solidFill>
          <a:ln w="12700">
            <a:solidFill>
              <a:srgbClr val="E6E6E6"/>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E-25 ／ 資本市場に関する基礎知識</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直接金融は株式・社債で投資家から直接資金を集める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間接金融（借入）と対比しつつ、E-26・E-27の前提知識として押さえる。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1201400" cy="457200"/>
          </a:xfrm>
          <a:prstGeom prst="rect">
            <a:avLst/>
          </a:prstGeom>
          <a:noFill/>
          <a:ln/>
        </p:spPr>
        <p:txBody>
          <a:bodyPr wrap="square" lIns="0" tIns="0" rIns="0" bIns="0" rtlCol="0" anchor="ctr"/>
          <a:lstStyle/>
          <a:p>
            <a:pPr indent="0" marL="0">
              <a:lnSpc>
                <a:spcPct val="130000"/>
              </a:lnSpc>
              <a:buNone/>
            </a:pPr>
            <a:r>
              <a:rPr lang="en-US" sz="1150" dirty="0">
                <a:solidFill>
                  <a:srgbClr val="8A8A8A"/>
                </a:solidFill>
                <a:latin typeface="Yu Gothic" pitchFamily="34" charset="0"/>
                <a:ea typeface="Yu Gothic" pitchFamily="34" charset="-122"/>
                <a:cs typeface="Yu Gothic" pitchFamily="34" charset="-120"/>
              </a:rPr>
              <a:t>企業が資金を調達する方法は、金融機関からの借入（間接金融）と、株式・社債で投資家から直接集める（直接金融）の2つに大別される。この基礎知識が、E-26の開示制度・E-27の上場手続の前提になる。</a:t>
            </a:r>
            <a:endParaRPr lang="en-US" sz="1150" dirty="0"/>
          </a:p>
        </p:txBody>
      </p:sp>
      <p:sp>
        <p:nvSpPr>
          <p:cNvPr id="9" name="Text 7"/>
          <p:cNvSpPr txBox="1"/>
          <p:nvPr/>
        </p:nvSpPr>
        <p:spPr>
          <a:xfrm>
            <a:off x="502920" y="2221992"/>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間接金融</a:t>
            </a:r>
            <a:endParaRPr lang="en-US" sz="1150" dirty="0"/>
          </a:p>
        </p:txBody>
      </p:sp>
      <p:sp>
        <p:nvSpPr>
          <p:cNvPr id="10" name="Shape 8"/>
          <p:cNvSpPr/>
          <p:nvPr/>
        </p:nvSpPr>
        <p:spPr>
          <a:xfrm>
            <a:off x="2587752" y="2221992"/>
            <a:ext cx="0" cy="256032"/>
          </a:xfrm>
          <a:prstGeom prst="line">
            <a:avLst/>
          </a:prstGeom>
          <a:noFill/>
          <a:ln w="12700">
            <a:solidFill>
              <a:srgbClr val="E6E6E6"/>
            </a:solidFill>
            <a:prstDash val="solid"/>
          </a:ln>
        </p:spPr>
      </p:sp>
      <p:sp>
        <p:nvSpPr>
          <p:cNvPr id="11" name="Text 9"/>
          <p:cNvSpPr txBox="1"/>
          <p:nvPr/>
        </p:nvSpPr>
        <p:spPr>
          <a:xfrm>
            <a:off x="2743200" y="2221992"/>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金融機関からの借入</a:t>
            </a:r>
            <a:endParaRPr lang="en-US" sz="1150" dirty="0"/>
          </a:p>
        </p:txBody>
      </p:sp>
      <p:sp>
        <p:nvSpPr>
          <p:cNvPr id="12" name="Text 10"/>
          <p:cNvSpPr txBox="1"/>
          <p:nvPr/>
        </p:nvSpPr>
        <p:spPr>
          <a:xfrm>
            <a:off x="502920" y="2587752"/>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直接金融</a:t>
            </a:r>
            <a:endParaRPr lang="en-US" sz="1150" dirty="0"/>
          </a:p>
        </p:txBody>
      </p:sp>
      <p:sp>
        <p:nvSpPr>
          <p:cNvPr id="13" name="Shape 11"/>
          <p:cNvSpPr/>
          <p:nvPr/>
        </p:nvSpPr>
        <p:spPr>
          <a:xfrm>
            <a:off x="2587752" y="2587752"/>
            <a:ext cx="0" cy="256032"/>
          </a:xfrm>
          <a:prstGeom prst="line">
            <a:avLst/>
          </a:prstGeom>
          <a:noFill/>
          <a:ln w="12700">
            <a:solidFill>
              <a:srgbClr val="E6E6E6"/>
            </a:solidFill>
            <a:prstDash val="solid"/>
          </a:ln>
        </p:spPr>
      </p:sp>
      <p:sp>
        <p:nvSpPr>
          <p:cNvPr id="14" name="Text 12"/>
          <p:cNvSpPr txBox="1"/>
          <p:nvPr/>
        </p:nvSpPr>
        <p:spPr>
          <a:xfrm>
            <a:off x="2743200" y="2587752"/>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株式・社債を発行して投資家から直接資金を集める</a:t>
            </a:r>
            <a:endParaRPr lang="en-US" sz="1150" dirty="0"/>
          </a:p>
        </p:txBody>
      </p:sp>
      <p:sp>
        <p:nvSpPr>
          <p:cNvPr id="15" name="Text 13"/>
          <p:cNvSpPr txBox="1"/>
          <p:nvPr/>
        </p:nvSpPr>
        <p:spPr>
          <a:xfrm>
            <a:off x="502920" y="2953512"/>
            <a:ext cx="2103120" cy="34747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上場のメリット・コスト</a:t>
            </a:r>
            <a:endParaRPr lang="en-US" sz="1150" dirty="0"/>
          </a:p>
        </p:txBody>
      </p:sp>
      <p:sp>
        <p:nvSpPr>
          <p:cNvPr id="16" name="Shape 14"/>
          <p:cNvSpPr/>
          <p:nvPr/>
        </p:nvSpPr>
        <p:spPr>
          <a:xfrm>
            <a:off x="2587752" y="2953512"/>
            <a:ext cx="0" cy="256032"/>
          </a:xfrm>
          <a:prstGeom prst="line">
            <a:avLst/>
          </a:prstGeom>
          <a:noFill/>
          <a:ln w="12700">
            <a:solidFill>
              <a:srgbClr val="E6E6E6"/>
            </a:solidFill>
            <a:prstDash val="solid"/>
          </a:ln>
        </p:spPr>
      </p:sp>
      <p:sp>
        <p:nvSpPr>
          <p:cNvPr id="17" name="Text 15"/>
          <p:cNvSpPr txBox="1"/>
          <p:nvPr/>
        </p:nvSpPr>
        <p:spPr>
          <a:xfrm>
            <a:off x="2743200" y="2953512"/>
            <a:ext cx="8961120" cy="34747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知名度・信用力向上の一方、継続開示義務と株主関与の受け入れが必要</a:t>
            </a:r>
            <a:endParaRPr lang="en-US" sz="1150" dirty="0"/>
          </a:p>
        </p:txBody>
      </p:sp>
      <p:sp>
        <p:nvSpPr>
          <p:cNvPr id="18" name="Shape 16"/>
          <p:cNvSpPr/>
          <p:nvPr/>
        </p:nvSpPr>
        <p:spPr>
          <a:xfrm>
            <a:off x="502920" y="3410712"/>
            <a:ext cx="11201400" cy="0"/>
          </a:xfrm>
          <a:prstGeom prst="line">
            <a:avLst/>
          </a:prstGeom>
          <a:noFill/>
          <a:ln w="12700">
            <a:solidFill>
              <a:srgbClr val="E6E6E6"/>
            </a:solidFill>
            <a:prstDash val="solid"/>
          </a:ln>
        </p:spPr>
      </p:sp>
      <p:sp>
        <p:nvSpPr>
          <p:cNvPr id="19" name="Text 17"/>
          <p:cNvSpPr txBox="1"/>
          <p:nvPr/>
        </p:nvSpPr>
        <p:spPr>
          <a:xfrm>
            <a:off x="502920" y="3483864"/>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注意：</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直近10年間この論点単独の出題はない。「直接金融と間接金融の違い」という基礎知識としてE-26・E-27とあわせて学習する。</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直近10年単独出題なし</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関連：E-27 社債発行・株式公開手続（上場によって生じる開示義務等）。</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E-26 ／ 有価証券報告書とディスクロージャー</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「届出書」は発行時、「報告書」は継続開示</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有価証券報告書は事業年度終了後原則3か月以内に提出する。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54480"/>
            <a:ext cx="11201400" cy="41148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金融商品取引法上の開示は、新規発行時の「発行開示」と、上場後継続的に行う「継続開示」の2つの場面に分かれる。E-20で見た開示規制の全体像を、具体的な書類名に落とし込んだのがこの論点。</a:t>
            </a:r>
            <a:endParaRPr lang="en-US" sz="1050" dirty="0"/>
          </a:p>
        </p:txBody>
      </p:sp>
      <p:sp>
        <p:nvSpPr>
          <p:cNvPr id="9" name="Text 7"/>
          <p:cNvSpPr txBox="1"/>
          <p:nvPr/>
        </p:nvSpPr>
        <p:spPr>
          <a:xfrm>
            <a:off x="502920" y="2029968"/>
            <a:ext cx="21031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有価証券届出書</a:t>
            </a:r>
            <a:endParaRPr lang="en-US" sz="1100" dirty="0"/>
          </a:p>
        </p:txBody>
      </p:sp>
      <p:sp>
        <p:nvSpPr>
          <p:cNvPr id="10" name="Shape 8"/>
          <p:cNvSpPr/>
          <p:nvPr/>
        </p:nvSpPr>
        <p:spPr>
          <a:xfrm>
            <a:off x="2587752" y="2029968"/>
            <a:ext cx="0" cy="256032"/>
          </a:xfrm>
          <a:prstGeom prst="line">
            <a:avLst/>
          </a:prstGeom>
          <a:noFill/>
          <a:ln w="12700">
            <a:solidFill>
              <a:srgbClr val="E6E6E6"/>
            </a:solidFill>
            <a:prstDash val="solid"/>
          </a:ln>
        </p:spPr>
      </p:sp>
      <p:sp>
        <p:nvSpPr>
          <p:cNvPr id="11" name="Text 9"/>
          <p:cNvSpPr txBox="1"/>
          <p:nvPr/>
        </p:nvSpPr>
        <p:spPr>
          <a:xfrm>
            <a:off x="2743200" y="2029968"/>
            <a:ext cx="89611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発行開示。一定額以上の募集・売出しの際に提出</a:t>
            </a:r>
            <a:endParaRPr lang="en-US" sz="1100" dirty="0"/>
          </a:p>
        </p:txBody>
      </p:sp>
      <p:sp>
        <p:nvSpPr>
          <p:cNvPr id="12" name="Text 10"/>
          <p:cNvSpPr txBox="1"/>
          <p:nvPr/>
        </p:nvSpPr>
        <p:spPr>
          <a:xfrm>
            <a:off x="502920" y="2414016"/>
            <a:ext cx="21031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有価証券報告書</a:t>
            </a:r>
            <a:endParaRPr lang="en-US" sz="1100" dirty="0"/>
          </a:p>
        </p:txBody>
      </p:sp>
      <p:sp>
        <p:nvSpPr>
          <p:cNvPr id="13" name="Shape 11"/>
          <p:cNvSpPr/>
          <p:nvPr/>
        </p:nvSpPr>
        <p:spPr>
          <a:xfrm>
            <a:off x="2587752" y="2414016"/>
            <a:ext cx="0" cy="256032"/>
          </a:xfrm>
          <a:prstGeom prst="line">
            <a:avLst/>
          </a:prstGeom>
          <a:noFill/>
          <a:ln w="12700">
            <a:solidFill>
              <a:srgbClr val="E6E6E6"/>
            </a:solidFill>
            <a:prstDash val="solid"/>
          </a:ln>
        </p:spPr>
      </p:sp>
      <p:sp>
        <p:nvSpPr>
          <p:cNvPr id="14" name="Text 12"/>
          <p:cNvSpPr txBox="1"/>
          <p:nvPr/>
        </p:nvSpPr>
        <p:spPr>
          <a:xfrm>
            <a:off x="2743200" y="2414016"/>
            <a:ext cx="89611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継続開示。事業年度終了後原則3か月以内に提出</a:t>
            </a:r>
            <a:endParaRPr lang="en-US" sz="1100" dirty="0"/>
          </a:p>
        </p:txBody>
      </p:sp>
      <p:sp>
        <p:nvSpPr>
          <p:cNvPr id="15" name="Text 13"/>
          <p:cNvSpPr txBox="1"/>
          <p:nvPr/>
        </p:nvSpPr>
        <p:spPr>
          <a:xfrm>
            <a:off x="502920" y="2798064"/>
            <a:ext cx="21031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提出義務の範囲</a:t>
            </a:r>
            <a:endParaRPr lang="en-US" sz="1100" dirty="0"/>
          </a:p>
        </p:txBody>
      </p:sp>
      <p:sp>
        <p:nvSpPr>
          <p:cNvPr id="16" name="Shape 14"/>
          <p:cNvSpPr/>
          <p:nvPr/>
        </p:nvSpPr>
        <p:spPr>
          <a:xfrm>
            <a:off x="2587752" y="2798064"/>
            <a:ext cx="0" cy="256032"/>
          </a:xfrm>
          <a:prstGeom prst="line">
            <a:avLst/>
          </a:prstGeom>
          <a:noFill/>
          <a:ln w="12700">
            <a:solidFill>
              <a:srgbClr val="E6E6E6"/>
            </a:solidFill>
            <a:prstDash val="solid"/>
          </a:ln>
        </p:spPr>
      </p:sp>
      <p:sp>
        <p:nvSpPr>
          <p:cNvPr id="17" name="Text 15"/>
          <p:cNvSpPr txBox="1"/>
          <p:nvPr/>
        </p:nvSpPr>
        <p:spPr>
          <a:xfrm>
            <a:off x="2743200" y="2798064"/>
            <a:ext cx="89611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上場会社だけでなく、過去の届出書提出会社や株主数一定以上の非上場会社にも及ぶ</a:t>
            </a:r>
            <a:endParaRPr lang="en-US" sz="1100" dirty="0"/>
          </a:p>
        </p:txBody>
      </p:sp>
      <p:sp>
        <p:nvSpPr>
          <p:cNvPr id="18" name="Shape 16"/>
          <p:cNvSpPr/>
          <p:nvPr/>
        </p:nvSpPr>
        <p:spPr>
          <a:xfrm>
            <a:off x="502920" y="3255264"/>
            <a:ext cx="11201400" cy="0"/>
          </a:xfrm>
          <a:prstGeom prst="line">
            <a:avLst/>
          </a:prstGeom>
          <a:noFill/>
          <a:ln w="12700">
            <a:solidFill>
              <a:srgbClr val="E6E6E6"/>
            </a:solidFill>
            <a:prstDash val="solid"/>
          </a:ln>
        </p:spPr>
      </p:sp>
      <p:sp>
        <p:nvSpPr>
          <p:cNvPr id="19" name="Text 17"/>
          <p:cNvSpPr txBox="1"/>
          <p:nvPr/>
        </p:nvSpPr>
        <p:spPr>
          <a:xfrm>
            <a:off x="502920" y="3328416"/>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「届出書＝発行時」「報告書＝継続」の役割の違いを混同しない。提出義務は上場会社に限られない。</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関連：E-20 金融商品取引法（開示規制の全体像）。</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E-27 ／ 社債発行・株式公開手続</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社債権者は「株主」ではなく「債権者」</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上場審査には形式基準と実質基準の両方があり、数値基準だけでは足りない。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経営法務</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554480"/>
            <a:ext cx="11201400" cy="411480"/>
          </a:xfrm>
          <a:prstGeom prst="rect">
            <a:avLst/>
          </a:prstGeom>
          <a:noFill/>
          <a:ln/>
        </p:spPr>
        <p:txBody>
          <a:bodyPr wrap="square" lIns="0" tIns="0" rIns="0" bIns="0" rtlCol="0" anchor="ctr"/>
          <a:lstStyle/>
          <a:p>
            <a:pPr indent="0" marL="0">
              <a:lnSpc>
                <a:spcPct val="125000"/>
              </a:lnSpc>
              <a:buNone/>
            </a:pPr>
            <a:r>
              <a:rPr lang="en-US" sz="1050" dirty="0">
                <a:solidFill>
                  <a:srgbClr val="8A8A8A"/>
                </a:solidFill>
                <a:latin typeface="Yu Gothic" pitchFamily="34" charset="0"/>
                <a:ea typeface="Yu Gothic" pitchFamily="34" charset="-122"/>
                <a:cs typeface="Yu Gothic" pitchFamily="34" charset="-120"/>
              </a:rPr>
              <a:t>社債は「議決権のない借入」、株式公開（IPO）は「形式基準と実質基準の両方をクリアする」もの。E-25の直接金融、E-26の継続開示義務とあわせて、資本市場へのアクセスに関する一連の知識を締めくくる。</a:t>
            </a:r>
            <a:endParaRPr lang="en-US" sz="1050" dirty="0"/>
          </a:p>
        </p:txBody>
      </p:sp>
      <p:sp>
        <p:nvSpPr>
          <p:cNvPr id="9" name="Text 7"/>
          <p:cNvSpPr txBox="1"/>
          <p:nvPr/>
        </p:nvSpPr>
        <p:spPr>
          <a:xfrm>
            <a:off x="502920" y="2029968"/>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社債</a:t>
            </a:r>
            <a:endParaRPr lang="en-US" sz="1100" dirty="0"/>
          </a:p>
        </p:txBody>
      </p:sp>
      <p:sp>
        <p:nvSpPr>
          <p:cNvPr id="10" name="Shape 8"/>
          <p:cNvSpPr/>
          <p:nvPr/>
        </p:nvSpPr>
        <p:spPr>
          <a:xfrm>
            <a:off x="2221992" y="2029968"/>
            <a:ext cx="0" cy="256032"/>
          </a:xfrm>
          <a:prstGeom prst="line">
            <a:avLst/>
          </a:prstGeom>
          <a:noFill/>
          <a:ln w="12700">
            <a:solidFill>
              <a:srgbClr val="E6E6E6"/>
            </a:solidFill>
            <a:prstDash val="solid"/>
          </a:ln>
        </p:spPr>
      </p:sp>
      <p:sp>
        <p:nvSpPr>
          <p:cNvPr id="11" name="Text 9"/>
          <p:cNvSpPr txBox="1"/>
          <p:nvPr/>
        </p:nvSpPr>
        <p:spPr>
          <a:xfrm>
            <a:off x="2377440" y="2029968"/>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議決権はなく、利息支払と元本償還を受ける権利を持つ</a:t>
            </a:r>
            <a:endParaRPr lang="en-US" sz="1100" dirty="0"/>
          </a:p>
        </p:txBody>
      </p:sp>
      <p:sp>
        <p:nvSpPr>
          <p:cNvPr id="12" name="Text 10"/>
          <p:cNvSpPr txBox="1"/>
          <p:nvPr/>
        </p:nvSpPr>
        <p:spPr>
          <a:xfrm>
            <a:off x="502920" y="2414016"/>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社債管理者</a:t>
            </a:r>
            <a:endParaRPr lang="en-US" sz="1100" dirty="0"/>
          </a:p>
        </p:txBody>
      </p:sp>
      <p:sp>
        <p:nvSpPr>
          <p:cNvPr id="13" name="Shape 11"/>
          <p:cNvSpPr/>
          <p:nvPr/>
        </p:nvSpPr>
        <p:spPr>
          <a:xfrm>
            <a:off x="2221992" y="2414016"/>
            <a:ext cx="0" cy="256032"/>
          </a:xfrm>
          <a:prstGeom prst="line">
            <a:avLst/>
          </a:prstGeom>
          <a:noFill/>
          <a:ln w="12700">
            <a:solidFill>
              <a:srgbClr val="E6E6E6"/>
            </a:solidFill>
            <a:prstDash val="solid"/>
          </a:ln>
        </p:spPr>
      </p:sp>
      <p:sp>
        <p:nvSpPr>
          <p:cNvPr id="14" name="Text 12"/>
          <p:cNvSpPr txBox="1"/>
          <p:nvPr/>
        </p:nvSpPr>
        <p:spPr>
          <a:xfrm>
            <a:off x="2377440" y="2414016"/>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社債権者保護のため一定の場合に設置が必要（銀行・信託会社等）</a:t>
            </a:r>
            <a:endParaRPr lang="en-US" sz="1100" dirty="0"/>
          </a:p>
        </p:txBody>
      </p:sp>
      <p:sp>
        <p:nvSpPr>
          <p:cNvPr id="15" name="Text 13"/>
          <p:cNvSpPr txBox="1"/>
          <p:nvPr/>
        </p:nvSpPr>
        <p:spPr>
          <a:xfrm>
            <a:off x="502920" y="2798064"/>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上場審査基準</a:t>
            </a:r>
            <a:endParaRPr lang="en-US" sz="1100" dirty="0"/>
          </a:p>
        </p:txBody>
      </p:sp>
      <p:sp>
        <p:nvSpPr>
          <p:cNvPr id="16" name="Shape 14"/>
          <p:cNvSpPr/>
          <p:nvPr/>
        </p:nvSpPr>
        <p:spPr>
          <a:xfrm>
            <a:off x="2221992" y="2798064"/>
            <a:ext cx="0" cy="256032"/>
          </a:xfrm>
          <a:prstGeom prst="line">
            <a:avLst/>
          </a:prstGeom>
          <a:noFill/>
          <a:ln w="12700">
            <a:solidFill>
              <a:srgbClr val="E6E6E6"/>
            </a:solidFill>
            <a:prstDash val="solid"/>
          </a:ln>
        </p:spPr>
      </p:sp>
      <p:sp>
        <p:nvSpPr>
          <p:cNvPr id="17" name="Text 15"/>
          <p:cNvSpPr txBox="1"/>
          <p:nvPr/>
        </p:nvSpPr>
        <p:spPr>
          <a:xfrm>
            <a:off x="2377440" y="2798064"/>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形式基準（株主数・時価総額・事業継続年数等）＋実質基準（健全性・ガバナンス等）</a:t>
            </a:r>
            <a:endParaRPr lang="en-US" sz="1100" dirty="0"/>
          </a:p>
        </p:txBody>
      </p:sp>
      <p:sp>
        <p:nvSpPr>
          <p:cNvPr id="18" name="Shape 16"/>
          <p:cNvSpPr/>
          <p:nvPr/>
        </p:nvSpPr>
        <p:spPr>
          <a:xfrm>
            <a:off x="502920" y="3255264"/>
            <a:ext cx="11201400" cy="0"/>
          </a:xfrm>
          <a:prstGeom prst="line">
            <a:avLst/>
          </a:prstGeom>
          <a:noFill/>
          <a:ln w="12700">
            <a:solidFill>
              <a:srgbClr val="E6E6E6"/>
            </a:solidFill>
            <a:prstDash val="solid"/>
          </a:ln>
        </p:spPr>
      </p:sp>
      <p:sp>
        <p:nvSpPr>
          <p:cNvPr id="19" name="Text 17"/>
          <p:cNvSpPr txBox="1"/>
          <p:nvPr/>
        </p:nvSpPr>
        <p:spPr>
          <a:xfrm>
            <a:off x="502920" y="3328416"/>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社債権者は株主ではなく債権者。上場は形式基準（数値）を満たすだけでは不十分で実質基準も審査される。</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関連：E-25 資本市場に関する基礎知識（直接金融の位置づけ）。</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経営法務</dc:title>
  <dc:subject>PptxGenJS Presentation</dc:subject>
  <dc:creator>SMEC</dc:creator>
  <cp:lastModifiedBy>SMEC</cp:lastModifiedBy>
  <cp:revision>1</cp:revision>
  <dcterms:created xsi:type="dcterms:W3CDTF">2026-09-14T10:01:39Z</dcterms:created>
  <dcterms:modified xsi:type="dcterms:W3CDTF">2026-09-14T10:01:39Z</dcterms:modified>
</cp:coreProperties>
</file>