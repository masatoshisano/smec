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表紙スライド。経営法務の全体像を示す。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事業開始・倒産／知的財産権パートの区切りスライド。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640080" y="502920"/>
            <a:ext cx="5486400" cy="320040"/>
          </a:xfrm>
          <a:prstGeom prst="rect">
            <a:avLst/>
          </a:prstGeom>
          <a:noFill/>
          <a:ln/>
        </p:spPr>
        <p:txBody>
          <a:bodyPr wrap="square" lIns="0" tIns="0" rIns="0" bIns="0" rtlCol="0" anchor="ctr"/>
          <a:lstStyle/>
          <a:p>
            <a:pPr indent="0" marL="0">
              <a:buNone/>
            </a:pPr>
            <a:r>
              <a:rPr lang="en-US" sz="1200" dirty="0">
                <a:solidFill>
                  <a:srgbClr val="FFFFFF"/>
                </a:solidFill>
                <a:latin typeface="Consolas" pitchFamily="34" charset="0"/>
                <a:ea typeface="Consolas" pitchFamily="34" charset="-122"/>
                <a:cs typeface="Consolas" pitchFamily="34" charset="-120"/>
              </a:rPr>
              <a:t>中小企業診断士 第1次試験</a:t>
            </a:r>
            <a:endParaRPr lang="en-US" sz="1200" dirty="0"/>
          </a:p>
        </p:txBody>
      </p:sp>
      <p:sp>
        <p:nvSpPr>
          <p:cNvPr id="3" name="Text 1"/>
          <p:cNvSpPr txBox="1"/>
          <p:nvPr/>
        </p:nvSpPr>
        <p:spPr>
          <a:xfrm>
            <a:off x="8686800" y="502920"/>
            <a:ext cx="2834640" cy="320040"/>
          </a:xfrm>
          <a:prstGeom prst="rect">
            <a:avLst/>
          </a:prstGeom>
          <a:noFill/>
          <a:ln/>
        </p:spPr>
        <p:txBody>
          <a:bodyPr wrap="square" lIns="0" tIns="0" rIns="0" bIns="0" rtlCol="0" anchor="ctr"/>
          <a:lstStyle/>
          <a:p>
            <a:pPr algn="r" indent="0" marL="0">
              <a:buNone/>
            </a:pPr>
            <a:r>
              <a:rPr lang="en-US" sz="1200" dirty="0">
                <a:solidFill>
                  <a:srgbClr val="FF3B1F"/>
                </a:solidFill>
                <a:latin typeface="Consolas" pitchFamily="34" charset="0"/>
                <a:ea typeface="Consolas" pitchFamily="34" charset="-122"/>
                <a:cs typeface="Consolas" pitchFamily="34" charset="-120"/>
              </a:rPr>
              <a:t>SUBJECT 05 / 07</a:t>
            </a:r>
            <a:endParaRPr lang="en-US" sz="1200" dirty="0"/>
          </a:p>
        </p:txBody>
      </p:sp>
      <p:sp>
        <p:nvSpPr>
          <p:cNvPr id="4" name="Text 2"/>
          <p:cNvSpPr txBox="1"/>
          <p:nvPr/>
        </p:nvSpPr>
        <p:spPr>
          <a:xfrm>
            <a:off x="594360" y="2103120"/>
            <a:ext cx="10058400" cy="1371600"/>
          </a:xfrm>
          <a:prstGeom prst="rect">
            <a:avLst/>
          </a:prstGeom>
          <a:noFill/>
          <a:ln/>
        </p:spPr>
        <p:txBody>
          <a:bodyPr wrap="square" lIns="0" tIns="0" rIns="0" bIns="0" rtlCol="0" anchor="ctr"/>
          <a:lstStyle/>
          <a:p>
            <a:pPr indent="0" marL="0">
              <a:buNone/>
            </a:pPr>
            <a:r>
              <a:rPr lang="en-US" sz="6600" b="1" dirty="0">
                <a:solidFill>
                  <a:srgbClr val="FFFFFF"/>
                </a:solidFill>
                <a:latin typeface="Yu Gothic" pitchFamily="34" charset="0"/>
                <a:ea typeface="Yu Gothic" pitchFamily="34" charset="-122"/>
                <a:cs typeface="Yu Gothic" pitchFamily="34" charset="-120"/>
              </a:rPr>
              <a:t>経営法務</a:t>
            </a:r>
            <a:pPr indent="0" marL="0">
              <a:buNone/>
            </a:pPr>
            <a:r>
              <a:rPr lang="en-US" sz="6600" b="1" dirty="0">
                <a:solidFill>
                  <a:srgbClr val="FF3B1F"/>
                </a:solidFill>
                <a:latin typeface="Yu Gothic" pitchFamily="34" charset="0"/>
                <a:ea typeface="Yu Gothic" pitchFamily="34" charset="-122"/>
                <a:cs typeface="Yu Gothic" pitchFamily="34" charset="-120"/>
              </a:rPr>
              <a:t>。</a:t>
            </a:r>
            <a:endParaRPr lang="en-US" sz="6600" dirty="0"/>
          </a:p>
        </p:txBody>
      </p:sp>
      <p:sp>
        <p:nvSpPr>
          <p:cNvPr id="5" name="Text 3"/>
          <p:cNvSpPr txBox="1"/>
          <p:nvPr/>
        </p:nvSpPr>
        <p:spPr>
          <a:xfrm>
            <a:off x="640080" y="3429000"/>
            <a:ext cx="7680960" cy="914400"/>
          </a:xfrm>
          <a:prstGeom prst="rect">
            <a:avLst/>
          </a:prstGeom>
          <a:noFill/>
          <a:ln/>
        </p:spPr>
        <p:txBody>
          <a:bodyPr wrap="square" lIns="0" tIns="0" rIns="0" bIns="0" rtlCol="0" anchor="ctr"/>
          <a:lstStyle/>
          <a:p>
            <a:pPr indent="0" marL="0">
              <a:lnSpc>
                <a:spcPct val="150000"/>
              </a:lnSpc>
              <a:buNone/>
            </a:pPr>
            <a:r>
              <a:rPr lang="en-US" sz="1500" dirty="0">
                <a:solidFill>
                  <a:srgbClr val="C5C5C5"/>
                </a:solidFill>
                <a:latin typeface="Yu Gothic" pitchFamily="34" charset="0"/>
                <a:ea typeface="Yu Gothic" pitchFamily="34" charset="-122"/>
                <a:cs typeface="Yu Gothic" pitchFamily="34" charset="-120"/>
              </a:rPr>
              <a:t>会社の設立・倒産、知的財産権、取引・民法・会社法、独禁法、資本市場まで27論点。丸暗記ではなく「似た制度どうしの比較」がカギになる科目。</a:t>
            </a:r>
            <a:endParaRPr lang="en-US" sz="1500" dirty="0"/>
          </a:p>
        </p:txBody>
      </p:sp>
      <p:sp>
        <p:nvSpPr>
          <p:cNvPr id="6" name="Shape 4"/>
          <p:cNvSpPr/>
          <p:nvPr/>
        </p:nvSpPr>
        <p:spPr>
          <a:xfrm>
            <a:off x="640080" y="5806440"/>
            <a:ext cx="10881360" cy="0"/>
          </a:xfrm>
          <a:prstGeom prst="line">
            <a:avLst/>
          </a:prstGeom>
          <a:noFill/>
          <a:ln w="9525">
            <a:solidFill>
              <a:srgbClr val="515151"/>
            </a:solidFill>
            <a:prstDash val="solid"/>
          </a:ln>
        </p:spPr>
      </p:sp>
      <p:sp>
        <p:nvSpPr>
          <p:cNvPr id="7" name="Text 5"/>
          <p:cNvSpPr txBox="1"/>
          <p:nvPr/>
        </p:nvSpPr>
        <p:spPr>
          <a:xfrm>
            <a:off x="64008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27</a:t>
            </a:r>
            <a:endParaRPr lang="en-US" sz="2400" dirty="0"/>
          </a:p>
        </p:txBody>
      </p:sp>
      <p:sp>
        <p:nvSpPr>
          <p:cNvPr id="8" name="Text 6"/>
          <p:cNvSpPr txBox="1"/>
          <p:nvPr/>
        </p:nvSpPr>
        <p:spPr>
          <a:xfrm>
            <a:off x="64008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収録論点数</a:t>
            </a:r>
            <a:endParaRPr lang="en-US" sz="1000" dirty="0"/>
          </a:p>
        </p:txBody>
      </p:sp>
      <p:sp>
        <p:nvSpPr>
          <p:cNvPr id="9" name="Text 7"/>
          <p:cNvSpPr txBox="1"/>
          <p:nvPr/>
        </p:nvSpPr>
        <p:spPr>
          <a:xfrm>
            <a:off x="256032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5</a:t>
            </a:r>
            <a:endParaRPr lang="en-US" sz="2400" dirty="0"/>
          </a:p>
        </p:txBody>
      </p:sp>
      <p:sp>
        <p:nvSpPr>
          <p:cNvPr id="10" name="Text 8"/>
          <p:cNvSpPr txBox="1"/>
          <p:nvPr/>
        </p:nvSpPr>
        <p:spPr>
          <a:xfrm>
            <a:off x="256032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分野</a:t>
            </a:r>
            <a:endParaRPr lang="en-US" sz="1000" dirty="0"/>
          </a:p>
        </p:txBody>
      </p:sp>
      <p:sp>
        <p:nvSpPr>
          <p:cNvPr id="11" name="Text 9"/>
          <p:cNvSpPr txBox="1"/>
          <p:nvPr/>
        </p:nvSpPr>
        <p:spPr>
          <a:xfrm>
            <a:off x="448056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18/27</a:t>
            </a:r>
            <a:endParaRPr lang="en-US" sz="2400" dirty="0"/>
          </a:p>
        </p:txBody>
      </p:sp>
      <p:sp>
        <p:nvSpPr>
          <p:cNvPr id="12" name="Text 10"/>
          <p:cNvSpPr txBox="1"/>
          <p:nvPr/>
        </p:nvSpPr>
        <p:spPr>
          <a:xfrm>
            <a:off x="448056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頻出ランクA</a:t>
            </a:r>
            <a:endParaRPr lang="en-US" sz="1000" dirty="0"/>
          </a:p>
        </p:txBody>
      </p:sp>
      <p:sp>
        <p:nvSpPr>
          <p:cNvPr id="13" name="Shape 11"/>
          <p:cNvSpPr/>
          <p:nvPr/>
        </p:nvSpPr>
        <p:spPr>
          <a:xfrm>
            <a:off x="7863840" y="6172200"/>
            <a:ext cx="3657600" cy="384048"/>
          </a:xfrm>
          <a:prstGeom prst="rect">
            <a:avLst/>
          </a:prstGeom>
          <a:ln w="9525">
            <a:solidFill>
              <a:srgbClr val="7F7F7F"/>
            </a:solidFill>
            <a:prstDash val="solid"/>
          </a:ln>
        </p:spPr>
      </p:sp>
      <p:sp>
        <p:nvSpPr>
          <p:cNvPr id="14" name="Text 12"/>
          <p:cNvSpPr txBox="1"/>
          <p:nvPr/>
        </p:nvSpPr>
        <p:spPr>
          <a:xfrm>
            <a:off x="7863840" y="6172200"/>
            <a:ext cx="3657600" cy="384048"/>
          </a:xfrm>
          <a:prstGeom prst="rect">
            <a:avLst/>
          </a:prstGeom>
          <a:noFill/>
          <a:ln/>
        </p:spPr>
        <p:txBody>
          <a:bodyPr wrap="square" lIns="0" tIns="0" rIns="0" bIns="0" rtlCol="0" anchor="ctr"/>
          <a:lstStyle/>
          <a:p>
            <a:pPr algn="ctr" indent="0" marL="0">
              <a:buNone/>
            </a:pPr>
            <a:r>
              <a:rPr lang="en-US" sz="850" dirty="0">
                <a:solidFill>
                  <a:srgbClr val="FFFFFF"/>
                </a:solidFill>
                <a:latin typeface="Consolas" pitchFamily="34" charset="0"/>
                <a:ea typeface="Consolas" pitchFamily="34" charset="-122"/>
                <a:cs typeface="Consolas" pitchFamily="34" charset="-120"/>
              </a:rPr>
              <a:t>docs/textbook/E_business_law_textbook.md</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01</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01</a:t>
            </a:r>
            <a:pPr indent="0" marL="0">
              <a:buNone/>
            </a:pPr>
            <a:r>
              <a:rPr lang="en-US" sz="1300" dirty="0">
                <a:solidFill>
                  <a:srgbClr val="A2A2A2"/>
                </a:solidFill>
                <a:latin typeface="Consolas" pitchFamily="34" charset="0"/>
                <a:ea typeface="Consolas" pitchFamily="34" charset="-122"/>
                <a:cs typeface="Consolas" pitchFamily="34" charset="-120"/>
              </a:rPr>
              <a:t>   経営法務 ／ E-1〜E-9</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事業開始・倒産／知的財産権</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会社を始めるとき・たたむときの基本ルールから、特許・商標・意匠・実用新案・著作権という知的財産権の最頻出分野まで。</a:t>
            </a:r>
            <a:endParaRPr lang="en-US" sz="1400" dirty="0"/>
          </a:p>
        </p:txBody>
      </p:sp>
      <p:sp>
        <p:nvSpPr>
          <p:cNvPr id="6" name="Shape 4"/>
          <p:cNvSpPr/>
          <p:nvPr/>
        </p:nvSpPr>
        <p:spPr>
          <a:xfrm>
            <a:off x="640080" y="4800600"/>
            <a:ext cx="1924812" cy="384048"/>
          </a:xfrm>
          <a:prstGeom prst="rect">
            <a:avLst/>
          </a:prstGeom>
          <a:ln w="9525">
            <a:solidFill>
              <a:srgbClr val="7F7F7F"/>
            </a:solidFill>
            <a:prstDash val="solid"/>
          </a:ln>
        </p:spPr>
      </p:sp>
      <p:sp>
        <p:nvSpPr>
          <p:cNvPr id="7" name="Text 5"/>
          <p:cNvSpPr txBox="1"/>
          <p:nvPr/>
        </p:nvSpPr>
        <p:spPr>
          <a:xfrm>
            <a:off x="640080" y="4800600"/>
            <a:ext cx="1924812"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E-4 事業譲渡と会社分割</a:t>
            </a:r>
            <a:endParaRPr lang="en-US" sz="1000" dirty="0"/>
          </a:p>
        </p:txBody>
      </p:sp>
      <p:sp>
        <p:nvSpPr>
          <p:cNvPr id="8" name="Shape 6"/>
          <p:cNvSpPr/>
          <p:nvPr/>
        </p:nvSpPr>
        <p:spPr>
          <a:xfrm>
            <a:off x="2793492" y="4800600"/>
            <a:ext cx="1184148" cy="384048"/>
          </a:xfrm>
          <a:prstGeom prst="rect">
            <a:avLst/>
          </a:prstGeom>
          <a:ln w="9525">
            <a:solidFill>
              <a:srgbClr val="7F7F7F"/>
            </a:solidFill>
            <a:prstDash val="solid"/>
          </a:ln>
        </p:spPr>
      </p:sp>
      <p:sp>
        <p:nvSpPr>
          <p:cNvPr id="9" name="Text 7"/>
          <p:cNvSpPr txBox="1"/>
          <p:nvPr/>
        </p:nvSpPr>
        <p:spPr>
          <a:xfrm>
            <a:off x="2793492" y="4800600"/>
            <a:ext cx="118414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E-6 特許権</a:t>
            </a:r>
            <a:endParaRPr lang="en-US" sz="1000" dirty="0"/>
          </a:p>
        </p:txBody>
      </p:sp>
      <p:sp>
        <p:nvSpPr>
          <p:cNvPr id="10" name="Shape 8"/>
          <p:cNvSpPr/>
          <p:nvPr/>
        </p:nvSpPr>
        <p:spPr>
          <a:xfrm>
            <a:off x="4206240" y="4800600"/>
            <a:ext cx="1184148" cy="384048"/>
          </a:xfrm>
          <a:prstGeom prst="rect">
            <a:avLst/>
          </a:prstGeom>
          <a:ln w="9525">
            <a:solidFill>
              <a:srgbClr val="7F7F7F"/>
            </a:solidFill>
            <a:prstDash val="solid"/>
          </a:ln>
        </p:spPr>
      </p:sp>
      <p:sp>
        <p:nvSpPr>
          <p:cNvPr id="11" name="Text 9"/>
          <p:cNvSpPr txBox="1"/>
          <p:nvPr/>
        </p:nvSpPr>
        <p:spPr>
          <a:xfrm>
            <a:off x="4206240" y="4800600"/>
            <a:ext cx="118414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E-7 商標権</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 ／ 個人の事業開始（個人事業の特徴、開業準備）</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無限責任か有限責任かが最大の違い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個人事業は開業が簡単な代わりに、失敗時のリスクが大きい。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設立手続</a:t>
            </a:r>
            <a:endParaRPr lang="en-US" sz="1500" dirty="0"/>
          </a:p>
        </p:txBody>
      </p:sp>
      <p:sp>
        <p:nvSpPr>
          <p:cNvPr id="9" name="Text 7"/>
          <p:cNvSpPr txBox="1"/>
          <p:nvPr/>
        </p:nvSpPr>
        <p:spPr>
          <a:xfrm>
            <a:off x="2423160" y="1856232"/>
            <a:ext cx="9281160" cy="8503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個人事業：開業届のみ／法人：定款作成・認証・設立登記が必要</a:t>
            </a:r>
            <a:endParaRPr lang="en-US" sz="1100" dirty="0"/>
          </a:p>
        </p:txBody>
      </p:sp>
      <p:sp>
        <p:nvSpPr>
          <p:cNvPr id="10" name="Shape 8"/>
          <p:cNvSpPr/>
          <p:nvPr/>
        </p:nvSpPr>
        <p:spPr>
          <a:xfrm>
            <a:off x="502920" y="2788920"/>
            <a:ext cx="11201400" cy="0"/>
          </a:xfrm>
          <a:prstGeom prst="line">
            <a:avLst/>
          </a:prstGeom>
          <a:noFill/>
          <a:ln w="12700">
            <a:solidFill>
              <a:srgbClr val="E6E6E6"/>
            </a:solidFill>
            <a:prstDash val="solid"/>
          </a:ln>
        </p:spPr>
      </p:sp>
      <p:sp>
        <p:nvSpPr>
          <p:cNvPr id="11" name="Text 9"/>
          <p:cNvSpPr txBox="1"/>
          <p:nvPr/>
        </p:nvSpPr>
        <p:spPr>
          <a:xfrm>
            <a:off x="502920" y="289864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責任の範囲</a:t>
            </a:r>
            <a:endParaRPr lang="en-US" sz="1500" dirty="0"/>
          </a:p>
        </p:txBody>
      </p:sp>
      <p:sp>
        <p:nvSpPr>
          <p:cNvPr id="12" name="Text 10"/>
          <p:cNvSpPr txBox="1"/>
          <p:nvPr/>
        </p:nvSpPr>
        <p:spPr>
          <a:xfrm>
            <a:off x="2423160" y="2862072"/>
            <a:ext cx="9281160" cy="8503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個人事業：無限責任（個人財産で返済義務）／法人：出資額の範囲の有限責任</a:t>
            </a:r>
            <a:endParaRPr lang="en-US" sz="1100" dirty="0"/>
          </a:p>
        </p:txBody>
      </p:sp>
      <p:sp>
        <p:nvSpPr>
          <p:cNvPr id="13" name="Shape 11"/>
          <p:cNvSpPr/>
          <p:nvPr/>
        </p:nvSpPr>
        <p:spPr>
          <a:xfrm>
            <a:off x="502920" y="3794760"/>
            <a:ext cx="11201400" cy="0"/>
          </a:xfrm>
          <a:prstGeom prst="line">
            <a:avLst/>
          </a:prstGeom>
          <a:noFill/>
          <a:ln w="12700">
            <a:solidFill>
              <a:srgbClr val="E6E6E6"/>
            </a:solidFill>
            <a:prstDash val="solid"/>
          </a:ln>
        </p:spPr>
      </p:sp>
      <p:sp>
        <p:nvSpPr>
          <p:cNvPr id="14" name="Text 12"/>
          <p:cNvSpPr txBox="1"/>
          <p:nvPr/>
        </p:nvSpPr>
        <p:spPr>
          <a:xfrm>
            <a:off x="502920" y="390448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税金</a:t>
            </a:r>
            <a:endParaRPr lang="en-US" sz="1500" dirty="0"/>
          </a:p>
        </p:txBody>
      </p:sp>
      <p:sp>
        <p:nvSpPr>
          <p:cNvPr id="15" name="Text 13"/>
          <p:cNvSpPr txBox="1"/>
          <p:nvPr/>
        </p:nvSpPr>
        <p:spPr>
          <a:xfrm>
            <a:off x="2423160" y="3867912"/>
            <a:ext cx="9281160" cy="8503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個人事業：所得税（累進課税）／法人：法人税</a:t>
            </a:r>
            <a:endParaRPr lang="en-US" sz="110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直近10年単独出題なし</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ひっかけ：「登記が不要で簡単」と「無限責任か有限責任か」は別の話。簡単に始められる代わりにリスクが大きい表裏の関係。</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E-2 ／ 法人の事業開始（会社の設立と登記）</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発行可能株式総数は絶対的記載事項ではない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定款作成→認証→出資履行→設立時取締役選任→設立登記の順で会社が成立する。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絶対的記載事項</a:t>
            </a:r>
            <a:endParaRPr lang="en-US" sz="1150" dirty="0"/>
          </a:p>
        </p:txBody>
      </p:sp>
      <p:sp>
        <p:nvSpPr>
          <p:cNvPr id="9" name="Shape 7"/>
          <p:cNvSpPr/>
          <p:nvPr/>
        </p:nvSpPr>
        <p:spPr>
          <a:xfrm>
            <a:off x="2404872" y="1691640"/>
            <a:ext cx="0" cy="256032"/>
          </a:xfrm>
          <a:prstGeom prst="line">
            <a:avLst/>
          </a:prstGeom>
          <a:noFill/>
          <a:ln w="12700">
            <a:solidFill>
              <a:srgbClr val="E6E6E6"/>
            </a:solidFill>
            <a:prstDash val="solid"/>
          </a:ln>
        </p:spPr>
      </p:sp>
      <p:sp>
        <p:nvSpPr>
          <p:cNvPr id="10" name="Text 8"/>
          <p:cNvSpPr txBox="1"/>
          <p:nvPr/>
        </p:nvSpPr>
        <p:spPr>
          <a:xfrm>
            <a:off x="2560320" y="1691640"/>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目的・商号・本店所在地・出資財産の価額（最低額）・発起人の氏名住所</a:t>
            </a:r>
            <a:endParaRPr lang="en-US" sz="1150" dirty="0"/>
          </a:p>
        </p:txBody>
      </p:sp>
      <p:sp>
        <p:nvSpPr>
          <p:cNvPr id="11" name="Text 9"/>
          <p:cNvSpPr txBox="1"/>
          <p:nvPr/>
        </p:nvSpPr>
        <p:spPr>
          <a:xfrm>
            <a:off x="502920" y="2057400"/>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定款認証</a:t>
            </a:r>
            <a:endParaRPr lang="en-US" sz="1150" dirty="0"/>
          </a:p>
        </p:txBody>
      </p:sp>
      <p:sp>
        <p:nvSpPr>
          <p:cNvPr id="12" name="Shape 10"/>
          <p:cNvSpPr/>
          <p:nvPr/>
        </p:nvSpPr>
        <p:spPr>
          <a:xfrm>
            <a:off x="2404872" y="2057400"/>
            <a:ext cx="0" cy="256032"/>
          </a:xfrm>
          <a:prstGeom prst="line">
            <a:avLst/>
          </a:prstGeom>
          <a:noFill/>
          <a:ln w="12700">
            <a:solidFill>
              <a:srgbClr val="E6E6E6"/>
            </a:solidFill>
            <a:prstDash val="solid"/>
          </a:ln>
        </p:spPr>
      </p:sp>
      <p:sp>
        <p:nvSpPr>
          <p:cNvPr id="13" name="Text 11"/>
          <p:cNvSpPr txBox="1"/>
          <p:nvPr/>
        </p:nvSpPr>
        <p:spPr>
          <a:xfrm>
            <a:off x="2560320" y="2057400"/>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株式会社は公証人の認証が必要（合同会社は不要）</a:t>
            </a:r>
            <a:endParaRPr lang="en-US" sz="1150" dirty="0"/>
          </a:p>
        </p:txBody>
      </p:sp>
      <p:sp>
        <p:nvSpPr>
          <p:cNvPr id="14" name="Text 12"/>
          <p:cNvSpPr txBox="1"/>
          <p:nvPr/>
        </p:nvSpPr>
        <p:spPr>
          <a:xfrm>
            <a:off x="502920" y="2423160"/>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設立登記</a:t>
            </a:r>
            <a:endParaRPr lang="en-US" sz="1150" dirty="0"/>
          </a:p>
        </p:txBody>
      </p:sp>
      <p:sp>
        <p:nvSpPr>
          <p:cNvPr id="15" name="Shape 13"/>
          <p:cNvSpPr/>
          <p:nvPr/>
        </p:nvSpPr>
        <p:spPr>
          <a:xfrm>
            <a:off x="2404872" y="2423160"/>
            <a:ext cx="0" cy="256032"/>
          </a:xfrm>
          <a:prstGeom prst="line">
            <a:avLst/>
          </a:prstGeom>
          <a:noFill/>
          <a:ln w="12700">
            <a:solidFill>
              <a:srgbClr val="E6E6E6"/>
            </a:solidFill>
            <a:prstDash val="solid"/>
          </a:ln>
        </p:spPr>
      </p:sp>
      <p:sp>
        <p:nvSpPr>
          <p:cNvPr id="16" name="Text 14"/>
          <p:cNvSpPr txBox="1"/>
          <p:nvPr/>
        </p:nvSpPr>
        <p:spPr>
          <a:xfrm>
            <a:off x="2560320" y="2423160"/>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登記により会社が法的に成立する（成立要件）</a:t>
            </a:r>
            <a:endParaRPr lang="en-US" sz="1150" dirty="0"/>
          </a:p>
        </p:txBody>
      </p:sp>
      <p:sp>
        <p:nvSpPr>
          <p:cNvPr id="17" name="Shape 15"/>
          <p:cNvSpPr/>
          <p:nvPr/>
        </p:nvSpPr>
        <p:spPr>
          <a:xfrm>
            <a:off x="502920" y="2880360"/>
            <a:ext cx="11201400" cy="0"/>
          </a:xfrm>
          <a:prstGeom prst="line">
            <a:avLst/>
          </a:prstGeom>
          <a:noFill/>
          <a:ln w="12700">
            <a:solidFill>
              <a:srgbClr val="E6E6E6"/>
            </a:solidFill>
            <a:prstDash val="solid"/>
          </a:ln>
        </p:spPr>
      </p:sp>
      <p:sp>
        <p:nvSpPr>
          <p:cNvPr id="18" name="Text 16"/>
          <p:cNvSpPr txBox="1"/>
          <p:nvPr/>
        </p:nvSpPr>
        <p:spPr>
          <a:xfrm>
            <a:off x="502920" y="295351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発行可能株式総数は絶対的記載事項に含まれない。定款に記載がなくても定款は無効にならないが、成立時までに別途定める必要がある。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関連：E-18 会社法（機関設計・取締役会の運営ルール）。</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E-3 ／ 届出・手続（許認可、労働保険・社会保険、税務上の届出）</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業種によって必要な許認可が異なる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会社設立だけでは事業を始められない業種もある。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03120" cy="39319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許認可</a:t>
            </a:r>
            <a:endParaRPr lang="en-US" sz="1150" dirty="0"/>
          </a:p>
        </p:txBody>
      </p:sp>
      <p:sp>
        <p:nvSpPr>
          <p:cNvPr id="9" name="Shape 7"/>
          <p:cNvSpPr/>
          <p:nvPr/>
        </p:nvSpPr>
        <p:spPr>
          <a:xfrm>
            <a:off x="2587752" y="1691640"/>
            <a:ext cx="0" cy="256032"/>
          </a:xfrm>
          <a:prstGeom prst="line">
            <a:avLst/>
          </a:prstGeom>
          <a:noFill/>
          <a:ln w="12700">
            <a:solidFill>
              <a:srgbClr val="E6E6E6"/>
            </a:solidFill>
            <a:prstDash val="solid"/>
          </a:ln>
        </p:spPr>
      </p:sp>
      <p:sp>
        <p:nvSpPr>
          <p:cNvPr id="10" name="Text 8"/>
          <p:cNvSpPr txBox="1"/>
          <p:nvPr/>
        </p:nvSpPr>
        <p:spPr>
          <a:xfrm>
            <a:off x="2743200" y="1691640"/>
            <a:ext cx="8961120" cy="39319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飲食業（保健所）、建設業（建設業許可）、古物商（公安委員会）等</a:t>
            </a:r>
            <a:endParaRPr lang="en-US" sz="1150" dirty="0"/>
          </a:p>
        </p:txBody>
      </p:sp>
      <p:sp>
        <p:nvSpPr>
          <p:cNvPr id="11" name="Text 9"/>
          <p:cNvSpPr txBox="1"/>
          <p:nvPr/>
        </p:nvSpPr>
        <p:spPr>
          <a:xfrm>
            <a:off x="502920" y="2103120"/>
            <a:ext cx="2103120" cy="39319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労働・社会保険</a:t>
            </a:r>
            <a:endParaRPr lang="en-US" sz="1150" dirty="0"/>
          </a:p>
        </p:txBody>
      </p:sp>
      <p:sp>
        <p:nvSpPr>
          <p:cNvPr id="12" name="Shape 10"/>
          <p:cNvSpPr/>
          <p:nvPr/>
        </p:nvSpPr>
        <p:spPr>
          <a:xfrm>
            <a:off x="2587752" y="2103120"/>
            <a:ext cx="0" cy="256032"/>
          </a:xfrm>
          <a:prstGeom prst="line">
            <a:avLst/>
          </a:prstGeom>
          <a:noFill/>
          <a:ln w="12700">
            <a:solidFill>
              <a:srgbClr val="E6E6E6"/>
            </a:solidFill>
            <a:prstDash val="solid"/>
          </a:ln>
        </p:spPr>
      </p:sp>
      <p:sp>
        <p:nvSpPr>
          <p:cNvPr id="13" name="Text 11"/>
          <p:cNvSpPr txBox="1"/>
          <p:nvPr/>
        </p:nvSpPr>
        <p:spPr>
          <a:xfrm>
            <a:off x="2743200" y="2103120"/>
            <a:ext cx="8961120" cy="39319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従業員雇用時は労災・雇用保険、健康保険・厚生年金への加入手続</a:t>
            </a:r>
            <a:endParaRPr lang="en-US" sz="1150" dirty="0"/>
          </a:p>
        </p:txBody>
      </p:sp>
      <p:sp>
        <p:nvSpPr>
          <p:cNvPr id="14" name="Shape 12"/>
          <p:cNvSpPr/>
          <p:nvPr/>
        </p:nvSpPr>
        <p:spPr>
          <a:xfrm>
            <a:off x="502920" y="2606040"/>
            <a:ext cx="11201400" cy="0"/>
          </a:xfrm>
          <a:prstGeom prst="line">
            <a:avLst/>
          </a:prstGeom>
          <a:noFill/>
          <a:ln w="12700">
            <a:solidFill>
              <a:srgbClr val="E6E6E6"/>
            </a:solidFill>
            <a:prstDash val="solid"/>
          </a:ln>
        </p:spPr>
      </p:sp>
      <p:sp>
        <p:nvSpPr>
          <p:cNvPr id="15" name="Text 13"/>
          <p:cNvSpPr txBox="1"/>
          <p:nvPr/>
        </p:nvSpPr>
        <p:spPr>
          <a:xfrm>
            <a:off x="502920" y="2679192"/>
            <a:ext cx="11201400" cy="54864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「許可」「認可」「届出」「登録」で行政手続の性質が異なる。個々の業種の詳細より「事前に確認すべき事項が複数ある」という全体像を理解しておけば十分。</a:t>
            </a:r>
            <a:endParaRPr lang="en-US" sz="9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直近10年単独出題なし</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関連：E-2 法人の事業開始（会社設立から営業開始までの流れ）。</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E-4 ／ 合併等の手続（合併・営業譲渡、組織変更）</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「バラ売り」か「まるごと引っ越し」か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経営法務で最頻出。包括承継か特定承継かで同意・保護手続の要否が変わる。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6459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事業譲渡</a:t>
            </a:r>
            <a:endParaRPr lang="en-US" sz="1500" dirty="0"/>
          </a:p>
        </p:txBody>
      </p:sp>
      <p:sp>
        <p:nvSpPr>
          <p:cNvPr id="9" name="Text 7"/>
          <p:cNvSpPr txBox="1"/>
          <p:nvPr/>
        </p:nvSpPr>
        <p:spPr>
          <a:xfrm>
            <a:off x="2240280" y="191109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特定承継</a:t>
            </a:r>
            <a:endParaRPr lang="en-US" sz="1100" dirty="0"/>
          </a:p>
        </p:txBody>
      </p:sp>
      <p:sp>
        <p:nvSpPr>
          <p:cNvPr id="10" name="Text 8"/>
          <p:cNvSpPr txBox="1"/>
          <p:nvPr/>
        </p:nvSpPr>
        <p:spPr>
          <a:xfrm>
            <a:off x="3794760" y="1856232"/>
            <a:ext cx="790956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個々の契約を個別移転。契約相手方の個別同意が必要。債権者保護手続の規定なし</a:t>
            </a:r>
            <a:endParaRPr lang="en-US" sz="1100" dirty="0"/>
          </a:p>
        </p:txBody>
      </p:sp>
      <p:sp>
        <p:nvSpPr>
          <p:cNvPr id="11" name="Shape 9"/>
          <p:cNvSpPr/>
          <p:nvPr/>
        </p:nvSpPr>
        <p:spPr>
          <a:xfrm>
            <a:off x="502920" y="2880360"/>
            <a:ext cx="11201400" cy="0"/>
          </a:xfrm>
          <a:prstGeom prst="line">
            <a:avLst/>
          </a:prstGeom>
          <a:noFill/>
          <a:ln w="12700">
            <a:solidFill>
              <a:srgbClr val="E6E6E6"/>
            </a:solidFill>
            <a:prstDash val="solid"/>
          </a:ln>
        </p:spPr>
      </p:sp>
      <p:sp>
        <p:nvSpPr>
          <p:cNvPr id="12" name="Text 10"/>
          <p:cNvSpPr txBox="1"/>
          <p:nvPr/>
        </p:nvSpPr>
        <p:spPr>
          <a:xfrm>
            <a:off x="502920" y="2990088"/>
            <a:ext cx="16459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会社分割</a:t>
            </a:r>
            <a:endParaRPr lang="en-US" sz="1500" dirty="0"/>
          </a:p>
        </p:txBody>
      </p:sp>
      <p:sp>
        <p:nvSpPr>
          <p:cNvPr id="13" name="Text 11"/>
          <p:cNvSpPr txBox="1"/>
          <p:nvPr/>
        </p:nvSpPr>
        <p:spPr>
          <a:xfrm>
            <a:off x="2240280" y="300837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包括承継</a:t>
            </a:r>
            <a:endParaRPr lang="en-US" sz="1100" dirty="0"/>
          </a:p>
        </p:txBody>
      </p:sp>
      <p:sp>
        <p:nvSpPr>
          <p:cNvPr id="14" name="Text 12"/>
          <p:cNvSpPr txBox="1"/>
          <p:nvPr/>
        </p:nvSpPr>
        <p:spPr>
          <a:xfrm>
            <a:off x="3794760" y="2953512"/>
            <a:ext cx="790956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契約上の地位も一括移転。相手方の同意は不要だが原則債権者保護手続が必要</a:t>
            </a:r>
            <a:endParaRPr lang="en-US" sz="1100" dirty="0"/>
          </a:p>
        </p:txBody>
      </p:sp>
      <p:sp>
        <p:nvSpPr>
          <p:cNvPr id="15" name="Shape 13"/>
          <p:cNvSpPr/>
          <p:nvPr/>
        </p:nvSpPr>
        <p:spPr>
          <a:xfrm>
            <a:off x="502920" y="3977640"/>
            <a:ext cx="11201400" cy="0"/>
          </a:xfrm>
          <a:prstGeom prst="line">
            <a:avLst/>
          </a:prstGeom>
          <a:noFill/>
          <a:ln w="12700">
            <a:solidFill>
              <a:srgbClr val="E6E6E6"/>
            </a:solidFill>
            <a:prstDash val="solid"/>
          </a:ln>
        </p:spPr>
      </p:sp>
      <p:sp>
        <p:nvSpPr>
          <p:cNvPr id="16" name="Text 14"/>
          <p:cNvSpPr txBox="1"/>
          <p:nvPr/>
        </p:nvSpPr>
        <p:spPr>
          <a:xfrm>
            <a:off x="502920" y="4087368"/>
            <a:ext cx="16459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合併</a:t>
            </a:r>
            <a:endParaRPr lang="en-US" sz="1500" dirty="0"/>
          </a:p>
        </p:txBody>
      </p:sp>
      <p:sp>
        <p:nvSpPr>
          <p:cNvPr id="17" name="Text 15"/>
          <p:cNvSpPr txBox="1"/>
          <p:nvPr/>
        </p:nvSpPr>
        <p:spPr>
          <a:xfrm>
            <a:off x="2240280" y="410565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包括承継</a:t>
            </a:r>
            <a:endParaRPr lang="en-US" sz="1100" dirty="0"/>
          </a:p>
        </p:txBody>
      </p:sp>
      <p:sp>
        <p:nvSpPr>
          <p:cNvPr id="18" name="Text 16"/>
          <p:cNvSpPr txBox="1"/>
          <p:nvPr/>
        </p:nvSpPr>
        <p:spPr>
          <a:xfrm>
            <a:off x="3794760" y="4050792"/>
            <a:ext cx="790956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消滅会社の権利義務全部が移転。同意不要、原則債権者保護手続が必要</a:t>
            </a:r>
            <a:endParaRPr lang="en-US" sz="110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ひっかけ：「事業譲渡も包括承継」「会社分割にも保護手続不要」は誤り。3点（承継の性質・同意要否・保護手続要否）をセットで覚える。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E-4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第6問設問1）</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0058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X社代表取締役甲氏と中小企業診断士の会話：「A事業部門をY社に譲渡する際、事業譲渡と会社分割とで契約関係の移転の効力に違いはあるか（空欄A）」「債権者保護手続に違いはあるか。会社分割で免責的債務引受をしてもらう予定（空欄B）」。空欄ＡとＢに入る記述の組み合わせとして、最も適切なものはどれか。</a:t>
            </a:r>
            <a:endParaRPr lang="en-US" sz="1250" dirty="0"/>
          </a:p>
        </p:txBody>
      </p:sp>
      <p:sp>
        <p:nvSpPr>
          <p:cNvPr id="9" name="Text 7"/>
          <p:cNvSpPr txBox="1"/>
          <p:nvPr/>
        </p:nvSpPr>
        <p:spPr>
          <a:xfrm>
            <a:off x="731520" y="2788920"/>
            <a:ext cx="10789920" cy="61264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A：会社分割は包括承継で契約相手方の同意不要、事業譲渡は個別に同意が必要／B：会社分割は債権者保護手続が必要、事業譲渡は不要（ただし免責的債務引受には個別に債権者の同意が必要）</a:t>
            </a:r>
            <a:endParaRPr lang="en-US" sz="1150" dirty="0"/>
          </a:p>
        </p:txBody>
      </p:sp>
      <p:sp>
        <p:nvSpPr>
          <p:cNvPr id="10" name="Text 8"/>
          <p:cNvSpPr txBox="1"/>
          <p:nvPr/>
        </p:nvSpPr>
        <p:spPr>
          <a:xfrm>
            <a:off x="731520" y="3447288"/>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A：（アと同じ）／B：会社分割も事業譲渡も債権者保護手続が必要</a:t>
            </a:r>
            <a:endParaRPr lang="en-US" sz="1150" dirty="0"/>
          </a:p>
        </p:txBody>
      </p:sp>
      <p:sp>
        <p:nvSpPr>
          <p:cNvPr id="11" name="Text 9"/>
          <p:cNvSpPr txBox="1"/>
          <p:nvPr/>
        </p:nvSpPr>
        <p:spPr>
          <a:xfrm>
            <a:off x="731520" y="3904488"/>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A：会社分割も事業譲渡も包括承継で同意不要／B：会社分割も事業譲渡も債権者保護手続が必要</a:t>
            </a:r>
            <a:endParaRPr lang="en-US" sz="1150" dirty="0"/>
          </a:p>
        </p:txBody>
      </p:sp>
      <p:sp>
        <p:nvSpPr>
          <p:cNvPr id="12" name="Text 10"/>
          <p:cNvSpPr txBox="1"/>
          <p:nvPr/>
        </p:nvSpPr>
        <p:spPr>
          <a:xfrm>
            <a:off x="731520" y="4361688"/>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A：（ウと同じ）／B：会社分割も事業譲渡も債権者保護手続は不要</a:t>
            </a:r>
            <a:endParaRPr lang="en-US" sz="1150" dirty="0"/>
          </a:p>
        </p:txBody>
      </p:sp>
      <p:sp>
        <p:nvSpPr>
          <p:cNvPr id="13" name="Text 11"/>
          <p:cNvSpPr txBox="1"/>
          <p:nvPr/>
        </p:nvSpPr>
        <p:spPr>
          <a:xfrm>
            <a:off x="502920" y="4956048"/>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出典：past_exams/1st_stage/1ji2025/E1JI2025.pdf（令和7年度第1次試験）第6問設問1</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E-4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第6問設問1）</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正解はア。事業譲渡は特定承継で同意必要、保護手続の規定はなし。</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09928"/>
            <a:ext cx="11201400" cy="658368"/>
          </a:xfrm>
          <a:prstGeom prst="rect">
            <a:avLst/>
          </a:prstGeom>
          <a:solidFill>
            <a:srgbClr val="F4F4F4"/>
          </a:solidFill>
          <a:ln/>
        </p:spPr>
      </p:sp>
      <p:sp>
        <p:nvSpPr>
          <p:cNvPr id="9" name="Shape 7"/>
          <p:cNvSpPr/>
          <p:nvPr/>
        </p:nvSpPr>
        <p:spPr>
          <a:xfrm>
            <a:off x="502920" y="1709928"/>
            <a:ext cx="0" cy="658368"/>
          </a:xfrm>
          <a:prstGeom prst="line">
            <a:avLst/>
          </a:prstGeom>
          <a:noFill/>
          <a:ln w="38100">
            <a:solidFill>
              <a:srgbClr val="FF3B1F"/>
            </a:solidFill>
            <a:prstDash val="solid"/>
          </a:ln>
        </p:spPr>
      </p:sp>
      <p:sp>
        <p:nvSpPr>
          <p:cNvPr id="10" name="Text 8"/>
          <p:cNvSpPr txBox="1"/>
          <p:nvPr/>
        </p:nvSpPr>
        <p:spPr>
          <a:xfrm>
            <a:off x="731520" y="1737360"/>
            <a:ext cx="10789920" cy="61264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A：会社分割は包括承継で契約相手方の同意不要、事業譲渡は個別に同意が必要／B：会社分割は債権者保護手続が必要、事業譲渡は不要（ただし免責的債務引受には個別に債権者の同意が必要）</a:t>
            </a:r>
            <a:endParaRPr lang="en-US" sz="1150" dirty="0"/>
          </a:p>
        </p:txBody>
      </p:sp>
      <p:sp>
        <p:nvSpPr>
          <p:cNvPr id="11" name="Text 9"/>
          <p:cNvSpPr txBox="1"/>
          <p:nvPr/>
        </p:nvSpPr>
        <p:spPr>
          <a:xfrm>
            <a:off x="731520" y="2395728"/>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A：（アと同じ）／B：会社分割も事業譲渡も債権者保護手続が必要</a:t>
            </a:r>
            <a:endParaRPr lang="en-US" sz="1150" dirty="0"/>
          </a:p>
        </p:txBody>
      </p:sp>
      <p:sp>
        <p:nvSpPr>
          <p:cNvPr id="12" name="Text 10"/>
          <p:cNvSpPr txBox="1"/>
          <p:nvPr/>
        </p:nvSpPr>
        <p:spPr>
          <a:xfrm>
            <a:off x="731520" y="2852928"/>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A：会社分割も事業譲渡も包括承継で同意不要／B：会社分割も事業譲渡も債権者保護手続が必要</a:t>
            </a:r>
            <a:endParaRPr lang="en-US" sz="1150" dirty="0"/>
          </a:p>
        </p:txBody>
      </p:sp>
      <p:sp>
        <p:nvSpPr>
          <p:cNvPr id="13" name="Text 11"/>
          <p:cNvSpPr txBox="1"/>
          <p:nvPr/>
        </p:nvSpPr>
        <p:spPr>
          <a:xfrm>
            <a:off x="731520" y="3310128"/>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A：（ウと同じ）／B：会社分割も事業譲渡も債権者保護手続は不要</a:t>
            </a:r>
            <a:endParaRPr lang="en-US" sz="1150" dirty="0"/>
          </a:p>
        </p:txBody>
      </p:sp>
      <p:sp>
        <p:nvSpPr>
          <p:cNvPr id="14" name="Shape 12"/>
          <p:cNvSpPr/>
          <p:nvPr/>
        </p:nvSpPr>
        <p:spPr>
          <a:xfrm>
            <a:off x="502920" y="3840480"/>
            <a:ext cx="11201400" cy="0"/>
          </a:xfrm>
          <a:prstGeom prst="line">
            <a:avLst/>
          </a:prstGeom>
          <a:noFill/>
          <a:ln w="12700">
            <a:solidFill>
              <a:srgbClr val="171717"/>
            </a:solidFill>
            <a:prstDash val="solid"/>
          </a:ln>
        </p:spPr>
      </p:sp>
      <p:sp>
        <p:nvSpPr>
          <p:cNvPr id="15" name="Text 13"/>
          <p:cNvSpPr txBox="1"/>
          <p:nvPr/>
        </p:nvSpPr>
        <p:spPr>
          <a:xfrm>
            <a:off x="502920" y="3931920"/>
            <a:ext cx="11201400" cy="777240"/>
          </a:xfrm>
          <a:prstGeom prst="rect">
            <a:avLst/>
          </a:prstGeom>
          <a:noFill/>
          <a:ln/>
        </p:spPr>
        <p:txBody>
          <a:bodyPr wrap="square" lIns="0" tIns="0" rIns="0" bIns="0" rtlCol="0" anchor="ctr"/>
          <a:lstStyle/>
          <a:p>
            <a:pPr indent="0" marL="0">
              <a:lnSpc>
                <a:spcPct val="115000"/>
              </a:lnSpc>
              <a:buNone/>
            </a:pPr>
            <a:r>
              <a:rPr lang="en-US" sz="950" b="1" dirty="0">
                <a:solidFill>
                  <a:srgbClr val="FF3B1F"/>
                </a:solidFill>
                <a:latin typeface="Yu Gothic" pitchFamily="34" charset="0"/>
                <a:ea typeface="Yu Gothic" pitchFamily="34" charset="-122"/>
                <a:cs typeface="Yu Gothic" pitchFamily="34" charset="-120"/>
              </a:rPr>
              <a:t>正解：ア</a:t>
            </a:r>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会社分割は分割契約・計画に定めた権利義務が包括的に承継され契約相手方の個別同意は不要（会社法759条等）。事業譲渡は個々の財産・契約ごとの特定承継で契約相手方の同意が原則必要。会社分割は原則債権者保護手続（官報公告・催告）が必要、事業譲渡には会社法上の規定はないが、免責的債務引受には民法上、債権者の個別承諾が必要（民法472条3項）。イ：事業譲渡にも保護手続が必要としている点が誤り。ウ・エ：事業譲渡を包括承継としている点が誤り。</a:t>
            </a:r>
            <a:endParaRPr lang="en-US" sz="950" dirty="0"/>
          </a:p>
        </p:txBody>
      </p:sp>
      <p:sp>
        <p:nvSpPr>
          <p:cNvPr id="16" name="Text 14"/>
          <p:cNvSpPr txBox="1"/>
          <p:nvPr/>
        </p:nvSpPr>
        <p:spPr>
          <a:xfrm>
            <a:off x="502920" y="4773168"/>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事業譲渡は個々の契約を一つひとつ相手方の同意を得て切り替える必要があり手間がかかるが、譲渡対象を個別に選別できる自由度がある。会社分割は包括的に移転する代わり、債権者保護のため保護手続を経る必要がある。</a:t>
            </a:r>
            <a:endParaRPr lang="en-US" sz="850" dirty="0"/>
          </a:p>
        </p:txBody>
      </p:sp>
      <p:sp>
        <p:nvSpPr>
          <p:cNvPr id="17" name="Text 15"/>
          <p:cNvSpPr txBox="1"/>
          <p:nvPr/>
        </p:nvSpPr>
        <p:spPr>
          <a:xfrm>
            <a:off x="502920" y="5458968"/>
            <a:ext cx="11201400" cy="274320"/>
          </a:xfrm>
          <a:prstGeom prst="rect">
            <a:avLst/>
          </a:prstGeom>
          <a:noFill/>
          <a:ln/>
        </p:spPr>
        <p:txBody>
          <a:bodyPr wrap="square" lIns="0" tIns="0" rIns="0" bIns="0" rtlCol="0" anchor="ctr"/>
          <a:lstStyle/>
          <a:p>
            <a:pPr indent="0" marL="0">
              <a:buNone/>
            </a:pPr>
            <a:r>
              <a:rPr lang="en-US" sz="950" dirty="0">
                <a:solidFill>
                  <a:srgbClr val="8A8A8A"/>
                </a:solidFill>
                <a:latin typeface="Yu Gothic" pitchFamily="34" charset="0"/>
                <a:ea typeface="Yu Gothic" pitchFamily="34" charset="-122"/>
                <a:cs typeface="Yu Gothic" pitchFamily="34" charset="-120"/>
              </a:rPr>
              <a:t>関連知識：事業譲渡と会社分割の比較は経営法務の最頻出論点。「包括承継か特定承継か」「契約相手方の同意の要否」「債権者保護手続の要否」の3点をセットで押さえること。</a:t>
            </a:r>
            <a:endParaRPr lang="en-US" sz="950" dirty="0"/>
          </a:p>
        </p:txBody>
      </p:sp>
      <p:sp>
        <p:nvSpPr>
          <p:cNvPr id="18" name="Text 16"/>
          <p:cNvSpPr txBox="1"/>
          <p:nvPr/>
        </p:nvSpPr>
        <p:spPr>
          <a:xfrm>
            <a:off x="502920" y="577900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出典：past_exams/1st_stage/1ji2025/E1JI2025.pdf（令和7年度第1次試験）第6問設問1／正解：past_exams/1st_stage_answers/r07/2025e.pdf</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E-5 ／ 倒産等の手続</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会社更生法は株式会社のみ、民事再生法は誰でも</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再建型（民事再生・会社更生）と清算型（破産・解散清算）に大別される。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6459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民事再生法</a:t>
            </a:r>
            <a:endParaRPr lang="en-US" sz="1500" dirty="0"/>
          </a:p>
        </p:txBody>
      </p:sp>
      <p:sp>
        <p:nvSpPr>
          <p:cNvPr id="9" name="Text 7"/>
          <p:cNvSpPr txBox="1"/>
          <p:nvPr/>
        </p:nvSpPr>
        <p:spPr>
          <a:xfrm>
            <a:off x="2240280" y="191109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再建型</a:t>
            </a:r>
            <a:endParaRPr lang="en-US" sz="1100" dirty="0"/>
          </a:p>
        </p:txBody>
      </p:sp>
      <p:sp>
        <p:nvSpPr>
          <p:cNvPr id="10" name="Text 8"/>
          <p:cNvSpPr txBox="1"/>
          <p:nvPr/>
        </p:nvSpPr>
        <p:spPr>
          <a:xfrm>
            <a:off x="4434840" y="1856232"/>
            <a:ext cx="726948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株式会社に限らず利用可。現経営陣が続投し再建（DIP型）</a:t>
            </a:r>
            <a:endParaRPr lang="en-US" sz="1100" dirty="0"/>
          </a:p>
        </p:txBody>
      </p:sp>
      <p:sp>
        <p:nvSpPr>
          <p:cNvPr id="11" name="Shape 9"/>
          <p:cNvSpPr/>
          <p:nvPr/>
        </p:nvSpPr>
        <p:spPr>
          <a:xfrm>
            <a:off x="502920" y="2880360"/>
            <a:ext cx="11201400" cy="0"/>
          </a:xfrm>
          <a:prstGeom prst="line">
            <a:avLst/>
          </a:prstGeom>
          <a:noFill/>
          <a:ln w="12700">
            <a:solidFill>
              <a:srgbClr val="E6E6E6"/>
            </a:solidFill>
            <a:prstDash val="solid"/>
          </a:ln>
        </p:spPr>
      </p:sp>
      <p:sp>
        <p:nvSpPr>
          <p:cNvPr id="12" name="Text 10"/>
          <p:cNvSpPr txBox="1"/>
          <p:nvPr/>
        </p:nvSpPr>
        <p:spPr>
          <a:xfrm>
            <a:off x="502920" y="2990088"/>
            <a:ext cx="16459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会社更生法</a:t>
            </a:r>
            <a:endParaRPr lang="en-US" sz="1500" dirty="0"/>
          </a:p>
        </p:txBody>
      </p:sp>
      <p:sp>
        <p:nvSpPr>
          <p:cNvPr id="13" name="Text 11"/>
          <p:cNvSpPr txBox="1"/>
          <p:nvPr/>
        </p:nvSpPr>
        <p:spPr>
          <a:xfrm>
            <a:off x="2240280" y="300837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再建型・株式会社限定</a:t>
            </a:r>
            <a:endParaRPr lang="en-US" sz="1100" dirty="0"/>
          </a:p>
        </p:txBody>
      </p:sp>
      <p:sp>
        <p:nvSpPr>
          <p:cNvPr id="14" name="Text 12"/>
          <p:cNvSpPr txBox="1"/>
          <p:nvPr/>
        </p:nvSpPr>
        <p:spPr>
          <a:xfrm>
            <a:off x="4434840" y="2953512"/>
            <a:ext cx="726948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更生管財人が経営権を握り現経営陣は原則退任。大企業向け</a:t>
            </a:r>
            <a:endParaRPr lang="en-US" sz="1100" dirty="0"/>
          </a:p>
        </p:txBody>
      </p:sp>
      <p:sp>
        <p:nvSpPr>
          <p:cNvPr id="15" name="Shape 13"/>
          <p:cNvSpPr/>
          <p:nvPr/>
        </p:nvSpPr>
        <p:spPr>
          <a:xfrm>
            <a:off x="502920" y="3977640"/>
            <a:ext cx="11201400" cy="0"/>
          </a:xfrm>
          <a:prstGeom prst="line">
            <a:avLst/>
          </a:prstGeom>
          <a:noFill/>
          <a:ln w="12700">
            <a:solidFill>
              <a:srgbClr val="E6E6E6"/>
            </a:solidFill>
            <a:prstDash val="solid"/>
          </a:ln>
        </p:spPr>
      </p:sp>
      <p:sp>
        <p:nvSpPr>
          <p:cNvPr id="16" name="Text 14"/>
          <p:cNvSpPr txBox="1"/>
          <p:nvPr/>
        </p:nvSpPr>
        <p:spPr>
          <a:xfrm>
            <a:off x="502920" y="4087368"/>
            <a:ext cx="16459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破産法</a:t>
            </a:r>
            <a:endParaRPr lang="en-US" sz="1500" dirty="0"/>
          </a:p>
        </p:txBody>
      </p:sp>
      <p:sp>
        <p:nvSpPr>
          <p:cNvPr id="17" name="Text 15"/>
          <p:cNvSpPr txBox="1"/>
          <p:nvPr/>
        </p:nvSpPr>
        <p:spPr>
          <a:xfrm>
            <a:off x="2240280" y="410565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清算型</a:t>
            </a:r>
            <a:endParaRPr lang="en-US" sz="1100" dirty="0"/>
          </a:p>
        </p:txBody>
      </p:sp>
      <p:sp>
        <p:nvSpPr>
          <p:cNvPr id="18" name="Text 16"/>
          <p:cNvSpPr txBox="1"/>
          <p:nvPr/>
        </p:nvSpPr>
        <p:spPr>
          <a:xfrm>
            <a:off x="4434840" y="4050792"/>
            <a:ext cx="726948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破産管財人が財産を換価し配当後、会社を消滅させる</a:t>
            </a:r>
            <a:endParaRPr lang="en-US" sz="110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ひっかけ：対象（株式会社限定か否か）と経営権の帰趨（続投か退任か）の違いが頻出。</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E-6 ／ 産業財産権の内容と取得方法（特許権）</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職務発明の通常実施権は登録不要</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出願から20年。職務発明では使用者等が無償の通常実施権を当然取得する。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存続期間</a:t>
            </a:r>
            <a:endParaRPr lang="en-US" sz="1150" dirty="0"/>
          </a:p>
        </p:txBody>
      </p:sp>
      <p:sp>
        <p:nvSpPr>
          <p:cNvPr id="9" name="Shape 7"/>
          <p:cNvSpPr/>
          <p:nvPr/>
        </p:nvSpPr>
        <p:spPr>
          <a:xfrm>
            <a:off x="2404872" y="1691640"/>
            <a:ext cx="0" cy="256032"/>
          </a:xfrm>
          <a:prstGeom prst="line">
            <a:avLst/>
          </a:prstGeom>
          <a:noFill/>
          <a:ln w="12700">
            <a:solidFill>
              <a:srgbClr val="E6E6E6"/>
            </a:solidFill>
            <a:prstDash val="solid"/>
          </a:ln>
        </p:spPr>
      </p:sp>
      <p:sp>
        <p:nvSpPr>
          <p:cNvPr id="10" name="Text 8"/>
          <p:cNvSpPr txBox="1"/>
          <p:nvPr/>
        </p:nvSpPr>
        <p:spPr>
          <a:xfrm>
            <a:off x="2560320" y="1691640"/>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出願日から20年（延長制度あり）</a:t>
            </a:r>
            <a:endParaRPr lang="en-US" sz="1150" dirty="0"/>
          </a:p>
        </p:txBody>
      </p:sp>
      <p:sp>
        <p:nvSpPr>
          <p:cNvPr id="11" name="Text 9"/>
          <p:cNvSpPr txBox="1"/>
          <p:nvPr/>
        </p:nvSpPr>
        <p:spPr>
          <a:xfrm>
            <a:off x="502920" y="2057400"/>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新規性喪失の例外</a:t>
            </a:r>
            <a:endParaRPr lang="en-US" sz="1150" dirty="0"/>
          </a:p>
        </p:txBody>
      </p:sp>
      <p:sp>
        <p:nvSpPr>
          <p:cNvPr id="12" name="Shape 10"/>
          <p:cNvSpPr/>
          <p:nvPr/>
        </p:nvSpPr>
        <p:spPr>
          <a:xfrm>
            <a:off x="2404872" y="2057400"/>
            <a:ext cx="0" cy="256032"/>
          </a:xfrm>
          <a:prstGeom prst="line">
            <a:avLst/>
          </a:prstGeom>
          <a:noFill/>
          <a:ln w="12700">
            <a:solidFill>
              <a:srgbClr val="E6E6E6"/>
            </a:solidFill>
            <a:prstDash val="solid"/>
          </a:ln>
        </p:spPr>
      </p:sp>
      <p:sp>
        <p:nvSpPr>
          <p:cNvPr id="13" name="Text 11"/>
          <p:cNvSpPr txBox="1"/>
          <p:nvPr/>
        </p:nvSpPr>
        <p:spPr>
          <a:xfrm>
            <a:off x="2560320" y="2057400"/>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公開日から1年以内に手続を伴い出願すれば新規性を失わない扱い</a:t>
            </a:r>
            <a:endParaRPr lang="en-US" sz="1150" dirty="0"/>
          </a:p>
        </p:txBody>
      </p:sp>
      <p:sp>
        <p:nvSpPr>
          <p:cNvPr id="14" name="Text 12"/>
          <p:cNvSpPr txBox="1"/>
          <p:nvPr/>
        </p:nvSpPr>
        <p:spPr>
          <a:xfrm>
            <a:off x="502920" y="2423160"/>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職務発明</a:t>
            </a:r>
            <a:endParaRPr lang="en-US" sz="1150" dirty="0"/>
          </a:p>
        </p:txBody>
      </p:sp>
      <p:sp>
        <p:nvSpPr>
          <p:cNvPr id="15" name="Shape 13"/>
          <p:cNvSpPr/>
          <p:nvPr/>
        </p:nvSpPr>
        <p:spPr>
          <a:xfrm>
            <a:off x="2404872" y="2423160"/>
            <a:ext cx="0" cy="256032"/>
          </a:xfrm>
          <a:prstGeom prst="line">
            <a:avLst/>
          </a:prstGeom>
          <a:noFill/>
          <a:ln w="12700">
            <a:solidFill>
              <a:srgbClr val="E6E6E6"/>
            </a:solidFill>
            <a:prstDash val="solid"/>
          </a:ln>
        </p:spPr>
      </p:sp>
      <p:sp>
        <p:nvSpPr>
          <p:cNvPr id="16" name="Text 14"/>
          <p:cNvSpPr txBox="1"/>
          <p:nvPr/>
        </p:nvSpPr>
        <p:spPr>
          <a:xfrm>
            <a:off x="2560320" y="2423160"/>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特許を受ける権利は原則発明者本人。使用者等は無償の通常実施権を当然取得</a:t>
            </a:r>
            <a:endParaRPr lang="en-US" sz="1150" dirty="0"/>
          </a:p>
        </p:txBody>
      </p:sp>
      <p:sp>
        <p:nvSpPr>
          <p:cNvPr id="17" name="Shape 15"/>
          <p:cNvSpPr/>
          <p:nvPr/>
        </p:nvSpPr>
        <p:spPr>
          <a:xfrm>
            <a:off x="502920" y="2880360"/>
            <a:ext cx="11201400" cy="0"/>
          </a:xfrm>
          <a:prstGeom prst="line">
            <a:avLst/>
          </a:prstGeom>
          <a:noFill/>
          <a:ln w="12700">
            <a:solidFill>
              <a:srgbClr val="E6E6E6"/>
            </a:solidFill>
            <a:prstDash val="solid"/>
          </a:ln>
        </p:spPr>
      </p:sp>
      <p:sp>
        <p:nvSpPr>
          <p:cNvPr id="18" name="Text 16"/>
          <p:cNvSpPr txBox="1"/>
          <p:nvPr/>
        </p:nvSpPr>
        <p:spPr>
          <a:xfrm>
            <a:off x="502920" y="295351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使用者等の通常実施権は登録不要で法律上当然に発生し第三者にも対抗できる。「過去の職務」に属する発明も職務発明に含まれる。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関連：E-11 知的財産権に関する契約（専用実施権・通常実施権の違い）。</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E-6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第9問）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4572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特許法第35条に規定する職務発明に関する記述として、最も適切なものはどれか。</a:t>
            </a:r>
            <a:endParaRPr lang="en-US" sz="1250" dirty="0"/>
          </a:p>
        </p:txBody>
      </p:sp>
      <p:sp>
        <p:nvSpPr>
          <p:cNvPr id="9" name="Text 7"/>
          <p:cNvSpPr txBox="1"/>
          <p:nvPr/>
        </p:nvSpPr>
        <p:spPr>
          <a:xfrm>
            <a:off x="731520" y="2240280"/>
            <a:ext cx="10789920" cy="54864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従業者等がした発明については、その発明が職務発明である場合を除き、あらかじめ使用者等に特許を受ける権利を取得させることを定めた契約・勤務規則等の条項は、無効である。</a:t>
            </a:r>
            <a:endParaRPr lang="en-US" sz="1150" dirty="0"/>
          </a:p>
        </p:txBody>
      </p:sp>
      <p:sp>
        <p:nvSpPr>
          <p:cNvPr id="10" name="Text 8"/>
          <p:cNvSpPr txBox="1"/>
          <p:nvPr/>
        </p:nvSpPr>
        <p:spPr>
          <a:xfrm>
            <a:off x="731520" y="283464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使用者等が有する通常実施権は、その発生後に特許権を取得した者に対しては、その効力を有しない。</a:t>
            </a:r>
            <a:endParaRPr lang="en-US" sz="1150" dirty="0"/>
          </a:p>
        </p:txBody>
      </p:sp>
      <p:sp>
        <p:nvSpPr>
          <p:cNvPr id="11" name="Text 9"/>
          <p:cNvSpPr txBox="1"/>
          <p:nvPr/>
        </p:nvSpPr>
        <p:spPr>
          <a:xfrm>
            <a:off x="731520" y="333756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使用者等が有する通常実施権は、登録しなければ、その効力を生じない。</a:t>
            </a:r>
            <a:endParaRPr lang="en-US" sz="1150" dirty="0"/>
          </a:p>
        </p:txBody>
      </p:sp>
      <p:sp>
        <p:nvSpPr>
          <p:cNvPr id="12" name="Text 10"/>
          <p:cNvSpPr txBox="1"/>
          <p:nvPr/>
        </p:nvSpPr>
        <p:spPr>
          <a:xfrm>
            <a:off x="731520" y="379476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職務発明は現在の職務に属する発明を指すので、同一企業内であっても従業者等の過去の職務に属する発明は、職務発明と認められる場合はない。</a:t>
            </a:r>
            <a:endParaRPr lang="en-US" sz="1150" dirty="0"/>
          </a:p>
        </p:txBody>
      </p:sp>
      <p:sp>
        <p:nvSpPr>
          <p:cNvPr id="13" name="Text 11"/>
          <p:cNvSpPr txBox="1"/>
          <p:nvPr/>
        </p:nvSpPr>
        <p:spPr>
          <a:xfrm>
            <a:off x="502920" y="448056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出典：past_exams/1st_stage/1ji2025/E1JI2025.pdf（令和7年度第1次試験）第9問</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E-6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第9問）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正解はア。条文どおり、自由発明への権利取得条項は無効。</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09928"/>
            <a:ext cx="11201400" cy="594360"/>
          </a:xfrm>
          <a:prstGeom prst="rect">
            <a:avLst/>
          </a:prstGeom>
          <a:solidFill>
            <a:srgbClr val="F4F4F4"/>
          </a:solidFill>
          <a:ln/>
        </p:spPr>
      </p:sp>
      <p:sp>
        <p:nvSpPr>
          <p:cNvPr id="9" name="Shape 7"/>
          <p:cNvSpPr/>
          <p:nvPr/>
        </p:nvSpPr>
        <p:spPr>
          <a:xfrm>
            <a:off x="502920" y="1709928"/>
            <a:ext cx="0" cy="594360"/>
          </a:xfrm>
          <a:prstGeom prst="line">
            <a:avLst/>
          </a:prstGeom>
          <a:noFill/>
          <a:ln w="38100">
            <a:solidFill>
              <a:srgbClr val="FF3B1F"/>
            </a:solidFill>
            <a:prstDash val="solid"/>
          </a:ln>
        </p:spPr>
      </p:sp>
      <p:sp>
        <p:nvSpPr>
          <p:cNvPr id="10" name="Text 8"/>
          <p:cNvSpPr txBox="1"/>
          <p:nvPr/>
        </p:nvSpPr>
        <p:spPr>
          <a:xfrm>
            <a:off x="731520" y="1737360"/>
            <a:ext cx="10789920" cy="548640"/>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従業者等がした発明については、その発明が職務発明である場合を除き、あらかじめ使用者等に特許を受ける権利を取得させることを定めた契約・勤務規則等の条項は、無効である。</a:t>
            </a:r>
            <a:endParaRPr lang="en-US" sz="1150" dirty="0"/>
          </a:p>
        </p:txBody>
      </p:sp>
      <p:sp>
        <p:nvSpPr>
          <p:cNvPr id="11" name="Text 9"/>
          <p:cNvSpPr txBox="1"/>
          <p:nvPr/>
        </p:nvSpPr>
        <p:spPr>
          <a:xfrm>
            <a:off x="731520" y="233172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使用者等が有する通常実施権は、その発生後に特許権を取得した者に対しては、その効力を有しない。</a:t>
            </a:r>
            <a:endParaRPr lang="en-US" sz="1150" dirty="0"/>
          </a:p>
        </p:txBody>
      </p:sp>
      <p:sp>
        <p:nvSpPr>
          <p:cNvPr id="12" name="Text 10"/>
          <p:cNvSpPr txBox="1"/>
          <p:nvPr/>
        </p:nvSpPr>
        <p:spPr>
          <a:xfrm>
            <a:off x="731520" y="283464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使用者等が有する通常実施権は、登録しなければ、その効力を生じない。</a:t>
            </a:r>
            <a:endParaRPr lang="en-US" sz="1150" dirty="0"/>
          </a:p>
        </p:txBody>
      </p:sp>
      <p:sp>
        <p:nvSpPr>
          <p:cNvPr id="13" name="Text 11"/>
          <p:cNvSpPr txBox="1"/>
          <p:nvPr/>
        </p:nvSpPr>
        <p:spPr>
          <a:xfrm>
            <a:off x="731520" y="329184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職務発明は現在の職務に属する発明を指すので、同一企業内であっても従業者等の過去の職務に属する発明は、職務発明と認められる場合はない。</a:t>
            </a:r>
            <a:endParaRPr lang="en-US" sz="1150" dirty="0"/>
          </a:p>
        </p:txBody>
      </p:sp>
      <p:sp>
        <p:nvSpPr>
          <p:cNvPr id="14" name="Shape 12"/>
          <p:cNvSpPr/>
          <p:nvPr/>
        </p:nvSpPr>
        <p:spPr>
          <a:xfrm>
            <a:off x="502920" y="3913632"/>
            <a:ext cx="11201400" cy="0"/>
          </a:xfrm>
          <a:prstGeom prst="line">
            <a:avLst/>
          </a:prstGeom>
          <a:noFill/>
          <a:ln w="12700">
            <a:solidFill>
              <a:srgbClr val="171717"/>
            </a:solidFill>
            <a:prstDash val="solid"/>
          </a:ln>
        </p:spPr>
      </p:sp>
      <p:sp>
        <p:nvSpPr>
          <p:cNvPr id="15" name="Text 13"/>
          <p:cNvSpPr txBox="1"/>
          <p:nvPr/>
        </p:nvSpPr>
        <p:spPr>
          <a:xfrm>
            <a:off x="502920" y="4005072"/>
            <a:ext cx="11201400" cy="685800"/>
          </a:xfrm>
          <a:prstGeom prst="rect">
            <a:avLst/>
          </a:prstGeom>
          <a:noFill/>
          <a:ln/>
        </p:spPr>
        <p:txBody>
          <a:bodyPr wrap="square" lIns="0" tIns="0" rIns="0" bIns="0" rtlCol="0" anchor="ctr"/>
          <a:lstStyle/>
          <a:p>
            <a:pPr indent="0" marL="0">
              <a:lnSpc>
                <a:spcPct val="118000"/>
              </a:lnSpc>
              <a:buNone/>
            </a:pPr>
            <a:r>
              <a:rPr lang="en-US" sz="950" b="1" dirty="0">
                <a:solidFill>
                  <a:srgbClr val="FF3B1F"/>
                </a:solidFill>
                <a:latin typeface="Yu Gothic" pitchFamily="34" charset="0"/>
                <a:ea typeface="Yu Gothic" pitchFamily="34" charset="-122"/>
                <a:cs typeface="Yu Gothic" pitchFamily="34" charset="-120"/>
              </a:rPr>
              <a:t>正解：ア</a:t>
            </a:r>
            <a:pPr indent="0" marL="0">
              <a:lnSpc>
                <a:spcPct val="118000"/>
              </a:lnSpc>
              <a:buNone/>
            </a:pPr>
            <a:r>
              <a:rPr lang="en-US" sz="950" dirty="0">
                <a:solidFill>
                  <a:srgbClr val="171717"/>
                </a:solidFill>
                <a:latin typeface="Yu Gothic" pitchFamily="34" charset="0"/>
                <a:ea typeface="Yu Gothic" pitchFamily="34" charset="-122"/>
                <a:cs typeface="Yu Gothic" pitchFamily="34" charset="-120"/>
              </a:rPr>
              <a:t>。特許法35条2項どおりの記述で正しい（職務発明でない発明＝自由発明について会社に権利取得させる取り決めは無効）。イ・ウ：使用者等の法定通常実施権（35条1項）は</a:t>
            </a:r>
            <a:pPr indent="0" marL="0">
              <a:lnSpc>
                <a:spcPct val="118000"/>
              </a:lnSpc>
              <a:buNone/>
            </a:pPr>
            <a:r>
              <a:rPr lang="en-US" sz="950" b="1" dirty="0">
                <a:solidFill>
                  <a:srgbClr val="171717"/>
                </a:solidFill>
                <a:latin typeface="Yu Gothic" pitchFamily="34" charset="0"/>
                <a:ea typeface="Yu Gothic" pitchFamily="34" charset="-122"/>
                <a:cs typeface="Yu Gothic" pitchFamily="34" charset="-120"/>
              </a:rPr>
              <a:t>登録不要</a:t>
            </a:r>
            <a:pPr indent="0" marL="0">
              <a:lnSpc>
                <a:spcPct val="118000"/>
              </a:lnSpc>
              <a:buNone/>
            </a:pPr>
            <a:r>
              <a:rPr lang="en-US" sz="950" dirty="0">
                <a:solidFill>
                  <a:srgbClr val="171717"/>
                </a:solidFill>
                <a:latin typeface="Yu Gothic" pitchFamily="34" charset="0"/>
                <a:ea typeface="Yu Gothic" pitchFamily="34" charset="-122"/>
                <a:cs typeface="Yu Gothic" pitchFamily="34" charset="-120"/>
              </a:rPr>
              <a:t>で法律上当然に発生し、後に特許権を取得した第三者にも対抗できる。エ：条文は「現在</a:t>
            </a:r>
            <a:pPr indent="0" marL="0">
              <a:lnSpc>
                <a:spcPct val="118000"/>
              </a:lnSpc>
              <a:buNone/>
            </a:pPr>
            <a:r>
              <a:rPr lang="en-US" sz="950" b="1" dirty="0">
                <a:solidFill>
                  <a:srgbClr val="171717"/>
                </a:solidFill>
                <a:latin typeface="Yu Gothic" pitchFamily="34" charset="0"/>
                <a:ea typeface="Yu Gothic" pitchFamily="34" charset="-122"/>
                <a:cs typeface="Yu Gothic" pitchFamily="34" charset="-120"/>
              </a:rPr>
              <a:t>又は過去</a:t>
            </a:r>
            <a:pPr indent="0" marL="0">
              <a:lnSpc>
                <a:spcPct val="118000"/>
              </a:lnSpc>
              <a:buNone/>
            </a:pPr>
            <a:r>
              <a:rPr lang="en-US" sz="950" dirty="0">
                <a:solidFill>
                  <a:srgbClr val="171717"/>
                </a:solidFill>
                <a:latin typeface="Yu Gothic" pitchFamily="34" charset="0"/>
                <a:ea typeface="Yu Gothic" pitchFamily="34" charset="-122"/>
                <a:cs typeface="Yu Gothic" pitchFamily="34" charset="-120"/>
              </a:rPr>
              <a:t>の職務」と規定しており、過去の職務に属する発明も職務発明に含まれる。</a:t>
            </a:r>
            <a:endParaRPr lang="en-US" sz="950" dirty="0"/>
          </a:p>
        </p:txBody>
      </p:sp>
      <p:sp>
        <p:nvSpPr>
          <p:cNvPr id="16" name="Text 14"/>
          <p:cNvSpPr txBox="1"/>
          <p:nvPr/>
        </p:nvSpPr>
        <p:spPr>
          <a:xfrm>
            <a:off x="502920" y="4754880"/>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職務発明制度は①特許を受ける権利は原則発明者本人、②使用者等は無償の法定通常実施権を当然取得、③契約・勤務規則等であらかじめ使用者等に権利取得させることも可能、という3点構造。</a:t>
            </a:r>
            <a:endParaRPr lang="en-US" sz="850" dirty="0"/>
          </a:p>
        </p:txBody>
      </p:sp>
      <p:sp>
        <p:nvSpPr>
          <p:cNvPr id="17" name="Text 15"/>
          <p:cNvSpPr txBox="1"/>
          <p:nvPr/>
        </p:nvSpPr>
        <p:spPr>
          <a:xfrm>
            <a:off x="502920" y="5257800"/>
            <a:ext cx="11201400" cy="274320"/>
          </a:xfrm>
          <a:prstGeom prst="rect">
            <a:avLst/>
          </a:prstGeom>
          <a:noFill/>
          <a:ln/>
        </p:spPr>
        <p:txBody>
          <a:bodyPr wrap="square" lIns="0" tIns="0" rIns="0" bIns="0" rtlCol="0" anchor="ctr"/>
          <a:lstStyle/>
          <a:p>
            <a:pPr indent="0" marL="0">
              <a:buNone/>
            </a:pPr>
            <a:r>
              <a:rPr lang="en-US" sz="950" dirty="0">
                <a:solidFill>
                  <a:srgbClr val="8A8A8A"/>
                </a:solidFill>
                <a:latin typeface="Yu Gothic" pitchFamily="34" charset="0"/>
                <a:ea typeface="Yu Gothic" pitchFamily="34" charset="-122"/>
                <a:cs typeface="Yu Gothic" pitchFamily="34" charset="-120"/>
              </a:rPr>
              <a:t>関連知識：存続期間等の基礎知識はdocs/07_key_formulas_and_frameworks.md参照。</a:t>
            </a:r>
            <a:endParaRPr lang="en-US" sz="950" dirty="0"/>
          </a:p>
        </p:txBody>
      </p:sp>
      <p:sp>
        <p:nvSpPr>
          <p:cNvPr id="18" name="Text 16"/>
          <p:cNvSpPr txBox="1"/>
          <p:nvPr/>
        </p:nvSpPr>
        <p:spPr>
          <a:xfrm>
            <a:off x="502920" y="557784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出典：past_exams/1st_stage/1ji2025/E1JI2025.pdf（令和7年度第1次試験）第9問／正解：past_exams/1st_stage_answers/r07/2025e.pdf</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E-7 ／ 産業財産権の内容と取得方法（商標権）</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更新すれば半永久的に権利を維持できる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登録日から10年、更新可。不使用が3年続くと誰でも取消審判を請求できる。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存続期間</a:t>
            </a:r>
            <a:endParaRPr lang="en-US" sz="1150" dirty="0"/>
          </a:p>
        </p:txBody>
      </p:sp>
      <p:sp>
        <p:nvSpPr>
          <p:cNvPr id="9" name="Shape 7"/>
          <p:cNvSpPr/>
          <p:nvPr/>
        </p:nvSpPr>
        <p:spPr>
          <a:xfrm>
            <a:off x="2404872" y="1691640"/>
            <a:ext cx="0" cy="256032"/>
          </a:xfrm>
          <a:prstGeom prst="line">
            <a:avLst/>
          </a:prstGeom>
          <a:noFill/>
          <a:ln w="12700">
            <a:solidFill>
              <a:srgbClr val="E6E6E6"/>
            </a:solidFill>
            <a:prstDash val="solid"/>
          </a:ln>
        </p:spPr>
      </p:sp>
      <p:sp>
        <p:nvSpPr>
          <p:cNvPr id="10" name="Text 8"/>
          <p:cNvSpPr txBox="1"/>
          <p:nvPr/>
        </p:nvSpPr>
        <p:spPr>
          <a:xfrm>
            <a:off x="2560320" y="1691640"/>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登録日から10年（更新登録で何度でも延長可能）</a:t>
            </a:r>
            <a:endParaRPr lang="en-US" sz="1150" dirty="0"/>
          </a:p>
        </p:txBody>
      </p:sp>
      <p:sp>
        <p:nvSpPr>
          <p:cNvPr id="11" name="Text 9"/>
          <p:cNvSpPr txBox="1"/>
          <p:nvPr/>
        </p:nvSpPr>
        <p:spPr>
          <a:xfrm>
            <a:off x="502920" y="2057400"/>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先使用権</a:t>
            </a:r>
            <a:endParaRPr lang="en-US" sz="1150" dirty="0"/>
          </a:p>
        </p:txBody>
      </p:sp>
      <p:sp>
        <p:nvSpPr>
          <p:cNvPr id="12" name="Shape 10"/>
          <p:cNvSpPr/>
          <p:nvPr/>
        </p:nvSpPr>
        <p:spPr>
          <a:xfrm>
            <a:off x="2404872" y="2057400"/>
            <a:ext cx="0" cy="256032"/>
          </a:xfrm>
          <a:prstGeom prst="line">
            <a:avLst/>
          </a:prstGeom>
          <a:noFill/>
          <a:ln w="12700">
            <a:solidFill>
              <a:srgbClr val="E6E6E6"/>
            </a:solidFill>
            <a:prstDash val="solid"/>
          </a:ln>
        </p:spPr>
      </p:sp>
      <p:sp>
        <p:nvSpPr>
          <p:cNvPr id="13" name="Text 11"/>
          <p:cNvSpPr txBox="1"/>
          <p:nvPr/>
        </p:nvSpPr>
        <p:spPr>
          <a:xfrm>
            <a:off x="2560320" y="2057400"/>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登録前から使用し周知になっていれば使い続けられる</a:t>
            </a:r>
            <a:endParaRPr lang="en-US" sz="1150" dirty="0"/>
          </a:p>
        </p:txBody>
      </p:sp>
      <p:sp>
        <p:nvSpPr>
          <p:cNvPr id="14" name="Text 12"/>
          <p:cNvSpPr txBox="1"/>
          <p:nvPr/>
        </p:nvSpPr>
        <p:spPr>
          <a:xfrm>
            <a:off x="502920" y="2423160"/>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不使用取消審判</a:t>
            </a:r>
            <a:endParaRPr lang="en-US" sz="1150" dirty="0"/>
          </a:p>
        </p:txBody>
      </p:sp>
      <p:sp>
        <p:nvSpPr>
          <p:cNvPr id="15" name="Shape 13"/>
          <p:cNvSpPr/>
          <p:nvPr/>
        </p:nvSpPr>
        <p:spPr>
          <a:xfrm>
            <a:off x="2404872" y="2423160"/>
            <a:ext cx="0" cy="256032"/>
          </a:xfrm>
          <a:prstGeom prst="line">
            <a:avLst/>
          </a:prstGeom>
          <a:noFill/>
          <a:ln w="12700">
            <a:solidFill>
              <a:srgbClr val="E6E6E6"/>
            </a:solidFill>
            <a:prstDash val="solid"/>
          </a:ln>
        </p:spPr>
      </p:sp>
      <p:sp>
        <p:nvSpPr>
          <p:cNvPr id="16" name="Text 14"/>
          <p:cNvSpPr txBox="1"/>
          <p:nvPr/>
        </p:nvSpPr>
        <p:spPr>
          <a:xfrm>
            <a:off x="2560320" y="2423160"/>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継続3年以上不使用なら「何人も」取消しを請求できる</a:t>
            </a:r>
            <a:endParaRPr lang="en-US" sz="1150" dirty="0"/>
          </a:p>
        </p:txBody>
      </p:sp>
      <p:sp>
        <p:nvSpPr>
          <p:cNvPr id="17" name="Shape 15"/>
          <p:cNvSpPr/>
          <p:nvPr/>
        </p:nvSpPr>
        <p:spPr>
          <a:xfrm>
            <a:off x="502920" y="2880360"/>
            <a:ext cx="11201400" cy="0"/>
          </a:xfrm>
          <a:prstGeom prst="line">
            <a:avLst/>
          </a:prstGeom>
          <a:noFill/>
          <a:ln w="12700">
            <a:solidFill>
              <a:srgbClr val="E6E6E6"/>
            </a:solidFill>
            <a:prstDash val="solid"/>
          </a:ln>
        </p:spPr>
      </p:sp>
      <p:sp>
        <p:nvSpPr>
          <p:cNvPr id="18" name="Text 16"/>
          <p:cNvSpPr txBox="1"/>
          <p:nvPr/>
        </p:nvSpPr>
        <p:spPr>
          <a:xfrm>
            <a:off x="502920" y="295351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不使用取消審判の期間は「3年」（2年ではない）。請求権者は「利害関係人のみ」ではなく「何人も」。</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関連：E-8 意匠権・実用新案権（存続期間の起算点・年数の横断比較）。</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E-7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X社代表取締役甲氏と中小企業診断士の会話。Y社が同一文字商標を先に登録しており、甲氏は自社の商標登録が難しいか相談。Y社はその商標を使用していない。「商標法第50条第1項の不使用取消審判は、継続して国内で【Ａ】年以上、登録商標の使用をしていない場合に請求できる」「不使用取消審判は【Ｂ】」。空欄ＡとＢに入る数値と記述の組み合わせとして、最も適切なものはどれか。</a:t>
            </a:r>
            <a:endParaRPr lang="en-US" sz="1250" dirty="0"/>
          </a:p>
        </p:txBody>
      </p:sp>
      <p:sp>
        <p:nvSpPr>
          <p:cNvPr id="9" name="Text 7"/>
          <p:cNvSpPr txBox="1"/>
          <p:nvPr/>
        </p:nvSpPr>
        <p:spPr>
          <a:xfrm>
            <a:off x="731520" y="269748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Ａ：2　Ｂ：誰でも請求することができます</a:t>
            </a:r>
            <a:endParaRPr lang="en-US" sz="1150" dirty="0"/>
          </a:p>
        </p:txBody>
      </p:sp>
      <p:sp>
        <p:nvSpPr>
          <p:cNvPr id="10" name="Text 8"/>
          <p:cNvSpPr txBox="1"/>
          <p:nvPr/>
        </p:nvSpPr>
        <p:spPr>
          <a:xfrm>
            <a:off x="731520" y="315468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Ａ：2　Ｂ：利害関係人のみが請求することができます</a:t>
            </a:r>
            <a:endParaRPr lang="en-US" sz="1150" dirty="0"/>
          </a:p>
        </p:txBody>
      </p:sp>
      <p:sp>
        <p:nvSpPr>
          <p:cNvPr id="11" name="Text 9"/>
          <p:cNvSpPr txBox="1"/>
          <p:nvPr/>
        </p:nvSpPr>
        <p:spPr>
          <a:xfrm>
            <a:off x="731520" y="361188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Ａ：3　Ｂ：誰でも請求することができます</a:t>
            </a:r>
            <a:endParaRPr lang="en-US" sz="1150" dirty="0"/>
          </a:p>
        </p:txBody>
      </p:sp>
      <p:sp>
        <p:nvSpPr>
          <p:cNvPr id="12" name="Text 10"/>
          <p:cNvSpPr txBox="1"/>
          <p:nvPr/>
        </p:nvSpPr>
        <p:spPr>
          <a:xfrm>
            <a:off x="731520" y="406908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Ａ：3　Ｂ：利害関係人のみが請求することができます</a:t>
            </a:r>
            <a:endParaRPr lang="en-US" sz="1150" dirty="0"/>
          </a:p>
        </p:txBody>
      </p:sp>
      <p:sp>
        <p:nvSpPr>
          <p:cNvPr id="13" name="Text 11"/>
          <p:cNvSpPr txBox="1"/>
          <p:nvPr/>
        </p:nvSpPr>
        <p:spPr>
          <a:xfrm>
            <a:off x="502920" y="466344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出典：past_exams/1st_stage/1ji2025/E1JI2025.pdf（令和7年度第1次試験）第16問</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E-7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正解はウ（3年、誰でも請求可能）。</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Ａ：2　Ｂ：誰でも請求することができます</a:t>
            </a:r>
            <a:endParaRPr lang="en-US" sz="1150" dirty="0"/>
          </a:p>
        </p:txBody>
      </p:sp>
      <p:sp>
        <p:nvSpPr>
          <p:cNvPr id="9" name="Text 7"/>
          <p:cNvSpPr txBox="1"/>
          <p:nvPr/>
        </p:nvSpPr>
        <p:spPr>
          <a:xfrm>
            <a:off x="731520" y="219456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Ａ：2　Ｂ：利害関係人のみが請求することができます</a:t>
            </a:r>
            <a:endParaRPr lang="en-US" sz="1150" dirty="0"/>
          </a:p>
        </p:txBody>
      </p:sp>
      <p:sp>
        <p:nvSpPr>
          <p:cNvPr id="10" name="Shape 8"/>
          <p:cNvSpPr/>
          <p:nvPr/>
        </p:nvSpPr>
        <p:spPr>
          <a:xfrm>
            <a:off x="502920" y="2624328"/>
            <a:ext cx="11201400" cy="457200"/>
          </a:xfrm>
          <a:prstGeom prst="rect">
            <a:avLst/>
          </a:prstGeom>
          <a:solidFill>
            <a:srgbClr val="F4F4F4"/>
          </a:solidFill>
          <a:ln/>
        </p:spPr>
      </p:sp>
      <p:sp>
        <p:nvSpPr>
          <p:cNvPr id="11" name="Shape 9"/>
          <p:cNvSpPr/>
          <p:nvPr/>
        </p:nvSpPr>
        <p:spPr>
          <a:xfrm>
            <a:off x="502920" y="2624328"/>
            <a:ext cx="0" cy="457200"/>
          </a:xfrm>
          <a:prstGeom prst="line">
            <a:avLst/>
          </a:prstGeom>
          <a:noFill/>
          <a:ln w="38100">
            <a:solidFill>
              <a:srgbClr val="FF3B1F"/>
            </a:solidFill>
            <a:prstDash val="solid"/>
          </a:ln>
        </p:spPr>
      </p:sp>
      <p:sp>
        <p:nvSpPr>
          <p:cNvPr id="12" name="Text 10"/>
          <p:cNvSpPr txBox="1"/>
          <p:nvPr/>
        </p:nvSpPr>
        <p:spPr>
          <a:xfrm>
            <a:off x="731520" y="265176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Ａ：3　Ｂ：誰でも請求することができます</a:t>
            </a:r>
            <a:endParaRPr lang="en-US" sz="1150" dirty="0"/>
          </a:p>
        </p:txBody>
      </p:sp>
      <p:sp>
        <p:nvSpPr>
          <p:cNvPr id="13" name="Text 11"/>
          <p:cNvSpPr txBox="1"/>
          <p:nvPr/>
        </p:nvSpPr>
        <p:spPr>
          <a:xfrm>
            <a:off x="731520" y="310896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Ａ：3　Ｂ：利害関係人のみが請求することができます</a:t>
            </a:r>
            <a:endParaRPr lang="en-US" sz="1150" dirty="0"/>
          </a:p>
        </p:txBody>
      </p:sp>
      <p:sp>
        <p:nvSpPr>
          <p:cNvPr id="14" name="Shape 12"/>
          <p:cNvSpPr/>
          <p:nvPr/>
        </p:nvSpPr>
        <p:spPr>
          <a:xfrm>
            <a:off x="502920" y="3639312"/>
            <a:ext cx="11201400" cy="0"/>
          </a:xfrm>
          <a:prstGeom prst="line">
            <a:avLst/>
          </a:prstGeom>
          <a:noFill/>
          <a:ln w="12700">
            <a:solidFill>
              <a:srgbClr val="171717"/>
            </a:solidFill>
            <a:prstDash val="solid"/>
          </a:ln>
        </p:spPr>
      </p:sp>
      <p:sp>
        <p:nvSpPr>
          <p:cNvPr id="15" name="Text 13"/>
          <p:cNvSpPr txBox="1"/>
          <p:nvPr/>
        </p:nvSpPr>
        <p:spPr>
          <a:xfrm>
            <a:off x="502920" y="3730752"/>
            <a:ext cx="11201400" cy="731520"/>
          </a:xfrm>
          <a:prstGeom prst="rect">
            <a:avLst/>
          </a:prstGeom>
          <a:noFill/>
          <a:ln/>
        </p:spPr>
        <p:txBody>
          <a:bodyPr wrap="square" lIns="0" tIns="0" rIns="0" bIns="0" rtlCol="0" anchor="ctr"/>
          <a:lstStyle/>
          <a:p>
            <a:pPr indent="0" marL="0">
              <a:lnSpc>
                <a:spcPct val="118000"/>
              </a:lnSpc>
              <a:buNone/>
            </a:pPr>
            <a:r>
              <a:rPr lang="en-US" sz="950" b="1" dirty="0">
                <a:solidFill>
                  <a:srgbClr val="FF3B1F"/>
                </a:solidFill>
                <a:latin typeface="Yu Gothic" pitchFamily="34" charset="0"/>
                <a:ea typeface="Yu Gothic" pitchFamily="34" charset="-122"/>
                <a:cs typeface="Yu Gothic" pitchFamily="34" charset="-120"/>
              </a:rPr>
              <a:t>正解：ウ</a:t>
            </a:r>
            <a:pPr indent="0" marL="0">
              <a:lnSpc>
                <a:spcPct val="118000"/>
              </a:lnSpc>
              <a:buNone/>
            </a:pPr>
            <a:r>
              <a:rPr lang="en-US" sz="950" dirty="0">
                <a:solidFill>
                  <a:srgbClr val="171717"/>
                </a:solidFill>
                <a:latin typeface="Yu Gothic" pitchFamily="34" charset="0"/>
                <a:ea typeface="Yu Gothic" pitchFamily="34" charset="-122"/>
                <a:cs typeface="Yu Gothic" pitchFamily="34" charset="-120"/>
              </a:rPr>
              <a:t>。商標法50条1項は「継続して</a:t>
            </a:r>
            <a:pPr indent="0" marL="0">
              <a:lnSpc>
                <a:spcPct val="118000"/>
              </a:lnSpc>
              <a:buNone/>
            </a:pPr>
            <a:r>
              <a:rPr lang="en-US" sz="950" b="1" dirty="0">
                <a:solidFill>
                  <a:srgbClr val="171717"/>
                </a:solidFill>
                <a:latin typeface="Yu Gothic" pitchFamily="34" charset="0"/>
                <a:ea typeface="Yu Gothic" pitchFamily="34" charset="-122"/>
                <a:cs typeface="Yu Gothic" pitchFamily="34" charset="-120"/>
              </a:rPr>
              <a:t>3年</a:t>
            </a:r>
            <a:pPr indent="0" marL="0">
              <a:lnSpc>
                <a:spcPct val="118000"/>
              </a:lnSpc>
              <a:buNone/>
            </a:pPr>
            <a:r>
              <a:rPr lang="en-US" sz="950" dirty="0">
                <a:solidFill>
                  <a:srgbClr val="171717"/>
                </a:solidFill>
                <a:latin typeface="Yu Gothic" pitchFamily="34" charset="0"/>
                <a:ea typeface="Yu Gothic" pitchFamily="34" charset="-122"/>
                <a:cs typeface="Yu Gothic" pitchFamily="34" charset="-120"/>
              </a:rPr>
              <a:t>以上使用していないときは、</a:t>
            </a:r>
            <a:pPr indent="0" marL="0">
              <a:lnSpc>
                <a:spcPct val="118000"/>
              </a:lnSpc>
              <a:buNone/>
            </a:pPr>
            <a:r>
              <a:rPr lang="en-US" sz="950" b="1" dirty="0">
                <a:solidFill>
                  <a:srgbClr val="171717"/>
                </a:solidFill>
                <a:latin typeface="Yu Gothic" pitchFamily="34" charset="0"/>
                <a:ea typeface="Yu Gothic" pitchFamily="34" charset="-122"/>
                <a:cs typeface="Yu Gothic" pitchFamily="34" charset="-120"/>
              </a:rPr>
              <a:t>何人も</a:t>
            </a:r>
            <a:pPr indent="0" marL="0">
              <a:lnSpc>
                <a:spcPct val="118000"/>
              </a:lnSpc>
              <a:buNone/>
            </a:pPr>
            <a:r>
              <a:rPr lang="en-US" sz="950" dirty="0">
                <a:solidFill>
                  <a:srgbClr val="171717"/>
                </a:solidFill>
                <a:latin typeface="Yu Gothic" pitchFamily="34" charset="0"/>
                <a:ea typeface="Yu Gothic" pitchFamily="34" charset="-122"/>
                <a:cs typeface="Yu Gothic" pitchFamily="34" charset="-120"/>
              </a:rPr>
              <a:t>取消審判を請求できる」と規定する。ア・イ：期間を「2年」としている点が誤り。イ・エ：請求権者を「利害関係人のみ」としている点が誤り（無効審判など利害関係人限定の審判類型と対比される）。</a:t>
            </a:r>
            <a:endParaRPr lang="en-US" sz="950" dirty="0"/>
          </a:p>
        </p:txBody>
      </p:sp>
      <p:sp>
        <p:nvSpPr>
          <p:cNvPr id="16" name="Text 14"/>
          <p:cNvSpPr txBox="1"/>
          <p:nvPr/>
        </p:nvSpPr>
        <p:spPr>
          <a:xfrm>
            <a:off x="502920" y="4507992"/>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商標権の存続期間は登録から10年（更新可・半永久的）だが、不使用のまま3年が経過すると第三者から取消審判を請求されうる。商標は「使用してこそ価値がある」という思想（信用の化体）に基づく制度。</a:t>
            </a:r>
            <a:endParaRPr lang="en-US" sz="850" dirty="0"/>
          </a:p>
        </p:txBody>
      </p:sp>
      <p:sp>
        <p:nvSpPr>
          <p:cNvPr id="17" name="Text 15"/>
          <p:cNvSpPr txBox="1"/>
          <p:nvPr/>
        </p:nvSpPr>
        <p:spPr>
          <a:xfrm>
            <a:off x="502920" y="5193792"/>
            <a:ext cx="11201400" cy="274320"/>
          </a:xfrm>
          <a:prstGeom prst="rect">
            <a:avLst/>
          </a:prstGeom>
          <a:noFill/>
          <a:ln/>
        </p:spPr>
        <p:txBody>
          <a:bodyPr wrap="square" lIns="0" tIns="0" rIns="0" bIns="0" rtlCol="0" anchor="ctr"/>
          <a:lstStyle/>
          <a:p>
            <a:pPr indent="0" marL="0">
              <a:buNone/>
            </a:pPr>
            <a:r>
              <a:rPr lang="en-US" sz="950" dirty="0">
                <a:solidFill>
                  <a:srgbClr val="8A8A8A"/>
                </a:solidFill>
                <a:latin typeface="Yu Gothic" pitchFamily="34" charset="0"/>
                <a:ea typeface="Yu Gothic" pitchFamily="34" charset="-122"/>
                <a:cs typeface="Yu Gothic" pitchFamily="34" charset="-120"/>
              </a:rPr>
              <a:t>関連知識：特許の新規性喪失例外の「1年」や他の年数規定と混同しないこと。</a:t>
            </a:r>
            <a:endParaRPr lang="en-US" sz="950" dirty="0"/>
          </a:p>
        </p:txBody>
      </p:sp>
      <p:sp>
        <p:nvSpPr>
          <p:cNvPr id="18" name="Text 16"/>
          <p:cNvSpPr txBox="1"/>
          <p:nvPr/>
        </p:nvSpPr>
        <p:spPr>
          <a:xfrm>
            <a:off x="502920" y="5513832"/>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出典：past_exams/1st_stage/1ji2025/E1JI2025.pdf（令和7年度第1次試験）第16問／正解：past_exams/1st_stage_answers/r07/2025e.pdf</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E-8 ／ 産業財産権の内容と取得方法（意匠権・実用新案権）</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存続期間の起算点と年数を横断整理する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特許・実用新案・意匠・商標で起算点も年数も異なる。混同が最頻出のひっかけ。</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意匠権</a:t>
            </a:r>
            <a:endParaRPr lang="en-US" sz="1100" dirty="0"/>
          </a:p>
        </p:txBody>
      </p:sp>
      <p:sp>
        <p:nvSpPr>
          <p:cNvPr id="9" name="Shape 7"/>
          <p:cNvSpPr/>
          <p:nvPr/>
        </p:nvSpPr>
        <p:spPr>
          <a:xfrm>
            <a:off x="2039112" y="1691640"/>
            <a:ext cx="0" cy="256032"/>
          </a:xfrm>
          <a:prstGeom prst="line">
            <a:avLst/>
          </a:prstGeom>
          <a:noFill/>
          <a:ln w="12700">
            <a:solidFill>
              <a:srgbClr val="E6E6E6"/>
            </a:solidFill>
            <a:prstDash val="solid"/>
          </a:ln>
        </p:spPr>
      </p:sp>
      <p:sp>
        <p:nvSpPr>
          <p:cNvPr id="10" name="Text 8"/>
          <p:cNvSpPr txBox="1"/>
          <p:nvPr/>
        </p:nvSpPr>
        <p:spPr>
          <a:xfrm>
            <a:off x="2194560" y="1691640"/>
            <a:ext cx="50749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出願日から25年（2020年4月以降の出願）</a:t>
            </a:r>
            <a:endParaRPr lang="en-US" sz="1100" dirty="0"/>
          </a:p>
        </p:txBody>
      </p:sp>
      <p:sp>
        <p:nvSpPr>
          <p:cNvPr id="11" name="Text 9"/>
          <p:cNvSpPr txBox="1"/>
          <p:nvPr/>
        </p:nvSpPr>
        <p:spPr>
          <a:xfrm>
            <a:off x="502920" y="2075688"/>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実用新案権</a:t>
            </a:r>
            <a:endParaRPr lang="en-US" sz="1100" dirty="0"/>
          </a:p>
        </p:txBody>
      </p:sp>
      <p:sp>
        <p:nvSpPr>
          <p:cNvPr id="12" name="Shape 10"/>
          <p:cNvSpPr/>
          <p:nvPr/>
        </p:nvSpPr>
        <p:spPr>
          <a:xfrm>
            <a:off x="2039112" y="2075688"/>
            <a:ext cx="0" cy="256032"/>
          </a:xfrm>
          <a:prstGeom prst="line">
            <a:avLst/>
          </a:prstGeom>
          <a:noFill/>
          <a:ln w="12700">
            <a:solidFill>
              <a:srgbClr val="E6E6E6"/>
            </a:solidFill>
            <a:prstDash val="solid"/>
          </a:ln>
        </p:spPr>
      </p:sp>
      <p:sp>
        <p:nvSpPr>
          <p:cNvPr id="13" name="Text 11"/>
          <p:cNvSpPr txBox="1"/>
          <p:nvPr/>
        </p:nvSpPr>
        <p:spPr>
          <a:xfrm>
            <a:off x="2194560" y="2075688"/>
            <a:ext cx="50749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出願日から10年。無審査主義（実体審査なし）</a:t>
            </a:r>
            <a:endParaRPr lang="en-US" sz="1100" dirty="0"/>
          </a:p>
        </p:txBody>
      </p:sp>
      <p:sp>
        <p:nvSpPr>
          <p:cNvPr id="14" name="Text 12"/>
          <p:cNvSpPr txBox="1"/>
          <p:nvPr/>
        </p:nvSpPr>
        <p:spPr>
          <a:xfrm>
            <a:off x="502920" y="2459736"/>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秘密意匠</a:t>
            </a:r>
            <a:endParaRPr lang="en-US" sz="1100" dirty="0"/>
          </a:p>
        </p:txBody>
      </p:sp>
      <p:sp>
        <p:nvSpPr>
          <p:cNvPr id="15" name="Shape 13"/>
          <p:cNvSpPr/>
          <p:nvPr/>
        </p:nvSpPr>
        <p:spPr>
          <a:xfrm>
            <a:off x="2039112" y="2459736"/>
            <a:ext cx="0" cy="256032"/>
          </a:xfrm>
          <a:prstGeom prst="line">
            <a:avLst/>
          </a:prstGeom>
          <a:noFill/>
          <a:ln w="12700">
            <a:solidFill>
              <a:srgbClr val="E6E6E6"/>
            </a:solidFill>
            <a:prstDash val="solid"/>
          </a:ln>
        </p:spPr>
      </p:sp>
      <p:sp>
        <p:nvSpPr>
          <p:cNvPr id="16" name="Text 14"/>
          <p:cNvSpPr txBox="1"/>
          <p:nvPr/>
        </p:nvSpPr>
        <p:spPr>
          <a:xfrm>
            <a:off x="2194560" y="2459736"/>
            <a:ext cx="50749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請求により登録日から最長3年間、公開を遅らせられる</a:t>
            </a:r>
            <a:endParaRPr lang="en-US" sz="1100" dirty="0"/>
          </a:p>
        </p:txBody>
      </p:sp>
      <p:sp>
        <p:nvSpPr>
          <p:cNvPr id="17" name="Text 15"/>
          <p:cNvSpPr txBox="1"/>
          <p:nvPr/>
        </p:nvSpPr>
        <p:spPr>
          <a:xfrm>
            <a:off x="502920" y="2935224"/>
            <a:ext cx="6766560" cy="64008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「意匠権は登録から20年」は2020年改正前の知識で誤り。実用新案は無審査のため権利行使時に技術評価書の提示が必要。</a:t>
            </a:r>
            <a:endParaRPr lang="en-US" sz="950" dirty="0"/>
          </a:p>
        </p:txBody>
      </p:sp>
      <p:sp>
        <p:nvSpPr>
          <p:cNvPr id="18" name="Shape 16"/>
          <p:cNvSpPr/>
          <p:nvPr/>
        </p:nvSpPr>
        <p:spPr>
          <a:xfrm>
            <a:off x="7543800" y="4983480"/>
            <a:ext cx="3703320" cy="0"/>
          </a:xfrm>
          <a:prstGeom prst="line">
            <a:avLst/>
          </a:prstGeom>
          <a:noFill/>
          <a:ln w="19050">
            <a:solidFill>
              <a:srgbClr val="171717"/>
            </a:solidFill>
            <a:prstDash val="solid"/>
          </a:ln>
        </p:spPr>
      </p:sp>
      <p:sp>
        <p:nvSpPr>
          <p:cNvPr id="19" name="Shape 17"/>
          <p:cNvSpPr/>
          <p:nvPr/>
        </p:nvSpPr>
        <p:spPr>
          <a:xfrm>
            <a:off x="7543800" y="2715768"/>
            <a:ext cx="759181" cy="2267712"/>
          </a:xfrm>
          <a:prstGeom prst="rect">
            <a:avLst/>
          </a:prstGeom>
          <a:solidFill>
            <a:srgbClr val="F4F4F4"/>
          </a:solidFill>
          <a:ln w="12700">
            <a:solidFill>
              <a:srgbClr val="171717"/>
            </a:solidFill>
            <a:prstDash val="solid"/>
          </a:ln>
        </p:spPr>
      </p:sp>
      <p:sp>
        <p:nvSpPr>
          <p:cNvPr id="20" name="Text 18"/>
          <p:cNvSpPr txBox="1"/>
          <p:nvPr/>
        </p:nvSpPr>
        <p:spPr>
          <a:xfrm>
            <a:off x="7516368" y="2423160"/>
            <a:ext cx="814045" cy="256032"/>
          </a:xfrm>
          <a:prstGeom prst="rect">
            <a:avLst/>
          </a:prstGeom>
          <a:noFill/>
          <a:ln/>
        </p:spPr>
        <p:txBody>
          <a:bodyPr wrap="square" lIns="0" tIns="0" rIns="0" bIns="0" rtlCol="0" anchor="ctr"/>
          <a:lstStyle/>
          <a:p>
            <a:pPr algn="ctr" indent="0" marL="0">
              <a:buNone/>
            </a:pPr>
            <a:r>
              <a:rPr lang="en-US" sz="1050" dirty="0">
                <a:solidFill>
                  <a:srgbClr val="171717"/>
                </a:solidFill>
                <a:latin typeface="Consolas" pitchFamily="34" charset="0"/>
                <a:ea typeface="Consolas" pitchFamily="34" charset="-122"/>
                <a:cs typeface="Consolas" pitchFamily="34" charset="-120"/>
              </a:rPr>
              <a:t>20</a:t>
            </a:r>
            <a:endParaRPr lang="en-US" sz="1050" dirty="0"/>
          </a:p>
        </p:txBody>
      </p:sp>
      <p:sp>
        <p:nvSpPr>
          <p:cNvPr id="21" name="Text 19"/>
          <p:cNvSpPr txBox="1"/>
          <p:nvPr/>
        </p:nvSpPr>
        <p:spPr>
          <a:xfrm>
            <a:off x="7516368" y="5038344"/>
            <a:ext cx="814045" cy="274320"/>
          </a:xfrm>
          <a:prstGeom prst="rect">
            <a:avLst/>
          </a:prstGeom>
          <a:noFill/>
          <a:ln/>
        </p:spPr>
        <p:txBody>
          <a:bodyPr wrap="square" lIns="0" tIns="0" rIns="0" bIns="0" rtlCol="0" anchor="ctr"/>
          <a:lstStyle/>
          <a:p>
            <a:pPr algn="ctr" indent="0" marL="0">
              <a:buNone/>
            </a:pPr>
            <a:r>
              <a:rPr lang="en-US" sz="900" dirty="0">
                <a:solidFill>
                  <a:srgbClr val="171717"/>
                </a:solidFill>
                <a:latin typeface="Yu Gothic" pitchFamily="34" charset="0"/>
                <a:ea typeface="Yu Gothic" pitchFamily="34" charset="-122"/>
                <a:cs typeface="Yu Gothic" pitchFamily="34" charset="-120"/>
              </a:rPr>
              <a:t>特許</a:t>
            </a:r>
            <a:endParaRPr lang="en-US" sz="900" dirty="0"/>
          </a:p>
        </p:txBody>
      </p:sp>
      <p:sp>
        <p:nvSpPr>
          <p:cNvPr id="22" name="Shape 20"/>
          <p:cNvSpPr/>
          <p:nvPr/>
        </p:nvSpPr>
        <p:spPr>
          <a:xfrm>
            <a:off x="8525180" y="3849624"/>
            <a:ext cx="759181" cy="1133856"/>
          </a:xfrm>
          <a:prstGeom prst="rect">
            <a:avLst/>
          </a:prstGeom>
          <a:solidFill>
            <a:srgbClr val="F4F4F4"/>
          </a:solidFill>
          <a:ln w="12700">
            <a:solidFill>
              <a:srgbClr val="171717"/>
            </a:solidFill>
            <a:prstDash val="solid"/>
          </a:ln>
        </p:spPr>
      </p:sp>
      <p:sp>
        <p:nvSpPr>
          <p:cNvPr id="23" name="Text 21"/>
          <p:cNvSpPr txBox="1"/>
          <p:nvPr/>
        </p:nvSpPr>
        <p:spPr>
          <a:xfrm>
            <a:off x="8497748" y="3557016"/>
            <a:ext cx="814045" cy="256032"/>
          </a:xfrm>
          <a:prstGeom prst="rect">
            <a:avLst/>
          </a:prstGeom>
          <a:noFill/>
          <a:ln/>
        </p:spPr>
        <p:txBody>
          <a:bodyPr wrap="square" lIns="0" tIns="0" rIns="0" bIns="0" rtlCol="0" anchor="ctr"/>
          <a:lstStyle/>
          <a:p>
            <a:pPr algn="ctr" indent="0" marL="0">
              <a:buNone/>
            </a:pPr>
            <a:r>
              <a:rPr lang="en-US" sz="1050" dirty="0">
                <a:solidFill>
                  <a:srgbClr val="171717"/>
                </a:solidFill>
                <a:latin typeface="Consolas" pitchFamily="34" charset="0"/>
                <a:ea typeface="Consolas" pitchFamily="34" charset="-122"/>
                <a:cs typeface="Consolas" pitchFamily="34" charset="-120"/>
              </a:rPr>
              <a:t>10</a:t>
            </a:r>
            <a:endParaRPr lang="en-US" sz="1050" dirty="0"/>
          </a:p>
        </p:txBody>
      </p:sp>
      <p:sp>
        <p:nvSpPr>
          <p:cNvPr id="24" name="Text 22"/>
          <p:cNvSpPr txBox="1"/>
          <p:nvPr/>
        </p:nvSpPr>
        <p:spPr>
          <a:xfrm>
            <a:off x="8497748" y="5038344"/>
            <a:ext cx="814045" cy="274320"/>
          </a:xfrm>
          <a:prstGeom prst="rect">
            <a:avLst/>
          </a:prstGeom>
          <a:noFill/>
          <a:ln/>
        </p:spPr>
        <p:txBody>
          <a:bodyPr wrap="square" lIns="0" tIns="0" rIns="0" bIns="0" rtlCol="0" anchor="ctr"/>
          <a:lstStyle/>
          <a:p>
            <a:pPr algn="ctr" indent="0" marL="0">
              <a:buNone/>
            </a:pPr>
            <a:r>
              <a:rPr lang="en-US" sz="900" dirty="0">
                <a:solidFill>
                  <a:srgbClr val="171717"/>
                </a:solidFill>
                <a:latin typeface="Yu Gothic" pitchFamily="34" charset="0"/>
                <a:ea typeface="Yu Gothic" pitchFamily="34" charset="-122"/>
                <a:cs typeface="Yu Gothic" pitchFamily="34" charset="-120"/>
              </a:rPr>
              <a:t>実用新案</a:t>
            </a:r>
            <a:endParaRPr lang="en-US" sz="900" dirty="0"/>
          </a:p>
        </p:txBody>
      </p:sp>
      <p:sp>
        <p:nvSpPr>
          <p:cNvPr id="25" name="Shape 23"/>
          <p:cNvSpPr/>
          <p:nvPr/>
        </p:nvSpPr>
        <p:spPr>
          <a:xfrm>
            <a:off x="9506560" y="2148840"/>
            <a:ext cx="759181" cy="2834640"/>
          </a:xfrm>
          <a:prstGeom prst="rect">
            <a:avLst/>
          </a:prstGeom>
          <a:solidFill>
            <a:srgbClr val="FF3B1F"/>
          </a:solidFill>
          <a:ln w="12700">
            <a:solidFill>
              <a:srgbClr val="FF3B1F"/>
            </a:solidFill>
            <a:prstDash val="solid"/>
          </a:ln>
        </p:spPr>
      </p:sp>
      <p:sp>
        <p:nvSpPr>
          <p:cNvPr id="26" name="Text 24"/>
          <p:cNvSpPr txBox="1"/>
          <p:nvPr/>
        </p:nvSpPr>
        <p:spPr>
          <a:xfrm>
            <a:off x="9479128" y="1856232"/>
            <a:ext cx="814045" cy="256032"/>
          </a:xfrm>
          <a:prstGeom prst="rect">
            <a:avLst/>
          </a:prstGeom>
          <a:noFill/>
          <a:ln/>
        </p:spPr>
        <p:txBody>
          <a:bodyPr wrap="square" lIns="0" tIns="0" rIns="0" bIns="0" rtlCol="0" anchor="ctr"/>
          <a:lstStyle/>
          <a:p>
            <a:pPr algn="ctr" indent="0" marL="0">
              <a:buNone/>
            </a:pPr>
            <a:r>
              <a:rPr lang="en-US" sz="1300" b="1" dirty="0">
                <a:solidFill>
                  <a:srgbClr val="FF3B1F"/>
                </a:solidFill>
                <a:latin typeface="Consolas" pitchFamily="34" charset="0"/>
                <a:ea typeface="Consolas" pitchFamily="34" charset="-122"/>
                <a:cs typeface="Consolas" pitchFamily="34" charset="-120"/>
              </a:rPr>
              <a:t>25</a:t>
            </a:r>
            <a:endParaRPr lang="en-US" sz="1300" dirty="0"/>
          </a:p>
        </p:txBody>
      </p:sp>
      <p:sp>
        <p:nvSpPr>
          <p:cNvPr id="27" name="Text 25"/>
          <p:cNvSpPr txBox="1"/>
          <p:nvPr/>
        </p:nvSpPr>
        <p:spPr>
          <a:xfrm>
            <a:off x="9479128" y="5038344"/>
            <a:ext cx="814045" cy="274320"/>
          </a:xfrm>
          <a:prstGeom prst="rect">
            <a:avLst/>
          </a:prstGeom>
          <a:noFill/>
          <a:ln/>
        </p:spPr>
        <p:txBody>
          <a:bodyPr wrap="square" lIns="0" tIns="0" rIns="0" bIns="0" rtlCol="0" anchor="ctr"/>
          <a:lstStyle/>
          <a:p>
            <a:pPr algn="ctr" indent="0" marL="0">
              <a:buNone/>
            </a:pPr>
            <a:r>
              <a:rPr lang="en-US" sz="900" dirty="0">
                <a:solidFill>
                  <a:srgbClr val="171717"/>
                </a:solidFill>
                <a:latin typeface="Yu Gothic" pitchFamily="34" charset="0"/>
                <a:ea typeface="Yu Gothic" pitchFamily="34" charset="-122"/>
                <a:cs typeface="Yu Gothic" pitchFamily="34" charset="-120"/>
              </a:rPr>
              <a:t>意匠</a:t>
            </a:r>
            <a:endParaRPr lang="en-US" sz="900" dirty="0"/>
          </a:p>
        </p:txBody>
      </p:sp>
      <p:sp>
        <p:nvSpPr>
          <p:cNvPr id="28" name="Shape 26"/>
          <p:cNvSpPr/>
          <p:nvPr/>
        </p:nvSpPr>
        <p:spPr>
          <a:xfrm>
            <a:off x="10487939" y="3849624"/>
            <a:ext cx="759181" cy="1133856"/>
          </a:xfrm>
          <a:prstGeom prst="rect">
            <a:avLst/>
          </a:prstGeom>
          <a:solidFill>
            <a:srgbClr val="F4F4F4"/>
          </a:solidFill>
          <a:ln w="12700">
            <a:solidFill>
              <a:srgbClr val="171717"/>
            </a:solidFill>
            <a:prstDash val="solid"/>
          </a:ln>
        </p:spPr>
      </p:sp>
      <p:sp>
        <p:nvSpPr>
          <p:cNvPr id="29" name="Text 27"/>
          <p:cNvSpPr txBox="1"/>
          <p:nvPr/>
        </p:nvSpPr>
        <p:spPr>
          <a:xfrm>
            <a:off x="10460507" y="3557016"/>
            <a:ext cx="814045" cy="256032"/>
          </a:xfrm>
          <a:prstGeom prst="rect">
            <a:avLst/>
          </a:prstGeom>
          <a:noFill/>
          <a:ln/>
        </p:spPr>
        <p:txBody>
          <a:bodyPr wrap="square" lIns="0" tIns="0" rIns="0" bIns="0" rtlCol="0" anchor="ctr"/>
          <a:lstStyle/>
          <a:p>
            <a:pPr algn="ctr" indent="0" marL="0">
              <a:buNone/>
            </a:pPr>
            <a:r>
              <a:rPr lang="en-US" sz="1050" dirty="0">
                <a:solidFill>
                  <a:srgbClr val="171717"/>
                </a:solidFill>
                <a:latin typeface="Consolas" pitchFamily="34" charset="0"/>
                <a:ea typeface="Consolas" pitchFamily="34" charset="-122"/>
                <a:cs typeface="Consolas" pitchFamily="34" charset="-120"/>
              </a:rPr>
              <a:t>10</a:t>
            </a:r>
            <a:endParaRPr lang="en-US" sz="1050" dirty="0"/>
          </a:p>
        </p:txBody>
      </p:sp>
      <p:sp>
        <p:nvSpPr>
          <p:cNvPr id="30" name="Text 28"/>
          <p:cNvSpPr txBox="1"/>
          <p:nvPr/>
        </p:nvSpPr>
        <p:spPr>
          <a:xfrm>
            <a:off x="10460507" y="5038344"/>
            <a:ext cx="814045" cy="274320"/>
          </a:xfrm>
          <a:prstGeom prst="rect">
            <a:avLst/>
          </a:prstGeom>
          <a:noFill/>
          <a:ln/>
        </p:spPr>
        <p:txBody>
          <a:bodyPr wrap="square" lIns="0" tIns="0" rIns="0" bIns="0" rtlCol="0" anchor="ctr"/>
          <a:lstStyle/>
          <a:p>
            <a:pPr algn="ctr" indent="0" marL="0">
              <a:buNone/>
            </a:pPr>
            <a:r>
              <a:rPr lang="en-US" sz="900" dirty="0">
                <a:solidFill>
                  <a:srgbClr val="171717"/>
                </a:solidFill>
                <a:latin typeface="Yu Gothic" pitchFamily="34" charset="0"/>
                <a:ea typeface="Yu Gothic" pitchFamily="34" charset="-122"/>
                <a:cs typeface="Yu Gothic" pitchFamily="34" charset="-120"/>
              </a:rPr>
              <a:t>商標</a:t>
            </a:r>
            <a:endParaRPr lang="en-US" sz="900" dirty="0"/>
          </a:p>
        </p:txBody>
      </p:sp>
      <p:sp>
        <p:nvSpPr>
          <p:cNvPr id="31" name="Text 29"/>
          <p:cNvSpPr txBox="1"/>
          <p:nvPr/>
        </p:nvSpPr>
        <p:spPr>
          <a:xfrm>
            <a:off x="7543800" y="5376672"/>
            <a:ext cx="3703320" cy="256032"/>
          </a:xfrm>
          <a:prstGeom prst="rect">
            <a:avLst/>
          </a:prstGeom>
          <a:noFill/>
          <a:ln/>
        </p:spPr>
        <p:txBody>
          <a:bodyPr wrap="square" lIns="0" tIns="0" rIns="0" bIns="0" rtlCol="0" anchor="ctr"/>
          <a:lstStyle/>
          <a:p>
            <a:pPr algn="ctr" indent="0" marL="0">
              <a:buNone/>
            </a:pPr>
            <a:r>
              <a:rPr lang="en-US" sz="850" dirty="0">
                <a:solidFill>
                  <a:srgbClr val="8A8A8A"/>
                </a:solidFill>
                <a:latin typeface="Yu Gothic" pitchFamily="34" charset="0"/>
                <a:ea typeface="Yu Gothic" pitchFamily="34" charset="-122"/>
                <a:cs typeface="Yu Gothic" pitchFamily="34" charset="-120"/>
              </a:rPr>
              <a:t>存続期間の比較（いずれも出願/登録日起算）</a:t>
            </a:r>
            <a:endParaRPr lang="en-US" sz="850" dirty="0"/>
          </a:p>
        </p:txBody>
      </p:sp>
      <p:sp>
        <p:nvSpPr>
          <p:cNvPr id="32" name="Shape 30"/>
          <p:cNvSpPr/>
          <p:nvPr/>
        </p:nvSpPr>
        <p:spPr>
          <a:xfrm>
            <a:off x="502920" y="5989320"/>
            <a:ext cx="11201400" cy="0"/>
          </a:xfrm>
          <a:prstGeom prst="line">
            <a:avLst/>
          </a:prstGeom>
          <a:noFill/>
          <a:ln w="9525">
            <a:solidFill>
              <a:srgbClr val="171717"/>
            </a:solidFill>
            <a:prstDash val="solid"/>
          </a:ln>
        </p:spPr>
      </p:sp>
      <p:sp>
        <p:nvSpPr>
          <p:cNvPr id="33" name="Shape 31"/>
          <p:cNvSpPr/>
          <p:nvPr/>
        </p:nvSpPr>
        <p:spPr>
          <a:xfrm>
            <a:off x="502920" y="6062472"/>
            <a:ext cx="329184" cy="329184"/>
          </a:xfrm>
          <a:prstGeom prst="ellipse">
            <a:avLst/>
          </a:prstGeom>
          <a:solidFill>
            <a:srgbClr val="FF3B1F"/>
          </a:solidFill>
          <a:ln/>
        </p:spPr>
      </p:sp>
      <p:sp>
        <p:nvSpPr>
          <p:cNvPr id="34" name="Text 3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5" name="Text 3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6" name="Shape 34"/>
          <p:cNvSpPr/>
          <p:nvPr/>
        </p:nvSpPr>
        <p:spPr>
          <a:xfrm>
            <a:off x="2331720" y="6062472"/>
            <a:ext cx="0" cy="329184"/>
          </a:xfrm>
          <a:prstGeom prst="line">
            <a:avLst/>
          </a:prstGeom>
          <a:noFill/>
          <a:ln w="12700">
            <a:solidFill>
              <a:srgbClr val="E6E6E6"/>
            </a:solidFill>
            <a:prstDash val="solid"/>
          </a:ln>
        </p:spPr>
      </p:sp>
      <p:sp>
        <p:nvSpPr>
          <p:cNvPr id="37" name="Text 3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具体例：秘密意匠は「先に権利は確保しつつ公開時期を遅らせたい」ニーズに対応。関連意匠制度でバリエーションデザインをまとめて登録可能。</a:t>
            </a:r>
            <a:endParaRPr lang="en-US" sz="1000" dirty="0"/>
          </a:p>
        </p:txBody>
      </p:sp>
      <p:sp>
        <p:nvSpPr>
          <p:cNvPr id="38" name="Text 3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9" name="Shape 37"/>
          <p:cNvSpPr/>
          <p:nvPr/>
        </p:nvSpPr>
        <p:spPr>
          <a:xfrm>
            <a:off x="246659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41" name="Shape 39"/>
          <p:cNvSpPr/>
          <p:nvPr/>
        </p:nvSpPr>
        <p:spPr>
          <a:xfrm>
            <a:off x="343128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43" name="Shape 41"/>
          <p:cNvSpPr/>
          <p:nvPr/>
        </p:nvSpPr>
        <p:spPr>
          <a:xfrm>
            <a:off x="439597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5" name="Shape 43"/>
          <p:cNvSpPr/>
          <p:nvPr/>
        </p:nvSpPr>
        <p:spPr>
          <a:xfrm>
            <a:off x="5360670"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47" name="Shape 45"/>
          <p:cNvSpPr/>
          <p:nvPr/>
        </p:nvSpPr>
        <p:spPr>
          <a:xfrm>
            <a:off x="632536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9" name="Shape 47"/>
          <p:cNvSpPr/>
          <p:nvPr/>
        </p:nvSpPr>
        <p:spPr>
          <a:xfrm>
            <a:off x="7290054"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51" name="Shape 49"/>
          <p:cNvSpPr/>
          <p:nvPr/>
        </p:nvSpPr>
        <p:spPr>
          <a:xfrm>
            <a:off x="8254746" y="6464808"/>
            <a:ext cx="146304" cy="146304"/>
          </a:xfrm>
          <a:prstGeom prst="ellipse">
            <a:avLst/>
          </a:prstGeom>
          <a:solidFill>
            <a:srgbClr val="FF3B1F"/>
          </a:solidFill>
          <a:ln w="12700">
            <a:solidFill>
              <a:srgbClr val="FF3B1F"/>
            </a:solidFill>
            <a:prstDash val="solid"/>
          </a:ln>
        </p:spPr>
      </p:sp>
      <p:sp>
        <p:nvSpPr>
          <p:cNvPr id="52" name="Text 5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53" name="Shape 51"/>
          <p:cNvSpPr/>
          <p:nvPr/>
        </p:nvSpPr>
        <p:spPr>
          <a:xfrm>
            <a:off x="9219438" y="6464808"/>
            <a:ext cx="146304" cy="146304"/>
          </a:xfrm>
          <a:prstGeom prst="ellipse">
            <a:avLst/>
          </a:prstGeom>
          <a:solidFill>
            <a:srgbClr val="FF3B1F"/>
          </a:solidFill>
          <a:ln w="12700">
            <a:solidFill>
              <a:srgbClr val="FF3B1F"/>
            </a:solidFill>
            <a:prstDash val="solid"/>
          </a:ln>
        </p:spPr>
      </p:sp>
      <p:sp>
        <p:nvSpPr>
          <p:cNvPr id="54" name="Text 5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5" name="Shape 53"/>
          <p:cNvSpPr/>
          <p:nvPr/>
        </p:nvSpPr>
        <p:spPr>
          <a:xfrm>
            <a:off x="10184130" y="6464808"/>
            <a:ext cx="146304" cy="146304"/>
          </a:xfrm>
          <a:prstGeom prst="ellipse">
            <a:avLst/>
          </a:prstGeom>
          <a:solidFill>
            <a:srgbClr val="FF3B1F"/>
          </a:solidFill>
          <a:ln w="12700">
            <a:solidFill>
              <a:srgbClr val="FF3B1F"/>
            </a:solidFill>
            <a:prstDash val="solid"/>
          </a:ln>
        </p:spPr>
      </p:sp>
      <p:sp>
        <p:nvSpPr>
          <p:cNvPr id="56" name="Text 5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7" name="Shape 55"/>
          <p:cNvSpPr/>
          <p:nvPr/>
        </p:nvSpPr>
        <p:spPr>
          <a:xfrm>
            <a:off x="11148822" y="6464808"/>
            <a:ext cx="146304" cy="146304"/>
          </a:xfrm>
          <a:prstGeom prst="ellipse">
            <a:avLst/>
          </a:prstGeom>
          <a:solidFill>
            <a:srgbClr val="FFFFFF"/>
          </a:solidFill>
          <a:ln w="12700">
            <a:solidFill>
              <a:srgbClr val="E6E6E6"/>
            </a:solidFill>
            <a:prstDash val="solid"/>
          </a:ln>
        </p:spPr>
      </p:sp>
      <p:sp>
        <p:nvSpPr>
          <p:cNvPr id="58" name="Text 5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E-9 ／ 著作権の内容</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職務著作では会社自身が著作者になる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創作と同時に自動発生（無方式主義）。特許の職務発明とは扱いが対照的。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著作権（財産権）</a:t>
            </a:r>
            <a:endParaRPr lang="en-US" sz="1150" dirty="0"/>
          </a:p>
        </p:txBody>
      </p:sp>
      <p:sp>
        <p:nvSpPr>
          <p:cNvPr id="9" name="Shape 7"/>
          <p:cNvSpPr/>
          <p:nvPr/>
        </p:nvSpPr>
        <p:spPr>
          <a:xfrm>
            <a:off x="2587752" y="1691640"/>
            <a:ext cx="0" cy="256032"/>
          </a:xfrm>
          <a:prstGeom prst="line">
            <a:avLst/>
          </a:prstGeom>
          <a:noFill/>
          <a:ln w="12700">
            <a:solidFill>
              <a:srgbClr val="E6E6E6"/>
            </a:solidFill>
            <a:prstDash val="solid"/>
          </a:ln>
        </p:spPr>
      </p:sp>
      <p:sp>
        <p:nvSpPr>
          <p:cNvPr id="10" name="Text 8"/>
          <p:cNvSpPr txBox="1"/>
          <p:nvPr/>
        </p:nvSpPr>
        <p:spPr>
          <a:xfrm>
            <a:off x="2743200" y="1691640"/>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複製権・上演権等。他人に譲渡できる</a:t>
            </a:r>
            <a:endParaRPr lang="en-US" sz="1150" dirty="0"/>
          </a:p>
        </p:txBody>
      </p:sp>
      <p:sp>
        <p:nvSpPr>
          <p:cNvPr id="11" name="Text 9"/>
          <p:cNvSpPr txBox="1"/>
          <p:nvPr/>
        </p:nvSpPr>
        <p:spPr>
          <a:xfrm>
            <a:off x="502920" y="2057400"/>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著作者人格権</a:t>
            </a:r>
            <a:endParaRPr lang="en-US" sz="1150" dirty="0"/>
          </a:p>
        </p:txBody>
      </p:sp>
      <p:sp>
        <p:nvSpPr>
          <p:cNvPr id="12" name="Shape 10"/>
          <p:cNvSpPr/>
          <p:nvPr/>
        </p:nvSpPr>
        <p:spPr>
          <a:xfrm>
            <a:off x="2587752" y="2057400"/>
            <a:ext cx="0" cy="256032"/>
          </a:xfrm>
          <a:prstGeom prst="line">
            <a:avLst/>
          </a:prstGeom>
          <a:noFill/>
          <a:ln w="12700">
            <a:solidFill>
              <a:srgbClr val="E6E6E6"/>
            </a:solidFill>
            <a:prstDash val="solid"/>
          </a:ln>
        </p:spPr>
      </p:sp>
      <p:sp>
        <p:nvSpPr>
          <p:cNvPr id="13" name="Text 11"/>
          <p:cNvSpPr txBox="1"/>
          <p:nvPr/>
        </p:nvSpPr>
        <p:spPr>
          <a:xfrm>
            <a:off x="2743200" y="2057400"/>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氏名表示権・同一性保持権等。一身専属で譲渡できない</a:t>
            </a:r>
            <a:endParaRPr lang="en-US" sz="1150" dirty="0"/>
          </a:p>
        </p:txBody>
      </p:sp>
      <p:sp>
        <p:nvSpPr>
          <p:cNvPr id="14" name="Text 12"/>
          <p:cNvSpPr txBox="1"/>
          <p:nvPr/>
        </p:nvSpPr>
        <p:spPr>
          <a:xfrm>
            <a:off x="502920" y="2423160"/>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職務著作</a:t>
            </a:r>
            <a:endParaRPr lang="en-US" sz="1150" dirty="0"/>
          </a:p>
        </p:txBody>
      </p:sp>
      <p:sp>
        <p:nvSpPr>
          <p:cNvPr id="15" name="Shape 13"/>
          <p:cNvSpPr/>
          <p:nvPr/>
        </p:nvSpPr>
        <p:spPr>
          <a:xfrm>
            <a:off x="2587752" y="2423160"/>
            <a:ext cx="0" cy="256032"/>
          </a:xfrm>
          <a:prstGeom prst="line">
            <a:avLst/>
          </a:prstGeom>
          <a:noFill/>
          <a:ln w="12700">
            <a:solidFill>
              <a:srgbClr val="E6E6E6"/>
            </a:solidFill>
            <a:prstDash val="solid"/>
          </a:ln>
        </p:spPr>
      </p:sp>
      <p:sp>
        <p:nvSpPr>
          <p:cNvPr id="16" name="Text 14"/>
          <p:cNvSpPr txBox="1"/>
          <p:nvPr/>
        </p:nvSpPr>
        <p:spPr>
          <a:xfrm>
            <a:off x="2743200" y="2423160"/>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会社の発意・従業員が職務上作成・会社名義公表なら会社が著作者</a:t>
            </a:r>
            <a:endParaRPr lang="en-US" sz="1150" dirty="0"/>
          </a:p>
        </p:txBody>
      </p:sp>
      <p:sp>
        <p:nvSpPr>
          <p:cNvPr id="17" name="Shape 15"/>
          <p:cNvSpPr/>
          <p:nvPr/>
        </p:nvSpPr>
        <p:spPr>
          <a:xfrm>
            <a:off x="502920" y="2880360"/>
            <a:ext cx="11201400" cy="0"/>
          </a:xfrm>
          <a:prstGeom prst="line">
            <a:avLst/>
          </a:prstGeom>
          <a:noFill/>
          <a:ln w="12700">
            <a:solidFill>
              <a:srgbClr val="E6E6E6"/>
            </a:solidFill>
            <a:prstDash val="solid"/>
          </a:ln>
        </p:spPr>
      </p:sp>
      <p:sp>
        <p:nvSpPr>
          <p:cNvPr id="18" name="Text 16"/>
          <p:cNvSpPr txBox="1"/>
          <p:nvPr/>
        </p:nvSpPr>
        <p:spPr>
          <a:xfrm>
            <a:off x="502920" y="295351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特許の職務発明は発明者本人が原則権利者だが、著作権の職務著作は要件を満たせば会社自身が著作者になる点が対照的。</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関連：E-10 著作権の成立と保護（保護期間の詳細）。</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経営法務</dc:title>
  <dc:subject>PptxGenJS Presentation</dc:subject>
  <dc:creator>SMEC</dc:creator>
  <cp:lastModifiedBy>SMEC</cp:lastModifiedBy>
  <cp:revision>1</cp:revision>
  <dcterms:created xsi:type="dcterms:W3CDTF">2026-09-13T10:41:20Z</dcterms:created>
  <dcterms:modified xsi:type="dcterms:W3CDTF">2026-09-13T10:41:20Z</dcterms:modified>
</cp:coreProperties>
</file>