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マーケティング論パートの区切りスライド。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三代続く和菓子屋が長年かけて築いた「職人の技」は、他社が一朝一夕に習得できない（経路依存性＝イ）。逆にその技が広く知られていたり（ウ）、代替の資源を外部調達できたり（オ）すれば、模倣は容易になり優位性は弱まる。</a:t>
            </a:r>
            <a:endParaRPr lang="en-US" sz="850" dirty="0"/>
          </a:p>
        </p:txBody>
      </p:sp>
      <p:sp>
        <p:nvSpPr>
          <p:cNvPr id="18" name="Text 16"/>
          <p:cNvSpPr txBox="1"/>
          <p:nvPr/>
        </p:nvSpPr>
        <p:spPr>
          <a:xfrm>
            <a:off x="502920" y="590702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594360"/>
          </a:xfrm>
          <a:prstGeom prst="rect">
            <a:avLst/>
          </a:prstGeom>
          <a:noFill/>
          <a:ln/>
        </p:spPr>
        <p:txBody>
          <a:bodyPr wrap="square" lIns="0" tIns="0" rIns="0" bIns="0" rtlCol="0" anchor="ctr"/>
          <a:lstStyle/>
          <a:p>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機能的定義の方が視野が広がり新しい事業機会に気づきやすい。「鉄道会社が自分たちを『鉄道業』と狭く定義したために自動車・航空機の台頭に対応できなかった」というレビットの「マーケティング近視眼」は有名な失敗例。</a:t>
            </a:r>
            <a:endParaRPr lang="en-US" sz="1050" dirty="0"/>
          </a:p>
        </p:txBody>
      </p:sp>
      <p:sp>
        <p:nvSpPr>
          <p:cNvPr id="16" name="Text 14"/>
          <p:cNvSpPr txBox="1"/>
          <p:nvPr/>
        </p:nvSpPr>
        <p:spPr>
          <a:xfrm>
            <a:off x="502920" y="3538728"/>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コンビニチェーンが自社を「小売業」ではなく「生活インフラ業」と定義し直すと、公共料金の収納代行、ATM、宅配便の受付など、単なる「モノを売る」以上のサービス展開に踏み出しやすくなる。</a:t>
            </a:r>
            <a:endParaRPr lang="en-US" sz="850" dirty="0"/>
          </a:p>
        </p:txBody>
      </p:sp>
      <p:sp>
        <p:nvSpPr>
          <p:cNvPr id="17" name="Shape 15"/>
          <p:cNvSpPr/>
          <p:nvPr/>
        </p:nvSpPr>
        <p:spPr>
          <a:xfrm>
            <a:off x="502920" y="4389120"/>
            <a:ext cx="6766560" cy="0"/>
          </a:xfrm>
          <a:prstGeom prst="line">
            <a:avLst/>
          </a:prstGeom>
          <a:noFill/>
          <a:ln w="12700">
            <a:solidFill>
              <a:srgbClr val="E6E6E6"/>
            </a:solidFill>
            <a:prstDash val="solid"/>
          </a:ln>
        </p:spPr>
      </p:sp>
      <p:sp>
        <p:nvSpPr>
          <p:cNvPr id="18" name="Text 16"/>
          <p:cNvSpPr txBox="1"/>
          <p:nvPr/>
        </p:nvSpPr>
        <p:spPr>
          <a:xfrm>
            <a:off x="502920" y="4462272"/>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ドメインの決め方（物理的 vs 機能的）と、C-3の「多角化」の判断を混同しないこと。ドメインは「自社の立ち位置の定義」、多角化は「新しい事業領域への進出」という別の概念。</a:t>
            </a:r>
            <a:endParaRPr lang="en-US" sz="950" dirty="0"/>
          </a:p>
        </p:txBody>
      </p:sp>
      <p:sp>
        <p:nvSpPr>
          <p:cNvPr id="19" name="Text 17"/>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20" name="Shape 18"/>
          <p:cNvSpPr/>
          <p:nvPr/>
        </p:nvSpPr>
        <p:spPr>
          <a:xfrm>
            <a:off x="7543800" y="2487168"/>
            <a:ext cx="1555394" cy="502920"/>
          </a:xfrm>
          <a:prstGeom prst="rect">
            <a:avLst/>
          </a:prstGeom>
          <a:solidFill>
            <a:srgbClr val="F4F4F4"/>
          </a:solidFill>
          <a:ln w="15875">
            <a:solidFill>
              <a:srgbClr val="171717"/>
            </a:solidFill>
            <a:prstDash val="solid"/>
          </a:ln>
        </p:spPr>
      </p:sp>
      <p:sp>
        <p:nvSpPr>
          <p:cNvPr id="21" name="Text 19"/>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2" name="Shape 20"/>
          <p:cNvSpPr/>
          <p:nvPr/>
        </p:nvSpPr>
        <p:spPr>
          <a:xfrm>
            <a:off x="7543800" y="3877056"/>
            <a:ext cx="3703320" cy="502920"/>
          </a:xfrm>
          <a:prstGeom prst="rect">
            <a:avLst/>
          </a:prstGeom>
          <a:solidFill>
            <a:srgbClr val="F4F4F4"/>
          </a:solidFill>
          <a:ln w="22225">
            <a:solidFill>
              <a:srgbClr val="FF3B1F"/>
            </a:solidFill>
            <a:prstDash val="solid"/>
          </a:ln>
        </p:spPr>
      </p:sp>
      <p:sp>
        <p:nvSpPr>
          <p:cNvPr id="23" name="Text 21"/>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気づける事業機会が広がる</a:t>
            </a:r>
            <a:endParaRPr lang="en-US" sz="10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例えばアの「自社ECサイトを立ち上げ、既存シリアル市場でのシェア拡大を狙う」は、製品・市場とも既存のままの施策＝実態は「市場浸透戦略」なのに、選択肢は「多角化戦略」と誤って名付けている。まず施策の実態を製品×市場で判定してから戦略名が一致するか照合するのがコツ。</a:t>
            </a:r>
            <a:endParaRPr lang="en-US" sz="850" dirty="0"/>
          </a:p>
        </p:txBody>
      </p:sp>
      <p:sp>
        <p:nvSpPr>
          <p:cNvPr id="18" name="Text 16"/>
          <p:cNvSpPr txBox="1"/>
          <p:nvPr/>
        </p:nvSpPr>
        <p:spPr>
          <a:xfrm>
            <a:off x="502920" y="576986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9" name="Text 17"/>
          <p:cNvSpPr txBox="1"/>
          <p:nvPr/>
        </p:nvSpPr>
        <p:spPr>
          <a:xfrm>
            <a:off x="502920" y="62270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6675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6675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既存事業と技術・顧客・販売チャネル等で関連がある分野に進出（例：カメラメーカーが医療用内視鏡事業に進出。レンズ技術という共通の強みを活かせる）</a:t>
            </a:r>
            <a:endParaRPr lang="en-US" sz="1150" dirty="0"/>
          </a:p>
        </p:txBody>
      </p:sp>
      <p:sp>
        <p:nvSpPr>
          <p:cNvPr id="12" name="Text 10"/>
          <p:cNvSpPr txBox="1"/>
          <p:nvPr/>
        </p:nvSpPr>
        <p:spPr>
          <a:xfrm>
            <a:off x="502920" y="272491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724912"/>
            <a:ext cx="0" cy="256032"/>
          </a:xfrm>
          <a:prstGeom prst="line">
            <a:avLst/>
          </a:prstGeom>
          <a:noFill/>
          <a:ln w="12700">
            <a:solidFill>
              <a:srgbClr val="E6E6E6"/>
            </a:solidFill>
            <a:prstDash val="solid"/>
          </a:ln>
        </p:spPr>
      </p:sp>
      <p:sp>
        <p:nvSpPr>
          <p:cNvPr id="14" name="Text 12"/>
          <p:cNvSpPr txBox="1"/>
          <p:nvPr/>
        </p:nvSpPr>
        <p:spPr>
          <a:xfrm>
            <a:off x="2057400" y="272491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Shape 13"/>
          <p:cNvSpPr/>
          <p:nvPr/>
        </p:nvSpPr>
        <p:spPr>
          <a:xfrm>
            <a:off x="502920" y="3273552"/>
            <a:ext cx="6766560" cy="438912"/>
          </a:xfrm>
          <a:prstGeom prst="rect">
            <a:avLst/>
          </a:prstGeom>
          <a:solidFill>
            <a:srgbClr val="F4F4F4"/>
          </a:solidFill>
          <a:ln/>
        </p:spPr>
      </p:sp>
      <p:sp>
        <p:nvSpPr>
          <p:cNvPr id="16" name="Shape 14"/>
          <p:cNvSpPr/>
          <p:nvPr/>
        </p:nvSpPr>
        <p:spPr>
          <a:xfrm>
            <a:off x="502920" y="3273552"/>
            <a:ext cx="0" cy="438912"/>
          </a:xfrm>
          <a:prstGeom prst="line">
            <a:avLst/>
          </a:prstGeom>
          <a:noFill/>
          <a:ln w="31750">
            <a:solidFill>
              <a:srgbClr val="171717"/>
            </a:solidFill>
            <a:prstDash val="solid"/>
          </a:ln>
        </p:spPr>
      </p:sp>
      <p:sp>
        <p:nvSpPr>
          <p:cNvPr id="17" name="Text 15"/>
          <p:cNvSpPr txBox="1"/>
          <p:nvPr/>
        </p:nvSpPr>
        <p:spPr>
          <a:xfrm>
            <a:off x="640080" y="3273552"/>
            <a:ext cx="6492240" cy="438912"/>
          </a:xfrm>
          <a:prstGeom prst="rect">
            <a:avLst/>
          </a:prstGeom>
          <a:noFill/>
          <a:ln/>
        </p:spPr>
        <p:txBody>
          <a:bodyPr wrap="square" lIns="0" tIns="0" rIns="0" bIns="0" rtlCol="0" anchor="ctr"/>
          <a:lstStyle/>
          <a:p>
            <a:pPr indent="0" marL="0">
              <a:lnSpc>
                <a:spcPct val="115000"/>
              </a:lnSpc>
              <a:buNone/>
            </a:pPr>
            <a:r>
              <a:rPr lang="en-US" sz="1000" b="1" dirty="0">
                <a:solidFill>
                  <a:srgbClr val="171717"/>
                </a:solidFill>
                <a:latin typeface="Yu Gothic" pitchFamily="34" charset="0"/>
                <a:ea typeface="Yu Gothic" pitchFamily="34" charset="-122"/>
                <a:cs typeface="Yu Gothic" pitchFamily="34" charset="-120"/>
              </a:rPr>
              <a:t>シナジー（相乗効果）：</a:t>
            </a:r>
            <a:pPr indent="0" marL="0">
              <a:lnSpc>
                <a:spcPct val="115000"/>
              </a:lnSpc>
              <a:buNone/>
            </a:pPr>
            <a:r>
              <a:rPr lang="en-US" sz="1000" dirty="0">
                <a:solidFill>
                  <a:srgbClr val="171717"/>
                </a:solidFill>
                <a:latin typeface="Yu Gothic" pitchFamily="34" charset="0"/>
                <a:ea typeface="Yu Gothic" pitchFamily="34" charset="-122"/>
                <a:cs typeface="Yu Gothic" pitchFamily="34" charset="-120"/>
              </a:rPr>
              <a:t>「1+1が2ではなく3以上になる効果」。技術・ブランド・販売網を複数事業で共有すると単独でやるより効率が良くなる。関連型多角化の方がシナジーを生みやすい。</a:t>
            </a:r>
            <a:endParaRPr lang="en-US" sz="1000" dirty="0"/>
          </a:p>
        </p:txBody>
      </p:sp>
      <p:sp>
        <p:nvSpPr>
          <p:cNvPr id="18" name="Text 16"/>
          <p:cNvSpPr txBox="1"/>
          <p:nvPr/>
        </p:nvSpPr>
        <p:spPr>
          <a:xfrm>
            <a:off x="502920" y="3803904"/>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富士フイルムは写真フィルム事業で培った化学・材料技術（酸化を防ぐ技術等）を応用して化粧品事業（アンチエイジング）に進出した。一見畑違いだが技術的関連性が高い「関連型多角化」の代表例。</a:t>
            </a:r>
            <a:endParaRPr lang="en-US" sz="850" dirty="0"/>
          </a:p>
        </p:txBody>
      </p:sp>
      <p:sp>
        <p:nvSpPr>
          <p:cNvPr id="19" name="Shape 17"/>
          <p:cNvSpPr/>
          <p:nvPr/>
        </p:nvSpPr>
        <p:spPr>
          <a:xfrm>
            <a:off x="502920" y="4654296"/>
            <a:ext cx="6766560" cy="0"/>
          </a:xfrm>
          <a:prstGeom prst="line">
            <a:avLst/>
          </a:prstGeom>
          <a:noFill/>
          <a:ln w="12700">
            <a:solidFill>
              <a:srgbClr val="E6E6E6"/>
            </a:solidFill>
            <a:prstDash val="solid"/>
          </a:ln>
        </p:spPr>
      </p:sp>
      <p:sp>
        <p:nvSpPr>
          <p:cNvPr id="20" name="Text 18"/>
          <p:cNvSpPr txBox="1"/>
          <p:nvPr/>
        </p:nvSpPr>
        <p:spPr>
          <a:xfrm>
            <a:off x="502920" y="4727448"/>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ことが必ずしも「多角化」とは限らない。アンゾフの成長マトリクスの「新製品×新市場」が多角化に該当。既存製品のままの海外展開（新市場開拓）や既存市場向けの新商品（新製品開発）と混同しないこと。</a:t>
            </a:r>
            <a:endParaRPr lang="en-US" sz="950" dirty="0"/>
          </a:p>
        </p:txBody>
      </p:sp>
      <p:sp>
        <p:nvSpPr>
          <p:cNvPr id="21" name="Shape 19"/>
          <p:cNvSpPr/>
          <p:nvPr/>
        </p:nvSpPr>
        <p:spPr>
          <a:xfrm>
            <a:off x="8061716" y="2201875"/>
            <a:ext cx="1616659" cy="1616659"/>
          </a:xfrm>
          <a:prstGeom prst="ellipse">
            <a:avLst/>
          </a:prstGeom>
          <a:ln w="22225">
            <a:solidFill>
              <a:srgbClr val="171717"/>
            </a:solidFill>
            <a:prstDash val="solid"/>
          </a:ln>
        </p:spPr>
      </p:sp>
      <p:sp>
        <p:nvSpPr>
          <p:cNvPr id="22" name="Shape 20"/>
          <p:cNvSpPr/>
          <p:nvPr/>
        </p:nvSpPr>
        <p:spPr>
          <a:xfrm>
            <a:off x="9112545" y="2201875"/>
            <a:ext cx="1616659" cy="1616659"/>
          </a:xfrm>
          <a:prstGeom prst="ellipse">
            <a:avLst/>
          </a:prstGeom>
          <a:ln w="22225">
            <a:solidFill>
              <a:srgbClr val="FF3B1F"/>
            </a:solidFill>
            <a:prstDash val="solid"/>
          </a:ln>
        </p:spPr>
      </p:sp>
      <p:sp>
        <p:nvSpPr>
          <p:cNvPr id="23" name="Text 21"/>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4" name="Text 22"/>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5" name="Text 23"/>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6" name="Shape 24"/>
          <p:cNvSpPr/>
          <p:nvPr/>
        </p:nvSpPr>
        <p:spPr>
          <a:xfrm>
            <a:off x="502920" y="5989320"/>
            <a:ext cx="11201400" cy="0"/>
          </a:xfrm>
          <a:prstGeom prst="line">
            <a:avLst/>
          </a:prstGeom>
          <a:noFill/>
          <a:ln w="9525">
            <a:solidFill>
              <a:srgbClr val="171717"/>
            </a:solidFill>
            <a:prstDash val="solid"/>
          </a:ln>
        </p:spPr>
      </p:sp>
      <p:sp>
        <p:nvSpPr>
          <p:cNvPr id="27" name="Shape 25"/>
          <p:cNvSpPr/>
          <p:nvPr/>
        </p:nvSpPr>
        <p:spPr>
          <a:xfrm>
            <a:off x="502920" y="6062472"/>
            <a:ext cx="329184" cy="329184"/>
          </a:xfrm>
          <a:prstGeom prst="ellipse">
            <a:avLst/>
          </a:prstGeom>
          <a:solidFill>
            <a:srgbClr val="FF3B1F"/>
          </a:solidFill>
          <a:ln/>
        </p:spPr>
      </p:sp>
      <p:sp>
        <p:nvSpPr>
          <p:cNvPr id="28" name="Text 2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9" name="Text 2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0" name="Shape 28"/>
          <p:cNvSpPr/>
          <p:nvPr/>
        </p:nvSpPr>
        <p:spPr>
          <a:xfrm>
            <a:off x="2331720" y="6062472"/>
            <a:ext cx="0" cy="329184"/>
          </a:xfrm>
          <a:prstGeom prst="line">
            <a:avLst/>
          </a:prstGeom>
          <a:noFill/>
          <a:ln w="12700">
            <a:solidFill>
              <a:srgbClr val="E6E6E6"/>
            </a:solidFill>
            <a:prstDash val="solid"/>
          </a:ln>
        </p:spPr>
      </p:sp>
      <p:sp>
        <p:nvSpPr>
          <p:cNvPr id="31" name="Text 2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2" name="Text 3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3" name="Shape 31"/>
          <p:cNvSpPr/>
          <p:nvPr/>
        </p:nvSpPr>
        <p:spPr>
          <a:xfrm>
            <a:off x="246659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5" name="Shape 33"/>
          <p:cNvSpPr/>
          <p:nvPr/>
        </p:nvSpPr>
        <p:spPr>
          <a:xfrm>
            <a:off x="343128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7" name="Shape 35"/>
          <p:cNvSpPr/>
          <p:nvPr/>
        </p:nvSpPr>
        <p:spPr>
          <a:xfrm>
            <a:off x="439597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9" name="Shape 37"/>
          <p:cNvSpPr/>
          <p:nvPr/>
        </p:nvSpPr>
        <p:spPr>
          <a:xfrm>
            <a:off x="536067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1" name="Shape 39"/>
          <p:cNvSpPr/>
          <p:nvPr/>
        </p:nvSpPr>
        <p:spPr>
          <a:xfrm>
            <a:off x="632536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3" name="Shape 41"/>
          <p:cNvSpPr/>
          <p:nvPr/>
        </p:nvSpPr>
        <p:spPr>
          <a:xfrm>
            <a:off x="7290054"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5" name="Shape 43"/>
          <p:cNvSpPr/>
          <p:nvPr/>
        </p:nvSpPr>
        <p:spPr>
          <a:xfrm>
            <a:off x="8254746"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7" name="Shape 45"/>
          <p:cNvSpPr/>
          <p:nvPr/>
        </p:nvSpPr>
        <p:spPr>
          <a:xfrm>
            <a:off x="9219438"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9" name="Shape 47"/>
          <p:cNvSpPr/>
          <p:nvPr/>
        </p:nvSpPr>
        <p:spPr>
          <a:xfrm>
            <a:off x="10184130"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1" name="Shape 49"/>
          <p:cNvSpPr/>
          <p:nvPr/>
        </p:nvSpPr>
        <p:spPr>
          <a:xfrm>
            <a:off x="11148822"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 ／ 企業戦略：PPM（プロダクト・ポートフォリオ・マネジメント）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PPMで事業ポートフォリオの資金配分を判断する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市場成長率×市場シェアの2軸で事業を4分類し、どこに投資しどこから資金を引き上げるかを判断する。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花形（スター）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稼ぐが投資も必要。将来の主力候補</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問題児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将来性はあるが今は稼げない。育てるか撤退か判断が必要</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金のなる木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投資が要らず安定して稼ぐ。他事業の資金源</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負け犬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稼げず将来性も薄い。撤退候補</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縦軸：市場成長率（上＝高い）／横軸：市場シェア（左＝高い）。「金のなる木」の資金を「問題児」に投資して「花形」に育てるのが基本セオリー。</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ひっかけ：PPMは「市場の魅力度」と「自社の競争力」の2軸だけの単純化モデルで、事業間のシナジーや社会的意義のある事業は考慮できないという限界がある。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企業戦略：垂直統合、M&amp;A、戦略的提携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事業を拡大・強化する3つの方法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資本を統合するか（M&amp;A）、契約ベースで組むか（提携）、自社に取り込むか（垂直統合）で選択肢が変わる。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会社が事業を拡大・強化する主な方法は3つ。資本を統合する度合いが異なる。</a:t>
            </a:r>
            <a:endParaRPr lang="en-US" sz="1150" dirty="0"/>
          </a:p>
        </p:txBody>
      </p:sp>
      <p:sp>
        <p:nvSpPr>
          <p:cNvPr id="9" name="Text 7"/>
          <p:cNvSpPr txBox="1"/>
          <p:nvPr/>
        </p:nvSpPr>
        <p:spPr>
          <a:xfrm>
            <a:off x="502920" y="2039112"/>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垂直統合</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自社のバリューチェーンの川上（原材料側）・川下（消費者側）を自社に取り込む</a:t>
            </a:r>
            <a:endParaRPr lang="en-US" sz="1150" dirty="0"/>
          </a:p>
        </p:txBody>
      </p:sp>
      <p:sp>
        <p:nvSpPr>
          <p:cNvPr id="12" name="Text 10"/>
          <p:cNvSpPr txBox="1"/>
          <p:nvPr/>
        </p:nvSpPr>
        <p:spPr>
          <a:xfrm>
            <a:off x="502920" y="2423160"/>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a:t>
            </a:r>
            <a:endParaRPr lang="en-US" sz="1150" dirty="0"/>
          </a:p>
        </p:txBody>
      </p:sp>
      <p:sp>
        <p:nvSpPr>
          <p:cNvPr id="13" name="Shape 11"/>
          <p:cNvSpPr/>
          <p:nvPr/>
        </p:nvSpPr>
        <p:spPr>
          <a:xfrm>
            <a:off x="1764792" y="2423160"/>
            <a:ext cx="0" cy="256032"/>
          </a:xfrm>
          <a:prstGeom prst="line">
            <a:avLst/>
          </a:prstGeom>
          <a:noFill/>
          <a:ln w="12700">
            <a:solidFill>
              <a:srgbClr val="E6E6E6"/>
            </a:solidFill>
            <a:prstDash val="solid"/>
          </a:ln>
        </p:spPr>
      </p:sp>
      <p:sp>
        <p:nvSpPr>
          <p:cNvPr id="14" name="Text 12"/>
          <p:cNvSpPr txBox="1"/>
          <p:nvPr/>
        </p:nvSpPr>
        <p:spPr>
          <a:xfrm>
            <a:off x="1920240" y="2423160"/>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他社を買収・合併し、技術・顧客・ブランドを一気に手に入れる（TOB・MBOはその手法）</a:t>
            </a:r>
            <a:endParaRPr lang="en-US" sz="1150" dirty="0"/>
          </a:p>
        </p:txBody>
      </p:sp>
      <p:sp>
        <p:nvSpPr>
          <p:cNvPr id="15" name="Text 13"/>
          <p:cNvSpPr txBox="1"/>
          <p:nvPr/>
        </p:nvSpPr>
        <p:spPr>
          <a:xfrm>
            <a:off x="502920" y="2807208"/>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戦略的提携</a:t>
            </a:r>
            <a:endParaRPr lang="en-US" sz="1150" dirty="0"/>
          </a:p>
        </p:txBody>
      </p:sp>
      <p:sp>
        <p:nvSpPr>
          <p:cNvPr id="16" name="Shape 14"/>
          <p:cNvSpPr/>
          <p:nvPr/>
        </p:nvSpPr>
        <p:spPr>
          <a:xfrm>
            <a:off x="1764792" y="2807208"/>
            <a:ext cx="0" cy="256032"/>
          </a:xfrm>
          <a:prstGeom prst="line">
            <a:avLst/>
          </a:prstGeom>
          <a:noFill/>
          <a:ln w="12700">
            <a:solidFill>
              <a:srgbClr val="E6E6E6"/>
            </a:solidFill>
            <a:prstDash val="solid"/>
          </a:ln>
        </p:spPr>
      </p:sp>
      <p:sp>
        <p:nvSpPr>
          <p:cNvPr id="17" name="Text 15"/>
          <p:cNvSpPr txBox="1"/>
          <p:nvPr/>
        </p:nvSpPr>
        <p:spPr>
          <a:xfrm>
            <a:off x="1920240" y="2807208"/>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資本を統合せず契約ベースで協力する（ジョイントベンチャーもこの一種）</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自動車部品メーカーが鋼材メーカーを買収すれば「川上への垂直統合」、完成車メーカーを買収すれば「川下への垂直統合」。2社が共同出資でJVを設立するのは「戦略的提携」。</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ジョイントベンチャーは独立性を保つため、経営統合するM&amp;Aより共有できる情報の範囲は一般に</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狭い</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（広いは誤り）。MBOは上場企業の非公開化だけでなく、非上場企業の事業承継の手段としても行われる。CVC（事業会社がベンチャー企業へ出資しシナジーを狙う手法）も周辺用語として頻出。</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関連：C-11 新規事業開発（CVCによるベンチャー投資）、C-14 事業承継（MBOによる従業員承継）。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企業間の連携戦略に関する記述として、最も適切なものはどれか。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出典：past_exams/1st_stage/1ji2025/C1JI2025.pdf（令和7年度第1次試験）第6問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正解はオ。TOB・MBO・垂直/水平M&amp;A・JVの定義のズレを見抜く。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。CVCの定義そのもの。ア：TOBは通常「取引所を介さず」株主から直接買い集める手法で「公開市場で買い付け」は不正確。イ：MBOは非上場企業の事業承継手段としても行われる。ウ：仕入先（川上）の買収は</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垂直的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M&amp;A（水平的は誤り）。エ：JVは独立性を保つため共有情報の範囲はM&amp;Aより</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狭い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（広いは誤り）。</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飲料メーカーが自社にない発酵技術を持つスタートアップに出資し、将来の自社事業とのシナジーを狙うのがCVCの典型例。買収して経営統合するM&amp;Aとは異なり、出資先の独立性を保ったまま関係を築く点がポイント。</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関連知識：M&amp;Aの類型（水平・垂直・多角化型）とTOB・MBO・CVC等の周辺用語はセットで頻出。</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出典：past_exams/1st_stage/1ji2025/C1JI2025.pdf（令和7年度第1次試験）第6問／正解：past_exams/1st_stage_answers/r07/2025c.pdf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C-6 ／ 競争戦略：業界の構造分析（5フォース、価値連鎖）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5つの力で「儲かりやすい業界か」を判断する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3721608" y="1691640"/>
            <a:ext cx="4718304" cy="993648"/>
          </a:xfrm>
          <a:prstGeom prst="rect">
            <a:avLst/>
          </a:prstGeom>
          <a:solidFill>
            <a:srgbClr val="FFFFFF"/>
          </a:solidFill>
          <a:ln w="12700">
            <a:solidFill>
              <a:srgbClr val="171717"/>
            </a:solidFill>
            <a:prstDash val="solid"/>
          </a:ln>
        </p:spPr>
      </p:sp>
      <p:sp>
        <p:nvSpPr>
          <p:cNvPr id="9" name="Text 7"/>
          <p:cNvSpPr txBox="1"/>
          <p:nvPr/>
        </p:nvSpPr>
        <p:spPr>
          <a:xfrm>
            <a:off x="3721608" y="1691640"/>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新規参入の脅威</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（参入障壁が低いほど大）</a:t>
            </a:r>
            <a:endParaRPr lang="en-US" sz="900" dirty="0"/>
          </a:p>
        </p:txBody>
      </p:sp>
      <p:sp>
        <p:nvSpPr>
          <p:cNvPr id="10" name="Shape 8"/>
          <p:cNvSpPr/>
          <p:nvPr/>
        </p:nvSpPr>
        <p:spPr>
          <a:xfrm>
            <a:off x="1280160" y="2795016"/>
            <a:ext cx="2304288" cy="993648"/>
          </a:xfrm>
          <a:prstGeom prst="rect">
            <a:avLst/>
          </a:prstGeom>
          <a:solidFill>
            <a:srgbClr val="FFFFFF"/>
          </a:solidFill>
          <a:ln w="12700">
            <a:solidFill>
              <a:srgbClr val="171717"/>
            </a:solidFill>
            <a:prstDash val="solid"/>
          </a:ln>
        </p:spPr>
      </p:sp>
      <p:sp>
        <p:nvSpPr>
          <p:cNvPr id="11" name="Text 9"/>
          <p:cNvSpPr txBox="1"/>
          <p:nvPr/>
        </p:nvSpPr>
        <p:spPr>
          <a:xfrm>
            <a:off x="1280160"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売り手の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2" name="Shape 10"/>
          <p:cNvSpPr/>
          <p:nvPr/>
        </p:nvSpPr>
        <p:spPr>
          <a:xfrm>
            <a:off x="3721608" y="2795016"/>
            <a:ext cx="4718304" cy="993648"/>
          </a:xfrm>
          <a:prstGeom prst="rect">
            <a:avLst/>
          </a:prstGeom>
          <a:solidFill>
            <a:srgbClr val="FF3B1F"/>
          </a:solidFill>
          <a:ln w="12700">
            <a:solidFill>
              <a:srgbClr val="171717"/>
            </a:solidFill>
            <a:prstDash val="solid"/>
          </a:ln>
        </p:spPr>
      </p:sp>
      <p:sp>
        <p:nvSpPr>
          <p:cNvPr id="13" name="Text 11"/>
          <p:cNvSpPr txBox="1"/>
          <p:nvPr/>
        </p:nvSpPr>
        <p:spPr>
          <a:xfrm>
            <a:off x="3721608" y="2795016"/>
            <a:ext cx="4718304" cy="993648"/>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業界内の</a:t>
            </a:r>
            <a:endParaRPr lang="en-US" sz="900" dirty="0"/>
          </a:p>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既存競合</a:t>
            </a:r>
            <a:endParaRPr lang="en-US" sz="900" dirty="0"/>
          </a:p>
        </p:txBody>
      </p:sp>
      <p:sp>
        <p:nvSpPr>
          <p:cNvPr id="14" name="Shape 12"/>
          <p:cNvSpPr/>
          <p:nvPr/>
        </p:nvSpPr>
        <p:spPr>
          <a:xfrm>
            <a:off x="8577072" y="2795016"/>
            <a:ext cx="2304288" cy="993648"/>
          </a:xfrm>
          <a:prstGeom prst="rect">
            <a:avLst/>
          </a:prstGeom>
          <a:solidFill>
            <a:srgbClr val="FFFFFF"/>
          </a:solidFill>
          <a:ln w="12700">
            <a:solidFill>
              <a:srgbClr val="171717"/>
            </a:solidFill>
            <a:prstDash val="solid"/>
          </a:ln>
        </p:spPr>
      </p:sp>
      <p:sp>
        <p:nvSpPr>
          <p:cNvPr id="15" name="Text 13"/>
          <p:cNvSpPr txBox="1"/>
          <p:nvPr/>
        </p:nvSpPr>
        <p:spPr>
          <a:xfrm>
            <a:off x="8577072"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買い手の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6" name="Shape 14"/>
          <p:cNvSpPr/>
          <p:nvPr/>
        </p:nvSpPr>
        <p:spPr>
          <a:xfrm>
            <a:off x="3721608" y="3898392"/>
            <a:ext cx="4718304" cy="993648"/>
          </a:xfrm>
          <a:prstGeom prst="rect">
            <a:avLst/>
          </a:prstGeom>
          <a:solidFill>
            <a:srgbClr val="FFFFFF"/>
          </a:solidFill>
          <a:ln w="12700">
            <a:solidFill>
              <a:srgbClr val="171717"/>
            </a:solidFill>
            <a:prstDash val="solid"/>
          </a:ln>
        </p:spPr>
      </p:sp>
      <p:sp>
        <p:nvSpPr>
          <p:cNvPr id="17" name="Text 15"/>
          <p:cNvSpPr txBox="1"/>
          <p:nvPr/>
        </p:nvSpPr>
        <p:spPr>
          <a:xfrm>
            <a:off x="3721608" y="3898392"/>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代替品の脅威（例：新聞にとってのニュースアプリ）</a:t>
            </a:r>
            <a:endParaRPr lang="en-US" sz="900" dirty="0"/>
          </a:p>
        </p:txBody>
      </p:sp>
      <p:sp>
        <p:nvSpPr>
          <p:cNvPr id="18" name="Text 16"/>
          <p:cNvSpPr txBox="1"/>
          <p:nvPr/>
        </p:nvSpPr>
        <p:spPr>
          <a:xfrm>
            <a:off x="502920" y="5029200"/>
            <a:ext cx="11201400" cy="45720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もう1つの分析軸が</a:t>
            </a:r>
            <a:pPr indent="0" marL="0">
              <a:lnSpc>
                <a:spcPct val="125000"/>
              </a:lnSpc>
              <a:buNone/>
            </a:pPr>
            <a:r>
              <a:rPr lang="en-US" sz="950" b="1" dirty="0">
                <a:solidFill>
                  <a:srgbClr val="8A8A8A"/>
                </a:solidFill>
                <a:latin typeface="Yu Gothic" pitchFamily="34" charset="0"/>
                <a:ea typeface="Yu Gothic" pitchFamily="34" charset="-122"/>
                <a:cs typeface="Yu Gothic" pitchFamily="34" charset="-120"/>
              </a:rPr>
              <a:t>バリューチェーン（価値連鎖）分析</a:t>
            </a:r>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：活動を「主活動」（購買物流→製造→出荷物流→販売→サービス）と「支援活動」（全般管理・人事・技術開発・調達）に分け、付加価値の源泉を探る。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ひっかけ：「参入障壁が高く撤退障壁が低い」のように複数条件を組み合わせた業界特性は、単純発想では判断できない。設問の前提条件を個別に確認すること。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C-7 ／ 競争戦略：競争優位の戦略（コスト・差別化・集中）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競争に勝つための3つの基本戦略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コストリーダーシップ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業界最低コストで価格競争に勝つ（例：格安航空会社）</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品質・ブランド・デザインで独自の価値を出す（例：高級ホテル）</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特定の狭い顧客層に絞ってコストで勝つ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特定の狭い顧客層に絞って差別化で勝つ</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縦軸：狙う市場の広さ（上＝広い市場全体、下＝特定の狭い層＝集中戦略）／横軸：競争優位の源泉（左＝コスト、右＝差別化）。両方を中途半端に狙うと収益性が落ちる（スタック・イン・ザ・ミドル）。</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ひっかけ：集中戦略は「誰に売るか」の軸で、コストリーダーシップ・差別化そのものとは別軸。ユニクロのSPAによる効率化は単純な安売りでなく差別化的コストリーダーシップと解釈される。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C-8 ／ 競争戦略：競争地位別戦略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業界内シェアの順位で戦い方を変える（コトラー）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市場シェアの順位に応じて、企業が取るべき戦略は4パターンに分かれる。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リーダー</a:t>
            </a:r>
            <a:endParaRPr lang="en-US" sz="1500" dirty="0"/>
          </a:p>
        </p:txBody>
      </p:sp>
      <p:sp>
        <p:nvSpPr>
          <p:cNvPr id="9" name="Text 7"/>
          <p:cNvSpPr txBox="1"/>
          <p:nvPr/>
        </p:nvSpPr>
        <p:spPr>
          <a:xfrm>
            <a:off x="251460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業界1位</a:t>
            </a:r>
            <a:endParaRPr lang="en-US" sz="1100" dirty="0"/>
          </a:p>
        </p:txBody>
      </p:sp>
      <p:sp>
        <p:nvSpPr>
          <p:cNvPr id="10" name="Text 8"/>
          <p:cNvSpPr txBox="1"/>
          <p:nvPr/>
        </p:nvSpPr>
        <p:spPr>
          <a:xfrm>
            <a:off x="4709160" y="1856232"/>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市場全体を拡大させ、他社の攻撃を防ぐ「全方位戦略」</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チャレンジャー</a:t>
            </a:r>
            <a:endParaRPr lang="en-US" sz="1500" dirty="0"/>
          </a:p>
        </p:txBody>
      </p:sp>
      <p:sp>
        <p:nvSpPr>
          <p:cNvPr id="13" name="Text 11"/>
          <p:cNvSpPr txBox="1"/>
          <p:nvPr/>
        </p:nvSpPr>
        <p:spPr>
          <a:xfrm>
            <a:off x="2514600" y="2752344"/>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2位以下・体力あり</a:t>
            </a:r>
            <a:endParaRPr lang="en-US" sz="1100" dirty="0"/>
          </a:p>
        </p:txBody>
      </p:sp>
      <p:sp>
        <p:nvSpPr>
          <p:cNvPr id="14" name="Text 12"/>
          <p:cNvSpPr txBox="1"/>
          <p:nvPr/>
        </p:nvSpPr>
        <p:spPr>
          <a:xfrm>
            <a:off x="4709160" y="2697480"/>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リーダーとの「差別化」戦略。同じ土俵で戦うと体力負けするため</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ニッチャー</a:t>
            </a:r>
            <a:endParaRPr lang="en-US" sz="1500" dirty="0"/>
          </a:p>
        </p:txBody>
      </p:sp>
      <p:sp>
        <p:nvSpPr>
          <p:cNvPr id="17" name="Text 15"/>
          <p:cNvSpPr txBox="1"/>
          <p:nvPr/>
        </p:nvSpPr>
        <p:spPr>
          <a:xfrm>
            <a:off x="2514600" y="3593592"/>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特定分野に特化</a:t>
            </a:r>
            <a:endParaRPr lang="en-US" sz="1100" dirty="0"/>
          </a:p>
        </p:txBody>
      </p:sp>
      <p:sp>
        <p:nvSpPr>
          <p:cNvPr id="18" name="Text 16"/>
          <p:cNvSpPr txBox="1"/>
          <p:nvPr/>
        </p:nvSpPr>
        <p:spPr>
          <a:xfrm>
            <a:off x="4709160" y="3538728"/>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特定のセグメントに経営資源を集中する「集中」戦略</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フォロワー</a:t>
            </a:r>
            <a:endParaRPr lang="en-US" sz="1500" dirty="0"/>
          </a:p>
        </p:txBody>
      </p:sp>
      <p:sp>
        <p:nvSpPr>
          <p:cNvPr id="21" name="Text 19"/>
          <p:cNvSpPr txBox="1"/>
          <p:nvPr/>
        </p:nvSpPr>
        <p:spPr>
          <a:xfrm>
            <a:off x="2514600" y="4434840"/>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シェア・体力とも劣る</a:t>
            </a:r>
            <a:endParaRPr lang="en-US" sz="1100" dirty="0"/>
          </a:p>
        </p:txBody>
      </p:sp>
      <p:sp>
        <p:nvSpPr>
          <p:cNvPr id="22" name="Text 20"/>
          <p:cNvSpPr txBox="1"/>
          <p:nvPr/>
        </p:nvSpPr>
        <p:spPr>
          <a:xfrm>
            <a:off x="4709160" y="4379976"/>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リーダーの成功パターンを模倣し、低コストで生き残る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ひっかけ：チャレンジャーが取るべきは「同質化（真似）」ではなく「差別化」。同質化はむしろフォロワーの戦略に近い考え方であり、混同しないこと。</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技術経営（MOT）：技術戦略、知財戦略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コア技術を軸に複数事業へ展開する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技術力を経済的価値に変えるマネジメント。コア技術戦略と知財戦略が中心。</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MOT（技術経営）</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は技術力を利益に変えるマネジメント。代表例が</a:t>
            </a:r>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コア技術戦略</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：特定の技術分野に集中し、複数の製品・事業に展開する戦略。</a:t>
            </a:r>
            <a:endParaRPr lang="en-US" sz="1150" dirty="0"/>
          </a:p>
        </p:txBody>
      </p:sp>
      <p:sp>
        <p:nvSpPr>
          <p:cNvPr id="9" name="Text 7"/>
          <p:cNvSpPr txBox="1"/>
          <p:nvPr/>
        </p:nvSpPr>
        <p:spPr>
          <a:xfrm>
            <a:off x="502920" y="220370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コア技術戦略</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1つの技術を土台に複数製品を展開し、得た知見を技術自体の強化に還元する好循環</a:t>
            </a:r>
            <a:endParaRPr lang="en-US" sz="1150" dirty="0"/>
          </a:p>
        </p:txBody>
      </p:sp>
      <p:sp>
        <p:nvSpPr>
          <p:cNvPr id="12" name="Text 10"/>
          <p:cNvSpPr txBox="1"/>
          <p:nvPr/>
        </p:nvSpPr>
        <p:spPr>
          <a:xfrm>
            <a:off x="502920" y="256946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知財戦略</a:t>
            </a:r>
            <a:endParaRPr lang="en-US" sz="1150" dirty="0"/>
          </a:p>
        </p:txBody>
      </p:sp>
      <p:sp>
        <p:nvSpPr>
          <p:cNvPr id="13" name="Shape 11"/>
          <p:cNvSpPr/>
          <p:nvPr/>
        </p:nvSpPr>
        <p:spPr>
          <a:xfrm>
            <a:off x="1901952" y="2569464"/>
            <a:ext cx="0" cy="256032"/>
          </a:xfrm>
          <a:prstGeom prst="line">
            <a:avLst/>
          </a:prstGeom>
          <a:noFill/>
          <a:ln w="12700">
            <a:solidFill>
              <a:srgbClr val="E6E6E6"/>
            </a:solidFill>
            <a:prstDash val="solid"/>
          </a:ln>
        </p:spPr>
      </p:sp>
      <p:sp>
        <p:nvSpPr>
          <p:cNvPr id="14" name="Text 12"/>
          <p:cNvSpPr txBox="1"/>
          <p:nvPr/>
        </p:nvSpPr>
        <p:spPr>
          <a:xfrm>
            <a:off x="2057400" y="256946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特許として公開・独占するか、ノウハウとして秘匿するかの選択も含む</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「精密加工技術」をコア技術に持つ工作機械メーカーが、医療機器・航空宇宙部品にも展開し、各分野で得たノウハウを工作機械の技術力向上にも還元する。</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コア技術戦略は「既存技術に固執し続けること」ではない。陳腐化・模倣時は技術自体を進化させるのが前提。「既存市場でのシェア拡大が最優先」も誤りで、本質は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複数事業への横展開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関連：C-10 イノベーションマネジメント、C-11 新規事業開発と同じ技術経営（MOT）分野。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特定の技術分野に集中し、その技術をベースとした製品を次々と開発・導入する戦略として「コア技術戦略」がある。コア技術戦略の特徴に関する記述として、最も適切なものはどれか。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出典：past_exams/1st_stage/1ji2025/C1JI2025.pdf（令和7年度第1次試験）第9問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正解はエ。「複数製品への横展開」がコア技術戦略の本質。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正解：エ</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単一のコア技術を軸に複数製品・事業へ展開し、得た学習成果を技術自体の強化に還元する好循環がコア技術戦略の核心。ア：陳腐化・模倣時も固執するのは「コンピタンス・トラップ」に近く誤り。イ：既存市場シェア拡大最優先は市場浸透戦略の説明で誤り。オ：コア技術を軸にした展開はむしろ</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多角化しやすい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「精密加工技術」をコア技術に持つ工作機械メーカーが、医療機器・航空宇宙部品にも技術を横展開し、各分野で得た知見を工作機械自体の技術力向上にも還元するのがエの記述そのものの実践例。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関連知識：1つの技術基盤を複数事業に展開する考え方は「技術のプラットフォーム化」「技術シナジー」とも関連する。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出典：past_exams/1st_stage/1ji2025/C1JI2025.pdf（令和7年度第1次試験）第9問／正解：past_exams/1st_stage_answers/r07/2025c.pdf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技術経営（MOT）：イノベーションマネジメント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3つのイノベーション理論を区別する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「誰が」「どこから」イノベーションを起こすかで異なる3つの代表理論がある。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イノベーションに関する3つの代表理論。「誰が」「どこから」起こすかがそれぞれ異なる。</a:t>
            </a:r>
            <a:endParaRPr lang="en-US" sz="1150" dirty="0"/>
          </a:p>
        </p:txBody>
      </p:sp>
      <p:sp>
        <p:nvSpPr>
          <p:cNvPr id="9" name="Text 7"/>
          <p:cNvSpPr txBox="1"/>
          <p:nvPr/>
        </p:nvSpPr>
        <p:spPr>
          <a:xfrm>
            <a:off x="502920" y="20391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イノベーションのジレンマ</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既存顧客への対応に注力するあまり、新興企業の破壊的イノベーションに対応できず地位を奪われる（クリステンセン）</a:t>
            </a:r>
            <a:endParaRPr lang="en-US" sz="1150" dirty="0"/>
          </a:p>
        </p:txBody>
      </p:sp>
      <p:sp>
        <p:nvSpPr>
          <p:cNvPr id="12" name="Text 10"/>
          <p:cNvSpPr txBox="1"/>
          <p:nvPr/>
        </p:nvSpPr>
        <p:spPr>
          <a:xfrm>
            <a:off x="502920" y="25420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オープンイノベーション</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社外（大学・他社・スタートアップ）のアイデア・技術を積極的に取り込む考え方</a:t>
            </a:r>
            <a:endParaRPr lang="en-US" sz="1150" dirty="0"/>
          </a:p>
        </p:txBody>
      </p:sp>
      <p:sp>
        <p:nvSpPr>
          <p:cNvPr id="15" name="Text 13"/>
          <p:cNvSpPr txBox="1"/>
          <p:nvPr/>
        </p:nvSpPr>
        <p:spPr>
          <a:xfrm>
            <a:off x="502920" y="290779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ユーザー・イノベーション</a:t>
            </a:r>
            <a:endParaRPr lang="en-US" sz="1150" dirty="0"/>
          </a:p>
        </p:txBody>
      </p:sp>
      <p:sp>
        <p:nvSpPr>
          <p:cNvPr id="16" name="Shape 14"/>
          <p:cNvSpPr/>
          <p:nvPr/>
        </p:nvSpPr>
        <p:spPr>
          <a:xfrm>
            <a:off x="2587752" y="2907792"/>
            <a:ext cx="0" cy="256032"/>
          </a:xfrm>
          <a:prstGeom prst="line">
            <a:avLst/>
          </a:prstGeom>
          <a:noFill/>
          <a:ln w="12700">
            <a:solidFill>
              <a:srgbClr val="E6E6E6"/>
            </a:solidFill>
            <a:prstDash val="solid"/>
          </a:ln>
        </p:spPr>
      </p:sp>
      <p:sp>
        <p:nvSpPr>
          <p:cNvPr id="17" name="Text 15"/>
          <p:cNvSpPr txBox="1"/>
          <p:nvPr/>
        </p:nvSpPr>
        <p:spPr>
          <a:xfrm>
            <a:off x="2743200" y="290779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企業でなくユーザー自身が改良・開発を行う。先端的ニーズを持つリード・ユーザーが主な担い手（フォン・ヒッペル）</a:t>
            </a:r>
            <a:endParaRPr lang="en-US" sz="1150" dirty="0"/>
          </a:p>
        </p:txBody>
      </p:sp>
      <p:sp>
        <p:nvSpPr>
          <p:cNvPr id="18" name="Text 16"/>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ユーザー・イノベーションは「企業が顧客ニーズをアンケート調査すること」ではなく、</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ユーザー自身</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が開発主体。個人単独よりコミュニティを通じた方が普及しやすい。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具体例：フィルムカメラの高性能化に注力する大手を尻目に、性能は劣るが手軽なデジタルカメラで新興メーカーが台頭した例が「イノベーションのジレンマ」の典型。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ユーザー・イノベーションに関する記述として、最も適切なものはどれか。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出典：past_exams/1st_stage/1ji2025/C1JI2025.pdf（令和7年度第1次試験）第10問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正解はオ。主体の取り違え・普及しやすさの逆転に注意する。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フォン・ヒッペルの提唱した「リード・ユーザー」（市場ニーズを先取りする強いニーズを持つユーザー）が主な担い手。ア：個人単独よりコミュニティを通じた方が普及しやすく記述は逆。イ：主体は企業でなく</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ユーザー自身</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で誤り。ウ：ジレンマの原因はユーザー・イノベーションではなく持続的イノベーションへの偏重。</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ウンテンバイクは、既存の自転車に飽き足らない愛好家（リード・ユーザー）自身が山道走行用に独自改造・開発したことから発展した、ユーザー・イノベーションの代表的な歴史的事例としてよく引用され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関連知識：リード・ユーザー法は新製品開発のマーケティングリサーチ手法として2次試験（事例II）でも問われることがある。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出典：past_exams/1st_stage/1ji2025/C1JI2025.pdf（令和7年度第1次試験）第10問／正解：past_exams/1st_stage_answers/r07/2025c.pdf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C-11 ／ 技術経営（MOT）：新規事業開発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リーン・スタートアップで新規事業の不確実性に対処する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完成品をいきなり作らず、最小限の製品で顧客の反応を見ながら素早く軌道修正する。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リーン・スタートアップ</a:t>
            </a:r>
            <a:pPr indent="0" marL="0">
              <a:buNone/>
            </a:pPr>
            <a:r>
              <a:rPr lang="en-US" sz="1150" dirty="0">
                <a:solidFill>
                  <a:srgbClr val="171717"/>
                </a:solidFill>
                <a:latin typeface="Yu Gothic" pitchFamily="34" charset="0"/>
                <a:ea typeface="Yu Gothic" pitchFamily="34" charset="-122"/>
                <a:cs typeface="Yu Gothic" pitchFamily="34" charset="-120"/>
              </a:rPr>
              <a:t>（エリック・リース）：新規性が高く顧客の存在も未知な事業で、完成品を作る前に検証を繰り返す方法論。</a:t>
            </a:r>
            <a:endParaRPr lang="en-US" sz="1150" dirty="0"/>
          </a:p>
        </p:txBody>
      </p:sp>
      <p:sp>
        <p:nvSpPr>
          <p:cNvPr id="9" name="Text 7"/>
          <p:cNvSpPr txBox="1"/>
          <p:nvPr/>
        </p:nvSpPr>
        <p:spPr>
          <a:xfrm>
            <a:off x="502920" y="207568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MVP</a:t>
            </a:r>
            <a:endParaRPr lang="en-US" sz="1150" dirty="0"/>
          </a:p>
        </p:txBody>
      </p:sp>
      <p:sp>
        <p:nvSpPr>
          <p:cNvPr id="10" name="Shape 8"/>
          <p:cNvSpPr/>
          <p:nvPr/>
        </p:nvSpPr>
        <p:spPr>
          <a:xfrm>
            <a:off x="2313432" y="2075688"/>
            <a:ext cx="0" cy="256032"/>
          </a:xfrm>
          <a:prstGeom prst="line">
            <a:avLst/>
          </a:prstGeom>
          <a:noFill/>
          <a:ln w="12700">
            <a:solidFill>
              <a:srgbClr val="E6E6E6"/>
            </a:solidFill>
            <a:prstDash val="solid"/>
          </a:ln>
        </p:spPr>
      </p:sp>
      <p:sp>
        <p:nvSpPr>
          <p:cNvPr id="11" name="Text 9"/>
          <p:cNvSpPr txBox="1"/>
          <p:nvPr/>
        </p:nvSpPr>
        <p:spPr>
          <a:xfrm>
            <a:off x="2468880" y="207568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実用最小限の製品。コストをかけず最低限の機能だけを持つ試作版</a:t>
            </a:r>
            <a:endParaRPr lang="en-US" sz="1150" dirty="0"/>
          </a:p>
        </p:txBody>
      </p:sp>
      <p:sp>
        <p:nvSpPr>
          <p:cNvPr id="12" name="Text 10"/>
          <p:cNvSpPr txBox="1"/>
          <p:nvPr/>
        </p:nvSpPr>
        <p:spPr>
          <a:xfrm>
            <a:off x="502920" y="244144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構築－計測－学習</a:t>
            </a:r>
            <a:endParaRPr lang="en-US" sz="1150" dirty="0"/>
          </a:p>
        </p:txBody>
      </p:sp>
      <p:sp>
        <p:nvSpPr>
          <p:cNvPr id="13" name="Shape 11"/>
          <p:cNvSpPr/>
          <p:nvPr/>
        </p:nvSpPr>
        <p:spPr>
          <a:xfrm>
            <a:off x="2313432" y="2441448"/>
            <a:ext cx="0" cy="256032"/>
          </a:xfrm>
          <a:prstGeom prst="line">
            <a:avLst/>
          </a:prstGeom>
          <a:noFill/>
          <a:ln w="12700">
            <a:solidFill>
              <a:srgbClr val="E6E6E6"/>
            </a:solidFill>
            <a:prstDash val="solid"/>
          </a:ln>
        </p:spPr>
      </p:sp>
      <p:sp>
        <p:nvSpPr>
          <p:cNvPr id="14" name="Text 12"/>
          <p:cNvSpPr txBox="1"/>
          <p:nvPr/>
        </p:nvSpPr>
        <p:spPr>
          <a:xfrm>
            <a:off x="2468880" y="244144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MVPを顧客に使ってもらい反応を見て学習する、というサイクルを素早く回す</a:t>
            </a:r>
            <a:endParaRPr lang="en-US" sz="1150" dirty="0"/>
          </a:p>
        </p:txBody>
      </p:sp>
      <p:sp>
        <p:nvSpPr>
          <p:cNvPr id="15" name="Text 13"/>
          <p:cNvSpPr txBox="1"/>
          <p:nvPr/>
        </p:nvSpPr>
        <p:spPr>
          <a:xfrm>
            <a:off x="502920" y="280720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ピボット</a:t>
            </a:r>
            <a:endParaRPr lang="en-US" sz="1150" dirty="0"/>
          </a:p>
        </p:txBody>
      </p:sp>
      <p:sp>
        <p:nvSpPr>
          <p:cNvPr id="16" name="Shape 14"/>
          <p:cNvSpPr/>
          <p:nvPr/>
        </p:nvSpPr>
        <p:spPr>
          <a:xfrm>
            <a:off x="2313432" y="2807208"/>
            <a:ext cx="0" cy="256032"/>
          </a:xfrm>
          <a:prstGeom prst="line">
            <a:avLst/>
          </a:prstGeom>
          <a:noFill/>
          <a:ln w="12700">
            <a:solidFill>
              <a:srgbClr val="E6E6E6"/>
            </a:solidFill>
            <a:prstDash val="solid"/>
          </a:ln>
        </p:spPr>
      </p:sp>
      <p:sp>
        <p:nvSpPr>
          <p:cNvPr id="17" name="Text 15"/>
          <p:cNvSpPr txBox="1"/>
          <p:nvPr/>
        </p:nvSpPr>
        <p:spPr>
          <a:xfrm>
            <a:off x="2468880" y="280720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学習結果を踏まえ、必要なら事業の方向転換をすること</a:t>
            </a:r>
            <a:endParaRPr lang="en-US" sz="1150" dirty="0"/>
          </a:p>
        </p:txBody>
      </p:sp>
      <p:sp>
        <p:nvSpPr>
          <p:cNvPr id="18" name="Text 16"/>
          <p:cNvSpPr txBox="1"/>
          <p:nvPr/>
        </p:nvSpPr>
        <p:spPr>
          <a:xfrm>
            <a:off x="502920" y="32644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ーン・スタートアップは「トヨタ生産方式」（ムダを省き素早く改善サイクルを回す）の考え方から影響を受けている。流行に敏感で自ら情報収集する「アーリー・アダプター」を巻き込むことも推奨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具体例：新アプリで、いきなり全機能を実装せず最低限の試作版をリリースし、実際の反応を見て本格開発の方向性を決めるのがMVPの考え方。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C-12 ／ 国際経営戦略：海外進出形態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投資リスクの違いで3つの海外進出形態を選ぶ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輸出・ライセンス供与・海外直接投資の順にリスクとコントロールの強さが増す。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企業が海外に進出する形態には段階があり、リスクとコントロールの強さがトレードオフになる。</a:t>
            </a:r>
            <a:endParaRPr lang="en-US" sz="1150" dirty="0"/>
          </a:p>
        </p:txBody>
      </p:sp>
      <p:sp>
        <p:nvSpPr>
          <p:cNvPr id="9" name="Text 7"/>
          <p:cNvSpPr txBox="1"/>
          <p:nvPr/>
        </p:nvSpPr>
        <p:spPr>
          <a:xfrm>
            <a:off x="502920" y="20391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輸出</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自国で作った製品を海外に売る。最も投資リスクが低い</a:t>
            </a:r>
            <a:endParaRPr lang="en-US" sz="1150" dirty="0"/>
          </a:p>
        </p:txBody>
      </p:sp>
      <p:sp>
        <p:nvSpPr>
          <p:cNvPr id="12" name="Text 10"/>
          <p:cNvSpPr txBox="1"/>
          <p:nvPr/>
        </p:nvSpPr>
        <p:spPr>
          <a:xfrm>
            <a:off x="502920" y="24048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ライセンス供与</a:t>
            </a:r>
            <a:endParaRPr lang="en-US" sz="1150" dirty="0"/>
          </a:p>
        </p:txBody>
      </p:sp>
      <p:sp>
        <p:nvSpPr>
          <p:cNvPr id="13" name="Shape 11"/>
          <p:cNvSpPr/>
          <p:nvPr/>
        </p:nvSpPr>
        <p:spPr>
          <a:xfrm>
            <a:off x="2404872" y="2404872"/>
            <a:ext cx="0" cy="256032"/>
          </a:xfrm>
          <a:prstGeom prst="line">
            <a:avLst/>
          </a:prstGeom>
          <a:noFill/>
          <a:ln w="12700">
            <a:solidFill>
              <a:srgbClr val="E6E6E6"/>
            </a:solidFill>
            <a:prstDash val="solid"/>
          </a:ln>
        </p:spPr>
      </p:sp>
      <p:sp>
        <p:nvSpPr>
          <p:cNvPr id="14" name="Text 12"/>
          <p:cNvSpPr txBox="1"/>
          <p:nvPr/>
        </p:nvSpPr>
        <p:spPr>
          <a:xfrm>
            <a:off x="2560320" y="24048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技術・ブランドの使用権を海外企業に許諾しロイヤリティを得る</a:t>
            </a:r>
            <a:endParaRPr lang="en-US" sz="1150" dirty="0"/>
          </a:p>
        </p:txBody>
      </p:sp>
      <p:sp>
        <p:nvSpPr>
          <p:cNvPr id="15" name="Text 13"/>
          <p:cNvSpPr txBox="1"/>
          <p:nvPr/>
        </p:nvSpPr>
        <p:spPr>
          <a:xfrm>
            <a:off x="502920" y="27706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海外直接投資（FDI）</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海外に子会社・工場を設立。投資額・リスクは大きいが現地のコントロールが強い</a:t>
            </a:r>
            <a:endParaRPr lang="en-US" sz="1150" dirty="0"/>
          </a:p>
        </p:txBody>
      </p:sp>
      <p:sp>
        <p:nvSpPr>
          <p:cNvPr id="18" name="Text 16"/>
          <p:cNvSpPr txBox="1"/>
          <p:nvPr/>
        </p:nvSpPr>
        <p:spPr>
          <a:xfrm>
            <a:off x="502920" y="32095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ダニングの折衷理論（OLIパラダイム）：①所有優位性（O：自社の技術・ブランド等の強み）、②立地優位性（L：進出先市場の魅力）、③内部化優位性（I：自社管理が有利か）の3条件が揃うときFDIが選ばれる。</a:t>
            </a:r>
            <a:endParaRPr lang="en-US" sz="850" dirty="0"/>
          </a:p>
        </p:txBody>
      </p:sp>
      <p:sp>
        <p:nvSpPr>
          <p:cNvPr id="19" name="Shape 17"/>
          <p:cNvSpPr/>
          <p:nvPr/>
        </p:nvSpPr>
        <p:spPr>
          <a:xfrm>
            <a:off x="502920" y="4059936"/>
            <a:ext cx="11201400" cy="0"/>
          </a:xfrm>
          <a:prstGeom prst="line">
            <a:avLst/>
          </a:prstGeom>
          <a:noFill/>
          <a:ln w="12700">
            <a:solidFill>
              <a:srgbClr val="E6E6E6"/>
            </a:solidFill>
            <a:prstDash val="solid"/>
          </a:ln>
        </p:spPr>
      </p:sp>
      <p:sp>
        <p:nvSpPr>
          <p:cNvPr id="20" name="Text 18"/>
          <p:cNvSpPr txBox="1"/>
          <p:nvPr/>
        </p:nvSpPr>
        <p:spPr>
          <a:xfrm>
            <a:off x="502920" y="4133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3条件のうち一部しか揃わない場合の進出形態を問う問題が頻出。例えば「所有優位性はあるが内部化優位性がない」場合は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ライセンス供与</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が適切、というように組み合わせごとに最適形態が変わる。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M&amp;A・戦略的提携（海外企業とのJVもOLIの内部化優位性の判断と関わる）。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C-13 ／ 企業の社会的責任：CSR・CSV・コーポレートガバナンス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「コストか投資か」でCSRとCSVを区別する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社会的責任・共有価値の創造・企業統治という3つの関連概念を整理する。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企業が利益追求だけでなく社会と向き合うための3つの関連概念。</a:t>
            </a:r>
            <a:endParaRPr lang="en-US" sz="1150" dirty="0"/>
          </a:p>
        </p:txBody>
      </p:sp>
      <p:sp>
        <p:nvSpPr>
          <p:cNvPr id="9" name="Text 7"/>
          <p:cNvSpPr txBox="1"/>
          <p:nvPr/>
        </p:nvSpPr>
        <p:spPr>
          <a:xfrm>
            <a:off x="502920" y="2039112"/>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CSR</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企業の社会的責任。環境保護・地域貢献など、利益とは別に果たすべき責任（コスト）</a:t>
            </a:r>
            <a:endParaRPr lang="en-US" sz="1150" dirty="0"/>
          </a:p>
        </p:txBody>
      </p:sp>
      <p:sp>
        <p:nvSpPr>
          <p:cNvPr id="12" name="Text 10"/>
          <p:cNvSpPr txBox="1"/>
          <p:nvPr/>
        </p:nvSpPr>
        <p:spPr>
          <a:xfrm>
            <a:off x="502920" y="2423160"/>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CSV</a:t>
            </a:r>
            <a:endParaRPr lang="en-US" sz="1150" dirty="0"/>
          </a:p>
        </p:txBody>
      </p:sp>
      <p:sp>
        <p:nvSpPr>
          <p:cNvPr id="13" name="Shape 11"/>
          <p:cNvSpPr/>
          <p:nvPr/>
        </p:nvSpPr>
        <p:spPr>
          <a:xfrm>
            <a:off x="2587752" y="2423160"/>
            <a:ext cx="0" cy="256032"/>
          </a:xfrm>
          <a:prstGeom prst="line">
            <a:avLst/>
          </a:prstGeom>
          <a:noFill/>
          <a:ln w="12700">
            <a:solidFill>
              <a:srgbClr val="E6E6E6"/>
            </a:solidFill>
            <a:prstDash val="solid"/>
          </a:ln>
        </p:spPr>
      </p:sp>
      <p:sp>
        <p:nvSpPr>
          <p:cNvPr id="14" name="Text 12"/>
          <p:cNvSpPr txBox="1"/>
          <p:nvPr/>
        </p:nvSpPr>
        <p:spPr>
          <a:xfrm>
            <a:off x="2743200" y="2423160"/>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共有価値の創造（ポーター）。社会課題の解決そのものを事業機会・利益創出につなげる発想（投資）</a:t>
            </a:r>
            <a:endParaRPr lang="en-US" sz="1150" dirty="0"/>
          </a:p>
        </p:txBody>
      </p:sp>
      <p:sp>
        <p:nvSpPr>
          <p:cNvPr id="15" name="Text 13"/>
          <p:cNvSpPr txBox="1"/>
          <p:nvPr/>
        </p:nvSpPr>
        <p:spPr>
          <a:xfrm>
            <a:off x="502920" y="2807208"/>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コーポレートガバナンス</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株主・社会の利益を守るため経営者の暴走を防ぐ統治の仕組み（社外取締役・監査役制度等）</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農業支援で質の高い原料を安定調達し、自社製品の品質向上と現地農家の所得向上の両方につながる取り組みはCSVの典型例。単なる寄付活動（CSR）とは異なり、事業戦略そのものに組み込まれている。</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CSRとCSVは似ているが、「コストか投資か」「本業と一体か切り離されているか」という観点で区別される。混同しないこと。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関連：経営法務科目の会社法（社外取締役・監査役会等の機関設計）とも関連する。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C-14 ／ ファミリービジネスの戦略：創業・事業承継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事業承継の3つのパターン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日本の中小企業の多くは家族経営。経営権・所有権の引き継ぎ方は大きく3つに分かれる。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日本の中小企業の多くは家族経営（ファミリービジネス）。経営権・所有権を後継者にどう引き継ぐかが特有の課題（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事業承継</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11226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親族内承継</a:t>
            </a:r>
            <a:endParaRPr lang="en-US" sz="1150" dirty="0"/>
          </a:p>
        </p:txBody>
      </p:sp>
      <p:sp>
        <p:nvSpPr>
          <p:cNvPr id="10" name="Shape 8"/>
          <p:cNvSpPr/>
          <p:nvPr/>
        </p:nvSpPr>
        <p:spPr>
          <a:xfrm>
            <a:off x="2313432" y="2112264"/>
            <a:ext cx="0" cy="256032"/>
          </a:xfrm>
          <a:prstGeom prst="line">
            <a:avLst/>
          </a:prstGeom>
          <a:noFill/>
          <a:ln w="12700">
            <a:solidFill>
              <a:srgbClr val="E6E6E6"/>
            </a:solidFill>
            <a:prstDash val="solid"/>
          </a:ln>
        </p:spPr>
      </p:sp>
      <p:sp>
        <p:nvSpPr>
          <p:cNvPr id="11" name="Text 9"/>
          <p:cNvSpPr txBox="1"/>
          <p:nvPr/>
        </p:nvSpPr>
        <p:spPr>
          <a:xfrm>
            <a:off x="2468880" y="211226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子どもなど親族に引き継ぐ</a:t>
            </a:r>
            <a:endParaRPr lang="en-US" sz="1150" dirty="0"/>
          </a:p>
        </p:txBody>
      </p:sp>
      <p:sp>
        <p:nvSpPr>
          <p:cNvPr id="12" name="Text 10"/>
          <p:cNvSpPr txBox="1"/>
          <p:nvPr/>
        </p:nvSpPr>
        <p:spPr>
          <a:xfrm>
            <a:off x="502920" y="243230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親族外承継</a:t>
            </a:r>
            <a:endParaRPr lang="en-US" sz="1150" dirty="0"/>
          </a:p>
        </p:txBody>
      </p:sp>
      <p:sp>
        <p:nvSpPr>
          <p:cNvPr id="13" name="Shape 11"/>
          <p:cNvSpPr/>
          <p:nvPr/>
        </p:nvSpPr>
        <p:spPr>
          <a:xfrm>
            <a:off x="2313432" y="2432304"/>
            <a:ext cx="0" cy="256032"/>
          </a:xfrm>
          <a:prstGeom prst="line">
            <a:avLst/>
          </a:prstGeom>
          <a:noFill/>
          <a:ln w="12700">
            <a:solidFill>
              <a:srgbClr val="E6E6E6"/>
            </a:solidFill>
            <a:prstDash val="solid"/>
          </a:ln>
        </p:spPr>
      </p:sp>
      <p:sp>
        <p:nvSpPr>
          <p:cNvPr id="14" name="Text 12"/>
          <p:cNvSpPr txBox="1"/>
          <p:nvPr/>
        </p:nvSpPr>
        <p:spPr>
          <a:xfrm>
            <a:off x="2468880" y="243230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役員・従業員に引き継ぐ（従業員承継。MBOもこの一種になりうる）</a:t>
            </a:r>
            <a:endParaRPr lang="en-US" sz="1150" dirty="0"/>
          </a:p>
        </p:txBody>
      </p:sp>
      <p:sp>
        <p:nvSpPr>
          <p:cNvPr id="15" name="Text 13"/>
          <p:cNvSpPr txBox="1"/>
          <p:nvPr/>
        </p:nvSpPr>
        <p:spPr>
          <a:xfrm>
            <a:off x="502920" y="275234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M&amp;A（第三者承継）</a:t>
            </a:r>
            <a:endParaRPr lang="en-US" sz="1150" dirty="0"/>
          </a:p>
        </p:txBody>
      </p:sp>
      <p:sp>
        <p:nvSpPr>
          <p:cNvPr id="16" name="Shape 14"/>
          <p:cNvSpPr/>
          <p:nvPr/>
        </p:nvSpPr>
        <p:spPr>
          <a:xfrm>
            <a:off x="2313432" y="2752344"/>
            <a:ext cx="0" cy="256032"/>
          </a:xfrm>
          <a:prstGeom prst="line">
            <a:avLst/>
          </a:prstGeom>
          <a:noFill/>
          <a:ln w="12700">
            <a:solidFill>
              <a:srgbClr val="E6E6E6"/>
            </a:solidFill>
            <a:prstDash val="solid"/>
          </a:ln>
        </p:spPr>
      </p:sp>
      <p:sp>
        <p:nvSpPr>
          <p:cNvPr id="17" name="Text 15"/>
          <p:cNvSpPr txBox="1"/>
          <p:nvPr/>
        </p:nvSpPr>
        <p:spPr>
          <a:xfrm>
            <a:off x="2468880" y="275234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外部の企業や個人に売却する</a:t>
            </a:r>
            <a:endParaRPr lang="en-US" sz="1150" dirty="0"/>
          </a:p>
        </p:txBody>
      </p:sp>
      <p:sp>
        <p:nvSpPr>
          <p:cNvPr id="18" name="Text 16"/>
          <p:cNvSpPr txBox="1"/>
          <p:nvPr/>
        </p:nvSpPr>
        <p:spPr>
          <a:xfrm>
            <a:off x="502920" y="31638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後継者不在の町工場が長年勤めた工場長に経営を引き継がせる（従業員承継）ケースや、同業の大手企業に事業を売却する（M&amp;A）ケースが近年増加している。</a:t>
            </a:r>
            <a:endParaRPr lang="en-US" sz="850" dirty="0"/>
          </a:p>
        </p:txBody>
      </p:sp>
      <p:sp>
        <p:nvSpPr>
          <p:cNvPr id="19" name="Shape 17"/>
          <p:cNvSpPr/>
          <p:nvPr/>
        </p:nvSpPr>
        <p:spPr>
          <a:xfrm>
            <a:off x="502920" y="3785616"/>
            <a:ext cx="11201400" cy="0"/>
          </a:xfrm>
          <a:prstGeom prst="line">
            <a:avLst/>
          </a:prstGeom>
          <a:noFill/>
          <a:ln w="12700">
            <a:solidFill>
              <a:srgbClr val="E6E6E6"/>
            </a:solidFill>
            <a:prstDash val="solid"/>
          </a:ln>
        </p:spPr>
      </p:sp>
      <p:sp>
        <p:nvSpPr>
          <p:cNvPr id="20" name="Text 18"/>
          <p:cNvSpPr txBox="1"/>
          <p:nvPr/>
        </p:nvSpPr>
        <p:spPr>
          <a:xfrm>
            <a:off x="502920" y="385876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ァミリービジネスの強み（長期的視点・迅速な意思決定）と弱み（後継者育成の難しさ・身内経営によるガバナンスの脆弱化）を対比で理解しておく。事業承継の法制度（経営承継円滑化法）は経営法務科目とも関連。</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M&amp;A（第三者承継としてのM&amp;A、MBOによる従業員承継）。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企業経営理論 ／ C-15〜C-29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組織論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人と人とをどう組み合わせれば、会社としての力を最大化できるかを扱う分野。モチベーション理論・リーダーシップ理論など心理学的な要素を含む論点が多い。</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C-19 モチベーション理論</a:t>
            </a:r>
            <a:endParaRPr lang="en-US" sz="1000" dirty="0"/>
          </a:p>
        </p:txBody>
      </p:sp>
      <p:sp>
        <p:nvSpPr>
          <p:cNvPr id="8" name="Shape 6"/>
          <p:cNvSpPr/>
          <p:nvPr/>
        </p:nvSpPr>
        <p:spPr>
          <a:xfrm>
            <a:off x="2916936" y="4800600"/>
            <a:ext cx="1431036" cy="384048"/>
          </a:xfrm>
          <a:prstGeom prst="rect">
            <a:avLst/>
          </a:prstGeom>
          <a:ln w="9525">
            <a:solidFill>
              <a:srgbClr val="7F7F7F"/>
            </a:solidFill>
            <a:prstDash val="solid"/>
          </a:ln>
        </p:spPr>
      </p:sp>
      <p:sp>
        <p:nvSpPr>
          <p:cNvPr id="9" name="Text 7"/>
          <p:cNvSpPr txBox="1"/>
          <p:nvPr/>
        </p:nvSpPr>
        <p:spPr>
          <a:xfrm>
            <a:off x="291693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C-24 組織変革</a:t>
            </a:r>
            <a:endParaRPr lang="en-US" sz="1000" dirty="0"/>
          </a:p>
        </p:txBody>
      </p:sp>
      <p:sp>
        <p:nvSpPr>
          <p:cNvPr id="10" name="Shape 8"/>
          <p:cNvSpPr/>
          <p:nvPr/>
        </p:nvSpPr>
        <p:spPr>
          <a:xfrm>
            <a:off x="4576572" y="4800600"/>
            <a:ext cx="1677924" cy="384048"/>
          </a:xfrm>
          <a:prstGeom prst="rect">
            <a:avLst/>
          </a:prstGeom>
          <a:ln w="9525">
            <a:solidFill>
              <a:srgbClr val="7F7F7F"/>
            </a:solidFill>
            <a:prstDash val="solid"/>
          </a:ln>
        </p:spPr>
      </p:sp>
      <p:sp>
        <p:nvSpPr>
          <p:cNvPr id="11" name="Text 9"/>
          <p:cNvSpPr txBox="1"/>
          <p:nvPr/>
        </p:nvSpPr>
        <p:spPr>
          <a:xfrm>
            <a:off x="457657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C-25 労働関連法規</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組織の考え方（組織目標、分業と調整、権限と責任）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組織が機能するための3つの要素</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共通目標のために複数人が協力する仕組みが組織。分業・調整・権限と責任の3つが土台になる。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組織とは「共通の目標のために複数の人が協力する仕組み」。機能するには3つの要素が必要。</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分業</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仕事を細分化し、担当者が専門的に担当する（効率化につながる）</a:t>
            </a:r>
            <a:endParaRPr lang="en-US" sz="115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調整</a:t>
            </a:r>
            <a:endParaRPr lang="en-US" sz="115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分業した仕事がバラバラにならないよう全体をまとめる（会議・報告ライン・ルール等）</a:t>
            </a:r>
            <a:endParaRPr lang="en-US" sz="1150" dirty="0"/>
          </a:p>
        </p:txBody>
      </p:sp>
      <p:sp>
        <p:nvSpPr>
          <p:cNvPr id="15" name="Text 13"/>
          <p:cNvSpPr txBox="1"/>
          <p:nvPr/>
        </p:nvSpPr>
        <p:spPr>
          <a:xfrm>
            <a:off x="502920" y="277063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権限と責任</a:t>
            </a:r>
            <a:endParaRPr lang="en-US" sz="115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決定できる範囲（権限）とその結果への責任は原則セットでなければならない</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飲食店チェーンでは各店舗の店長に「仕入れ量を決める権限」と同時に「食材ロスを一定以下に抑える責任」を負わせる。権限だけ与えて責任は本部が負う、では店長の判断が甘くなりがち。</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関連：C-16 組織構造の形態（分業・調整の具体的な型）。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組織構造の形態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4つの組織形態とメリット・デメリット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職能別・事業部制・マトリックス・ネットワークの4形態で、専門性と連携のトレードオフが変わる。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職能別組織</a:t>
            </a:r>
            <a:endParaRPr lang="en-US" sz="1500" dirty="0"/>
          </a:p>
        </p:txBody>
      </p:sp>
      <p:sp>
        <p:nvSpPr>
          <p:cNvPr id="9" name="Text 7"/>
          <p:cNvSpPr txBox="1"/>
          <p:nvPr/>
        </p:nvSpPr>
        <p:spPr>
          <a:xfrm>
            <a:off x="2697480" y="19110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機能ごとに部門化</a:t>
            </a:r>
            <a:endParaRPr lang="en-US" sz="1100" dirty="0"/>
          </a:p>
        </p:txBody>
      </p:sp>
      <p:sp>
        <p:nvSpPr>
          <p:cNvPr id="10" name="Text 8"/>
          <p:cNvSpPr txBox="1"/>
          <p:nvPr/>
        </p:nvSpPr>
        <p:spPr>
          <a:xfrm>
            <a:off x="5166360" y="1856232"/>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専門性が高まり効率的。ただし部門間連携が悪化しがちで全社視点の人材が育ちにくい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事業部制組織</a:t>
            </a:r>
            <a:endParaRPr lang="en-US" sz="1500" dirty="0"/>
          </a:p>
        </p:txBody>
      </p:sp>
      <p:sp>
        <p:nvSpPr>
          <p:cNvPr id="13" name="Text 11"/>
          <p:cNvSpPr txBox="1"/>
          <p:nvPr/>
        </p:nvSpPr>
        <p:spPr>
          <a:xfrm>
            <a:off x="2697480" y="2752344"/>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製品・地域ごと</a:t>
            </a:r>
            <a:endParaRPr lang="en-US" sz="1100" dirty="0"/>
          </a:p>
        </p:txBody>
      </p:sp>
      <p:sp>
        <p:nvSpPr>
          <p:cNvPr id="14" name="Text 12"/>
          <p:cNvSpPr txBox="1"/>
          <p:nvPr/>
        </p:nvSpPr>
        <p:spPr>
          <a:xfrm>
            <a:off x="5166360" y="2697480"/>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事業ごとの意思決定が速く経営者人材が育ちやすい。ただし機能重複でコストがかさむ</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マトリックス組織</a:t>
            </a:r>
            <a:endParaRPr lang="en-US" sz="1500" dirty="0"/>
          </a:p>
        </p:txBody>
      </p:sp>
      <p:sp>
        <p:nvSpPr>
          <p:cNvPr id="17" name="Text 15"/>
          <p:cNvSpPr txBox="1"/>
          <p:nvPr/>
        </p:nvSpPr>
        <p:spPr>
          <a:xfrm>
            <a:off x="2697480" y="3593592"/>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職能×事業の二重報告</a:t>
            </a:r>
            <a:endParaRPr lang="en-US" sz="1100" dirty="0"/>
          </a:p>
        </p:txBody>
      </p:sp>
      <p:sp>
        <p:nvSpPr>
          <p:cNvPr id="18" name="Text 16"/>
          <p:cNvSpPr txBox="1"/>
          <p:nvPr/>
        </p:nvSpPr>
        <p:spPr>
          <a:xfrm>
            <a:off x="5166360" y="3538728"/>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柔軟に人材活用できる。ただし指揮命令系統が二重化し混乱を招きやすい</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ネットワーク組織</a:t>
            </a:r>
            <a:endParaRPr lang="en-US" sz="1500" dirty="0"/>
          </a:p>
        </p:txBody>
      </p:sp>
      <p:sp>
        <p:nvSpPr>
          <p:cNvPr id="21" name="Text 19"/>
          <p:cNvSpPr txBox="1"/>
          <p:nvPr/>
        </p:nvSpPr>
        <p:spPr>
          <a:xfrm>
            <a:off x="2697480" y="4434840"/>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独立組織が緩やかに連携</a:t>
            </a:r>
            <a:endParaRPr lang="en-US" sz="1100" dirty="0"/>
          </a:p>
        </p:txBody>
      </p:sp>
      <p:sp>
        <p:nvSpPr>
          <p:cNvPr id="22" name="Text 20"/>
          <p:cNvSpPr txBox="1"/>
          <p:nvPr/>
        </p:nvSpPr>
        <p:spPr>
          <a:xfrm>
            <a:off x="5166360" y="4379976"/>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柔軟性が高い。ただし統制が効きにくい</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ひっかけ：「組織は戦略に従う」（チャンドラー）が有名だが、逆に「戦略は組織に従う」という視点もある。どちらか一方が絶対ではない。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C-17 ／ 組織文化（レベル、経営戦略との関係、変革）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「うちの会社らしいやり方」が組織文化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メンバーに共有された価値観・行動様式。統一の力にも変革の足かせにもなる。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組織文化</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組織のメンバーに共有されている価値観・行動様式。「うちの会社らしいやり方」のこと。目に見える「制度・慣習」から目に見えにくい「価値観」「基本的な前提」まで階層があるとされる（シャインの組織文化論）。</a:t>
            </a:r>
            <a:endParaRPr lang="en-US" sz="1150" dirty="0"/>
          </a:p>
        </p:txBody>
      </p:sp>
      <p:sp>
        <p:nvSpPr>
          <p:cNvPr id="9" name="Shape 7"/>
          <p:cNvSpPr/>
          <p:nvPr/>
        </p:nvSpPr>
        <p:spPr>
          <a:xfrm>
            <a:off x="502920" y="2350008"/>
            <a:ext cx="11201400" cy="457200"/>
          </a:xfrm>
          <a:prstGeom prst="rect">
            <a:avLst/>
          </a:prstGeom>
          <a:solidFill>
            <a:srgbClr val="F4F4F4"/>
          </a:solidFill>
          <a:ln/>
        </p:spPr>
      </p:sp>
      <p:sp>
        <p:nvSpPr>
          <p:cNvPr id="10" name="Shape 8"/>
          <p:cNvSpPr/>
          <p:nvPr/>
        </p:nvSpPr>
        <p:spPr>
          <a:xfrm>
            <a:off x="502920" y="2350008"/>
            <a:ext cx="0" cy="457200"/>
          </a:xfrm>
          <a:prstGeom prst="line">
            <a:avLst/>
          </a:prstGeom>
          <a:noFill/>
          <a:ln w="31750">
            <a:solidFill>
              <a:srgbClr val="171717"/>
            </a:solidFill>
            <a:prstDash val="solid"/>
          </a:ln>
        </p:spPr>
      </p:sp>
      <p:sp>
        <p:nvSpPr>
          <p:cNvPr id="11" name="Text 9"/>
          <p:cNvSpPr txBox="1"/>
          <p:nvPr/>
        </p:nvSpPr>
        <p:spPr>
          <a:xfrm>
            <a:off x="640080" y="235000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強い組織文化はメンバーの行動を統一し効率を高める一方、環境変化時に「今までのやり方」に固執させ、変革の足かせになることもある。</a:t>
            </a:r>
            <a:endParaRPr lang="en-US" sz="1050" dirty="0"/>
          </a:p>
        </p:txBody>
      </p:sp>
      <p:sp>
        <p:nvSpPr>
          <p:cNvPr id="12" name="Text 10"/>
          <p:cNvSpPr txBox="1"/>
          <p:nvPr/>
        </p:nvSpPr>
        <p:spPr>
          <a:xfrm>
            <a:off x="502920" y="289864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顧客第一主義」を掲げる会社で、社員全員がそれを当たり前として行動している状態は強い組織文化が根付いている例。ただし文化が強すぎるとデジタル化のような新しい変化への対応が遅れることもあ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関連：C-24 組織変革（強い組織文化は変革の解凍段階を難しくする要因になりうる）。</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C-18 ／ 組織における個人：意思決定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人は「最適解」でなく「満足解」で意思決定する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人間の合理性には限界がある（サイモンの限定合理性）。認知バイアスの影響も受ける。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人間は経済学が想定するような「完全に合理的な意思決定」はできない（サイモンの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限定合理性</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）。情報・時間・認知能力に限界があるため、「最適な答え」でなく「まあ満足できる答え」で打ち切る（</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満足化原理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Shape 7"/>
          <p:cNvSpPr/>
          <p:nvPr/>
        </p:nvSpPr>
        <p:spPr>
          <a:xfrm>
            <a:off x="502920" y="2441448"/>
            <a:ext cx="11201400" cy="457200"/>
          </a:xfrm>
          <a:prstGeom prst="rect">
            <a:avLst/>
          </a:prstGeom>
          <a:solidFill>
            <a:srgbClr val="F4F4F4"/>
          </a:solidFill>
          <a:ln/>
        </p:spPr>
      </p:sp>
      <p:sp>
        <p:nvSpPr>
          <p:cNvPr id="10" name="Shape 8"/>
          <p:cNvSpPr/>
          <p:nvPr/>
        </p:nvSpPr>
        <p:spPr>
          <a:xfrm>
            <a:off x="502920" y="2441448"/>
            <a:ext cx="0" cy="457200"/>
          </a:xfrm>
          <a:prstGeom prst="line">
            <a:avLst/>
          </a:prstGeom>
          <a:noFill/>
          <a:ln w="31750">
            <a:solidFill>
              <a:srgbClr val="171717"/>
            </a:solidFill>
            <a:prstDash val="solid"/>
          </a:ln>
        </p:spPr>
      </p:sp>
      <p:sp>
        <p:nvSpPr>
          <p:cNvPr id="11" name="Text 9"/>
          <p:cNvSpPr txBox="1"/>
          <p:nvPr/>
        </p:nvSpPr>
        <p:spPr>
          <a:xfrm>
            <a:off x="640080" y="244144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人間の判断は</a:t>
            </a:r>
            <a:pPr indent="0" marL="0">
              <a:lnSpc>
                <a:spcPct val="115000"/>
              </a:lnSpc>
              <a:buNone/>
            </a:pPr>
            <a:r>
              <a:rPr lang="en-US" sz="1050" b="1" dirty="0">
                <a:solidFill>
                  <a:srgbClr val="171717"/>
                </a:solidFill>
                <a:latin typeface="Yu Gothic" pitchFamily="34" charset="0"/>
                <a:ea typeface="Yu Gothic" pitchFamily="34" charset="-122"/>
                <a:cs typeface="Yu Gothic" pitchFamily="34" charset="-120"/>
              </a:rPr>
              <a:t>認知バイアス</a:t>
            </a:r>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（思考の偏り）の影響も受ける。例：一度決めたことに固執する、都合の良い情報ばかり集める、など。</a:t>
            </a:r>
            <a:endParaRPr lang="en-US" sz="1050" dirty="0"/>
          </a:p>
        </p:txBody>
      </p:sp>
      <p:sp>
        <p:nvSpPr>
          <p:cNvPr id="12" name="Text 10"/>
          <p:cNvSpPr txBox="1"/>
          <p:nvPr/>
        </p:nvSpPr>
        <p:spPr>
          <a:xfrm>
            <a:off x="502920" y="2990088"/>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新商品の企画会議で、本来は市場調査をもっと徹底すべきなのに、時間的制約から「これくらいで十分だろう」と判断してしまうのは限定合理性・満足化原理の表れ。</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関連：C-22 集団の心理（グループシンクも集団レベルの非合理な意思決定の一種）。</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組織における個人：モチベーション理論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社員のやる気を説明する4つの理論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提唱者名と理論の核心をセットで覚える。10年間ほぼ毎年出題される最頻出論点。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社員のやる気を高める要因を説明する代表理論4つ。</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マズロー</a:t>
            </a:r>
            <a:endParaRPr lang="en-US" sz="110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欲求段階説：生理的→安全→社会的→承認→自己実現の5段階。低次が満たされると次の欲求が現れる</a:t>
            </a:r>
            <a:endParaRPr lang="en-US" sz="110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ハーズバーグ</a:t>
            </a:r>
            <a:endParaRPr lang="en-US" sz="110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動機づけ・衛生理論：満足に関わる要因（達成感等）と不満足に関わる要因（給与等）は別物</a:t>
            </a:r>
            <a:endParaRPr lang="en-US" sz="1100" dirty="0"/>
          </a:p>
        </p:txBody>
      </p:sp>
      <p:sp>
        <p:nvSpPr>
          <p:cNvPr id="15" name="Text 13"/>
          <p:cNvSpPr txBox="1"/>
          <p:nvPr/>
        </p:nvSpPr>
        <p:spPr>
          <a:xfrm>
            <a:off x="502920" y="2770632"/>
            <a:ext cx="1554480" cy="30175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期待理論</a:t>
            </a:r>
            <a:endParaRPr lang="en-US" sz="110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0175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（ブルーム）モチベーション＝期待×手段性×誘意性の掛け算で決まる</a:t>
            </a:r>
            <a:endParaRPr lang="en-US" sz="1100" dirty="0"/>
          </a:p>
        </p:txBody>
      </p:sp>
      <p:sp>
        <p:nvSpPr>
          <p:cNvPr id="18" name="Text 16"/>
          <p:cNvSpPr txBox="1"/>
          <p:nvPr/>
        </p:nvSpPr>
        <p:spPr>
          <a:xfrm>
            <a:off x="502920" y="30906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目標設定理論</a:t>
            </a:r>
            <a:endParaRPr lang="en-US" sz="1100" dirty="0"/>
          </a:p>
        </p:txBody>
      </p:sp>
      <p:sp>
        <p:nvSpPr>
          <p:cNvPr id="19" name="Shape 17"/>
          <p:cNvSpPr/>
          <p:nvPr/>
        </p:nvSpPr>
        <p:spPr>
          <a:xfrm>
            <a:off x="2039112" y="3090672"/>
            <a:ext cx="0" cy="256032"/>
          </a:xfrm>
          <a:prstGeom prst="line">
            <a:avLst/>
          </a:prstGeom>
          <a:noFill/>
          <a:ln w="12700">
            <a:solidFill>
              <a:srgbClr val="E6E6E6"/>
            </a:solidFill>
            <a:prstDash val="solid"/>
          </a:ln>
        </p:spPr>
      </p:sp>
      <p:sp>
        <p:nvSpPr>
          <p:cNvPr id="20" name="Text 18"/>
          <p:cNvSpPr txBox="1"/>
          <p:nvPr/>
        </p:nvSpPr>
        <p:spPr>
          <a:xfrm>
            <a:off x="2194560" y="30906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（ロック）具体的でやや高難度な目標が、曖昧・簡単すぎる目標よりやる気を高める</a:t>
            </a:r>
            <a:endParaRPr lang="en-US" sz="1100" dirty="0"/>
          </a:p>
        </p:txBody>
      </p:sp>
      <p:sp>
        <p:nvSpPr>
          <p:cNvPr id="21" name="Text 19"/>
          <p:cNvSpPr txBox="1"/>
          <p:nvPr/>
        </p:nvSpPr>
        <p:spPr>
          <a:xfrm>
            <a:off x="502920" y="3502152"/>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ハーズバーグの動機づけ要因・衛生要因の区別が特に頻出。給与を上げても不満は減るが積極的な「やる気」は上がらない（給与は衛生要因）。</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具体例：給与を大幅に上げても意欲が変わらないのは、給与が「衛生要因」で不満防止にとどまるため。やる気には達成感等「動機づけ要因」への働きかけが必要。</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C-20 ／ リーダーシップ理論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「行動の型」と「状況対応」を区別する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PM理論はリーダーの行動の型、SL理論は部下の状況に応じたスタイル変化を説明する。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リーダーシップに関する代表理論。「行動の型」を分類する理論と「状況で変える」理論を区別する。</a:t>
            </a:r>
            <a:endParaRPr lang="en-US" sz="1150" dirty="0"/>
          </a:p>
        </p:txBody>
      </p:sp>
      <p:sp>
        <p:nvSpPr>
          <p:cNvPr id="9" name="Text 7"/>
          <p:cNvSpPr txBox="1"/>
          <p:nvPr/>
        </p:nvSpPr>
        <p:spPr>
          <a:xfrm>
            <a:off x="502920" y="2039112"/>
            <a:ext cx="192024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PM理論</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（三隅二不二）P機能（目標達成）とM機能（集団維持）の2軸。両方高い「PM型」が理想</a:t>
            </a:r>
            <a:endParaRPr lang="en-US" sz="1150" dirty="0"/>
          </a:p>
        </p:txBody>
      </p:sp>
      <p:sp>
        <p:nvSpPr>
          <p:cNvPr id="12" name="Text 10"/>
          <p:cNvSpPr txBox="1"/>
          <p:nvPr/>
        </p:nvSpPr>
        <p:spPr>
          <a:xfrm>
            <a:off x="502920" y="23134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SL理論</a:t>
            </a:r>
            <a:endParaRPr lang="en-US" sz="1150" dirty="0"/>
          </a:p>
        </p:txBody>
      </p:sp>
      <p:sp>
        <p:nvSpPr>
          <p:cNvPr id="13" name="Shape 11"/>
          <p:cNvSpPr/>
          <p:nvPr/>
        </p:nvSpPr>
        <p:spPr>
          <a:xfrm>
            <a:off x="2404872" y="2313432"/>
            <a:ext cx="0" cy="256032"/>
          </a:xfrm>
          <a:prstGeom prst="line">
            <a:avLst/>
          </a:prstGeom>
          <a:noFill/>
          <a:ln w="12700">
            <a:solidFill>
              <a:srgbClr val="E6E6E6"/>
            </a:solidFill>
            <a:prstDash val="solid"/>
          </a:ln>
        </p:spPr>
      </p:sp>
      <p:sp>
        <p:nvSpPr>
          <p:cNvPr id="14" name="Text 12"/>
          <p:cNvSpPr txBox="1"/>
          <p:nvPr/>
        </p:nvSpPr>
        <p:spPr>
          <a:xfrm>
            <a:off x="2560320" y="23134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（ハーシー＆ブランチャード）部下の成熟度に応じ指示型→説得型→参加型→委任型へスタイルを変える</a:t>
            </a:r>
            <a:endParaRPr lang="en-US" sz="1150" dirty="0"/>
          </a:p>
        </p:txBody>
      </p:sp>
      <p:sp>
        <p:nvSpPr>
          <p:cNvPr id="15" name="Text 13"/>
          <p:cNvSpPr txBox="1"/>
          <p:nvPr/>
        </p:nvSpPr>
        <p:spPr>
          <a:xfrm>
            <a:off x="502920" y="2770632"/>
            <a:ext cx="19202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変革型リーダーシップ</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内発的動機づけで大きな変革を推進（対義語：アメとムチの交換型リーダーシップ）</a:t>
            </a:r>
            <a:endParaRPr lang="en-US" sz="1150" dirty="0"/>
          </a:p>
        </p:txBody>
      </p:sp>
      <p:sp>
        <p:nvSpPr>
          <p:cNvPr id="18" name="Text 16"/>
          <p:cNvSpPr txBox="1"/>
          <p:nvPr/>
        </p:nvSpPr>
        <p:spPr>
          <a:xfrm>
            <a:off x="502920" y="32735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新入社員には具体的に指示する「指示型」、ベテランには仕事を任せる「委任型」が適切、というのがSL理論の考え方そのもの。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ひっかけ：PM理論は「行動の型」の分類、SL理論は「部下の状況に応じたスタイル変化」という違いを混同しないこと。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パワーとコンフリクト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パワーの源泉は役職だけではない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公式の権限以外にも複数のパワーの源泉があり、適度なコンフリクトは組織の活性化にもなる。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171717"/>
                </a:solidFill>
                <a:latin typeface="Yu Gothic" pitchFamily="34" charset="0"/>
                <a:ea typeface="Yu Gothic" pitchFamily="34" charset="-122"/>
                <a:cs typeface="Yu Gothic" pitchFamily="34" charset="-120"/>
              </a:rPr>
              <a:t>組織内では上下関係・部門間で「パワー（影響力）」の行使や意見対立（</a:t>
            </a:r>
            <a:pPr indent="0" marL="0">
              <a:buNone/>
            </a:pPr>
            <a:r>
              <a:rPr lang="en-US" sz="1150" b="1" dirty="0">
                <a:solidFill>
                  <a:srgbClr val="171717"/>
                </a:solidFill>
                <a:latin typeface="Yu Gothic" pitchFamily="34" charset="0"/>
                <a:ea typeface="Yu Gothic" pitchFamily="34" charset="-122"/>
                <a:cs typeface="Yu Gothic" pitchFamily="34" charset="-120"/>
              </a:rPr>
              <a:t>コンフリクト</a:t>
            </a:r>
            <a:pPr indent="0" marL="0">
              <a:buNone/>
            </a:pPr>
            <a:r>
              <a:rPr lang="en-US" sz="1150" dirty="0">
                <a:solidFill>
                  <a:srgbClr val="171717"/>
                </a:solidFill>
                <a:latin typeface="Yu Gothic" pitchFamily="34" charset="0"/>
                <a:ea typeface="Yu Gothic" pitchFamily="34" charset="-122"/>
                <a:cs typeface="Yu Gothic" pitchFamily="34" charset="-120"/>
              </a:rPr>
              <a:t>）が生じる。</a:t>
            </a:r>
            <a:endParaRPr lang="en-US" sz="1150" dirty="0"/>
          </a:p>
        </p:txBody>
      </p:sp>
      <p:sp>
        <p:nvSpPr>
          <p:cNvPr id="9" name="Text 7"/>
          <p:cNvSpPr txBox="1"/>
          <p:nvPr/>
        </p:nvSpPr>
        <p:spPr>
          <a:xfrm>
            <a:off x="502920" y="203911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公式の権限</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地位に基づくパワー</a:t>
            </a:r>
            <a:endParaRPr lang="en-US" sz="1150" dirty="0"/>
          </a:p>
        </p:txBody>
      </p:sp>
      <p:sp>
        <p:nvSpPr>
          <p:cNvPr id="12" name="Text 10"/>
          <p:cNvSpPr txBox="1"/>
          <p:nvPr/>
        </p:nvSpPr>
        <p:spPr>
          <a:xfrm>
            <a:off x="502920" y="235915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専門性パワー</a:t>
            </a:r>
            <a:endParaRPr lang="en-US" sz="1150" dirty="0"/>
          </a:p>
        </p:txBody>
      </p:sp>
      <p:sp>
        <p:nvSpPr>
          <p:cNvPr id="13" name="Shape 11"/>
          <p:cNvSpPr/>
          <p:nvPr/>
        </p:nvSpPr>
        <p:spPr>
          <a:xfrm>
            <a:off x="2039112" y="2359152"/>
            <a:ext cx="0" cy="256032"/>
          </a:xfrm>
          <a:prstGeom prst="line">
            <a:avLst/>
          </a:prstGeom>
          <a:noFill/>
          <a:ln w="12700">
            <a:solidFill>
              <a:srgbClr val="E6E6E6"/>
            </a:solidFill>
            <a:prstDash val="solid"/>
          </a:ln>
        </p:spPr>
      </p:sp>
      <p:sp>
        <p:nvSpPr>
          <p:cNvPr id="14" name="Text 12"/>
          <p:cNvSpPr txBox="1"/>
          <p:nvPr/>
        </p:nvSpPr>
        <p:spPr>
          <a:xfrm>
            <a:off x="2194560" y="235915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専門知識に基づくパワー</a:t>
            </a:r>
            <a:endParaRPr lang="en-US" sz="1150" dirty="0"/>
          </a:p>
        </p:txBody>
      </p:sp>
      <p:sp>
        <p:nvSpPr>
          <p:cNvPr id="15" name="Text 13"/>
          <p:cNvSpPr txBox="1"/>
          <p:nvPr/>
        </p:nvSpPr>
        <p:spPr>
          <a:xfrm>
            <a:off x="502920" y="267919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準拠パワー</a:t>
            </a:r>
            <a:endParaRPr lang="en-US" sz="1150" dirty="0"/>
          </a:p>
        </p:txBody>
      </p:sp>
      <p:sp>
        <p:nvSpPr>
          <p:cNvPr id="16" name="Shape 14"/>
          <p:cNvSpPr/>
          <p:nvPr/>
        </p:nvSpPr>
        <p:spPr>
          <a:xfrm>
            <a:off x="2039112" y="2679192"/>
            <a:ext cx="0" cy="256032"/>
          </a:xfrm>
          <a:prstGeom prst="line">
            <a:avLst/>
          </a:prstGeom>
          <a:noFill/>
          <a:ln w="12700">
            <a:solidFill>
              <a:srgbClr val="E6E6E6"/>
            </a:solidFill>
            <a:prstDash val="solid"/>
          </a:ln>
        </p:spPr>
      </p:sp>
      <p:sp>
        <p:nvSpPr>
          <p:cNvPr id="17" name="Text 15"/>
          <p:cNvSpPr txBox="1"/>
          <p:nvPr/>
        </p:nvSpPr>
        <p:spPr>
          <a:xfrm>
            <a:off x="2194560" y="267919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人望に基づくパワー（以上、フレンチ＆レイヴンの分類）</a:t>
            </a:r>
            <a:endParaRPr lang="en-US" sz="1150" dirty="0"/>
          </a:p>
        </p:txBody>
      </p:sp>
      <p:sp>
        <p:nvSpPr>
          <p:cNvPr id="18" name="Shape 16"/>
          <p:cNvSpPr/>
          <p:nvPr/>
        </p:nvSpPr>
        <p:spPr>
          <a:xfrm>
            <a:off x="502920" y="3044952"/>
            <a:ext cx="11201400" cy="411480"/>
          </a:xfrm>
          <a:prstGeom prst="rect">
            <a:avLst/>
          </a:prstGeom>
          <a:solidFill>
            <a:srgbClr val="F4F4F4"/>
          </a:solidFill>
          <a:ln/>
        </p:spPr>
      </p:sp>
      <p:sp>
        <p:nvSpPr>
          <p:cNvPr id="19" name="Shape 17"/>
          <p:cNvSpPr/>
          <p:nvPr/>
        </p:nvSpPr>
        <p:spPr>
          <a:xfrm>
            <a:off x="502920" y="3044952"/>
            <a:ext cx="0" cy="411480"/>
          </a:xfrm>
          <a:prstGeom prst="line">
            <a:avLst/>
          </a:prstGeom>
          <a:noFill/>
          <a:ln w="31750">
            <a:solidFill>
              <a:srgbClr val="171717"/>
            </a:solidFill>
            <a:prstDash val="solid"/>
          </a:ln>
        </p:spPr>
      </p:sp>
      <p:sp>
        <p:nvSpPr>
          <p:cNvPr id="20" name="Text 18"/>
          <p:cNvSpPr txBox="1"/>
          <p:nvPr/>
        </p:nvSpPr>
        <p:spPr>
          <a:xfrm>
            <a:off x="640080" y="3044952"/>
            <a:ext cx="10927080" cy="411480"/>
          </a:xfrm>
          <a:prstGeom prst="rect">
            <a:avLst/>
          </a:prstGeom>
          <a:noFill/>
          <a:ln/>
        </p:spPr>
        <p:txBody>
          <a:bodyPr wrap="square" lIns="0" tIns="0" rIns="0" bIns="0" rtlCol="0" anchor="ctr"/>
          <a:lstStyle/>
          <a:p>
            <a:pPr indent="0" marL="0">
              <a:lnSpc>
                <a:spcPct val="110000"/>
              </a:lnSpc>
              <a:buNone/>
            </a:pPr>
            <a:r>
              <a:rPr lang="en-US" sz="1000" dirty="0">
                <a:solidFill>
                  <a:srgbClr val="171717"/>
                </a:solidFill>
                <a:latin typeface="Yu Gothic" pitchFamily="34" charset="0"/>
                <a:ea typeface="Yu Gothic" pitchFamily="34" charset="-122"/>
                <a:cs typeface="Yu Gothic" pitchFamily="34" charset="-120"/>
              </a:rPr>
              <a:t>コンフリクトは必ずしも悪ではない。適度なコンフリクトは新しい視点をもたらし組織を活性化するが、過度だと機能不全、皆無だと停滞した組織になりがち。</a:t>
            </a:r>
            <a:endParaRPr lang="en-US" sz="1000" dirty="0"/>
          </a:p>
        </p:txBody>
      </p:sp>
      <p:sp>
        <p:nvSpPr>
          <p:cNvPr id="21" name="Text 19"/>
          <p:cNvSpPr txBox="1"/>
          <p:nvPr/>
        </p:nvSpPr>
        <p:spPr>
          <a:xfrm>
            <a:off x="502920" y="352958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新人でもその分野で誰より詳しい専門知識があれば、周囲から意見を求められる実質的な影響力（専門性パワー）を持つことがある。役職に基づく公式パワーとは別の源泉。</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関連：C-20 リーダーシップ理論（パワーの使い方とリーダーシップスタイルは密接に関連）。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C-22 ／ 集団の心理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集団は個人とは違う心理現象を起こす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グループシンク・グループシフト・心理的安全性という3つの集団心理現象を区別する。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集団で意思決定すると、個人では起きない特有の心理現象が生じることがある。</a:t>
            </a:r>
            <a:endParaRPr lang="en-US" sz="1150" dirty="0"/>
          </a:p>
        </p:txBody>
      </p:sp>
      <p:sp>
        <p:nvSpPr>
          <p:cNvPr id="9" name="Text 7"/>
          <p:cNvSpPr txBox="1"/>
          <p:nvPr/>
        </p:nvSpPr>
        <p:spPr>
          <a:xfrm>
            <a:off x="502920" y="20391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グループシンク</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団結・和を重視するあまり少数意見が出せず、不合理な結論に至る現象（集団浅慮）</a:t>
            </a:r>
            <a:endParaRPr lang="en-US" sz="1150" dirty="0"/>
          </a:p>
        </p:txBody>
      </p:sp>
      <p:sp>
        <p:nvSpPr>
          <p:cNvPr id="12" name="Text 10"/>
          <p:cNvSpPr txBox="1"/>
          <p:nvPr/>
        </p:nvSpPr>
        <p:spPr>
          <a:xfrm>
            <a:off x="502920" y="240487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グループシフト</a:t>
            </a:r>
            <a:endParaRPr lang="en-US" sz="1150" dirty="0"/>
          </a:p>
        </p:txBody>
      </p:sp>
      <p:sp>
        <p:nvSpPr>
          <p:cNvPr id="13" name="Shape 11"/>
          <p:cNvSpPr/>
          <p:nvPr/>
        </p:nvSpPr>
        <p:spPr>
          <a:xfrm>
            <a:off x="2221992" y="2404872"/>
            <a:ext cx="0" cy="256032"/>
          </a:xfrm>
          <a:prstGeom prst="line">
            <a:avLst/>
          </a:prstGeom>
          <a:noFill/>
          <a:ln w="12700">
            <a:solidFill>
              <a:srgbClr val="E6E6E6"/>
            </a:solidFill>
            <a:prstDash val="solid"/>
          </a:ln>
        </p:spPr>
      </p:sp>
      <p:sp>
        <p:nvSpPr>
          <p:cNvPr id="14" name="Text 12"/>
          <p:cNvSpPr txBox="1"/>
          <p:nvPr/>
        </p:nvSpPr>
        <p:spPr>
          <a:xfrm>
            <a:off x="2377440" y="240487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議論の結果、個人で考えるより極端な結論（リスク志向 or 慎重）に振れる現象</a:t>
            </a:r>
            <a:endParaRPr lang="en-US" sz="1150" dirty="0"/>
          </a:p>
        </p:txBody>
      </p:sp>
      <p:sp>
        <p:nvSpPr>
          <p:cNvPr id="15" name="Text 13"/>
          <p:cNvSpPr txBox="1"/>
          <p:nvPr/>
        </p:nvSpPr>
        <p:spPr>
          <a:xfrm>
            <a:off x="502920" y="277063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心理的安全性</a:t>
            </a:r>
            <a:endParaRPr lang="en-US" sz="1150" dirty="0"/>
          </a:p>
        </p:txBody>
      </p:sp>
      <p:sp>
        <p:nvSpPr>
          <p:cNvPr id="16" name="Shape 14"/>
          <p:cNvSpPr/>
          <p:nvPr/>
        </p:nvSpPr>
        <p:spPr>
          <a:xfrm>
            <a:off x="2221992" y="2770632"/>
            <a:ext cx="0" cy="256032"/>
          </a:xfrm>
          <a:prstGeom prst="line">
            <a:avLst/>
          </a:prstGeom>
          <a:noFill/>
          <a:ln w="12700">
            <a:solidFill>
              <a:srgbClr val="E6E6E6"/>
            </a:solidFill>
            <a:prstDash val="solid"/>
          </a:ln>
        </p:spPr>
      </p:sp>
      <p:sp>
        <p:nvSpPr>
          <p:cNvPr id="17" name="Text 15"/>
          <p:cNvSpPr txBox="1"/>
          <p:nvPr/>
        </p:nvSpPr>
        <p:spPr>
          <a:xfrm>
            <a:off x="2377440" y="277063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意見や懸念を安心して発言できる状態。生産性の高いチームの共通要因として注目</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会議で上司の意見に誰も異を唱えず危険な決定が承認されるのはグループシンクの典型。逆に率直に懸念を言い合える雰囲気（心理的安全性）があれば、こうした失敗を防ぎやすい。</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関連：C-18 意思決定（限定合理性・認知バイアスは個人レベル、本論点は集団レベルの非合理性）。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組織間関係：資源依存、取引コスト、クラスター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会社は他組織との関係の中で活動する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資源依存・取引コスト・産業クラスターという3つの理論で組織間関係を説明する。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会社は単独で存在せず、他の組織（取引先・競合・行政等）との関係の中で活動する。</a:t>
            </a:r>
            <a:endParaRPr lang="en-US" sz="1150" dirty="0"/>
          </a:p>
        </p:txBody>
      </p:sp>
      <p:sp>
        <p:nvSpPr>
          <p:cNvPr id="9" name="Text 7"/>
          <p:cNvSpPr txBox="1"/>
          <p:nvPr/>
        </p:nvSpPr>
        <p:spPr>
          <a:xfrm>
            <a:off x="502920" y="203911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資源依存理論</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不足する経営資源を外部に依存し、その依存関係がパワー関係を生む（強く依存する相手には強く出られない）</a:t>
            </a:r>
            <a:endParaRPr lang="en-US" sz="1150" dirty="0"/>
          </a:p>
        </p:txBody>
      </p:sp>
      <p:sp>
        <p:nvSpPr>
          <p:cNvPr id="12" name="Text 10"/>
          <p:cNvSpPr txBox="1"/>
          <p:nvPr/>
        </p:nvSpPr>
        <p:spPr>
          <a:xfrm>
            <a:off x="502920" y="24963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取引コスト理論</a:t>
            </a:r>
            <a:endParaRPr lang="en-US" sz="1150" dirty="0"/>
          </a:p>
        </p:txBody>
      </p:sp>
      <p:sp>
        <p:nvSpPr>
          <p:cNvPr id="13" name="Shape 11"/>
          <p:cNvSpPr/>
          <p:nvPr/>
        </p:nvSpPr>
        <p:spPr>
          <a:xfrm>
            <a:off x="2221992" y="2496312"/>
            <a:ext cx="0" cy="256032"/>
          </a:xfrm>
          <a:prstGeom prst="line">
            <a:avLst/>
          </a:prstGeom>
          <a:noFill/>
          <a:ln w="12700">
            <a:solidFill>
              <a:srgbClr val="E6E6E6"/>
            </a:solidFill>
            <a:prstDash val="solid"/>
          </a:ln>
        </p:spPr>
      </p:sp>
      <p:sp>
        <p:nvSpPr>
          <p:cNvPr id="14" name="Text 12"/>
          <p:cNvSpPr txBox="1"/>
          <p:nvPr/>
        </p:nvSpPr>
        <p:spPr>
          <a:xfrm>
            <a:off x="2377440" y="24963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市場で取引するか自社内で行うかは、交渉・契約・監視等の「取引コスト」を比較して決まる</a:t>
            </a:r>
            <a:endParaRPr lang="en-US" sz="1150" dirty="0"/>
          </a:p>
        </p:txBody>
      </p:sp>
      <p:sp>
        <p:nvSpPr>
          <p:cNvPr id="15" name="Text 13"/>
          <p:cNvSpPr txBox="1"/>
          <p:nvPr/>
        </p:nvSpPr>
        <p:spPr>
          <a:xfrm>
            <a:off x="502920" y="286207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産業クラスター</a:t>
            </a:r>
            <a:endParaRPr lang="en-US" sz="1150" dirty="0"/>
          </a:p>
        </p:txBody>
      </p:sp>
      <p:sp>
        <p:nvSpPr>
          <p:cNvPr id="16" name="Shape 14"/>
          <p:cNvSpPr/>
          <p:nvPr/>
        </p:nvSpPr>
        <p:spPr>
          <a:xfrm>
            <a:off x="2221992" y="2862072"/>
            <a:ext cx="0" cy="256032"/>
          </a:xfrm>
          <a:prstGeom prst="line">
            <a:avLst/>
          </a:prstGeom>
          <a:noFill/>
          <a:ln w="12700">
            <a:solidFill>
              <a:srgbClr val="E6E6E6"/>
            </a:solidFill>
            <a:prstDash val="solid"/>
          </a:ln>
        </p:spPr>
      </p:sp>
      <p:sp>
        <p:nvSpPr>
          <p:cNvPr id="17" name="Text 15"/>
          <p:cNvSpPr txBox="1"/>
          <p:nvPr/>
        </p:nvSpPr>
        <p:spPr>
          <a:xfrm>
            <a:off x="2377440" y="286207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特定地域に関連企業・大学・研究機関が集積し情報交換・イノベーションが起きやすくなる（例：シリコンバレー）</a:t>
            </a:r>
            <a:endParaRPr lang="en-US" sz="1150" dirty="0"/>
          </a:p>
        </p:txBody>
      </p:sp>
      <p:sp>
        <p:nvSpPr>
          <p:cNvPr id="18" name="Text 16"/>
          <p:cNvSpPr txBox="1"/>
          <p:nvPr/>
        </p:nvSpPr>
        <p:spPr>
          <a:xfrm>
            <a:off x="502920" y="33924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特定部品の他社との取引コスト（品質管理・納期調整の手間）が高すぎる場合、自社で内製化（垂直統合）した方が効率的、と判断されることがある（取引コスト理論）。</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垂直統合・M&amp;A・戦略的提携（取引コスト理論は垂直統合の是非を判断する理論的裏付け）。</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組織変革と組織成長</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レヴィンの3段階モデルで変革を進める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組織は創業期→成長期→成熟期とライフサイクルをたどる。変革は3段階で進める。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828800"/>
            <a:ext cx="3520440" cy="2468880"/>
          </a:xfrm>
          <a:prstGeom prst="rect">
            <a:avLst/>
          </a:prstGeom>
          <a:solidFill>
            <a:srgbClr val="F4F4F4"/>
          </a:solidFill>
          <a:ln w="12700">
            <a:solidFill>
              <a:srgbClr val="E6E6E6"/>
            </a:solidFill>
            <a:prstDash val="solid"/>
          </a:ln>
        </p:spPr>
      </p:sp>
      <p:sp>
        <p:nvSpPr>
          <p:cNvPr id="9" name="Text 7"/>
          <p:cNvSpPr txBox="1"/>
          <p:nvPr/>
        </p:nvSpPr>
        <p:spPr>
          <a:xfrm>
            <a:off x="640080" y="1828800"/>
            <a:ext cx="3246120" cy="246888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STEP 1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解凍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現状維持の意識を崩し、変化の必要性を認識させる</a:t>
            </a:r>
            <a:endParaRPr lang="en-US" sz="1000" dirty="0"/>
          </a:p>
        </p:txBody>
      </p:sp>
      <p:sp>
        <p:nvSpPr>
          <p:cNvPr id="10" name="Text 8"/>
          <p:cNvSpPr txBox="1"/>
          <p:nvPr/>
        </p:nvSpPr>
        <p:spPr>
          <a:xfrm>
            <a:off x="4023360" y="1828800"/>
            <a:ext cx="320040" cy="2468880"/>
          </a:xfrm>
          <a:prstGeom prst="rect">
            <a:avLst/>
          </a:prstGeom>
          <a:noFill/>
          <a:ln/>
        </p:spPr>
        <p:txBody>
          <a:bodyPr wrap="square" lIns="0" tIns="0" rIns="0" bIns="0" rtlCol="0" anchor="ctr"/>
          <a:lstStyle/>
          <a:p>
            <a:pPr algn="ctr" indent="0" marL="0">
              <a:buNone/>
            </a:pPr>
            <a:r>
              <a:rPr lang="en-US" sz="1800" dirty="0">
                <a:solidFill>
                  <a:srgbClr val="8A8A8A"/>
                </a:solidFill>
                <a:latin typeface="Yu Gothic" pitchFamily="34" charset="0"/>
                <a:ea typeface="Yu Gothic" pitchFamily="34" charset="-122"/>
                <a:cs typeface="Yu Gothic" pitchFamily="34" charset="-120"/>
              </a:rPr>
              <a:t>→</a:t>
            </a:r>
            <a:endParaRPr lang="en-US" sz="1800" dirty="0"/>
          </a:p>
        </p:txBody>
      </p:sp>
      <p:sp>
        <p:nvSpPr>
          <p:cNvPr id="11" name="Shape 9"/>
          <p:cNvSpPr/>
          <p:nvPr/>
        </p:nvSpPr>
        <p:spPr>
          <a:xfrm>
            <a:off x="4343400" y="1828800"/>
            <a:ext cx="3520440" cy="2468880"/>
          </a:xfrm>
          <a:prstGeom prst="rect">
            <a:avLst/>
          </a:prstGeom>
          <a:solidFill>
            <a:srgbClr val="F4F4F4"/>
          </a:solidFill>
          <a:ln w="12700">
            <a:solidFill>
              <a:srgbClr val="E6E6E6"/>
            </a:solidFill>
            <a:prstDash val="solid"/>
          </a:ln>
        </p:spPr>
      </p:sp>
      <p:sp>
        <p:nvSpPr>
          <p:cNvPr id="12" name="Text 10"/>
          <p:cNvSpPr txBox="1"/>
          <p:nvPr/>
        </p:nvSpPr>
        <p:spPr>
          <a:xfrm>
            <a:off x="4480560" y="1828800"/>
            <a:ext cx="3246120" cy="246888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STEP 2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変化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新しいやり方を実際に導入する</a:t>
            </a:r>
            <a:endParaRPr lang="en-US" sz="1000" dirty="0"/>
          </a:p>
        </p:txBody>
      </p:sp>
      <p:sp>
        <p:nvSpPr>
          <p:cNvPr id="13" name="Text 11"/>
          <p:cNvSpPr txBox="1"/>
          <p:nvPr/>
        </p:nvSpPr>
        <p:spPr>
          <a:xfrm>
            <a:off x="7863840" y="1828800"/>
            <a:ext cx="320040" cy="2468880"/>
          </a:xfrm>
          <a:prstGeom prst="rect">
            <a:avLst/>
          </a:prstGeom>
          <a:noFill/>
          <a:ln/>
        </p:spPr>
        <p:txBody>
          <a:bodyPr wrap="square" lIns="0" tIns="0" rIns="0" bIns="0" rtlCol="0" anchor="ctr"/>
          <a:lstStyle/>
          <a:p>
            <a:pPr algn="ctr" indent="0" marL="0">
              <a:buNone/>
            </a:pPr>
            <a:r>
              <a:rPr lang="en-US" sz="1800" dirty="0">
                <a:solidFill>
                  <a:srgbClr val="8A8A8A"/>
                </a:solidFill>
                <a:latin typeface="Yu Gothic" pitchFamily="34" charset="0"/>
                <a:ea typeface="Yu Gothic" pitchFamily="34" charset="-122"/>
                <a:cs typeface="Yu Gothic" pitchFamily="34" charset="-120"/>
              </a:rPr>
              <a:t>→</a:t>
            </a:r>
            <a:endParaRPr lang="en-US" sz="1800" dirty="0"/>
          </a:p>
        </p:txBody>
      </p:sp>
      <p:sp>
        <p:nvSpPr>
          <p:cNvPr id="14" name="Shape 12"/>
          <p:cNvSpPr/>
          <p:nvPr/>
        </p:nvSpPr>
        <p:spPr>
          <a:xfrm>
            <a:off x="8183880" y="1828800"/>
            <a:ext cx="3520440" cy="2468880"/>
          </a:xfrm>
          <a:prstGeom prst="rect">
            <a:avLst/>
          </a:prstGeom>
          <a:solidFill>
            <a:srgbClr val="F4F4F4"/>
          </a:solidFill>
          <a:ln w="12700">
            <a:solidFill>
              <a:srgbClr val="E6E6E6"/>
            </a:solidFill>
            <a:prstDash val="solid"/>
          </a:ln>
        </p:spPr>
      </p:sp>
      <p:sp>
        <p:nvSpPr>
          <p:cNvPr id="15" name="Text 13"/>
          <p:cNvSpPr txBox="1"/>
          <p:nvPr/>
        </p:nvSpPr>
        <p:spPr>
          <a:xfrm>
            <a:off x="8321040" y="1828800"/>
            <a:ext cx="3246120" cy="246888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STEP 3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再凍結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新しいやり方を定着させ、元に戻らないようにする</a:t>
            </a:r>
            <a:endParaRPr lang="en-US" sz="1000" dirty="0"/>
          </a:p>
        </p:txBody>
      </p:sp>
      <p:sp>
        <p:nvSpPr>
          <p:cNvPr id="16" name="Text 14"/>
          <p:cNvSpPr txBox="1"/>
          <p:nvPr/>
        </p:nvSpPr>
        <p:spPr>
          <a:xfrm>
            <a:off x="502920" y="4480560"/>
            <a:ext cx="11201400" cy="457200"/>
          </a:xfrm>
          <a:prstGeom prst="rect">
            <a:avLst/>
          </a:prstGeom>
          <a:noFill/>
          <a:ln/>
        </p:spPr>
        <p:txBody>
          <a:bodyPr wrap="square" lIns="0" tIns="0" rIns="0" bIns="0" rtlCol="0" anchor="ctr"/>
          <a:lstStyle/>
          <a:p>
            <a:pPr indent="0" marL="0">
              <a:lnSpc>
                <a:spcPct val="125000"/>
              </a:lnSpc>
              <a:buNone/>
            </a:pPr>
            <a:r>
              <a:rPr lang="en-US" sz="950" b="1" dirty="0">
                <a:solidFill>
                  <a:srgbClr val="8A8A8A"/>
                </a:solidFill>
                <a:latin typeface="Yu Gothic" pitchFamily="34" charset="0"/>
                <a:ea typeface="Yu Gothic" pitchFamily="34" charset="-122"/>
                <a:cs typeface="Yu Gothic" pitchFamily="34" charset="-120"/>
              </a:rPr>
              <a:t>レヴィンの3段階モデル。</a:t>
            </a:r>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組織のライフサイクル（創業期→成長期→成熟期→再生・衰退期）では、各段階で直面する経営課題（資金調達→仕組み化→硬直化対応）が異なる。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具体例：新システム導入時、いきなり入れ替えず「今のままではまずい」と危機感を共有し（解凍）、試験導入し（変化）、新業務フローとして定着させる（再凍結）と成功しやすい。</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C-25 ／ 人的資源管理：労働関連法規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押さえるべき7つの労働関連法規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法律名と規制内容を正確に対応させる。適用対象・義務か努力義務かの違いに注意。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労働基準法</a:t>
            </a:r>
            <a:endParaRPr lang="en-US" sz="1500" dirty="0"/>
          </a:p>
        </p:txBody>
      </p:sp>
      <p:sp>
        <p:nvSpPr>
          <p:cNvPr id="9" name="Text 7"/>
          <p:cNvSpPr txBox="1"/>
          <p:nvPr/>
        </p:nvSpPr>
        <p:spPr>
          <a:xfrm>
            <a:off x="3611880" y="185623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労働時間・休憩・休日・賃金支払いなど労働条件の最低基準</a:t>
            </a:r>
            <a:endParaRPr lang="en-US" sz="1100" dirty="0"/>
          </a:p>
        </p:txBody>
      </p:sp>
      <p:sp>
        <p:nvSpPr>
          <p:cNvPr id="10" name="Shape 8"/>
          <p:cNvSpPr/>
          <p:nvPr/>
        </p:nvSpPr>
        <p:spPr>
          <a:xfrm>
            <a:off x="502920" y="2331720"/>
            <a:ext cx="11201400" cy="0"/>
          </a:xfrm>
          <a:prstGeom prst="line">
            <a:avLst/>
          </a:prstGeom>
          <a:noFill/>
          <a:ln w="12700">
            <a:solidFill>
              <a:srgbClr val="E6E6E6"/>
            </a:solidFill>
            <a:prstDash val="solid"/>
          </a:ln>
        </p:spPr>
      </p:sp>
      <p:sp>
        <p:nvSpPr>
          <p:cNvPr id="11" name="Text 9"/>
          <p:cNvSpPr txBox="1"/>
          <p:nvPr/>
        </p:nvSpPr>
        <p:spPr>
          <a:xfrm>
            <a:off x="502920" y="24414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労働契約法</a:t>
            </a:r>
            <a:endParaRPr lang="en-US" sz="1500" dirty="0"/>
          </a:p>
        </p:txBody>
      </p:sp>
      <p:sp>
        <p:nvSpPr>
          <p:cNvPr id="12" name="Text 10"/>
          <p:cNvSpPr txBox="1"/>
          <p:nvPr/>
        </p:nvSpPr>
        <p:spPr>
          <a:xfrm>
            <a:off x="3611880" y="240487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労働契約の締結・変更・終了に関するルール</a:t>
            </a:r>
            <a:endParaRPr lang="en-US" sz="1100" dirty="0"/>
          </a:p>
        </p:txBody>
      </p:sp>
      <p:sp>
        <p:nvSpPr>
          <p:cNvPr id="13" name="Shape 11"/>
          <p:cNvSpPr/>
          <p:nvPr/>
        </p:nvSpPr>
        <p:spPr>
          <a:xfrm>
            <a:off x="502920" y="2880360"/>
            <a:ext cx="11201400" cy="0"/>
          </a:xfrm>
          <a:prstGeom prst="line">
            <a:avLst/>
          </a:prstGeom>
          <a:noFill/>
          <a:ln w="12700">
            <a:solidFill>
              <a:srgbClr val="E6E6E6"/>
            </a:solidFill>
            <a:prstDash val="solid"/>
          </a:ln>
        </p:spPr>
      </p:sp>
      <p:sp>
        <p:nvSpPr>
          <p:cNvPr id="14" name="Text 12"/>
          <p:cNvSpPr txBox="1"/>
          <p:nvPr/>
        </p:nvSpPr>
        <p:spPr>
          <a:xfrm>
            <a:off x="502920" y="299008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男女雇用機会均等法</a:t>
            </a:r>
            <a:endParaRPr lang="en-US" sz="1500" dirty="0"/>
          </a:p>
        </p:txBody>
      </p:sp>
      <p:sp>
        <p:nvSpPr>
          <p:cNvPr id="15" name="Text 13"/>
          <p:cNvSpPr txBox="1"/>
          <p:nvPr/>
        </p:nvSpPr>
        <p:spPr>
          <a:xfrm>
            <a:off x="3611880" y="295351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性別を理由とする差別的取扱いの禁止</a:t>
            </a:r>
            <a:endParaRPr lang="en-US" sz="1100" dirty="0"/>
          </a:p>
        </p:txBody>
      </p:sp>
      <p:sp>
        <p:nvSpPr>
          <p:cNvPr id="16" name="Shape 14"/>
          <p:cNvSpPr/>
          <p:nvPr/>
        </p:nvSpPr>
        <p:spPr>
          <a:xfrm>
            <a:off x="502920" y="3429000"/>
            <a:ext cx="11201400" cy="0"/>
          </a:xfrm>
          <a:prstGeom prst="line">
            <a:avLst/>
          </a:prstGeom>
          <a:noFill/>
          <a:ln w="12700">
            <a:solidFill>
              <a:srgbClr val="E6E6E6"/>
            </a:solidFill>
            <a:prstDash val="solid"/>
          </a:ln>
        </p:spPr>
      </p:sp>
      <p:sp>
        <p:nvSpPr>
          <p:cNvPr id="17" name="Text 15"/>
          <p:cNvSpPr txBox="1"/>
          <p:nvPr/>
        </p:nvSpPr>
        <p:spPr>
          <a:xfrm>
            <a:off x="502920" y="353872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育児・介護休業法</a:t>
            </a:r>
            <a:endParaRPr lang="en-US" sz="1500" dirty="0"/>
          </a:p>
        </p:txBody>
      </p:sp>
      <p:sp>
        <p:nvSpPr>
          <p:cNvPr id="18" name="Text 16"/>
          <p:cNvSpPr txBox="1"/>
          <p:nvPr/>
        </p:nvSpPr>
        <p:spPr>
          <a:xfrm>
            <a:off x="3611880" y="350215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育児・介護のための休業制度</a:t>
            </a:r>
            <a:endParaRPr lang="en-US" sz="1100" dirty="0"/>
          </a:p>
        </p:txBody>
      </p:sp>
      <p:sp>
        <p:nvSpPr>
          <p:cNvPr id="19" name="Shape 17"/>
          <p:cNvSpPr/>
          <p:nvPr/>
        </p:nvSpPr>
        <p:spPr>
          <a:xfrm>
            <a:off x="502920" y="3977640"/>
            <a:ext cx="11201400" cy="0"/>
          </a:xfrm>
          <a:prstGeom prst="line">
            <a:avLst/>
          </a:prstGeom>
          <a:noFill/>
          <a:ln w="12700">
            <a:solidFill>
              <a:srgbClr val="E6E6E6"/>
            </a:solidFill>
            <a:prstDash val="solid"/>
          </a:ln>
        </p:spPr>
      </p:sp>
      <p:sp>
        <p:nvSpPr>
          <p:cNvPr id="20" name="Text 18"/>
          <p:cNvSpPr txBox="1"/>
          <p:nvPr/>
        </p:nvSpPr>
        <p:spPr>
          <a:xfrm>
            <a:off x="502920" y="408736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パート・有期雇用労働法</a:t>
            </a:r>
            <a:endParaRPr lang="en-US" sz="1500" dirty="0"/>
          </a:p>
        </p:txBody>
      </p:sp>
      <p:sp>
        <p:nvSpPr>
          <p:cNvPr id="21" name="Text 19"/>
          <p:cNvSpPr txBox="1"/>
          <p:nvPr/>
        </p:nvSpPr>
        <p:spPr>
          <a:xfrm>
            <a:off x="3611880" y="405079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正社員と非正規社員との不合理な待遇差の禁止（同一労働同一賃金）</a:t>
            </a:r>
            <a:endParaRPr lang="en-US" sz="1100" dirty="0"/>
          </a:p>
        </p:txBody>
      </p:sp>
      <p:sp>
        <p:nvSpPr>
          <p:cNvPr id="22" name="Shape 20"/>
          <p:cNvSpPr/>
          <p:nvPr/>
        </p:nvSpPr>
        <p:spPr>
          <a:xfrm>
            <a:off x="502920" y="4526280"/>
            <a:ext cx="11201400" cy="0"/>
          </a:xfrm>
          <a:prstGeom prst="line">
            <a:avLst/>
          </a:prstGeom>
          <a:noFill/>
          <a:ln w="12700">
            <a:solidFill>
              <a:srgbClr val="E6E6E6"/>
            </a:solidFill>
            <a:prstDash val="solid"/>
          </a:ln>
        </p:spPr>
      </p:sp>
      <p:sp>
        <p:nvSpPr>
          <p:cNvPr id="23" name="Text 21"/>
          <p:cNvSpPr txBox="1"/>
          <p:nvPr/>
        </p:nvSpPr>
        <p:spPr>
          <a:xfrm>
            <a:off x="502920" y="46360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労働安全衛生法</a:t>
            </a:r>
            <a:endParaRPr lang="en-US" sz="1500" dirty="0"/>
          </a:p>
        </p:txBody>
      </p:sp>
      <p:sp>
        <p:nvSpPr>
          <p:cNvPr id="24" name="Text 22"/>
          <p:cNvSpPr txBox="1"/>
          <p:nvPr/>
        </p:nvSpPr>
        <p:spPr>
          <a:xfrm>
            <a:off x="3611880" y="459943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労働者の安全と健康の確保</a:t>
            </a:r>
            <a:endParaRPr lang="en-US" sz="1100" dirty="0"/>
          </a:p>
        </p:txBody>
      </p:sp>
      <p:sp>
        <p:nvSpPr>
          <p:cNvPr id="25" name="Shape 23"/>
          <p:cNvSpPr/>
          <p:nvPr/>
        </p:nvSpPr>
        <p:spPr>
          <a:xfrm>
            <a:off x="502920" y="5074920"/>
            <a:ext cx="11201400" cy="0"/>
          </a:xfrm>
          <a:prstGeom prst="line">
            <a:avLst/>
          </a:prstGeom>
          <a:noFill/>
          <a:ln w="12700">
            <a:solidFill>
              <a:srgbClr val="E6E6E6"/>
            </a:solidFill>
            <a:prstDash val="solid"/>
          </a:ln>
        </p:spPr>
      </p:sp>
      <p:sp>
        <p:nvSpPr>
          <p:cNvPr id="26" name="Text 24"/>
          <p:cNvSpPr txBox="1"/>
          <p:nvPr/>
        </p:nvSpPr>
        <p:spPr>
          <a:xfrm>
            <a:off x="502920" y="51846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労働者派遣法</a:t>
            </a:r>
            <a:endParaRPr lang="en-US" sz="1500" dirty="0"/>
          </a:p>
        </p:txBody>
      </p:sp>
      <p:sp>
        <p:nvSpPr>
          <p:cNvPr id="27" name="Text 25"/>
          <p:cNvSpPr txBox="1"/>
          <p:nvPr/>
        </p:nvSpPr>
        <p:spPr>
          <a:xfrm>
            <a:off x="3611880" y="5148072"/>
            <a:ext cx="80924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派遣労働者の保護、派遣期間の制限など</a:t>
            </a:r>
            <a:endParaRPr lang="en-US" sz="11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具体例：正社員と契約社員とで基本給・賞与に不合理な差をつけるのは、パート・有期雇用労働法（同一労働同一賃金）に抵触するおそれがある。</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C-26 ／ 人的資源管理：雇用管理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ジョブローテーションでゼネラリストを育てる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日本企業に特徴的な定期的な人事異動の仕組みと、その狙いを理解する。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人材をどう採用し配置するかという管理分野。日本企業に特徴的な仕組みが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ジョブローテーション</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（定期的な人事異動）。</a:t>
            </a:r>
            <a:endParaRPr lang="en-US" sz="1150" dirty="0"/>
          </a:p>
        </p:txBody>
      </p:sp>
      <p:sp>
        <p:nvSpPr>
          <p:cNvPr id="9" name="Shape 7"/>
          <p:cNvSpPr/>
          <p:nvPr/>
        </p:nvSpPr>
        <p:spPr>
          <a:xfrm>
            <a:off x="502920" y="2130552"/>
            <a:ext cx="11201400" cy="594360"/>
          </a:xfrm>
          <a:prstGeom prst="rect">
            <a:avLst/>
          </a:prstGeom>
          <a:solidFill>
            <a:srgbClr val="F4F4F4"/>
          </a:solidFill>
          <a:ln/>
        </p:spPr>
      </p:sp>
      <p:sp>
        <p:nvSpPr>
          <p:cNvPr id="10" name="Shape 8"/>
          <p:cNvSpPr/>
          <p:nvPr/>
        </p:nvSpPr>
        <p:spPr>
          <a:xfrm>
            <a:off x="502920" y="2130552"/>
            <a:ext cx="0" cy="594360"/>
          </a:xfrm>
          <a:prstGeom prst="line">
            <a:avLst/>
          </a:prstGeom>
          <a:noFill/>
          <a:ln w="31750">
            <a:solidFill>
              <a:srgbClr val="171717"/>
            </a:solidFill>
            <a:prstDash val="solid"/>
          </a:ln>
        </p:spPr>
      </p:sp>
      <p:sp>
        <p:nvSpPr>
          <p:cNvPr id="11" name="Text 9"/>
          <p:cNvSpPr txBox="1"/>
          <p:nvPr/>
        </p:nvSpPr>
        <p:spPr>
          <a:xfrm>
            <a:off x="640080" y="2130552"/>
            <a:ext cx="10927080" cy="594360"/>
          </a:xfrm>
          <a:prstGeom prst="rect">
            <a:avLst/>
          </a:prstGeom>
          <a:noFill/>
          <a:ln/>
        </p:spPr>
        <p:txBody>
          <a:bodyPr wrap="square" lIns="0" tIns="0" rIns="0" bIns="0" rtlCol="0" anchor="ctr"/>
          <a:lstStyle/>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特定の職務を限定せず様々な部署を経験させ、会社全体を理解した</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ゼネラリスト</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を育成する狙いがある。対比されるのが欧米型の「ジョブ型雇用」（特定の職務・スキルを明確に定義して採用）。</a:t>
            </a:r>
            <a:endParaRPr lang="en-US" sz="1050" dirty="0"/>
          </a:p>
        </p:txBody>
      </p:sp>
      <p:sp>
        <p:nvSpPr>
          <p:cNvPr id="12" name="Text 10"/>
          <p:cNvSpPr txBox="1"/>
          <p:nvPr/>
        </p:nvSpPr>
        <p:spPr>
          <a:xfrm>
            <a:off x="502920" y="27980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入社した社員を営業部・経理部・製造部と数年おきに異動させ、幅広い業務知識を身につけさせるのは、日本型雇用に特徴的なジョブローテーションの一例。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戦略的人的資源管理（採用・配置方針も経営戦略と整合させるべきという発想）。</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C-27 ／ 人的資源管理：評価・処遇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3つの賃金体系とハロー効果に注意する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年功給・職務給・職能給の違いと、人事評価をゆがめるハロー効果を理解する。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社員の働きをどう評価し賃金に反映するか。代表的な賃金体系は3つ。</a:t>
            </a:r>
            <a:endParaRPr lang="en-US" sz="1150" dirty="0"/>
          </a:p>
        </p:txBody>
      </p:sp>
      <p:sp>
        <p:nvSpPr>
          <p:cNvPr id="9" name="Text 7"/>
          <p:cNvSpPr txBox="1"/>
          <p:nvPr/>
        </p:nvSpPr>
        <p:spPr>
          <a:xfrm>
            <a:off x="502920" y="203911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年功給</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勤続年数・年齢に応じて賃金が上がる</a:t>
            </a:r>
            <a:endParaRPr lang="en-US" sz="1150" dirty="0"/>
          </a:p>
        </p:txBody>
      </p:sp>
      <p:sp>
        <p:nvSpPr>
          <p:cNvPr id="12" name="Text 10"/>
          <p:cNvSpPr txBox="1"/>
          <p:nvPr/>
        </p:nvSpPr>
        <p:spPr>
          <a:xfrm>
            <a:off x="502920" y="235915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職務給</a:t>
            </a:r>
            <a:endParaRPr lang="en-US" sz="1150" dirty="0"/>
          </a:p>
        </p:txBody>
      </p:sp>
      <p:sp>
        <p:nvSpPr>
          <p:cNvPr id="13" name="Shape 11"/>
          <p:cNvSpPr/>
          <p:nvPr/>
        </p:nvSpPr>
        <p:spPr>
          <a:xfrm>
            <a:off x="1764792" y="2359152"/>
            <a:ext cx="0" cy="256032"/>
          </a:xfrm>
          <a:prstGeom prst="line">
            <a:avLst/>
          </a:prstGeom>
          <a:noFill/>
          <a:ln w="12700">
            <a:solidFill>
              <a:srgbClr val="E6E6E6"/>
            </a:solidFill>
            <a:prstDash val="solid"/>
          </a:ln>
        </p:spPr>
      </p:sp>
      <p:sp>
        <p:nvSpPr>
          <p:cNvPr id="14" name="Text 12"/>
          <p:cNvSpPr txBox="1"/>
          <p:nvPr/>
        </p:nvSpPr>
        <p:spPr>
          <a:xfrm>
            <a:off x="1920240" y="235915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職務の難易度・責任に応じて賃金を決める</a:t>
            </a:r>
            <a:endParaRPr lang="en-US" sz="1150" dirty="0"/>
          </a:p>
        </p:txBody>
      </p:sp>
      <p:sp>
        <p:nvSpPr>
          <p:cNvPr id="15" name="Text 13"/>
          <p:cNvSpPr txBox="1"/>
          <p:nvPr/>
        </p:nvSpPr>
        <p:spPr>
          <a:xfrm>
            <a:off x="502920" y="267919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職能給</a:t>
            </a:r>
            <a:endParaRPr lang="en-US" sz="1150" dirty="0"/>
          </a:p>
        </p:txBody>
      </p:sp>
      <p:sp>
        <p:nvSpPr>
          <p:cNvPr id="16" name="Shape 14"/>
          <p:cNvSpPr/>
          <p:nvPr/>
        </p:nvSpPr>
        <p:spPr>
          <a:xfrm>
            <a:off x="1764792" y="2679192"/>
            <a:ext cx="0" cy="256032"/>
          </a:xfrm>
          <a:prstGeom prst="line">
            <a:avLst/>
          </a:prstGeom>
          <a:noFill/>
          <a:ln w="12700">
            <a:solidFill>
              <a:srgbClr val="E6E6E6"/>
            </a:solidFill>
            <a:prstDash val="solid"/>
          </a:ln>
        </p:spPr>
      </p:sp>
      <p:sp>
        <p:nvSpPr>
          <p:cNvPr id="17" name="Text 15"/>
          <p:cNvSpPr txBox="1"/>
          <p:nvPr/>
        </p:nvSpPr>
        <p:spPr>
          <a:xfrm>
            <a:off x="1920240" y="267919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個人の持つ能力（職能）に応じて賃金を決める</a:t>
            </a:r>
            <a:endParaRPr lang="en-US" sz="1150" dirty="0"/>
          </a:p>
        </p:txBody>
      </p:sp>
      <p:sp>
        <p:nvSpPr>
          <p:cNvPr id="18" name="Text 16"/>
          <p:cNvSpPr txBox="1"/>
          <p:nvPr/>
        </p:nvSpPr>
        <p:spPr>
          <a:xfrm>
            <a:off x="502920" y="3072384"/>
            <a:ext cx="1120140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日本企業は伝統的に年功給・職能給中心だが、近年は成果や職務を重視する動きも進む。人事評価では評価者の主観による歪み（</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ハロー効果</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：1つの優れた点に引きずられ全体を過大評価）にも注意。</a:t>
            </a:r>
            <a:endParaRPr lang="en-US" sz="950" dirty="0"/>
          </a:p>
        </p:txBody>
      </p:sp>
      <p:sp>
        <p:nvSpPr>
          <p:cNvPr id="19" name="Text 17"/>
          <p:cNvSpPr txBox="1"/>
          <p:nvPr/>
        </p:nvSpPr>
        <p:spPr>
          <a:xfrm>
            <a:off x="502920" y="36484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「彼は有名大学出身だから仕事もできるはずだ」という先入観で高評価をつけるのはハロー効果の典型例で、公正な人事評価を妨げる。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戦略的人的資源管理（評価制度も経営戦略のタイプと整合させるべき）。</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C-28 ／ 人的資源管理：人材育成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OJT・Off-JT・メンタリングの3手法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実務を通じて学ぶか、業務を離れて学ぶか、先輩が継続支援するかで手法が変わる。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人材育成の代表的な3手法。</a:t>
            </a:r>
            <a:endParaRPr lang="en-US" sz="1150" dirty="0"/>
          </a:p>
        </p:txBody>
      </p:sp>
      <p:sp>
        <p:nvSpPr>
          <p:cNvPr id="9" name="Text 7"/>
          <p:cNvSpPr txBox="1"/>
          <p:nvPr/>
        </p:nvSpPr>
        <p:spPr>
          <a:xfrm>
            <a:off x="502920" y="203911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OJT</a:t>
            </a:r>
            <a:endParaRPr lang="en-US" sz="1150" dirty="0"/>
          </a:p>
        </p:txBody>
      </p:sp>
      <p:sp>
        <p:nvSpPr>
          <p:cNvPr id="10" name="Shape 8"/>
          <p:cNvSpPr/>
          <p:nvPr/>
        </p:nvSpPr>
        <p:spPr>
          <a:xfrm>
            <a:off x="1947672" y="2039112"/>
            <a:ext cx="0" cy="256032"/>
          </a:xfrm>
          <a:prstGeom prst="line">
            <a:avLst/>
          </a:prstGeom>
          <a:noFill/>
          <a:ln w="12700">
            <a:solidFill>
              <a:srgbClr val="E6E6E6"/>
            </a:solidFill>
            <a:prstDash val="solid"/>
          </a:ln>
        </p:spPr>
      </p:sp>
      <p:sp>
        <p:nvSpPr>
          <p:cNvPr id="11" name="Text 9"/>
          <p:cNvSpPr txBox="1"/>
          <p:nvPr/>
        </p:nvSpPr>
        <p:spPr>
          <a:xfrm>
            <a:off x="2103120" y="203911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On the Job Training。実際の仕事を通じて学ぶ</a:t>
            </a:r>
            <a:endParaRPr lang="en-US" sz="1150" dirty="0"/>
          </a:p>
        </p:txBody>
      </p:sp>
      <p:sp>
        <p:nvSpPr>
          <p:cNvPr id="12" name="Text 10"/>
          <p:cNvSpPr txBox="1"/>
          <p:nvPr/>
        </p:nvSpPr>
        <p:spPr>
          <a:xfrm>
            <a:off x="502920" y="235915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Off-JT</a:t>
            </a:r>
            <a:endParaRPr lang="en-US" sz="1150" dirty="0"/>
          </a:p>
        </p:txBody>
      </p:sp>
      <p:sp>
        <p:nvSpPr>
          <p:cNvPr id="13" name="Shape 11"/>
          <p:cNvSpPr/>
          <p:nvPr/>
        </p:nvSpPr>
        <p:spPr>
          <a:xfrm>
            <a:off x="1947672" y="2359152"/>
            <a:ext cx="0" cy="256032"/>
          </a:xfrm>
          <a:prstGeom prst="line">
            <a:avLst/>
          </a:prstGeom>
          <a:noFill/>
          <a:ln w="12700">
            <a:solidFill>
              <a:srgbClr val="E6E6E6"/>
            </a:solidFill>
            <a:prstDash val="solid"/>
          </a:ln>
        </p:spPr>
      </p:sp>
      <p:sp>
        <p:nvSpPr>
          <p:cNvPr id="14" name="Text 12"/>
          <p:cNvSpPr txBox="1"/>
          <p:nvPr/>
        </p:nvSpPr>
        <p:spPr>
          <a:xfrm>
            <a:off x="2103120" y="235915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Off the Job Training。業務を離れて研修などで学ぶ</a:t>
            </a:r>
            <a:endParaRPr lang="en-US" sz="1150" dirty="0"/>
          </a:p>
        </p:txBody>
      </p:sp>
      <p:sp>
        <p:nvSpPr>
          <p:cNvPr id="15" name="Text 13"/>
          <p:cNvSpPr txBox="1"/>
          <p:nvPr/>
        </p:nvSpPr>
        <p:spPr>
          <a:xfrm>
            <a:off x="502920" y="267919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メンタリング</a:t>
            </a:r>
            <a:endParaRPr lang="en-US" sz="1150" dirty="0"/>
          </a:p>
        </p:txBody>
      </p:sp>
      <p:sp>
        <p:nvSpPr>
          <p:cNvPr id="16" name="Shape 14"/>
          <p:cNvSpPr/>
          <p:nvPr/>
        </p:nvSpPr>
        <p:spPr>
          <a:xfrm>
            <a:off x="1947672" y="2679192"/>
            <a:ext cx="0" cy="256032"/>
          </a:xfrm>
          <a:prstGeom prst="line">
            <a:avLst/>
          </a:prstGeom>
          <a:noFill/>
          <a:ln w="12700">
            <a:solidFill>
              <a:srgbClr val="E6E6E6"/>
            </a:solidFill>
            <a:prstDash val="solid"/>
          </a:ln>
        </p:spPr>
      </p:sp>
      <p:sp>
        <p:nvSpPr>
          <p:cNvPr id="17" name="Text 15"/>
          <p:cNvSpPr txBox="1"/>
          <p:nvPr/>
        </p:nvSpPr>
        <p:spPr>
          <a:xfrm>
            <a:off x="2103120" y="267919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経験豊富な先輩社員が若手を継続的に支援する</a:t>
            </a:r>
            <a:endParaRPr lang="en-US" sz="1150" dirty="0"/>
          </a:p>
        </p:txBody>
      </p:sp>
      <p:sp>
        <p:nvSpPr>
          <p:cNvPr id="18" name="Text 16"/>
          <p:cNvSpPr txBox="1"/>
          <p:nvPr/>
        </p:nvSpPr>
        <p:spPr>
          <a:xfrm>
            <a:off x="502920" y="30906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新人が先輩社員に同行して営業の実務を学ぶのはOJT、外部の研修会社が実施する集合研修に参加するのはOff-JT。</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関連：C-26 雇用管理（ジョブローテーションもOJTの一形態と捉えられる）。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C-29 ／ 人的資源管理：戦略的人的資源管理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人事施策を経営戦略と一貫させる（SHRM）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採用・評価・育成・報酬を場当たり的でなく、経営戦略と整合させて設計する考え方。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戦略的人的資源管理（SHRM）</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：人事施策（採用・評価・育成・報酬等）を、会社全体の経営戦略と一貫性を持たせて設計する考え方。「どんな戦略を取るかで、必要な人材像・評価基準・育成方針も変わるべき」という発想。</a:t>
            </a:r>
            <a:endParaRPr lang="en-US" sz="1150" dirty="0"/>
          </a:p>
        </p:txBody>
      </p:sp>
      <p:sp>
        <p:nvSpPr>
          <p:cNvPr id="9" name="Text 7"/>
          <p:cNvSpPr txBox="1"/>
          <p:nvPr/>
        </p:nvSpPr>
        <p:spPr>
          <a:xfrm>
            <a:off x="502920" y="246888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コストリーダーシップ戦略（C-7参照）の会社では効率性・生産性重視の評価制度が合理的だが、差別化戦略の会社では創造性・イノベーションを促す評価制度の方が戦略と整合的。</a:t>
            </a:r>
            <a:endParaRPr lang="en-US" sz="850" dirty="0"/>
          </a:p>
        </p:txBody>
      </p:sp>
      <p:sp>
        <p:nvSpPr>
          <p:cNvPr id="10" name="Shape 8"/>
          <p:cNvSpPr/>
          <p:nvPr/>
        </p:nvSpPr>
        <p:spPr>
          <a:xfrm>
            <a:off x="502920" y="5989320"/>
            <a:ext cx="11201400" cy="0"/>
          </a:xfrm>
          <a:prstGeom prst="line">
            <a:avLst/>
          </a:prstGeom>
          <a:noFill/>
          <a:ln w="9525">
            <a:solidFill>
              <a:srgbClr val="171717"/>
            </a:solidFill>
            <a:prstDash val="solid"/>
          </a:ln>
        </p:spPr>
      </p:sp>
      <p:sp>
        <p:nvSpPr>
          <p:cNvPr id="11" name="Shape 9"/>
          <p:cNvSpPr/>
          <p:nvPr/>
        </p:nvSpPr>
        <p:spPr>
          <a:xfrm>
            <a:off x="502920" y="6062472"/>
            <a:ext cx="329184" cy="329184"/>
          </a:xfrm>
          <a:prstGeom prst="ellipse">
            <a:avLst/>
          </a:prstGeom>
          <a:solidFill>
            <a:srgbClr val="FF3B1F"/>
          </a:solidFill>
          <a:ln/>
        </p:spPr>
      </p:sp>
      <p:sp>
        <p:nvSpPr>
          <p:cNvPr id="12" name="Text 1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3" name="Text 1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14" name="Shape 12"/>
          <p:cNvSpPr/>
          <p:nvPr/>
        </p:nvSpPr>
        <p:spPr>
          <a:xfrm>
            <a:off x="2331720" y="6062472"/>
            <a:ext cx="0" cy="329184"/>
          </a:xfrm>
          <a:prstGeom prst="line">
            <a:avLst/>
          </a:prstGeom>
          <a:noFill/>
          <a:ln w="12700">
            <a:solidFill>
              <a:srgbClr val="E6E6E6"/>
            </a:solidFill>
            <a:prstDash val="solid"/>
          </a:ln>
        </p:spPr>
      </p:sp>
      <p:sp>
        <p:nvSpPr>
          <p:cNvPr id="15" name="Text 1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競争優位の戦略（採用すべき人事施策は戦略のタイプによって変わる）。出題頻度は低いが基本概念として押さえておく。</a:t>
            </a:r>
            <a:endParaRPr lang="en-US" sz="1000" dirty="0"/>
          </a:p>
        </p:txBody>
      </p:sp>
      <p:sp>
        <p:nvSpPr>
          <p:cNvPr id="16" name="Text 1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7" name="Shape 15"/>
          <p:cNvSpPr/>
          <p:nvPr/>
        </p:nvSpPr>
        <p:spPr>
          <a:xfrm>
            <a:off x="2466594" y="6464808"/>
            <a:ext cx="146304" cy="146304"/>
          </a:xfrm>
          <a:prstGeom prst="ellipse">
            <a:avLst/>
          </a:prstGeom>
          <a:solidFill>
            <a:srgbClr val="FF3B1F"/>
          </a:solidFill>
          <a:ln w="12700">
            <a:solidFill>
              <a:srgbClr val="FF3B1F"/>
            </a:solidFill>
            <a:prstDash val="solid"/>
          </a:ln>
        </p:spPr>
      </p:sp>
      <p:sp>
        <p:nvSpPr>
          <p:cNvPr id="18" name="Text 1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19" name="Shape 17"/>
          <p:cNvSpPr/>
          <p:nvPr/>
        </p:nvSpPr>
        <p:spPr>
          <a:xfrm>
            <a:off x="3431286" y="6464808"/>
            <a:ext cx="146304" cy="146304"/>
          </a:xfrm>
          <a:prstGeom prst="ellipse">
            <a:avLst/>
          </a:prstGeom>
          <a:solidFill>
            <a:srgbClr val="FFFFFF"/>
          </a:solidFill>
          <a:ln w="12700">
            <a:solidFill>
              <a:srgbClr val="E6E6E6"/>
            </a:solidFill>
            <a:prstDash val="solid"/>
          </a:ln>
        </p:spPr>
      </p:sp>
      <p:sp>
        <p:nvSpPr>
          <p:cNvPr id="20" name="Text 1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1" name="Shape 19"/>
          <p:cNvSpPr/>
          <p:nvPr/>
        </p:nvSpPr>
        <p:spPr>
          <a:xfrm>
            <a:off x="4395978"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3" name="Shape 21"/>
          <p:cNvSpPr/>
          <p:nvPr/>
        </p:nvSpPr>
        <p:spPr>
          <a:xfrm>
            <a:off x="5360670"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5" name="Shape 23"/>
          <p:cNvSpPr/>
          <p:nvPr/>
        </p:nvSpPr>
        <p:spPr>
          <a:xfrm>
            <a:off x="6325362"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7" name="Shape 25"/>
          <p:cNvSpPr/>
          <p:nvPr/>
        </p:nvSpPr>
        <p:spPr>
          <a:xfrm>
            <a:off x="729005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29" name="Shape 27"/>
          <p:cNvSpPr/>
          <p:nvPr/>
        </p:nvSpPr>
        <p:spPr>
          <a:xfrm>
            <a:off x="825474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1" name="Shape 29"/>
          <p:cNvSpPr/>
          <p:nvPr/>
        </p:nvSpPr>
        <p:spPr>
          <a:xfrm>
            <a:off x="921943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3" name="Shape 31"/>
          <p:cNvSpPr/>
          <p:nvPr/>
        </p:nvSpPr>
        <p:spPr>
          <a:xfrm>
            <a:off x="1018413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5" name="Shape 33"/>
          <p:cNvSpPr/>
          <p:nvPr/>
        </p:nvSpPr>
        <p:spPr>
          <a:xfrm>
            <a:off x="1114882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企業経営理論 ／ C-30〜C-42</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マーケティング論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「誰に」「何を」「どう」届けるかを設計する分野。STP・4Pという基本フレームワークに、CRM・デジタル・ブランディングなど現代的なテーマが加わる、最頻出（A）論点が並ぶ分野。</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C-31 STP・4P</a:t>
            </a:r>
            <a:endParaRPr lang="en-US" sz="1000" dirty="0"/>
          </a:p>
        </p:txBody>
      </p:sp>
      <p:sp>
        <p:nvSpPr>
          <p:cNvPr id="8" name="Shape 6"/>
          <p:cNvSpPr/>
          <p:nvPr/>
        </p:nvSpPr>
        <p:spPr>
          <a:xfrm>
            <a:off x="2546604" y="4800600"/>
            <a:ext cx="1801368" cy="384048"/>
          </a:xfrm>
          <a:prstGeom prst="rect">
            <a:avLst/>
          </a:prstGeom>
          <a:ln w="9525">
            <a:solidFill>
              <a:srgbClr val="7F7F7F"/>
            </a:solidFill>
            <a:prstDash val="solid"/>
          </a:ln>
        </p:spPr>
      </p:sp>
      <p:sp>
        <p:nvSpPr>
          <p:cNvPr id="9" name="Text 7"/>
          <p:cNvSpPr txBox="1"/>
          <p:nvPr/>
        </p:nvSpPr>
        <p:spPr>
          <a:xfrm>
            <a:off x="2546604"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C-37 ブランディング</a:t>
            </a:r>
            <a:endParaRPr lang="en-US" sz="1000" dirty="0"/>
          </a:p>
        </p:txBody>
      </p:sp>
      <p:sp>
        <p:nvSpPr>
          <p:cNvPr id="10" name="Shape 8"/>
          <p:cNvSpPr/>
          <p:nvPr/>
        </p:nvSpPr>
        <p:spPr>
          <a:xfrm>
            <a:off x="4576572" y="4800600"/>
            <a:ext cx="1554480" cy="384048"/>
          </a:xfrm>
          <a:prstGeom prst="rect">
            <a:avLst/>
          </a:prstGeom>
          <a:ln w="9525">
            <a:solidFill>
              <a:srgbClr val="7F7F7F"/>
            </a:solidFill>
            <a:prstDash val="solid"/>
          </a:ln>
        </p:spPr>
      </p:sp>
      <p:sp>
        <p:nvSpPr>
          <p:cNvPr id="11" name="Text 9"/>
          <p:cNvSpPr txBox="1"/>
          <p:nvPr/>
        </p:nvSpPr>
        <p:spPr>
          <a:xfrm>
            <a:off x="457657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C-38 消費者行動</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マーケティングの基礎概念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マーケティングとは「顧客視点」で考えること</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「作ったものを売る」販売志向から「求められるものを作る」顧客志向への転換が出発点。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マーケティングとは、単に「モノを売る」ことではなく、顧客が本当に求めている価値を理解し、それを届ける仕組みを作ること。時代とともに考え方が転換してきた。</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販売志向</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「作ったものをいかに売るか」が起点。工場をフル稼働させ、広告と営業力で売りさばく発想</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顧客志向</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「顧客が何を求めているか」が起点。ニーズを調査し、そのニーズに合った商品を企画・開発する</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工場をフル稼働させて作った商品を、広告と営業力で売りさばく」のが販売志向、「まず顧客のニーズを調査し、そのニーズに合った商品を企画・開発する」のが顧客志向（マーケティング・コンセプト）。</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ひっかけ：現在の主流は顧客志向だが、販売志向が「常に誤り」というわけではない。両者の違いは「発想の起点がどちらか」という点で理解する。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C-31 ／ マーケティング計画と戦略（STP、4P）</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「誰に」を決めるSTP、「どう売るか」を決める4P</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STPで狙う市場と立ち位置を決め、4Pで具体的な打ち手を組み立てる、マーケティング戦略の2大フレームワーク。</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セグメンテーション</a:t>
            </a:r>
            <a:endParaRPr lang="en-US" sz="1500" dirty="0"/>
          </a:p>
        </p:txBody>
      </p:sp>
      <p:sp>
        <p:nvSpPr>
          <p:cNvPr id="9" name="Text 7"/>
          <p:cNvSpPr txBox="1"/>
          <p:nvPr/>
        </p:nvSpPr>
        <p:spPr>
          <a:xfrm>
            <a:off x="2971800" y="191109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STP①</a:t>
            </a:r>
            <a:endParaRPr lang="en-US" sz="1100" dirty="0"/>
          </a:p>
        </p:txBody>
      </p:sp>
      <p:sp>
        <p:nvSpPr>
          <p:cNvPr id="10" name="Text 8"/>
          <p:cNvSpPr txBox="1"/>
          <p:nvPr/>
        </p:nvSpPr>
        <p:spPr>
          <a:xfrm>
            <a:off x="4160520" y="185623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市場を年齢・地域・ライフスタイルなどの基準で細分化する</a:t>
            </a:r>
            <a:endParaRPr lang="en-US" sz="1100" dirty="0"/>
          </a:p>
        </p:txBody>
      </p:sp>
      <p:sp>
        <p:nvSpPr>
          <p:cNvPr id="11" name="Shape 9"/>
          <p:cNvSpPr/>
          <p:nvPr/>
        </p:nvSpPr>
        <p:spPr>
          <a:xfrm>
            <a:off x="502920" y="2331720"/>
            <a:ext cx="11201400" cy="0"/>
          </a:xfrm>
          <a:prstGeom prst="line">
            <a:avLst/>
          </a:prstGeom>
          <a:noFill/>
          <a:ln w="12700">
            <a:solidFill>
              <a:srgbClr val="E6E6E6"/>
            </a:solidFill>
            <a:prstDash val="solid"/>
          </a:ln>
        </p:spPr>
      </p:sp>
      <p:sp>
        <p:nvSpPr>
          <p:cNvPr id="12" name="Text 10"/>
          <p:cNvSpPr txBox="1"/>
          <p:nvPr/>
        </p:nvSpPr>
        <p:spPr>
          <a:xfrm>
            <a:off x="502920" y="244144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ターゲティング</a:t>
            </a:r>
            <a:endParaRPr lang="en-US" sz="1500" dirty="0"/>
          </a:p>
        </p:txBody>
      </p:sp>
      <p:sp>
        <p:nvSpPr>
          <p:cNvPr id="13" name="Text 11"/>
          <p:cNvSpPr txBox="1"/>
          <p:nvPr/>
        </p:nvSpPr>
        <p:spPr>
          <a:xfrm>
            <a:off x="2971800" y="245973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STP②</a:t>
            </a:r>
            <a:endParaRPr lang="en-US" sz="1100" dirty="0"/>
          </a:p>
        </p:txBody>
      </p:sp>
      <p:sp>
        <p:nvSpPr>
          <p:cNvPr id="14" name="Text 12"/>
          <p:cNvSpPr txBox="1"/>
          <p:nvPr/>
        </p:nvSpPr>
        <p:spPr>
          <a:xfrm>
            <a:off x="4160520" y="240487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細分化した市場（セグメント）の中から、自社が狙う市場を選ぶ</a:t>
            </a:r>
            <a:endParaRPr lang="en-US" sz="1100" dirty="0"/>
          </a:p>
        </p:txBody>
      </p:sp>
      <p:sp>
        <p:nvSpPr>
          <p:cNvPr id="15" name="Shape 13"/>
          <p:cNvSpPr/>
          <p:nvPr/>
        </p:nvSpPr>
        <p:spPr>
          <a:xfrm>
            <a:off x="502920" y="2880360"/>
            <a:ext cx="11201400" cy="0"/>
          </a:xfrm>
          <a:prstGeom prst="line">
            <a:avLst/>
          </a:prstGeom>
          <a:noFill/>
          <a:ln w="12700">
            <a:solidFill>
              <a:srgbClr val="E6E6E6"/>
            </a:solidFill>
            <a:prstDash val="solid"/>
          </a:ln>
        </p:spPr>
      </p:sp>
      <p:sp>
        <p:nvSpPr>
          <p:cNvPr id="16" name="Text 14"/>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ポジショニング</a:t>
            </a:r>
            <a:endParaRPr lang="en-US" sz="1500" dirty="0"/>
          </a:p>
        </p:txBody>
      </p:sp>
      <p:sp>
        <p:nvSpPr>
          <p:cNvPr id="17" name="Text 15"/>
          <p:cNvSpPr txBox="1"/>
          <p:nvPr/>
        </p:nvSpPr>
        <p:spPr>
          <a:xfrm>
            <a:off x="2971800" y="300837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STP③</a:t>
            </a:r>
            <a:endParaRPr lang="en-US" sz="1100" dirty="0"/>
          </a:p>
        </p:txBody>
      </p:sp>
      <p:sp>
        <p:nvSpPr>
          <p:cNvPr id="18" name="Text 16"/>
          <p:cNvSpPr txBox="1"/>
          <p:nvPr/>
        </p:nvSpPr>
        <p:spPr>
          <a:xfrm>
            <a:off x="4160520" y="295351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選んだ市場の中で、競合と比べた自社商品の独自の位置づけを明確にする</a:t>
            </a:r>
            <a:endParaRPr lang="en-US" sz="1100" dirty="0"/>
          </a:p>
        </p:txBody>
      </p:sp>
      <p:sp>
        <p:nvSpPr>
          <p:cNvPr id="19" name="Shape 17"/>
          <p:cNvSpPr/>
          <p:nvPr/>
        </p:nvSpPr>
        <p:spPr>
          <a:xfrm>
            <a:off x="502920" y="3429000"/>
            <a:ext cx="11201400" cy="0"/>
          </a:xfrm>
          <a:prstGeom prst="line">
            <a:avLst/>
          </a:prstGeom>
          <a:noFill/>
          <a:ln w="12700">
            <a:solidFill>
              <a:srgbClr val="E6E6E6"/>
            </a:solidFill>
            <a:prstDash val="solid"/>
          </a:ln>
        </p:spPr>
      </p:sp>
      <p:sp>
        <p:nvSpPr>
          <p:cNvPr id="20" name="Text 18"/>
          <p:cNvSpPr txBox="1"/>
          <p:nvPr/>
        </p:nvSpPr>
        <p:spPr>
          <a:xfrm>
            <a:off x="502920" y="353872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Product</a:t>
            </a:r>
            <a:endParaRPr lang="en-US" sz="1500" dirty="0"/>
          </a:p>
        </p:txBody>
      </p:sp>
      <p:sp>
        <p:nvSpPr>
          <p:cNvPr id="21" name="Text 19"/>
          <p:cNvSpPr txBox="1"/>
          <p:nvPr/>
        </p:nvSpPr>
        <p:spPr>
          <a:xfrm>
            <a:off x="2971800" y="355701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4P①</a:t>
            </a:r>
            <a:endParaRPr lang="en-US" sz="1100" dirty="0"/>
          </a:p>
        </p:txBody>
      </p:sp>
      <p:sp>
        <p:nvSpPr>
          <p:cNvPr id="22" name="Text 20"/>
          <p:cNvSpPr txBox="1"/>
          <p:nvPr/>
        </p:nvSpPr>
        <p:spPr>
          <a:xfrm>
            <a:off x="4160520" y="350215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何を売るか（製品そのものの設計）</a:t>
            </a:r>
            <a:endParaRPr lang="en-US" sz="1100" dirty="0"/>
          </a:p>
        </p:txBody>
      </p:sp>
      <p:sp>
        <p:nvSpPr>
          <p:cNvPr id="23" name="Shape 21"/>
          <p:cNvSpPr/>
          <p:nvPr/>
        </p:nvSpPr>
        <p:spPr>
          <a:xfrm>
            <a:off x="502920" y="3977640"/>
            <a:ext cx="11201400" cy="0"/>
          </a:xfrm>
          <a:prstGeom prst="line">
            <a:avLst/>
          </a:prstGeom>
          <a:noFill/>
          <a:ln w="12700">
            <a:solidFill>
              <a:srgbClr val="E6E6E6"/>
            </a:solidFill>
            <a:prstDash val="solid"/>
          </a:ln>
        </p:spPr>
      </p:sp>
      <p:sp>
        <p:nvSpPr>
          <p:cNvPr id="24" name="Text 2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Price</a:t>
            </a:r>
            <a:endParaRPr lang="en-US" sz="1500" dirty="0"/>
          </a:p>
        </p:txBody>
      </p:sp>
      <p:sp>
        <p:nvSpPr>
          <p:cNvPr id="25" name="Text 23"/>
          <p:cNvSpPr txBox="1"/>
          <p:nvPr/>
        </p:nvSpPr>
        <p:spPr>
          <a:xfrm>
            <a:off x="2971800" y="410565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4P②</a:t>
            </a:r>
            <a:endParaRPr lang="en-US" sz="1100" dirty="0"/>
          </a:p>
        </p:txBody>
      </p:sp>
      <p:sp>
        <p:nvSpPr>
          <p:cNvPr id="26" name="Text 24"/>
          <p:cNvSpPr txBox="1"/>
          <p:nvPr/>
        </p:nvSpPr>
        <p:spPr>
          <a:xfrm>
            <a:off x="4160520" y="405079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いくらで売るか（価格設定）</a:t>
            </a:r>
            <a:endParaRPr lang="en-US" sz="1100" dirty="0"/>
          </a:p>
        </p:txBody>
      </p:sp>
      <p:sp>
        <p:nvSpPr>
          <p:cNvPr id="27" name="Shape 25"/>
          <p:cNvSpPr/>
          <p:nvPr/>
        </p:nvSpPr>
        <p:spPr>
          <a:xfrm>
            <a:off x="502920" y="4526280"/>
            <a:ext cx="11201400" cy="0"/>
          </a:xfrm>
          <a:prstGeom prst="line">
            <a:avLst/>
          </a:prstGeom>
          <a:noFill/>
          <a:ln w="12700">
            <a:solidFill>
              <a:srgbClr val="E6E6E6"/>
            </a:solidFill>
            <a:prstDash val="solid"/>
          </a:ln>
        </p:spPr>
      </p:sp>
      <p:sp>
        <p:nvSpPr>
          <p:cNvPr id="28" name="Text 26"/>
          <p:cNvSpPr txBox="1"/>
          <p:nvPr/>
        </p:nvSpPr>
        <p:spPr>
          <a:xfrm>
            <a:off x="502920" y="46360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Place</a:t>
            </a:r>
            <a:endParaRPr lang="en-US" sz="1500" dirty="0"/>
          </a:p>
        </p:txBody>
      </p:sp>
      <p:sp>
        <p:nvSpPr>
          <p:cNvPr id="29" name="Text 27"/>
          <p:cNvSpPr txBox="1"/>
          <p:nvPr/>
        </p:nvSpPr>
        <p:spPr>
          <a:xfrm>
            <a:off x="2971800" y="465429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4P③</a:t>
            </a:r>
            <a:endParaRPr lang="en-US" sz="1100" dirty="0"/>
          </a:p>
        </p:txBody>
      </p:sp>
      <p:sp>
        <p:nvSpPr>
          <p:cNvPr id="30" name="Text 28"/>
          <p:cNvSpPr txBox="1"/>
          <p:nvPr/>
        </p:nvSpPr>
        <p:spPr>
          <a:xfrm>
            <a:off x="4160520" y="459943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どこで売るか（流通・チャネル）</a:t>
            </a:r>
            <a:endParaRPr lang="en-US" sz="1100" dirty="0"/>
          </a:p>
        </p:txBody>
      </p:sp>
      <p:sp>
        <p:nvSpPr>
          <p:cNvPr id="31" name="Shape 29"/>
          <p:cNvSpPr/>
          <p:nvPr/>
        </p:nvSpPr>
        <p:spPr>
          <a:xfrm>
            <a:off x="502920" y="5074920"/>
            <a:ext cx="11201400" cy="0"/>
          </a:xfrm>
          <a:prstGeom prst="line">
            <a:avLst/>
          </a:prstGeom>
          <a:noFill/>
          <a:ln w="12700">
            <a:solidFill>
              <a:srgbClr val="E6E6E6"/>
            </a:solidFill>
            <a:prstDash val="solid"/>
          </a:ln>
        </p:spPr>
      </p:sp>
      <p:sp>
        <p:nvSpPr>
          <p:cNvPr id="32" name="Text 30"/>
          <p:cNvSpPr txBox="1"/>
          <p:nvPr/>
        </p:nvSpPr>
        <p:spPr>
          <a:xfrm>
            <a:off x="502920" y="518464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Promotion</a:t>
            </a:r>
            <a:endParaRPr lang="en-US" sz="1500" dirty="0"/>
          </a:p>
        </p:txBody>
      </p:sp>
      <p:sp>
        <p:nvSpPr>
          <p:cNvPr id="33" name="Text 31"/>
          <p:cNvSpPr txBox="1"/>
          <p:nvPr/>
        </p:nvSpPr>
        <p:spPr>
          <a:xfrm>
            <a:off x="2971800" y="520293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4P④</a:t>
            </a:r>
            <a:endParaRPr lang="en-US" sz="1100" dirty="0"/>
          </a:p>
        </p:txBody>
      </p:sp>
      <p:sp>
        <p:nvSpPr>
          <p:cNvPr id="34" name="Text 32"/>
          <p:cNvSpPr txBox="1"/>
          <p:nvPr/>
        </p:nvSpPr>
        <p:spPr>
          <a:xfrm>
            <a:off x="4160520" y="5148072"/>
            <a:ext cx="754380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どう知らせ、購買を促すか（広告・販促）</a:t>
            </a:r>
            <a:endParaRPr lang="en-US" sz="1100" dirty="0"/>
          </a:p>
        </p:txBody>
      </p:sp>
      <p:sp>
        <p:nvSpPr>
          <p:cNvPr id="35" name="Shape 33"/>
          <p:cNvSpPr/>
          <p:nvPr/>
        </p:nvSpPr>
        <p:spPr>
          <a:xfrm>
            <a:off x="502920" y="5989320"/>
            <a:ext cx="11201400" cy="0"/>
          </a:xfrm>
          <a:prstGeom prst="line">
            <a:avLst/>
          </a:prstGeom>
          <a:noFill/>
          <a:ln w="9525">
            <a:solidFill>
              <a:srgbClr val="171717"/>
            </a:solidFill>
            <a:prstDash val="solid"/>
          </a:ln>
        </p:spPr>
      </p:sp>
      <p:sp>
        <p:nvSpPr>
          <p:cNvPr id="36" name="Shape 34"/>
          <p:cNvSpPr/>
          <p:nvPr/>
        </p:nvSpPr>
        <p:spPr>
          <a:xfrm>
            <a:off x="502920" y="6062472"/>
            <a:ext cx="329184" cy="329184"/>
          </a:xfrm>
          <a:prstGeom prst="ellipse">
            <a:avLst/>
          </a:prstGeom>
          <a:solidFill>
            <a:srgbClr val="FF3B1F"/>
          </a:solidFill>
          <a:ln/>
        </p:spPr>
      </p:sp>
      <p:sp>
        <p:nvSpPr>
          <p:cNvPr id="37" name="Text 3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8" name="Text 3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9" name="Shape 37"/>
          <p:cNvSpPr/>
          <p:nvPr/>
        </p:nvSpPr>
        <p:spPr>
          <a:xfrm>
            <a:off x="2331720" y="6062472"/>
            <a:ext cx="0" cy="329184"/>
          </a:xfrm>
          <a:prstGeom prst="line">
            <a:avLst/>
          </a:prstGeom>
          <a:noFill/>
          <a:ln w="12700">
            <a:solidFill>
              <a:srgbClr val="E6E6E6"/>
            </a:solidFill>
            <a:prstDash val="solid"/>
          </a:ln>
        </p:spPr>
      </p:sp>
      <p:sp>
        <p:nvSpPr>
          <p:cNvPr id="40" name="Text 3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アンゾフの成長マトリクス（「誰に」「何を」の整理の仕方が共通する）。</a:t>
            </a:r>
            <a:endParaRPr lang="en-US" sz="1000" dirty="0"/>
          </a:p>
        </p:txBody>
      </p:sp>
      <p:sp>
        <p:nvSpPr>
          <p:cNvPr id="41" name="Text 3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2" name="Shape 40"/>
          <p:cNvSpPr/>
          <p:nvPr/>
        </p:nvSpPr>
        <p:spPr>
          <a:xfrm>
            <a:off x="2466594"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4" name="Shape 42"/>
          <p:cNvSpPr/>
          <p:nvPr/>
        </p:nvSpPr>
        <p:spPr>
          <a:xfrm>
            <a:off x="343128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6" name="Shape 44"/>
          <p:cNvSpPr/>
          <p:nvPr/>
        </p:nvSpPr>
        <p:spPr>
          <a:xfrm>
            <a:off x="439597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8" name="Shape 46"/>
          <p:cNvSpPr/>
          <p:nvPr/>
        </p:nvSpPr>
        <p:spPr>
          <a:xfrm>
            <a:off x="536067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50" name="Shape 48"/>
          <p:cNvSpPr/>
          <p:nvPr/>
        </p:nvSpPr>
        <p:spPr>
          <a:xfrm>
            <a:off x="632536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2" name="Shape 50"/>
          <p:cNvSpPr/>
          <p:nvPr/>
        </p:nvSpPr>
        <p:spPr>
          <a:xfrm>
            <a:off x="7290054" y="6464808"/>
            <a:ext cx="146304" cy="146304"/>
          </a:xfrm>
          <a:prstGeom prst="ellipse">
            <a:avLst/>
          </a:prstGeom>
          <a:solidFill>
            <a:srgbClr val="FFFFFF"/>
          </a:solidFill>
          <a:ln w="12700">
            <a:solidFill>
              <a:srgbClr val="E6E6E6"/>
            </a:solidFill>
            <a:prstDash val="solid"/>
          </a:ln>
        </p:spPr>
      </p:sp>
      <p:sp>
        <p:nvSpPr>
          <p:cNvPr id="53" name="Text 5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54" name="Shape 52"/>
          <p:cNvSpPr/>
          <p:nvPr/>
        </p:nvSpPr>
        <p:spPr>
          <a:xfrm>
            <a:off x="8254746"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6" name="Shape 54"/>
          <p:cNvSpPr/>
          <p:nvPr/>
        </p:nvSpPr>
        <p:spPr>
          <a:xfrm>
            <a:off x="9219438"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8" name="Shape 56"/>
          <p:cNvSpPr/>
          <p:nvPr/>
        </p:nvSpPr>
        <p:spPr>
          <a:xfrm>
            <a:off x="10184130"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60" name="Shape 58"/>
          <p:cNvSpPr/>
          <p:nvPr/>
        </p:nvSpPr>
        <p:spPr>
          <a:xfrm>
            <a:off x="11148822" y="6464808"/>
            <a:ext cx="146304" cy="146304"/>
          </a:xfrm>
          <a:prstGeom prst="ellipse">
            <a:avLst/>
          </a:prstGeom>
          <a:solidFill>
            <a:srgbClr val="FFFFFF"/>
          </a:solidFill>
          <a:ln w="12700">
            <a:solidFill>
              <a:srgbClr val="E6E6E6"/>
            </a:solidFill>
            <a:prstDash val="solid"/>
          </a:ln>
        </p:spPr>
      </p:sp>
      <p:sp>
        <p:nvSpPr>
          <p:cNvPr id="61" name="Text 5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マーケティング・リサーチ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施策の前に「調べる」：定性調査と定量調査</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市場や顧客を調査する活動がマーケティング・リサーチ。目的に応じて調査手法を使い分ける。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マーケティング施策を考える前に、市場や顧客を調査する活動がマーケティング・リサーチ。調査方法は大きく2つに分かれる。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定性調査</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インタビューやアンケートの自由記述で「なぜ」「どう思うか」を深掘りする。少人数向け・初期段階向き</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定量調査</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多数のデータを集めて数値で傾向を把握する。大規模なアンケート等で需要規模の検証に向く</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コンセプトを固める初期段階では少人数へのインタビュー（定性調査）でアイデアを練り、コンセプトが固まった段階で大規模なアンケート（定量調査）を行い需要規模を検証する、という使い分け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関連：C-30 マーケティングの基礎概念（顧客志向を実現するための情報収集手段）。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C-33 ／ リレーションシップ・CRM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新規獲得より既存顧客との関係強化（CRM）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新規顧客の獲得コストは既存顧客の維持コストより一般に高く、既存顧客との関係強化が収益性に直結する。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新規顧客の獲得だけでなく、既存顧客との長期的な関係を維持・強化する考え方が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リレーションシップ・マーケティング</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。これを支えるシステムが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CRM（顧客関係管理）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リレーションシップ</a:t>
            </a:r>
            <a:endParaRPr lang="en-US" sz="115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新規獲得だけでなく既存顧客との長期的な関係を維持・強化する考え方</a:t>
            </a:r>
            <a:endParaRPr lang="en-US" sz="115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CRM</a:t>
            </a:r>
            <a:endParaRPr lang="en-US" sz="115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顧客の購買履歴や属性データを一元管理し、個別対応や継続的な関係構築に活用するシステム</a:t>
            </a:r>
            <a:endParaRPr lang="en-US" sz="115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ある会員制ネットショップが、購買履歴に基づいて一人ひとりに合ったクーポンやレコメンドを送るのはCRMの活用例。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ひっかけ：新規顧客の獲得コストは既存顧客の維持コストより高いのが一般的。CRMは既存顧客との関係強化を通じて収益性を高める手段と位置づける。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C-34 ／ サービス・マーケティング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モノと違う、サービスならではの4つの特性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無形性・同時性・非均質性・消滅性という4特性が、サービス・マーケティング特有の課題を生む。</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無形性</a:t>
            </a:r>
            <a:endParaRPr lang="en-US" sz="1500" dirty="0"/>
          </a:p>
        </p:txBody>
      </p:sp>
      <p:sp>
        <p:nvSpPr>
          <p:cNvPr id="9" name="Text 7"/>
          <p:cNvSpPr txBox="1"/>
          <p:nvPr/>
        </p:nvSpPr>
        <p:spPr>
          <a:xfrm>
            <a:off x="2423160" y="19110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形がない</a:t>
            </a:r>
            <a:endParaRPr lang="en-US" sz="1100" dirty="0"/>
          </a:p>
        </p:txBody>
      </p:sp>
      <p:sp>
        <p:nvSpPr>
          <p:cNvPr id="10" name="Text 8"/>
          <p:cNvSpPr txBox="1"/>
          <p:nvPr/>
        </p:nvSpPr>
        <p:spPr>
          <a:xfrm>
            <a:off x="4434840" y="1856232"/>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事前に確認・試すことができない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同時性</a:t>
            </a:r>
            <a:endParaRPr lang="en-US" sz="1500" dirty="0"/>
          </a:p>
        </p:txBody>
      </p:sp>
      <p:sp>
        <p:nvSpPr>
          <p:cNvPr id="13" name="Text 11"/>
          <p:cNvSpPr txBox="1"/>
          <p:nvPr/>
        </p:nvSpPr>
        <p:spPr>
          <a:xfrm>
            <a:off x="2423160" y="2752344"/>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生産＝消費</a:t>
            </a:r>
            <a:endParaRPr lang="en-US" sz="1100" dirty="0"/>
          </a:p>
        </p:txBody>
      </p:sp>
      <p:sp>
        <p:nvSpPr>
          <p:cNvPr id="14" name="Text 12"/>
          <p:cNvSpPr txBox="1"/>
          <p:nvPr/>
        </p:nvSpPr>
        <p:spPr>
          <a:xfrm>
            <a:off x="4434840" y="2697480"/>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提供と消費が同時に起こる（例：美容院の施術）</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非均質性</a:t>
            </a:r>
            <a:endParaRPr lang="en-US" sz="1500" dirty="0"/>
          </a:p>
        </p:txBody>
      </p:sp>
      <p:sp>
        <p:nvSpPr>
          <p:cNvPr id="17" name="Text 15"/>
          <p:cNvSpPr txBox="1"/>
          <p:nvPr/>
        </p:nvSpPr>
        <p:spPr>
          <a:xfrm>
            <a:off x="2423160" y="3593592"/>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ばらつく</a:t>
            </a:r>
            <a:endParaRPr lang="en-US" sz="1100" dirty="0"/>
          </a:p>
        </p:txBody>
      </p:sp>
      <p:sp>
        <p:nvSpPr>
          <p:cNvPr id="18" name="Text 16"/>
          <p:cNvSpPr txBox="1"/>
          <p:nvPr/>
        </p:nvSpPr>
        <p:spPr>
          <a:xfrm>
            <a:off x="4434840" y="3538728"/>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提供者や状況によって品質にばらつきが出る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消滅性</a:t>
            </a:r>
            <a:endParaRPr lang="en-US" sz="1500" dirty="0"/>
          </a:p>
        </p:txBody>
      </p:sp>
      <p:sp>
        <p:nvSpPr>
          <p:cNvPr id="21" name="Text 19"/>
          <p:cNvSpPr txBox="1"/>
          <p:nvPr/>
        </p:nvSpPr>
        <p:spPr>
          <a:xfrm>
            <a:off x="2423160" y="4434840"/>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在庫できない</a:t>
            </a:r>
            <a:endParaRPr lang="en-US" sz="1100" dirty="0"/>
          </a:p>
        </p:txBody>
      </p:sp>
      <p:sp>
        <p:nvSpPr>
          <p:cNvPr id="22" name="Text 20"/>
          <p:cNvSpPr txBox="1"/>
          <p:nvPr/>
        </p:nvSpPr>
        <p:spPr>
          <a:xfrm>
            <a:off x="4434840" y="4379976"/>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売れ残った提供機会は後から売ることができない（例：空席のまま出発した飛行機の座席）</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関連：近年は「製造業のサービス化」（機械を売るだけでなく稼働監視サービスまで提供する等）も重要テーマ。</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C-35 ／ デジタル・マーケティング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ネット時代の購買行動モデル：AIDMAからAISASへ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インターネット普及で、消費者は購入前に「検索」し、購入後に「共有」するようになった。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従来のマス広告時代の消費者行動モデルが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AIDMA</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、インターネット時代のモデルとして提唱されたのが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AISAS</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2219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AIDMA</a:t>
            </a:r>
            <a:endParaRPr lang="en-US" sz="1100" dirty="0"/>
          </a:p>
        </p:txBody>
      </p:sp>
      <p:sp>
        <p:nvSpPr>
          <p:cNvPr id="10" name="Shape 8"/>
          <p:cNvSpPr/>
          <p:nvPr/>
        </p:nvSpPr>
        <p:spPr>
          <a:xfrm>
            <a:off x="1673352" y="2221992"/>
            <a:ext cx="0" cy="256032"/>
          </a:xfrm>
          <a:prstGeom prst="line">
            <a:avLst/>
          </a:prstGeom>
          <a:noFill/>
          <a:ln w="12700">
            <a:solidFill>
              <a:srgbClr val="E6E6E6"/>
            </a:solidFill>
            <a:prstDash val="solid"/>
          </a:ln>
        </p:spPr>
      </p:sp>
      <p:sp>
        <p:nvSpPr>
          <p:cNvPr id="11" name="Text 9"/>
          <p:cNvSpPr txBox="1"/>
          <p:nvPr/>
        </p:nvSpPr>
        <p:spPr>
          <a:xfrm>
            <a:off x="1828800" y="22219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Attention注意→Interest関心→Desire欲求→Memory記憶→Action購買（マス広告時代）</a:t>
            </a:r>
            <a:endParaRPr lang="en-US" sz="1100" dirty="0"/>
          </a:p>
        </p:txBody>
      </p:sp>
      <p:sp>
        <p:nvSpPr>
          <p:cNvPr id="12" name="Text 10"/>
          <p:cNvSpPr txBox="1"/>
          <p:nvPr/>
        </p:nvSpPr>
        <p:spPr>
          <a:xfrm>
            <a:off x="502920" y="26791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AISAS</a:t>
            </a:r>
            <a:endParaRPr lang="en-US" sz="1100" dirty="0"/>
          </a:p>
        </p:txBody>
      </p:sp>
      <p:sp>
        <p:nvSpPr>
          <p:cNvPr id="13" name="Shape 11"/>
          <p:cNvSpPr/>
          <p:nvPr/>
        </p:nvSpPr>
        <p:spPr>
          <a:xfrm>
            <a:off x="1673352" y="2679192"/>
            <a:ext cx="0" cy="256032"/>
          </a:xfrm>
          <a:prstGeom prst="line">
            <a:avLst/>
          </a:prstGeom>
          <a:noFill/>
          <a:ln w="12700">
            <a:solidFill>
              <a:srgbClr val="E6E6E6"/>
            </a:solidFill>
            <a:prstDash val="solid"/>
          </a:ln>
        </p:spPr>
      </p:sp>
      <p:sp>
        <p:nvSpPr>
          <p:cNvPr id="14" name="Text 12"/>
          <p:cNvSpPr txBox="1"/>
          <p:nvPr/>
        </p:nvSpPr>
        <p:spPr>
          <a:xfrm>
            <a:off x="1828800" y="26791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Attention注意→Interest関心→Search検索→Action購買→Share共有（インターネット時代）</a:t>
            </a:r>
            <a:endParaRPr lang="en-US" sz="110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テレビCMを見て興味を持った商品について、購入前にスマートフォンでレビューを検索し（Search）、購入後にSNSに写真を投稿する（Share）という一連の行動は、AISASモデルそのもの。</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ひっかけ：AIDMAの「Desire・Memory」がAISASでは「Search」に、「Action」の後に「Share」が加わる点が変化のポイント。</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C-36 ／ プロダクト・マネジメント：PLC、新製品開発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プロダクト・ライフサイクル（PLC）で戦略を切り替える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製品は導入期→成長期→成熟期→衰退期の4段階をたどり、各段階で有効な戦略が異なる。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828800"/>
            <a:ext cx="2560320" cy="2194560"/>
          </a:xfrm>
          <a:prstGeom prst="rect">
            <a:avLst/>
          </a:prstGeom>
          <a:solidFill>
            <a:srgbClr val="F4F4F4"/>
          </a:solidFill>
          <a:ln w="12700">
            <a:solidFill>
              <a:srgbClr val="E6E6E6"/>
            </a:solidFill>
            <a:prstDash val="solid"/>
          </a:ln>
        </p:spPr>
      </p:sp>
      <p:sp>
        <p:nvSpPr>
          <p:cNvPr id="9" name="Text 7"/>
          <p:cNvSpPr txBox="1"/>
          <p:nvPr/>
        </p:nvSpPr>
        <p:spPr>
          <a:xfrm>
            <a:off x="640080" y="1828800"/>
            <a:ext cx="2286000" cy="219456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導入期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認知拡大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販売量少、認知度が低い。製品の認知拡大に注力</a:t>
            </a:r>
            <a:endParaRPr lang="en-US" sz="1000" dirty="0"/>
          </a:p>
        </p:txBody>
      </p:sp>
      <p:sp>
        <p:nvSpPr>
          <p:cNvPr id="10" name="Text 8"/>
          <p:cNvSpPr txBox="1"/>
          <p:nvPr/>
        </p:nvSpPr>
        <p:spPr>
          <a:xfrm>
            <a:off x="3063240" y="1828800"/>
            <a:ext cx="320040" cy="2194560"/>
          </a:xfrm>
          <a:prstGeom prst="rect">
            <a:avLst/>
          </a:prstGeom>
          <a:noFill/>
          <a:ln/>
        </p:spPr>
        <p:txBody>
          <a:bodyPr wrap="square" lIns="0" tIns="0" rIns="0" bIns="0" rtlCol="0" anchor="ctr"/>
          <a:lstStyle/>
          <a:p>
            <a:pPr algn="ctr" indent="0" marL="0">
              <a:buNone/>
            </a:pPr>
            <a:r>
              <a:rPr lang="en-US" sz="1800" dirty="0">
                <a:solidFill>
                  <a:srgbClr val="8A8A8A"/>
                </a:solidFill>
                <a:latin typeface="Yu Gothic" pitchFamily="34" charset="0"/>
                <a:ea typeface="Yu Gothic" pitchFamily="34" charset="-122"/>
                <a:cs typeface="Yu Gothic" pitchFamily="34" charset="-120"/>
              </a:rPr>
              <a:t>→</a:t>
            </a:r>
            <a:endParaRPr lang="en-US" sz="1800" dirty="0"/>
          </a:p>
        </p:txBody>
      </p:sp>
      <p:sp>
        <p:nvSpPr>
          <p:cNvPr id="11" name="Shape 9"/>
          <p:cNvSpPr/>
          <p:nvPr/>
        </p:nvSpPr>
        <p:spPr>
          <a:xfrm>
            <a:off x="3383280" y="1828800"/>
            <a:ext cx="2560320" cy="2194560"/>
          </a:xfrm>
          <a:prstGeom prst="rect">
            <a:avLst/>
          </a:prstGeom>
          <a:solidFill>
            <a:srgbClr val="F4F4F4"/>
          </a:solidFill>
          <a:ln w="12700">
            <a:solidFill>
              <a:srgbClr val="E6E6E6"/>
            </a:solidFill>
            <a:prstDash val="solid"/>
          </a:ln>
        </p:spPr>
      </p:sp>
      <p:sp>
        <p:nvSpPr>
          <p:cNvPr id="12" name="Text 10"/>
          <p:cNvSpPr txBox="1"/>
          <p:nvPr/>
        </p:nvSpPr>
        <p:spPr>
          <a:xfrm>
            <a:off x="3520440" y="1828800"/>
            <a:ext cx="2286000" cy="219456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成長期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シェア拡大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販売量が急拡大、競合が参入。シェア・販売網の拡大</a:t>
            </a:r>
            <a:endParaRPr lang="en-US" sz="1000" dirty="0"/>
          </a:p>
        </p:txBody>
      </p:sp>
      <p:sp>
        <p:nvSpPr>
          <p:cNvPr id="13" name="Text 11"/>
          <p:cNvSpPr txBox="1"/>
          <p:nvPr/>
        </p:nvSpPr>
        <p:spPr>
          <a:xfrm>
            <a:off x="5943600" y="1828800"/>
            <a:ext cx="320040" cy="2194560"/>
          </a:xfrm>
          <a:prstGeom prst="rect">
            <a:avLst/>
          </a:prstGeom>
          <a:noFill/>
          <a:ln/>
        </p:spPr>
        <p:txBody>
          <a:bodyPr wrap="square" lIns="0" tIns="0" rIns="0" bIns="0" rtlCol="0" anchor="ctr"/>
          <a:lstStyle/>
          <a:p>
            <a:pPr algn="ctr" indent="0" marL="0">
              <a:buNone/>
            </a:pPr>
            <a:r>
              <a:rPr lang="en-US" sz="1800" dirty="0">
                <a:solidFill>
                  <a:srgbClr val="8A8A8A"/>
                </a:solidFill>
                <a:latin typeface="Yu Gothic" pitchFamily="34" charset="0"/>
                <a:ea typeface="Yu Gothic" pitchFamily="34" charset="-122"/>
                <a:cs typeface="Yu Gothic" pitchFamily="34" charset="-120"/>
              </a:rPr>
              <a:t>→</a:t>
            </a:r>
            <a:endParaRPr lang="en-US" sz="1800" dirty="0"/>
          </a:p>
        </p:txBody>
      </p:sp>
      <p:sp>
        <p:nvSpPr>
          <p:cNvPr id="14" name="Shape 12"/>
          <p:cNvSpPr/>
          <p:nvPr/>
        </p:nvSpPr>
        <p:spPr>
          <a:xfrm>
            <a:off x="6263640" y="1828800"/>
            <a:ext cx="2560320" cy="2194560"/>
          </a:xfrm>
          <a:prstGeom prst="rect">
            <a:avLst/>
          </a:prstGeom>
          <a:solidFill>
            <a:srgbClr val="F4F4F4"/>
          </a:solidFill>
          <a:ln w="12700">
            <a:solidFill>
              <a:srgbClr val="E6E6E6"/>
            </a:solidFill>
            <a:prstDash val="solid"/>
          </a:ln>
        </p:spPr>
      </p:sp>
      <p:sp>
        <p:nvSpPr>
          <p:cNvPr id="15" name="Text 13"/>
          <p:cNvSpPr txBox="1"/>
          <p:nvPr/>
        </p:nvSpPr>
        <p:spPr>
          <a:xfrm>
            <a:off x="6400800" y="1828800"/>
            <a:ext cx="2286000" cy="219456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成熟期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差別化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販売量ピーク・競争激化。差別化、ブランド強化、コスト効率化</a:t>
            </a:r>
            <a:endParaRPr lang="en-US" sz="1000" dirty="0"/>
          </a:p>
        </p:txBody>
      </p:sp>
      <p:sp>
        <p:nvSpPr>
          <p:cNvPr id="16" name="Text 14"/>
          <p:cNvSpPr txBox="1"/>
          <p:nvPr/>
        </p:nvSpPr>
        <p:spPr>
          <a:xfrm>
            <a:off x="8823960" y="1828800"/>
            <a:ext cx="320040" cy="2194560"/>
          </a:xfrm>
          <a:prstGeom prst="rect">
            <a:avLst/>
          </a:prstGeom>
          <a:noFill/>
          <a:ln/>
        </p:spPr>
        <p:txBody>
          <a:bodyPr wrap="square" lIns="0" tIns="0" rIns="0" bIns="0" rtlCol="0" anchor="ctr"/>
          <a:lstStyle/>
          <a:p>
            <a:pPr algn="ctr" indent="0" marL="0">
              <a:buNone/>
            </a:pPr>
            <a:r>
              <a:rPr lang="en-US" sz="1800" dirty="0">
                <a:solidFill>
                  <a:srgbClr val="8A8A8A"/>
                </a:solidFill>
                <a:latin typeface="Yu Gothic" pitchFamily="34" charset="0"/>
                <a:ea typeface="Yu Gothic" pitchFamily="34" charset="-122"/>
                <a:cs typeface="Yu Gothic" pitchFamily="34" charset="-120"/>
              </a:rPr>
              <a:t>→</a:t>
            </a:r>
            <a:endParaRPr lang="en-US" sz="1800" dirty="0"/>
          </a:p>
        </p:txBody>
      </p:sp>
      <p:sp>
        <p:nvSpPr>
          <p:cNvPr id="17" name="Shape 15"/>
          <p:cNvSpPr/>
          <p:nvPr/>
        </p:nvSpPr>
        <p:spPr>
          <a:xfrm>
            <a:off x="9144000" y="1828800"/>
            <a:ext cx="2560320" cy="2194560"/>
          </a:xfrm>
          <a:prstGeom prst="rect">
            <a:avLst/>
          </a:prstGeom>
          <a:solidFill>
            <a:srgbClr val="F4F4F4"/>
          </a:solidFill>
          <a:ln w="12700">
            <a:solidFill>
              <a:srgbClr val="E6E6E6"/>
            </a:solidFill>
            <a:prstDash val="solid"/>
          </a:ln>
        </p:spPr>
      </p:sp>
      <p:sp>
        <p:nvSpPr>
          <p:cNvPr id="18" name="Text 16"/>
          <p:cNvSpPr txBox="1"/>
          <p:nvPr/>
        </p:nvSpPr>
        <p:spPr>
          <a:xfrm>
            <a:off x="9281160" y="1828800"/>
            <a:ext cx="2286000" cy="2194560"/>
          </a:xfrm>
          <a:prstGeom prst="rect">
            <a:avLst/>
          </a:prstGeom>
          <a:noFill/>
          <a:ln/>
        </p:spPr>
        <p:txBody>
          <a:bodyPr wrap="square" lIns="0" tIns="0" rIns="0" bIns="0" rtlCol="0" anchor="ctr"/>
          <a:lstStyle/>
          <a:p>
            <a:pPr algn="ctr" indent="0" marL="0">
              <a:lnSpc>
                <a:spcPct val="120000"/>
              </a:lnSpc>
              <a:buNone/>
            </a:pPr>
            <a:r>
              <a:rPr lang="en-US" sz="1000" b="1" dirty="0">
                <a:solidFill>
                  <a:srgbClr val="FF3B1F"/>
                </a:solidFill>
                <a:latin typeface="Consolas" pitchFamily="34" charset="0"/>
                <a:ea typeface="Consolas" pitchFamily="34" charset="-122"/>
                <a:cs typeface="Consolas" pitchFamily="34" charset="-120"/>
              </a:rPr>
              <a:t>衰退期
</a:t>
            </a:r>
            <a:endParaRPr lang="en-US" sz="1000" dirty="0"/>
          </a:p>
          <a:p>
            <a:pPr algn="ctr" indent="0" marL="0">
              <a:lnSpc>
                <a:spcPct val="120000"/>
              </a:lnSpc>
              <a:buNone/>
            </a:pPr>
            <a:r>
              <a:rPr lang="en-US" sz="1400" b="1" dirty="0">
                <a:solidFill>
                  <a:srgbClr val="171717"/>
                </a:solidFill>
                <a:latin typeface="Yu Gothic" pitchFamily="34" charset="0"/>
                <a:ea typeface="Yu Gothic" pitchFamily="34" charset="-122"/>
                <a:cs typeface="Yu Gothic" pitchFamily="34" charset="-120"/>
              </a:rPr>
              <a:t>撤退判断
</a:t>
            </a:r>
            <a:endParaRPr lang="en-US" sz="1000" dirty="0"/>
          </a:p>
          <a:p>
            <a:pPr algn="ct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販売量が減少。撤退判断、または縮小継続</a:t>
            </a:r>
            <a:endParaRPr lang="en-US" sz="1000" dirty="0"/>
          </a:p>
        </p:txBody>
      </p:sp>
      <p:sp>
        <p:nvSpPr>
          <p:cNvPr id="19" name="Text 17"/>
          <p:cNvSpPr txBox="1"/>
          <p:nvPr/>
        </p:nvSpPr>
        <p:spPr>
          <a:xfrm>
            <a:off x="502920" y="4206240"/>
            <a:ext cx="11201400" cy="45720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新しいガジェットが発売直後（導入期）はアーリー・アダプター層に的を絞り、市場拡大につれ（成長期）大量生産・販路拡大を進め、競合増加で差別化が難しい時期（成熟期）にはブランドの独自性を強調する、という戦略の切り替えがPLCの考え方。</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関連：C-37 ブランディング（成熟期の差別化戦略の柱となる）。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ブランディング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ブランド・エクイティという「見えない資産」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ブランド力があれば、同じ機能の商品でも高価格で選ばれ、リピート購入される（アーカーのブランド・エクイティ論）。</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ブランド・エクイティ</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とは、ブランドが持つ資産的な価値のこと。同じ機能の商品でも、ブランド力があれば高い価格でも選ばれたり、リピート購入されたりする。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ブランド認知</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そのブランドが知られているか</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知覚品質</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品質が高いと思われているか（消費者の主観的な評価）</a:t>
            </a:r>
            <a:endParaRPr lang="en-US" sz="1100" dirty="0"/>
          </a:p>
        </p:txBody>
      </p:sp>
      <p:sp>
        <p:nvSpPr>
          <p:cNvPr id="15" name="Text 13"/>
          <p:cNvSpPr txBox="1"/>
          <p:nvPr/>
        </p:nvSpPr>
        <p:spPr>
          <a:xfrm>
            <a:off x="502920" y="30449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ブランド・ロイヤルティ</a:t>
            </a:r>
            <a:endParaRPr lang="en-US" sz="1100" dirty="0"/>
          </a:p>
        </p:txBody>
      </p:sp>
      <p:sp>
        <p:nvSpPr>
          <p:cNvPr id="16" name="Shape 14"/>
          <p:cNvSpPr/>
          <p:nvPr/>
        </p:nvSpPr>
        <p:spPr>
          <a:xfrm>
            <a:off x="2404872" y="3044952"/>
            <a:ext cx="0" cy="256032"/>
          </a:xfrm>
          <a:prstGeom prst="line">
            <a:avLst/>
          </a:prstGeom>
          <a:noFill/>
          <a:ln w="12700">
            <a:solidFill>
              <a:srgbClr val="E6E6E6"/>
            </a:solidFill>
            <a:prstDash val="solid"/>
          </a:ln>
        </p:spPr>
      </p:sp>
      <p:sp>
        <p:nvSpPr>
          <p:cNvPr id="17" name="Text 15"/>
          <p:cNvSpPr txBox="1"/>
          <p:nvPr/>
        </p:nvSpPr>
        <p:spPr>
          <a:xfrm>
            <a:off x="2560320" y="30449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そのブランドへの愛着・継続購買意向</a:t>
            </a:r>
            <a:endParaRPr lang="en-US" sz="1100" dirty="0"/>
          </a:p>
        </p:txBody>
      </p:sp>
      <p:sp>
        <p:nvSpPr>
          <p:cNvPr id="18" name="Text 16"/>
          <p:cNvSpPr txBox="1"/>
          <p:nvPr/>
        </p:nvSpPr>
        <p:spPr>
          <a:xfrm>
            <a:off x="502920" y="35021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同じような機能のスニーカーでも、有名スポーツブランドのロゴが付いているだけで高い価格で売れるのは、そのブランドが持つブランド・エクイティ（ブランド価値）によるもの。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ひっかけ：ブランド・エクイティは「知覚品質」であり、客観的な品質の高さそのものではない。消費者にどう「思われているか」が本質。</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「高関与」か「低関与」かで購買行動が変わる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10年間ほぼ毎年出題される最頻出論点。関与度による購買行動の違いを理解する。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消費者が商品を購入するまでの心理プロセスを理解することもマーケティングの重要な要素。購買への関与度によって行動パターンが異なる。</a:t>
            </a:r>
            <a:endParaRPr lang="en-US" sz="1150" dirty="0"/>
          </a:p>
        </p:txBody>
      </p:sp>
      <p:sp>
        <p:nvSpPr>
          <p:cNvPr id="9" name="Text 7"/>
          <p:cNvSpPr txBox="1"/>
          <p:nvPr/>
        </p:nvSpPr>
        <p:spPr>
          <a:xfrm>
            <a:off x="502920" y="22219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高関与型</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じっくり検討する購買（住宅、自動車など）。多くの情報を集めて比較検討する</a:t>
            </a:r>
            <a:endParaRPr lang="en-US" sz="1150" dirty="0"/>
          </a:p>
        </p:txBody>
      </p:sp>
      <p:sp>
        <p:nvSpPr>
          <p:cNvPr id="12" name="Text 10"/>
          <p:cNvSpPr txBox="1"/>
          <p:nvPr/>
        </p:nvSpPr>
        <p:spPr>
          <a:xfrm>
            <a:off x="502920" y="26791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低関与型</a:t>
            </a:r>
            <a:endParaRPr lang="en-US" sz="1150" dirty="0"/>
          </a:p>
        </p:txBody>
      </p:sp>
      <p:sp>
        <p:nvSpPr>
          <p:cNvPr id="13" name="Shape 11"/>
          <p:cNvSpPr/>
          <p:nvPr/>
        </p:nvSpPr>
        <p:spPr>
          <a:xfrm>
            <a:off x="1856232" y="2679192"/>
            <a:ext cx="0" cy="256032"/>
          </a:xfrm>
          <a:prstGeom prst="line">
            <a:avLst/>
          </a:prstGeom>
          <a:noFill/>
          <a:ln w="12700">
            <a:solidFill>
              <a:srgbClr val="E6E6E6"/>
            </a:solidFill>
            <a:prstDash val="solid"/>
          </a:ln>
        </p:spPr>
      </p:sp>
      <p:sp>
        <p:nvSpPr>
          <p:cNvPr id="14" name="Text 12"/>
          <p:cNvSpPr txBox="1"/>
          <p:nvPr/>
        </p:nvSpPr>
        <p:spPr>
          <a:xfrm>
            <a:off x="2011680" y="26791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あまり深く考えない購買（日用品など）。習慣的に選ばれることが多い</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住宅の購入では、多くの情報を集めて比較検討する「高関与型」の意思決定が行われるが、コンビニでのお菓子の購入は、ほとんど検討せず習慣的に選ばれる「低関与型」の意思決定であることが多い。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関連：C-39 プライシング（高関与型では価格以外の情報も比較検討材料になる）。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プライシング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価格はどう決まるか：3つのアプローチと心理的価格設定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コストベース・需要ベース・競争ベースという3つの価格決定アプローチに加え、心理的な価格設定の工夫も出題される。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コストベース</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原価起点</a:t>
            </a:r>
            <a:endParaRPr lang="en-US" sz="1100" dirty="0"/>
          </a:p>
        </p:txBody>
      </p:sp>
      <p:sp>
        <p:nvSpPr>
          <p:cNvPr id="10" name="Text 8"/>
          <p:cNvSpPr txBox="1"/>
          <p:nvPr/>
        </p:nvSpPr>
        <p:spPr>
          <a:xfrm>
            <a:off x="3977640" y="1856232"/>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原価に一定の利益を上乗せして価格を決める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需要ベース</a:t>
            </a:r>
            <a:endParaRPr lang="en-US" sz="1500" dirty="0"/>
          </a:p>
        </p:txBody>
      </p:sp>
      <p:sp>
        <p:nvSpPr>
          <p:cNvPr id="13" name="Text 11"/>
          <p:cNvSpPr txBox="1"/>
          <p:nvPr/>
        </p:nvSpPr>
        <p:spPr>
          <a:xfrm>
            <a:off x="2423160" y="2752344"/>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顧客起点</a:t>
            </a:r>
            <a:endParaRPr lang="en-US" sz="1100" dirty="0"/>
          </a:p>
        </p:txBody>
      </p:sp>
      <p:sp>
        <p:nvSpPr>
          <p:cNvPr id="14" name="Text 12"/>
          <p:cNvSpPr txBox="1"/>
          <p:nvPr/>
        </p:nvSpPr>
        <p:spPr>
          <a:xfrm>
            <a:off x="3977640" y="2697480"/>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顧客が「これくらいなら払ってもよい」と思う金額を基準に価格を決める</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競争ベース</a:t>
            </a:r>
            <a:endParaRPr lang="en-US" sz="1500" dirty="0"/>
          </a:p>
        </p:txBody>
      </p:sp>
      <p:sp>
        <p:nvSpPr>
          <p:cNvPr id="17" name="Text 15"/>
          <p:cNvSpPr txBox="1"/>
          <p:nvPr/>
        </p:nvSpPr>
        <p:spPr>
          <a:xfrm>
            <a:off x="2423160" y="35935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競合起点</a:t>
            </a:r>
            <a:endParaRPr lang="en-US" sz="1100" dirty="0"/>
          </a:p>
        </p:txBody>
      </p:sp>
      <p:sp>
        <p:nvSpPr>
          <p:cNvPr id="18" name="Text 16"/>
          <p:cNvSpPr txBox="1"/>
          <p:nvPr/>
        </p:nvSpPr>
        <p:spPr>
          <a:xfrm>
            <a:off x="3977640" y="3538728"/>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競合の価格を基準に価格を決める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端数価格</a:t>
            </a:r>
            <a:endParaRPr lang="en-US" sz="1500" dirty="0"/>
          </a:p>
        </p:txBody>
      </p:sp>
      <p:sp>
        <p:nvSpPr>
          <p:cNvPr id="21" name="Text 19"/>
          <p:cNvSpPr txBox="1"/>
          <p:nvPr/>
        </p:nvSpPr>
        <p:spPr>
          <a:xfrm>
            <a:off x="2423160" y="443484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心理効果</a:t>
            </a:r>
            <a:endParaRPr lang="en-US" sz="1100" dirty="0"/>
          </a:p>
        </p:txBody>
      </p:sp>
      <p:sp>
        <p:nvSpPr>
          <p:cNvPr id="22" name="Text 20"/>
          <p:cNvSpPr txBox="1"/>
          <p:nvPr/>
        </p:nvSpPr>
        <p:spPr>
          <a:xfrm>
            <a:off x="3977640" y="4379976"/>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「1,000円」でなく「980円」と表示し、実際以上に安く感じさせる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具体例：高級ブランド品は原価でなく「顧客がブランド価値にどれだけ払う意思があるか」（需要ベース）であえて高価格を維持しブランドイメージを守る。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コミュニケーション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マスメディアとSPメディアを組み合わせる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企業が消費者に情報を伝える手段には、マスメディア広告とSP（セールス・プロモーション）メディアがある。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企業が消費者に情報を伝える「コミュニケーション」手段には、テレビCMなどの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マスメディア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を使った広告と、チラシ・ノベルティなどの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SPメディア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がある。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マスメディア広告</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テレビ・新聞・雑誌等、不特定多数に一斉に届ける広告</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SPメディア</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チラシ・ノベルティ・店頭POP等、購買行動に近い場面で使う販促媒体</a:t>
            </a:r>
            <a:endParaRPr lang="en-US" sz="110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新商品のテレビCM（マスメディア広告）で認知を広げつつ、店頭でのポップやサンプリング（SPメディア）で最後の後押しをする、という組み合わせが一般的。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関連：C-41 プロモーション（コミュニケーション手段の使い分けとセットで問われる）。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C-41 ／ プロモーション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3つのプロモーション手法と、プル／プッシュの使い分け</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人的販売・販売促進・PRという3手法、そして消費者に直接働きかけるか流通業者に働きかけるかの戦略選択が問われる。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人的販売</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対面</a:t>
            </a:r>
            <a:endParaRPr lang="en-US" sz="1100" dirty="0"/>
          </a:p>
        </p:txBody>
      </p:sp>
      <p:sp>
        <p:nvSpPr>
          <p:cNvPr id="10" name="Text 8"/>
          <p:cNvSpPr txBox="1"/>
          <p:nvPr/>
        </p:nvSpPr>
        <p:spPr>
          <a:xfrm>
            <a:off x="3977640" y="18562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営業担当者が直接顧客に働きかける（高額商品・法人営業で重要）</a:t>
            </a:r>
            <a:endParaRPr lang="en-US" sz="1100" dirty="0"/>
          </a:p>
        </p:txBody>
      </p:sp>
      <p:sp>
        <p:nvSpPr>
          <p:cNvPr id="11" name="Shape 9"/>
          <p:cNvSpPr/>
          <p:nvPr/>
        </p:nvSpPr>
        <p:spPr>
          <a:xfrm>
            <a:off x="502920" y="2468880"/>
            <a:ext cx="11201400" cy="0"/>
          </a:xfrm>
          <a:prstGeom prst="line">
            <a:avLst/>
          </a:prstGeom>
          <a:noFill/>
          <a:ln w="12700">
            <a:solidFill>
              <a:srgbClr val="E6E6E6"/>
            </a:solidFill>
            <a:prstDash val="solid"/>
          </a:ln>
        </p:spPr>
      </p:sp>
      <p:sp>
        <p:nvSpPr>
          <p:cNvPr id="12" name="Text 10"/>
          <p:cNvSpPr txBox="1"/>
          <p:nvPr/>
        </p:nvSpPr>
        <p:spPr>
          <a:xfrm>
            <a:off x="502920" y="25786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販売促進</a:t>
            </a:r>
            <a:endParaRPr lang="en-US" sz="1500" dirty="0"/>
          </a:p>
        </p:txBody>
      </p:sp>
      <p:sp>
        <p:nvSpPr>
          <p:cNvPr id="13" name="Text 11"/>
          <p:cNvSpPr txBox="1"/>
          <p:nvPr/>
        </p:nvSpPr>
        <p:spPr>
          <a:xfrm>
            <a:off x="2423160" y="25968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短期</a:t>
            </a:r>
            <a:endParaRPr lang="en-US" sz="1100" dirty="0"/>
          </a:p>
        </p:txBody>
      </p:sp>
      <p:sp>
        <p:nvSpPr>
          <p:cNvPr id="14" name="Text 12"/>
          <p:cNvSpPr txBox="1"/>
          <p:nvPr/>
        </p:nvSpPr>
        <p:spPr>
          <a:xfrm>
            <a:off x="3977640" y="25420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値引き、クーポン、サンプリングなど、短期的に購買を促す施策</a:t>
            </a:r>
            <a:endParaRPr lang="en-US" sz="110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644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a:t>
            </a:r>
            <a:endParaRPr lang="en-US" sz="1500" dirty="0"/>
          </a:p>
        </p:txBody>
      </p:sp>
      <p:sp>
        <p:nvSpPr>
          <p:cNvPr id="17" name="Text 15"/>
          <p:cNvSpPr txBox="1"/>
          <p:nvPr/>
        </p:nvSpPr>
        <p:spPr>
          <a:xfrm>
            <a:off x="2423160" y="32826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間接</a:t>
            </a:r>
            <a:endParaRPr lang="en-US" sz="1100" dirty="0"/>
          </a:p>
        </p:txBody>
      </p:sp>
      <p:sp>
        <p:nvSpPr>
          <p:cNvPr id="18" name="Text 16"/>
          <p:cNvSpPr txBox="1"/>
          <p:nvPr/>
        </p:nvSpPr>
        <p:spPr>
          <a:xfrm>
            <a:off x="3977640" y="32278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報道機関への情報提供等で評判を高める。掲載可否や内容は自社でコントロールできない</a:t>
            </a:r>
            <a:endParaRPr lang="en-US" sz="1100" dirty="0"/>
          </a:p>
        </p:txBody>
      </p:sp>
      <p:sp>
        <p:nvSpPr>
          <p:cNvPr id="19" name="Shape 17"/>
          <p:cNvSpPr/>
          <p:nvPr/>
        </p:nvSpPr>
        <p:spPr>
          <a:xfrm>
            <a:off x="502920" y="3840480"/>
            <a:ext cx="11201400" cy="0"/>
          </a:xfrm>
          <a:prstGeom prst="line">
            <a:avLst/>
          </a:prstGeom>
          <a:noFill/>
          <a:ln w="12700">
            <a:solidFill>
              <a:srgbClr val="E6E6E6"/>
            </a:solidFill>
            <a:prstDash val="solid"/>
          </a:ln>
        </p:spPr>
      </p:sp>
      <p:sp>
        <p:nvSpPr>
          <p:cNvPr id="20" name="Text 18"/>
          <p:cNvSpPr txBox="1"/>
          <p:nvPr/>
        </p:nvSpPr>
        <p:spPr>
          <a:xfrm>
            <a:off x="502920" y="39502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プル戦略</a:t>
            </a:r>
            <a:endParaRPr lang="en-US" sz="1500" dirty="0"/>
          </a:p>
        </p:txBody>
      </p:sp>
      <p:sp>
        <p:nvSpPr>
          <p:cNvPr id="21" name="Text 19"/>
          <p:cNvSpPr txBox="1"/>
          <p:nvPr/>
        </p:nvSpPr>
        <p:spPr>
          <a:xfrm>
            <a:off x="2423160" y="39684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対消費者</a:t>
            </a:r>
            <a:endParaRPr lang="en-US" sz="1100" dirty="0"/>
          </a:p>
        </p:txBody>
      </p:sp>
      <p:sp>
        <p:nvSpPr>
          <p:cNvPr id="22" name="Text 20"/>
          <p:cNvSpPr txBox="1"/>
          <p:nvPr/>
        </p:nvSpPr>
        <p:spPr>
          <a:xfrm>
            <a:off x="3977640" y="39136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広告等で消費者の需要を喚起し、小売店に「置いてほしい」と言わせる</a:t>
            </a:r>
            <a:endParaRPr lang="en-US" sz="1100" dirty="0"/>
          </a:p>
        </p:txBody>
      </p:sp>
      <p:sp>
        <p:nvSpPr>
          <p:cNvPr id="23" name="Shape 21"/>
          <p:cNvSpPr/>
          <p:nvPr/>
        </p:nvSpPr>
        <p:spPr>
          <a:xfrm>
            <a:off x="502920" y="4526280"/>
            <a:ext cx="11201400" cy="0"/>
          </a:xfrm>
          <a:prstGeom prst="line">
            <a:avLst/>
          </a:prstGeom>
          <a:noFill/>
          <a:ln w="12700">
            <a:solidFill>
              <a:srgbClr val="E6E6E6"/>
            </a:solidFill>
            <a:prstDash val="solid"/>
          </a:ln>
        </p:spPr>
      </p:sp>
      <p:sp>
        <p:nvSpPr>
          <p:cNvPr id="24" name="Text 22"/>
          <p:cNvSpPr txBox="1"/>
          <p:nvPr/>
        </p:nvSpPr>
        <p:spPr>
          <a:xfrm>
            <a:off x="502920" y="46360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プッシュ戦略</a:t>
            </a:r>
            <a:endParaRPr lang="en-US" sz="1500" dirty="0"/>
          </a:p>
        </p:txBody>
      </p:sp>
      <p:sp>
        <p:nvSpPr>
          <p:cNvPr id="25" name="Text 23"/>
          <p:cNvSpPr txBox="1"/>
          <p:nvPr/>
        </p:nvSpPr>
        <p:spPr>
          <a:xfrm>
            <a:off x="2423160" y="46542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対流通</a:t>
            </a:r>
            <a:endParaRPr lang="en-US" sz="1100" dirty="0"/>
          </a:p>
        </p:txBody>
      </p:sp>
      <p:sp>
        <p:nvSpPr>
          <p:cNvPr id="26" name="Text 24"/>
          <p:cNvSpPr txBox="1"/>
          <p:nvPr/>
        </p:nvSpPr>
        <p:spPr>
          <a:xfrm>
            <a:off x="3977640" y="4599432"/>
            <a:ext cx="772668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卸・小売店に営業をかけて棚を確保する</a:t>
            </a:r>
            <a:endParaRPr lang="en-US" sz="11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具体例：テレビCMで消費者の関心を高め店頭で探させるのがプル戦略、営業担当が小売店を回り陳列棚を確保するのがプッシュ戦略。</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C-42 ／ 流通チャネル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チャネルの開放度と、オムニチャネル時代の3つの考え方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開放的・選択的・専属的という開放度の違いに加え、実店舗とネットの垣根をなくすオムニチャネル系の概念も頻出。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開放的チャネル</a:t>
            </a:r>
            <a:endParaRPr lang="en-US" sz="1500" dirty="0"/>
          </a:p>
        </p:txBody>
      </p:sp>
      <p:sp>
        <p:nvSpPr>
          <p:cNvPr id="9" name="Text 7"/>
          <p:cNvSpPr txBox="1"/>
          <p:nvPr/>
        </p:nvSpPr>
        <p:spPr>
          <a:xfrm>
            <a:off x="26974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広く</a:t>
            </a:r>
            <a:endParaRPr lang="en-US" sz="1100" dirty="0"/>
          </a:p>
        </p:txBody>
      </p:sp>
      <p:sp>
        <p:nvSpPr>
          <p:cNvPr id="10" name="Text 8"/>
          <p:cNvSpPr txBox="1"/>
          <p:nvPr/>
        </p:nvSpPr>
        <p:spPr>
          <a:xfrm>
            <a:off x="4526280" y="185623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多くの店舗に幅広く置いてもらう（例：コンビニで売る日用品）</a:t>
            </a:r>
            <a:endParaRPr lang="en-US" sz="1100" dirty="0"/>
          </a:p>
        </p:txBody>
      </p:sp>
      <p:sp>
        <p:nvSpPr>
          <p:cNvPr id="11" name="Shape 9"/>
          <p:cNvSpPr/>
          <p:nvPr/>
        </p:nvSpPr>
        <p:spPr>
          <a:xfrm>
            <a:off x="502920" y="2331720"/>
            <a:ext cx="11201400" cy="0"/>
          </a:xfrm>
          <a:prstGeom prst="line">
            <a:avLst/>
          </a:prstGeom>
          <a:noFill/>
          <a:ln w="12700">
            <a:solidFill>
              <a:srgbClr val="E6E6E6"/>
            </a:solidFill>
            <a:prstDash val="solid"/>
          </a:ln>
        </p:spPr>
      </p:sp>
      <p:sp>
        <p:nvSpPr>
          <p:cNvPr id="12" name="Text 10"/>
          <p:cNvSpPr txBox="1"/>
          <p:nvPr/>
        </p:nvSpPr>
        <p:spPr>
          <a:xfrm>
            <a:off x="502920" y="244144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選択的チャネル</a:t>
            </a:r>
            <a:endParaRPr lang="en-US" sz="1500" dirty="0"/>
          </a:p>
        </p:txBody>
      </p:sp>
      <p:sp>
        <p:nvSpPr>
          <p:cNvPr id="13" name="Text 11"/>
          <p:cNvSpPr txBox="1"/>
          <p:nvPr/>
        </p:nvSpPr>
        <p:spPr>
          <a:xfrm>
            <a:off x="2697480" y="24597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絞る</a:t>
            </a:r>
            <a:endParaRPr lang="en-US" sz="1100" dirty="0"/>
          </a:p>
        </p:txBody>
      </p:sp>
      <p:sp>
        <p:nvSpPr>
          <p:cNvPr id="14" name="Text 12"/>
          <p:cNvSpPr txBox="1"/>
          <p:nvPr/>
        </p:nvSpPr>
        <p:spPr>
          <a:xfrm>
            <a:off x="4526280" y="240487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一定の基準を満たす店舗にのみ置く（例：百貨店・ブランド専門店限定の高級化粧品）</a:t>
            </a:r>
            <a:endParaRPr lang="en-US" sz="1100" dirty="0"/>
          </a:p>
        </p:txBody>
      </p:sp>
      <p:sp>
        <p:nvSpPr>
          <p:cNvPr id="15" name="Shape 13"/>
          <p:cNvSpPr/>
          <p:nvPr/>
        </p:nvSpPr>
        <p:spPr>
          <a:xfrm>
            <a:off x="502920" y="2880360"/>
            <a:ext cx="11201400" cy="0"/>
          </a:xfrm>
          <a:prstGeom prst="line">
            <a:avLst/>
          </a:prstGeom>
          <a:noFill/>
          <a:ln w="12700">
            <a:solidFill>
              <a:srgbClr val="E6E6E6"/>
            </a:solidFill>
            <a:prstDash val="solid"/>
          </a:ln>
        </p:spPr>
      </p:sp>
      <p:sp>
        <p:nvSpPr>
          <p:cNvPr id="16" name="Text 14"/>
          <p:cNvSpPr txBox="1"/>
          <p:nvPr/>
        </p:nvSpPr>
        <p:spPr>
          <a:xfrm>
            <a:off x="502920" y="29900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専属的チャネル</a:t>
            </a:r>
            <a:endParaRPr lang="en-US" sz="1500" dirty="0"/>
          </a:p>
        </p:txBody>
      </p:sp>
      <p:sp>
        <p:nvSpPr>
          <p:cNvPr id="17" name="Text 15"/>
          <p:cNvSpPr txBox="1"/>
          <p:nvPr/>
        </p:nvSpPr>
        <p:spPr>
          <a:xfrm>
            <a:off x="2697480" y="30083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独占</a:t>
            </a:r>
            <a:endParaRPr lang="en-US" sz="1100" dirty="0"/>
          </a:p>
        </p:txBody>
      </p:sp>
      <p:sp>
        <p:nvSpPr>
          <p:cNvPr id="18" name="Text 16"/>
          <p:cNvSpPr txBox="1"/>
          <p:nvPr/>
        </p:nvSpPr>
        <p:spPr>
          <a:xfrm>
            <a:off x="4526280" y="295351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特定の1社にのみ独占的に販売権を与える</a:t>
            </a:r>
            <a:endParaRPr lang="en-US" sz="1100" dirty="0"/>
          </a:p>
        </p:txBody>
      </p:sp>
      <p:sp>
        <p:nvSpPr>
          <p:cNvPr id="19" name="Shape 17"/>
          <p:cNvSpPr/>
          <p:nvPr/>
        </p:nvSpPr>
        <p:spPr>
          <a:xfrm>
            <a:off x="502920" y="3429000"/>
            <a:ext cx="11201400" cy="0"/>
          </a:xfrm>
          <a:prstGeom prst="line">
            <a:avLst/>
          </a:prstGeom>
          <a:noFill/>
          <a:ln w="12700">
            <a:solidFill>
              <a:srgbClr val="E6E6E6"/>
            </a:solidFill>
            <a:prstDash val="solid"/>
          </a:ln>
        </p:spPr>
      </p:sp>
      <p:sp>
        <p:nvSpPr>
          <p:cNvPr id="20" name="Text 18"/>
          <p:cNvSpPr txBox="1"/>
          <p:nvPr/>
        </p:nvSpPr>
        <p:spPr>
          <a:xfrm>
            <a:off x="502920" y="35387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オムニチャネル</a:t>
            </a:r>
            <a:endParaRPr lang="en-US" sz="1500" dirty="0"/>
          </a:p>
        </p:txBody>
      </p:sp>
      <p:sp>
        <p:nvSpPr>
          <p:cNvPr id="21" name="Text 19"/>
          <p:cNvSpPr txBox="1"/>
          <p:nvPr/>
        </p:nvSpPr>
        <p:spPr>
          <a:xfrm>
            <a:off x="2697480" y="35570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融合</a:t>
            </a:r>
            <a:endParaRPr lang="en-US" sz="1100" dirty="0"/>
          </a:p>
        </p:txBody>
      </p:sp>
      <p:sp>
        <p:nvSpPr>
          <p:cNvPr id="22" name="Text 20"/>
          <p:cNvSpPr txBox="1"/>
          <p:nvPr/>
        </p:nvSpPr>
        <p:spPr>
          <a:xfrm>
            <a:off x="4526280" y="350215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実店舗とネット通販の垣根をなくし、どちらでもスムーズに買い物できるようにする</a:t>
            </a:r>
            <a:endParaRPr lang="en-US" sz="1100" dirty="0"/>
          </a:p>
        </p:txBody>
      </p:sp>
      <p:sp>
        <p:nvSpPr>
          <p:cNvPr id="23" name="Shape 21"/>
          <p:cNvSpPr/>
          <p:nvPr/>
        </p:nvSpPr>
        <p:spPr>
          <a:xfrm>
            <a:off x="502920" y="3977640"/>
            <a:ext cx="11201400" cy="0"/>
          </a:xfrm>
          <a:prstGeom prst="line">
            <a:avLst/>
          </a:prstGeom>
          <a:noFill/>
          <a:ln w="12700">
            <a:solidFill>
              <a:srgbClr val="E6E6E6"/>
            </a:solidFill>
            <a:prstDash val="solid"/>
          </a:ln>
        </p:spPr>
      </p:sp>
      <p:sp>
        <p:nvSpPr>
          <p:cNvPr id="24" name="Text 22"/>
          <p:cNvSpPr txBox="1"/>
          <p:nvPr/>
        </p:nvSpPr>
        <p:spPr>
          <a:xfrm>
            <a:off x="502920" y="40873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O2O</a:t>
            </a:r>
            <a:endParaRPr lang="en-US" sz="1500" dirty="0"/>
          </a:p>
        </p:txBody>
      </p:sp>
      <p:sp>
        <p:nvSpPr>
          <p:cNvPr id="25" name="Text 23"/>
          <p:cNvSpPr txBox="1"/>
          <p:nvPr/>
        </p:nvSpPr>
        <p:spPr>
          <a:xfrm>
            <a:off x="2697480" y="41056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Online→Offline</a:t>
            </a:r>
            <a:endParaRPr lang="en-US" sz="1100" dirty="0"/>
          </a:p>
        </p:txBody>
      </p:sp>
      <p:sp>
        <p:nvSpPr>
          <p:cNvPr id="26" name="Text 24"/>
          <p:cNvSpPr txBox="1"/>
          <p:nvPr/>
        </p:nvSpPr>
        <p:spPr>
          <a:xfrm>
            <a:off x="4526280" y="405079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オンラインでの行動をオフライン（実店舗）の購買に結びつける</a:t>
            </a:r>
            <a:endParaRPr lang="en-US" sz="1100" dirty="0"/>
          </a:p>
        </p:txBody>
      </p:sp>
      <p:sp>
        <p:nvSpPr>
          <p:cNvPr id="27" name="Shape 25"/>
          <p:cNvSpPr/>
          <p:nvPr/>
        </p:nvSpPr>
        <p:spPr>
          <a:xfrm>
            <a:off x="502920" y="4526280"/>
            <a:ext cx="11201400" cy="0"/>
          </a:xfrm>
          <a:prstGeom prst="line">
            <a:avLst/>
          </a:prstGeom>
          <a:noFill/>
          <a:ln w="12700">
            <a:solidFill>
              <a:srgbClr val="E6E6E6"/>
            </a:solidFill>
            <a:prstDash val="solid"/>
          </a:ln>
        </p:spPr>
      </p:sp>
      <p:sp>
        <p:nvSpPr>
          <p:cNvPr id="28" name="Text 26"/>
          <p:cNvSpPr txBox="1"/>
          <p:nvPr/>
        </p:nvSpPr>
        <p:spPr>
          <a:xfrm>
            <a:off x="502920" y="46360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OMO</a:t>
            </a:r>
            <a:endParaRPr lang="en-US" sz="1500" dirty="0"/>
          </a:p>
        </p:txBody>
      </p:sp>
      <p:sp>
        <p:nvSpPr>
          <p:cNvPr id="29" name="Text 27"/>
          <p:cNvSpPr txBox="1"/>
          <p:nvPr/>
        </p:nvSpPr>
        <p:spPr>
          <a:xfrm>
            <a:off x="2697480" y="46542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意識させない</a:t>
            </a:r>
            <a:endParaRPr lang="en-US" sz="1100" dirty="0"/>
          </a:p>
        </p:txBody>
      </p:sp>
      <p:sp>
        <p:nvSpPr>
          <p:cNvPr id="30" name="Text 28"/>
          <p:cNvSpPr txBox="1"/>
          <p:nvPr/>
        </p:nvSpPr>
        <p:spPr>
          <a:xfrm>
            <a:off x="4526280" y="459943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オンラインとオフラインの垣根をそもそも意識させない</a:t>
            </a:r>
            <a:endParaRPr lang="en-US" sz="11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具体例：ネットで注文して店舗で受け取れるサービスはO2O・オムニチャネルの代表例。</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FFFF"/>
          </a:solidFill>
          <a:ln w="12700">
            <a:solidFill>
              <a:srgbClr val="E6E6E6"/>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2026-09-13T06:25:29Z</dcterms:created>
  <dcterms:modified xsi:type="dcterms:W3CDTF">2026-09-13T06:25:29Z</dcterms:modified>
</cp:coreProperties>
</file>