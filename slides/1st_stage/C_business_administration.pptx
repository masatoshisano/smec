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表紙スライド。企業経営理論の全体像を示す。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経営戦略論パートの区切りスライド。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03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企業経営理論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経営戦略論・組織論・マーケティング論の3分野、42論点。うち40論点が頻出ランクA（直近10年で3回以上出題）という、1次試験随一の頻出科目。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42</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40/42</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docs/textbook/C_business_administration_textbook.md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企業経営理論 ／ C-1〜C-14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経営戦略論</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企業がどの事業を持ち、どのように経営資源を配分して競争に勝つかを考える分野。VRIO分析やPPM、5フォース分析など、教科書レベルでも重要フレームワークが集中する。</a:t>
            </a:r>
            <a:endParaRPr lang="en-US" sz="1400" dirty="0"/>
          </a:p>
        </p:txBody>
      </p:sp>
      <p:sp>
        <p:nvSpPr>
          <p:cNvPr id="6" name="Shape 4"/>
          <p:cNvSpPr/>
          <p:nvPr/>
        </p:nvSpPr>
        <p:spPr>
          <a:xfrm>
            <a:off x="640080" y="4800600"/>
            <a:ext cx="1554480" cy="384048"/>
          </a:xfrm>
          <a:prstGeom prst="rect">
            <a:avLst/>
          </a:prstGeom>
          <a:ln w="9525">
            <a:solidFill>
              <a:srgbClr val="7F7F7F"/>
            </a:solidFill>
            <a:prstDash val="solid"/>
          </a:ln>
        </p:spPr>
      </p:sp>
      <p:sp>
        <p:nvSpPr>
          <p:cNvPr id="7" name="Text 5"/>
          <p:cNvSpPr txBox="1"/>
          <p:nvPr/>
        </p:nvSpPr>
        <p:spPr>
          <a:xfrm>
            <a:off x="640080"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C-1 VRIO分析</a:t>
            </a:r>
            <a:endParaRPr lang="en-US" sz="1000" dirty="0"/>
          </a:p>
        </p:txBody>
      </p:sp>
      <p:sp>
        <p:nvSpPr>
          <p:cNvPr id="8" name="Shape 6"/>
          <p:cNvSpPr/>
          <p:nvPr/>
        </p:nvSpPr>
        <p:spPr>
          <a:xfrm>
            <a:off x="2423160" y="4800600"/>
            <a:ext cx="1184148" cy="384048"/>
          </a:xfrm>
          <a:prstGeom prst="rect">
            <a:avLst/>
          </a:prstGeom>
          <a:ln w="9525">
            <a:solidFill>
              <a:srgbClr val="7F7F7F"/>
            </a:solidFill>
            <a:prstDash val="solid"/>
          </a:ln>
        </p:spPr>
      </p:sp>
      <p:sp>
        <p:nvSpPr>
          <p:cNvPr id="9" name="Text 7"/>
          <p:cNvSpPr txBox="1"/>
          <p:nvPr/>
        </p:nvSpPr>
        <p:spPr>
          <a:xfrm>
            <a:off x="242316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C-4 PPM</a:t>
            </a:r>
            <a:endParaRPr lang="en-US" sz="1000" dirty="0"/>
          </a:p>
        </p:txBody>
      </p:sp>
      <p:sp>
        <p:nvSpPr>
          <p:cNvPr id="10" name="Shape 8"/>
          <p:cNvSpPr/>
          <p:nvPr/>
        </p:nvSpPr>
        <p:spPr>
          <a:xfrm>
            <a:off x="3835908" y="4800600"/>
            <a:ext cx="1677924" cy="384048"/>
          </a:xfrm>
          <a:prstGeom prst="rect">
            <a:avLst/>
          </a:prstGeom>
          <a:ln w="9525">
            <a:solidFill>
              <a:srgbClr val="7F7F7F"/>
            </a:solidFill>
            <a:prstDash val="solid"/>
          </a:ln>
        </p:spPr>
      </p:sp>
      <p:sp>
        <p:nvSpPr>
          <p:cNvPr id="11" name="Text 9"/>
          <p:cNvSpPr txBox="1"/>
          <p:nvPr/>
        </p:nvSpPr>
        <p:spPr>
          <a:xfrm>
            <a:off x="383590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C-6 5フォース分析</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戦略の考え方・階層別戦略・VRIO</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VRIO分析で競争優位の源泉を見抜く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自社の経営資源が本当に競争力の源泉になっているかを、4つの視点でチェックする。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経営戦略には企業戦略・事業戦略・機能別戦略の3階層があり、まず自社を取り巻く状況を分析する。代表的な枠組みがVRIO分析：経営資源が競争力の源泉かを4つの視点でチェックする。</a:t>
            </a:r>
            <a:endParaRPr lang="en-US" sz="1150" dirty="0"/>
          </a:p>
        </p:txBody>
      </p:sp>
      <p:sp>
        <p:nvSpPr>
          <p:cNvPr id="9" name="Text 7"/>
          <p:cNvSpPr txBox="1"/>
          <p:nvPr/>
        </p:nvSpPr>
        <p:spPr>
          <a:xfrm>
            <a:off x="502920" y="220370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V：価値</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外部の機会をつかむ・脅威を防ぐのに役立つか</a:t>
            </a:r>
            <a:endParaRPr lang="en-US" sz="1150" dirty="0"/>
          </a:p>
        </p:txBody>
      </p:sp>
      <p:sp>
        <p:nvSpPr>
          <p:cNvPr id="12" name="Text 10"/>
          <p:cNvSpPr txBox="1"/>
          <p:nvPr/>
        </p:nvSpPr>
        <p:spPr>
          <a:xfrm>
            <a:off x="502920" y="247802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R：希少性</a:t>
            </a:r>
            <a:endParaRPr lang="en-US" sz="1150" dirty="0"/>
          </a:p>
        </p:txBody>
      </p:sp>
      <p:sp>
        <p:nvSpPr>
          <p:cNvPr id="13" name="Shape 11"/>
          <p:cNvSpPr/>
          <p:nvPr/>
        </p:nvSpPr>
        <p:spPr>
          <a:xfrm>
            <a:off x="1901952" y="2478024"/>
            <a:ext cx="0" cy="256032"/>
          </a:xfrm>
          <a:prstGeom prst="line">
            <a:avLst/>
          </a:prstGeom>
          <a:noFill/>
          <a:ln w="12700">
            <a:solidFill>
              <a:srgbClr val="E6E6E6"/>
            </a:solidFill>
            <a:prstDash val="solid"/>
          </a:ln>
        </p:spPr>
      </p:sp>
      <p:sp>
        <p:nvSpPr>
          <p:cNvPr id="14" name="Text 12"/>
          <p:cNvSpPr txBox="1"/>
          <p:nvPr/>
        </p:nvSpPr>
        <p:spPr>
          <a:xfrm>
            <a:off x="2057400" y="247802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他社があまり持っていない珍しい資源か</a:t>
            </a:r>
            <a:endParaRPr lang="en-US" sz="1150" dirty="0"/>
          </a:p>
        </p:txBody>
      </p:sp>
      <p:sp>
        <p:nvSpPr>
          <p:cNvPr id="15" name="Text 13"/>
          <p:cNvSpPr txBox="1"/>
          <p:nvPr/>
        </p:nvSpPr>
        <p:spPr>
          <a:xfrm>
            <a:off x="502920" y="275234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I：模倣困難性</a:t>
            </a:r>
            <a:endParaRPr lang="en-US" sz="1150" dirty="0"/>
          </a:p>
        </p:txBody>
      </p:sp>
      <p:sp>
        <p:nvSpPr>
          <p:cNvPr id="16" name="Shape 14"/>
          <p:cNvSpPr/>
          <p:nvPr/>
        </p:nvSpPr>
        <p:spPr>
          <a:xfrm>
            <a:off x="1901952" y="2752344"/>
            <a:ext cx="0" cy="256032"/>
          </a:xfrm>
          <a:prstGeom prst="line">
            <a:avLst/>
          </a:prstGeom>
          <a:noFill/>
          <a:ln w="12700">
            <a:solidFill>
              <a:srgbClr val="E6E6E6"/>
            </a:solidFill>
            <a:prstDash val="solid"/>
          </a:ln>
        </p:spPr>
      </p:sp>
      <p:sp>
        <p:nvSpPr>
          <p:cNvPr id="17" name="Text 15"/>
          <p:cNvSpPr txBox="1"/>
          <p:nvPr/>
        </p:nvSpPr>
        <p:spPr>
          <a:xfrm>
            <a:off x="2057400" y="275234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他社が真似しようとしてもすぐには真似できないか</a:t>
            </a:r>
            <a:endParaRPr lang="en-US" sz="1150" dirty="0"/>
          </a:p>
        </p:txBody>
      </p:sp>
      <p:sp>
        <p:nvSpPr>
          <p:cNvPr id="18" name="Text 16"/>
          <p:cNvSpPr txBox="1"/>
          <p:nvPr/>
        </p:nvSpPr>
        <p:spPr>
          <a:xfrm>
            <a:off x="502920" y="3026664"/>
            <a:ext cx="1417320" cy="2560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O：組織</a:t>
            </a:r>
            <a:endParaRPr lang="en-US" sz="1150" dirty="0"/>
          </a:p>
        </p:txBody>
      </p:sp>
      <p:sp>
        <p:nvSpPr>
          <p:cNvPr id="19" name="Shape 17"/>
          <p:cNvSpPr/>
          <p:nvPr/>
        </p:nvSpPr>
        <p:spPr>
          <a:xfrm>
            <a:off x="1901952" y="3026664"/>
            <a:ext cx="0" cy="256032"/>
          </a:xfrm>
          <a:prstGeom prst="line">
            <a:avLst/>
          </a:prstGeom>
          <a:noFill/>
          <a:ln w="12700">
            <a:solidFill>
              <a:srgbClr val="E6E6E6"/>
            </a:solidFill>
            <a:prstDash val="solid"/>
          </a:ln>
        </p:spPr>
      </p:sp>
      <p:sp>
        <p:nvSpPr>
          <p:cNvPr id="20" name="Text 18"/>
          <p:cNvSpPr txBox="1"/>
          <p:nvPr/>
        </p:nvSpPr>
        <p:spPr>
          <a:xfrm>
            <a:off x="2057400" y="3026664"/>
            <a:ext cx="9646920" cy="2560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その資源を活かせる組織体制になっているか</a:t>
            </a:r>
            <a:endParaRPr lang="en-US" sz="1150" dirty="0"/>
          </a:p>
        </p:txBody>
      </p:sp>
      <p:sp>
        <p:nvSpPr>
          <p:cNvPr id="21" name="Shape 19"/>
          <p:cNvSpPr/>
          <p:nvPr/>
        </p:nvSpPr>
        <p:spPr>
          <a:xfrm>
            <a:off x="502920" y="3355848"/>
            <a:ext cx="11201400" cy="365760"/>
          </a:xfrm>
          <a:prstGeom prst="rect">
            <a:avLst/>
          </a:prstGeom>
          <a:solidFill>
            <a:srgbClr val="F4F4F4"/>
          </a:solidFill>
          <a:ln/>
        </p:spPr>
      </p:sp>
      <p:sp>
        <p:nvSpPr>
          <p:cNvPr id="22" name="Shape 20"/>
          <p:cNvSpPr/>
          <p:nvPr/>
        </p:nvSpPr>
        <p:spPr>
          <a:xfrm>
            <a:off x="502920" y="3355848"/>
            <a:ext cx="0" cy="365760"/>
          </a:xfrm>
          <a:prstGeom prst="line">
            <a:avLst/>
          </a:prstGeom>
          <a:noFill/>
          <a:ln w="31750">
            <a:solidFill>
              <a:srgbClr val="171717"/>
            </a:solidFill>
            <a:prstDash val="solid"/>
          </a:ln>
        </p:spPr>
      </p:sp>
      <p:sp>
        <p:nvSpPr>
          <p:cNvPr id="23" name="Text 21"/>
          <p:cNvSpPr txBox="1"/>
          <p:nvPr/>
        </p:nvSpPr>
        <p:spPr>
          <a:xfrm>
            <a:off x="640080" y="3355848"/>
            <a:ext cx="10927080" cy="365760"/>
          </a:xfrm>
          <a:prstGeom prst="rect">
            <a:avLst/>
          </a:prstGeom>
          <a:noFill/>
          <a:ln/>
        </p:spPr>
        <p:txBody>
          <a:bodyPr wrap="square" lIns="0" tIns="0" rIns="0" bIns="0" rtlCol="0" anchor="ctr"/>
          <a:lstStyle/>
          <a:p>
            <a:pPr indent="0" marL="0">
              <a:buNone/>
            </a:pPr>
            <a:r>
              <a:rPr lang="en-US" sz="1050" dirty="0">
                <a:solidFill>
                  <a:srgbClr val="171717"/>
                </a:solidFill>
                <a:latin typeface="Yu Gothic" pitchFamily="34" charset="0"/>
                <a:ea typeface="Yu Gothic" pitchFamily="34" charset="-122"/>
                <a:cs typeface="Yu Gothic" pitchFamily="34" charset="-120"/>
              </a:rPr>
              <a:t>この4つがすべて揃って初めて「持続的な競争優位」が実現する。1つでも欠けると優位性は一時的なもので終わる。</a:t>
            </a:r>
            <a:endParaRPr lang="en-US" sz="1050" dirty="0"/>
          </a:p>
        </p:txBody>
      </p:sp>
      <p:sp>
        <p:nvSpPr>
          <p:cNvPr id="24" name="Text 22"/>
          <p:cNvSpPr txBox="1"/>
          <p:nvPr/>
        </p:nvSpPr>
        <p:spPr>
          <a:xfrm>
            <a:off x="502920" y="3794760"/>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三代続く和菓子屋の「職人の技」：おいしい和菓子が作れる（価値）、他店にはない技術（希少性）、何十年もかけないと習得できない（模倣困難性）、技を商品化・販売できる体制がある（組織）→ 4つすべて揃っている。</a:t>
            </a:r>
            <a:endParaRPr lang="en-US" sz="850" dirty="0"/>
          </a:p>
        </p:txBody>
      </p:sp>
      <p:sp>
        <p:nvSpPr>
          <p:cNvPr id="25" name="Shape 23"/>
          <p:cNvSpPr/>
          <p:nvPr/>
        </p:nvSpPr>
        <p:spPr>
          <a:xfrm>
            <a:off x="502920" y="4645152"/>
            <a:ext cx="11201400" cy="0"/>
          </a:xfrm>
          <a:prstGeom prst="line">
            <a:avLst/>
          </a:prstGeom>
          <a:noFill/>
          <a:ln w="12700">
            <a:solidFill>
              <a:srgbClr val="E6E6E6"/>
            </a:solidFill>
            <a:prstDash val="solid"/>
          </a:ln>
        </p:spPr>
      </p:sp>
      <p:sp>
        <p:nvSpPr>
          <p:cNvPr id="26" name="Text 24"/>
          <p:cNvSpPr txBox="1"/>
          <p:nvPr/>
        </p:nvSpPr>
        <p:spPr>
          <a:xfrm>
            <a:off x="502920" y="47183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模倣困難性の3大源泉は「経路依存性（長い歴史の積み重ね）」「因果関係の曖昧性」「社会的複雑性（組織文化・人間関係等）」。逆に「価値の源泉が業界に知れ渡っている」「代替資源が外部調達できる」は模倣困難性を</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弱める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要因。「資源の価値が特定市場に限定される」はVの範囲の話で、模倣困難性(I)とは別軸。</a:t>
            </a:r>
            <a:endParaRPr lang="en-US" sz="95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関連：C-6 業界の構造分析、C-9〜C-11 技術経営など、外部・内部環境分析の土台になる論点全般と結びつく。</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VRIOフレームワークに基づけば、自社の経営資源の模倣困難性は企業の持続的な競争優位性を左右する。競合企業が経営資源を模倣する際のコスト上の不利をもたらし、自社の経営資源の模倣困難性を高める要因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出典：past_exams/1st_stage/1ji2025/C1JI2025.pdf（令和7年度第1次試験）第3問</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正解はイ。ウ・オを弱める要因と取り違えていないか確認する。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競合企業には他に将来性が高く注力するべき経営資源があること。</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自社が歴史的な経緯で長い時間をかけて、独自の経営資源を獲得してきたこと。</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自社の経営資源がどのように競争優位性につながっているのかが既に明確になっており、業界に知れ渡っていること。</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自社の経営資源の価値が特定の市場だけに限定されており、他市場では活用できないこと。</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自社の経営資源を代替できる別の経営資源が外部の企業から調達可能であること。</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8580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（経路依存性）。ウ・オはむしろ模倣困難性を</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弱める</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要因（業界に知れ渡っている＝因果関係の曖昧性の喪失／代替資源が外部調達可能）。エは資源価値の適用範囲(V)の話で模倣困難性(I)とは別軸。アは自社の模倣困難性と無関係。</a:t>
            </a:r>
            <a:endParaRPr lang="en-US" sz="1100" dirty="0"/>
          </a:p>
        </p:txBody>
      </p:sp>
      <p:sp>
        <p:nvSpPr>
          <p:cNvPr id="17" name="Text 15"/>
          <p:cNvSpPr txBox="1"/>
          <p:nvPr/>
        </p:nvSpPr>
        <p:spPr>
          <a:xfrm>
            <a:off x="502920" y="505663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三代続く和菓子屋が長年かけて築いた「職人の技」は、他社が一朝一夕に習得できない（経路依存性＝イ）。逆にその技が広く知られていたり（ウ）、代替の資源を外部調達できたり（オ）すれば、模倣は容易になり優位性は弱まる。</a:t>
            </a:r>
            <a:endParaRPr lang="en-US" sz="850" dirty="0"/>
          </a:p>
        </p:txBody>
      </p:sp>
      <p:sp>
        <p:nvSpPr>
          <p:cNvPr id="18" name="Text 16"/>
          <p:cNvSpPr txBox="1"/>
          <p:nvPr/>
        </p:nvSpPr>
        <p:spPr>
          <a:xfrm>
            <a:off x="502920" y="590702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関連知識：模倣困難性の3大源泉は「経路依存性」「因果関係の曖昧性」「社会的複雑性」（この設問はV・Iのみが対象でR・Oは問われていない）。</a:t>
            </a:r>
            <a:endParaRPr lang="en-US" sz="100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出典：past_exams/1st_stage/1ji2025/C1JI2025.pdf（令和7年度第1次試験）第3問／正解：past_exams/1st_stage_answers/r07/2025c.pdf</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企業戦略：ドメイン（企業・事業ドメイン）</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ドメインの2つの定義方法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「自社は何屋さんか」の定義の仕方一つで、気づける事業機会の広さが変わる。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ドメイン</a:t>
            </a:r>
            <a:pPr indent="0" marL="0">
              <a:buNone/>
            </a:pPr>
            <a:r>
              <a:rPr lang="en-US" sz="1150" dirty="0">
                <a:solidFill>
                  <a:srgbClr val="171717"/>
                </a:solidFill>
                <a:latin typeface="Yu Gothic" pitchFamily="34" charset="0"/>
                <a:ea typeface="Yu Gothic" pitchFamily="34" charset="-122"/>
                <a:cs typeface="Yu Gothic" pitchFamily="34" charset="-120"/>
              </a:rPr>
              <a:t>＝「自社が事業を営む領域」。「うちの会社は何屋さんか」を定義すること。</a:t>
            </a:r>
            <a:endParaRPr lang="en-US" sz="1150" dirty="0"/>
          </a:p>
        </p:txBody>
      </p:sp>
      <p:sp>
        <p:nvSpPr>
          <p:cNvPr id="9" name="Text 7"/>
          <p:cNvSpPr txBox="1"/>
          <p:nvPr/>
        </p:nvSpPr>
        <p:spPr>
          <a:xfrm>
            <a:off x="502920" y="2039112"/>
            <a:ext cx="1417320" cy="27432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物理的定義</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27432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作っている「モノ」で定義する（例：「うちは鉄道車両を作る会社だ」）</a:t>
            </a:r>
            <a:endParaRPr lang="en-US" sz="1150" dirty="0"/>
          </a:p>
        </p:txBody>
      </p:sp>
      <p:sp>
        <p:nvSpPr>
          <p:cNvPr id="12" name="Text 10"/>
          <p:cNvSpPr txBox="1"/>
          <p:nvPr/>
        </p:nvSpPr>
        <p:spPr>
          <a:xfrm>
            <a:off x="502920" y="2331720"/>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機能的定義</a:t>
            </a:r>
            <a:endParaRPr lang="en-US" sz="1150" dirty="0"/>
          </a:p>
        </p:txBody>
      </p:sp>
      <p:sp>
        <p:nvSpPr>
          <p:cNvPr id="13" name="Shape 11"/>
          <p:cNvSpPr/>
          <p:nvPr/>
        </p:nvSpPr>
        <p:spPr>
          <a:xfrm>
            <a:off x="1901952" y="2331720"/>
            <a:ext cx="0" cy="256032"/>
          </a:xfrm>
          <a:prstGeom prst="line">
            <a:avLst/>
          </a:prstGeom>
          <a:noFill/>
          <a:ln w="12700">
            <a:solidFill>
              <a:srgbClr val="E6E6E6"/>
            </a:solidFill>
            <a:prstDash val="solid"/>
          </a:ln>
        </p:spPr>
      </p:sp>
      <p:sp>
        <p:nvSpPr>
          <p:cNvPr id="14" name="Text 12"/>
          <p:cNvSpPr txBox="1"/>
          <p:nvPr/>
        </p:nvSpPr>
        <p:spPr>
          <a:xfrm>
            <a:off x="2057400" y="2331720"/>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提供している「価値・機能」で定義する（例：「うちは人や物を運ぶサービスを提供する会社だ」）</a:t>
            </a:r>
            <a:endParaRPr lang="en-US" sz="1150" dirty="0"/>
          </a:p>
        </p:txBody>
      </p:sp>
      <p:sp>
        <p:nvSpPr>
          <p:cNvPr id="15" name="Text 13"/>
          <p:cNvSpPr txBox="1"/>
          <p:nvPr/>
        </p:nvSpPr>
        <p:spPr>
          <a:xfrm>
            <a:off x="502920" y="2880360"/>
            <a:ext cx="6766560" cy="594360"/>
          </a:xfrm>
          <a:prstGeom prst="rect">
            <a:avLst/>
          </a:prstGeom>
          <a:noFill/>
          <a:ln/>
        </p:spPr>
        <p:txBody>
          <a:bodyPr wrap="square" lIns="0" tIns="0" rIns="0" bIns="0" rtlCol="0" anchor="ctr"/>
          <a:lstStyle/>
          <a:p>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機能的定義の方が視野が広がり新しい事業機会に気づきやすい。「鉄道会社が自分たちを『鉄道業』と狭く定義したために自動車・航空機の台頭に対応できなかった」というレビットの「マーケティング近視眼」は有名な失敗例。</a:t>
            </a:r>
            <a:endParaRPr lang="en-US" sz="1050" dirty="0"/>
          </a:p>
        </p:txBody>
      </p:sp>
      <p:sp>
        <p:nvSpPr>
          <p:cNvPr id="16" name="Text 14"/>
          <p:cNvSpPr txBox="1"/>
          <p:nvPr/>
        </p:nvSpPr>
        <p:spPr>
          <a:xfrm>
            <a:off x="502920" y="3538728"/>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コンビニチェーンが自社を「小売業」ではなく「生活インフラ業」と定義し直すと、公共料金の収納代行、ATM、宅配便の受付など、単なる「モノを売る」以上のサービス展開に踏み出しやすくなる。</a:t>
            </a:r>
            <a:endParaRPr lang="en-US" sz="850" dirty="0"/>
          </a:p>
        </p:txBody>
      </p:sp>
      <p:sp>
        <p:nvSpPr>
          <p:cNvPr id="17" name="Shape 15"/>
          <p:cNvSpPr/>
          <p:nvPr/>
        </p:nvSpPr>
        <p:spPr>
          <a:xfrm>
            <a:off x="502920" y="4389120"/>
            <a:ext cx="6766560" cy="0"/>
          </a:xfrm>
          <a:prstGeom prst="line">
            <a:avLst/>
          </a:prstGeom>
          <a:noFill/>
          <a:ln w="12700">
            <a:solidFill>
              <a:srgbClr val="E6E6E6"/>
            </a:solidFill>
            <a:prstDash val="solid"/>
          </a:ln>
        </p:spPr>
      </p:sp>
      <p:sp>
        <p:nvSpPr>
          <p:cNvPr id="18" name="Text 16"/>
          <p:cNvSpPr txBox="1"/>
          <p:nvPr/>
        </p:nvSpPr>
        <p:spPr>
          <a:xfrm>
            <a:off x="502920" y="4462272"/>
            <a:ext cx="676656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ドメインの決め方（物理的 vs 機能的）と、C-3の「多角化」の判断を混同しないこと。ドメインは「自社の立ち位置の定義」、多角化は「新しい事業領域への進出」という別の概念。</a:t>
            </a:r>
            <a:endParaRPr lang="en-US" sz="950" dirty="0"/>
          </a:p>
        </p:txBody>
      </p:sp>
      <p:sp>
        <p:nvSpPr>
          <p:cNvPr id="19" name="Text 17"/>
          <p:cNvSpPr txBox="1"/>
          <p:nvPr/>
        </p:nvSpPr>
        <p:spPr>
          <a:xfrm>
            <a:off x="7543800" y="2103120"/>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物理的定義（モノ）</a:t>
            </a:r>
            <a:endParaRPr lang="en-US" sz="1000" dirty="0"/>
          </a:p>
        </p:txBody>
      </p:sp>
      <p:sp>
        <p:nvSpPr>
          <p:cNvPr id="20" name="Shape 18"/>
          <p:cNvSpPr/>
          <p:nvPr/>
        </p:nvSpPr>
        <p:spPr>
          <a:xfrm>
            <a:off x="7543800" y="2487168"/>
            <a:ext cx="1555394" cy="502920"/>
          </a:xfrm>
          <a:prstGeom prst="rect">
            <a:avLst/>
          </a:prstGeom>
          <a:solidFill>
            <a:srgbClr val="F4F4F4"/>
          </a:solidFill>
          <a:ln w="15875">
            <a:solidFill>
              <a:srgbClr val="171717"/>
            </a:solidFill>
            <a:prstDash val="solid"/>
          </a:ln>
        </p:spPr>
      </p:sp>
      <p:sp>
        <p:nvSpPr>
          <p:cNvPr id="21" name="Text 19"/>
          <p:cNvSpPr txBox="1"/>
          <p:nvPr/>
        </p:nvSpPr>
        <p:spPr>
          <a:xfrm>
            <a:off x="7543800" y="3493008"/>
            <a:ext cx="3703320" cy="384048"/>
          </a:xfrm>
          <a:prstGeom prst="rect">
            <a:avLst/>
          </a:prstGeom>
          <a:noFill/>
          <a:ln/>
        </p:spPr>
        <p:txBody>
          <a:bodyPr wrap="square" lIns="0" tIns="0" rIns="0" bIns="0" rtlCol="0" anchor="ctr"/>
          <a:lstStyle/>
          <a:p>
            <a:pPr indent="0" marL="0">
              <a:buNone/>
            </a:pPr>
            <a:r>
              <a:rPr lang="en-US" sz="1000" b="1" dirty="0">
                <a:solidFill>
                  <a:srgbClr val="171717"/>
                </a:solidFill>
                <a:latin typeface="Yu Gothic" pitchFamily="34" charset="0"/>
                <a:ea typeface="Yu Gothic" pitchFamily="34" charset="-122"/>
                <a:cs typeface="Yu Gothic" pitchFamily="34" charset="-120"/>
              </a:rPr>
              <a:t>機能的定義（価値・機能）</a:t>
            </a:r>
            <a:endParaRPr lang="en-US" sz="1000" dirty="0"/>
          </a:p>
        </p:txBody>
      </p:sp>
      <p:sp>
        <p:nvSpPr>
          <p:cNvPr id="22" name="Shape 20"/>
          <p:cNvSpPr/>
          <p:nvPr/>
        </p:nvSpPr>
        <p:spPr>
          <a:xfrm>
            <a:off x="7543800" y="3877056"/>
            <a:ext cx="3703320" cy="502920"/>
          </a:xfrm>
          <a:prstGeom prst="rect">
            <a:avLst/>
          </a:prstGeom>
          <a:solidFill>
            <a:srgbClr val="F4F4F4"/>
          </a:solidFill>
          <a:ln w="22225">
            <a:solidFill>
              <a:srgbClr val="FF3B1F"/>
            </a:solidFill>
            <a:prstDash val="solid"/>
          </a:ln>
        </p:spPr>
      </p:sp>
      <p:sp>
        <p:nvSpPr>
          <p:cNvPr id="23" name="Text 21"/>
          <p:cNvSpPr txBox="1"/>
          <p:nvPr/>
        </p:nvSpPr>
        <p:spPr>
          <a:xfrm>
            <a:off x="7543800" y="4562856"/>
            <a:ext cx="3703320" cy="320040"/>
          </a:xfrm>
          <a:prstGeom prst="rect">
            <a:avLst/>
          </a:prstGeom>
          <a:noFill/>
          <a:ln/>
        </p:spPr>
        <p:txBody>
          <a:bodyPr wrap="square" lIns="0" tIns="0" rIns="0" bIns="0" rtlCol="0" anchor="ctr"/>
          <a:lstStyle/>
          <a:p>
            <a:pPr indent="0" marL="0">
              <a:buNone/>
            </a:pPr>
            <a:r>
              <a:rPr lang="en-US" sz="1000" b="1" dirty="0">
                <a:solidFill>
                  <a:srgbClr val="FF3B1F"/>
                </a:solidFill>
                <a:latin typeface="Yu Gothic" pitchFamily="34" charset="0"/>
                <a:ea typeface="Yu Gothic" pitchFamily="34" charset="-122"/>
                <a:cs typeface="Yu Gothic" pitchFamily="34" charset="-120"/>
              </a:rPr>
              <a:t>→ 気づける事業機会が広がる</a:t>
            </a:r>
            <a:endParaRPr lang="en-US" sz="10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関連：C-3 多角化（アンゾフの成長マトリクスの発想の土台になる）。</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企業戦略：アンゾフの成長マトリクス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誰に・何を売るかで成長戦略を4つに分ける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製品と市場がそれぞれ「既存」か「新規」かの組み合わせで、成長戦略は4パターンに整理できる。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市場浸透戦略</a:t>
            </a:r>
            <a:endParaRPr lang="en-US" sz="1500" dirty="0"/>
          </a:p>
        </p:txBody>
      </p:sp>
      <p:sp>
        <p:nvSpPr>
          <p:cNvPr id="9" name="Text 7"/>
          <p:cNvSpPr txBox="1"/>
          <p:nvPr/>
        </p:nvSpPr>
        <p:spPr>
          <a:xfrm>
            <a:off x="2971800" y="1911096"/>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既存製品×既存市場</a:t>
            </a:r>
            <a:endParaRPr lang="en-US" sz="1100" dirty="0"/>
          </a:p>
        </p:txBody>
      </p:sp>
      <p:sp>
        <p:nvSpPr>
          <p:cNvPr id="10" name="Text 8"/>
          <p:cNvSpPr txBox="1"/>
          <p:nvPr/>
        </p:nvSpPr>
        <p:spPr>
          <a:xfrm>
            <a:off x="5394960" y="1856232"/>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既存顧客のリピート購入促進やシェア拡大など、今ある製品・市場のままで成長を図る</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新製品開発戦略</a:t>
            </a:r>
            <a:endParaRPr lang="en-US" sz="1500" dirty="0"/>
          </a:p>
        </p:txBody>
      </p:sp>
      <p:sp>
        <p:nvSpPr>
          <p:cNvPr id="13" name="Text 11"/>
          <p:cNvSpPr txBox="1"/>
          <p:nvPr/>
        </p:nvSpPr>
        <p:spPr>
          <a:xfrm>
            <a:off x="2971800" y="2752344"/>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新製品×既存市場</a:t>
            </a:r>
            <a:endParaRPr lang="en-US" sz="1100" dirty="0"/>
          </a:p>
        </p:txBody>
      </p:sp>
      <p:sp>
        <p:nvSpPr>
          <p:cNvPr id="14" name="Text 12"/>
          <p:cNvSpPr txBox="1"/>
          <p:nvPr/>
        </p:nvSpPr>
        <p:spPr>
          <a:xfrm>
            <a:off x="5394960" y="2697480"/>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既存顧客層向けに新しい製品を投入する（例：既存客向けの新フレーバー・新機能）</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新市場開拓戦略</a:t>
            </a:r>
            <a:endParaRPr lang="en-US" sz="1500" dirty="0"/>
          </a:p>
        </p:txBody>
      </p:sp>
      <p:sp>
        <p:nvSpPr>
          <p:cNvPr id="17" name="Text 15"/>
          <p:cNvSpPr txBox="1"/>
          <p:nvPr/>
        </p:nvSpPr>
        <p:spPr>
          <a:xfrm>
            <a:off x="2971800" y="3593592"/>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既存製品×新市場</a:t>
            </a:r>
            <a:endParaRPr lang="en-US" sz="1100" dirty="0"/>
          </a:p>
        </p:txBody>
      </p:sp>
      <p:sp>
        <p:nvSpPr>
          <p:cNvPr id="18" name="Text 16"/>
          <p:cNvSpPr txBox="1"/>
          <p:nvPr/>
        </p:nvSpPr>
        <p:spPr>
          <a:xfrm>
            <a:off x="5394960" y="3538728"/>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今の製品のまま、新しい顧客層・地域・海外市場に展開する</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多角化戦略</a:t>
            </a:r>
            <a:endParaRPr lang="en-US" sz="1500" dirty="0"/>
          </a:p>
        </p:txBody>
      </p:sp>
      <p:sp>
        <p:nvSpPr>
          <p:cNvPr id="21" name="Text 19"/>
          <p:cNvSpPr txBox="1"/>
          <p:nvPr/>
        </p:nvSpPr>
        <p:spPr>
          <a:xfrm>
            <a:off x="2971800" y="4434840"/>
            <a:ext cx="23317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新製品×新市場</a:t>
            </a:r>
            <a:endParaRPr lang="en-US" sz="1100" dirty="0"/>
          </a:p>
        </p:txBody>
      </p:sp>
      <p:sp>
        <p:nvSpPr>
          <p:cNvPr id="22" name="Text 20"/>
          <p:cNvSpPr txBox="1"/>
          <p:nvPr/>
        </p:nvSpPr>
        <p:spPr>
          <a:xfrm>
            <a:off x="5394960" y="4379976"/>
            <a:ext cx="63093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新しい製品で、新しい市場に進出する。既存の強みが活かせるかで関連型・非関連型に分かれる（C-3参照）</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解き方のコツ：選択肢の具体的施策が実際にはどの象限（製品×市場の新旧）に当たるかを先に判定し、選択肢が主張する戦略名と一致するかを照合する。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食品メーカーA社は、日本国内の一般消費者向けのシリアルの開発・製造・販売を行う専業企業である。同社は、現在、今後の成長戦略のための施策を検討している。アンゾフの成長マトリクスの考え方に基づく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出典：past_exams/1st_stage/1ji2025/C1JI2025.pdf（令和7年度第1次試験）第2問</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C-2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正解はオ。施策の実態と選択肢が主張する戦略名が一致するかで見分ける。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自社ECサイトを立ち上げ、既存の一般消費者向けシリアル市場でのシェア拡大を狙うことで、「多角化戦略」を行う。</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飲食事業者向けのSNSマーケティング支援事業を新しく開始し、次の収益の柱とすることで、「市場浸透戦略」を行う。</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一部の既存販売地域向けに、地域名産品を用いた限定フレーバーを新しく開発することで、「多角化戦略」を行う。</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既存顧客のリピート購入を促進するキャンペーンを実施し、既存市場でのシェア拡大を狙うことで、「新市場開拓戦略」を行う。</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コア・ユーザーである中高年層向けに、新しく低糖質シリアルを開発することで、「新製品開発戦略」を行う。</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既存顧客層（既存市場）向けに新しい低糖質シリアル（新製品）＝新製品開発戦略で、施策の実態と戦略名が一致。ア〜エはすべて、施策の実態（製品×市場の組み合わせ）と選択肢が主張する戦略名が食い違っている。</a:t>
            </a:r>
            <a:endParaRPr lang="en-US" sz="1100" dirty="0"/>
          </a:p>
        </p:txBody>
      </p:sp>
      <p:sp>
        <p:nvSpPr>
          <p:cNvPr id="17" name="Text 15"/>
          <p:cNvSpPr txBox="1"/>
          <p:nvPr/>
        </p:nvSpPr>
        <p:spPr>
          <a:xfrm>
            <a:off x="502920" y="491947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例えばアの「自社ECサイトを立ち上げ、既存シリアル市場でのシェア拡大を狙う」は、製品・市場とも既存のままの施策＝実態は「市場浸透戦略」なのに、選択肢は「多角化戦略」と誤って名付けている。まず施策の実態を製品×市場で判定してから戦略名が一致するか照合するのがコツ。</a:t>
            </a:r>
            <a:endParaRPr lang="en-US" sz="850" dirty="0"/>
          </a:p>
        </p:txBody>
      </p:sp>
      <p:sp>
        <p:nvSpPr>
          <p:cNvPr id="18" name="Text 16"/>
          <p:cNvSpPr txBox="1"/>
          <p:nvPr/>
        </p:nvSpPr>
        <p:spPr>
          <a:xfrm>
            <a:off x="502920" y="5769864"/>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関連知識：まず各選択肢の施策が実際にはどの象限かを判定し、その上で主張されている戦略名と一致するか照合するのが速い解き方。</a:t>
            </a:r>
            <a:endParaRPr lang="en-US" sz="1000" dirty="0"/>
          </a:p>
        </p:txBody>
      </p:sp>
      <p:sp>
        <p:nvSpPr>
          <p:cNvPr id="19" name="Text 17"/>
          <p:cNvSpPr txBox="1"/>
          <p:nvPr/>
        </p:nvSpPr>
        <p:spPr>
          <a:xfrm>
            <a:off x="502920" y="62270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出典：past_exams/1st_stage/1ji2025/C1JI2025.pdf（令和7年度第1次試験）第2問／正解：past_exams/1st_stage_answers/r07/2025c.pdf</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C-3 ／ 企業戦略：多角化（シナジー、関連型・非関連型）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多角化とシナジーの関係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既存事業との関連性が高いほど、多角化はシナジーを生みやすい。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27432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多角化</a:t>
            </a:r>
            <a:pPr indent="0" marL="0">
              <a:buNone/>
            </a:pPr>
            <a:r>
              <a:rPr lang="en-US" sz="1150" dirty="0">
                <a:solidFill>
                  <a:srgbClr val="171717"/>
                </a:solidFill>
                <a:latin typeface="Yu Gothic" pitchFamily="34" charset="0"/>
                <a:ea typeface="Yu Gothic" pitchFamily="34" charset="-122"/>
                <a:cs typeface="Yu Gothic" pitchFamily="34" charset="-120"/>
              </a:rPr>
              <a:t>＝既存事業とは別の新しい事業に進出すること。2種類ある。</a:t>
            </a:r>
            <a:endParaRPr lang="en-US" sz="1150" dirty="0"/>
          </a:p>
        </p:txBody>
      </p:sp>
      <p:sp>
        <p:nvSpPr>
          <p:cNvPr id="9" name="Text 7"/>
          <p:cNvSpPr txBox="1"/>
          <p:nvPr/>
        </p:nvSpPr>
        <p:spPr>
          <a:xfrm>
            <a:off x="502920" y="2039112"/>
            <a:ext cx="1417320" cy="6675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関連型多角化</a:t>
            </a:r>
            <a:endParaRPr lang="en-US" sz="1150" dirty="0"/>
          </a:p>
        </p:txBody>
      </p:sp>
      <p:sp>
        <p:nvSpPr>
          <p:cNvPr id="10" name="Shape 8"/>
          <p:cNvSpPr/>
          <p:nvPr/>
        </p:nvSpPr>
        <p:spPr>
          <a:xfrm>
            <a:off x="1901952" y="2039112"/>
            <a:ext cx="0" cy="256032"/>
          </a:xfrm>
          <a:prstGeom prst="line">
            <a:avLst/>
          </a:prstGeom>
          <a:noFill/>
          <a:ln w="12700">
            <a:solidFill>
              <a:srgbClr val="E6E6E6"/>
            </a:solidFill>
            <a:prstDash val="solid"/>
          </a:ln>
        </p:spPr>
      </p:sp>
      <p:sp>
        <p:nvSpPr>
          <p:cNvPr id="11" name="Text 9"/>
          <p:cNvSpPr txBox="1"/>
          <p:nvPr/>
        </p:nvSpPr>
        <p:spPr>
          <a:xfrm>
            <a:off x="2057400" y="2039112"/>
            <a:ext cx="5212080" cy="6675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既存事業と技術・顧客・販売チャネル等で関連がある分野に進出（例：カメラメーカーが医療用内視鏡事業に進出。レンズ技術という共通の強みを活かせる）</a:t>
            </a:r>
            <a:endParaRPr lang="en-US" sz="1150" dirty="0"/>
          </a:p>
        </p:txBody>
      </p:sp>
      <p:sp>
        <p:nvSpPr>
          <p:cNvPr id="12" name="Text 10"/>
          <p:cNvSpPr txBox="1"/>
          <p:nvPr/>
        </p:nvSpPr>
        <p:spPr>
          <a:xfrm>
            <a:off x="502920" y="2724912"/>
            <a:ext cx="141732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非関連型多角化</a:t>
            </a:r>
            <a:endParaRPr lang="en-US" sz="1150" dirty="0"/>
          </a:p>
        </p:txBody>
      </p:sp>
      <p:sp>
        <p:nvSpPr>
          <p:cNvPr id="13" name="Shape 11"/>
          <p:cNvSpPr/>
          <p:nvPr/>
        </p:nvSpPr>
        <p:spPr>
          <a:xfrm>
            <a:off x="1901952" y="2724912"/>
            <a:ext cx="0" cy="256032"/>
          </a:xfrm>
          <a:prstGeom prst="line">
            <a:avLst/>
          </a:prstGeom>
          <a:noFill/>
          <a:ln w="12700">
            <a:solidFill>
              <a:srgbClr val="E6E6E6"/>
            </a:solidFill>
            <a:prstDash val="solid"/>
          </a:ln>
        </p:spPr>
      </p:sp>
      <p:sp>
        <p:nvSpPr>
          <p:cNvPr id="14" name="Text 12"/>
          <p:cNvSpPr txBox="1"/>
          <p:nvPr/>
        </p:nvSpPr>
        <p:spPr>
          <a:xfrm>
            <a:off x="2057400" y="2724912"/>
            <a:ext cx="521208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既存事業とほとんど関連がない分野に進出（例：繊維会社が化粧品事業に進出）</a:t>
            </a:r>
            <a:endParaRPr lang="en-US" sz="1150" dirty="0"/>
          </a:p>
        </p:txBody>
      </p:sp>
      <p:sp>
        <p:nvSpPr>
          <p:cNvPr id="15" name="Shape 13"/>
          <p:cNvSpPr/>
          <p:nvPr/>
        </p:nvSpPr>
        <p:spPr>
          <a:xfrm>
            <a:off x="502920" y="3273552"/>
            <a:ext cx="6766560" cy="438912"/>
          </a:xfrm>
          <a:prstGeom prst="rect">
            <a:avLst/>
          </a:prstGeom>
          <a:solidFill>
            <a:srgbClr val="F4F4F4"/>
          </a:solidFill>
          <a:ln/>
        </p:spPr>
      </p:sp>
      <p:sp>
        <p:nvSpPr>
          <p:cNvPr id="16" name="Shape 14"/>
          <p:cNvSpPr/>
          <p:nvPr/>
        </p:nvSpPr>
        <p:spPr>
          <a:xfrm>
            <a:off x="502920" y="3273552"/>
            <a:ext cx="0" cy="438912"/>
          </a:xfrm>
          <a:prstGeom prst="line">
            <a:avLst/>
          </a:prstGeom>
          <a:noFill/>
          <a:ln w="31750">
            <a:solidFill>
              <a:srgbClr val="171717"/>
            </a:solidFill>
            <a:prstDash val="solid"/>
          </a:ln>
        </p:spPr>
      </p:sp>
      <p:sp>
        <p:nvSpPr>
          <p:cNvPr id="17" name="Text 15"/>
          <p:cNvSpPr txBox="1"/>
          <p:nvPr/>
        </p:nvSpPr>
        <p:spPr>
          <a:xfrm>
            <a:off x="640080" y="3273552"/>
            <a:ext cx="6492240" cy="438912"/>
          </a:xfrm>
          <a:prstGeom prst="rect">
            <a:avLst/>
          </a:prstGeom>
          <a:noFill/>
          <a:ln/>
        </p:spPr>
        <p:txBody>
          <a:bodyPr wrap="square" lIns="0" tIns="0" rIns="0" bIns="0" rtlCol="0" anchor="ctr"/>
          <a:lstStyle/>
          <a:p>
            <a:pPr indent="0" marL="0">
              <a:lnSpc>
                <a:spcPct val="115000"/>
              </a:lnSpc>
              <a:buNone/>
            </a:pPr>
            <a:r>
              <a:rPr lang="en-US" sz="1000" b="1" dirty="0">
                <a:solidFill>
                  <a:srgbClr val="171717"/>
                </a:solidFill>
                <a:latin typeface="Yu Gothic" pitchFamily="34" charset="0"/>
                <a:ea typeface="Yu Gothic" pitchFamily="34" charset="-122"/>
                <a:cs typeface="Yu Gothic" pitchFamily="34" charset="-120"/>
              </a:rPr>
              <a:t>シナジー（相乗効果）：</a:t>
            </a:r>
            <a:pPr indent="0" marL="0">
              <a:lnSpc>
                <a:spcPct val="115000"/>
              </a:lnSpc>
              <a:buNone/>
            </a:pPr>
            <a:r>
              <a:rPr lang="en-US" sz="1000" dirty="0">
                <a:solidFill>
                  <a:srgbClr val="171717"/>
                </a:solidFill>
                <a:latin typeface="Yu Gothic" pitchFamily="34" charset="0"/>
                <a:ea typeface="Yu Gothic" pitchFamily="34" charset="-122"/>
                <a:cs typeface="Yu Gothic" pitchFamily="34" charset="-120"/>
              </a:rPr>
              <a:t>「1+1が2ではなく3以上になる効果」。技術・ブランド・販売網を複数事業で共有すると単独でやるより効率が良くなる。関連型多角化の方がシナジーを生みやすい。</a:t>
            </a:r>
            <a:endParaRPr lang="en-US" sz="1000" dirty="0"/>
          </a:p>
        </p:txBody>
      </p:sp>
      <p:sp>
        <p:nvSpPr>
          <p:cNvPr id="18" name="Text 16"/>
          <p:cNvSpPr txBox="1"/>
          <p:nvPr/>
        </p:nvSpPr>
        <p:spPr>
          <a:xfrm>
            <a:off x="502920" y="3803904"/>
            <a:ext cx="676656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富士フイルムは写真フィルム事業で培った化学・材料技術（酸化を防ぐ技術等）を応用して化粧品事業（アンチエイジング）に進出した。一見畑違いだが技術的関連性が高い「関連型多角化」の代表例。</a:t>
            </a:r>
            <a:endParaRPr lang="en-US" sz="850" dirty="0"/>
          </a:p>
        </p:txBody>
      </p:sp>
      <p:sp>
        <p:nvSpPr>
          <p:cNvPr id="19" name="Shape 17"/>
          <p:cNvSpPr/>
          <p:nvPr/>
        </p:nvSpPr>
        <p:spPr>
          <a:xfrm>
            <a:off x="502920" y="4654296"/>
            <a:ext cx="6766560" cy="0"/>
          </a:xfrm>
          <a:prstGeom prst="line">
            <a:avLst/>
          </a:prstGeom>
          <a:noFill/>
          <a:ln w="12700">
            <a:solidFill>
              <a:srgbClr val="E6E6E6"/>
            </a:solidFill>
            <a:prstDash val="solid"/>
          </a:ln>
        </p:spPr>
      </p:sp>
      <p:sp>
        <p:nvSpPr>
          <p:cNvPr id="20" name="Text 18"/>
          <p:cNvSpPr txBox="1"/>
          <p:nvPr/>
        </p:nvSpPr>
        <p:spPr>
          <a:xfrm>
            <a:off x="502920" y="4727448"/>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新市場に新技術で進出する」ことが必ずしも「多角化」とは限らない。アンゾフの成長マトリクスの「新製品×新市場」が多角化に該当。既存製品のままの海外展開（新市場開拓）や既存市場向けの新商品（新製品開発）と混同しないこと。</a:t>
            </a:r>
            <a:endParaRPr lang="en-US" sz="950" dirty="0"/>
          </a:p>
        </p:txBody>
      </p:sp>
      <p:sp>
        <p:nvSpPr>
          <p:cNvPr id="21" name="Shape 19"/>
          <p:cNvSpPr/>
          <p:nvPr/>
        </p:nvSpPr>
        <p:spPr>
          <a:xfrm>
            <a:off x="8061716" y="2201875"/>
            <a:ext cx="1616659" cy="1616659"/>
          </a:xfrm>
          <a:prstGeom prst="ellipse">
            <a:avLst/>
          </a:prstGeom>
          <a:ln w="22225">
            <a:solidFill>
              <a:srgbClr val="171717"/>
            </a:solidFill>
            <a:prstDash val="solid"/>
          </a:ln>
        </p:spPr>
      </p:sp>
      <p:sp>
        <p:nvSpPr>
          <p:cNvPr id="22" name="Shape 20"/>
          <p:cNvSpPr/>
          <p:nvPr/>
        </p:nvSpPr>
        <p:spPr>
          <a:xfrm>
            <a:off x="9112545" y="2201875"/>
            <a:ext cx="1616659" cy="1616659"/>
          </a:xfrm>
          <a:prstGeom prst="ellipse">
            <a:avLst/>
          </a:prstGeom>
          <a:ln w="22225">
            <a:solidFill>
              <a:srgbClr val="FF3B1F"/>
            </a:solidFill>
            <a:prstDash val="solid"/>
          </a:ln>
        </p:spPr>
      </p:sp>
      <p:sp>
        <p:nvSpPr>
          <p:cNvPr id="23" name="Text 21"/>
          <p:cNvSpPr txBox="1"/>
          <p:nvPr/>
        </p:nvSpPr>
        <p:spPr>
          <a:xfrm>
            <a:off x="7787396" y="1881835"/>
            <a:ext cx="1616659"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Yu Gothic" pitchFamily="34" charset="0"/>
                <a:ea typeface="Yu Gothic" pitchFamily="34" charset="-122"/>
                <a:cs typeface="Yu Gothic" pitchFamily="34" charset="-120"/>
              </a:rPr>
              <a:t>既存事業</a:t>
            </a:r>
            <a:endParaRPr lang="en-US" sz="1000" dirty="0"/>
          </a:p>
        </p:txBody>
      </p:sp>
      <p:sp>
        <p:nvSpPr>
          <p:cNvPr id="24" name="Text 22"/>
          <p:cNvSpPr txBox="1"/>
          <p:nvPr/>
        </p:nvSpPr>
        <p:spPr>
          <a:xfrm>
            <a:off x="9386865" y="1881835"/>
            <a:ext cx="1616659" cy="274320"/>
          </a:xfrm>
          <a:prstGeom prst="rect">
            <a:avLst/>
          </a:prstGeom>
          <a:noFill/>
          <a:ln/>
        </p:spPr>
        <p:txBody>
          <a:bodyPr wrap="square" lIns="0" tIns="0" rIns="0" bIns="0" rtlCol="0" anchor="ctr"/>
          <a:lstStyle/>
          <a:p>
            <a:pPr algn="ctr" indent="0" marL="0">
              <a:buNone/>
            </a:pPr>
            <a:r>
              <a:rPr lang="en-US" sz="1000" b="1" dirty="0">
                <a:solidFill>
                  <a:srgbClr val="FF3B1F"/>
                </a:solidFill>
                <a:latin typeface="Yu Gothic" pitchFamily="34" charset="0"/>
                <a:ea typeface="Yu Gothic" pitchFamily="34" charset="-122"/>
                <a:cs typeface="Yu Gothic" pitchFamily="34" charset="-120"/>
              </a:rPr>
              <a:t>新規事業</a:t>
            </a:r>
            <a:endParaRPr lang="en-US" sz="1000" dirty="0"/>
          </a:p>
        </p:txBody>
      </p:sp>
      <p:sp>
        <p:nvSpPr>
          <p:cNvPr id="25" name="Text 23"/>
          <p:cNvSpPr txBox="1"/>
          <p:nvPr/>
        </p:nvSpPr>
        <p:spPr>
          <a:xfrm>
            <a:off x="8755380" y="3955694"/>
            <a:ext cx="1280160" cy="274320"/>
          </a:xfrm>
          <a:prstGeom prst="rect">
            <a:avLst/>
          </a:prstGeom>
          <a:noFill/>
          <a:ln/>
        </p:spPr>
        <p:txBody>
          <a:bodyPr wrap="square" lIns="0" tIns="0" rIns="0" bIns="0" rtlCol="0" anchor="ctr"/>
          <a:lstStyle/>
          <a:p>
            <a:pPr algn="ctr" indent="0" marL="0">
              <a:buNone/>
            </a:pPr>
            <a:r>
              <a:rPr lang="en-US" sz="1000" b="1" dirty="0">
                <a:solidFill>
                  <a:srgbClr val="171717"/>
                </a:solidFill>
                <a:latin typeface="Consolas" pitchFamily="34" charset="0"/>
                <a:ea typeface="Consolas" pitchFamily="34" charset="-122"/>
                <a:cs typeface="Consolas" pitchFamily="34" charset="-120"/>
              </a:rPr>
              <a:t>シナジー</a:t>
            </a:r>
            <a:endParaRPr lang="en-US" sz="1000" dirty="0"/>
          </a:p>
        </p:txBody>
      </p:sp>
      <p:sp>
        <p:nvSpPr>
          <p:cNvPr id="26" name="Shape 24"/>
          <p:cNvSpPr/>
          <p:nvPr/>
        </p:nvSpPr>
        <p:spPr>
          <a:xfrm>
            <a:off x="502920" y="5989320"/>
            <a:ext cx="11201400" cy="0"/>
          </a:xfrm>
          <a:prstGeom prst="line">
            <a:avLst/>
          </a:prstGeom>
          <a:noFill/>
          <a:ln w="9525">
            <a:solidFill>
              <a:srgbClr val="171717"/>
            </a:solidFill>
            <a:prstDash val="solid"/>
          </a:ln>
        </p:spPr>
      </p:sp>
      <p:sp>
        <p:nvSpPr>
          <p:cNvPr id="27" name="Shape 25"/>
          <p:cNvSpPr/>
          <p:nvPr/>
        </p:nvSpPr>
        <p:spPr>
          <a:xfrm>
            <a:off x="502920" y="6062472"/>
            <a:ext cx="329184" cy="329184"/>
          </a:xfrm>
          <a:prstGeom prst="ellipse">
            <a:avLst/>
          </a:prstGeom>
          <a:solidFill>
            <a:srgbClr val="FF3B1F"/>
          </a:solidFill>
          <a:ln/>
        </p:spPr>
      </p:sp>
      <p:sp>
        <p:nvSpPr>
          <p:cNvPr id="28" name="Text 2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9" name="Text 2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0" name="Shape 28"/>
          <p:cNvSpPr/>
          <p:nvPr/>
        </p:nvSpPr>
        <p:spPr>
          <a:xfrm>
            <a:off x="2331720" y="6062472"/>
            <a:ext cx="0" cy="329184"/>
          </a:xfrm>
          <a:prstGeom prst="line">
            <a:avLst/>
          </a:prstGeom>
          <a:noFill/>
          <a:ln w="12700">
            <a:solidFill>
              <a:srgbClr val="E6E6E6"/>
            </a:solidFill>
            <a:prstDash val="solid"/>
          </a:ln>
        </p:spPr>
      </p:sp>
      <p:sp>
        <p:nvSpPr>
          <p:cNvPr id="31" name="Text 2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関連：C-2 ドメイン（自社の立ち位置の定義が多角化判断の前提になる）。</a:t>
            </a:r>
            <a:endParaRPr lang="en-US" sz="1000" dirty="0"/>
          </a:p>
        </p:txBody>
      </p:sp>
      <p:sp>
        <p:nvSpPr>
          <p:cNvPr id="32" name="Text 3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3" name="Shape 31"/>
          <p:cNvSpPr/>
          <p:nvPr/>
        </p:nvSpPr>
        <p:spPr>
          <a:xfrm>
            <a:off x="246659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5" name="Shape 33"/>
          <p:cNvSpPr/>
          <p:nvPr/>
        </p:nvSpPr>
        <p:spPr>
          <a:xfrm>
            <a:off x="343128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7" name="Shape 35"/>
          <p:cNvSpPr/>
          <p:nvPr/>
        </p:nvSpPr>
        <p:spPr>
          <a:xfrm>
            <a:off x="439597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9" name="Shape 37"/>
          <p:cNvSpPr/>
          <p:nvPr/>
        </p:nvSpPr>
        <p:spPr>
          <a:xfrm>
            <a:off x="536067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1" name="Shape 39"/>
          <p:cNvSpPr/>
          <p:nvPr/>
        </p:nvSpPr>
        <p:spPr>
          <a:xfrm>
            <a:off x="632536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3" name="Shape 41"/>
          <p:cNvSpPr/>
          <p:nvPr/>
        </p:nvSpPr>
        <p:spPr>
          <a:xfrm>
            <a:off x="7290054"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5" name="Shape 43"/>
          <p:cNvSpPr/>
          <p:nvPr/>
        </p:nvSpPr>
        <p:spPr>
          <a:xfrm>
            <a:off x="8254746"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7" name="Shape 45"/>
          <p:cNvSpPr/>
          <p:nvPr/>
        </p:nvSpPr>
        <p:spPr>
          <a:xfrm>
            <a:off x="9219438"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9" name="Shape 47"/>
          <p:cNvSpPr/>
          <p:nvPr/>
        </p:nvSpPr>
        <p:spPr>
          <a:xfrm>
            <a:off x="10184130"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1" name="Shape 49"/>
          <p:cNvSpPr/>
          <p:nvPr/>
        </p:nvSpPr>
        <p:spPr>
          <a:xfrm>
            <a:off x="11148822"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C-4 ／ 企業戦略：PPM（プロダクト・ポートフォリオ・マネジメント）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PPMで事業ポートフォリオの資金配分を判断する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市場成長率×市場シェアの2軸で事業を4分類し、どこに投資しどこから資金を引き上げるかを判断する。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花形（スター）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稼ぐが投資も必要。将来の主力候補</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問題児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将来性はあるが今は稼げない。育てるか撤退か判断が必要</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金のなる木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投資が要らず安定して稼ぐ。他事業の資金源</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負け犬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稼げず将来性も薄い。撤退候補</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縦軸：市場成長率（上＝高い）／横軸：市場シェア（左＝高い）。「金のなる木」の資金を「問題児」に投資して「花形」に育てるのが基本セオリー。</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ひっかけ：PPMは「市場の魅力度」と「自社の競争力」の2軸だけの単純化モデルで、事業間のシナジーや社会的意義のある事業は考慮できないという限界がある。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企業戦略：垂直統合、M&amp;A、戦略的提携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事業を拡大・強化する3つの方法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資本を統合するか（M&amp;A）、契約ベースで組むか（提携）、自社に取り込むか（垂直統合）で選択肢が変わる。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会社が事業を拡大・強化する主な方法は3つ。資本を統合する度合いが異なる。</a:t>
            </a:r>
            <a:endParaRPr lang="en-US" sz="1150" dirty="0"/>
          </a:p>
        </p:txBody>
      </p:sp>
      <p:sp>
        <p:nvSpPr>
          <p:cNvPr id="9" name="Text 7"/>
          <p:cNvSpPr txBox="1"/>
          <p:nvPr/>
        </p:nvSpPr>
        <p:spPr>
          <a:xfrm>
            <a:off x="502920" y="2039112"/>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垂直統合</a:t>
            </a:r>
            <a:endParaRPr lang="en-US" sz="1150" dirty="0"/>
          </a:p>
        </p:txBody>
      </p:sp>
      <p:sp>
        <p:nvSpPr>
          <p:cNvPr id="10" name="Shape 8"/>
          <p:cNvSpPr/>
          <p:nvPr/>
        </p:nvSpPr>
        <p:spPr>
          <a:xfrm>
            <a:off x="1764792" y="2039112"/>
            <a:ext cx="0" cy="256032"/>
          </a:xfrm>
          <a:prstGeom prst="line">
            <a:avLst/>
          </a:prstGeom>
          <a:noFill/>
          <a:ln w="12700">
            <a:solidFill>
              <a:srgbClr val="E6E6E6"/>
            </a:solidFill>
            <a:prstDash val="solid"/>
          </a:ln>
        </p:spPr>
      </p:sp>
      <p:sp>
        <p:nvSpPr>
          <p:cNvPr id="11" name="Text 9"/>
          <p:cNvSpPr txBox="1"/>
          <p:nvPr/>
        </p:nvSpPr>
        <p:spPr>
          <a:xfrm>
            <a:off x="1920240" y="2039112"/>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自社のバリューチェーンの川上（原材料側）・川下（消費者側）を自社に取り込む</a:t>
            </a:r>
            <a:endParaRPr lang="en-US" sz="1150" dirty="0"/>
          </a:p>
        </p:txBody>
      </p:sp>
      <p:sp>
        <p:nvSpPr>
          <p:cNvPr id="12" name="Text 10"/>
          <p:cNvSpPr txBox="1"/>
          <p:nvPr/>
        </p:nvSpPr>
        <p:spPr>
          <a:xfrm>
            <a:off x="502920" y="2423160"/>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a:t>
            </a:r>
            <a:endParaRPr lang="en-US" sz="1150" dirty="0"/>
          </a:p>
        </p:txBody>
      </p:sp>
      <p:sp>
        <p:nvSpPr>
          <p:cNvPr id="13" name="Shape 11"/>
          <p:cNvSpPr/>
          <p:nvPr/>
        </p:nvSpPr>
        <p:spPr>
          <a:xfrm>
            <a:off x="1764792" y="2423160"/>
            <a:ext cx="0" cy="256032"/>
          </a:xfrm>
          <a:prstGeom prst="line">
            <a:avLst/>
          </a:prstGeom>
          <a:noFill/>
          <a:ln w="12700">
            <a:solidFill>
              <a:srgbClr val="E6E6E6"/>
            </a:solidFill>
            <a:prstDash val="solid"/>
          </a:ln>
        </p:spPr>
      </p:sp>
      <p:sp>
        <p:nvSpPr>
          <p:cNvPr id="14" name="Text 12"/>
          <p:cNvSpPr txBox="1"/>
          <p:nvPr/>
        </p:nvSpPr>
        <p:spPr>
          <a:xfrm>
            <a:off x="1920240" y="2423160"/>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他社を買収・合併し、技術・顧客・ブランドを一気に手に入れる（TOB・MBOはその手法）</a:t>
            </a:r>
            <a:endParaRPr lang="en-US" sz="1150" dirty="0"/>
          </a:p>
        </p:txBody>
      </p:sp>
      <p:sp>
        <p:nvSpPr>
          <p:cNvPr id="15" name="Text 13"/>
          <p:cNvSpPr txBox="1"/>
          <p:nvPr/>
        </p:nvSpPr>
        <p:spPr>
          <a:xfrm>
            <a:off x="502920" y="2807208"/>
            <a:ext cx="128016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戦略的提携</a:t>
            </a:r>
            <a:endParaRPr lang="en-US" sz="1150" dirty="0"/>
          </a:p>
        </p:txBody>
      </p:sp>
      <p:sp>
        <p:nvSpPr>
          <p:cNvPr id="16" name="Shape 14"/>
          <p:cNvSpPr/>
          <p:nvPr/>
        </p:nvSpPr>
        <p:spPr>
          <a:xfrm>
            <a:off x="1764792" y="2807208"/>
            <a:ext cx="0" cy="256032"/>
          </a:xfrm>
          <a:prstGeom prst="line">
            <a:avLst/>
          </a:prstGeom>
          <a:noFill/>
          <a:ln w="12700">
            <a:solidFill>
              <a:srgbClr val="E6E6E6"/>
            </a:solidFill>
            <a:prstDash val="solid"/>
          </a:ln>
        </p:spPr>
      </p:sp>
      <p:sp>
        <p:nvSpPr>
          <p:cNvPr id="17" name="Text 15"/>
          <p:cNvSpPr txBox="1"/>
          <p:nvPr/>
        </p:nvSpPr>
        <p:spPr>
          <a:xfrm>
            <a:off x="1920240" y="2807208"/>
            <a:ext cx="978408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資本を統合せず契約ベースで協力する（ジョイントベンチャーもこの一種）</a:t>
            </a:r>
            <a:endParaRPr lang="en-US" sz="1150" dirty="0"/>
          </a:p>
        </p:txBody>
      </p:sp>
      <p:sp>
        <p:nvSpPr>
          <p:cNvPr id="18" name="Text 16"/>
          <p:cNvSpPr txBox="1"/>
          <p:nvPr/>
        </p:nvSpPr>
        <p:spPr>
          <a:xfrm>
            <a:off x="502920" y="3264408"/>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自動車部品メーカーが鋼材メーカーを買収すれば「川上への垂直統合」、完成車メーカーを買収すれば「川下への垂直統合」。2社が共同出資でJVを設立するのは「戦略的提携」。</a:t>
            </a:r>
            <a:endParaRPr lang="en-US" sz="850" dirty="0"/>
          </a:p>
        </p:txBody>
      </p:sp>
      <p:sp>
        <p:nvSpPr>
          <p:cNvPr id="19" name="Shape 17"/>
          <p:cNvSpPr/>
          <p:nvPr/>
        </p:nvSpPr>
        <p:spPr>
          <a:xfrm>
            <a:off x="502920" y="3886200"/>
            <a:ext cx="11201400" cy="0"/>
          </a:xfrm>
          <a:prstGeom prst="line">
            <a:avLst/>
          </a:prstGeom>
          <a:noFill/>
          <a:ln w="12700">
            <a:solidFill>
              <a:srgbClr val="E6E6E6"/>
            </a:solidFill>
            <a:prstDash val="solid"/>
          </a:ln>
        </p:spPr>
      </p:sp>
      <p:sp>
        <p:nvSpPr>
          <p:cNvPr id="20" name="Text 18"/>
          <p:cNvSpPr txBox="1"/>
          <p:nvPr/>
        </p:nvSpPr>
        <p:spPr>
          <a:xfrm>
            <a:off x="502920" y="3959352"/>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ジョイントベンチャーは独立性を保つため、経営統合するM&amp;Aより共有できる情報の範囲は一般に</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狭い</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（広いは誤り）。MBOは上場企業の非公開化だけでなく、非上場企業の事業承継の手段としても行われる。CVC（事業会社がベンチャー企業へ出資しシナジーを狙う手法）も周辺用語として頻出。</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関連：C-11 新規事業開発（CVCによるベンチャー投資）、C-14 事業承継（MBOによる従業員承継）。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企業間の連携戦略に関する記述として、最も適切なものはどれか。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出典：past_exams/1st_stage/1ji2025/C1JI2025.pdf（令和7年度第1次試験）第6問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正解はオ。TOB・MBO・垂直/水平M&amp;A・JVの定義のズレを見抜く。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TOBとは、買収者が対象企業の株式を公開市場で株主から買い付ける手法のことを指す。</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経営陣が中核となって既存株主から株式を買い取ることをMBOと呼ぶが、MBOは上場企業では起こるが、非上場企業では起こらない。</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仕入先の事業を買収し、事業のバリューチェーンの変革を目指す買収を水平的M&amp;Aと呼ぶ。</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ジョイントベンチャーは、M&amp;Aよりも当事者同士で共有できる情報の範囲が広く範囲の経済を享受できるので、より大きな相乗効果が期待される。</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ベンチャー企業が開発した革新的な技術やビジネスモデルを取り込み、自社の既存事業との間でシナジーを発現させることなどを目的に、事業会社がベンチャー企業に投資をすることをCVC（コーポレート・ベンチャー・キャピタル）と呼ぶ。</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。CVCの定義そのもの。ア：TOBは通常「取引所を介さず」株主から直接買い集める手法で「公開市場で買い付け」は不正確。イ：MBOは非上場企業の事業承継手段としても行われる。ウ：仕入先（川上）の買収は</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垂直的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M&amp;A（水平的は誤り）。エ：JVは独立性を保つため共有情報の範囲はM&amp;Aより</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狭い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（広いは誤り）。</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大手飲料メーカーが自社にない発酵技術を持つスタートアップに出資し、将来の自社事業とのシナジーを狙うのがCVCの典型例。買収して経営統合するM&amp;Aとは異なり、出資先の独立性を保ったまま関係を築く点がポイント。</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関連知識：M&amp;Aの類型（水平・垂直・多角化型）とTOB・MBO・CVC等の周辺用語はセットで頻出。</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出典：past_exams/1st_stage/1ji2025/C1JI2025.pdf（令和7年度第1次試験）第6問／正解：past_exams/1st_stage_answers/r07/2025c.pdf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C-6 ／ 競争戦略：業界の構造分析（5フォース、価値連鎖）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5つの力で「儲かりやすい業界か」を判断する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業界の競争構造を5つの力（ポーター）に分解し、力が弱いほど儲けやすい業界と判断する。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3721608" y="1691640"/>
            <a:ext cx="4718304" cy="993648"/>
          </a:xfrm>
          <a:prstGeom prst="rect">
            <a:avLst/>
          </a:prstGeom>
          <a:solidFill>
            <a:srgbClr val="FFFFFF"/>
          </a:solidFill>
          <a:ln w="12700">
            <a:solidFill>
              <a:srgbClr val="171717"/>
            </a:solidFill>
            <a:prstDash val="solid"/>
          </a:ln>
        </p:spPr>
      </p:sp>
      <p:sp>
        <p:nvSpPr>
          <p:cNvPr id="9" name="Text 7"/>
          <p:cNvSpPr txBox="1"/>
          <p:nvPr/>
        </p:nvSpPr>
        <p:spPr>
          <a:xfrm>
            <a:off x="3721608" y="1691640"/>
            <a:ext cx="4718304"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新規参入の脅威</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（参入障壁が低いほど大）</a:t>
            </a:r>
            <a:endParaRPr lang="en-US" sz="900" dirty="0"/>
          </a:p>
        </p:txBody>
      </p:sp>
      <p:sp>
        <p:nvSpPr>
          <p:cNvPr id="10" name="Shape 8"/>
          <p:cNvSpPr/>
          <p:nvPr/>
        </p:nvSpPr>
        <p:spPr>
          <a:xfrm>
            <a:off x="1280160" y="2795016"/>
            <a:ext cx="2304288" cy="993648"/>
          </a:xfrm>
          <a:prstGeom prst="rect">
            <a:avLst/>
          </a:prstGeom>
          <a:solidFill>
            <a:srgbClr val="FFFFFF"/>
          </a:solidFill>
          <a:ln w="12700">
            <a:solidFill>
              <a:srgbClr val="171717"/>
            </a:solidFill>
            <a:prstDash val="solid"/>
          </a:ln>
        </p:spPr>
      </p:sp>
      <p:sp>
        <p:nvSpPr>
          <p:cNvPr id="11" name="Text 9"/>
          <p:cNvSpPr txBox="1"/>
          <p:nvPr/>
        </p:nvSpPr>
        <p:spPr>
          <a:xfrm>
            <a:off x="1280160" y="2795016"/>
            <a:ext cx="2304288"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売り手の</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交渉力</a:t>
            </a:r>
            <a:endParaRPr lang="en-US" sz="900" dirty="0"/>
          </a:p>
        </p:txBody>
      </p:sp>
      <p:sp>
        <p:nvSpPr>
          <p:cNvPr id="12" name="Shape 10"/>
          <p:cNvSpPr/>
          <p:nvPr/>
        </p:nvSpPr>
        <p:spPr>
          <a:xfrm>
            <a:off x="3721608" y="2795016"/>
            <a:ext cx="4718304" cy="993648"/>
          </a:xfrm>
          <a:prstGeom prst="rect">
            <a:avLst/>
          </a:prstGeom>
          <a:solidFill>
            <a:srgbClr val="FF3B1F"/>
          </a:solidFill>
          <a:ln w="12700">
            <a:solidFill>
              <a:srgbClr val="171717"/>
            </a:solidFill>
            <a:prstDash val="solid"/>
          </a:ln>
        </p:spPr>
      </p:sp>
      <p:sp>
        <p:nvSpPr>
          <p:cNvPr id="13" name="Text 11"/>
          <p:cNvSpPr txBox="1"/>
          <p:nvPr/>
        </p:nvSpPr>
        <p:spPr>
          <a:xfrm>
            <a:off x="3721608" y="2795016"/>
            <a:ext cx="4718304" cy="993648"/>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業界内の</a:t>
            </a:r>
            <a:endParaRPr lang="en-US" sz="900" dirty="0"/>
          </a:p>
          <a:p>
            <a:pPr algn="ctr" indent="0" marL="0">
              <a:lnSpc>
                <a:spcPct val="105000"/>
              </a:lnSpc>
              <a:buNone/>
            </a:pPr>
            <a:r>
              <a:rPr lang="en-US" sz="900" b="1" dirty="0">
                <a:solidFill>
                  <a:srgbClr val="FFFFFF"/>
                </a:solidFill>
                <a:latin typeface="Yu Gothic" pitchFamily="34" charset="0"/>
                <a:ea typeface="Yu Gothic" pitchFamily="34" charset="-122"/>
                <a:cs typeface="Yu Gothic" pitchFamily="34" charset="-120"/>
              </a:rPr>
              <a:t>既存競合</a:t>
            </a:r>
            <a:endParaRPr lang="en-US" sz="900" dirty="0"/>
          </a:p>
        </p:txBody>
      </p:sp>
      <p:sp>
        <p:nvSpPr>
          <p:cNvPr id="14" name="Shape 12"/>
          <p:cNvSpPr/>
          <p:nvPr/>
        </p:nvSpPr>
        <p:spPr>
          <a:xfrm>
            <a:off x="8577072" y="2795016"/>
            <a:ext cx="2304288" cy="993648"/>
          </a:xfrm>
          <a:prstGeom prst="rect">
            <a:avLst/>
          </a:prstGeom>
          <a:solidFill>
            <a:srgbClr val="FFFFFF"/>
          </a:solidFill>
          <a:ln w="12700">
            <a:solidFill>
              <a:srgbClr val="171717"/>
            </a:solidFill>
            <a:prstDash val="solid"/>
          </a:ln>
        </p:spPr>
      </p:sp>
      <p:sp>
        <p:nvSpPr>
          <p:cNvPr id="15" name="Text 13"/>
          <p:cNvSpPr txBox="1"/>
          <p:nvPr/>
        </p:nvSpPr>
        <p:spPr>
          <a:xfrm>
            <a:off x="8577072" y="2795016"/>
            <a:ext cx="2304288"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買い手の</a:t>
            </a:r>
            <a:endParaRPr lang="en-US" sz="900" dirty="0"/>
          </a:p>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交渉力</a:t>
            </a:r>
            <a:endParaRPr lang="en-US" sz="900" dirty="0"/>
          </a:p>
        </p:txBody>
      </p:sp>
      <p:sp>
        <p:nvSpPr>
          <p:cNvPr id="16" name="Shape 14"/>
          <p:cNvSpPr/>
          <p:nvPr/>
        </p:nvSpPr>
        <p:spPr>
          <a:xfrm>
            <a:off x="3721608" y="3898392"/>
            <a:ext cx="4718304" cy="993648"/>
          </a:xfrm>
          <a:prstGeom prst="rect">
            <a:avLst/>
          </a:prstGeom>
          <a:solidFill>
            <a:srgbClr val="FFFFFF"/>
          </a:solidFill>
          <a:ln w="12700">
            <a:solidFill>
              <a:srgbClr val="171717"/>
            </a:solidFill>
            <a:prstDash val="solid"/>
          </a:ln>
        </p:spPr>
      </p:sp>
      <p:sp>
        <p:nvSpPr>
          <p:cNvPr id="17" name="Text 15"/>
          <p:cNvSpPr txBox="1"/>
          <p:nvPr/>
        </p:nvSpPr>
        <p:spPr>
          <a:xfrm>
            <a:off x="3721608" y="3898392"/>
            <a:ext cx="4718304" cy="993648"/>
          </a:xfrm>
          <a:prstGeom prst="rect">
            <a:avLst/>
          </a:prstGeom>
          <a:noFill/>
          <a:ln/>
        </p:spPr>
        <p:txBody>
          <a:bodyPr wrap="square" lIns="0" tIns="0" rIns="0" bIns="0" rtlCol="0" anchor="ctr"/>
          <a:lstStyle/>
          <a:p>
            <a:pPr algn="ctr" indent="0" marL="0">
              <a:lnSpc>
                <a:spcPct val="105000"/>
              </a:lnSpc>
              <a:buNone/>
            </a:pPr>
            <a:r>
              <a:rPr lang="en-US" sz="900" dirty="0">
                <a:solidFill>
                  <a:srgbClr val="171717"/>
                </a:solidFill>
                <a:latin typeface="Yu Gothic" pitchFamily="34" charset="0"/>
                <a:ea typeface="Yu Gothic" pitchFamily="34" charset="-122"/>
                <a:cs typeface="Yu Gothic" pitchFamily="34" charset="-120"/>
              </a:rPr>
              <a:t>代替品の脅威（例：新聞にとってのニュースアプリ）</a:t>
            </a:r>
            <a:endParaRPr lang="en-US" sz="900" dirty="0"/>
          </a:p>
        </p:txBody>
      </p:sp>
      <p:sp>
        <p:nvSpPr>
          <p:cNvPr id="18" name="Text 16"/>
          <p:cNvSpPr txBox="1"/>
          <p:nvPr/>
        </p:nvSpPr>
        <p:spPr>
          <a:xfrm>
            <a:off x="502920" y="5029200"/>
            <a:ext cx="11201400" cy="457200"/>
          </a:xfrm>
          <a:prstGeom prst="rect">
            <a:avLst/>
          </a:prstGeom>
          <a:noFill/>
          <a:ln/>
        </p:spPr>
        <p:txBody>
          <a:bodyPr wrap="square" lIns="0" tIns="0" rIns="0" bIns="0" rtlCol="0" anchor="ctr"/>
          <a:lstStyle/>
          <a:p>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もう1つの分析軸が</a:t>
            </a:r>
            <a:pPr indent="0" marL="0">
              <a:lnSpc>
                <a:spcPct val="125000"/>
              </a:lnSpc>
              <a:buNone/>
            </a:pPr>
            <a:r>
              <a:rPr lang="en-US" sz="950" b="1" dirty="0">
                <a:solidFill>
                  <a:srgbClr val="8A8A8A"/>
                </a:solidFill>
                <a:latin typeface="Yu Gothic" pitchFamily="34" charset="0"/>
                <a:ea typeface="Yu Gothic" pitchFamily="34" charset="-122"/>
                <a:cs typeface="Yu Gothic" pitchFamily="34" charset="-120"/>
              </a:rPr>
              <a:t>バリューチェーン（価値連鎖）分析</a:t>
            </a:r>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：活動を「主活動」（購買物流→製造→出荷物流→販売→サービス）と「支援活動」（全般管理・人事・技術開発・調達）に分け、付加価値の源泉を探る。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ひっかけ：「参入障壁が高く撤退障壁が低い」のように複数条件を組み合わせた業界特性は、単純発想では判断できない。設問の前提条件を個別に確認すること。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C-7 ／ 競争戦略：競争優位の戦略（コスト・差別化・集中）</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競争に勝つための3つの基本戦略</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「競争優位の種類」×「狙う市場の広さ」の組み合わせで、とるべき戦略が変わる（ポーター）。</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コストリーダーシップ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業界最低コストで価格競争に勝つ（例：格安航空会社）</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品質・ブランド・デザインで独自の価値を出す（例：高級ホテル）</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コスト集中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特定の狭い顧客層に絞ってコストで勝つ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差別化集中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特定の狭い顧客層に絞って差別化で勝つ</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縦軸：狙う市場の広さ（上＝広い市場全体、下＝特定の狭い層＝集中戦略）／横軸：競争優位の源泉（左＝コスト、右＝差別化）。両方を中途半端に狙うと収益性が落ちる（スタック・イン・ザ・ミドル）。</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ひっかけ：集中戦略は「誰に売るか」の軸で、コストリーダーシップ・差別化そのものとは別軸。ユニクロのSPAによる効率化は単純な安売りでなく差別化的コストリーダーシップと解釈される。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C-8 ／ 競争戦略：競争地位別戦略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業界内シェアの順位で戦い方を変える（コトラー）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市場シェアの順位に応じて、企業が取るべき戦略は4パターンに分かれる。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リーダー</a:t>
            </a:r>
            <a:endParaRPr lang="en-US" sz="1500" dirty="0"/>
          </a:p>
        </p:txBody>
      </p:sp>
      <p:sp>
        <p:nvSpPr>
          <p:cNvPr id="9" name="Text 7"/>
          <p:cNvSpPr txBox="1"/>
          <p:nvPr/>
        </p:nvSpPr>
        <p:spPr>
          <a:xfrm>
            <a:off x="2514600" y="1911096"/>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業界1位</a:t>
            </a:r>
            <a:endParaRPr lang="en-US" sz="1100" dirty="0"/>
          </a:p>
        </p:txBody>
      </p:sp>
      <p:sp>
        <p:nvSpPr>
          <p:cNvPr id="10" name="Text 8"/>
          <p:cNvSpPr txBox="1"/>
          <p:nvPr/>
        </p:nvSpPr>
        <p:spPr>
          <a:xfrm>
            <a:off x="4709160" y="1856232"/>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市場全体を拡大させ、他社の攻撃を防ぐ「全方位戦略」</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チャレンジャー</a:t>
            </a:r>
            <a:endParaRPr lang="en-US" sz="1500" dirty="0"/>
          </a:p>
        </p:txBody>
      </p:sp>
      <p:sp>
        <p:nvSpPr>
          <p:cNvPr id="13" name="Text 11"/>
          <p:cNvSpPr txBox="1"/>
          <p:nvPr/>
        </p:nvSpPr>
        <p:spPr>
          <a:xfrm>
            <a:off x="2514600" y="2752344"/>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2位以下・体力あり</a:t>
            </a:r>
            <a:endParaRPr lang="en-US" sz="1100" dirty="0"/>
          </a:p>
        </p:txBody>
      </p:sp>
      <p:sp>
        <p:nvSpPr>
          <p:cNvPr id="14" name="Text 12"/>
          <p:cNvSpPr txBox="1"/>
          <p:nvPr/>
        </p:nvSpPr>
        <p:spPr>
          <a:xfrm>
            <a:off x="4709160" y="2697480"/>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リーダーとの「差別化」戦略。同じ土俵で戦うと体力負けするため</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ニッチャー</a:t>
            </a:r>
            <a:endParaRPr lang="en-US" sz="1500" dirty="0"/>
          </a:p>
        </p:txBody>
      </p:sp>
      <p:sp>
        <p:nvSpPr>
          <p:cNvPr id="17" name="Text 15"/>
          <p:cNvSpPr txBox="1"/>
          <p:nvPr/>
        </p:nvSpPr>
        <p:spPr>
          <a:xfrm>
            <a:off x="2514600" y="3593592"/>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特定分野に特化</a:t>
            </a:r>
            <a:endParaRPr lang="en-US" sz="1100" dirty="0"/>
          </a:p>
        </p:txBody>
      </p:sp>
      <p:sp>
        <p:nvSpPr>
          <p:cNvPr id="18" name="Text 16"/>
          <p:cNvSpPr txBox="1"/>
          <p:nvPr/>
        </p:nvSpPr>
        <p:spPr>
          <a:xfrm>
            <a:off x="4709160" y="3538728"/>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特定のセグメントに経営資源を集中する「集中」戦略</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フォロワー</a:t>
            </a:r>
            <a:endParaRPr lang="en-US" sz="1500" dirty="0"/>
          </a:p>
        </p:txBody>
      </p:sp>
      <p:sp>
        <p:nvSpPr>
          <p:cNvPr id="21" name="Text 19"/>
          <p:cNvSpPr txBox="1"/>
          <p:nvPr/>
        </p:nvSpPr>
        <p:spPr>
          <a:xfrm>
            <a:off x="2514600" y="4434840"/>
            <a:ext cx="21031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シェア・体力とも劣る</a:t>
            </a:r>
            <a:endParaRPr lang="en-US" sz="1100" dirty="0"/>
          </a:p>
        </p:txBody>
      </p:sp>
      <p:sp>
        <p:nvSpPr>
          <p:cNvPr id="22" name="Text 20"/>
          <p:cNvSpPr txBox="1"/>
          <p:nvPr/>
        </p:nvSpPr>
        <p:spPr>
          <a:xfrm>
            <a:off x="4709160" y="4379976"/>
            <a:ext cx="699516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リーダーの成功パターンを模倣し、低コストで生き残る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ひっかけ：チャレンジャーが取るべきは「同質化（真似）」ではなく「差別化」。同質化はむしろフォロワーの戦略に近い考え方であり、混同しないこと。</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技術経営（MOT）：技術戦略、知財戦略</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コア技術を軸に複数事業へ展開する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技術力を経済的価値に変えるマネジメント。コア技術戦略と知財戦略が中心。</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MOT（技術経営）</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は技術力を利益に変えるマネジメント。代表例が</a:t>
            </a:r>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コア技術戦略</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：特定の技術分野に集中し、複数の製品・事業に展開する戦略。</a:t>
            </a:r>
            <a:endParaRPr lang="en-US" sz="1150" dirty="0"/>
          </a:p>
        </p:txBody>
      </p:sp>
      <p:sp>
        <p:nvSpPr>
          <p:cNvPr id="9" name="Text 7"/>
          <p:cNvSpPr txBox="1"/>
          <p:nvPr/>
        </p:nvSpPr>
        <p:spPr>
          <a:xfrm>
            <a:off x="502920" y="220370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コア技術戦略</a:t>
            </a:r>
            <a:endParaRPr lang="en-US" sz="1150" dirty="0"/>
          </a:p>
        </p:txBody>
      </p:sp>
      <p:sp>
        <p:nvSpPr>
          <p:cNvPr id="10" name="Shape 8"/>
          <p:cNvSpPr/>
          <p:nvPr/>
        </p:nvSpPr>
        <p:spPr>
          <a:xfrm>
            <a:off x="1901952" y="2203704"/>
            <a:ext cx="0" cy="256032"/>
          </a:xfrm>
          <a:prstGeom prst="line">
            <a:avLst/>
          </a:prstGeom>
          <a:noFill/>
          <a:ln w="12700">
            <a:solidFill>
              <a:srgbClr val="E6E6E6"/>
            </a:solidFill>
            <a:prstDash val="solid"/>
          </a:ln>
        </p:spPr>
      </p:sp>
      <p:sp>
        <p:nvSpPr>
          <p:cNvPr id="11" name="Text 9"/>
          <p:cNvSpPr txBox="1"/>
          <p:nvPr/>
        </p:nvSpPr>
        <p:spPr>
          <a:xfrm>
            <a:off x="2057400" y="220370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1つの技術を土台に複数製品を展開し、得た知見を技術自体の強化に還元する好循環</a:t>
            </a:r>
            <a:endParaRPr lang="en-US" sz="1150" dirty="0"/>
          </a:p>
        </p:txBody>
      </p:sp>
      <p:sp>
        <p:nvSpPr>
          <p:cNvPr id="12" name="Text 10"/>
          <p:cNvSpPr txBox="1"/>
          <p:nvPr/>
        </p:nvSpPr>
        <p:spPr>
          <a:xfrm>
            <a:off x="502920" y="2569464"/>
            <a:ext cx="14173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知財戦略</a:t>
            </a:r>
            <a:endParaRPr lang="en-US" sz="1150" dirty="0"/>
          </a:p>
        </p:txBody>
      </p:sp>
      <p:sp>
        <p:nvSpPr>
          <p:cNvPr id="13" name="Shape 11"/>
          <p:cNvSpPr/>
          <p:nvPr/>
        </p:nvSpPr>
        <p:spPr>
          <a:xfrm>
            <a:off x="1901952" y="2569464"/>
            <a:ext cx="0" cy="256032"/>
          </a:xfrm>
          <a:prstGeom prst="line">
            <a:avLst/>
          </a:prstGeom>
          <a:noFill/>
          <a:ln w="12700">
            <a:solidFill>
              <a:srgbClr val="E6E6E6"/>
            </a:solidFill>
            <a:prstDash val="solid"/>
          </a:ln>
        </p:spPr>
      </p:sp>
      <p:sp>
        <p:nvSpPr>
          <p:cNvPr id="14" name="Text 12"/>
          <p:cNvSpPr txBox="1"/>
          <p:nvPr/>
        </p:nvSpPr>
        <p:spPr>
          <a:xfrm>
            <a:off x="2057400" y="2569464"/>
            <a:ext cx="96469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特許として公開・独占するか、ノウハウとして秘匿するかの選択も含む</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「精密加工技術」をコア技術に持つ工作機械メーカーが、医療機器・航空宇宙部品にも展開し、各分野で得たノウハウを工作機械の技術力向上にも還元する。</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コア技術戦略は「既存技術に固執し続けること」ではない。陳腐化・模倣時は技術自体を進化させるのが前提。「既存市場でのシェア拡大が最優先」も誤りで、本質は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複数事業への横展開</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関連：C-10 イノベーションマネジメント、C-11 新規事業開発と同じ技術経営（MOT）分野。</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特定の技術分野に集中し、その技術をベースとした製品を次々と開発・導入する戦略として「コア技術戦略」がある。コア技術戦略の特徴に関する記述として、最も適切なものはどれか。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出典：past_exams/1st_stage/1ji2025/C1JI2025.pdf（令和7年度第1次試験）第9問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正解はエ。「複数製品への横展開」がコア技術戦略の本質。</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コア技術戦略では、コア技術が陳腐化したり、競合企業に模倣されたりしても、コア技術の入れ替えは考えず、既存のコア技術にこだわった技術開発や製品開発を追求する。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コア技術戦略では、コア技術の活用に注力し、既存市場でのシェア拡大を最優先の目標とする。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コア技術戦略では、コア技術を活用して顧客ニーズに合致した製品を開発することが望ましいが、開発の初期段階ではコア技術よりも既存顧客の要求を優先する。</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コア技術戦略では、コア技術を基盤に、多様な製品を開発し、その学習成果をコア技術の強化や発展につなげる。</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コア技術戦略では、特定の技術に経営資源を集中させるため、事業の多角化が難しく、コア技術に依存するリスクを分散しにくい。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正解：エ</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単一のコア技術を軸に複数製品・事業へ展開し、得た学習成果を技術自体の強化に還元する好循環がコア技術戦略の核心。ア：陳腐化・模倣時も固執するのは「コンピタンス・トラップ」に近く誤り。イ：既存市場シェア拡大最優先は市場浸透戦略の説明で誤り。オ：コア技術を軸にした展開はむしろ</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多角化しやすい</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「精密加工技術」をコア技術に持つ工作機械メーカーが、医療機器・航空宇宙部品にも技術を横展開し、各分野で得た知見を工作機械自体の技術力向上にも還元するのがエの記述そのものの実践例。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関連知識：1つの技術基盤を複数事業に展開する考え方は「技術のプラットフォーム化」「技術シナジー」とも関連する。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出典：past_exams/1st_stage/1ji2025/C1JI2025.pdf（令和7年度第1次試験）第9問／正解：past_exams/1st_stage_answers/r07/2025c.pdf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技術経営（MOT）：イノベーションマネジメント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3つのイノベーション理論を区別する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「誰が」「どこから」イノベーションを起こすかで異なる3つの代表理論がある。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イノベーションに関する3つの代表理論。「誰が」「どこから」起こすかがそれぞれ異なる。</a:t>
            </a:r>
            <a:endParaRPr lang="en-US" sz="1150" dirty="0"/>
          </a:p>
        </p:txBody>
      </p:sp>
      <p:sp>
        <p:nvSpPr>
          <p:cNvPr id="9" name="Text 7"/>
          <p:cNvSpPr txBox="1"/>
          <p:nvPr/>
        </p:nvSpPr>
        <p:spPr>
          <a:xfrm>
            <a:off x="502920" y="203911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イノベーションのジレンマ</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既存顧客への対応に注力するあまり、新興企業の破壊的イノベーションに対応できず地位を奪われる（クリステンセン）</a:t>
            </a:r>
            <a:endParaRPr lang="en-US" sz="1150" dirty="0"/>
          </a:p>
        </p:txBody>
      </p:sp>
      <p:sp>
        <p:nvSpPr>
          <p:cNvPr id="12" name="Text 10"/>
          <p:cNvSpPr txBox="1"/>
          <p:nvPr/>
        </p:nvSpPr>
        <p:spPr>
          <a:xfrm>
            <a:off x="502920" y="25420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オープンイノベーション</a:t>
            </a:r>
            <a:endParaRPr lang="en-US" sz="1150" dirty="0"/>
          </a:p>
        </p:txBody>
      </p:sp>
      <p:sp>
        <p:nvSpPr>
          <p:cNvPr id="13" name="Shape 11"/>
          <p:cNvSpPr/>
          <p:nvPr/>
        </p:nvSpPr>
        <p:spPr>
          <a:xfrm>
            <a:off x="2587752" y="2542032"/>
            <a:ext cx="0" cy="256032"/>
          </a:xfrm>
          <a:prstGeom prst="line">
            <a:avLst/>
          </a:prstGeom>
          <a:noFill/>
          <a:ln w="12700">
            <a:solidFill>
              <a:srgbClr val="E6E6E6"/>
            </a:solidFill>
            <a:prstDash val="solid"/>
          </a:ln>
        </p:spPr>
      </p:sp>
      <p:sp>
        <p:nvSpPr>
          <p:cNvPr id="14" name="Text 12"/>
          <p:cNvSpPr txBox="1"/>
          <p:nvPr/>
        </p:nvSpPr>
        <p:spPr>
          <a:xfrm>
            <a:off x="2743200" y="25420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社外（大学・他社・スタートアップ）のアイデア・技術を積極的に取り込む考え方</a:t>
            </a:r>
            <a:endParaRPr lang="en-US" sz="1150" dirty="0"/>
          </a:p>
        </p:txBody>
      </p:sp>
      <p:sp>
        <p:nvSpPr>
          <p:cNvPr id="15" name="Text 13"/>
          <p:cNvSpPr txBox="1"/>
          <p:nvPr/>
        </p:nvSpPr>
        <p:spPr>
          <a:xfrm>
            <a:off x="502920" y="2907792"/>
            <a:ext cx="210312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ユーザー・イノベーション</a:t>
            </a:r>
            <a:endParaRPr lang="en-US" sz="1150" dirty="0"/>
          </a:p>
        </p:txBody>
      </p:sp>
      <p:sp>
        <p:nvSpPr>
          <p:cNvPr id="16" name="Shape 14"/>
          <p:cNvSpPr/>
          <p:nvPr/>
        </p:nvSpPr>
        <p:spPr>
          <a:xfrm>
            <a:off x="2587752" y="2907792"/>
            <a:ext cx="0" cy="256032"/>
          </a:xfrm>
          <a:prstGeom prst="line">
            <a:avLst/>
          </a:prstGeom>
          <a:noFill/>
          <a:ln w="12700">
            <a:solidFill>
              <a:srgbClr val="E6E6E6"/>
            </a:solidFill>
            <a:prstDash val="solid"/>
          </a:ln>
        </p:spPr>
      </p:sp>
      <p:sp>
        <p:nvSpPr>
          <p:cNvPr id="17" name="Text 15"/>
          <p:cNvSpPr txBox="1"/>
          <p:nvPr/>
        </p:nvSpPr>
        <p:spPr>
          <a:xfrm>
            <a:off x="2743200" y="2907792"/>
            <a:ext cx="896112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企業でなくユーザー自身が改良・開発を行う。先端的ニーズを持つリード・ユーザーが主な担い手（フォン・ヒッペル）</a:t>
            </a:r>
            <a:endParaRPr lang="en-US" sz="1150" dirty="0"/>
          </a:p>
        </p:txBody>
      </p:sp>
      <p:sp>
        <p:nvSpPr>
          <p:cNvPr id="18" name="Text 16"/>
          <p:cNvSpPr txBox="1"/>
          <p:nvPr/>
        </p:nvSpPr>
        <p:spPr>
          <a:xfrm>
            <a:off x="502920" y="348386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ユーザー・イノベーションは「企業が顧客ニーズをアンケート調査すること」ではなく、</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ユーザー自身</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が開発主体。個人単独よりコミュニティを通じた方が普及しやすい。</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具体例：フィルムカメラの高性能化に注力する大手を尻目に、性能は劣るが手軽なデジタルカメラで新興メーカーが台頭した例が「イノベーションのジレンマ」の典型。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ユーザー・イノベーションに関する記述として、最も適切なものはどれか。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出典：past_exams/1st_stage/1ji2025/C1JI2025.pdf（令和7年度第1次試験）第10問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正解はオ。主体の取り違え・普及しやすさの逆転に注意する。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個人によるユーザー・イノベーションは、コミュニティを通じたユーザー・イノベーションよりも普及しやすい傾向にある。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ユーザー・イノベーションとは、企業の開発者が主体となり、アンケートやインタビューを活用して、顧客のニーズを調査し、その結果を製品開発に反映するプロセスである。</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ユーザー・イノベーションは、イノベーションのジレンマを引き起こし、既存企業が破壊的イノベーションに対応できなくなる原因となる。</a:t>
            </a:r>
            <a:endParaRPr lang="en-US" sz="1150" dirty="0"/>
          </a:p>
        </p:txBody>
      </p:sp>
      <p:sp>
        <p:nvSpPr>
          <p:cNvPr id="11" name="Text 9"/>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ユーザー・イノベーションは、ユーザーが持つニーズ情報の粘着性が高く、技術情報の粘着性が低い場合に起こりやすい。</a:t>
            </a:r>
            <a:endParaRPr lang="en-US" sz="1150" dirty="0"/>
          </a:p>
        </p:txBody>
      </p:sp>
      <p:sp>
        <p:nvSpPr>
          <p:cNvPr id="12" name="Shape 10"/>
          <p:cNvSpPr/>
          <p:nvPr/>
        </p:nvSpPr>
        <p:spPr>
          <a:xfrm>
            <a:off x="502920" y="3611880"/>
            <a:ext cx="11201400" cy="475488"/>
          </a:xfrm>
          <a:prstGeom prst="rect">
            <a:avLst/>
          </a:prstGeom>
          <a:solidFill>
            <a:srgbClr val="F4F4F4"/>
          </a:solidFill>
          <a:ln/>
        </p:spPr>
      </p:sp>
      <p:sp>
        <p:nvSpPr>
          <p:cNvPr id="13" name="Shape 11"/>
          <p:cNvSpPr/>
          <p:nvPr/>
        </p:nvSpPr>
        <p:spPr>
          <a:xfrm>
            <a:off x="502920" y="3611880"/>
            <a:ext cx="0" cy="475488"/>
          </a:xfrm>
          <a:prstGeom prst="line">
            <a:avLst/>
          </a:prstGeom>
          <a:noFill/>
          <a:ln w="38100">
            <a:solidFill>
              <a:srgbClr val="FF3B1F"/>
            </a:solidFill>
            <a:prstDash val="solid"/>
          </a:ln>
        </p:spPr>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ユーザー・イノベーションは、リード・ユーザーと呼ばれる、特定の企業への忠誠度が高いユーザーによって引き起こされる傾向が強い。</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5000"/>
              </a:lnSpc>
              <a:buNone/>
            </a:pPr>
            <a:r>
              <a:rPr lang="en-US" sz="1100" b="1" dirty="0">
                <a:solidFill>
                  <a:srgbClr val="FF3B1F"/>
                </a:solidFill>
                <a:latin typeface="Yu Gothic" pitchFamily="34" charset="0"/>
                <a:ea typeface="Yu Gothic" pitchFamily="34" charset="-122"/>
                <a:cs typeface="Yu Gothic" pitchFamily="34" charset="-120"/>
              </a:rPr>
              <a:t>正解：オ</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フォン・ヒッペルの提唱した「リード・ユーザー」（市場ニーズを先取りする強いニーズを持つユーザー）が主な担い手。ア：個人単独よりコミュニティを通じた方が普及しやすく記述は逆。イ：主体は企業でなく</a:t>
            </a:r>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ユーザー自身</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で誤り。ウ：ジレンマの原因はユーザー・イノベーションではなく持続的イノベーションへの偏重。</a:t>
            </a:r>
            <a:endParaRPr lang="en-US" sz="1100" dirty="0"/>
          </a:p>
        </p:txBody>
      </p:sp>
      <p:sp>
        <p:nvSpPr>
          <p:cNvPr id="17" name="Text 15"/>
          <p:cNvSpPr txBox="1"/>
          <p:nvPr/>
        </p:nvSpPr>
        <p:spPr>
          <a:xfrm>
            <a:off x="502920" y="512978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マウンテンバイクは、既存の自転車に飽き足らない愛好家（リード・ユーザー）自身が山道走行用に独自改造・開発したことから発展した、ユーザー・イノベーションの代表的な歴史的事例としてよく引用される。</a:t>
            </a:r>
            <a:endParaRPr lang="en-US" sz="850" dirty="0"/>
          </a:p>
        </p:txBody>
      </p:sp>
      <p:sp>
        <p:nvSpPr>
          <p:cNvPr id="18" name="Text 16"/>
          <p:cNvSpPr txBox="1"/>
          <p:nvPr/>
        </p:nvSpPr>
        <p:spPr>
          <a:xfrm>
            <a:off x="502920" y="5980176"/>
            <a:ext cx="11201400" cy="27432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関連知識：リード・ユーザー法は新製品開発のマーケティングリサーチ手法として2次試験（事例II）でも問われることがある。</a:t>
            </a:r>
            <a:endParaRPr lang="en-US" sz="1000" dirty="0"/>
          </a:p>
        </p:txBody>
      </p:sp>
      <p:sp>
        <p:nvSpPr>
          <p:cNvPr id="19" name="Text 17"/>
          <p:cNvSpPr txBox="1"/>
          <p:nvPr/>
        </p:nvSpPr>
        <p:spPr>
          <a:xfrm>
            <a:off x="502920" y="6345936"/>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出典：past_exams/1st_stage/1ji2025/C1JI2025.pdf（令和7年度第1次試験）第10問／正解：past_exams/1st_stage_answers/r07/2025c.pdf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C-11 ／ 技術経営（MOT）：新規事業開発</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リーン・スタートアップで新規事業の不確実性に対処する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完成品をいきなり作らず、最小限の製品で顧客の反応を見ながら素早く軌道修正する。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b="1" dirty="0">
                <a:solidFill>
                  <a:srgbClr val="171717"/>
                </a:solidFill>
                <a:latin typeface="Yu Gothic" pitchFamily="34" charset="0"/>
                <a:ea typeface="Yu Gothic" pitchFamily="34" charset="-122"/>
                <a:cs typeface="Yu Gothic" pitchFamily="34" charset="-120"/>
              </a:rPr>
              <a:t>リーン・スタートアップ</a:t>
            </a:r>
            <a:pPr indent="0" marL="0">
              <a:buNone/>
            </a:pPr>
            <a:r>
              <a:rPr lang="en-US" sz="1150" dirty="0">
                <a:solidFill>
                  <a:srgbClr val="171717"/>
                </a:solidFill>
                <a:latin typeface="Yu Gothic" pitchFamily="34" charset="0"/>
                <a:ea typeface="Yu Gothic" pitchFamily="34" charset="-122"/>
                <a:cs typeface="Yu Gothic" pitchFamily="34" charset="-120"/>
              </a:rPr>
              <a:t>（エリック・リース）：新規性が高く顧客の存在も未知な事業で、完成品を作る前に検証を繰り返す方法論。</a:t>
            </a:r>
            <a:endParaRPr lang="en-US" sz="1150" dirty="0"/>
          </a:p>
        </p:txBody>
      </p:sp>
      <p:sp>
        <p:nvSpPr>
          <p:cNvPr id="9" name="Text 7"/>
          <p:cNvSpPr txBox="1"/>
          <p:nvPr/>
        </p:nvSpPr>
        <p:spPr>
          <a:xfrm>
            <a:off x="502920" y="207568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MVP</a:t>
            </a:r>
            <a:endParaRPr lang="en-US" sz="1150" dirty="0"/>
          </a:p>
        </p:txBody>
      </p:sp>
      <p:sp>
        <p:nvSpPr>
          <p:cNvPr id="10" name="Shape 8"/>
          <p:cNvSpPr/>
          <p:nvPr/>
        </p:nvSpPr>
        <p:spPr>
          <a:xfrm>
            <a:off x="2313432" y="2075688"/>
            <a:ext cx="0" cy="256032"/>
          </a:xfrm>
          <a:prstGeom prst="line">
            <a:avLst/>
          </a:prstGeom>
          <a:noFill/>
          <a:ln w="12700">
            <a:solidFill>
              <a:srgbClr val="E6E6E6"/>
            </a:solidFill>
            <a:prstDash val="solid"/>
          </a:ln>
        </p:spPr>
      </p:sp>
      <p:sp>
        <p:nvSpPr>
          <p:cNvPr id="11" name="Text 9"/>
          <p:cNvSpPr txBox="1"/>
          <p:nvPr/>
        </p:nvSpPr>
        <p:spPr>
          <a:xfrm>
            <a:off x="2468880" y="207568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実用最小限の製品。コストをかけず最低限の機能だけを持つ試作版</a:t>
            </a:r>
            <a:endParaRPr lang="en-US" sz="1150" dirty="0"/>
          </a:p>
        </p:txBody>
      </p:sp>
      <p:sp>
        <p:nvSpPr>
          <p:cNvPr id="12" name="Text 10"/>
          <p:cNvSpPr txBox="1"/>
          <p:nvPr/>
        </p:nvSpPr>
        <p:spPr>
          <a:xfrm>
            <a:off x="502920" y="244144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構築－計測－学習</a:t>
            </a:r>
            <a:endParaRPr lang="en-US" sz="1150" dirty="0"/>
          </a:p>
        </p:txBody>
      </p:sp>
      <p:sp>
        <p:nvSpPr>
          <p:cNvPr id="13" name="Shape 11"/>
          <p:cNvSpPr/>
          <p:nvPr/>
        </p:nvSpPr>
        <p:spPr>
          <a:xfrm>
            <a:off x="2313432" y="2441448"/>
            <a:ext cx="0" cy="256032"/>
          </a:xfrm>
          <a:prstGeom prst="line">
            <a:avLst/>
          </a:prstGeom>
          <a:noFill/>
          <a:ln w="12700">
            <a:solidFill>
              <a:srgbClr val="E6E6E6"/>
            </a:solidFill>
            <a:prstDash val="solid"/>
          </a:ln>
        </p:spPr>
      </p:sp>
      <p:sp>
        <p:nvSpPr>
          <p:cNvPr id="14" name="Text 12"/>
          <p:cNvSpPr txBox="1"/>
          <p:nvPr/>
        </p:nvSpPr>
        <p:spPr>
          <a:xfrm>
            <a:off x="2468880" y="244144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MVPを顧客に使ってもらい反応を見て学習する、というサイクルを素早く回す</a:t>
            </a:r>
            <a:endParaRPr lang="en-US" sz="1150" dirty="0"/>
          </a:p>
        </p:txBody>
      </p:sp>
      <p:sp>
        <p:nvSpPr>
          <p:cNvPr id="15" name="Text 13"/>
          <p:cNvSpPr txBox="1"/>
          <p:nvPr/>
        </p:nvSpPr>
        <p:spPr>
          <a:xfrm>
            <a:off x="502920" y="2807208"/>
            <a:ext cx="18288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ピボット</a:t>
            </a:r>
            <a:endParaRPr lang="en-US" sz="1150" dirty="0"/>
          </a:p>
        </p:txBody>
      </p:sp>
      <p:sp>
        <p:nvSpPr>
          <p:cNvPr id="16" name="Shape 14"/>
          <p:cNvSpPr/>
          <p:nvPr/>
        </p:nvSpPr>
        <p:spPr>
          <a:xfrm>
            <a:off x="2313432" y="2807208"/>
            <a:ext cx="0" cy="256032"/>
          </a:xfrm>
          <a:prstGeom prst="line">
            <a:avLst/>
          </a:prstGeom>
          <a:noFill/>
          <a:ln w="12700">
            <a:solidFill>
              <a:srgbClr val="E6E6E6"/>
            </a:solidFill>
            <a:prstDash val="solid"/>
          </a:ln>
        </p:spPr>
      </p:sp>
      <p:sp>
        <p:nvSpPr>
          <p:cNvPr id="17" name="Text 15"/>
          <p:cNvSpPr txBox="1"/>
          <p:nvPr/>
        </p:nvSpPr>
        <p:spPr>
          <a:xfrm>
            <a:off x="2468880" y="2807208"/>
            <a:ext cx="92354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学習結果を踏まえ、必要なら事業の方向転換をすること</a:t>
            </a:r>
            <a:endParaRPr lang="en-US" sz="1150" dirty="0"/>
          </a:p>
        </p:txBody>
      </p:sp>
      <p:sp>
        <p:nvSpPr>
          <p:cNvPr id="18" name="Text 16"/>
          <p:cNvSpPr txBox="1"/>
          <p:nvPr/>
        </p:nvSpPr>
        <p:spPr>
          <a:xfrm>
            <a:off x="502920" y="326440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リーン・スタートアップは「トヨタ生産方式」（ムダを省き素早く改善サイクルを回す）の考え方から影響を受けている。流行に敏感で自ら情報収集する「アーリー・アダプター」を巻き込むことも推奨され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具体例：新アプリで、いきなり全機能を実装せず最低限の試作版をリリースし、実際の反応を見て本格開発の方向性を決めるのがMVPの考え方。</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C-12 ／ 国際経営戦略：海外進出形態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投資リスクの違いで3つの海外進出形態を選ぶ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輸出・ライセンス供与・海外直接投資の順にリスクとコントロールの強さが増す。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企業が海外に進出する形態には段階があり、リスクとコントロールの強さがトレードオフになる。</a:t>
            </a:r>
            <a:endParaRPr lang="en-US" sz="1150" dirty="0"/>
          </a:p>
        </p:txBody>
      </p:sp>
      <p:sp>
        <p:nvSpPr>
          <p:cNvPr id="9" name="Text 7"/>
          <p:cNvSpPr txBox="1"/>
          <p:nvPr/>
        </p:nvSpPr>
        <p:spPr>
          <a:xfrm>
            <a:off x="502920" y="203911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輸出</a:t>
            </a:r>
            <a:endParaRPr lang="en-US" sz="1150" dirty="0"/>
          </a:p>
        </p:txBody>
      </p:sp>
      <p:sp>
        <p:nvSpPr>
          <p:cNvPr id="10" name="Shape 8"/>
          <p:cNvSpPr/>
          <p:nvPr/>
        </p:nvSpPr>
        <p:spPr>
          <a:xfrm>
            <a:off x="2404872" y="2039112"/>
            <a:ext cx="0" cy="256032"/>
          </a:xfrm>
          <a:prstGeom prst="line">
            <a:avLst/>
          </a:prstGeom>
          <a:noFill/>
          <a:ln w="12700">
            <a:solidFill>
              <a:srgbClr val="E6E6E6"/>
            </a:solidFill>
            <a:prstDash val="solid"/>
          </a:ln>
        </p:spPr>
      </p:sp>
      <p:sp>
        <p:nvSpPr>
          <p:cNvPr id="11" name="Text 9"/>
          <p:cNvSpPr txBox="1"/>
          <p:nvPr/>
        </p:nvSpPr>
        <p:spPr>
          <a:xfrm>
            <a:off x="2560320" y="203911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自国で作った製品を海外に売る。最も投資リスクが低い</a:t>
            </a:r>
            <a:endParaRPr lang="en-US" sz="1150" dirty="0"/>
          </a:p>
        </p:txBody>
      </p:sp>
      <p:sp>
        <p:nvSpPr>
          <p:cNvPr id="12" name="Text 10"/>
          <p:cNvSpPr txBox="1"/>
          <p:nvPr/>
        </p:nvSpPr>
        <p:spPr>
          <a:xfrm>
            <a:off x="502920" y="24048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ライセンス供与</a:t>
            </a:r>
            <a:endParaRPr lang="en-US" sz="1150" dirty="0"/>
          </a:p>
        </p:txBody>
      </p:sp>
      <p:sp>
        <p:nvSpPr>
          <p:cNvPr id="13" name="Shape 11"/>
          <p:cNvSpPr/>
          <p:nvPr/>
        </p:nvSpPr>
        <p:spPr>
          <a:xfrm>
            <a:off x="2404872" y="2404872"/>
            <a:ext cx="0" cy="256032"/>
          </a:xfrm>
          <a:prstGeom prst="line">
            <a:avLst/>
          </a:prstGeom>
          <a:noFill/>
          <a:ln w="12700">
            <a:solidFill>
              <a:srgbClr val="E6E6E6"/>
            </a:solidFill>
            <a:prstDash val="solid"/>
          </a:ln>
        </p:spPr>
      </p:sp>
      <p:sp>
        <p:nvSpPr>
          <p:cNvPr id="14" name="Text 12"/>
          <p:cNvSpPr txBox="1"/>
          <p:nvPr/>
        </p:nvSpPr>
        <p:spPr>
          <a:xfrm>
            <a:off x="2560320" y="24048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技術・ブランドの使用権を海外企業に許諾しロイヤリティを得る</a:t>
            </a:r>
            <a:endParaRPr lang="en-US" sz="1150" dirty="0"/>
          </a:p>
        </p:txBody>
      </p:sp>
      <p:sp>
        <p:nvSpPr>
          <p:cNvPr id="15" name="Text 13"/>
          <p:cNvSpPr txBox="1"/>
          <p:nvPr/>
        </p:nvSpPr>
        <p:spPr>
          <a:xfrm>
            <a:off x="502920" y="277063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海外直接投資（FDI）</a:t>
            </a:r>
            <a:endParaRPr lang="en-US" sz="1150" dirty="0"/>
          </a:p>
        </p:txBody>
      </p:sp>
      <p:sp>
        <p:nvSpPr>
          <p:cNvPr id="16" name="Shape 14"/>
          <p:cNvSpPr/>
          <p:nvPr/>
        </p:nvSpPr>
        <p:spPr>
          <a:xfrm>
            <a:off x="2404872" y="2770632"/>
            <a:ext cx="0" cy="256032"/>
          </a:xfrm>
          <a:prstGeom prst="line">
            <a:avLst/>
          </a:prstGeom>
          <a:noFill/>
          <a:ln w="12700">
            <a:solidFill>
              <a:srgbClr val="E6E6E6"/>
            </a:solidFill>
            <a:prstDash val="solid"/>
          </a:ln>
        </p:spPr>
      </p:sp>
      <p:sp>
        <p:nvSpPr>
          <p:cNvPr id="17" name="Text 15"/>
          <p:cNvSpPr txBox="1"/>
          <p:nvPr/>
        </p:nvSpPr>
        <p:spPr>
          <a:xfrm>
            <a:off x="2560320" y="277063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海外に子会社・工場を設立。投資額・リスクは大きいが現地のコントロールが強い</a:t>
            </a:r>
            <a:endParaRPr lang="en-US" sz="1150" dirty="0"/>
          </a:p>
        </p:txBody>
      </p:sp>
      <p:sp>
        <p:nvSpPr>
          <p:cNvPr id="18" name="Text 16"/>
          <p:cNvSpPr txBox="1"/>
          <p:nvPr/>
        </p:nvSpPr>
        <p:spPr>
          <a:xfrm>
            <a:off x="502920" y="3209544"/>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ダニングの折衷理論（OLIパラダイム）：①所有優位性（O：自社の技術・ブランド等の強み）、②立地優位性（L：進出先市場の魅力）、③内部化優位性（I：自社管理が有利か）の3条件が揃うときFDIが選ばれる。</a:t>
            </a:r>
            <a:endParaRPr lang="en-US" sz="850" dirty="0"/>
          </a:p>
        </p:txBody>
      </p:sp>
      <p:sp>
        <p:nvSpPr>
          <p:cNvPr id="19" name="Shape 17"/>
          <p:cNvSpPr/>
          <p:nvPr/>
        </p:nvSpPr>
        <p:spPr>
          <a:xfrm>
            <a:off x="502920" y="4059936"/>
            <a:ext cx="11201400" cy="0"/>
          </a:xfrm>
          <a:prstGeom prst="line">
            <a:avLst/>
          </a:prstGeom>
          <a:noFill/>
          <a:ln w="12700">
            <a:solidFill>
              <a:srgbClr val="E6E6E6"/>
            </a:solidFill>
            <a:prstDash val="solid"/>
          </a:ln>
        </p:spPr>
      </p:sp>
      <p:sp>
        <p:nvSpPr>
          <p:cNvPr id="20" name="Text 18"/>
          <p:cNvSpPr txBox="1"/>
          <p:nvPr/>
        </p:nvSpPr>
        <p:spPr>
          <a:xfrm>
            <a:off x="502920" y="413308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3条件のうち一部しか揃わない場合の進出形態を問う問題が頻出。例えば「所有優位性はあるが内部化優位性がない」場合は</a:t>
            </a:r>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ライセンス供与</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が適切、というように組み合わせごとに最適形態が変わる。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M&amp;A・戦略的提携（海外企業とのJVもOLIの内部化優位性の判断と関わる）。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C-13 ／ 企業の社会的責任：CSR・CSV・コーポレートガバナンス</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「コストか投資か」でCSRとCSVを区別する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社会的責任・共有価値の創造・企業統治という3つの関連概念を整理する。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27432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企業が利益追求だけでなく社会と向き合うための3つの関連概念。</a:t>
            </a:r>
            <a:endParaRPr lang="en-US" sz="1150" dirty="0"/>
          </a:p>
        </p:txBody>
      </p:sp>
      <p:sp>
        <p:nvSpPr>
          <p:cNvPr id="9" name="Text 7"/>
          <p:cNvSpPr txBox="1"/>
          <p:nvPr/>
        </p:nvSpPr>
        <p:spPr>
          <a:xfrm>
            <a:off x="502920" y="2039112"/>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CSR</a:t>
            </a:r>
            <a:endParaRPr lang="en-US" sz="1150" dirty="0"/>
          </a:p>
        </p:txBody>
      </p:sp>
      <p:sp>
        <p:nvSpPr>
          <p:cNvPr id="10" name="Shape 8"/>
          <p:cNvSpPr/>
          <p:nvPr/>
        </p:nvSpPr>
        <p:spPr>
          <a:xfrm>
            <a:off x="2587752" y="2039112"/>
            <a:ext cx="0" cy="256032"/>
          </a:xfrm>
          <a:prstGeom prst="line">
            <a:avLst/>
          </a:prstGeom>
          <a:noFill/>
          <a:ln w="12700">
            <a:solidFill>
              <a:srgbClr val="E6E6E6"/>
            </a:solidFill>
            <a:prstDash val="solid"/>
          </a:ln>
        </p:spPr>
      </p:sp>
      <p:sp>
        <p:nvSpPr>
          <p:cNvPr id="11" name="Text 9"/>
          <p:cNvSpPr txBox="1"/>
          <p:nvPr/>
        </p:nvSpPr>
        <p:spPr>
          <a:xfrm>
            <a:off x="2743200" y="2039112"/>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企業の社会的責任。環境保護・地域貢献など、利益とは別に果たすべき責任（コスト）</a:t>
            </a:r>
            <a:endParaRPr lang="en-US" sz="1150" dirty="0"/>
          </a:p>
        </p:txBody>
      </p:sp>
      <p:sp>
        <p:nvSpPr>
          <p:cNvPr id="12" name="Text 10"/>
          <p:cNvSpPr txBox="1"/>
          <p:nvPr/>
        </p:nvSpPr>
        <p:spPr>
          <a:xfrm>
            <a:off x="502920" y="2423160"/>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CSV</a:t>
            </a:r>
            <a:endParaRPr lang="en-US" sz="1150" dirty="0"/>
          </a:p>
        </p:txBody>
      </p:sp>
      <p:sp>
        <p:nvSpPr>
          <p:cNvPr id="13" name="Shape 11"/>
          <p:cNvSpPr/>
          <p:nvPr/>
        </p:nvSpPr>
        <p:spPr>
          <a:xfrm>
            <a:off x="2587752" y="2423160"/>
            <a:ext cx="0" cy="256032"/>
          </a:xfrm>
          <a:prstGeom prst="line">
            <a:avLst/>
          </a:prstGeom>
          <a:noFill/>
          <a:ln w="12700">
            <a:solidFill>
              <a:srgbClr val="E6E6E6"/>
            </a:solidFill>
            <a:prstDash val="solid"/>
          </a:ln>
        </p:spPr>
      </p:sp>
      <p:sp>
        <p:nvSpPr>
          <p:cNvPr id="14" name="Text 12"/>
          <p:cNvSpPr txBox="1"/>
          <p:nvPr/>
        </p:nvSpPr>
        <p:spPr>
          <a:xfrm>
            <a:off x="2743200" y="2423160"/>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共有価値の創造（ポーター）。社会課題の解決そのものを事業機会・利益創出につなげる発想（投資）</a:t>
            </a:r>
            <a:endParaRPr lang="en-US" sz="1150" dirty="0"/>
          </a:p>
        </p:txBody>
      </p:sp>
      <p:sp>
        <p:nvSpPr>
          <p:cNvPr id="15" name="Text 13"/>
          <p:cNvSpPr txBox="1"/>
          <p:nvPr/>
        </p:nvSpPr>
        <p:spPr>
          <a:xfrm>
            <a:off x="502920" y="2807208"/>
            <a:ext cx="21031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コーポレートガバナンス</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株主・社会の利益を守るため経営者の暴走を防ぐ統治の仕組み（社外取締役・監査役制度等）</a:t>
            </a:r>
            <a:endParaRPr lang="en-US" sz="1150" dirty="0"/>
          </a:p>
        </p:txBody>
      </p:sp>
      <p:sp>
        <p:nvSpPr>
          <p:cNvPr id="18" name="Text 16"/>
          <p:cNvSpPr txBox="1"/>
          <p:nvPr/>
        </p:nvSpPr>
        <p:spPr>
          <a:xfrm>
            <a:off x="502920" y="3264408"/>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農業支援で質の高い原料を安定調達し、自社製品の品質向上と現地農家の所得向上の両方につながる取り組みはCSVの典型例。単なる寄付活動（CSR）とは異なり、事業戦略そのものに組み込まれている。</a:t>
            </a:r>
            <a:endParaRPr lang="en-US" sz="85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18795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CSRとCSVは似ているが、「コストか投資か」「本業と一体か切り離されているか」という観点で区別される。混同しないこと。</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関連：経営法務科目の会社法（社外取締役・監査役会等の機関設計）とも関連する。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C-14 ／ ファミリービジネスの戦略：創業・事業承継</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事業承継の3つのパターン</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日本の中小企業の多くは家族経営。経営権・所有権の引き継ぎ方は大きく3つに分かれる。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企業経営理論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日本の中小企業の多くは家族経営（ファミリービジネス）。経営権・所有権を後継者にどう引き継ぐかが特有の課題（</a:t>
            </a:r>
            <a:pPr indent="0" marL="0">
              <a:lnSpc>
                <a:spcPct val="120000"/>
              </a:lnSpc>
              <a:buNone/>
            </a:pPr>
            <a:r>
              <a:rPr lang="en-US" sz="1150" b="1" dirty="0">
                <a:solidFill>
                  <a:srgbClr val="171717"/>
                </a:solidFill>
                <a:latin typeface="Yu Gothic" pitchFamily="34" charset="0"/>
                <a:ea typeface="Yu Gothic" pitchFamily="34" charset="-122"/>
                <a:cs typeface="Yu Gothic" pitchFamily="34" charset="-120"/>
              </a:rPr>
              <a:t>事業承継</a:t>
            </a:r>
            <a:pPr indent="0" marL="0">
              <a:lnSpc>
                <a:spcPct val="120000"/>
              </a:lnSpc>
              <a:buNone/>
            </a:pPr>
            <a:r>
              <a:rPr lang="en-US" sz="1150" dirty="0">
                <a:solidFill>
                  <a:srgbClr val="171717"/>
                </a:solidFill>
                <a:latin typeface="Yu Gothic" pitchFamily="34" charset="0"/>
                <a:ea typeface="Yu Gothic" pitchFamily="34" charset="-122"/>
                <a:cs typeface="Yu Gothic" pitchFamily="34" charset="-120"/>
              </a:rPr>
              <a:t>）。</a:t>
            </a:r>
            <a:endParaRPr lang="en-US" sz="1150" dirty="0"/>
          </a:p>
        </p:txBody>
      </p:sp>
      <p:sp>
        <p:nvSpPr>
          <p:cNvPr id="9" name="Text 7"/>
          <p:cNvSpPr txBox="1"/>
          <p:nvPr/>
        </p:nvSpPr>
        <p:spPr>
          <a:xfrm>
            <a:off x="502920" y="211226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親族内承継</a:t>
            </a:r>
            <a:endParaRPr lang="en-US" sz="1150" dirty="0"/>
          </a:p>
        </p:txBody>
      </p:sp>
      <p:sp>
        <p:nvSpPr>
          <p:cNvPr id="10" name="Shape 8"/>
          <p:cNvSpPr/>
          <p:nvPr/>
        </p:nvSpPr>
        <p:spPr>
          <a:xfrm>
            <a:off x="2313432" y="2112264"/>
            <a:ext cx="0" cy="256032"/>
          </a:xfrm>
          <a:prstGeom prst="line">
            <a:avLst/>
          </a:prstGeom>
          <a:noFill/>
          <a:ln w="12700">
            <a:solidFill>
              <a:srgbClr val="E6E6E6"/>
            </a:solidFill>
            <a:prstDash val="solid"/>
          </a:ln>
        </p:spPr>
      </p:sp>
      <p:sp>
        <p:nvSpPr>
          <p:cNvPr id="11" name="Text 9"/>
          <p:cNvSpPr txBox="1"/>
          <p:nvPr/>
        </p:nvSpPr>
        <p:spPr>
          <a:xfrm>
            <a:off x="2468880" y="211226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子どもなど親族に引き継ぐ</a:t>
            </a:r>
            <a:endParaRPr lang="en-US" sz="1150" dirty="0"/>
          </a:p>
        </p:txBody>
      </p:sp>
      <p:sp>
        <p:nvSpPr>
          <p:cNvPr id="12" name="Text 10"/>
          <p:cNvSpPr txBox="1"/>
          <p:nvPr/>
        </p:nvSpPr>
        <p:spPr>
          <a:xfrm>
            <a:off x="502920" y="243230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親族外承継</a:t>
            </a:r>
            <a:endParaRPr lang="en-US" sz="1150" dirty="0"/>
          </a:p>
        </p:txBody>
      </p:sp>
      <p:sp>
        <p:nvSpPr>
          <p:cNvPr id="13" name="Shape 11"/>
          <p:cNvSpPr/>
          <p:nvPr/>
        </p:nvSpPr>
        <p:spPr>
          <a:xfrm>
            <a:off x="2313432" y="2432304"/>
            <a:ext cx="0" cy="256032"/>
          </a:xfrm>
          <a:prstGeom prst="line">
            <a:avLst/>
          </a:prstGeom>
          <a:noFill/>
          <a:ln w="12700">
            <a:solidFill>
              <a:srgbClr val="E6E6E6"/>
            </a:solidFill>
            <a:prstDash val="solid"/>
          </a:ln>
        </p:spPr>
      </p:sp>
      <p:sp>
        <p:nvSpPr>
          <p:cNvPr id="14" name="Text 12"/>
          <p:cNvSpPr txBox="1"/>
          <p:nvPr/>
        </p:nvSpPr>
        <p:spPr>
          <a:xfrm>
            <a:off x="2468880" y="243230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役員・従業員に引き継ぐ（従業員承継。MBOもこの一種になりうる）</a:t>
            </a:r>
            <a:endParaRPr lang="en-US" sz="1150" dirty="0"/>
          </a:p>
        </p:txBody>
      </p:sp>
      <p:sp>
        <p:nvSpPr>
          <p:cNvPr id="15" name="Text 13"/>
          <p:cNvSpPr txBox="1"/>
          <p:nvPr/>
        </p:nvSpPr>
        <p:spPr>
          <a:xfrm>
            <a:off x="502920" y="2752344"/>
            <a:ext cx="1828800" cy="3017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M&amp;A（第三者承継）</a:t>
            </a:r>
            <a:endParaRPr lang="en-US" sz="1150" dirty="0"/>
          </a:p>
        </p:txBody>
      </p:sp>
      <p:sp>
        <p:nvSpPr>
          <p:cNvPr id="16" name="Shape 14"/>
          <p:cNvSpPr/>
          <p:nvPr/>
        </p:nvSpPr>
        <p:spPr>
          <a:xfrm>
            <a:off x="2313432" y="2752344"/>
            <a:ext cx="0" cy="256032"/>
          </a:xfrm>
          <a:prstGeom prst="line">
            <a:avLst/>
          </a:prstGeom>
          <a:noFill/>
          <a:ln w="12700">
            <a:solidFill>
              <a:srgbClr val="E6E6E6"/>
            </a:solidFill>
            <a:prstDash val="solid"/>
          </a:ln>
        </p:spPr>
      </p:sp>
      <p:sp>
        <p:nvSpPr>
          <p:cNvPr id="17" name="Text 15"/>
          <p:cNvSpPr txBox="1"/>
          <p:nvPr/>
        </p:nvSpPr>
        <p:spPr>
          <a:xfrm>
            <a:off x="2468880" y="2752344"/>
            <a:ext cx="9235440" cy="3017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外部の企業や個人に売却する</a:t>
            </a:r>
            <a:endParaRPr lang="en-US" sz="1150" dirty="0"/>
          </a:p>
        </p:txBody>
      </p:sp>
      <p:sp>
        <p:nvSpPr>
          <p:cNvPr id="18" name="Text 16"/>
          <p:cNvSpPr txBox="1"/>
          <p:nvPr/>
        </p:nvSpPr>
        <p:spPr>
          <a:xfrm>
            <a:off x="502920" y="316382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後継者不在の町工場が長年勤めた工場長に経営を引き継がせる（従業員承継）ケースや、同業の大手企業に事業を売却する（M&amp;A）ケースが近年増加している。</a:t>
            </a:r>
            <a:endParaRPr lang="en-US" sz="850" dirty="0"/>
          </a:p>
        </p:txBody>
      </p:sp>
      <p:sp>
        <p:nvSpPr>
          <p:cNvPr id="19" name="Shape 17"/>
          <p:cNvSpPr/>
          <p:nvPr/>
        </p:nvSpPr>
        <p:spPr>
          <a:xfrm>
            <a:off x="502920" y="3785616"/>
            <a:ext cx="11201400" cy="0"/>
          </a:xfrm>
          <a:prstGeom prst="line">
            <a:avLst/>
          </a:prstGeom>
          <a:noFill/>
          <a:ln w="12700">
            <a:solidFill>
              <a:srgbClr val="E6E6E6"/>
            </a:solidFill>
            <a:prstDash val="solid"/>
          </a:ln>
        </p:spPr>
      </p:sp>
      <p:sp>
        <p:nvSpPr>
          <p:cNvPr id="20" name="Text 18"/>
          <p:cNvSpPr txBox="1"/>
          <p:nvPr/>
        </p:nvSpPr>
        <p:spPr>
          <a:xfrm>
            <a:off x="502920" y="3858768"/>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ファミリービジネスの強み（長期的視点・迅速な意思決定）と弱み（後継者育成の難しさ・身内経営によるガバナンスの脆弱化）を対比で理解しておく。事業承継の法制度（経営承継円滑化法）は経営法務科目とも関連。</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関連：C-5 M&amp;A（第三者承継としてのM&amp;A、MBOによる従業員承継）。</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企業経営理論</dc:title>
  <dc:subject>PptxGenJS Presentation</dc:subject>
  <dc:creator>SMEC</dc:creator>
  <cp:lastModifiedBy>SMEC</cp:lastModifiedBy>
  <cp:revision>1</cp:revision>
  <dcterms:created xsi:type="dcterms:W3CDTF">2026-09-13T05:38:22Z</dcterms:created>
  <dcterms:modified xsi:type="dcterms:W3CDTF">2026-09-13T05:38:22Z</dcterms:modified>
</cp:coreProperties>
</file>