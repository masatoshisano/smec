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594360"/>
          </a:xfrm>
          <a:prstGeom prst="rect">
            <a:avLst/>
          </a:prstGeom>
          <a:noFill/>
          <a:ln/>
        </p:spPr>
        <p:txBody>
          <a:bodyPr wrap="square" lIns="0" tIns="0" rIns="0" bIns="0" rtlCol="0" anchor="ctr"/>
          <a:lstStyle/>
          <a:p>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機能的定義の方が視野が広がり新しい事業機会に気づきやすい。「鉄道会社が自分たちを『鉄道業』と狭く定義したために自動車・航空機の台頭に対応できなかった」というレビットの「マーケティング近視眼」は有名な失敗例。</a:t>
            </a:r>
            <a:endParaRPr lang="en-US" sz="1050" dirty="0"/>
          </a:p>
        </p:txBody>
      </p:sp>
      <p:sp>
        <p:nvSpPr>
          <p:cNvPr id="16" name="Text 14"/>
          <p:cNvSpPr txBox="1"/>
          <p:nvPr/>
        </p:nvSpPr>
        <p:spPr>
          <a:xfrm>
            <a:off x="502920" y="3538728"/>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コンビニチェーンが自社を「小売業」ではなく「生活インフラ業」と定義し直すと、公共料金の収納代行、ATM、宅配便の受付など、単なる「モノを売る」以上のサービス展開に踏み出しやすくなる。</a:t>
            </a:r>
            <a:endParaRPr lang="en-US" sz="850" dirty="0"/>
          </a:p>
        </p:txBody>
      </p:sp>
      <p:sp>
        <p:nvSpPr>
          <p:cNvPr id="17" name="Shape 15"/>
          <p:cNvSpPr/>
          <p:nvPr/>
        </p:nvSpPr>
        <p:spPr>
          <a:xfrm>
            <a:off x="502920" y="4389120"/>
            <a:ext cx="6766560" cy="0"/>
          </a:xfrm>
          <a:prstGeom prst="line">
            <a:avLst/>
          </a:prstGeom>
          <a:noFill/>
          <a:ln w="12700">
            <a:solidFill>
              <a:srgbClr val="E6E6E6"/>
            </a:solidFill>
            <a:prstDash val="solid"/>
          </a:ln>
        </p:spPr>
      </p:sp>
      <p:sp>
        <p:nvSpPr>
          <p:cNvPr id="18" name="Text 16"/>
          <p:cNvSpPr txBox="1"/>
          <p:nvPr/>
        </p:nvSpPr>
        <p:spPr>
          <a:xfrm>
            <a:off x="502920" y="4462272"/>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ドメインの決め方（物理的 vs 機能的）と、C-3の「多角化」の判断を混同しないこと。ドメインは「自社の立ち位置の定義」、多角化は「新しい事業領域への進出」という別の概念。</a:t>
            </a:r>
            <a:endParaRPr lang="en-US" sz="950" dirty="0"/>
          </a:p>
        </p:txBody>
      </p:sp>
      <p:sp>
        <p:nvSpPr>
          <p:cNvPr id="19" name="Text 17"/>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20" name="Shape 18"/>
          <p:cNvSpPr/>
          <p:nvPr/>
        </p:nvSpPr>
        <p:spPr>
          <a:xfrm>
            <a:off x="7543800" y="2487168"/>
            <a:ext cx="1555394" cy="502920"/>
          </a:xfrm>
          <a:prstGeom prst="rect">
            <a:avLst/>
          </a:prstGeom>
          <a:solidFill>
            <a:srgbClr val="F4F4F4"/>
          </a:solidFill>
          <a:ln w="15875">
            <a:solidFill>
              <a:srgbClr val="171717"/>
            </a:solidFill>
            <a:prstDash val="solid"/>
          </a:ln>
        </p:spPr>
      </p:sp>
      <p:sp>
        <p:nvSpPr>
          <p:cNvPr id="21" name="Text 19"/>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2" name="Shape 20"/>
          <p:cNvSpPr/>
          <p:nvPr/>
        </p:nvSpPr>
        <p:spPr>
          <a:xfrm>
            <a:off x="7543800" y="3877056"/>
            <a:ext cx="3703320" cy="502920"/>
          </a:xfrm>
          <a:prstGeom prst="rect">
            <a:avLst/>
          </a:prstGeom>
          <a:solidFill>
            <a:srgbClr val="F4F4F4"/>
          </a:solidFill>
          <a:ln w="22225">
            <a:solidFill>
              <a:srgbClr val="FF3B1F"/>
            </a:solidFill>
            <a:prstDash val="solid"/>
          </a:ln>
        </p:spPr>
      </p:sp>
      <p:sp>
        <p:nvSpPr>
          <p:cNvPr id="23" name="Text 21"/>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気づける事業機会が広がる</a:t>
            </a:r>
            <a:endParaRPr lang="en-US" sz="10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8" name="Text 16"/>
          <p:cNvSpPr txBox="1"/>
          <p:nvPr/>
        </p:nvSpPr>
        <p:spPr>
          <a:xfrm>
            <a:off x="502920" y="537667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6675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6675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既存事業と技術・顧客・販売チャネル等で関連がある分野に進出（例：カメラメーカーが医療用内視鏡事業に進出。レンズ技術という共通の強みを活かせる）</a:t>
            </a:r>
            <a:endParaRPr lang="en-US" sz="1150" dirty="0"/>
          </a:p>
        </p:txBody>
      </p:sp>
      <p:sp>
        <p:nvSpPr>
          <p:cNvPr id="12" name="Text 10"/>
          <p:cNvSpPr txBox="1"/>
          <p:nvPr/>
        </p:nvSpPr>
        <p:spPr>
          <a:xfrm>
            <a:off x="502920" y="272491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724912"/>
            <a:ext cx="0" cy="256032"/>
          </a:xfrm>
          <a:prstGeom prst="line">
            <a:avLst/>
          </a:prstGeom>
          <a:noFill/>
          <a:ln w="12700">
            <a:solidFill>
              <a:srgbClr val="E6E6E6"/>
            </a:solidFill>
            <a:prstDash val="solid"/>
          </a:ln>
        </p:spPr>
      </p:sp>
      <p:sp>
        <p:nvSpPr>
          <p:cNvPr id="14" name="Text 12"/>
          <p:cNvSpPr txBox="1"/>
          <p:nvPr/>
        </p:nvSpPr>
        <p:spPr>
          <a:xfrm>
            <a:off x="2057400" y="272491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Shape 13"/>
          <p:cNvSpPr/>
          <p:nvPr/>
        </p:nvSpPr>
        <p:spPr>
          <a:xfrm>
            <a:off x="502920" y="3273552"/>
            <a:ext cx="6766560" cy="438912"/>
          </a:xfrm>
          <a:prstGeom prst="rect">
            <a:avLst/>
          </a:prstGeom>
          <a:solidFill>
            <a:srgbClr val="F4F4F4"/>
          </a:solidFill>
          <a:ln/>
        </p:spPr>
      </p:sp>
      <p:sp>
        <p:nvSpPr>
          <p:cNvPr id="16" name="Shape 14"/>
          <p:cNvSpPr/>
          <p:nvPr/>
        </p:nvSpPr>
        <p:spPr>
          <a:xfrm>
            <a:off x="502920" y="3273552"/>
            <a:ext cx="0" cy="438912"/>
          </a:xfrm>
          <a:prstGeom prst="line">
            <a:avLst/>
          </a:prstGeom>
          <a:noFill/>
          <a:ln w="31750">
            <a:solidFill>
              <a:srgbClr val="171717"/>
            </a:solidFill>
            <a:prstDash val="solid"/>
          </a:ln>
        </p:spPr>
      </p:sp>
      <p:sp>
        <p:nvSpPr>
          <p:cNvPr id="17" name="Text 15"/>
          <p:cNvSpPr txBox="1"/>
          <p:nvPr/>
        </p:nvSpPr>
        <p:spPr>
          <a:xfrm>
            <a:off x="640080" y="3273552"/>
            <a:ext cx="6492240" cy="438912"/>
          </a:xfrm>
          <a:prstGeom prst="rect">
            <a:avLst/>
          </a:prstGeom>
          <a:noFill/>
          <a:ln/>
        </p:spPr>
        <p:txBody>
          <a:bodyPr wrap="square" lIns="0" tIns="0" rIns="0" bIns="0" rtlCol="0" anchor="ctr"/>
          <a:lstStyle/>
          <a:p>
            <a:pPr indent="0" marL="0">
              <a:lnSpc>
                <a:spcPct val="115000"/>
              </a:lnSpc>
              <a:buNone/>
            </a:pPr>
            <a:r>
              <a:rPr lang="en-US" sz="1000" b="1" dirty="0">
                <a:solidFill>
                  <a:srgbClr val="171717"/>
                </a:solidFill>
                <a:latin typeface="Yu Gothic" pitchFamily="34" charset="0"/>
                <a:ea typeface="Yu Gothic" pitchFamily="34" charset="-122"/>
                <a:cs typeface="Yu Gothic" pitchFamily="34" charset="-120"/>
              </a:rPr>
              <a:t>シナジー（相乗効果）：</a:t>
            </a:r>
            <a:pPr indent="0" marL="0">
              <a:lnSpc>
                <a:spcPct val="115000"/>
              </a:lnSpc>
              <a:buNone/>
            </a:pPr>
            <a:r>
              <a:rPr lang="en-US" sz="1000" dirty="0">
                <a:solidFill>
                  <a:srgbClr val="171717"/>
                </a:solidFill>
                <a:latin typeface="Yu Gothic" pitchFamily="34" charset="0"/>
                <a:ea typeface="Yu Gothic" pitchFamily="34" charset="-122"/>
                <a:cs typeface="Yu Gothic" pitchFamily="34" charset="-120"/>
              </a:rPr>
              <a:t>「1+1が2ではなく3以上になる効果」。技術・ブランド・販売網を複数事業で共有すると単独でやるより効率が良くなる。関連型多角化の方がシナジーを生みやすい。</a:t>
            </a:r>
            <a:endParaRPr lang="en-US" sz="1000" dirty="0"/>
          </a:p>
        </p:txBody>
      </p:sp>
      <p:sp>
        <p:nvSpPr>
          <p:cNvPr id="18" name="Text 16"/>
          <p:cNvSpPr txBox="1"/>
          <p:nvPr/>
        </p:nvSpPr>
        <p:spPr>
          <a:xfrm>
            <a:off x="502920" y="3803904"/>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富士フイルムは写真フィルム事業で培った化学・材料技術（酸化を防ぐ技術等）を応用して化粧品事業（アンチエイジング）に進出した。一見畑違いだが技術的関連性が高い「関連型多角化」の代表例。</a:t>
            </a:r>
            <a:endParaRPr lang="en-US" sz="850" dirty="0"/>
          </a:p>
        </p:txBody>
      </p:sp>
      <p:sp>
        <p:nvSpPr>
          <p:cNvPr id="19" name="Shape 17"/>
          <p:cNvSpPr/>
          <p:nvPr/>
        </p:nvSpPr>
        <p:spPr>
          <a:xfrm>
            <a:off x="502920" y="4654296"/>
            <a:ext cx="6766560" cy="0"/>
          </a:xfrm>
          <a:prstGeom prst="line">
            <a:avLst/>
          </a:prstGeom>
          <a:noFill/>
          <a:ln w="12700">
            <a:solidFill>
              <a:srgbClr val="E6E6E6"/>
            </a:solidFill>
            <a:prstDash val="solid"/>
          </a:ln>
        </p:spPr>
      </p:sp>
      <p:sp>
        <p:nvSpPr>
          <p:cNvPr id="20" name="Text 18"/>
          <p:cNvSpPr txBox="1"/>
          <p:nvPr/>
        </p:nvSpPr>
        <p:spPr>
          <a:xfrm>
            <a:off x="502920" y="472744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ことが必ずしも「多角化」とは限らない。アンゾフの成長マトリクスの「新製品×新市場」が多角化に該当。既存製品のままの海外展開（新市場開拓）や既存市場向けの新商品（新製品開発）と混同しないこと。</a:t>
            </a:r>
            <a:endParaRPr lang="en-US" sz="950" dirty="0"/>
          </a:p>
        </p:txBody>
      </p:sp>
      <p:sp>
        <p:nvSpPr>
          <p:cNvPr id="21" name="Shape 19"/>
          <p:cNvSpPr/>
          <p:nvPr/>
        </p:nvSpPr>
        <p:spPr>
          <a:xfrm>
            <a:off x="8061716" y="2201875"/>
            <a:ext cx="1616659" cy="1616659"/>
          </a:xfrm>
          <a:prstGeom prst="ellipse">
            <a:avLst/>
          </a:prstGeom>
          <a:ln w="22225">
            <a:solidFill>
              <a:srgbClr val="171717"/>
            </a:solidFill>
            <a:prstDash val="solid"/>
          </a:ln>
        </p:spPr>
      </p:sp>
      <p:sp>
        <p:nvSpPr>
          <p:cNvPr id="22" name="Shape 20"/>
          <p:cNvSpPr/>
          <p:nvPr/>
        </p:nvSpPr>
        <p:spPr>
          <a:xfrm>
            <a:off x="9112545" y="2201875"/>
            <a:ext cx="1616659" cy="1616659"/>
          </a:xfrm>
          <a:prstGeom prst="ellipse">
            <a:avLst/>
          </a:prstGeom>
          <a:ln w="22225">
            <a:solidFill>
              <a:srgbClr val="FF3B1F"/>
            </a:solidFill>
            <a:prstDash val="solid"/>
          </a:ln>
        </p:spPr>
      </p:sp>
      <p:sp>
        <p:nvSpPr>
          <p:cNvPr id="23" name="Text 21"/>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4" name="Text 22"/>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5" name="Text 23"/>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6" name="Shape 24"/>
          <p:cNvSpPr/>
          <p:nvPr/>
        </p:nvSpPr>
        <p:spPr>
          <a:xfrm>
            <a:off x="502920" y="5989320"/>
            <a:ext cx="11201400" cy="0"/>
          </a:xfrm>
          <a:prstGeom prst="line">
            <a:avLst/>
          </a:prstGeom>
          <a:noFill/>
          <a:ln w="9525">
            <a:solidFill>
              <a:srgbClr val="171717"/>
            </a:solidFill>
            <a:prstDash val="solid"/>
          </a:ln>
        </p:spPr>
      </p:sp>
      <p:sp>
        <p:nvSpPr>
          <p:cNvPr id="27" name="Shape 25"/>
          <p:cNvSpPr/>
          <p:nvPr/>
        </p:nvSpPr>
        <p:spPr>
          <a:xfrm>
            <a:off x="502920" y="6062472"/>
            <a:ext cx="329184" cy="329184"/>
          </a:xfrm>
          <a:prstGeom prst="ellipse">
            <a:avLst/>
          </a:prstGeom>
          <a:solidFill>
            <a:srgbClr val="FF3B1F"/>
          </a:solidFill>
          <a:ln/>
        </p:spPr>
      </p:sp>
      <p:sp>
        <p:nvSpPr>
          <p:cNvPr id="28" name="Text 2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9" name="Text 2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0" name="Shape 28"/>
          <p:cNvSpPr/>
          <p:nvPr/>
        </p:nvSpPr>
        <p:spPr>
          <a:xfrm>
            <a:off x="2331720" y="6062472"/>
            <a:ext cx="0" cy="329184"/>
          </a:xfrm>
          <a:prstGeom prst="line">
            <a:avLst/>
          </a:prstGeom>
          <a:noFill/>
          <a:ln w="12700">
            <a:solidFill>
              <a:srgbClr val="E6E6E6"/>
            </a:solidFill>
            <a:prstDash val="solid"/>
          </a:ln>
        </p:spPr>
      </p:sp>
      <p:sp>
        <p:nvSpPr>
          <p:cNvPr id="31" name="Text 2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2" name="Text 3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3" name="Shape 31"/>
          <p:cNvSpPr/>
          <p:nvPr/>
        </p:nvSpPr>
        <p:spPr>
          <a:xfrm>
            <a:off x="246659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5" name="Shape 33"/>
          <p:cNvSpPr/>
          <p:nvPr/>
        </p:nvSpPr>
        <p:spPr>
          <a:xfrm>
            <a:off x="343128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7" name="Shape 35"/>
          <p:cNvSpPr/>
          <p:nvPr/>
        </p:nvSpPr>
        <p:spPr>
          <a:xfrm>
            <a:off x="439597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9" name="Shape 37"/>
          <p:cNvSpPr/>
          <p:nvPr/>
        </p:nvSpPr>
        <p:spPr>
          <a:xfrm>
            <a:off x="536067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1" name="Shape 39"/>
          <p:cNvSpPr/>
          <p:nvPr/>
        </p:nvSpPr>
        <p:spPr>
          <a:xfrm>
            <a:off x="632536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3" name="Shape 41"/>
          <p:cNvSpPr/>
          <p:nvPr/>
        </p:nvSpPr>
        <p:spPr>
          <a:xfrm>
            <a:off x="7290054"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5" name="Shape 43"/>
          <p:cNvSpPr/>
          <p:nvPr/>
        </p:nvSpPr>
        <p:spPr>
          <a:xfrm>
            <a:off x="825474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7" name="Shape 45"/>
          <p:cNvSpPr/>
          <p:nvPr/>
        </p:nvSpPr>
        <p:spPr>
          <a:xfrm>
            <a:off x="9219438"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9" name="Shape 47"/>
          <p:cNvSpPr/>
          <p:nvPr/>
        </p:nvSpPr>
        <p:spPr>
          <a:xfrm>
            <a:off x="1018413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1" name="Shape 49"/>
          <p:cNvSpPr/>
          <p:nvPr/>
        </p:nvSpPr>
        <p:spPr>
          <a:xfrm>
            <a:off x="1114882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花形（スター）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稼ぐが投資も必要。将来の主力候補</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将来性はあるが今は稼げない。育てるか撤退か判断が必要</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稼げず将来性も薄い。撤退候補</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縦軸：市場成長率（上＝高い）／横軸：市場シェア（左＝高い）。「金のなる木」の資金を「問題児」に投資して「花形」に育てるのが基本セオリー。</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ひっかけ：PPMは「市場の魅力度」と「自社の競争力」の2軸だけの単純化モデルで、事業間のシナジーや社会的意義のある事業は考慮できないという限界がある。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3886200"/>
            <a:ext cx="11201400" cy="0"/>
          </a:xfrm>
          <a:prstGeom prst="line">
            <a:avLst/>
          </a:prstGeom>
          <a:noFill/>
          <a:ln w="12700">
            <a:solidFill>
              <a:srgbClr val="E6E6E6"/>
            </a:solidFill>
            <a:prstDash val="solid"/>
          </a:ln>
        </p:spPr>
      </p:sp>
      <p:sp>
        <p:nvSpPr>
          <p:cNvPr id="20" name="Text 18"/>
          <p:cNvSpPr txBox="1"/>
          <p:nvPr/>
        </p:nvSpPr>
        <p:spPr>
          <a:xfrm>
            <a:off x="502920" y="39593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8" name="Text 16"/>
          <p:cNvSpPr txBox="1"/>
          <p:nvPr/>
        </p:nvSpPr>
        <p:spPr>
          <a:xfrm>
            <a:off x="502920" y="549554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3721608" y="1691640"/>
            <a:ext cx="4718304" cy="993648"/>
          </a:xfrm>
          <a:prstGeom prst="rect">
            <a:avLst/>
          </a:prstGeom>
          <a:solidFill>
            <a:srgbClr val="FFFFFF"/>
          </a:solidFill>
          <a:ln w="12700">
            <a:solidFill>
              <a:srgbClr val="171717"/>
            </a:solidFill>
            <a:prstDash val="solid"/>
          </a:ln>
        </p:spPr>
      </p:sp>
      <p:sp>
        <p:nvSpPr>
          <p:cNvPr id="9" name="Text 7"/>
          <p:cNvSpPr txBox="1"/>
          <p:nvPr/>
        </p:nvSpPr>
        <p:spPr>
          <a:xfrm>
            <a:off x="3721608" y="1691640"/>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新規参入の脅威</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（参入障壁が低いほど大）</a:t>
            </a:r>
            <a:endParaRPr lang="en-US" sz="900" dirty="0"/>
          </a:p>
        </p:txBody>
      </p:sp>
      <p:sp>
        <p:nvSpPr>
          <p:cNvPr id="10" name="Shape 8"/>
          <p:cNvSpPr/>
          <p:nvPr/>
        </p:nvSpPr>
        <p:spPr>
          <a:xfrm>
            <a:off x="1280160" y="2795016"/>
            <a:ext cx="2304288" cy="993648"/>
          </a:xfrm>
          <a:prstGeom prst="rect">
            <a:avLst/>
          </a:prstGeom>
          <a:solidFill>
            <a:srgbClr val="FFFFFF"/>
          </a:solidFill>
          <a:ln w="12700">
            <a:solidFill>
              <a:srgbClr val="171717"/>
            </a:solidFill>
            <a:prstDash val="solid"/>
          </a:ln>
        </p:spPr>
      </p:sp>
      <p:sp>
        <p:nvSpPr>
          <p:cNvPr id="11" name="Text 9"/>
          <p:cNvSpPr txBox="1"/>
          <p:nvPr/>
        </p:nvSpPr>
        <p:spPr>
          <a:xfrm>
            <a:off x="1280160"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2" name="Shape 10"/>
          <p:cNvSpPr/>
          <p:nvPr/>
        </p:nvSpPr>
        <p:spPr>
          <a:xfrm>
            <a:off x="3721608" y="2795016"/>
            <a:ext cx="4718304" cy="993648"/>
          </a:xfrm>
          <a:prstGeom prst="rect">
            <a:avLst/>
          </a:prstGeom>
          <a:solidFill>
            <a:srgbClr val="FF3B1F"/>
          </a:solidFill>
          <a:ln w="12700">
            <a:solidFill>
              <a:srgbClr val="171717"/>
            </a:solidFill>
            <a:prstDash val="solid"/>
          </a:ln>
        </p:spPr>
      </p:sp>
      <p:sp>
        <p:nvSpPr>
          <p:cNvPr id="13" name="Text 11"/>
          <p:cNvSpPr txBox="1"/>
          <p:nvPr/>
        </p:nvSpPr>
        <p:spPr>
          <a:xfrm>
            <a:off x="3721608" y="2795016"/>
            <a:ext cx="4718304" cy="99364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業界内の</a:t>
            </a:r>
            <a:endParaRPr lang="en-US" sz="900" dirty="0"/>
          </a:p>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14" name="Shape 12"/>
          <p:cNvSpPr/>
          <p:nvPr/>
        </p:nvSpPr>
        <p:spPr>
          <a:xfrm>
            <a:off x="8577072" y="2795016"/>
            <a:ext cx="2304288" cy="993648"/>
          </a:xfrm>
          <a:prstGeom prst="rect">
            <a:avLst/>
          </a:prstGeom>
          <a:solidFill>
            <a:srgbClr val="FFFFFF"/>
          </a:solidFill>
          <a:ln w="12700">
            <a:solidFill>
              <a:srgbClr val="171717"/>
            </a:solidFill>
            <a:prstDash val="solid"/>
          </a:ln>
        </p:spPr>
      </p:sp>
      <p:sp>
        <p:nvSpPr>
          <p:cNvPr id="15" name="Text 13"/>
          <p:cNvSpPr txBox="1"/>
          <p:nvPr/>
        </p:nvSpPr>
        <p:spPr>
          <a:xfrm>
            <a:off x="8577072"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6" name="Shape 14"/>
          <p:cNvSpPr/>
          <p:nvPr/>
        </p:nvSpPr>
        <p:spPr>
          <a:xfrm>
            <a:off x="3721608" y="3898392"/>
            <a:ext cx="4718304" cy="993648"/>
          </a:xfrm>
          <a:prstGeom prst="rect">
            <a:avLst/>
          </a:prstGeom>
          <a:solidFill>
            <a:srgbClr val="FFFFFF"/>
          </a:solidFill>
          <a:ln w="12700">
            <a:solidFill>
              <a:srgbClr val="171717"/>
            </a:solidFill>
            <a:prstDash val="solid"/>
          </a:ln>
        </p:spPr>
      </p:sp>
      <p:sp>
        <p:nvSpPr>
          <p:cNvPr id="17" name="Text 15"/>
          <p:cNvSpPr txBox="1"/>
          <p:nvPr/>
        </p:nvSpPr>
        <p:spPr>
          <a:xfrm>
            <a:off x="3721608" y="3898392"/>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代替品の脅威（例：新聞にとってのニュースアプリ）</a:t>
            </a:r>
            <a:endParaRPr lang="en-US" sz="900" dirty="0"/>
          </a:p>
        </p:txBody>
      </p:sp>
      <p:sp>
        <p:nvSpPr>
          <p:cNvPr id="18" name="Text 16"/>
          <p:cNvSpPr txBox="1"/>
          <p:nvPr/>
        </p:nvSpPr>
        <p:spPr>
          <a:xfrm>
            <a:off x="502920" y="5029200"/>
            <a:ext cx="11201400" cy="45720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もう1つの分析軸が</a:t>
            </a:r>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バリューチェーン（価値連鎖）分析</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：活動を「主活動」（購買物流→製造→出荷物流→販売→サービス）と「支援活動」（全般管理・人事・技術開発・調達）に分け、付加価値の源泉を探る。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特定の狭い顧客層に絞ってコストで勝つ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特定の狭い顧客層に絞って差別化で勝つ</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縦軸：狙う市場の広さ（上＝広い市場全体、下＝特定の狭い層＝集中戦略）／横軸：競争優位の源泉（左＝コスト、右＝差別化）。両方を中途半端に狙うと収益性が落ちる（スタック・イン・ザ・ミドル）。</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ひっかけ：集中戦略は「誰に売るか」の軸で、コストリーダーシップ・差別化そのものとは別軸。ユニクロのSPAによる効率化は単純な安売りでなく差別化的コストリーダーシップと解釈される。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9" name="Text 7"/>
          <p:cNvSpPr txBox="1"/>
          <p:nvPr/>
        </p:nvSpPr>
        <p:spPr>
          <a:xfrm>
            <a:off x="25146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0" name="Text 8"/>
          <p:cNvSpPr txBox="1"/>
          <p:nvPr/>
        </p:nvSpPr>
        <p:spPr>
          <a:xfrm>
            <a:off x="4709160" y="185623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3" name="Text 11"/>
          <p:cNvSpPr txBox="1"/>
          <p:nvPr/>
        </p:nvSpPr>
        <p:spPr>
          <a:xfrm>
            <a:off x="2514600" y="275234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4" name="Text 12"/>
          <p:cNvSpPr txBox="1"/>
          <p:nvPr/>
        </p:nvSpPr>
        <p:spPr>
          <a:xfrm>
            <a:off x="4709160" y="269748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7" name="Text 15"/>
          <p:cNvSpPr txBox="1"/>
          <p:nvPr/>
        </p:nvSpPr>
        <p:spPr>
          <a:xfrm>
            <a:off x="2514600" y="359359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8" name="Text 16"/>
          <p:cNvSpPr txBox="1"/>
          <p:nvPr/>
        </p:nvSpPr>
        <p:spPr>
          <a:xfrm>
            <a:off x="4709160" y="353872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1" name="Text 19"/>
          <p:cNvSpPr txBox="1"/>
          <p:nvPr/>
        </p:nvSpPr>
        <p:spPr>
          <a:xfrm>
            <a:off x="2514600" y="443484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2" name="Text 20"/>
          <p:cNvSpPr txBox="1"/>
          <p:nvPr/>
        </p:nvSpPr>
        <p:spPr>
          <a:xfrm>
            <a:off x="4709160" y="437997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8" name="Text 16"/>
          <p:cNvSpPr txBox="1"/>
          <p:nvPr/>
        </p:nvSpPr>
        <p:spPr>
          <a:xfrm>
            <a:off x="502920" y="549554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8" name="Text 16"/>
          <p:cNvSpPr txBox="1"/>
          <p:nvPr/>
        </p:nvSpPr>
        <p:spPr>
          <a:xfrm>
            <a:off x="502920" y="549554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2026-09-13T05:24:35Z</dcterms:created>
  <dcterms:modified xsi:type="dcterms:W3CDTF">2026-09-13T05:24:35Z</dcterms:modified>
</cp:coreProperties>
</file>