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表紙スライド。財務・会計の全体像を示す。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簿記・会計の基礎パートの区切りスライド。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経営分析／利益と資金の管理パートの区切りスライド。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資金調達と配当政策／実物投資パートの区切りスライド。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証券投資／企業価値／デリバティブパートの区切りスライド。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200" dirty="0">
                <a:solidFill>
                  <a:srgbClr val="FFFFFF"/>
                </a:solidFill>
                <a:latin typeface="Consolas" pitchFamily="34" charset="0"/>
                <a:ea typeface="Consolas" pitchFamily="34" charset="-122"/>
                <a:cs typeface="Consolas" pitchFamily="34" charset="-120"/>
              </a:rPr>
              <a:t>中小企業診断士 第1次試験</a:t>
            </a:r>
            <a:endParaRPr lang="en-US" sz="1200" dirty="0"/>
          </a:p>
        </p:txBody>
      </p:sp>
      <p:sp>
        <p:nvSpPr>
          <p:cNvPr id="3" name="Text 1"/>
          <p:cNvSpPr txBox="1"/>
          <p:nvPr/>
        </p:nvSpPr>
        <p:spPr>
          <a:xfrm>
            <a:off x="8686800" y="502920"/>
            <a:ext cx="2834640" cy="320040"/>
          </a:xfrm>
          <a:prstGeom prst="rect">
            <a:avLst/>
          </a:prstGeom>
          <a:noFill/>
          <a:ln/>
        </p:spPr>
        <p:txBody>
          <a:bodyPr wrap="square" lIns="0" tIns="0" rIns="0" bIns="0" rtlCol="0" anchor="ctr"/>
          <a:lstStyle/>
          <a:p>
            <a:pPr algn="r" indent="0" marL="0">
              <a:buNone/>
            </a:pPr>
            <a:r>
              <a:rPr lang="en-US" sz="1200" dirty="0">
                <a:solidFill>
                  <a:srgbClr val="FF3B1F"/>
                </a:solidFill>
                <a:latin typeface="Consolas" pitchFamily="34" charset="0"/>
                <a:ea typeface="Consolas" pitchFamily="34" charset="-122"/>
                <a:cs typeface="Consolas" pitchFamily="34" charset="-120"/>
              </a:rPr>
              <a:t>SUBJECT 02 / 07</a:t>
            </a:r>
            <a:endParaRPr lang="en-US" sz="1200" dirty="0"/>
          </a:p>
        </p:txBody>
      </p:sp>
      <p:sp>
        <p:nvSpPr>
          <p:cNvPr id="4" name="Text 2"/>
          <p:cNvSpPr txBox="1"/>
          <p:nvPr/>
        </p:nvSpPr>
        <p:spPr>
          <a:xfrm>
            <a:off x="594360" y="2103120"/>
            <a:ext cx="10058400" cy="1371600"/>
          </a:xfrm>
          <a:prstGeom prst="rect">
            <a:avLst/>
          </a:prstGeom>
          <a:noFill/>
          <a:ln/>
        </p:spPr>
        <p:txBody>
          <a:bodyPr wrap="square" lIns="0" tIns="0" rIns="0" bIns="0" rtlCol="0" anchor="ctr"/>
          <a:lstStyle/>
          <a:p>
            <a:pPr indent="0" marL="0">
              <a:buNone/>
            </a:pPr>
            <a:r>
              <a:rPr lang="en-US" sz="6600" b="1" dirty="0">
                <a:solidFill>
                  <a:srgbClr val="FFFFFF"/>
                </a:solidFill>
                <a:latin typeface="Yu Gothic" pitchFamily="34" charset="0"/>
                <a:ea typeface="Yu Gothic" pitchFamily="34" charset="-122"/>
                <a:cs typeface="Yu Gothic" pitchFamily="34" charset="-120"/>
              </a:rPr>
              <a:t>財務・会計</a:t>
            </a:r>
            <a:pPr indent="0" marL="0">
              <a:buNone/>
            </a:pPr>
            <a:r>
              <a:rPr lang="en-US" sz="6600" b="1" dirty="0">
                <a:solidFill>
                  <a:srgbClr val="FF3B1F"/>
                </a:solidFill>
                <a:latin typeface="Yu Gothic" pitchFamily="34" charset="0"/>
                <a:ea typeface="Yu Gothic" pitchFamily="34" charset="-122"/>
                <a:cs typeface="Yu Gothic" pitchFamily="34" charset="-120"/>
              </a:rPr>
              <a:t>。</a:t>
            </a:r>
            <a:endParaRPr lang="en-US" sz="6600" dirty="0"/>
          </a:p>
        </p:txBody>
      </p:sp>
      <p:sp>
        <p:nvSpPr>
          <p:cNvPr id="5" name="Text 3"/>
          <p:cNvSpPr txBox="1"/>
          <p:nvPr/>
        </p:nvSpPr>
        <p:spPr>
          <a:xfrm>
            <a:off x="640080" y="3429000"/>
            <a:ext cx="7680960" cy="914400"/>
          </a:xfrm>
          <a:prstGeom prst="rect">
            <a:avLst/>
          </a:prstGeom>
          <a:noFill/>
          <a:ln/>
        </p:spPr>
        <p:txBody>
          <a:bodyPr wrap="square" lIns="0" tIns="0" rIns="0" bIns="0" rtlCol="0" anchor="ctr"/>
          <a:lstStyle/>
          <a:p>
            <a:pPr indent="0" marL="0">
              <a:lnSpc>
                <a:spcPct val="150000"/>
              </a:lnSpc>
              <a:buNone/>
            </a:pPr>
            <a:r>
              <a:rPr lang="en-US" sz="1500" dirty="0">
                <a:solidFill>
                  <a:srgbClr val="C5C5C5"/>
                </a:solidFill>
                <a:latin typeface="Yu Gothic" pitchFamily="34" charset="0"/>
                <a:ea typeface="Yu Gothic" pitchFamily="34" charset="-122"/>
                <a:cs typeface="Yu Gothic" pitchFamily="34" charset="-120"/>
              </a:rPr>
              <a:t>簿記・会計の基礎から原価計算、経営分析、投資評価、企業価値まで34論点。計算問題を自分の手で解けるようになることが最重要な、2次試験事例IVにも直結する科目。</a:t>
            </a:r>
            <a:endParaRPr lang="en-US" sz="1500" dirty="0"/>
          </a:p>
        </p:txBody>
      </p:sp>
      <p:sp>
        <p:nvSpPr>
          <p:cNvPr id="6" name="Shape 4"/>
          <p:cNvSpPr/>
          <p:nvPr/>
        </p:nvSpPr>
        <p:spPr>
          <a:xfrm>
            <a:off x="640080" y="5806440"/>
            <a:ext cx="10881360" cy="0"/>
          </a:xfrm>
          <a:prstGeom prst="line">
            <a:avLst/>
          </a:prstGeom>
          <a:noFill/>
          <a:ln w="9525">
            <a:solidFill>
              <a:srgbClr val="515151"/>
            </a:solidFill>
            <a:prstDash val="solid"/>
          </a:ln>
        </p:spPr>
      </p:sp>
      <p:sp>
        <p:nvSpPr>
          <p:cNvPr id="7" name="Text 5"/>
          <p:cNvSpPr txBox="1"/>
          <p:nvPr/>
        </p:nvSpPr>
        <p:spPr>
          <a:xfrm>
            <a:off x="64008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34</a:t>
            </a:r>
            <a:endParaRPr lang="en-US" sz="2400" dirty="0"/>
          </a:p>
        </p:txBody>
      </p:sp>
      <p:sp>
        <p:nvSpPr>
          <p:cNvPr id="8" name="Text 6"/>
          <p:cNvSpPr txBox="1"/>
          <p:nvPr/>
        </p:nvSpPr>
        <p:spPr>
          <a:xfrm>
            <a:off x="64008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収録論点数</a:t>
            </a:r>
            <a:endParaRPr lang="en-US" sz="1000" dirty="0"/>
          </a:p>
        </p:txBody>
      </p:sp>
      <p:sp>
        <p:nvSpPr>
          <p:cNvPr id="9" name="Text 7"/>
          <p:cNvSpPr txBox="1"/>
          <p:nvPr/>
        </p:nvSpPr>
        <p:spPr>
          <a:xfrm>
            <a:off x="256032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6</a:t>
            </a:r>
            <a:endParaRPr lang="en-US" sz="2400" dirty="0"/>
          </a:p>
        </p:txBody>
      </p:sp>
      <p:sp>
        <p:nvSpPr>
          <p:cNvPr id="10" name="Text 8"/>
          <p:cNvSpPr txBox="1"/>
          <p:nvPr/>
        </p:nvSpPr>
        <p:spPr>
          <a:xfrm>
            <a:off x="256032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分野</a:t>
            </a:r>
            <a:endParaRPr lang="en-US" sz="1000" dirty="0"/>
          </a:p>
        </p:txBody>
      </p:sp>
      <p:sp>
        <p:nvSpPr>
          <p:cNvPr id="11" name="Text 9"/>
          <p:cNvSpPr txBox="1"/>
          <p:nvPr/>
        </p:nvSpPr>
        <p:spPr>
          <a:xfrm>
            <a:off x="448056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27/34</a:t>
            </a:r>
            <a:endParaRPr lang="en-US" sz="2400" dirty="0"/>
          </a:p>
        </p:txBody>
      </p:sp>
      <p:sp>
        <p:nvSpPr>
          <p:cNvPr id="12" name="Text 10"/>
          <p:cNvSpPr txBox="1"/>
          <p:nvPr/>
        </p:nvSpPr>
        <p:spPr>
          <a:xfrm>
            <a:off x="448056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頻出ランクA</a:t>
            </a:r>
            <a:endParaRPr lang="en-US" sz="1000" dirty="0"/>
          </a:p>
        </p:txBody>
      </p:sp>
      <p:sp>
        <p:nvSpPr>
          <p:cNvPr id="13" name="Shape 11"/>
          <p:cNvSpPr/>
          <p:nvPr/>
        </p:nvSpPr>
        <p:spPr>
          <a:xfrm>
            <a:off x="7863840" y="6172200"/>
            <a:ext cx="3657600" cy="384048"/>
          </a:xfrm>
          <a:prstGeom prst="rect">
            <a:avLst/>
          </a:prstGeom>
          <a:ln w="9525">
            <a:solidFill>
              <a:srgbClr val="7F7F7F"/>
            </a:solidFill>
            <a:prstDash val="solid"/>
          </a:ln>
        </p:spPr>
      </p:sp>
      <p:sp>
        <p:nvSpPr>
          <p:cNvPr id="14" name="Text 12"/>
          <p:cNvSpPr txBox="1"/>
          <p:nvPr/>
        </p:nvSpPr>
        <p:spPr>
          <a:xfrm>
            <a:off x="7863840" y="6172200"/>
            <a:ext cx="365760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docs/textbook/B_finance_accounting_textbook.md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01</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01</a:t>
            </a:r>
            <a:pPr indent="0" marL="0">
              <a:buNone/>
            </a:pPr>
            <a:r>
              <a:rPr lang="en-US" sz="1300" dirty="0">
                <a:solidFill>
                  <a:srgbClr val="A2A2A2"/>
                </a:solidFill>
                <a:latin typeface="Consolas" pitchFamily="34" charset="0"/>
                <a:ea typeface="Consolas" pitchFamily="34" charset="-122"/>
                <a:cs typeface="Consolas" pitchFamily="34" charset="-120"/>
              </a:rPr>
              <a:t>   財務・会計 ／ B-1〜B-11</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簿記・会計の基礎／原価計算</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会社のお金の動きを記録し、財務諸表にまとめる技術（簿記）と、財務諸表そのもの（B/S・P/L・C/F）、そして社内向けのコスト情報を作る原価計算。以降すべての土台になる分野。</a:t>
            </a:r>
            <a:endParaRPr lang="en-US" sz="1400" dirty="0"/>
          </a:p>
        </p:txBody>
      </p:sp>
      <p:sp>
        <p:nvSpPr>
          <p:cNvPr id="6" name="Shape 4"/>
          <p:cNvSpPr/>
          <p:nvPr/>
        </p:nvSpPr>
        <p:spPr>
          <a:xfrm>
            <a:off x="640080" y="4800600"/>
            <a:ext cx="1431036" cy="384048"/>
          </a:xfrm>
          <a:prstGeom prst="rect">
            <a:avLst/>
          </a:prstGeom>
          <a:ln w="9525">
            <a:solidFill>
              <a:srgbClr val="7F7F7F"/>
            </a:solidFill>
            <a:prstDash val="solid"/>
          </a:ln>
        </p:spPr>
      </p:sp>
      <p:sp>
        <p:nvSpPr>
          <p:cNvPr id="7" name="Text 5"/>
          <p:cNvSpPr txBox="1"/>
          <p:nvPr/>
        </p:nvSpPr>
        <p:spPr>
          <a:xfrm>
            <a:off x="640080" y="4800600"/>
            <a:ext cx="143103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B-1 仕訳の基本</a:t>
            </a:r>
            <a:endParaRPr lang="en-US" sz="1000" dirty="0"/>
          </a:p>
        </p:txBody>
      </p:sp>
      <p:sp>
        <p:nvSpPr>
          <p:cNvPr id="8" name="Shape 6"/>
          <p:cNvSpPr/>
          <p:nvPr/>
        </p:nvSpPr>
        <p:spPr>
          <a:xfrm>
            <a:off x="2299716" y="4800600"/>
            <a:ext cx="1431036" cy="384048"/>
          </a:xfrm>
          <a:prstGeom prst="rect">
            <a:avLst/>
          </a:prstGeom>
          <a:ln w="9525">
            <a:solidFill>
              <a:srgbClr val="7F7F7F"/>
            </a:solidFill>
            <a:prstDash val="solid"/>
          </a:ln>
        </p:spPr>
      </p:sp>
      <p:sp>
        <p:nvSpPr>
          <p:cNvPr id="9" name="Text 7"/>
          <p:cNvSpPr txBox="1"/>
          <p:nvPr/>
        </p:nvSpPr>
        <p:spPr>
          <a:xfrm>
            <a:off x="2299716" y="4800600"/>
            <a:ext cx="143103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B-5 貸借対照表</a:t>
            </a:r>
            <a:endParaRPr lang="en-US" sz="1000" dirty="0"/>
          </a:p>
        </p:txBody>
      </p:sp>
      <p:sp>
        <p:nvSpPr>
          <p:cNvPr id="10" name="Shape 8"/>
          <p:cNvSpPr/>
          <p:nvPr/>
        </p:nvSpPr>
        <p:spPr>
          <a:xfrm>
            <a:off x="3959352" y="4800600"/>
            <a:ext cx="1431036" cy="384048"/>
          </a:xfrm>
          <a:prstGeom prst="rect">
            <a:avLst/>
          </a:prstGeom>
          <a:ln w="9525">
            <a:solidFill>
              <a:srgbClr val="7F7F7F"/>
            </a:solidFill>
            <a:prstDash val="solid"/>
          </a:ln>
        </p:spPr>
      </p:sp>
      <p:sp>
        <p:nvSpPr>
          <p:cNvPr id="11" name="Text 9"/>
          <p:cNvSpPr txBox="1"/>
          <p:nvPr/>
        </p:nvSpPr>
        <p:spPr>
          <a:xfrm>
            <a:off x="3959352" y="4800600"/>
            <a:ext cx="143103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B-9 税効果会計</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 ／ 簿記の基礎：簿記原理・会計帳簿</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取引を「借方」「貸方」に分けて記録する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複式簿記では、1つの取引を必ず「原因」と「結果」の2側面から記録する。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365760"/>
          </a:xfrm>
          <a:prstGeom prst="rect">
            <a:avLst/>
          </a:prstGeom>
          <a:noFill/>
          <a:ln/>
        </p:spPr>
        <p:txBody>
          <a:bodyPr wrap="square" lIns="0" tIns="0" rIns="0" bIns="0" rtlCol="0" anchor="ctr"/>
          <a:lstStyle/>
          <a:p>
            <a:pPr indent="0" marL="0">
              <a:lnSpc>
                <a:spcPct val="125000"/>
              </a:lnSpc>
              <a:buNone/>
            </a:pPr>
            <a:r>
              <a:rPr lang="en-US" sz="1150" dirty="0">
                <a:solidFill>
                  <a:srgbClr val="8A8A8A"/>
                </a:solidFill>
                <a:latin typeface="Yu Gothic" pitchFamily="34" charset="0"/>
                <a:ea typeface="Yu Gothic" pitchFamily="34" charset="-122"/>
                <a:cs typeface="Yu Gothic" pitchFamily="34" charset="-120"/>
              </a:rPr>
              <a:t>簿記は会社の取引を一定ルールで帳簿に記録する技術。複式簿記は、1つの取引を必ず借方（左）・貸方（右）の2面で記録する。</a:t>
            </a:r>
            <a:endParaRPr lang="en-US" sz="1150" dirty="0"/>
          </a:p>
        </p:txBody>
      </p:sp>
      <p:sp>
        <p:nvSpPr>
          <p:cNvPr id="9" name="Text 7"/>
          <p:cNvSpPr txBox="1"/>
          <p:nvPr/>
        </p:nvSpPr>
        <p:spPr>
          <a:xfrm>
            <a:off x="502920" y="2112264"/>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資産・費用</a:t>
            </a:r>
            <a:endParaRPr lang="en-US" sz="1150" dirty="0"/>
          </a:p>
        </p:txBody>
      </p:sp>
      <p:sp>
        <p:nvSpPr>
          <p:cNvPr id="10" name="Shape 8"/>
          <p:cNvSpPr/>
          <p:nvPr/>
        </p:nvSpPr>
        <p:spPr>
          <a:xfrm>
            <a:off x="2404872" y="2112264"/>
            <a:ext cx="0" cy="256032"/>
          </a:xfrm>
          <a:prstGeom prst="line">
            <a:avLst/>
          </a:prstGeom>
          <a:noFill/>
          <a:ln w="12700">
            <a:solidFill>
              <a:srgbClr val="E6E6E6"/>
            </a:solidFill>
            <a:prstDash val="solid"/>
          </a:ln>
        </p:spPr>
      </p:sp>
      <p:sp>
        <p:nvSpPr>
          <p:cNvPr id="11" name="Text 9"/>
          <p:cNvSpPr txBox="1"/>
          <p:nvPr/>
        </p:nvSpPr>
        <p:spPr>
          <a:xfrm>
            <a:off x="2560320" y="2112264"/>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増えたら借方（左）に記録</a:t>
            </a:r>
            <a:endParaRPr lang="en-US" sz="1150" dirty="0"/>
          </a:p>
        </p:txBody>
      </p:sp>
      <p:sp>
        <p:nvSpPr>
          <p:cNvPr id="12" name="Text 10"/>
          <p:cNvSpPr txBox="1"/>
          <p:nvPr/>
        </p:nvSpPr>
        <p:spPr>
          <a:xfrm>
            <a:off x="502920" y="2478024"/>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負債・純資産・収益</a:t>
            </a:r>
            <a:endParaRPr lang="en-US" sz="1150" dirty="0"/>
          </a:p>
        </p:txBody>
      </p:sp>
      <p:sp>
        <p:nvSpPr>
          <p:cNvPr id="13" name="Shape 11"/>
          <p:cNvSpPr/>
          <p:nvPr/>
        </p:nvSpPr>
        <p:spPr>
          <a:xfrm>
            <a:off x="2404872" y="2478024"/>
            <a:ext cx="0" cy="256032"/>
          </a:xfrm>
          <a:prstGeom prst="line">
            <a:avLst/>
          </a:prstGeom>
          <a:noFill/>
          <a:ln w="12700">
            <a:solidFill>
              <a:srgbClr val="E6E6E6"/>
            </a:solidFill>
            <a:prstDash val="solid"/>
          </a:ln>
        </p:spPr>
      </p:sp>
      <p:sp>
        <p:nvSpPr>
          <p:cNvPr id="14" name="Text 12"/>
          <p:cNvSpPr txBox="1"/>
          <p:nvPr/>
        </p:nvSpPr>
        <p:spPr>
          <a:xfrm>
            <a:off x="2560320" y="2478024"/>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増えたら貸方（右）に記録</a:t>
            </a:r>
            <a:endParaRPr lang="en-US" sz="1150" dirty="0"/>
          </a:p>
        </p:txBody>
      </p:sp>
      <p:sp>
        <p:nvSpPr>
          <p:cNvPr id="15" name="Text 13"/>
          <p:cNvSpPr txBox="1"/>
          <p:nvPr/>
        </p:nvSpPr>
        <p:spPr>
          <a:xfrm>
            <a:off x="502920" y="2935224"/>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現金100万円で開業＝（借）現金100万／（貸）資本金100万。商品120万円を掛け売り＝（借）売掛金120万／（貸）売上120万。借方合計＝貸方合計は、どんな取引でも必ず一致する（貸借平均の原理）。</a:t>
            </a:r>
            <a:endParaRPr lang="en-US" sz="850" dirty="0"/>
          </a:p>
        </p:txBody>
      </p:sp>
      <p:sp>
        <p:nvSpPr>
          <p:cNvPr id="16" name="Shape 14"/>
          <p:cNvSpPr/>
          <p:nvPr/>
        </p:nvSpPr>
        <p:spPr>
          <a:xfrm>
            <a:off x="502920" y="3694176"/>
            <a:ext cx="11201400" cy="0"/>
          </a:xfrm>
          <a:prstGeom prst="line">
            <a:avLst/>
          </a:prstGeom>
          <a:noFill/>
          <a:ln w="12700">
            <a:solidFill>
              <a:srgbClr val="E6E6E6"/>
            </a:solidFill>
            <a:prstDash val="solid"/>
          </a:ln>
        </p:spPr>
      </p:sp>
      <p:sp>
        <p:nvSpPr>
          <p:cNvPr id="17" name="Text 15"/>
          <p:cNvSpPr txBox="1"/>
          <p:nvPr/>
        </p:nvSpPr>
        <p:spPr>
          <a:xfrm>
            <a:off x="502920" y="3767328"/>
            <a:ext cx="11201400" cy="41148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借方・貸方が逆になっている誤答肢が定番。「資産・費用の増加＝借方」「負債・純資産・収益の増加＝貸方」の対応を体に覚え込ませる。</a:t>
            </a:r>
            <a:endParaRPr lang="en-US" sz="950" dirty="0"/>
          </a:p>
        </p:txBody>
      </p:sp>
      <p:sp>
        <p:nvSpPr>
          <p:cNvPr id="18" name="Shape 16"/>
          <p:cNvSpPr/>
          <p:nvPr/>
        </p:nvSpPr>
        <p:spPr>
          <a:xfrm>
            <a:off x="502920" y="5989320"/>
            <a:ext cx="11201400" cy="0"/>
          </a:xfrm>
          <a:prstGeom prst="line">
            <a:avLst/>
          </a:prstGeom>
          <a:noFill/>
          <a:ln w="9525">
            <a:solidFill>
              <a:srgbClr val="171717"/>
            </a:solidFill>
            <a:prstDash val="solid"/>
          </a:ln>
        </p:spPr>
      </p:sp>
      <p:sp>
        <p:nvSpPr>
          <p:cNvPr id="19" name="Shape 17"/>
          <p:cNvSpPr/>
          <p:nvPr/>
        </p:nvSpPr>
        <p:spPr>
          <a:xfrm>
            <a:off x="502920" y="6062472"/>
            <a:ext cx="329184" cy="329184"/>
          </a:xfrm>
          <a:prstGeom prst="ellipse">
            <a:avLst/>
          </a:prstGeom>
          <a:solidFill>
            <a:srgbClr val="FF3B1F"/>
          </a:solidFill>
          <a:ln/>
        </p:spPr>
      </p:sp>
      <p:sp>
        <p:nvSpPr>
          <p:cNvPr id="20" name="Text 1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1" name="Text 19"/>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2" name="Shape 20"/>
          <p:cNvSpPr/>
          <p:nvPr/>
        </p:nvSpPr>
        <p:spPr>
          <a:xfrm>
            <a:off x="2331720" y="6062472"/>
            <a:ext cx="0" cy="329184"/>
          </a:xfrm>
          <a:prstGeom prst="line">
            <a:avLst/>
          </a:prstGeom>
          <a:noFill/>
          <a:ln w="12700">
            <a:solidFill>
              <a:srgbClr val="E6E6E6"/>
            </a:solidFill>
            <a:prstDash val="solid"/>
          </a:ln>
        </p:spPr>
      </p:sp>
      <p:sp>
        <p:nvSpPr>
          <p:cNvPr id="23" name="Text 21"/>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関連：B-2 決算処理一巡（仕訳の集大成）、B-3〜B-5 財務諸表の作成。</a:t>
            </a:r>
            <a:endParaRPr lang="en-US" sz="1000" dirty="0"/>
          </a:p>
        </p:txBody>
      </p:sp>
      <p:sp>
        <p:nvSpPr>
          <p:cNvPr id="24" name="Text 22"/>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5" name="Shape 23"/>
          <p:cNvSpPr/>
          <p:nvPr/>
        </p:nvSpPr>
        <p:spPr>
          <a:xfrm>
            <a:off x="2466594"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7" name="Shape 25"/>
          <p:cNvSpPr/>
          <p:nvPr/>
        </p:nvSpPr>
        <p:spPr>
          <a:xfrm>
            <a:off x="3431286"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9" name="Shape 27"/>
          <p:cNvSpPr/>
          <p:nvPr/>
        </p:nvSpPr>
        <p:spPr>
          <a:xfrm>
            <a:off x="4395978"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1" name="Shape 29"/>
          <p:cNvSpPr/>
          <p:nvPr/>
        </p:nvSpPr>
        <p:spPr>
          <a:xfrm>
            <a:off x="5360670"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3" name="Shape 31"/>
          <p:cNvSpPr/>
          <p:nvPr/>
        </p:nvSpPr>
        <p:spPr>
          <a:xfrm>
            <a:off x="6325362"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5" name="Shape 33"/>
          <p:cNvSpPr/>
          <p:nvPr/>
        </p:nvSpPr>
        <p:spPr>
          <a:xfrm>
            <a:off x="7290054"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7" name="Shape 35"/>
          <p:cNvSpPr/>
          <p:nvPr/>
        </p:nvSpPr>
        <p:spPr>
          <a:xfrm>
            <a:off x="8254746"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9" name="Shape 37"/>
          <p:cNvSpPr/>
          <p:nvPr/>
        </p:nvSpPr>
        <p:spPr>
          <a:xfrm>
            <a:off x="9219438"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1" name="Shape 39"/>
          <p:cNvSpPr/>
          <p:nvPr/>
        </p:nvSpPr>
        <p:spPr>
          <a:xfrm>
            <a:off x="10184130"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3" name="Shape 41"/>
          <p:cNvSpPr/>
          <p:nvPr/>
        </p:nvSpPr>
        <p:spPr>
          <a:xfrm>
            <a:off x="11148822"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 ／ 簿記の基礎：決算処理一巡</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試算表→決算整理→財務諸表の一連の流れ</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1年に1回、それまでの取引記録をまとめて財務諸表を作る一連のプロセス。</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50292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決算は年に1回、この5ステップを順番に踏んで初めて正しい財務諸表が完成する。特に③精算表は試算表→決算整理→P/L・B/Sの流れを1枚で確認できるため、この一連の手順そのものが試験で頻出する。</a:t>
            </a:r>
            <a:endParaRPr lang="en-US" sz="1050" dirty="0"/>
          </a:p>
        </p:txBody>
      </p:sp>
      <p:sp>
        <p:nvSpPr>
          <p:cNvPr id="9" name="Text 7"/>
          <p:cNvSpPr txBox="1"/>
          <p:nvPr/>
        </p:nvSpPr>
        <p:spPr>
          <a:xfrm>
            <a:off x="502920" y="239572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①試算表</a:t>
            </a:r>
            <a:endParaRPr lang="en-US" sz="1500" dirty="0"/>
          </a:p>
        </p:txBody>
      </p:sp>
      <p:sp>
        <p:nvSpPr>
          <p:cNvPr id="10" name="Text 8"/>
          <p:cNvSpPr txBox="1"/>
          <p:nvPr/>
        </p:nvSpPr>
        <p:spPr>
          <a:xfrm>
            <a:off x="2423160" y="2359152"/>
            <a:ext cx="9281160" cy="55778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各勘定科目の残高を一覧化し、借方合計＝貸方合計になっているか検算する</a:t>
            </a:r>
            <a:endParaRPr lang="en-US" sz="1100" dirty="0"/>
          </a:p>
        </p:txBody>
      </p:sp>
      <p:sp>
        <p:nvSpPr>
          <p:cNvPr id="11" name="Shape 9"/>
          <p:cNvSpPr/>
          <p:nvPr/>
        </p:nvSpPr>
        <p:spPr>
          <a:xfrm>
            <a:off x="502920" y="2999232"/>
            <a:ext cx="11201400" cy="0"/>
          </a:xfrm>
          <a:prstGeom prst="line">
            <a:avLst/>
          </a:prstGeom>
          <a:noFill/>
          <a:ln w="12700">
            <a:solidFill>
              <a:srgbClr val="E6E6E6"/>
            </a:solidFill>
            <a:prstDash val="solid"/>
          </a:ln>
        </p:spPr>
      </p:sp>
      <p:sp>
        <p:nvSpPr>
          <p:cNvPr id="12" name="Text 10"/>
          <p:cNvSpPr txBox="1"/>
          <p:nvPr/>
        </p:nvSpPr>
        <p:spPr>
          <a:xfrm>
            <a:off x="502920" y="3108960"/>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②決算整理</a:t>
            </a:r>
            <a:endParaRPr lang="en-US" sz="1500" dirty="0"/>
          </a:p>
        </p:txBody>
      </p:sp>
      <p:sp>
        <p:nvSpPr>
          <p:cNvPr id="13" name="Text 11"/>
          <p:cNvSpPr txBox="1"/>
          <p:nvPr/>
        </p:nvSpPr>
        <p:spPr>
          <a:xfrm>
            <a:off x="2423160" y="3072384"/>
            <a:ext cx="9281160" cy="55778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減価償却など、期中の記録だけでは反映されない項目を修正する仕訳を行う</a:t>
            </a:r>
            <a:endParaRPr lang="en-US" sz="1100" dirty="0"/>
          </a:p>
        </p:txBody>
      </p:sp>
      <p:sp>
        <p:nvSpPr>
          <p:cNvPr id="14" name="Shape 12"/>
          <p:cNvSpPr/>
          <p:nvPr/>
        </p:nvSpPr>
        <p:spPr>
          <a:xfrm>
            <a:off x="502920" y="3712464"/>
            <a:ext cx="11201400" cy="0"/>
          </a:xfrm>
          <a:prstGeom prst="line">
            <a:avLst/>
          </a:prstGeom>
          <a:noFill/>
          <a:ln w="12700">
            <a:solidFill>
              <a:srgbClr val="E6E6E6"/>
            </a:solidFill>
            <a:prstDash val="solid"/>
          </a:ln>
        </p:spPr>
      </p:sp>
      <p:sp>
        <p:nvSpPr>
          <p:cNvPr id="15" name="Text 13"/>
          <p:cNvSpPr txBox="1"/>
          <p:nvPr/>
        </p:nvSpPr>
        <p:spPr>
          <a:xfrm>
            <a:off x="502920" y="3822192"/>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③精算表</a:t>
            </a:r>
            <a:endParaRPr lang="en-US" sz="1500" dirty="0"/>
          </a:p>
        </p:txBody>
      </p:sp>
      <p:sp>
        <p:nvSpPr>
          <p:cNvPr id="16" name="Text 14"/>
          <p:cNvSpPr txBox="1"/>
          <p:nvPr/>
        </p:nvSpPr>
        <p:spPr>
          <a:xfrm>
            <a:off x="2423160" y="3785616"/>
            <a:ext cx="9281160" cy="55778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試算表→決算整理→P/L・B/Sへの流れを1枚にまとめる（試験で頻出）</a:t>
            </a:r>
            <a:endParaRPr lang="en-US" sz="1100" dirty="0"/>
          </a:p>
        </p:txBody>
      </p:sp>
      <p:sp>
        <p:nvSpPr>
          <p:cNvPr id="17" name="Shape 15"/>
          <p:cNvSpPr/>
          <p:nvPr/>
        </p:nvSpPr>
        <p:spPr>
          <a:xfrm>
            <a:off x="502920" y="4425696"/>
            <a:ext cx="11201400" cy="0"/>
          </a:xfrm>
          <a:prstGeom prst="line">
            <a:avLst/>
          </a:prstGeom>
          <a:noFill/>
          <a:ln w="12700">
            <a:solidFill>
              <a:srgbClr val="E6E6E6"/>
            </a:solidFill>
            <a:prstDash val="solid"/>
          </a:ln>
        </p:spPr>
      </p:sp>
      <p:sp>
        <p:nvSpPr>
          <p:cNvPr id="18" name="Text 16"/>
          <p:cNvSpPr txBox="1"/>
          <p:nvPr/>
        </p:nvSpPr>
        <p:spPr>
          <a:xfrm>
            <a:off x="502920" y="4535424"/>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④財務諸表</a:t>
            </a:r>
            <a:endParaRPr lang="en-US" sz="1500" dirty="0"/>
          </a:p>
        </p:txBody>
      </p:sp>
      <p:sp>
        <p:nvSpPr>
          <p:cNvPr id="19" name="Text 17"/>
          <p:cNvSpPr txBox="1"/>
          <p:nvPr/>
        </p:nvSpPr>
        <p:spPr>
          <a:xfrm>
            <a:off x="2423160" y="4498848"/>
            <a:ext cx="9281160" cy="55778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損益計算書・貸借対照表を作成する</a:t>
            </a:r>
            <a:endParaRPr lang="en-US" sz="1100" dirty="0"/>
          </a:p>
        </p:txBody>
      </p:sp>
      <p:sp>
        <p:nvSpPr>
          <p:cNvPr id="20" name="Shape 18"/>
          <p:cNvSpPr/>
          <p:nvPr/>
        </p:nvSpPr>
        <p:spPr>
          <a:xfrm>
            <a:off x="502920" y="5138928"/>
            <a:ext cx="11201400" cy="0"/>
          </a:xfrm>
          <a:prstGeom prst="line">
            <a:avLst/>
          </a:prstGeom>
          <a:noFill/>
          <a:ln w="12700">
            <a:solidFill>
              <a:srgbClr val="E6E6E6"/>
            </a:solidFill>
            <a:prstDash val="solid"/>
          </a:ln>
        </p:spPr>
      </p:sp>
      <p:sp>
        <p:nvSpPr>
          <p:cNvPr id="21" name="Text 19"/>
          <p:cNvSpPr txBox="1"/>
          <p:nvPr/>
        </p:nvSpPr>
        <p:spPr>
          <a:xfrm>
            <a:off x="502920" y="5248656"/>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⑤帳簿の締切</a:t>
            </a:r>
            <a:endParaRPr lang="en-US" sz="1500" dirty="0"/>
          </a:p>
        </p:txBody>
      </p:sp>
      <p:sp>
        <p:nvSpPr>
          <p:cNvPr id="22" name="Text 20"/>
          <p:cNvSpPr txBox="1"/>
          <p:nvPr/>
        </p:nvSpPr>
        <p:spPr>
          <a:xfrm>
            <a:off x="2423160" y="5212080"/>
            <a:ext cx="9281160" cy="55778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収益・費用の勘定をゼロに戻し、儲けを純資産に振り替える</a:t>
            </a:r>
            <a:endParaRPr lang="en-US" sz="110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具体例：建物1,000万円（耐用20年、定額法）→減価償却費＝1,000万÷20年＝50万円／年。</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B-3 ／ 簿記の基礎：貸借対照表・損益計算書の作成</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仕訳の集大成としてのB/S・P/L</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決算整理後の残高試算表を、資産・負債・純資産＝B/S、収益・費用＝P/Lに振り分ける。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25000"/>
              </a:lnSpc>
              <a:buNone/>
            </a:pPr>
            <a:r>
              <a:rPr lang="en-US" sz="1150" dirty="0">
                <a:solidFill>
                  <a:srgbClr val="8A8A8A"/>
                </a:solidFill>
                <a:latin typeface="Yu Gothic" pitchFamily="34" charset="0"/>
                <a:ea typeface="Yu Gothic" pitchFamily="34" charset="-122"/>
                <a:cs typeface="Yu Gothic" pitchFamily="34" charset="-120"/>
              </a:rPr>
              <a:t>B-1・B-2で記録した仕訳の集大成が貸借対照表（B/S）と損益計算書（P/L）。決算整理後の残高試算表の勘定科目を、次のルールで2つの表に振り分ける。</a:t>
            </a:r>
            <a:endParaRPr lang="en-US" sz="1150" dirty="0"/>
          </a:p>
        </p:txBody>
      </p:sp>
      <p:sp>
        <p:nvSpPr>
          <p:cNvPr id="9" name="Text 7"/>
          <p:cNvSpPr txBox="1"/>
          <p:nvPr/>
        </p:nvSpPr>
        <p:spPr>
          <a:xfrm>
            <a:off x="502920" y="2203704"/>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資産・負債・純資産</a:t>
            </a:r>
            <a:endParaRPr lang="en-US" sz="1150" dirty="0"/>
          </a:p>
        </p:txBody>
      </p:sp>
      <p:sp>
        <p:nvSpPr>
          <p:cNvPr id="10" name="Shape 8"/>
          <p:cNvSpPr/>
          <p:nvPr/>
        </p:nvSpPr>
        <p:spPr>
          <a:xfrm>
            <a:off x="2404872" y="2203704"/>
            <a:ext cx="0" cy="256032"/>
          </a:xfrm>
          <a:prstGeom prst="line">
            <a:avLst/>
          </a:prstGeom>
          <a:noFill/>
          <a:ln w="12700">
            <a:solidFill>
              <a:srgbClr val="E6E6E6"/>
            </a:solidFill>
            <a:prstDash val="solid"/>
          </a:ln>
        </p:spPr>
      </p:sp>
      <p:sp>
        <p:nvSpPr>
          <p:cNvPr id="11" name="Text 9"/>
          <p:cNvSpPr txBox="1"/>
          <p:nvPr/>
        </p:nvSpPr>
        <p:spPr>
          <a:xfrm>
            <a:off x="2560320" y="2203704"/>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 貸借対照表（B/S）へ</a:t>
            </a:r>
            <a:endParaRPr lang="en-US" sz="1150" dirty="0"/>
          </a:p>
        </p:txBody>
      </p:sp>
      <p:sp>
        <p:nvSpPr>
          <p:cNvPr id="12" name="Text 10"/>
          <p:cNvSpPr txBox="1"/>
          <p:nvPr/>
        </p:nvSpPr>
        <p:spPr>
          <a:xfrm>
            <a:off x="502920" y="2569464"/>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収益・費用</a:t>
            </a:r>
            <a:endParaRPr lang="en-US" sz="1150" dirty="0"/>
          </a:p>
        </p:txBody>
      </p:sp>
      <p:sp>
        <p:nvSpPr>
          <p:cNvPr id="13" name="Shape 11"/>
          <p:cNvSpPr/>
          <p:nvPr/>
        </p:nvSpPr>
        <p:spPr>
          <a:xfrm>
            <a:off x="2404872" y="2569464"/>
            <a:ext cx="0" cy="256032"/>
          </a:xfrm>
          <a:prstGeom prst="line">
            <a:avLst/>
          </a:prstGeom>
          <a:noFill/>
          <a:ln w="12700">
            <a:solidFill>
              <a:srgbClr val="E6E6E6"/>
            </a:solidFill>
            <a:prstDash val="solid"/>
          </a:ln>
        </p:spPr>
      </p:sp>
      <p:sp>
        <p:nvSpPr>
          <p:cNvPr id="14" name="Text 12"/>
          <p:cNvSpPr txBox="1"/>
          <p:nvPr/>
        </p:nvSpPr>
        <p:spPr>
          <a:xfrm>
            <a:off x="2560320" y="2569464"/>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 損益計算書（P/L）へ（収益－費用＝当期純利益）</a:t>
            </a:r>
            <a:endParaRPr lang="en-US" sz="1150" dirty="0"/>
          </a:p>
        </p:txBody>
      </p:sp>
      <p:sp>
        <p:nvSpPr>
          <p:cNvPr id="15" name="Text 13"/>
          <p:cNvSpPr txBox="1"/>
          <p:nvPr/>
        </p:nvSpPr>
        <p:spPr>
          <a:xfrm>
            <a:off x="502920" y="3026664"/>
            <a:ext cx="11201400" cy="5486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P/Lで計算した「当期純利益」は、最終的にB/Sの純資産（利益剰余金）に加算される。2つの表は別々のものではなく、1つの決算処理から生まれる表裏一体の関係。</a:t>
            </a:r>
            <a:endParaRPr lang="en-US" sz="850" dirty="0"/>
          </a:p>
        </p:txBody>
      </p:sp>
      <p:sp>
        <p:nvSpPr>
          <p:cNvPr id="16" name="Shape 14"/>
          <p:cNvSpPr/>
          <p:nvPr/>
        </p:nvSpPr>
        <p:spPr>
          <a:xfrm>
            <a:off x="502920" y="3648456"/>
            <a:ext cx="11201400" cy="0"/>
          </a:xfrm>
          <a:prstGeom prst="line">
            <a:avLst/>
          </a:prstGeom>
          <a:noFill/>
          <a:ln w="12700">
            <a:solidFill>
              <a:srgbClr val="E6E6E6"/>
            </a:solidFill>
            <a:prstDash val="solid"/>
          </a:ln>
        </p:spPr>
      </p:sp>
      <p:sp>
        <p:nvSpPr>
          <p:cNvPr id="17" name="Text 15"/>
          <p:cNvSpPr txBox="1"/>
          <p:nvPr/>
        </p:nvSpPr>
        <p:spPr>
          <a:xfrm>
            <a:off x="502920" y="3721608"/>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「当期純利益はB/Sのどこに反映されるか」（→純資産の利益剰余金に加算）というP/L・B/Sのつながりを問う問題が頻出。</a:t>
            </a:r>
            <a:endParaRPr lang="en-US" sz="950" dirty="0"/>
          </a:p>
        </p:txBody>
      </p:sp>
      <p:sp>
        <p:nvSpPr>
          <p:cNvPr id="18" name="Shape 16"/>
          <p:cNvSpPr/>
          <p:nvPr/>
        </p:nvSpPr>
        <p:spPr>
          <a:xfrm>
            <a:off x="502920" y="5989320"/>
            <a:ext cx="11201400" cy="0"/>
          </a:xfrm>
          <a:prstGeom prst="line">
            <a:avLst/>
          </a:prstGeom>
          <a:noFill/>
          <a:ln w="9525">
            <a:solidFill>
              <a:srgbClr val="171717"/>
            </a:solidFill>
            <a:prstDash val="solid"/>
          </a:ln>
        </p:spPr>
      </p:sp>
      <p:sp>
        <p:nvSpPr>
          <p:cNvPr id="19" name="Shape 17"/>
          <p:cNvSpPr/>
          <p:nvPr/>
        </p:nvSpPr>
        <p:spPr>
          <a:xfrm>
            <a:off x="502920" y="6062472"/>
            <a:ext cx="329184" cy="329184"/>
          </a:xfrm>
          <a:prstGeom prst="ellipse">
            <a:avLst/>
          </a:prstGeom>
          <a:solidFill>
            <a:srgbClr val="8A8A8A"/>
          </a:solidFill>
          <a:ln/>
        </p:spPr>
      </p:sp>
      <p:sp>
        <p:nvSpPr>
          <p:cNvPr id="20" name="Text 1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21" name="Text 19"/>
          <p:cNvSpPr txBox="1"/>
          <p:nvPr/>
        </p:nvSpPr>
        <p:spPr>
          <a:xfrm>
            <a:off x="914400" y="6062472"/>
            <a:ext cx="10515600" cy="329184"/>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集計データなし　／　関連：B-4 損益計算書、B-5 貸借対照表（それぞれの表の中身を詳しく見る）。</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B-4 ／ 企業会計の基礎：損益計算書</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5段階で儲けを積み上げる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1年間の経営成績を、儲けの種類ごとに5段階の利益で表す。</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50292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1年間の儲けは一段階では終わらない。本業の儲け、財務活動を含めた儲け、臨時的な損益を含めた儲けと、性質の異なる収益・費用を順番に差し引きながら5段階の利益を積み上げていく。</a:t>
            </a:r>
            <a:endParaRPr lang="en-US" sz="1050" dirty="0"/>
          </a:p>
        </p:txBody>
      </p:sp>
      <p:sp>
        <p:nvSpPr>
          <p:cNvPr id="9" name="Text 7"/>
          <p:cNvSpPr txBox="1"/>
          <p:nvPr/>
        </p:nvSpPr>
        <p:spPr>
          <a:xfrm>
            <a:off x="502920" y="2395728"/>
            <a:ext cx="24688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①売上総利益</a:t>
            </a:r>
            <a:endParaRPr lang="en-US" sz="1500" dirty="0"/>
          </a:p>
        </p:txBody>
      </p:sp>
      <p:sp>
        <p:nvSpPr>
          <p:cNvPr id="10" name="Text 8"/>
          <p:cNvSpPr txBox="1"/>
          <p:nvPr/>
        </p:nvSpPr>
        <p:spPr>
          <a:xfrm>
            <a:off x="3063240" y="2414016"/>
            <a:ext cx="16459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売上高－原価</a:t>
            </a:r>
            <a:endParaRPr lang="en-US" sz="1100" dirty="0"/>
          </a:p>
        </p:txBody>
      </p:sp>
      <p:sp>
        <p:nvSpPr>
          <p:cNvPr id="11" name="Text 9"/>
          <p:cNvSpPr txBox="1"/>
          <p:nvPr/>
        </p:nvSpPr>
        <p:spPr>
          <a:xfrm>
            <a:off x="4800600" y="2359152"/>
            <a:ext cx="6903720" cy="37490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いわゆる「粗利」</a:t>
            </a:r>
            <a:endParaRPr lang="en-US" sz="1100" dirty="0"/>
          </a:p>
        </p:txBody>
      </p:sp>
      <p:sp>
        <p:nvSpPr>
          <p:cNvPr id="12" name="Shape 10"/>
          <p:cNvSpPr/>
          <p:nvPr/>
        </p:nvSpPr>
        <p:spPr>
          <a:xfrm>
            <a:off x="502920" y="2816352"/>
            <a:ext cx="11201400" cy="0"/>
          </a:xfrm>
          <a:prstGeom prst="line">
            <a:avLst/>
          </a:prstGeom>
          <a:noFill/>
          <a:ln w="12700">
            <a:solidFill>
              <a:srgbClr val="E6E6E6"/>
            </a:solidFill>
            <a:prstDash val="solid"/>
          </a:ln>
        </p:spPr>
      </p:sp>
      <p:sp>
        <p:nvSpPr>
          <p:cNvPr id="13" name="Text 11"/>
          <p:cNvSpPr txBox="1"/>
          <p:nvPr/>
        </p:nvSpPr>
        <p:spPr>
          <a:xfrm>
            <a:off x="502920" y="2926080"/>
            <a:ext cx="24688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②営業利益</a:t>
            </a:r>
            <a:endParaRPr lang="en-US" sz="1500" dirty="0"/>
          </a:p>
        </p:txBody>
      </p:sp>
      <p:sp>
        <p:nvSpPr>
          <p:cNvPr id="14" name="Text 12"/>
          <p:cNvSpPr txBox="1"/>
          <p:nvPr/>
        </p:nvSpPr>
        <p:spPr>
          <a:xfrm>
            <a:off x="3063240" y="2944368"/>
            <a:ext cx="16459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①－販管費</a:t>
            </a:r>
            <a:endParaRPr lang="en-US" sz="1100" dirty="0"/>
          </a:p>
        </p:txBody>
      </p:sp>
      <p:sp>
        <p:nvSpPr>
          <p:cNvPr id="15" name="Text 13"/>
          <p:cNvSpPr txBox="1"/>
          <p:nvPr/>
        </p:nvSpPr>
        <p:spPr>
          <a:xfrm>
            <a:off x="4800600" y="2889504"/>
            <a:ext cx="6903720" cy="37490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本業でどれだけ儲けたか</a:t>
            </a:r>
            <a:endParaRPr lang="en-US" sz="1100" dirty="0"/>
          </a:p>
        </p:txBody>
      </p:sp>
      <p:sp>
        <p:nvSpPr>
          <p:cNvPr id="16" name="Shape 14"/>
          <p:cNvSpPr/>
          <p:nvPr/>
        </p:nvSpPr>
        <p:spPr>
          <a:xfrm>
            <a:off x="502920" y="3346704"/>
            <a:ext cx="11201400" cy="0"/>
          </a:xfrm>
          <a:prstGeom prst="line">
            <a:avLst/>
          </a:prstGeom>
          <a:noFill/>
          <a:ln w="12700">
            <a:solidFill>
              <a:srgbClr val="E6E6E6"/>
            </a:solidFill>
            <a:prstDash val="solid"/>
          </a:ln>
        </p:spPr>
      </p:sp>
      <p:sp>
        <p:nvSpPr>
          <p:cNvPr id="17" name="Text 15"/>
          <p:cNvSpPr txBox="1"/>
          <p:nvPr/>
        </p:nvSpPr>
        <p:spPr>
          <a:xfrm>
            <a:off x="502920" y="3456432"/>
            <a:ext cx="24688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③経常利益</a:t>
            </a:r>
            <a:endParaRPr lang="en-US" sz="1500" dirty="0"/>
          </a:p>
        </p:txBody>
      </p:sp>
      <p:sp>
        <p:nvSpPr>
          <p:cNvPr id="18" name="Text 16"/>
          <p:cNvSpPr txBox="1"/>
          <p:nvPr/>
        </p:nvSpPr>
        <p:spPr>
          <a:xfrm>
            <a:off x="3063240" y="3474720"/>
            <a:ext cx="16459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②＋営業外損益</a:t>
            </a:r>
            <a:endParaRPr lang="en-US" sz="1100" dirty="0"/>
          </a:p>
        </p:txBody>
      </p:sp>
      <p:sp>
        <p:nvSpPr>
          <p:cNvPr id="19" name="Text 17"/>
          <p:cNvSpPr txBox="1"/>
          <p:nvPr/>
        </p:nvSpPr>
        <p:spPr>
          <a:xfrm>
            <a:off x="4800600" y="3419856"/>
            <a:ext cx="6903720" cy="37490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本業＋財務活動を含めた通常の儲け</a:t>
            </a:r>
            <a:endParaRPr lang="en-US" sz="1100" dirty="0"/>
          </a:p>
        </p:txBody>
      </p:sp>
      <p:sp>
        <p:nvSpPr>
          <p:cNvPr id="20" name="Shape 18"/>
          <p:cNvSpPr/>
          <p:nvPr/>
        </p:nvSpPr>
        <p:spPr>
          <a:xfrm>
            <a:off x="502920" y="3877056"/>
            <a:ext cx="11201400" cy="0"/>
          </a:xfrm>
          <a:prstGeom prst="line">
            <a:avLst/>
          </a:prstGeom>
          <a:noFill/>
          <a:ln w="12700">
            <a:solidFill>
              <a:srgbClr val="E6E6E6"/>
            </a:solidFill>
            <a:prstDash val="solid"/>
          </a:ln>
        </p:spPr>
      </p:sp>
      <p:sp>
        <p:nvSpPr>
          <p:cNvPr id="21" name="Text 19"/>
          <p:cNvSpPr txBox="1"/>
          <p:nvPr/>
        </p:nvSpPr>
        <p:spPr>
          <a:xfrm>
            <a:off x="502920" y="3986784"/>
            <a:ext cx="24688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④税引前当期純利益</a:t>
            </a:r>
            <a:endParaRPr lang="en-US" sz="1500" dirty="0"/>
          </a:p>
        </p:txBody>
      </p:sp>
      <p:sp>
        <p:nvSpPr>
          <p:cNvPr id="22" name="Text 20"/>
          <p:cNvSpPr txBox="1"/>
          <p:nvPr/>
        </p:nvSpPr>
        <p:spPr>
          <a:xfrm>
            <a:off x="3063240" y="4005072"/>
            <a:ext cx="16459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③＋特別損益</a:t>
            </a:r>
            <a:endParaRPr lang="en-US" sz="1100" dirty="0"/>
          </a:p>
        </p:txBody>
      </p:sp>
      <p:sp>
        <p:nvSpPr>
          <p:cNvPr id="23" name="Text 21"/>
          <p:cNvSpPr txBox="1"/>
          <p:nvPr/>
        </p:nvSpPr>
        <p:spPr>
          <a:xfrm>
            <a:off x="4800600" y="3950208"/>
            <a:ext cx="6903720" cy="37490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臨時的な損益も含めた最終的な儲け</a:t>
            </a:r>
            <a:endParaRPr lang="en-US" sz="1100" dirty="0"/>
          </a:p>
        </p:txBody>
      </p:sp>
      <p:sp>
        <p:nvSpPr>
          <p:cNvPr id="24" name="Shape 22"/>
          <p:cNvSpPr/>
          <p:nvPr/>
        </p:nvSpPr>
        <p:spPr>
          <a:xfrm>
            <a:off x="502920" y="4407408"/>
            <a:ext cx="11201400" cy="0"/>
          </a:xfrm>
          <a:prstGeom prst="line">
            <a:avLst/>
          </a:prstGeom>
          <a:noFill/>
          <a:ln w="12700">
            <a:solidFill>
              <a:srgbClr val="E6E6E6"/>
            </a:solidFill>
            <a:prstDash val="solid"/>
          </a:ln>
        </p:spPr>
      </p:sp>
      <p:sp>
        <p:nvSpPr>
          <p:cNvPr id="25" name="Text 23"/>
          <p:cNvSpPr txBox="1"/>
          <p:nvPr/>
        </p:nvSpPr>
        <p:spPr>
          <a:xfrm>
            <a:off x="502920" y="4517136"/>
            <a:ext cx="24688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⑤当期純利益</a:t>
            </a:r>
            <a:endParaRPr lang="en-US" sz="1500" dirty="0"/>
          </a:p>
        </p:txBody>
      </p:sp>
      <p:sp>
        <p:nvSpPr>
          <p:cNvPr id="26" name="Text 24"/>
          <p:cNvSpPr txBox="1"/>
          <p:nvPr/>
        </p:nvSpPr>
        <p:spPr>
          <a:xfrm>
            <a:off x="3063240" y="4535424"/>
            <a:ext cx="16459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④－法人税等</a:t>
            </a:r>
            <a:endParaRPr lang="en-US" sz="1100" dirty="0"/>
          </a:p>
        </p:txBody>
      </p:sp>
      <p:sp>
        <p:nvSpPr>
          <p:cNvPr id="27" name="Text 25"/>
          <p:cNvSpPr txBox="1"/>
          <p:nvPr/>
        </p:nvSpPr>
        <p:spPr>
          <a:xfrm>
            <a:off x="4800600" y="4480560"/>
            <a:ext cx="6903720" cy="37490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株主に帰属する最終利益</a:t>
            </a:r>
            <a:endParaRPr lang="en-US" sz="1100" dirty="0"/>
          </a:p>
        </p:txBody>
      </p:sp>
      <p:sp>
        <p:nvSpPr>
          <p:cNvPr id="28" name="Text 26"/>
          <p:cNvSpPr txBox="1"/>
          <p:nvPr/>
        </p:nvSpPr>
        <p:spPr>
          <a:xfrm>
            <a:off x="502920" y="5074920"/>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製造業A社：売上高5,000万円・売上原価2,000万円・販管費2,500万円・営業外収益10万円・営業外費用60万円・特別損失50万円・法人税等120万円→①3,000万円②500万円③450万円④400万円⑤280万円。</a:t>
            </a:r>
            <a:endParaRPr lang="en-US" sz="850" dirty="0"/>
          </a:p>
        </p:txBody>
      </p:sp>
      <p:sp>
        <p:nvSpPr>
          <p:cNvPr id="29" name="Shape 27"/>
          <p:cNvSpPr/>
          <p:nvPr/>
        </p:nvSpPr>
        <p:spPr>
          <a:xfrm>
            <a:off x="502920" y="5989320"/>
            <a:ext cx="11201400" cy="0"/>
          </a:xfrm>
          <a:prstGeom prst="line">
            <a:avLst/>
          </a:prstGeom>
          <a:noFill/>
          <a:ln w="9525">
            <a:solidFill>
              <a:srgbClr val="171717"/>
            </a:solidFill>
            <a:prstDash val="solid"/>
          </a:ln>
        </p:spPr>
      </p:sp>
      <p:sp>
        <p:nvSpPr>
          <p:cNvPr id="30" name="Shape 28"/>
          <p:cNvSpPr/>
          <p:nvPr/>
        </p:nvSpPr>
        <p:spPr>
          <a:xfrm>
            <a:off x="502920" y="6062472"/>
            <a:ext cx="329184" cy="329184"/>
          </a:xfrm>
          <a:prstGeom prst="ellipse">
            <a:avLst/>
          </a:prstGeom>
          <a:solidFill>
            <a:srgbClr val="FF3B1F"/>
          </a:solidFill>
          <a:ln/>
        </p:spPr>
      </p:sp>
      <p:sp>
        <p:nvSpPr>
          <p:cNvPr id="31" name="Text 2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2" name="Text 3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3" name="Shape 31"/>
          <p:cNvSpPr/>
          <p:nvPr/>
        </p:nvSpPr>
        <p:spPr>
          <a:xfrm>
            <a:off x="2331720" y="6062472"/>
            <a:ext cx="0" cy="329184"/>
          </a:xfrm>
          <a:prstGeom prst="line">
            <a:avLst/>
          </a:prstGeom>
          <a:noFill/>
          <a:ln w="12700">
            <a:solidFill>
              <a:srgbClr val="E6E6E6"/>
            </a:solidFill>
            <a:prstDash val="solid"/>
          </a:ln>
        </p:spPr>
      </p:sp>
      <p:sp>
        <p:nvSpPr>
          <p:cNvPr id="34" name="Text 3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ひっかけ：「支払利息増で経常利益は落ちたが営業利益は好調」→本業は問題なく財務体質に課題、と読み解けるかがポイント。</a:t>
            </a:r>
            <a:endParaRPr lang="en-US" sz="1000" dirty="0"/>
          </a:p>
        </p:txBody>
      </p:sp>
      <p:sp>
        <p:nvSpPr>
          <p:cNvPr id="35" name="Text 3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6" name="Shape 34"/>
          <p:cNvSpPr/>
          <p:nvPr/>
        </p:nvSpPr>
        <p:spPr>
          <a:xfrm>
            <a:off x="246659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8" name="Shape 36"/>
          <p:cNvSpPr/>
          <p:nvPr/>
        </p:nvSpPr>
        <p:spPr>
          <a:xfrm>
            <a:off x="3431286"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40" name="Shape 38"/>
          <p:cNvSpPr/>
          <p:nvPr/>
        </p:nvSpPr>
        <p:spPr>
          <a:xfrm>
            <a:off x="439597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2" name="Shape 40"/>
          <p:cNvSpPr/>
          <p:nvPr/>
        </p:nvSpPr>
        <p:spPr>
          <a:xfrm>
            <a:off x="5360670"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44" name="Shape 42"/>
          <p:cNvSpPr/>
          <p:nvPr/>
        </p:nvSpPr>
        <p:spPr>
          <a:xfrm>
            <a:off x="6325362"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6" name="Shape 44"/>
          <p:cNvSpPr/>
          <p:nvPr/>
        </p:nvSpPr>
        <p:spPr>
          <a:xfrm>
            <a:off x="7290054"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8" name="Shape 46"/>
          <p:cNvSpPr/>
          <p:nvPr/>
        </p:nvSpPr>
        <p:spPr>
          <a:xfrm>
            <a:off x="8254746"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50" name="Shape 48"/>
          <p:cNvSpPr/>
          <p:nvPr/>
        </p:nvSpPr>
        <p:spPr>
          <a:xfrm>
            <a:off x="9219438"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2" name="Shape 50"/>
          <p:cNvSpPr/>
          <p:nvPr/>
        </p:nvSpPr>
        <p:spPr>
          <a:xfrm>
            <a:off x="10184130" y="6464808"/>
            <a:ext cx="146304" cy="146304"/>
          </a:xfrm>
          <a:prstGeom prst="ellipse">
            <a:avLst/>
          </a:prstGeom>
          <a:solidFill>
            <a:srgbClr val="FF3B1F"/>
          </a:solidFill>
          <a:ln w="12700">
            <a:solidFill>
              <a:srgbClr val="FF3B1F"/>
            </a:solidFill>
            <a:prstDash val="solid"/>
          </a:ln>
        </p:spPr>
      </p:sp>
      <p:sp>
        <p:nvSpPr>
          <p:cNvPr id="53" name="Text 5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4" name="Shape 52"/>
          <p:cNvSpPr/>
          <p:nvPr/>
        </p:nvSpPr>
        <p:spPr>
          <a:xfrm>
            <a:off x="11148822" y="6464808"/>
            <a:ext cx="146304" cy="146304"/>
          </a:xfrm>
          <a:prstGeom prst="ellipse">
            <a:avLst/>
          </a:prstGeom>
          <a:solidFill>
            <a:srgbClr val="FF3B1F"/>
          </a:solidFill>
          <a:ln w="12700">
            <a:solidFill>
              <a:srgbClr val="FF3B1F"/>
            </a:solidFill>
            <a:prstDash val="solid"/>
          </a:ln>
        </p:spPr>
      </p:sp>
      <p:sp>
        <p:nvSpPr>
          <p:cNvPr id="55" name="Text 5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B-5 ／ 企業会計の基礎：貸借対照表</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資産 ＝ 負債 ＋ 純資産</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決算日時点での財政状態（何を持ち、何を返す必要があるか）を表す。</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949440" cy="6400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左側（借方）に資産、右側（貸方）に負債・純資産を並べ、左右の合計は必ず一致する。資産・負債はさらに「流動」（1年以内）と「固定」（1年超）に分ける（ワン・イヤー・ルール）。</a:t>
            </a:r>
            <a:endParaRPr lang="en-US" sz="1100" dirty="0"/>
          </a:p>
        </p:txBody>
      </p:sp>
      <p:sp>
        <p:nvSpPr>
          <p:cNvPr id="9" name="Text 7"/>
          <p:cNvSpPr txBox="1"/>
          <p:nvPr/>
        </p:nvSpPr>
        <p:spPr>
          <a:xfrm>
            <a:off x="502920" y="2404872"/>
            <a:ext cx="137160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流動資産</a:t>
            </a:r>
            <a:endParaRPr lang="en-US" sz="1100" dirty="0"/>
          </a:p>
        </p:txBody>
      </p:sp>
      <p:sp>
        <p:nvSpPr>
          <p:cNvPr id="10" name="Shape 8"/>
          <p:cNvSpPr/>
          <p:nvPr/>
        </p:nvSpPr>
        <p:spPr>
          <a:xfrm>
            <a:off x="1856232" y="2404872"/>
            <a:ext cx="0" cy="256032"/>
          </a:xfrm>
          <a:prstGeom prst="line">
            <a:avLst/>
          </a:prstGeom>
          <a:noFill/>
          <a:ln w="12700">
            <a:solidFill>
              <a:srgbClr val="E6E6E6"/>
            </a:solidFill>
            <a:prstDash val="solid"/>
          </a:ln>
        </p:spPr>
      </p:sp>
      <p:sp>
        <p:nvSpPr>
          <p:cNvPr id="11" name="Text 9"/>
          <p:cNvSpPr txBox="1"/>
          <p:nvPr/>
        </p:nvSpPr>
        <p:spPr>
          <a:xfrm>
            <a:off x="2011680" y="2404872"/>
            <a:ext cx="544068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現金、売掛金、棚卸資産</a:t>
            </a:r>
            <a:endParaRPr lang="en-US" sz="1100" dirty="0"/>
          </a:p>
        </p:txBody>
      </p:sp>
      <p:sp>
        <p:nvSpPr>
          <p:cNvPr id="12" name="Text 10"/>
          <p:cNvSpPr txBox="1"/>
          <p:nvPr/>
        </p:nvSpPr>
        <p:spPr>
          <a:xfrm>
            <a:off x="502920" y="2734056"/>
            <a:ext cx="137160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固定資産</a:t>
            </a:r>
            <a:endParaRPr lang="en-US" sz="1100" dirty="0"/>
          </a:p>
        </p:txBody>
      </p:sp>
      <p:sp>
        <p:nvSpPr>
          <p:cNvPr id="13" name="Shape 11"/>
          <p:cNvSpPr/>
          <p:nvPr/>
        </p:nvSpPr>
        <p:spPr>
          <a:xfrm>
            <a:off x="1856232" y="2734056"/>
            <a:ext cx="0" cy="256032"/>
          </a:xfrm>
          <a:prstGeom prst="line">
            <a:avLst/>
          </a:prstGeom>
          <a:noFill/>
          <a:ln w="12700">
            <a:solidFill>
              <a:srgbClr val="E6E6E6"/>
            </a:solidFill>
            <a:prstDash val="solid"/>
          </a:ln>
        </p:spPr>
      </p:sp>
      <p:sp>
        <p:nvSpPr>
          <p:cNvPr id="14" name="Text 12"/>
          <p:cNvSpPr txBox="1"/>
          <p:nvPr/>
        </p:nvSpPr>
        <p:spPr>
          <a:xfrm>
            <a:off x="2011680" y="2734056"/>
            <a:ext cx="544068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建物、機械、土地</a:t>
            </a:r>
            <a:endParaRPr lang="en-US" sz="1100" dirty="0"/>
          </a:p>
        </p:txBody>
      </p:sp>
      <p:sp>
        <p:nvSpPr>
          <p:cNvPr id="15" name="Text 13"/>
          <p:cNvSpPr txBox="1"/>
          <p:nvPr/>
        </p:nvSpPr>
        <p:spPr>
          <a:xfrm>
            <a:off x="502920" y="3063240"/>
            <a:ext cx="137160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流動負債</a:t>
            </a:r>
            <a:endParaRPr lang="en-US" sz="1100" dirty="0"/>
          </a:p>
        </p:txBody>
      </p:sp>
      <p:sp>
        <p:nvSpPr>
          <p:cNvPr id="16" name="Shape 14"/>
          <p:cNvSpPr/>
          <p:nvPr/>
        </p:nvSpPr>
        <p:spPr>
          <a:xfrm>
            <a:off x="1856232" y="3063240"/>
            <a:ext cx="0" cy="256032"/>
          </a:xfrm>
          <a:prstGeom prst="line">
            <a:avLst/>
          </a:prstGeom>
          <a:noFill/>
          <a:ln w="12700">
            <a:solidFill>
              <a:srgbClr val="E6E6E6"/>
            </a:solidFill>
            <a:prstDash val="solid"/>
          </a:ln>
        </p:spPr>
      </p:sp>
      <p:sp>
        <p:nvSpPr>
          <p:cNvPr id="17" name="Text 15"/>
          <p:cNvSpPr txBox="1"/>
          <p:nvPr/>
        </p:nvSpPr>
        <p:spPr>
          <a:xfrm>
            <a:off x="2011680" y="3063240"/>
            <a:ext cx="544068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買掛金、短期借入金</a:t>
            </a:r>
            <a:endParaRPr lang="en-US" sz="1100" dirty="0"/>
          </a:p>
        </p:txBody>
      </p:sp>
      <p:sp>
        <p:nvSpPr>
          <p:cNvPr id="18" name="Text 16"/>
          <p:cNvSpPr txBox="1"/>
          <p:nvPr/>
        </p:nvSpPr>
        <p:spPr>
          <a:xfrm>
            <a:off x="502920" y="3392424"/>
            <a:ext cx="137160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固定負債</a:t>
            </a:r>
            <a:endParaRPr lang="en-US" sz="1100" dirty="0"/>
          </a:p>
        </p:txBody>
      </p:sp>
      <p:sp>
        <p:nvSpPr>
          <p:cNvPr id="19" name="Shape 17"/>
          <p:cNvSpPr/>
          <p:nvPr/>
        </p:nvSpPr>
        <p:spPr>
          <a:xfrm>
            <a:off x="1856232" y="3392424"/>
            <a:ext cx="0" cy="256032"/>
          </a:xfrm>
          <a:prstGeom prst="line">
            <a:avLst/>
          </a:prstGeom>
          <a:noFill/>
          <a:ln w="12700">
            <a:solidFill>
              <a:srgbClr val="E6E6E6"/>
            </a:solidFill>
            <a:prstDash val="solid"/>
          </a:ln>
        </p:spPr>
      </p:sp>
      <p:sp>
        <p:nvSpPr>
          <p:cNvPr id="20" name="Text 18"/>
          <p:cNvSpPr txBox="1"/>
          <p:nvPr/>
        </p:nvSpPr>
        <p:spPr>
          <a:xfrm>
            <a:off x="2011680" y="3392424"/>
            <a:ext cx="544068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長期借入金、社債</a:t>
            </a:r>
            <a:endParaRPr lang="en-US" sz="1100" dirty="0"/>
          </a:p>
        </p:txBody>
      </p:sp>
      <p:sp>
        <p:nvSpPr>
          <p:cNvPr id="21" name="Shape 19"/>
          <p:cNvSpPr/>
          <p:nvPr/>
        </p:nvSpPr>
        <p:spPr>
          <a:xfrm>
            <a:off x="502920" y="3813048"/>
            <a:ext cx="6949440" cy="0"/>
          </a:xfrm>
          <a:prstGeom prst="line">
            <a:avLst/>
          </a:prstGeom>
          <a:noFill/>
          <a:ln w="12700">
            <a:solidFill>
              <a:srgbClr val="E6E6E6"/>
            </a:solidFill>
            <a:prstDash val="solid"/>
          </a:ln>
        </p:spPr>
      </p:sp>
      <p:sp>
        <p:nvSpPr>
          <p:cNvPr id="22" name="Text 20"/>
          <p:cNvSpPr txBox="1"/>
          <p:nvPr/>
        </p:nvSpPr>
        <p:spPr>
          <a:xfrm>
            <a:off x="502920" y="3886200"/>
            <a:ext cx="694944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「利益剰余金が多い＝現金が多い」は誤り。現金は資産の部に別途「現金預金」として計上される。</a:t>
            </a:r>
            <a:endParaRPr lang="en-US" sz="950" dirty="0"/>
          </a:p>
        </p:txBody>
      </p:sp>
      <p:sp>
        <p:nvSpPr>
          <p:cNvPr id="23" name="Shape 21"/>
          <p:cNvSpPr/>
          <p:nvPr/>
        </p:nvSpPr>
        <p:spPr>
          <a:xfrm>
            <a:off x="7818120" y="1828800"/>
            <a:ext cx="1371600" cy="3291840"/>
          </a:xfrm>
          <a:prstGeom prst="rect">
            <a:avLst/>
          </a:prstGeom>
          <a:ln w="19050">
            <a:solidFill>
              <a:srgbClr val="171717"/>
            </a:solidFill>
            <a:prstDash val="solid"/>
          </a:ln>
        </p:spPr>
      </p:sp>
      <p:sp>
        <p:nvSpPr>
          <p:cNvPr id="24" name="Text 22"/>
          <p:cNvSpPr txBox="1"/>
          <p:nvPr/>
        </p:nvSpPr>
        <p:spPr>
          <a:xfrm>
            <a:off x="7818120" y="1536192"/>
            <a:ext cx="1371600" cy="274320"/>
          </a:xfrm>
          <a:prstGeom prst="rect">
            <a:avLst/>
          </a:prstGeom>
          <a:noFill/>
          <a:ln/>
        </p:spPr>
        <p:txBody>
          <a:bodyPr wrap="square" lIns="0" tIns="0" rIns="0" bIns="0" rtlCol="0" anchor="ctr"/>
          <a:lstStyle/>
          <a:p>
            <a:pPr algn="ctr" indent="0" marL="0">
              <a:buNone/>
            </a:pPr>
            <a:r>
              <a:rPr lang="en-US" sz="1100" b="1" dirty="0">
                <a:solidFill>
                  <a:srgbClr val="171717"/>
                </a:solidFill>
                <a:latin typeface="Yu Gothic" pitchFamily="34" charset="0"/>
                <a:ea typeface="Yu Gothic" pitchFamily="34" charset="-122"/>
                <a:cs typeface="Yu Gothic" pitchFamily="34" charset="-120"/>
              </a:rPr>
              <a:t>資産</a:t>
            </a:r>
            <a:endParaRPr lang="en-US" sz="1100" dirty="0"/>
          </a:p>
        </p:txBody>
      </p:sp>
      <p:sp>
        <p:nvSpPr>
          <p:cNvPr id="25" name="Shape 23"/>
          <p:cNvSpPr/>
          <p:nvPr/>
        </p:nvSpPr>
        <p:spPr>
          <a:xfrm>
            <a:off x="9555480" y="1828800"/>
            <a:ext cx="1737360" cy="1554480"/>
          </a:xfrm>
          <a:prstGeom prst="rect">
            <a:avLst/>
          </a:prstGeom>
          <a:ln w="15875">
            <a:solidFill>
              <a:srgbClr val="171717"/>
            </a:solidFill>
            <a:prstDash val="solid"/>
          </a:ln>
        </p:spPr>
      </p:sp>
      <p:sp>
        <p:nvSpPr>
          <p:cNvPr id="26" name="Text 24"/>
          <p:cNvSpPr txBox="1"/>
          <p:nvPr/>
        </p:nvSpPr>
        <p:spPr>
          <a:xfrm>
            <a:off x="9555480" y="2423160"/>
            <a:ext cx="1737360" cy="365760"/>
          </a:xfrm>
          <a:prstGeom prst="rect">
            <a:avLst/>
          </a:prstGeom>
          <a:noFill/>
          <a:ln/>
        </p:spPr>
        <p:txBody>
          <a:bodyPr wrap="square" lIns="0" tIns="0" rIns="0" bIns="0" rtlCol="0" anchor="ctr"/>
          <a:lstStyle/>
          <a:p>
            <a:pPr algn="ctr" indent="0" marL="0">
              <a:buNone/>
            </a:pPr>
            <a:r>
              <a:rPr lang="en-US" sz="1050" dirty="0">
                <a:solidFill>
                  <a:srgbClr val="171717"/>
                </a:solidFill>
                <a:latin typeface="Yu Gothic" pitchFamily="34" charset="0"/>
                <a:ea typeface="Yu Gothic" pitchFamily="34" charset="-122"/>
                <a:cs typeface="Yu Gothic" pitchFamily="34" charset="-120"/>
              </a:rPr>
              <a:t>負債</a:t>
            </a:r>
            <a:endParaRPr lang="en-US" sz="1050" dirty="0"/>
          </a:p>
        </p:txBody>
      </p:sp>
      <p:sp>
        <p:nvSpPr>
          <p:cNvPr id="27" name="Shape 25"/>
          <p:cNvSpPr/>
          <p:nvPr/>
        </p:nvSpPr>
        <p:spPr>
          <a:xfrm>
            <a:off x="9555480" y="3566160"/>
            <a:ext cx="1737360" cy="1554480"/>
          </a:xfrm>
          <a:prstGeom prst="rect">
            <a:avLst/>
          </a:prstGeom>
          <a:ln w="15875">
            <a:solidFill>
              <a:srgbClr val="FF3B1F"/>
            </a:solidFill>
            <a:prstDash val="solid"/>
          </a:ln>
        </p:spPr>
      </p:sp>
      <p:sp>
        <p:nvSpPr>
          <p:cNvPr id="28" name="Text 26"/>
          <p:cNvSpPr txBox="1"/>
          <p:nvPr/>
        </p:nvSpPr>
        <p:spPr>
          <a:xfrm>
            <a:off x="9555480" y="4160520"/>
            <a:ext cx="1737360" cy="365760"/>
          </a:xfrm>
          <a:prstGeom prst="rect">
            <a:avLst/>
          </a:prstGeom>
          <a:noFill/>
          <a:ln/>
        </p:spPr>
        <p:txBody>
          <a:bodyPr wrap="square" lIns="0" tIns="0" rIns="0" bIns="0" rtlCol="0" anchor="ctr"/>
          <a:lstStyle/>
          <a:p>
            <a:pPr algn="ctr" indent="0" marL="0">
              <a:buNone/>
            </a:pPr>
            <a:r>
              <a:rPr lang="en-US" sz="1050" dirty="0">
                <a:solidFill>
                  <a:srgbClr val="FF3B1F"/>
                </a:solidFill>
                <a:latin typeface="Yu Gothic" pitchFamily="34" charset="0"/>
                <a:ea typeface="Yu Gothic" pitchFamily="34" charset="-122"/>
                <a:cs typeface="Yu Gothic" pitchFamily="34" charset="-120"/>
              </a:rPr>
              <a:t>純資産</a:t>
            </a:r>
            <a:endParaRPr lang="en-US" sz="1050" dirty="0"/>
          </a:p>
        </p:txBody>
      </p:sp>
      <p:sp>
        <p:nvSpPr>
          <p:cNvPr id="29" name="Text 27"/>
          <p:cNvSpPr txBox="1"/>
          <p:nvPr/>
        </p:nvSpPr>
        <p:spPr>
          <a:xfrm>
            <a:off x="7543800" y="5257800"/>
            <a:ext cx="4206240" cy="274320"/>
          </a:xfrm>
          <a:prstGeom prst="rect">
            <a:avLst/>
          </a:prstGeom>
          <a:noFill/>
          <a:ln/>
        </p:spPr>
        <p:txBody>
          <a:bodyPr wrap="square" lIns="0" tIns="0" rIns="0" bIns="0" rtlCol="0" anchor="ctr"/>
          <a:lstStyle/>
          <a:p>
            <a:pPr algn="ctr" indent="0" marL="0">
              <a:buNone/>
            </a:pPr>
            <a:r>
              <a:rPr lang="en-US" sz="950" dirty="0">
                <a:solidFill>
                  <a:srgbClr val="8A8A8A"/>
                </a:solidFill>
                <a:latin typeface="Yu Gothic" pitchFamily="34" charset="0"/>
                <a:ea typeface="Yu Gothic" pitchFamily="34" charset="-122"/>
                <a:cs typeface="Yu Gothic" pitchFamily="34" charset="-120"/>
              </a:rPr>
              <a:t>資産合計＝負債合計＋純資産合計</a:t>
            </a:r>
            <a:endParaRPr lang="en-US" sz="950" dirty="0"/>
          </a:p>
        </p:txBody>
      </p:sp>
      <p:sp>
        <p:nvSpPr>
          <p:cNvPr id="30" name="Shape 28"/>
          <p:cNvSpPr/>
          <p:nvPr/>
        </p:nvSpPr>
        <p:spPr>
          <a:xfrm>
            <a:off x="502920" y="5989320"/>
            <a:ext cx="11201400" cy="0"/>
          </a:xfrm>
          <a:prstGeom prst="line">
            <a:avLst/>
          </a:prstGeom>
          <a:noFill/>
          <a:ln w="9525">
            <a:solidFill>
              <a:srgbClr val="171717"/>
            </a:solidFill>
            <a:prstDash val="solid"/>
          </a:ln>
        </p:spPr>
      </p:sp>
      <p:sp>
        <p:nvSpPr>
          <p:cNvPr id="31" name="Shape 29"/>
          <p:cNvSpPr/>
          <p:nvPr/>
        </p:nvSpPr>
        <p:spPr>
          <a:xfrm>
            <a:off x="502920" y="6062472"/>
            <a:ext cx="329184" cy="329184"/>
          </a:xfrm>
          <a:prstGeom prst="ellipse">
            <a:avLst/>
          </a:prstGeom>
          <a:solidFill>
            <a:srgbClr val="FF3B1F"/>
          </a:solidFill>
          <a:ln/>
        </p:spPr>
      </p:sp>
      <p:sp>
        <p:nvSpPr>
          <p:cNvPr id="32" name="Text 3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3" name="Text 3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4" name="Shape 32"/>
          <p:cNvSpPr/>
          <p:nvPr/>
        </p:nvSpPr>
        <p:spPr>
          <a:xfrm>
            <a:off x="2331720" y="6062472"/>
            <a:ext cx="0" cy="329184"/>
          </a:xfrm>
          <a:prstGeom prst="line">
            <a:avLst/>
          </a:prstGeom>
          <a:noFill/>
          <a:ln w="12700">
            <a:solidFill>
              <a:srgbClr val="E6E6E6"/>
            </a:solidFill>
            <a:prstDash val="solid"/>
          </a:ln>
        </p:spPr>
      </p:sp>
      <p:sp>
        <p:nvSpPr>
          <p:cNvPr id="35" name="Text 3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関連：B-13 安全性分析（流動比率・自己資本比率等はこのB/Sから計算する）。</a:t>
            </a:r>
            <a:endParaRPr lang="en-US" sz="1000" dirty="0"/>
          </a:p>
        </p:txBody>
      </p:sp>
      <p:sp>
        <p:nvSpPr>
          <p:cNvPr id="36" name="Text 3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7" name="Shape 35"/>
          <p:cNvSpPr/>
          <p:nvPr/>
        </p:nvSpPr>
        <p:spPr>
          <a:xfrm>
            <a:off x="246659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9" name="Shape 37"/>
          <p:cNvSpPr/>
          <p:nvPr/>
        </p:nvSpPr>
        <p:spPr>
          <a:xfrm>
            <a:off x="343128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41" name="Shape 39"/>
          <p:cNvSpPr/>
          <p:nvPr/>
        </p:nvSpPr>
        <p:spPr>
          <a:xfrm>
            <a:off x="4395978"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3" name="Shape 41"/>
          <p:cNvSpPr/>
          <p:nvPr/>
        </p:nvSpPr>
        <p:spPr>
          <a:xfrm>
            <a:off x="536067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5" name="Shape 43"/>
          <p:cNvSpPr/>
          <p:nvPr/>
        </p:nvSpPr>
        <p:spPr>
          <a:xfrm>
            <a:off x="6325362"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7" name="Shape 45"/>
          <p:cNvSpPr/>
          <p:nvPr/>
        </p:nvSpPr>
        <p:spPr>
          <a:xfrm>
            <a:off x="7290054"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9" name="Shape 47"/>
          <p:cNvSpPr/>
          <p:nvPr/>
        </p:nvSpPr>
        <p:spPr>
          <a:xfrm>
            <a:off x="8254746" y="6464808"/>
            <a:ext cx="146304" cy="146304"/>
          </a:xfrm>
          <a:prstGeom prst="ellipse">
            <a:avLst/>
          </a:prstGeom>
          <a:solidFill>
            <a:srgbClr val="FF3B1F"/>
          </a:solidFill>
          <a:ln w="12700">
            <a:solidFill>
              <a:srgbClr val="FF3B1F"/>
            </a:solidFill>
            <a:prstDash val="solid"/>
          </a:ln>
        </p:spPr>
      </p:sp>
      <p:sp>
        <p:nvSpPr>
          <p:cNvPr id="50" name="Text 4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51" name="Shape 49"/>
          <p:cNvSpPr/>
          <p:nvPr/>
        </p:nvSpPr>
        <p:spPr>
          <a:xfrm>
            <a:off x="9219438" y="6464808"/>
            <a:ext cx="146304" cy="146304"/>
          </a:xfrm>
          <a:prstGeom prst="ellipse">
            <a:avLst/>
          </a:prstGeom>
          <a:solidFill>
            <a:srgbClr val="FF3B1F"/>
          </a:solidFill>
          <a:ln w="12700">
            <a:solidFill>
              <a:srgbClr val="FF3B1F"/>
            </a:solidFill>
            <a:prstDash val="solid"/>
          </a:ln>
        </p:spPr>
      </p:sp>
      <p:sp>
        <p:nvSpPr>
          <p:cNvPr id="52" name="Text 5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3" name="Shape 51"/>
          <p:cNvSpPr/>
          <p:nvPr/>
        </p:nvSpPr>
        <p:spPr>
          <a:xfrm>
            <a:off x="10184130" y="6464808"/>
            <a:ext cx="146304" cy="146304"/>
          </a:xfrm>
          <a:prstGeom prst="ellipse">
            <a:avLst/>
          </a:prstGeom>
          <a:solidFill>
            <a:srgbClr val="FF3B1F"/>
          </a:solidFill>
          <a:ln w="12700">
            <a:solidFill>
              <a:srgbClr val="FF3B1F"/>
            </a:solidFill>
            <a:prstDash val="solid"/>
          </a:ln>
        </p:spPr>
      </p:sp>
      <p:sp>
        <p:nvSpPr>
          <p:cNvPr id="54" name="Text 5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5" name="Shape 53"/>
          <p:cNvSpPr/>
          <p:nvPr/>
        </p:nvSpPr>
        <p:spPr>
          <a:xfrm>
            <a:off x="11148822" y="6464808"/>
            <a:ext cx="146304" cy="146304"/>
          </a:xfrm>
          <a:prstGeom prst="ellipse">
            <a:avLst/>
          </a:prstGeom>
          <a:solidFill>
            <a:srgbClr val="FF3B1F"/>
          </a:solidFill>
          <a:ln w="12700">
            <a:solidFill>
              <a:srgbClr val="FF3B1F"/>
            </a:solidFill>
            <a:prstDash val="solid"/>
          </a:ln>
        </p:spPr>
      </p:sp>
      <p:sp>
        <p:nvSpPr>
          <p:cNvPr id="56" name="Text 5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B-6 ／ 企業会計の基礎：キャッシュ・フロー計算書</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利益と現金の動きは一致しない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「現金の動き」だけを営業・投資・財務の3区分で表す書類。間接法の調整が頻出。</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320040"/>
          </a:xfrm>
          <a:prstGeom prst="rect">
            <a:avLst/>
          </a:prstGeom>
          <a:noFill/>
          <a:ln/>
        </p:spPr>
        <p:txBody>
          <a:bodyPr wrap="square" lIns="0" tIns="0" rIns="0" bIns="0" rtlCol="0" anchor="ctr"/>
          <a:lstStyle/>
          <a:p>
            <a:pPr indent="0" marL="0">
              <a:buNone/>
            </a:pPr>
            <a:r>
              <a:rPr lang="en-US" sz="1150" dirty="0">
                <a:solidFill>
                  <a:srgbClr val="8A8A8A"/>
                </a:solidFill>
                <a:latin typeface="Yu Gothic" pitchFamily="34" charset="0"/>
                <a:ea typeface="Yu Gothic" pitchFamily="34" charset="-122"/>
                <a:cs typeface="Yu Gothic" pitchFamily="34" charset="-120"/>
              </a:rPr>
              <a:t>間接法：当期純利益からスタートし、現金の動きを伴わない項目を調整して営業CFを逆算する（試験で頻出）。</a:t>
            </a:r>
            <a:endParaRPr lang="en-US" sz="1150" dirty="0"/>
          </a:p>
        </p:txBody>
      </p:sp>
      <p:sp>
        <p:nvSpPr>
          <p:cNvPr id="9" name="Text 7"/>
          <p:cNvSpPr txBox="1"/>
          <p:nvPr/>
        </p:nvSpPr>
        <p:spPr>
          <a:xfrm>
            <a:off x="502920" y="2075688"/>
            <a:ext cx="21031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減価償却費</a:t>
            </a:r>
            <a:endParaRPr lang="en-US" sz="1150" dirty="0"/>
          </a:p>
        </p:txBody>
      </p:sp>
      <p:sp>
        <p:nvSpPr>
          <p:cNvPr id="10" name="Shape 8"/>
          <p:cNvSpPr/>
          <p:nvPr/>
        </p:nvSpPr>
        <p:spPr>
          <a:xfrm>
            <a:off x="2587752" y="2075688"/>
            <a:ext cx="0" cy="256032"/>
          </a:xfrm>
          <a:prstGeom prst="line">
            <a:avLst/>
          </a:prstGeom>
          <a:noFill/>
          <a:ln w="12700">
            <a:solidFill>
              <a:srgbClr val="E6E6E6"/>
            </a:solidFill>
            <a:prstDash val="solid"/>
          </a:ln>
        </p:spPr>
      </p:sp>
      <p:sp>
        <p:nvSpPr>
          <p:cNvPr id="11" name="Text 9"/>
          <p:cNvSpPr txBox="1"/>
          <p:nvPr/>
        </p:nvSpPr>
        <p:spPr>
          <a:xfrm>
            <a:off x="2743200" y="2075688"/>
            <a:ext cx="89611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現金支出を伴わない（非資金費用）→ 加算</a:t>
            </a:r>
            <a:endParaRPr lang="en-US" sz="1150" dirty="0"/>
          </a:p>
        </p:txBody>
      </p:sp>
      <p:sp>
        <p:nvSpPr>
          <p:cNvPr id="12" name="Text 10"/>
          <p:cNvSpPr txBox="1"/>
          <p:nvPr/>
        </p:nvSpPr>
        <p:spPr>
          <a:xfrm>
            <a:off x="502920" y="2441448"/>
            <a:ext cx="21031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売上債権の増加</a:t>
            </a:r>
            <a:endParaRPr lang="en-US" sz="1150" dirty="0"/>
          </a:p>
        </p:txBody>
      </p:sp>
      <p:sp>
        <p:nvSpPr>
          <p:cNvPr id="13" name="Shape 11"/>
          <p:cNvSpPr/>
          <p:nvPr/>
        </p:nvSpPr>
        <p:spPr>
          <a:xfrm>
            <a:off x="2587752" y="2441448"/>
            <a:ext cx="0" cy="256032"/>
          </a:xfrm>
          <a:prstGeom prst="line">
            <a:avLst/>
          </a:prstGeom>
          <a:noFill/>
          <a:ln w="12700">
            <a:solidFill>
              <a:srgbClr val="E6E6E6"/>
            </a:solidFill>
            <a:prstDash val="solid"/>
          </a:ln>
        </p:spPr>
      </p:sp>
      <p:sp>
        <p:nvSpPr>
          <p:cNvPr id="14" name="Text 12"/>
          <p:cNvSpPr txBox="1"/>
          <p:nvPr/>
        </p:nvSpPr>
        <p:spPr>
          <a:xfrm>
            <a:off x="2743200" y="2441448"/>
            <a:ext cx="89611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まだ現金回収していない → 減算</a:t>
            </a:r>
            <a:endParaRPr lang="en-US" sz="1150" dirty="0"/>
          </a:p>
        </p:txBody>
      </p:sp>
      <p:sp>
        <p:nvSpPr>
          <p:cNvPr id="15" name="Text 13"/>
          <p:cNvSpPr txBox="1"/>
          <p:nvPr/>
        </p:nvSpPr>
        <p:spPr>
          <a:xfrm>
            <a:off x="502920" y="2807208"/>
            <a:ext cx="21031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棚卸資産の増加</a:t>
            </a:r>
            <a:endParaRPr lang="en-US" sz="1150" dirty="0"/>
          </a:p>
        </p:txBody>
      </p:sp>
      <p:sp>
        <p:nvSpPr>
          <p:cNvPr id="16" name="Shape 14"/>
          <p:cNvSpPr/>
          <p:nvPr/>
        </p:nvSpPr>
        <p:spPr>
          <a:xfrm>
            <a:off x="2587752" y="2807208"/>
            <a:ext cx="0" cy="256032"/>
          </a:xfrm>
          <a:prstGeom prst="line">
            <a:avLst/>
          </a:prstGeom>
          <a:noFill/>
          <a:ln w="12700">
            <a:solidFill>
              <a:srgbClr val="E6E6E6"/>
            </a:solidFill>
            <a:prstDash val="solid"/>
          </a:ln>
        </p:spPr>
      </p:sp>
      <p:sp>
        <p:nvSpPr>
          <p:cNvPr id="17" name="Text 15"/>
          <p:cNvSpPr txBox="1"/>
          <p:nvPr/>
        </p:nvSpPr>
        <p:spPr>
          <a:xfrm>
            <a:off x="2743200" y="2807208"/>
            <a:ext cx="89611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現金を払って在庫を増やした → 減算</a:t>
            </a:r>
            <a:endParaRPr lang="en-US" sz="1150" dirty="0"/>
          </a:p>
        </p:txBody>
      </p:sp>
      <p:sp>
        <p:nvSpPr>
          <p:cNvPr id="18" name="Text 16"/>
          <p:cNvSpPr txBox="1"/>
          <p:nvPr/>
        </p:nvSpPr>
        <p:spPr>
          <a:xfrm>
            <a:off x="502920" y="3172968"/>
            <a:ext cx="21031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仕入債務の増加</a:t>
            </a:r>
            <a:endParaRPr lang="en-US" sz="1150" dirty="0"/>
          </a:p>
        </p:txBody>
      </p:sp>
      <p:sp>
        <p:nvSpPr>
          <p:cNvPr id="19" name="Shape 17"/>
          <p:cNvSpPr/>
          <p:nvPr/>
        </p:nvSpPr>
        <p:spPr>
          <a:xfrm>
            <a:off x="2587752" y="3172968"/>
            <a:ext cx="0" cy="256032"/>
          </a:xfrm>
          <a:prstGeom prst="line">
            <a:avLst/>
          </a:prstGeom>
          <a:noFill/>
          <a:ln w="12700">
            <a:solidFill>
              <a:srgbClr val="E6E6E6"/>
            </a:solidFill>
            <a:prstDash val="solid"/>
          </a:ln>
        </p:spPr>
      </p:sp>
      <p:sp>
        <p:nvSpPr>
          <p:cNvPr id="20" name="Text 18"/>
          <p:cNvSpPr txBox="1"/>
          <p:nvPr/>
        </p:nvSpPr>
        <p:spPr>
          <a:xfrm>
            <a:off x="2743200" y="3172968"/>
            <a:ext cx="89611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支払いを先延ばしできている → 加算</a:t>
            </a:r>
            <a:endParaRPr lang="en-US" sz="1150" dirty="0"/>
          </a:p>
        </p:txBody>
      </p:sp>
      <p:sp>
        <p:nvSpPr>
          <p:cNvPr id="21" name="Text 19"/>
          <p:cNvSpPr txBox="1"/>
          <p:nvPr/>
        </p:nvSpPr>
        <p:spPr>
          <a:xfrm>
            <a:off x="502920" y="3630168"/>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製造業A社：当期純利益300万円、減価償却費50万円、売上債権40万円増加、棚卸資産20万円増加、仕入債務30万円増加→営業CF＝300＋50－40－20＋30＝320万円。</a:t>
            </a:r>
            <a:endParaRPr lang="en-US" sz="850" dirty="0"/>
          </a:p>
        </p:txBody>
      </p:sp>
      <p:sp>
        <p:nvSpPr>
          <p:cNvPr id="22" name="Shape 20"/>
          <p:cNvSpPr/>
          <p:nvPr/>
        </p:nvSpPr>
        <p:spPr>
          <a:xfrm>
            <a:off x="502920" y="4206240"/>
            <a:ext cx="11201400" cy="0"/>
          </a:xfrm>
          <a:prstGeom prst="line">
            <a:avLst/>
          </a:prstGeom>
          <a:noFill/>
          <a:ln w="12700">
            <a:solidFill>
              <a:srgbClr val="E6E6E6"/>
            </a:solidFill>
            <a:prstDash val="solid"/>
          </a:ln>
        </p:spPr>
      </p:sp>
      <p:sp>
        <p:nvSpPr>
          <p:cNvPr id="23" name="Text 21"/>
          <p:cNvSpPr txBox="1"/>
          <p:nvPr/>
        </p:nvSpPr>
        <p:spPr>
          <a:xfrm>
            <a:off x="502920" y="4279392"/>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「資産の増加＝お金が寝ている＝マイナス」「負債の増加＝支払いを待ってもらえる＝プラス」とイメージで覚える。</a:t>
            </a:r>
            <a:endParaRPr lang="en-US" sz="950" dirty="0"/>
          </a:p>
        </p:txBody>
      </p:sp>
      <p:sp>
        <p:nvSpPr>
          <p:cNvPr id="24" name="Shape 22"/>
          <p:cNvSpPr/>
          <p:nvPr/>
        </p:nvSpPr>
        <p:spPr>
          <a:xfrm>
            <a:off x="502920" y="5989320"/>
            <a:ext cx="11201400" cy="0"/>
          </a:xfrm>
          <a:prstGeom prst="line">
            <a:avLst/>
          </a:prstGeom>
          <a:noFill/>
          <a:ln w="9525">
            <a:solidFill>
              <a:srgbClr val="171717"/>
            </a:solidFill>
            <a:prstDash val="solid"/>
          </a:ln>
        </p:spPr>
      </p:sp>
      <p:sp>
        <p:nvSpPr>
          <p:cNvPr id="25" name="Shape 23"/>
          <p:cNvSpPr/>
          <p:nvPr/>
        </p:nvSpPr>
        <p:spPr>
          <a:xfrm>
            <a:off x="502920" y="6062472"/>
            <a:ext cx="329184" cy="329184"/>
          </a:xfrm>
          <a:prstGeom prst="ellipse">
            <a:avLst/>
          </a:prstGeom>
          <a:solidFill>
            <a:srgbClr val="FF3B1F"/>
          </a:solidFill>
          <a:ln/>
        </p:spPr>
      </p:sp>
      <p:sp>
        <p:nvSpPr>
          <p:cNvPr id="26" name="Text 24"/>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7" name="Text 25"/>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8" name="Shape 26"/>
          <p:cNvSpPr/>
          <p:nvPr/>
        </p:nvSpPr>
        <p:spPr>
          <a:xfrm>
            <a:off x="2331720" y="6062472"/>
            <a:ext cx="0" cy="329184"/>
          </a:xfrm>
          <a:prstGeom prst="line">
            <a:avLst/>
          </a:prstGeom>
          <a:noFill/>
          <a:ln w="12700">
            <a:solidFill>
              <a:srgbClr val="E6E6E6"/>
            </a:solidFill>
            <a:prstDash val="solid"/>
          </a:ln>
        </p:spPr>
      </p:sp>
      <p:sp>
        <p:nvSpPr>
          <p:cNvPr id="29" name="Text 27"/>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関連：B-19 キャッシュ・フロー管理（FCFはこの営業CFの計算がベース）。</a:t>
            </a:r>
            <a:endParaRPr lang="en-US" sz="1000" dirty="0"/>
          </a:p>
        </p:txBody>
      </p:sp>
      <p:sp>
        <p:nvSpPr>
          <p:cNvPr id="30" name="Text 28"/>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1" name="Shape 29"/>
          <p:cNvSpPr/>
          <p:nvPr/>
        </p:nvSpPr>
        <p:spPr>
          <a:xfrm>
            <a:off x="2466594"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3" name="Shape 31"/>
          <p:cNvSpPr/>
          <p:nvPr/>
        </p:nvSpPr>
        <p:spPr>
          <a:xfrm>
            <a:off x="3431286"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5" name="Shape 33"/>
          <p:cNvSpPr/>
          <p:nvPr/>
        </p:nvSpPr>
        <p:spPr>
          <a:xfrm>
            <a:off x="4395978"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7" name="Shape 35"/>
          <p:cNvSpPr/>
          <p:nvPr/>
        </p:nvSpPr>
        <p:spPr>
          <a:xfrm>
            <a:off x="5360670"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9" name="Shape 37"/>
          <p:cNvSpPr/>
          <p:nvPr/>
        </p:nvSpPr>
        <p:spPr>
          <a:xfrm>
            <a:off x="6325362"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1" name="Shape 39"/>
          <p:cNvSpPr/>
          <p:nvPr/>
        </p:nvSpPr>
        <p:spPr>
          <a:xfrm>
            <a:off x="7290054"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3" name="Shape 41"/>
          <p:cNvSpPr/>
          <p:nvPr/>
        </p:nvSpPr>
        <p:spPr>
          <a:xfrm>
            <a:off x="8254746"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5" name="Shape 43"/>
          <p:cNvSpPr/>
          <p:nvPr/>
        </p:nvSpPr>
        <p:spPr>
          <a:xfrm>
            <a:off x="9219438"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7" name="Shape 45"/>
          <p:cNvSpPr/>
          <p:nvPr/>
        </p:nvSpPr>
        <p:spPr>
          <a:xfrm>
            <a:off x="10184130"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9" name="Shape 47"/>
          <p:cNvSpPr/>
          <p:nvPr/>
        </p:nvSpPr>
        <p:spPr>
          <a:xfrm>
            <a:off x="11148822" y="6464808"/>
            <a:ext cx="146304" cy="146304"/>
          </a:xfrm>
          <a:prstGeom prst="ellipse">
            <a:avLst/>
          </a:prstGeom>
          <a:solidFill>
            <a:srgbClr val="FFFFFF"/>
          </a:solidFill>
          <a:ln w="12700">
            <a:solidFill>
              <a:srgbClr val="E6E6E6"/>
            </a:solidFill>
            <a:prstDash val="solid"/>
          </a:ln>
        </p:spPr>
      </p:sp>
      <p:sp>
        <p:nvSpPr>
          <p:cNvPr id="50" name="Text 48"/>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B-7 ／ 企業会計の基礎：企業結合</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買収額と時価純資産の差額が「のれん」</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合併・会社分割・連結決算の会計処理。パーチェス法とのれんの扱いが頻出。</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54864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会社を買収する場合、原則パーチェス法で処理する。買収先の資産・負債を時価評価し、取得原価が時価純資産を上回った差額を「のれん」として資産計上、20年以内で規則的に償却する。</a:t>
            </a:r>
            <a:endParaRPr lang="en-US" sz="1100" dirty="0"/>
          </a:p>
        </p:txBody>
      </p:sp>
      <p:sp>
        <p:nvSpPr>
          <p:cNvPr id="9" name="Text 7"/>
          <p:cNvSpPr txBox="1"/>
          <p:nvPr/>
        </p:nvSpPr>
        <p:spPr>
          <a:xfrm>
            <a:off x="502920" y="2313432"/>
            <a:ext cx="155448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合併</a:t>
            </a:r>
            <a:endParaRPr lang="en-US" sz="1100" dirty="0"/>
          </a:p>
        </p:txBody>
      </p:sp>
      <p:sp>
        <p:nvSpPr>
          <p:cNvPr id="10" name="Shape 8"/>
          <p:cNvSpPr/>
          <p:nvPr/>
        </p:nvSpPr>
        <p:spPr>
          <a:xfrm>
            <a:off x="2039112" y="2313432"/>
            <a:ext cx="0" cy="256032"/>
          </a:xfrm>
          <a:prstGeom prst="line">
            <a:avLst/>
          </a:prstGeom>
          <a:noFill/>
          <a:ln w="12700">
            <a:solidFill>
              <a:srgbClr val="E6E6E6"/>
            </a:solidFill>
            <a:prstDash val="solid"/>
          </a:ln>
        </p:spPr>
      </p:sp>
      <p:sp>
        <p:nvSpPr>
          <p:cNvPr id="11" name="Text 9"/>
          <p:cNvSpPr txBox="1"/>
          <p:nvPr/>
        </p:nvSpPr>
        <p:spPr>
          <a:xfrm>
            <a:off x="2194560" y="2313432"/>
            <a:ext cx="950976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複数社が1社になる（吸収合併／新設合併）</a:t>
            </a:r>
            <a:endParaRPr lang="en-US" sz="1100" dirty="0"/>
          </a:p>
        </p:txBody>
      </p:sp>
      <p:sp>
        <p:nvSpPr>
          <p:cNvPr id="12" name="Text 10"/>
          <p:cNvSpPr txBox="1"/>
          <p:nvPr/>
        </p:nvSpPr>
        <p:spPr>
          <a:xfrm>
            <a:off x="502920" y="2642616"/>
            <a:ext cx="155448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会社分割</a:t>
            </a:r>
            <a:endParaRPr lang="en-US" sz="1100" dirty="0"/>
          </a:p>
        </p:txBody>
      </p:sp>
      <p:sp>
        <p:nvSpPr>
          <p:cNvPr id="13" name="Shape 11"/>
          <p:cNvSpPr/>
          <p:nvPr/>
        </p:nvSpPr>
        <p:spPr>
          <a:xfrm>
            <a:off x="2039112" y="2642616"/>
            <a:ext cx="0" cy="256032"/>
          </a:xfrm>
          <a:prstGeom prst="line">
            <a:avLst/>
          </a:prstGeom>
          <a:noFill/>
          <a:ln w="12700">
            <a:solidFill>
              <a:srgbClr val="E6E6E6"/>
            </a:solidFill>
            <a:prstDash val="solid"/>
          </a:ln>
        </p:spPr>
      </p:sp>
      <p:sp>
        <p:nvSpPr>
          <p:cNvPr id="14" name="Text 12"/>
          <p:cNvSpPr txBox="1"/>
          <p:nvPr/>
        </p:nvSpPr>
        <p:spPr>
          <a:xfrm>
            <a:off x="2194560" y="2642616"/>
            <a:ext cx="950976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事業の一部を切り離し承継させる（吸収分割／新設分割）</a:t>
            </a:r>
            <a:endParaRPr lang="en-US" sz="1100" dirty="0"/>
          </a:p>
        </p:txBody>
      </p:sp>
      <p:sp>
        <p:nvSpPr>
          <p:cNvPr id="15" name="Text 13"/>
          <p:cNvSpPr txBox="1"/>
          <p:nvPr/>
        </p:nvSpPr>
        <p:spPr>
          <a:xfrm>
            <a:off x="502920" y="2971800"/>
            <a:ext cx="155448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連結決算</a:t>
            </a:r>
            <a:endParaRPr lang="en-US" sz="1100" dirty="0"/>
          </a:p>
        </p:txBody>
      </p:sp>
      <p:sp>
        <p:nvSpPr>
          <p:cNvPr id="16" name="Shape 14"/>
          <p:cNvSpPr/>
          <p:nvPr/>
        </p:nvSpPr>
        <p:spPr>
          <a:xfrm>
            <a:off x="2039112" y="2971800"/>
            <a:ext cx="0" cy="256032"/>
          </a:xfrm>
          <a:prstGeom prst="line">
            <a:avLst/>
          </a:prstGeom>
          <a:noFill/>
          <a:ln w="12700">
            <a:solidFill>
              <a:srgbClr val="E6E6E6"/>
            </a:solidFill>
            <a:prstDash val="solid"/>
          </a:ln>
        </p:spPr>
      </p:sp>
      <p:sp>
        <p:nvSpPr>
          <p:cNvPr id="17" name="Text 15"/>
          <p:cNvSpPr txBox="1"/>
          <p:nvPr/>
        </p:nvSpPr>
        <p:spPr>
          <a:xfrm>
            <a:off x="2194560" y="2971800"/>
            <a:ext cx="950976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親会社が子会社を含めグループ全体を1社として財務諸表を作成</a:t>
            </a:r>
            <a:endParaRPr lang="en-US" sz="1100" dirty="0"/>
          </a:p>
        </p:txBody>
      </p:sp>
      <p:sp>
        <p:nvSpPr>
          <p:cNvPr id="18" name="Text 16"/>
          <p:cNvSpPr txBox="1"/>
          <p:nvPr/>
        </p:nvSpPr>
        <p:spPr>
          <a:xfrm>
            <a:off x="502920" y="3392424"/>
            <a:ext cx="11201400" cy="530352"/>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買収額1,200万円、時価純資産1,000万円→のれん＝200万円。20年均等償却なら毎期10万円を費用計上。</a:t>
            </a:r>
            <a:endParaRPr lang="en-US" sz="850" dirty="0"/>
          </a:p>
        </p:txBody>
      </p:sp>
      <p:sp>
        <p:nvSpPr>
          <p:cNvPr id="19" name="Shape 17"/>
          <p:cNvSpPr/>
          <p:nvPr/>
        </p:nvSpPr>
        <p:spPr>
          <a:xfrm>
            <a:off x="502920" y="3995928"/>
            <a:ext cx="11201400" cy="0"/>
          </a:xfrm>
          <a:prstGeom prst="line">
            <a:avLst/>
          </a:prstGeom>
          <a:noFill/>
          <a:ln w="12700">
            <a:solidFill>
              <a:srgbClr val="E6E6E6"/>
            </a:solidFill>
            <a:prstDash val="solid"/>
          </a:ln>
        </p:spPr>
      </p:sp>
      <p:sp>
        <p:nvSpPr>
          <p:cNvPr id="20" name="Text 18"/>
          <p:cNvSpPr txBox="1"/>
          <p:nvPr/>
        </p:nvSpPr>
        <p:spPr>
          <a:xfrm>
            <a:off x="502920" y="406908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「負ののれん」（取得原価＜時価純資産）は資産計上せず、発生した期の利益（特別利益）に一括計上する。</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関連：B-32 M&amp;Aにおける企業評価（買収額そのものの算定方法）。</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B-8 ／ 企業会計の基礎：会計ディスクロージャー</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速報性と詳細さのトレードオフ</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株主・投資家・債権者への財務状況の開示。根拠法令とタイミングの対応が頻出。</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同じ決算内容でも、根拠となる法令（会社法・金融商品取引法・取引所規則）が異なる複数の書類で、速報性の高いものから順に段階的に開示される。</a:t>
            </a:r>
            <a:endParaRPr lang="en-US" sz="1050" dirty="0"/>
          </a:p>
        </p:txBody>
      </p:sp>
      <p:sp>
        <p:nvSpPr>
          <p:cNvPr id="9" name="Text 7"/>
          <p:cNvSpPr txBox="1"/>
          <p:nvPr/>
        </p:nvSpPr>
        <p:spPr>
          <a:xfrm>
            <a:off x="502920" y="2304288"/>
            <a:ext cx="21945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決算短信</a:t>
            </a:r>
            <a:endParaRPr lang="en-US" sz="1500" dirty="0"/>
          </a:p>
        </p:txBody>
      </p:sp>
      <p:sp>
        <p:nvSpPr>
          <p:cNvPr id="10" name="Text 8"/>
          <p:cNvSpPr txBox="1"/>
          <p:nvPr/>
        </p:nvSpPr>
        <p:spPr>
          <a:xfrm>
            <a:off x="2788920" y="232257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取引所規則</a:t>
            </a:r>
            <a:endParaRPr lang="en-US" sz="1100" dirty="0"/>
          </a:p>
        </p:txBody>
      </p:sp>
      <p:sp>
        <p:nvSpPr>
          <p:cNvPr id="11" name="Text 9"/>
          <p:cNvSpPr txBox="1"/>
          <p:nvPr/>
        </p:nvSpPr>
        <p:spPr>
          <a:xfrm>
            <a:off x="4343400" y="2267712"/>
            <a:ext cx="7360920" cy="55778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決算発表時に投資家へ最速で開示する速報資料</a:t>
            </a:r>
            <a:endParaRPr lang="en-US" sz="1100" dirty="0"/>
          </a:p>
        </p:txBody>
      </p:sp>
      <p:sp>
        <p:nvSpPr>
          <p:cNvPr id="12" name="Shape 10"/>
          <p:cNvSpPr/>
          <p:nvPr/>
        </p:nvSpPr>
        <p:spPr>
          <a:xfrm>
            <a:off x="502920" y="2907792"/>
            <a:ext cx="11201400" cy="0"/>
          </a:xfrm>
          <a:prstGeom prst="line">
            <a:avLst/>
          </a:prstGeom>
          <a:noFill/>
          <a:ln w="12700">
            <a:solidFill>
              <a:srgbClr val="E6E6E6"/>
            </a:solidFill>
            <a:prstDash val="solid"/>
          </a:ln>
        </p:spPr>
      </p:sp>
      <p:sp>
        <p:nvSpPr>
          <p:cNvPr id="13" name="Text 11"/>
          <p:cNvSpPr txBox="1"/>
          <p:nvPr/>
        </p:nvSpPr>
        <p:spPr>
          <a:xfrm>
            <a:off x="502920" y="3017520"/>
            <a:ext cx="21945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有価証券報告書</a:t>
            </a:r>
            <a:endParaRPr lang="en-US" sz="1500" dirty="0"/>
          </a:p>
        </p:txBody>
      </p:sp>
      <p:sp>
        <p:nvSpPr>
          <p:cNvPr id="14" name="Text 12"/>
          <p:cNvSpPr txBox="1"/>
          <p:nvPr/>
        </p:nvSpPr>
        <p:spPr>
          <a:xfrm>
            <a:off x="2788920" y="3035808"/>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金商法</a:t>
            </a:r>
            <a:endParaRPr lang="en-US" sz="1100" dirty="0"/>
          </a:p>
        </p:txBody>
      </p:sp>
      <p:sp>
        <p:nvSpPr>
          <p:cNvPr id="15" name="Text 13"/>
          <p:cNvSpPr txBox="1"/>
          <p:nvPr/>
        </p:nvSpPr>
        <p:spPr>
          <a:xfrm>
            <a:off x="4343400" y="2980944"/>
            <a:ext cx="7360920" cy="55778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事業年度ごとの最も詳細で公的な開示書類（決算短信より遅い）</a:t>
            </a:r>
            <a:endParaRPr lang="en-US" sz="1100" dirty="0"/>
          </a:p>
        </p:txBody>
      </p:sp>
      <p:sp>
        <p:nvSpPr>
          <p:cNvPr id="16" name="Shape 14"/>
          <p:cNvSpPr/>
          <p:nvPr/>
        </p:nvSpPr>
        <p:spPr>
          <a:xfrm>
            <a:off x="502920" y="3621024"/>
            <a:ext cx="11201400" cy="0"/>
          </a:xfrm>
          <a:prstGeom prst="line">
            <a:avLst/>
          </a:prstGeom>
          <a:noFill/>
          <a:ln w="12700">
            <a:solidFill>
              <a:srgbClr val="E6E6E6"/>
            </a:solidFill>
            <a:prstDash val="solid"/>
          </a:ln>
        </p:spPr>
      </p:sp>
      <p:sp>
        <p:nvSpPr>
          <p:cNvPr id="17" name="Text 15"/>
          <p:cNvSpPr txBox="1"/>
          <p:nvPr/>
        </p:nvSpPr>
        <p:spPr>
          <a:xfrm>
            <a:off x="502920" y="3730752"/>
            <a:ext cx="21945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半期報告書</a:t>
            </a:r>
            <a:endParaRPr lang="en-US" sz="1500" dirty="0"/>
          </a:p>
        </p:txBody>
      </p:sp>
      <p:sp>
        <p:nvSpPr>
          <p:cNvPr id="18" name="Text 16"/>
          <p:cNvSpPr txBox="1"/>
          <p:nvPr/>
        </p:nvSpPr>
        <p:spPr>
          <a:xfrm>
            <a:off x="2788920" y="3749040"/>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金商法</a:t>
            </a:r>
            <a:endParaRPr lang="en-US" sz="1100" dirty="0"/>
          </a:p>
        </p:txBody>
      </p:sp>
      <p:sp>
        <p:nvSpPr>
          <p:cNvPr id="19" name="Text 17"/>
          <p:cNvSpPr txBox="1"/>
          <p:nvPr/>
        </p:nvSpPr>
        <p:spPr>
          <a:xfrm>
            <a:off x="4343400" y="3694176"/>
            <a:ext cx="7360920" cy="55778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2024年4月以後、四半期報告書は廃止され第2四半期はこれに統合</a:t>
            </a:r>
            <a:endParaRPr lang="en-US" sz="1100" dirty="0"/>
          </a:p>
        </p:txBody>
      </p:sp>
      <p:sp>
        <p:nvSpPr>
          <p:cNvPr id="20" name="Shape 18"/>
          <p:cNvSpPr/>
          <p:nvPr/>
        </p:nvSpPr>
        <p:spPr>
          <a:xfrm>
            <a:off x="502920" y="4334256"/>
            <a:ext cx="11201400" cy="0"/>
          </a:xfrm>
          <a:prstGeom prst="line">
            <a:avLst/>
          </a:prstGeom>
          <a:noFill/>
          <a:ln w="12700">
            <a:solidFill>
              <a:srgbClr val="E6E6E6"/>
            </a:solidFill>
            <a:prstDash val="solid"/>
          </a:ln>
        </p:spPr>
      </p:sp>
      <p:sp>
        <p:nvSpPr>
          <p:cNvPr id="21" name="Text 19"/>
          <p:cNvSpPr txBox="1"/>
          <p:nvPr/>
        </p:nvSpPr>
        <p:spPr>
          <a:xfrm>
            <a:off x="502920" y="4443984"/>
            <a:ext cx="21945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計算書類</a:t>
            </a:r>
            <a:endParaRPr lang="en-US" sz="1500" dirty="0"/>
          </a:p>
        </p:txBody>
      </p:sp>
      <p:sp>
        <p:nvSpPr>
          <p:cNvPr id="22" name="Text 20"/>
          <p:cNvSpPr txBox="1"/>
          <p:nvPr/>
        </p:nvSpPr>
        <p:spPr>
          <a:xfrm>
            <a:off x="2788920" y="4462272"/>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会社法</a:t>
            </a:r>
            <a:endParaRPr lang="en-US" sz="1100" dirty="0"/>
          </a:p>
        </p:txBody>
      </p:sp>
      <p:sp>
        <p:nvSpPr>
          <p:cNvPr id="23" name="Text 21"/>
          <p:cNvSpPr txBox="1"/>
          <p:nvPr/>
        </p:nvSpPr>
        <p:spPr>
          <a:xfrm>
            <a:off x="4343400" y="4407408"/>
            <a:ext cx="7360920" cy="55778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株主総会に提出するB/S・P/L等（会社法上の開示義務）</a:t>
            </a:r>
            <a:endParaRPr lang="en-US" sz="1100" dirty="0"/>
          </a:p>
        </p:txBody>
      </p:sp>
      <p:sp>
        <p:nvSpPr>
          <p:cNvPr id="24" name="Text 22"/>
          <p:cNvSpPr txBox="1"/>
          <p:nvPr/>
        </p:nvSpPr>
        <p:spPr>
          <a:xfrm>
            <a:off x="502920" y="5120640"/>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上場企業A社の決算発表当日、投資家はまず最も速報性が高い「決算短信」を確認し、詳細なリスク情報・役員報酬等を知りたい場合は後日提出される「有価証券報告書」で確認する、という使い分けが一般的。</a:t>
            </a:r>
            <a:endParaRPr lang="en-US" sz="850" dirty="0"/>
          </a:p>
        </p:txBody>
      </p:sp>
      <p:sp>
        <p:nvSpPr>
          <p:cNvPr id="25" name="Shape 23"/>
          <p:cNvSpPr/>
          <p:nvPr/>
        </p:nvSpPr>
        <p:spPr>
          <a:xfrm>
            <a:off x="502920" y="5989320"/>
            <a:ext cx="11201400" cy="0"/>
          </a:xfrm>
          <a:prstGeom prst="line">
            <a:avLst/>
          </a:prstGeom>
          <a:noFill/>
          <a:ln w="9525">
            <a:solidFill>
              <a:srgbClr val="171717"/>
            </a:solidFill>
            <a:prstDash val="solid"/>
          </a:ln>
        </p:spPr>
      </p:sp>
      <p:sp>
        <p:nvSpPr>
          <p:cNvPr id="26" name="Shape 24"/>
          <p:cNvSpPr/>
          <p:nvPr/>
        </p:nvSpPr>
        <p:spPr>
          <a:xfrm>
            <a:off x="502920" y="6062472"/>
            <a:ext cx="329184" cy="329184"/>
          </a:xfrm>
          <a:prstGeom prst="ellipse">
            <a:avLst/>
          </a:prstGeom>
          <a:solidFill>
            <a:srgbClr val="FF3B1F"/>
          </a:solidFill>
          <a:ln/>
        </p:spPr>
      </p:sp>
      <p:sp>
        <p:nvSpPr>
          <p:cNvPr id="27" name="Text 25"/>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8" name="Text 26"/>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9" name="Shape 27"/>
          <p:cNvSpPr/>
          <p:nvPr/>
        </p:nvSpPr>
        <p:spPr>
          <a:xfrm>
            <a:off x="2331720" y="6062472"/>
            <a:ext cx="0" cy="329184"/>
          </a:xfrm>
          <a:prstGeom prst="line">
            <a:avLst/>
          </a:prstGeom>
          <a:noFill/>
          <a:ln w="12700">
            <a:solidFill>
              <a:srgbClr val="E6E6E6"/>
            </a:solidFill>
            <a:prstDash val="solid"/>
          </a:ln>
        </p:spPr>
      </p:sp>
      <p:sp>
        <p:nvSpPr>
          <p:cNvPr id="30" name="Text 28"/>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ひっかけ：「根拠法令」と「開示タイミング」の対応関係が問われやすい。2024年度の四半期報告書廃止という制度変更も要注意。</a:t>
            </a:r>
            <a:endParaRPr lang="en-US" sz="1000" dirty="0"/>
          </a:p>
        </p:txBody>
      </p:sp>
      <p:sp>
        <p:nvSpPr>
          <p:cNvPr id="31" name="Text 29"/>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2" name="Shape 30"/>
          <p:cNvSpPr/>
          <p:nvPr/>
        </p:nvSpPr>
        <p:spPr>
          <a:xfrm>
            <a:off x="2466594"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4" name="Shape 32"/>
          <p:cNvSpPr/>
          <p:nvPr/>
        </p:nvSpPr>
        <p:spPr>
          <a:xfrm>
            <a:off x="3431286"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6" name="Shape 34"/>
          <p:cNvSpPr/>
          <p:nvPr/>
        </p:nvSpPr>
        <p:spPr>
          <a:xfrm>
            <a:off x="4395978"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8" name="Shape 36"/>
          <p:cNvSpPr/>
          <p:nvPr/>
        </p:nvSpPr>
        <p:spPr>
          <a:xfrm>
            <a:off x="5360670"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0" name="Shape 38"/>
          <p:cNvSpPr/>
          <p:nvPr/>
        </p:nvSpPr>
        <p:spPr>
          <a:xfrm>
            <a:off x="6325362"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2" name="Shape 40"/>
          <p:cNvSpPr/>
          <p:nvPr/>
        </p:nvSpPr>
        <p:spPr>
          <a:xfrm>
            <a:off x="7290054"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4" name="Shape 42"/>
          <p:cNvSpPr/>
          <p:nvPr/>
        </p:nvSpPr>
        <p:spPr>
          <a:xfrm>
            <a:off x="8254746"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6" name="Shape 44"/>
          <p:cNvSpPr/>
          <p:nvPr/>
        </p:nvSpPr>
        <p:spPr>
          <a:xfrm>
            <a:off x="9219438"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8" name="Shape 46"/>
          <p:cNvSpPr/>
          <p:nvPr/>
        </p:nvSpPr>
        <p:spPr>
          <a:xfrm>
            <a:off x="10184130"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0" name="Shape 48"/>
          <p:cNvSpPr/>
          <p:nvPr/>
        </p:nvSpPr>
        <p:spPr>
          <a:xfrm>
            <a:off x="11148822"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B-9 ／ 税務会計の基礎</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会計上の利益と税務上の課税所得はズレる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益金・損金の申告調整と、そのズレのうち一時差異を調整する税効果会計。</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548640"/>
          </a:xfrm>
          <a:prstGeom prst="rect">
            <a:avLst/>
          </a:prstGeom>
          <a:noFill/>
          <a:ln/>
        </p:spPr>
        <p:txBody>
          <a:bodyPr wrap="square" lIns="0" tIns="0" rIns="0" bIns="0" rtlCol="0" anchor="ctr"/>
          <a:lstStyle/>
          <a:p>
            <a:pPr indent="0" marL="0">
              <a:lnSpc>
                <a:spcPct val="125000"/>
              </a:lnSpc>
              <a:buNone/>
            </a:pPr>
            <a:r>
              <a:rPr lang="en-US" sz="1100" b="1" dirty="0">
                <a:solidFill>
                  <a:srgbClr val="171717"/>
                </a:solidFill>
                <a:latin typeface="Yu Gothic" pitchFamily="34" charset="0"/>
                <a:ea typeface="Yu Gothic" pitchFamily="34" charset="-122"/>
                <a:cs typeface="Yu Gothic" pitchFamily="34" charset="-120"/>
              </a:rPr>
              <a:t>課税所得＝益金－損金。</a:t>
            </a:r>
            <a:pPr indent="0" marL="0">
              <a:lnSpc>
                <a:spcPct val="125000"/>
              </a:lnSpc>
              <a:buNone/>
            </a:pPr>
            <a:r>
              <a:rPr lang="en-US" sz="1100" dirty="0">
                <a:solidFill>
                  <a:srgbClr val="171717"/>
                </a:solidFill>
                <a:latin typeface="Yu Gothic" pitchFamily="34" charset="0"/>
                <a:ea typeface="Yu Gothic" pitchFamily="34" charset="-122"/>
                <a:cs typeface="Yu Gothic" pitchFamily="34" charset="-120"/>
              </a:rPr>
              <a:t>会計上の当期純利益を出発点に、会計と税法のズレを加減算する（申告調整）。将来解消するズレ（一時差異）は税効果会計で調整する。</a:t>
            </a:r>
            <a:endParaRPr lang="en-US" sz="1100" dirty="0"/>
          </a:p>
        </p:txBody>
      </p:sp>
      <p:sp>
        <p:nvSpPr>
          <p:cNvPr id="9" name="Text 7"/>
          <p:cNvSpPr txBox="1"/>
          <p:nvPr/>
        </p:nvSpPr>
        <p:spPr>
          <a:xfrm>
            <a:off x="502920" y="2313432"/>
            <a:ext cx="21031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将来減算一時差異</a:t>
            </a:r>
            <a:endParaRPr lang="en-US" sz="1150" dirty="0"/>
          </a:p>
        </p:txBody>
      </p:sp>
      <p:sp>
        <p:nvSpPr>
          <p:cNvPr id="10" name="Shape 8"/>
          <p:cNvSpPr/>
          <p:nvPr/>
        </p:nvSpPr>
        <p:spPr>
          <a:xfrm>
            <a:off x="2587752" y="2313432"/>
            <a:ext cx="0" cy="256032"/>
          </a:xfrm>
          <a:prstGeom prst="line">
            <a:avLst/>
          </a:prstGeom>
          <a:noFill/>
          <a:ln w="12700">
            <a:solidFill>
              <a:srgbClr val="E6E6E6"/>
            </a:solidFill>
            <a:prstDash val="solid"/>
          </a:ln>
        </p:spPr>
      </p:sp>
      <p:sp>
        <p:nvSpPr>
          <p:cNvPr id="11" name="Text 9"/>
          <p:cNvSpPr txBox="1"/>
          <p:nvPr/>
        </p:nvSpPr>
        <p:spPr>
          <a:xfrm>
            <a:off x="2743200" y="2313432"/>
            <a:ext cx="89611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将来、税金が減る効果 → 繰延税金資産を計上</a:t>
            </a:r>
            <a:endParaRPr lang="en-US" sz="1150" dirty="0"/>
          </a:p>
        </p:txBody>
      </p:sp>
      <p:sp>
        <p:nvSpPr>
          <p:cNvPr id="12" name="Text 10"/>
          <p:cNvSpPr txBox="1"/>
          <p:nvPr/>
        </p:nvSpPr>
        <p:spPr>
          <a:xfrm>
            <a:off x="502920" y="2679192"/>
            <a:ext cx="21031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将来加算一時差異</a:t>
            </a:r>
            <a:endParaRPr lang="en-US" sz="1150" dirty="0"/>
          </a:p>
        </p:txBody>
      </p:sp>
      <p:sp>
        <p:nvSpPr>
          <p:cNvPr id="13" name="Shape 11"/>
          <p:cNvSpPr/>
          <p:nvPr/>
        </p:nvSpPr>
        <p:spPr>
          <a:xfrm>
            <a:off x="2587752" y="2679192"/>
            <a:ext cx="0" cy="256032"/>
          </a:xfrm>
          <a:prstGeom prst="line">
            <a:avLst/>
          </a:prstGeom>
          <a:noFill/>
          <a:ln w="12700">
            <a:solidFill>
              <a:srgbClr val="E6E6E6"/>
            </a:solidFill>
            <a:prstDash val="solid"/>
          </a:ln>
        </p:spPr>
      </p:sp>
      <p:sp>
        <p:nvSpPr>
          <p:cNvPr id="14" name="Text 12"/>
          <p:cNvSpPr txBox="1"/>
          <p:nvPr/>
        </p:nvSpPr>
        <p:spPr>
          <a:xfrm>
            <a:off x="2743200" y="2679192"/>
            <a:ext cx="89611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将来、税金が増える効果 → 繰延税金負債を計上</a:t>
            </a:r>
            <a:endParaRPr lang="en-US" sz="1150" dirty="0"/>
          </a:p>
        </p:txBody>
      </p:sp>
      <p:sp>
        <p:nvSpPr>
          <p:cNvPr id="15" name="Text 13"/>
          <p:cNvSpPr txBox="1"/>
          <p:nvPr/>
        </p:nvSpPr>
        <p:spPr>
          <a:xfrm>
            <a:off x="502920" y="3136392"/>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実効税率30％。賞与引当金3,000千円（前期末）→繰延税金資産900千円。当期末3,300千円に増額→繰延税金資産990千円（増加額90千円）。</a:t>
            </a:r>
            <a:endParaRPr lang="en-US" sz="850" dirty="0"/>
          </a:p>
        </p:txBody>
      </p:sp>
      <p:sp>
        <p:nvSpPr>
          <p:cNvPr id="16" name="Shape 14"/>
          <p:cNvSpPr/>
          <p:nvPr/>
        </p:nvSpPr>
        <p:spPr>
          <a:xfrm>
            <a:off x="502920" y="3666744"/>
            <a:ext cx="11201400" cy="0"/>
          </a:xfrm>
          <a:prstGeom prst="line">
            <a:avLst/>
          </a:prstGeom>
          <a:noFill/>
          <a:ln w="12700">
            <a:solidFill>
              <a:srgbClr val="E6E6E6"/>
            </a:solidFill>
            <a:prstDash val="solid"/>
          </a:ln>
        </p:spPr>
      </p:sp>
      <p:sp>
        <p:nvSpPr>
          <p:cNvPr id="17" name="Text 15"/>
          <p:cNvSpPr txBox="1"/>
          <p:nvPr/>
        </p:nvSpPr>
        <p:spPr>
          <a:xfrm>
            <a:off x="502920" y="3739896"/>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「将来、税金の支払いが減る権利」だから資産、「将来、税金の支払いが増える義務」だから負債、とイメージで結びつける。交際費の損金不算入超過等の「永久差異」は税効果会計の対象外。</a:t>
            </a:r>
            <a:endParaRPr lang="en-US" sz="950" dirty="0"/>
          </a:p>
        </p:txBody>
      </p:sp>
      <p:sp>
        <p:nvSpPr>
          <p:cNvPr id="18" name="Shape 16"/>
          <p:cNvSpPr/>
          <p:nvPr/>
        </p:nvSpPr>
        <p:spPr>
          <a:xfrm>
            <a:off x="502920" y="5989320"/>
            <a:ext cx="11201400" cy="0"/>
          </a:xfrm>
          <a:prstGeom prst="line">
            <a:avLst/>
          </a:prstGeom>
          <a:noFill/>
          <a:ln w="9525">
            <a:solidFill>
              <a:srgbClr val="171717"/>
            </a:solidFill>
            <a:prstDash val="solid"/>
          </a:ln>
        </p:spPr>
      </p:sp>
      <p:sp>
        <p:nvSpPr>
          <p:cNvPr id="19" name="Shape 17"/>
          <p:cNvSpPr/>
          <p:nvPr/>
        </p:nvSpPr>
        <p:spPr>
          <a:xfrm>
            <a:off x="502920" y="6062472"/>
            <a:ext cx="329184" cy="329184"/>
          </a:xfrm>
          <a:prstGeom prst="ellipse">
            <a:avLst/>
          </a:prstGeom>
          <a:solidFill>
            <a:srgbClr val="FF3B1F"/>
          </a:solidFill>
          <a:ln/>
        </p:spPr>
      </p:sp>
      <p:sp>
        <p:nvSpPr>
          <p:cNvPr id="20" name="Text 1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1" name="Text 19"/>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2" name="Shape 20"/>
          <p:cNvSpPr/>
          <p:nvPr/>
        </p:nvSpPr>
        <p:spPr>
          <a:xfrm>
            <a:off x="2331720" y="6062472"/>
            <a:ext cx="0" cy="329184"/>
          </a:xfrm>
          <a:prstGeom prst="line">
            <a:avLst/>
          </a:prstGeom>
          <a:noFill/>
          <a:ln w="12700">
            <a:solidFill>
              <a:srgbClr val="E6E6E6"/>
            </a:solidFill>
            <a:prstDash val="solid"/>
          </a:ln>
        </p:spPr>
      </p:sp>
      <p:sp>
        <p:nvSpPr>
          <p:cNvPr id="23" name="Text 21"/>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関連：B-2 決算処理一巡（税効果会計も決算整理仕訳の一種）。</a:t>
            </a:r>
            <a:endParaRPr lang="en-US" sz="1000" dirty="0"/>
          </a:p>
        </p:txBody>
      </p:sp>
      <p:sp>
        <p:nvSpPr>
          <p:cNvPr id="24" name="Text 22"/>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5" name="Shape 23"/>
          <p:cNvSpPr/>
          <p:nvPr/>
        </p:nvSpPr>
        <p:spPr>
          <a:xfrm>
            <a:off x="2466594" y="6464808"/>
            <a:ext cx="146304" cy="146304"/>
          </a:xfrm>
          <a:prstGeom prst="ellipse">
            <a:avLst/>
          </a:prstGeom>
          <a:solidFill>
            <a:srgbClr val="FFFFFF"/>
          </a:solidFill>
          <a:ln w="12700">
            <a:solidFill>
              <a:srgbClr val="E6E6E6"/>
            </a:solidFill>
            <a:prstDash val="solid"/>
          </a:ln>
        </p:spPr>
      </p:sp>
      <p:sp>
        <p:nvSpPr>
          <p:cNvPr id="26" name="Text 24"/>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7" name="Shape 25"/>
          <p:cNvSpPr/>
          <p:nvPr/>
        </p:nvSpPr>
        <p:spPr>
          <a:xfrm>
            <a:off x="3431286"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9" name="Shape 27"/>
          <p:cNvSpPr/>
          <p:nvPr/>
        </p:nvSpPr>
        <p:spPr>
          <a:xfrm>
            <a:off x="4395978"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1" name="Shape 29"/>
          <p:cNvSpPr/>
          <p:nvPr/>
        </p:nvSpPr>
        <p:spPr>
          <a:xfrm>
            <a:off x="5360670"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3" name="Shape 31"/>
          <p:cNvSpPr/>
          <p:nvPr/>
        </p:nvSpPr>
        <p:spPr>
          <a:xfrm>
            <a:off x="6325362"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5" name="Shape 33"/>
          <p:cNvSpPr/>
          <p:nvPr/>
        </p:nvSpPr>
        <p:spPr>
          <a:xfrm>
            <a:off x="7290054"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7" name="Shape 35"/>
          <p:cNvSpPr/>
          <p:nvPr/>
        </p:nvSpPr>
        <p:spPr>
          <a:xfrm>
            <a:off x="8254746"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9" name="Shape 37"/>
          <p:cNvSpPr/>
          <p:nvPr/>
        </p:nvSpPr>
        <p:spPr>
          <a:xfrm>
            <a:off x="9219438"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1" name="Shape 39"/>
          <p:cNvSpPr/>
          <p:nvPr/>
        </p:nvSpPr>
        <p:spPr>
          <a:xfrm>
            <a:off x="10184130"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3" name="Shape 41"/>
          <p:cNvSpPr/>
          <p:nvPr/>
        </p:nvSpPr>
        <p:spPr>
          <a:xfrm>
            <a:off x="11148822"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第9問）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7772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税効果会計に関する記述として、最も適切なものはどれか。なお、法人税等の実効税率を30％として計算していることを前提とする。また、繰延税金資産の回収可能性は考慮しなくてよい。</a:t>
            </a:r>
            <a:endParaRPr lang="en-US" sz="1250" dirty="0"/>
          </a:p>
        </p:txBody>
      </p:sp>
      <p:sp>
        <p:nvSpPr>
          <p:cNvPr id="9" name="Text 7"/>
          <p:cNvSpPr txBox="1"/>
          <p:nvPr/>
        </p:nvSpPr>
        <p:spPr>
          <a:xfrm>
            <a:off x="731520" y="256032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期首に備品を購入し、減価償却方法を定額法とすると、取得原価10,000千円、残存価額1,000千円、会計上の耐用年数が5年、税務上の耐用年数が4年の場合、1年目の終わりには135千円の繰延税金負債が計上される。</a:t>
            </a:r>
            <a:endParaRPr lang="en-US" sz="1150" dirty="0"/>
          </a:p>
        </p:txBody>
      </p:sp>
      <p:sp>
        <p:nvSpPr>
          <p:cNvPr id="10" name="Text 8"/>
          <p:cNvSpPr txBox="1"/>
          <p:nvPr/>
        </p:nvSpPr>
        <p:spPr>
          <a:xfrm>
            <a:off x="731520" y="310896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期首に備品を購入し、減価償却方法を定額法とすると、取得原価10,000千円、残存価額1,000千円、会計上の耐用年数が5年、税務上の耐用年数が6年の場合、1年目の終わりには90千円の繰延税金負債が計上される。</a:t>
            </a:r>
            <a:endParaRPr lang="en-US" sz="1150" dirty="0"/>
          </a:p>
        </p:txBody>
      </p:sp>
      <p:sp>
        <p:nvSpPr>
          <p:cNvPr id="11" name="Text 9"/>
          <p:cNvSpPr txBox="1"/>
          <p:nvPr/>
        </p:nvSpPr>
        <p:spPr>
          <a:xfrm>
            <a:off x="731520" y="365760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前期に計上した賞与引当金3,000千円が全額損金不算入となり、繰延税金資産が900千円計上されていたとする。当期末に賞与引当金3,300千円を設定し、同額が損金不算入になった場合、繰延税金資産は90千円だけ増加することになる。</a:t>
            </a:r>
            <a:endParaRPr lang="en-US" sz="1150" dirty="0"/>
          </a:p>
        </p:txBody>
      </p:sp>
      <p:sp>
        <p:nvSpPr>
          <p:cNvPr id="12" name="Text 10"/>
          <p:cNvSpPr txBox="1"/>
          <p:nvPr/>
        </p:nvSpPr>
        <p:spPr>
          <a:xfrm>
            <a:off x="731520" y="420624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当期に積立金方式による圧縮記帳を行ったことにより将来減算一時差異が10,000千円生じた場合、当期末には3,000千円の繰延税金資産が計上される。</a:t>
            </a:r>
            <a:endParaRPr lang="en-US" sz="1150" dirty="0"/>
          </a:p>
        </p:txBody>
      </p:sp>
      <p:sp>
        <p:nvSpPr>
          <p:cNvPr id="13" name="Text 11"/>
          <p:cNvSpPr txBox="1"/>
          <p:nvPr/>
        </p:nvSpPr>
        <p:spPr>
          <a:xfrm>
            <a:off x="502920" y="489204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出典：past_exams/1st_stage/1ji2025/B1JI2025.pdf（令和7年度第1次試験）第9問</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第9問）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正解はウ。前期末900千円→当期末990千円で増加額90千円。</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期首に備品を購入し、減価償却方法を定額法とすると、取得原価10,000千円、残存価額1,000千円、会計上の耐用年数が5年、税務上の耐用年数が4年の場合、1年目の終わりには135千円の繰延税金負債が計上される。</a:t>
            </a:r>
            <a:endParaRPr lang="en-US" sz="1150" dirty="0"/>
          </a:p>
        </p:txBody>
      </p:sp>
      <p:sp>
        <p:nvSpPr>
          <p:cNvPr id="9" name="Text 7"/>
          <p:cNvSpPr txBox="1"/>
          <p:nvPr/>
        </p:nvSpPr>
        <p:spPr>
          <a:xfrm>
            <a:off x="731520" y="228600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期首に備品を購入し、減価償却方法を定額法とすると、取得原価10,000千円、残存価額1,000千円、会計上の耐用年数が5年、税務上の耐用年数が6年の場合、1年目の終わりには90千円の繰延税金負債が計上される。</a:t>
            </a:r>
            <a:endParaRPr lang="en-US" sz="1150" dirty="0"/>
          </a:p>
        </p:txBody>
      </p:sp>
      <p:sp>
        <p:nvSpPr>
          <p:cNvPr id="10" name="Shape 8"/>
          <p:cNvSpPr/>
          <p:nvPr/>
        </p:nvSpPr>
        <p:spPr>
          <a:xfrm>
            <a:off x="502920" y="2807208"/>
            <a:ext cx="11201400" cy="548640"/>
          </a:xfrm>
          <a:prstGeom prst="rect">
            <a:avLst/>
          </a:prstGeom>
          <a:solidFill>
            <a:srgbClr val="F4F4F4"/>
          </a:solidFill>
          <a:ln/>
        </p:spPr>
      </p:sp>
      <p:sp>
        <p:nvSpPr>
          <p:cNvPr id="11" name="Shape 9"/>
          <p:cNvSpPr/>
          <p:nvPr/>
        </p:nvSpPr>
        <p:spPr>
          <a:xfrm>
            <a:off x="502920" y="2807208"/>
            <a:ext cx="0" cy="548640"/>
          </a:xfrm>
          <a:prstGeom prst="line">
            <a:avLst/>
          </a:prstGeom>
          <a:noFill/>
          <a:ln w="38100">
            <a:solidFill>
              <a:srgbClr val="FF3B1F"/>
            </a:solidFill>
            <a:prstDash val="solid"/>
          </a:ln>
        </p:spPr>
      </p:sp>
      <p:sp>
        <p:nvSpPr>
          <p:cNvPr id="12" name="Text 10"/>
          <p:cNvSpPr txBox="1"/>
          <p:nvPr/>
        </p:nvSpPr>
        <p:spPr>
          <a:xfrm>
            <a:off x="731520" y="283464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前期に計上した賞与引当金3,000千円が全額損金不算入となり、繰延税金資産が900千円計上されていたとする。当期末に賞与引当金3,300千円を設定し、同額が損金不算入になった場合、繰延税金資産は90千円だけ増加することになる。</a:t>
            </a:r>
            <a:endParaRPr lang="en-US" sz="1150" dirty="0"/>
          </a:p>
        </p:txBody>
      </p:sp>
      <p:sp>
        <p:nvSpPr>
          <p:cNvPr id="13" name="Text 11"/>
          <p:cNvSpPr txBox="1"/>
          <p:nvPr/>
        </p:nvSpPr>
        <p:spPr>
          <a:xfrm>
            <a:off x="731520" y="338328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当期に積立金方式による圧縮記帳を行ったことにより将来減算一時差異が10,000千円生じた場合、当期末には3,000千円の繰延税金資産が計上される。</a:t>
            </a:r>
            <a:endParaRPr lang="en-US" sz="1150" dirty="0"/>
          </a:p>
        </p:txBody>
      </p:sp>
      <p:sp>
        <p:nvSpPr>
          <p:cNvPr id="14" name="Shape 12"/>
          <p:cNvSpPr/>
          <p:nvPr/>
        </p:nvSpPr>
        <p:spPr>
          <a:xfrm>
            <a:off x="502920" y="4005072"/>
            <a:ext cx="11201400" cy="0"/>
          </a:xfrm>
          <a:prstGeom prst="line">
            <a:avLst/>
          </a:prstGeom>
          <a:noFill/>
          <a:ln w="12700">
            <a:solidFill>
              <a:srgbClr val="171717"/>
            </a:solidFill>
            <a:prstDash val="solid"/>
          </a:ln>
        </p:spPr>
      </p:sp>
      <p:sp>
        <p:nvSpPr>
          <p:cNvPr id="15" name="Text 13"/>
          <p:cNvSpPr txBox="1"/>
          <p:nvPr/>
        </p:nvSpPr>
        <p:spPr>
          <a:xfrm>
            <a:off x="502920" y="4096512"/>
            <a:ext cx="11201400" cy="914400"/>
          </a:xfrm>
          <a:prstGeom prst="rect">
            <a:avLst/>
          </a:prstGeom>
          <a:noFill/>
          <a:ln/>
        </p:spPr>
        <p:txBody>
          <a:bodyPr wrap="square" lIns="0" tIns="0" rIns="0" bIns="0" rtlCol="0" anchor="ctr"/>
          <a:lstStyle/>
          <a:p>
            <a:pPr indent="0" marL="0">
              <a:lnSpc>
                <a:spcPct val="120000"/>
              </a:lnSpc>
              <a:buNone/>
            </a:pPr>
            <a:r>
              <a:rPr lang="en-US" sz="1050" b="1" dirty="0">
                <a:solidFill>
                  <a:srgbClr val="FF3B1F"/>
                </a:solidFill>
                <a:latin typeface="Yu Gothic" pitchFamily="34" charset="0"/>
                <a:ea typeface="Yu Gothic" pitchFamily="34" charset="-122"/>
                <a:cs typeface="Yu Gothic" pitchFamily="34" charset="-120"/>
              </a:rPr>
              <a:t>正解：ウ</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。前期末の繰延税金資産＝3,000千円×30％＝900千円。当期末＝3,300千円×30％＝990千円。増加額＝990－900＝</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90千円</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で記述と一致。エ：積立金方式の圧縮記帳は会計上の帳簿価額が税務上より高くなるため将来加算一時差異が生じ、計上されるのは繰延税金</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負債</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（3,000千円）。イ：会計上の減価償却費1,800千円、税務上1,500千円。会計上の方が多く償却するため将来減算一時差異（繰延税金</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資産</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）が生じ、「繰延税金負債」としている点が誤り。</a:t>
            </a:r>
            <a:endParaRPr lang="en-US" sz="1050" dirty="0"/>
          </a:p>
        </p:txBody>
      </p:sp>
      <p:sp>
        <p:nvSpPr>
          <p:cNvPr id="16" name="Text 14"/>
          <p:cNvSpPr txBox="1"/>
          <p:nvPr/>
        </p:nvSpPr>
        <p:spPr>
          <a:xfrm>
            <a:off x="502920" y="5084064"/>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税効果会計は「会計上の資産・負債」と「税務上の資産・負債」の差異（一時差異）に着目する。将来減算一時差異→繰延税金資産、将来加算一時差異→繰延税金負債、という対応をまず固定してから各選択肢の数値を検算する。</a:t>
            </a:r>
            <a:endParaRPr lang="en-US" sz="850" dirty="0"/>
          </a:p>
        </p:txBody>
      </p:sp>
      <p:sp>
        <p:nvSpPr>
          <p:cNvPr id="17" name="Text 15"/>
          <p:cNvSpPr txBox="1"/>
          <p:nvPr/>
        </p:nvSpPr>
        <p:spPr>
          <a:xfrm>
            <a:off x="502920" y="5797296"/>
            <a:ext cx="11201400" cy="365760"/>
          </a:xfrm>
          <a:prstGeom prst="rect">
            <a:avLst/>
          </a:prstGeom>
          <a:noFill/>
          <a:ln/>
        </p:spPr>
        <p:txBody>
          <a:bodyPr wrap="square" lIns="0" tIns="0" rIns="0" bIns="0" rtlCol="0" anchor="ctr"/>
          <a:lstStyle/>
          <a:p>
            <a:pPr indent="0" marL="0">
              <a:lnSpc>
                <a:spcPct val="120000"/>
              </a:lnSpc>
              <a:buNone/>
            </a:pPr>
            <a:r>
              <a:rPr lang="en-US" sz="1000" dirty="0">
                <a:solidFill>
                  <a:srgbClr val="8A8A8A"/>
                </a:solidFill>
                <a:latin typeface="Yu Gothic" pitchFamily="34" charset="0"/>
                <a:ea typeface="Yu Gothic" pitchFamily="34" charset="-122"/>
                <a:cs typeface="Yu Gothic" pitchFamily="34" charset="-120"/>
              </a:rPr>
              <a:t>関連知識：アは数値としては会計上の計算と整合するが、他の選択肢との比較で最も明確に正しいのはウ。「向き」（資産か負債か）で先に消去できる選択肢を削るのが速い。</a:t>
            </a:r>
            <a:endParaRPr lang="en-US" sz="1000" dirty="0"/>
          </a:p>
        </p:txBody>
      </p:sp>
      <p:sp>
        <p:nvSpPr>
          <p:cNvPr id="18" name="Text 16"/>
          <p:cNvSpPr txBox="1"/>
          <p:nvPr/>
        </p:nvSpPr>
        <p:spPr>
          <a:xfrm>
            <a:off x="502920" y="623620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出典：past_exams/1st_stage/1ji2025/B1JI2025.pdf（令和7年度第1次試験）第9問／正解：past_exams/1st_stage_answers/r07/2025b.pdf</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B-10 ／ 原価計算：原価概念・原価計算の種類と方法</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原価の3要素と3つの分類軸</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材料費・労務費・経費の3要素。生産形態・算定タイミング・固定費の扱いで方法が分かれる。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原価計算は1つの方法に決まっているわけではなく、「何を作るか」「いつ計算するか」「固定費を含めるか」という3つの独立した軸を組み合わせて選ぶ。</a:t>
            </a:r>
            <a:endParaRPr lang="en-US" sz="1050" dirty="0"/>
          </a:p>
        </p:txBody>
      </p:sp>
      <p:sp>
        <p:nvSpPr>
          <p:cNvPr id="9" name="Text 7"/>
          <p:cNvSpPr txBox="1"/>
          <p:nvPr/>
        </p:nvSpPr>
        <p:spPr>
          <a:xfrm>
            <a:off x="502920" y="230428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個別 vs 総合</a:t>
            </a:r>
            <a:endParaRPr lang="en-US" sz="1500" dirty="0"/>
          </a:p>
        </p:txBody>
      </p:sp>
      <p:sp>
        <p:nvSpPr>
          <p:cNvPr id="10" name="Text 8"/>
          <p:cNvSpPr txBox="1"/>
          <p:nvPr/>
        </p:nvSpPr>
        <p:spPr>
          <a:xfrm>
            <a:off x="2697480" y="2267712"/>
            <a:ext cx="9006840" cy="7589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受注生産（造船・建設）は個別原価計算、大量見込生産（食品等）は総合原価計算</a:t>
            </a:r>
            <a:endParaRPr lang="en-US" sz="1100" dirty="0"/>
          </a:p>
        </p:txBody>
      </p:sp>
      <p:sp>
        <p:nvSpPr>
          <p:cNvPr id="11" name="Shape 9"/>
          <p:cNvSpPr/>
          <p:nvPr/>
        </p:nvSpPr>
        <p:spPr>
          <a:xfrm>
            <a:off x="502920" y="3108960"/>
            <a:ext cx="11201400" cy="0"/>
          </a:xfrm>
          <a:prstGeom prst="line">
            <a:avLst/>
          </a:prstGeom>
          <a:noFill/>
          <a:ln w="12700">
            <a:solidFill>
              <a:srgbClr val="E6E6E6"/>
            </a:solidFill>
            <a:prstDash val="solid"/>
          </a:ln>
        </p:spPr>
      </p:sp>
      <p:sp>
        <p:nvSpPr>
          <p:cNvPr id="12" name="Text 10"/>
          <p:cNvSpPr txBox="1"/>
          <p:nvPr/>
        </p:nvSpPr>
        <p:spPr>
          <a:xfrm>
            <a:off x="502920" y="321868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実際 vs 標準</a:t>
            </a:r>
            <a:endParaRPr lang="en-US" sz="1500" dirty="0"/>
          </a:p>
        </p:txBody>
      </p:sp>
      <p:sp>
        <p:nvSpPr>
          <p:cNvPr id="13" name="Text 11"/>
          <p:cNvSpPr txBox="1"/>
          <p:nvPr/>
        </p:nvSpPr>
        <p:spPr>
          <a:xfrm>
            <a:off x="2697480" y="3182112"/>
            <a:ext cx="9006840" cy="7589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実際にかかったコストを事後集計するのが実際原価計算、あらかじめ標準原価を決め差異分析するのが標準原価計算</a:t>
            </a:r>
            <a:endParaRPr lang="en-US" sz="1100" dirty="0"/>
          </a:p>
        </p:txBody>
      </p:sp>
      <p:sp>
        <p:nvSpPr>
          <p:cNvPr id="14" name="Shape 12"/>
          <p:cNvSpPr/>
          <p:nvPr/>
        </p:nvSpPr>
        <p:spPr>
          <a:xfrm>
            <a:off x="502920" y="4023360"/>
            <a:ext cx="11201400" cy="0"/>
          </a:xfrm>
          <a:prstGeom prst="line">
            <a:avLst/>
          </a:prstGeom>
          <a:noFill/>
          <a:ln w="12700">
            <a:solidFill>
              <a:srgbClr val="E6E6E6"/>
            </a:solidFill>
            <a:prstDash val="solid"/>
          </a:ln>
        </p:spPr>
      </p:sp>
      <p:sp>
        <p:nvSpPr>
          <p:cNvPr id="15" name="Text 13"/>
          <p:cNvSpPr txBox="1"/>
          <p:nvPr/>
        </p:nvSpPr>
        <p:spPr>
          <a:xfrm>
            <a:off x="502920" y="413308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全部 vs 直接</a:t>
            </a:r>
            <a:endParaRPr lang="en-US" sz="1500" dirty="0"/>
          </a:p>
        </p:txBody>
      </p:sp>
      <p:sp>
        <p:nvSpPr>
          <p:cNvPr id="16" name="Text 14"/>
          <p:cNvSpPr txBox="1"/>
          <p:nvPr/>
        </p:nvSpPr>
        <p:spPr>
          <a:xfrm>
            <a:off x="2697480" y="4096512"/>
            <a:ext cx="9006840" cy="7589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固定費を製品原価に含めるのが全部原価計算（制度会計）、含めないのが直接原価計算（社内判断・CVP分析用）</a:t>
            </a:r>
            <a:endParaRPr lang="en-US" sz="1100" dirty="0"/>
          </a:p>
        </p:txBody>
      </p:sp>
      <p:sp>
        <p:nvSpPr>
          <p:cNvPr id="17" name="Text 15"/>
          <p:cNvSpPr txBox="1"/>
          <p:nvPr/>
        </p:nvSpPr>
        <p:spPr>
          <a:xfrm>
            <a:off x="502920" y="5029200"/>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製造業A社が材料費200万円・労務費150万円・経費50万円をかけ10,000個生産→原価合計400万円、1個あたり400円。定番品は総合原価計算、少量受注の特注品は個別原価計算というように製品ごとに使い分ける。</a:t>
            </a:r>
            <a:endParaRPr lang="en-US" sz="850" dirty="0"/>
          </a:p>
        </p:txBody>
      </p:sp>
      <p:sp>
        <p:nvSpPr>
          <p:cNvPr id="18" name="Shape 16"/>
          <p:cNvSpPr/>
          <p:nvPr/>
        </p:nvSpPr>
        <p:spPr>
          <a:xfrm>
            <a:off x="502920" y="5989320"/>
            <a:ext cx="11201400" cy="0"/>
          </a:xfrm>
          <a:prstGeom prst="line">
            <a:avLst/>
          </a:prstGeom>
          <a:noFill/>
          <a:ln w="9525">
            <a:solidFill>
              <a:srgbClr val="171717"/>
            </a:solidFill>
            <a:prstDash val="solid"/>
          </a:ln>
        </p:spPr>
      </p:sp>
      <p:sp>
        <p:nvSpPr>
          <p:cNvPr id="19" name="Shape 17"/>
          <p:cNvSpPr/>
          <p:nvPr/>
        </p:nvSpPr>
        <p:spPr>
          <a:xfrm>
            <a:off x="502920" y="6062472"/>
            <a:ext cx="329184" cy="329184"/>
          </a:xfrm>
          <a:prstGeom prst="ellipse">
            <a:avLst/>
          </a:prstGeom>
          <a:solidFill>
            <a:srgbClr val="FF3B1F"/>
          </a:solidFill>
          <a:ln/>
        </p:spPr>
      </p:sp>
      <p:sp>
        <p:nvSpPr>
          <p:cNvPr id="20" name="Text 1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1" name="Text 19"/>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2" name="Shape 20"/>
          <p:cNvSpPr/>
          <p:nvPr/>
        </p:nvSpPr>
        <p:spPr>
          <a:xfrm>
            <a:off x="2331720" y="6062472"/>
            <a:ext cx="0" cy="329184"/>
          </a:xfrm>
          <a:prstGeom prst="line">
            <a:avLst/>
          </a:prstGeom>
          <a:noFill/>
          <a:ln w="12700">
            <a:solidFill>
              <a:srgbClr val="E6E6E6"/>
            </a:solidFill>
            <a:prstDash val="solid"/>
          </a:ln>
        </p:spPr>
      </p:sp>
      <p:sp>
        <p:nvSpPr>
          <p:cNvPr id="23" name="Text 21"/>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ひっかけ：全部＝固定費を含める、直接＝含めない、の一点に集約される違い。財務諸表作成には全部原価計算のみが認められる。</a:t>
            </a:r>
            <a:endParaRPr lang="en-US" sz="1000" dirty="0"/>
          </a:p>
        </p:txBody>
      </p:sp>
      <p:sp>
        <p:nvSpPr>
          <p:cNvPr id="24" name="Text 22"/>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5" name="Shape 23"/>
          <p:cNvSpPr/>
          <p:nvPr/>
        </p:nvSpPr>
        <p:spPr>
          <a:xfrm>
            <a:off x="2466594"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7" name="Shape 25"/>
          <p:cNvSpPr/>
          <p:nvPr/>
        </p:nvSpPr>
        <p:spPr>
          <a:xfrm>
            <a:off x="3431286"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9" name="Shape 27"/>
          <p:cNvSpPr/>
          <p:nvPr/>
        </p:nvSpPr>
        <p:spPr>
          <a:xfrm>
            <a:off x="4395978"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1" name="Shape 29"/>
          <p:cNvSpPr/>
          <p:nvPr/>
        </p:nvSpPr>
        <p:spPr>
          <a:xfrm>
            <a:off x="5360670"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3" name="Shape 31"/>
          <p:cNvSpPr/>
          <p:nvPr/>
        </p:nvSpPr>
        <p:spPr>
          <a:xfrm>
            <a:off x="6325362"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5" name="Shape 33"/>
          <p:cNvSpPr/>
          <p:nvPr/>
        </p:nvSpPr>
        <p:spPr>
          <a:xfrm>
            <a:off x="7290054"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7" name="Shape 35"/>
          <p:cNvSpPr/>
          <p:nvPr/>
        </p:nvSpPr>
        <p:spPr>
          <a:xfrm>
            <a:off x="8254746"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9" name="Shape 37"/>
          <p:cNvSpPr/>
          <p:nvPr/>
        </p:nvSpPr>
        <p:spPr>
          <a:xfrm>
            <a:off x="9219438"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1" name="Shape 39"/>
          <p:cNvSpPr/>
          <p:nvPr/>
        </p:nvSpPr>
        <p:spPr>
          <a:xfrm>
            <a:off x="10184130"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3" name="Shape 41"/>
          <p:cNvSpPr/>
          <p:nvPr/>
        </p:nvSpPr>
        <p:spPr>
          <a:xfrm>
            <a:off x="11148822"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B-11 ／ 原価計算：原価情報の利用</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意思決定に使うべきコストだけに注目する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差額原価収益分析：選択肢によって変化するコスト・収益だけに注目する考え方。</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365760"/>
          </a:xfrm>
          <a:prstGeom prst="rect">
            <a:avLst/>
          </a:prstGeom>
          <a:noFill/>
          <a:ln/>
        </p:spPr>
        <p:txBody>
          <a:bodyPr wrap="square" lIns="0" tIns="0" rIns="0" bIns="0" rtlCol="0" anchor="ctr"/>
          <a:lstStyle/>
          <a:p>
            <a:pPr indent="0" marL="0">
              <a:lnSpc>
                <a:spcPct val="125000"/>
              </a:lnSpc>
              <a:buNone/>
            </a:pPr>
            <a:r>
              <a:rPr lang="en-US" sz="1150" b="1" dirty="0">
                <a:solidFill>
                  <a:srgbClr val="171717"/>
                </a:solidFill>
                <a:latin typeface="Yu Gothic" pitchFamily="34" charset="0"/>
                <a:ea typeface="Yu Gothic" pitchFamily="34" charset="-122"/>
                <a:cs typeface="Yu Gothic" pitchFamily="34" charset="-120"/>
              </a:rPr>
              <a:t>差額原価収益分析：</a:t>
            </a:r>
            <a:pPr indent="0" marL="0">
              <a:lnSpc>
                <a:spcPct val="125000"/>
              </a:lnSpc>
              <a:buNone/>
            </a:pPr>
            <a:r>
              <a:rPr lang="en-US" sz="1150" dirty="0">
                <a:solidFill>
                  <a:srgbClr val="171717"/>
                </a:solidFill>
                <a:latin typeface="Yu Gothic" pitchFamily="34" charset="0"/>
                <a:ea typeface="Yu Gothic" pitchFamily="34" charset="-122"/>
                <a:cs typeface="Yu Gothic" pitchFamily="34" charset="-120"/>
              </a:rPr>
              <a:t>複数の選択肢を比較する際、選択肢によって変わる（差が出る）コスト・収益だけに注目して判断する。</a:t>
            </a:r>
            <a:endParaRPr lang="en-US" sz="1150" dirty="0"/>
          </a:p>
        </p:txBody>
      </p:sp>
      <p:sp>
        <p:nvSpPr>
          <p:cNvPr id="9" name="Text 7"/>
          <p:cNvSpPr txBox="1"/>
          <p:nvPr/>
        </p:nvSpPr>
        <p:spPr>
          <a:xfrm>
            <a:off x="502920" y="2130552"/>
            <a:ext cx="155448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埋没原価</a:t>
            </a:r>
            <a:endParaRPr lang="en-US" sz="1150" dirty="0"/>
          </a:p>
        </p:txBody>
      </p:sp>
      <p:sp>
        <p:nvSpPr>
          <p:cNvPr id="10" name="Shape 8"/>
          <p:cNvSpPr/>
          <p:nvPr/>
        </p:nvSpPr>
        <p:spPr>
          <a:xfrm>
            <a:off x="2039112" y="2130552"/>
            <a:ext cx="0" cy="256032"/>
          </a:xfrm>
          <a:prstGeom prst="line">
            <a:avLst/>
          </a:prstGeom>
          <a:noFill/>
          <a:ln w="12700">
            <a:solidFill>
              <a:srgbClr val="E6E6E6"/>
            </a:solidFill>
            <a:prstDash val="solid"/>
          </a:ln>
        </p:spPr>
      </p:sp>
      <p:sp>
        <p:nvSpPr>
          <p:cNvPr id="11" name="Text 9"/>
          <p:cNvSpPr txBox="1"/>
          <p:nvPr/>
        </p:nvSpPr>
        <p:spPr>
          <a:xfrm>
            <a:off x="2194560" y="2130552"/>
            <a:ext cx="95097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既に支払い回収不可能な過去の支出。意思決定に影響させてはいけない</a:t>
            </a:r>
            <a:endParaRPr lang="en-US" sz="1150" dirty="0"/>
          </a:p>
        </p:txBody>
      </p:sp>
      <p:sp>
        <p:nvSpPr>
          <p:cNvPr id="12" name="Text 10"/>
          <p:cNvSpPr txBox="1"/>
          <p:nvPr/>
        </p:nvSpPr>
        <p:spPr>
          <a:xfrm>
            <a:off x="502920" y="2496312"/>
            <a:ext cx="155448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機会原価</a:t>
            </a:r>
            <a:endParaRPr lang="en-US" sz="1150" dirty="0"/>
          </a:p>
        </p:txBody>
      </p:sp>
      <p:sp>
        <p:nvSpPr>
          <p:cNvPr id="13" name="Shape 11"/>
          <p:cNvSpPr/>
          <p:nvPr/>
        </p:nvSpPr>
        <p:spPr>
          <a:xfrm>
            <a:off x="2039112" y="2496312"/>
            <a:ext cx="0" cy="256032"/>
          </a:xfrm>
          <a:prstGeom prst="line">
            <a:avLst/>
          </a:prstGeom>
          <a:noFill/>
          <a:ln w="12700">
            <a:solidFill>
              <a:srgbClr val="E6E6E6"/>
            </a:solidFill>
            <a:prstDash val="solid"/>
          </a:ln>
        </p:spPr>
      </p:sp>
      <p:sp>
        <p:nvSpPr>
          <p:cNvPr id="14" name="Text 12"/>
          <p:cNvSpPr txBox="1"/>
          <p:nvPr/>
        </p:nvSpPr>
        <p:spPr>
          <a:xfrm>
            <a:off x="2194560" y="2496312"/>
            <a:ext cx="95097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ある選択肢を選んだことで失った、他の選択肢を選んでいたら得られた利益</a:t>
            </a:r>
            <a:endParaRPr lang="en-US" sz="1150" dirty="0"/>
          </a:p>
        </p:txBody>
      </p:sp>
      <p:sp>
        <p:nvSpPr>
          <p:cNvPr id="15" name="Text 13"/>
          <p:cNvSpPr txBox="1"/>
          <p:nvPr/>
        </p:nvSpPr>
        <p:spPr>
          <a:xfrm>
            <a:off x="502920" y="2953512"/>
            <a:ext cx="11201400" cy="713232"/>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特別注文（1,000個、1個300円）を、追加変動費250円・遊休設備利用で受注できるなら、固定費（埋没原価に近い）は判断に関係なく、1個50円の追加の儲け（限界利益）が生まれ受注すべきと判断できる。</a:t>
            </a:r>
            <a:endParaRPr lang="en-US" sz="850" dirty="0"/>
          </a:p>
        </p:txBody>
      </p:sp>
      <p:sp>
        <p:nvSpPr>
          <p:cNvPr id="16" name="Shape 14"/>
          <p:cNvSpPr/>
          <p:nvPr/>
        </p:nvSpPr>
        <p:spPr>
          <a:xfrm>
            <a:off x="502920" y="3739896"/>
            <a:ext cx="11201400" cy="0"/>
          </a:xfrm>
          <a:prstGeom prst="line">
            <a:avLst/>
          </a:prstGeom>
          <a:noFill/>
          <a:ln w="12700">
            <a:solidFill>
              <a:srgbClr val="E6E6E6"/>
            </a:solidFill>
            <a:prstDash val="solid"/>
          </a:ln>
        </p:spPr>
      </p:sp>
      <p:sp>
        <p:nvSpPr>
          <p:cNvPr id="17" name="Text 15"/>
          <p:cNvSpPr txBox="1"/>
          <p:nvPr/>
        </p:nvSpPr>
        <p:spPr>
          <a:xfrm>
            <a:off x="502920" y="3813048"/>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既に支払った過去のコストを「もったいないから」と将来の判断に引きずる「サンクコストの誤謬」が典型的なひっかけ。</a:t>
            </a:r>
            <a:endParaRPr lang="en-US" sz="950" dirty="0"/>
          </a:p>
        </p:txBody>
      </p:sp>
      <p:sp>
        <p:nvSpPr>
          <p:cNvPr id="18" name="Shape 16"/>
          <p:cNvSpPr/>
          <p:nvPr/>
        </p:nvSpPr>
        <p:spPr>
          <a:xfrm>
            <a:off x="502920" y="5989320"/>
            <a:ext cx="11201400" cy="0"/>
          </a:xfrm>
          <a:prstGeom prst="line">
            <a:avLst/>
          </a:prstGeom>
          <a:noFill/>
          <a:ln w="9525">
            <a:solidFill>
              <a:srgbClr val="171717"/>
            </a:solidFill>
            <a:prstDash val="solid"/>
          </a:ln>
        </p:spPr>
      </p:sp>
      <p:sp>
        <p:nvSpPr>
          <p:cNvPr id="19" name="Shape 17"/>
          <p:cNvSpPr/>
          <p:nvPr/>
        </p:nvSpPr>
        <p:spPr>
          <a:xfrm>
            <a:off x="502920" y="6062472"/>
            <a:ext cx="329184" cy="329184"/>
          </a:xfrm>
          <a:prstGeom prst="ellipse">
            <a:avLst/>
          </a:prstGeom>
          <a:solidFill>
            <a:srgbClr val="FF3B1F"/>
          </a:solidFill>
          <a:ln/>
        </p:spPr>
      </p:sp>
      <p:sp>
        <p:nvSpPr>
          <p:cNvPr id="20" name="Text 1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1" name="Text 19"/>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2" name="Shape 20"/>
          <p:cNvSpPr/>
          <p:nvPr/>
        </p:nvSpPr>
        <p:spPr>
          <a:xfrm>
            <a:off x="2331720" y="6062472"/>
            <a:ext cx="0" cy="329184"/>
          </a:xfrm>
          <a:prstGeom prst="line">
            <a:avLst/>
          </a:prstGeom>
          <a:noFill/>
          <a:ln w="12700">
            <a:solidFill>
              <a:srgbClr val="E6E6E6"/>
            </a:solidFill>
            <a:prstDash val="solid"/>
          </a:ln>
        </p:spPr>
      </p:sp>
      <p:sp>
        <p:nvSpPr>
          <p:cNvPr id="23" name="Text 21"/>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関連：B-16 利益計画（プロダクト・ミックス）でも同じ「差額で考える」発想を使う。</a:t>
            </a:r>
            <a:endParaRPr lang="en-US" sz="1000" dirty="0"/>
          </a:p>
        </p:txBody>
      </p:sp>
      <p:sp>
        <p:nvSpPr>
          <p:cNvPr id="24" name="Text 22"/>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5" name="Shape 23"/>
          <p:cNvSpPr/>
          <p:nvPr/>
        </p:nvSpPr>
        <p:spPr>
          <a:xfrm>
            <a:off x="2466594"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7" name="Shape 25"/>
          <p:cNvSpPr/>
          <p:nvPr/>
        </p:nvSpPr>
        <p:spPr>
          <a:xfrm>
            <a:off x="3431286"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9" name="Shape 27"/>
          <p:cNvSpPr/>
          <p:nvPr/>
        </p:nvSpPr>
        <p:spPr>
          <a:xfrm>
            <a:off x="4395978"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1" name="Shape 29"/>
          <p:cNvSpPr/>
          <p:nvPr/>
        </p:nvSpPr>
        <p:spPr>
          <a:xfrm>
            <a:off x="5360670"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3" name="Shape 31"/>
          <p:cNvSpPr/>
          <p:nvPr/>
        </p:nvSpPr>
        <p:spPr>
          <a:xfrm>
            <a:off x="6325362"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5" name="Shape 33"/>
          <p:cNvSpPr/>
          <p:nvPr/>
        </p:nvSpPr>
        <p:spPr>
          <a:xfrm>
            <a:off x="7290054"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7" name="Shape 35"/>
          <p:cNvSpPr/>
          <p:nvPr/>
        </p:nvSpPr>
        <p:spPr>
          <a:xfrm>
            <a:off x="8254746"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9" name="Shape 37"/>
          <p:cNvSpPr/>
          <p:nvPr/>
        </p:nvSpPr>
        <p:spPr>
          <a:xfrm>
            <a:off x="9219438"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1" name="Shape 39"/>
          <p:cNvSpPr/>
          <p:nvPr/>
        </p:nvSpPr>
        <p:spPr>
          <a:xfrm>
            <a:off x="10184130"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3" name="Shape 41"/>
          <p:cNvSpPr/>
          <p:nvPr/>
        </p:nvSpPr>
        <p:spPr>
          <a:xfrm>
            <a:off x="11148822"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02</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02</a:t>
            </a:r>
            <a:pPr indent="0" marL="0">
              <a:buNone/>
            </a:pPr>
            <a:r>
              <a:rPr lang="en-US" sz="1300" dirty="0">
                <a:solidFill>
                  <a:srgbClr val="A2A2A2"/>
                </a:solidFill>
                <a:latin typeface="Consolas" pitchFamily="34" charset="0"/>
                <a:ea typeface="Consolas" pitchFamily="34" charset="-122"/>
                <a:cs typeface="Consolas" pitchFamily="34" charset="-120"/>
              </a:rPr>
              <a:t>   財務・会計 ／ B-12〜B-19</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経営分析／利益と資金の管理</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B/S・P/Lの数値から会社の実力（儲ける力・安全性・生産性）を読み解く経営分析と、利益を計画的に生み出し資金繰りを管理する分野。「儲け」と「手元の現金」は別物、という視点が核心。</a:t>
            </a:r>
            <a:endParaRPr lang="en-US" sz="1400" dirty="0"/>
          </a:p>
        </p:txBody>
      </p:sp>
      <p:sp>
        <p:nvSpPr>
          <p:cNvPr id="6" name="Shape 4"/>
          <p:cNvSpPr/>
          <p:nvPr/>
        </p:nvSpPr>
        <p:spPr>
          <a:xfrm>
            <a:off x="640080" y="4800600"/>
            <a:ext cx="1801368" cy="384048"/>
          </a:xfrm>
          <a:prstGeom prst="rect">
            <a:avLst/>
          </a:prstGeom>
          <a:ln w="9525">
            <a:solidFill>
              <a:srgbClr val="7F7F7F"/>
            </a:solidFill>
            <a:prstDash val="solid"/>
          </a:ln>
        </p:spPr>
      </p:sp>
      <p:sp>
        <p:nvSpPr>
          <p:cNvPr id="7" name="Text 5"/>
          <p:cNvSpPr txBox="1"/>
          <p:nvPr/>
        </p:nvSpPr>
        <p:spPr>
          <a:xfrm>
            <a:off x="640080" y="4800600"/>
            <a:ext cx="180136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B-12 ROA・ROE</a:t>
            </a:r>
            <a:endParaRPr lang="en-US" sz="1000" dirty="0"/>
          </a:p>
        </p:txBody>
      </p:sp>
      <p:sp>
        <p:nvSpPr>
          <p:cNvPr id="8" name="Shape 6"/>
          <p:cNvSpPr/>
          <p:nvPr/>
        </p:nvSpPr>
        <p:spPr>
          <a:xfrm>
            <a:off x="2670048" y="4800600"/>
            <a:ext cx="1554480" cy="384048"/>
          </a:xfrm>
          <a:prstGeom prst="rect">
            <a:avLst/>
          </a:prstGeom>
          <a:ln w="9525">
            <a:solidFill>
              <a:srgbClr val="7F7F7F"/>
            </a:solidFill>
            <a:prstDash val="solid"/>
          </a:ln>
        </p:spPr>
      </p:sp>
      <p:sp>
        <p:nvSpPr>
          <p:cNvPr id="9" name="Text 7"/>
          <p:cNvSpPr txBox="1"/>
          <p:nvPr/>
        </p:nvSpPr>
        <p:spPr>
          <a:xfrm>
            <a:off x="2670048" y="4800600"/>
            <a:ext cx="1554480"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B-15 CVP分析</a:t>
            </a:r>
            <a:endParaRPr lang="en-US" sz="1000" dirty="0"/>
          </a:p>
        </p:txBody>
      </p:sp>
      <p:sp>
        <p:nvSpPr>
          <p:cNvPr id="10" name="Shape 8"/>
          <p:cNvSpPr/>
          <p:nvPr/>
        </p:nvSpPr>
        <p:spPr>
          <a:xfrm>
            <a:off x="4453128" y="4800600"/>
            <a:ext cx="1307592" cy="384048"/>
          </a:xfrm>
          <a:prstGeom prst="rect">
            <a:avLst/>
          </a:prstGeom>
          <a:ln w="9525">
            <a:solidFill>
              <a:srgbClr val="7F7F7F"/>
            </a:solidFill>
            <a:prstDash val="solid"/>
          </a:ln>
        </p:spPr>
      </p:sp>
      <p:sp>
        <p:nvSpPr>
          <p:cNvPr id="11" name="Text 9"/>
          <p:cNvSpPr txBox="1"/>
          <p:nvPr/>
        </p:nvSpPr>
        <p:spPr>
          <a:xfrm>
            <a:off x="4453128" y="4800600"/>
            <a:ext cx="1307592"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B-19 FCF</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B-12 ／ 経営分析：収益性分析</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ROEは3つの要素に分解できる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会社がどれだけ効率よく儲けているかを見る分析。デュポン分解でROEの中身を切り分ける。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「儲かっているか」を1つの指標だけで見るのではなく、分母の異なるROAとROEを使い分け、さらにROEをデュポン分解で3要素に切り分けることで、どこで稼いでいるかを読み解く。</a:t>
            </a:r>
            <a:endParaRPr lang="en-US" sz="1100" dirty="0"/>
          </a:p>
        </p:txBody>
      </p:sp>
      <p:sp>
        <p:nvSpPr>
          <p:cNvPr id="9" name="Text 7"/>
          <p:cNvSpPr txBox="1"/>
          <p:nvPr/>
        </p:nvSpPr>
        <p:spPr>
          <a:xfrm>
            <a:off x="502920" y="2176272"/>
            <a:ext cx="182880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ROA</a:t>
            </a:r>
            <a:endParaRPr lang="en-US" sz="1150" dirty="0"/>
          </a:p>
        </p:txBody>
      </p:sp>
      <p:sp>
        <p:nvSpPr>
          <p:cNvPr id="10" name="Shape 8"/>
          <p:cNvSpPr/>
          <p:nvPr/>
        </p:nvSpPr>
        <p:spPr>
          <a:xfrm>
            <a:off x="2313432" y="2176272"/>
            <a:ext cx="0" cy="256032"/>
          </a:xfrm>
          <a:prstGeom prst="line">
            <a:avLst/>
          </a:prstGeom>
          <a:noFill/>
          <a:ln w="12700">
            <a:solidFill>
              <a:srgbClr val="E6E6E6"/>
            </a:solidFill>
            <a:prstDash val="solid"/>
          </a:ln>
        </p:spPr>
      </p:sp>
      <p:sp>
        <p:nvSpPr>
          <p:cNvPr id="11" name="Text 9"/>
          <p:cNvSpPr txBox="1"/>
          <p:nvPr/>
        </p:nvSpPr>
        <p:spPr>
          <a:xfrm>
            <a:off x="2468880" y="2176272"/>
            <a:ext cx="923544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当期純利益 ÷ 総資産 × 100（総資産全体でどれだけ効率よく利益を生んだか）</a:t>
            </a:r>
            <a:endParaRPr lang="en-US" sz="1150" dirty="0"/>
          </a:p>
        </p:txBody>
      </p:sp>
      <p:sp>
        <p:nvSpPr>
          <p:cNvPr id="12" name="Text 10"/>
          <p:cNvSpPr txBox="1"/>
          <p:nvPr/>
        </p:nvSpPr>
        <p:spPr>
          <a:xfrm>
            <a:off x="502920" y="2560320"/>
            <a:ext cx="182880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ROE</a:t>
            </a:r>
            <a:endParaRPr lang="en-US" sz="1150" dirty="0"/>
          </a:p>
        </p:txBody>
      </p:sp>
      <p:sp>
        <p:nvSpPr>
          <p:cNvPr id="13" name="Shape 11"/>
          <p:cNvSpPr/>
          <p:nvPr/>
        </p:nvSpPr>
        <p:spPr>
          <a:xfrm>
            <a:off x="2313432" y="2560320"/>
            <a:ext cx="0" cy="256032"/>
          </a:xfrm>
          <a:prstGeom prst="line">
            <a:avLst/>
          </a:prstGeom>
          <a:noFill/>
          <a:ln w="12700">
            <a:solidFill>
              <a:srgbClr val="E6E6E6"/>
            </a:solidFill>
            <a:prstDash val="solid"/>
          </a:ln>
        </p:spPr>
      </p:sp>
      <p:sp>
        <p:nvSpPr>
          <p:cNvPr id="14" name="Text 12"/>
          <p:cNvSpPr txBox="1"/>
          <p:nvPr/>
        </p:nvSpPr>
        <p:spPr>
          <a:xfrm>
            <a:off x="2468880" y="2560320"/>
            <a:ext cx="923544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当期純利益 ÷ 自己資本 × 100（株主のお金でどれだけ効率よく利益を生んだか）</a:t>
            </a:r>
            <a:endParaRPr lang="en-US" sz="1150" dirty="0"/>
          </a:p>
        </p:txBody>
      </p:sp>
      <p:sp>
        <p:nvSpPr>
          <p:cNvPr id="15" name="Text 13"/>
          <p:cNvSpPr txBox="1"/>
          <p:nvPr/>
        </p:nvSpPr>
        <p:spPr>
          <a:xfrm>
            <a:off x="502920" y="2944368"/>
            <a:ext cx="182880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デュポン分解</a:t>
            </a:r>
            <a:endParaRPr lang="en-US" sz="1150" dirty="0"/>
          </a:p>
        </p:txBody>
      </p:sp>
      <p:sp>
        <p:nvSpPr>
          <p:cNvPr id="16" name="Shape 14"/>
          <p:cNvSpPr/>
          <p:nvPr/>
        </p:nvSpPr>
        <p:spPr>
          <a:xfrm>
            <a:off x="2313432" y="2944368"/>
            <a:ext cx="0" cy="256032"/>
          </a:xfrm>
          <a:prstGeom prst="line">
            <a:avLst/>
          </a:prstGeom>
          <a:noFill/>
          <a:ln w="12700">
            <a:solidFill>
              <a:srgbClr val="E6E6E6"/>
            </a:solidFill>
            <a:prstDash val="solid"/>
          </a:ln>
        </p:spPr>
      </p:sp>
      <p:sp>
        <p:nvSpPr>
          <p:cNvPr id="17" name="Text 15"/>
          <p:cNvSpPr txBox="1"/>
          <p:nvPr/>
        </p:nvSpPr>
        <p:spPr>
          <a:xfrm>
            <a:off x="2468880" y="2944368"/>
            <a:ext cx="923544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ROE ＝ 売上高純利益率 × 総資産回転率 × 財務レバレッジ</a:t>
            </a:r>
            <a:endParaRPr lang="en-US" sz="1150" dirty="0"/>
          </a:p>
        </p:txBody>
      </p:sp>
      <p:sp>
        <p:nvSpPr>
          <p:cNvPr id="18" name="Text 16"/>
          <p:cNvSpPr txBox="1"/>
          <p:nvPr/>
        </p:nvSpPr>
        <p:spPr>
          <a:xfrm>
            <a:off x="502920" y="3419856"/>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売上高1億円・当期純利益500万円・総資産5,000万円・自己資本2,500万円→ROA＝10％、ROE＝20％。総資産回転率2回転×財務レバレッジ2倍×純利益率5％＝20％で検算一致。</a:t>
            </a:r>
            <a:endParaRPr lang="en-US" sz="850" dirty="0"/>
          </a:p>
        </p:txBody>
      </p:sp>
      <p:sp>
        <p:nvSpPr>
          <p:cNvPr id="19" name="Shape 17"/>
          <p:cNvSpPr/>
          <p:nvPr/>
        </p:nvSpPr>
        <p:spPr>
          <a:xfrm>
            <a:off x="502920" y="3995928"/>
            <a:ext cx="11201400" cy="0"/>
          </a:xfrm>
          <a:prstGeom prst="line">
            <a:avLst/>
          </a:prstGeom>
          <a:noFill/>
          <a:ln w="12700">
            <a:solidFill>
              <a:srgbClr val="E6E6E6"/>
            </a:solidFill>
            <a:prstDash val="solid"/>
          </a:ln>
        </p:spPr>
      </p:sp>
      <p:sp>
        <p:nvSpPr>
          <p:cNvPr id="20" name="Text 18"/>
          <p:cNvSpPr txBox="1"/>
          <p:nvPr/>
        </p:nvSpPr>
        <p:spPr>
          <a:xfrm>
            <a:off x="502920" y="406908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負債を多く使う（財務レバレッジが高い）会社ほど、ROEはROAより大きく上振れしやすい。ROAの分子は当期純利益／経常利益のどちらか、問題文の指示に従うこと。</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関連：B-13 安全性分析、B-23 最適資本構成（財務レバレッジは共通概念）。</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B-13 ／ 経営分析：安全性分析</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倒産せずに返済できる体力を測る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短期・長期それぞれの支払い能力を見る代表指標。分母・分子の組み合わせを正確に。</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安全性分析は短期（流動比率・当座比率）と長期（自己資本比率・固定長期適合率）それぞれの視点から、倒産せず返済を続けられる財務体力を複数の指標で多面的にチェックする。</a:t>
            </a:r>
            <a:endParaRPr lang="en-US" sz="1050" dirty="0"/>
          </a:p>
        </p:txBody>
      </p:sp>
      <p:sp>
        <p:nvSpPr>
          <p:cNvPr id="9" name="Text 7"/>
          <p:cNvSpPr txBox="1"/>
          <p:nvPr/>
        </p:nvSpPr>
        <p:spPr>
          <a:xfrm>
            <a:off x="502920" y="2304288"/>
            <a:ext cx="19202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流動比率</a:t>
            </a:r>
            <a:endParaRPr lang="en-US" sz="1500" dirty="0"/>
          </a:p>
        </p:txBody>
      </p:sp>
      <p:sp>
        <p:nvSpPr>
          <p:cNvPr id="10" name="Text 8"/>
          <p:cNvSpPr txBox="1"/>
          <p:nvPr/>
        </p:nvSpPr>
        <p:spPr>
          <a:xfrm>
            <a:off x="2514600" y="2322576"/>
            <a:ext cx="28346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流動資産÷流動負債</a:t>
            </a:r>
            <a:endParaRPr lang="en-US" sz="1100" dirty="0"/>
          </a:p>
        </p:txBody>
      </p:sp>
      <p:sp>
        <p:nvSpPr>
          <p:cNvPr id="11" name="Text 9"/>
          <p:cNvSpPr txBox="1"/>
          <p:nvPr/>
        </p:nvSpPr>
        <p:spPr>
          <a:xfrm>
            <a:off x="5440680" y="2267712"/>
            <a:ext cx="6263640" cy="55778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短期の支払い能力。200％以上が望ましいとされる</a:t>
            </a:r>
            <a:endParaRPr lang="en-US" sz="1100" dirty="0"/>
          </a:p>
        </p:txBody>
      </p:sp>
      <p:sp>
        <p:nvSpPr>
          <p:cNvPr id="12" name="Shape 10"/>
          <p:cNvSpPr/>
          <p:nvPr/>
        </p:nvSpPr>
        <p:spPr>
          <a:xfrm>
            <a:off x="502920" y="2907792"/>
            <a:ext cx="11201400" cy="0"/>
          </a:xfrm>
          <a:prstGeom prst="line">
            <a:avLst/>
          </a:prstGeom>
          <a:noFill/>
          <a:ln w="12700">
            <a:solidFill>
              <a:srgbClr val="E6E6E6"/>
            </a:solidFill>
            <a:prstDash val="solid"/>
          </a:ln>
        </p:spPr>
      </p:sp>
      <p:sp>
        <p:nvSpPr>
          <p:cNvPr id="13" name="Text 11"/>
          <p:cNvSpPr txBox="1"/>
          <p:nvPr/>
        </p:nvSpPr>
        <p:spPr>
          <a:xfrm>
            <a:off x="502920" y="3017520"/>
            <a:ext cx="19202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当座比率</a:t>
            </a:r>
            <a:endParaRPr lang="en-US" sz="1500" dirty="0"/>
          </a:p>
        </p:txBody>
      </p:sp>
      <p:sp>
        <p:nvSpPr>
          <p:cNvPr id="14" name="Text 12"/>
          <p:cNvSpPr txBox="1"/>
          <p:nvPr/>
        </p:nvSpPr>
        <p:spPr>
          <a:xfrm>
            <a:off x="2514600" y="3035808"/>
            <a:ext cx="28346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当座資産÷流動負債</a:t>
            </a:r>
            <a:endParaRPr lang="en-US" sz="1100" dirty="0"/>
          </a:p>
        </p:txBody>
      </p:sp>
      <p:sp>
        <p:nvSpPr>
          <p:cNvPr id="15" name="Text 13"/>
          <p:cNvSpPr txBox="1"/>
          <p:nvPr/>
        </p:nvSpPr>
        <p:spPr>
          <a:xfrm>
            <a:off x="5440680" y="2980944"/>
            <a:ext cx="6263640" cy="55778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棚卸資産を除いた厳しめの短期支払い能力</a:t>
            </a:r>
            <a:endParaRPr lang="en-US" sz="1100" dirty="0"/>
          </a:p>
        </p:txBody>
      </p:sp>
      <p:sp>
        <p:nvSpPr>
          <p:cNvPr id="16" name="Shape 14"/>
          <p:cNvSpPr/>
          <p:nvPr/>
        </p:nvSpPr>
        <p:spPr>
          <a:xfrm>
            <a:off x="502920" y="3621024"/>
            <a:ext cx="11201400" cy="0"/>
          </a:xfrm>
          <a:prstGeom prst="line">
            <a:avLst/>
          </a:prstGeom>
          <a:noFill/>
          <a:ln w="12700">
            <a:solidFill>
              <a:srgbClr val="E6E6E6"/>
            </a:solidFill>
            <a:prstDash val="solid"/>
          </a:ln>
        </p:spPr>
      </p:sp>
      <p:sp>
        <p:nvSpPr>
          <p:cNvPr id="17" name="Text 15"/>
          <p:cNvSpPr txBox="1"/>
          <p:nvPr/>
        </p:nvSpPr>
        <p:spPr>
          <a:xfrm>
            <a:off x="502920" y="3730752"/>
            <a:ext cx="19202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自己資本比率</a:t>
            </a:r>
            <a:endParaRPr lang="en-US" sz="1500" dirty="0"/>
          </a:p>
        </p:txBody>
      </p:sp>
      <p:sp>
        <p:nvSpPr>
          <p:cNvPr id="18" name="Text 16"/>
          <p:cNvSpPr txBox="1"/>
          <p:nvPr/>
        </p:nvSpPr>
        <p:spPr>
          <a:xfrm>
            <a:off x="2514600" y="3749040"/>
            <a:ext cx="28346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自己資本÷総資産</a:t>
            </a:r>
            <a:endParaRPr lang="en-US" sz="1100" dirty="0"/>
          </a:p>
        </p:txBody>
      </p:sp>
      <p:sp>
        <p:nvSpPr>
          <p:cNvPr id="19" name="Text 17"/>
          <p:cNvSpPr txBox="1"/>
          <p:nvPr/>
        </p:nvSpPr>
        <p:spPr>
          <a:xfrm>
            <a:off x="5440680" y="3694176"/>
            <a:ext cx="6263640" cy="55778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高いほど財務的に安定</a:t>
            </a:r>
            <a:endParaRPr lang="en-US" sz="1100" dirty="0"/>
          </a:p>
        </p:txBody>
      </p:sp>
      <p:sp>
        <p:nvSpPr>
          <p:cNvPr id="20" name="Shape 18"/>
          <p:cNvSpPr/>
          <p:nvPr/>
        </p:nvSpPr>
        <p:spPr>
          <a:xfrm>
            <a:off x="502920" y="4334256"/>
            <a:ext cx="11201400" cy="0"/>
          </a:xfrm>
          <a:prstGeom prst="line">
            <a:avLst/>
          </a:prstGeom>
          <a:noFill/>
          <a:ln w="12700">
            <a:solidFill>
              <a:srgbClr val="E6E6E6"/>
            </a:solidFill>
            <a:prstDash val="solid"/>
          </a:ln>
        </p:spPr>
      </p:sp>
      <p:sp>
        <p:nvSpPr>
          <p:cNvPr id="21" name="Text 19"/>
          <p:cNvSpPr txBox="1"/>
          <p:nvPr/>
        </p:nvSpPr>
        <p:spPr>
          <a:xfrm>
            <a:off x="502920" y="4443984"/>
            <a:ext cx="19202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固定長期適合率</a:t>
            </a:r>
            <a:endParaRPr lang="en-US" sz="1500" dirty="0"/>
          </a:p>
        </p:txBody>
      </p:sp>
      <p:sp>
        <p:nvSpPr>
          <p:cNvPr id="22" name="Text 20"/>
          <p:cNvSpPr txBox="1"/>
          <p:nvPr/>
        </p:nvSpPr>
        <p:spPr>
          <a:xfrm>
            <a:off x="2514600" y="4462272"/>
            <a:ext cx="28346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固定資産÷(自己資本+固定負債)</a:t>
            </a:r>
            <a:endParaRPr lang="en-US" sz="1100" dirty="0"/>
          </a:p>
        </p:txBody>
      </p:sp>
      <p:sp>
        <p:nvSpPr>
          <p:cNvPr id="23" name="Text 21"/>
          <p:cNvSpPr txBox="1"/>
          <p:nvPr/>
        </p:nvSpPr>
        <p:spPr>
          <a:xfrm>
            <a:off x="5440680" y="4407408"/>
            <a:ext cx="6263640" cy="557784"/>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100％超は短期資金で固定資産を賄う危険な状態</a:t>
            </a:r>
            <a:endParaRPr lang="en-US" sz="1100" dirty="0"/>
          </a:p>
        </p:txBody>
      </p:sp>
      <p:sp>
        <p:nvSpPr>
          <p:cNvPr id="24" name="Text 22"/>
          <p:cNvSpPr txBox="1"/>
          <p:nvPr/>
        </p:nvSpPr>
        <p:spPr>
          <a:xfrm>
            <a:off x="502920" y="5212080"/>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小売業A社（流動資産1,300万・流動負債500万・固定資産2,000万・固定負債1,000万・純資産1,800万・総資産3,300万）→流動比率260％、自己資本比率約54.5％、固定長期適合率約71.4％（100％以下で安全な状態）。</a:t>
            </a:r>
            <a:endParaRPr lang="en-US" sz="850" dirty="0"/>
          </a:p>
        </p:txBody>
      </p:sp>
      <p:sp>
        <p:nvSpPr>
          <p:cNvPr id="25" name="Shape 23"/>
          <p:cNvSpPr/>
          <p:nvPr/>
        </p:nvSpPr>
        <p:spPr>
          <a:xfrm>
            <a:off x="502920" y="5989320"/>
            <a:ext cx="11201400" cy="0"/>
          </a:xfrm>
          <a:prstGeom prst="line">
            <a:avLst/>
          </a:prstGeom>
          <a:noFill/>
          <a:ln w="9525">
            <a:solidFill>
              <a:srgbClr val="171717"/>
            </a:solidFill>
            <a:prstDash val="solid"/>
          </a:ln>
        </p:spPr>
      </p:sp>
      <p:sp>
        <p:nvSpPr>
          <p:cNvPr id="26" name="Shape 24"/>
          <p:cNvSpPr/>
          <p:nvPr/>
        </p:nvSpPr>
        <p:spPr>
          <a:xfrm>
            <a:off x="502920" y="6062472"/>
            <a:ext cx="329184" cy="329184"/>
          </a:xfrm>
          <a:prstGeom prst="ellipse">
            <a:avLst/>
          </a:prstGeom>
          <a:solidFill>
            <a:srgbClr val="FF3B1F"/>
          </a:solidFill>
          <a:ln/>
        </p:spPr>
      </p:sp>
      <p:sp>
        <p:nvSpPr>
          <p:cNvPr id="27" name="Text 25"/>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8" name="Text 26"/>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9" name="Shape 27"/>
          <p:cNvSpPr/>
          <p:nvPr/>
        </p:nvSpPr>
        <p:spPr>
          <a:xfrm>
            <a:off x="2331720" y="6062472"/>
            <a:ext cx="0" cy="329184"/>
          </a:xfrm>
          <a:prstGeom prst="line">
            <a:avLst/>
          </a:prstGeom>
          <a:noFill/>
          <a:ln w="12700">
            <a:solidFill>
              <a:srgbClr val="E6E6E6"/>
            </a:solidFill>
            <a:prstDash val="solid"/>
          </a:ln>
        </p:spPr>
      </p:sp>
      <p:sp>
        <p:nvSpPr>
          <p:cNvPr id="30" name="Text 28"/>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ひっかけ：固定比率が100％超でも固定長期適合率が100％以下なら直ちに危険ではない。</a:t>
            </a:r>
            <a:endParaRPr lang="en-US" sz="1000" dirty="0"/>
          </a:p>
        </p:txBody>
      </p:sp>
      <p:sp>
        <p:nvSpPr>
          <p:cNvPr id="31" name="Text 29"/>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2" name="Shape 30"/>
          <p:cNvSpPr/>
          <p:nvPr/>
        </p:nvSpPr>
        <p:spPr>
          <a:xfrm>
            <a:off x="2466594"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4" name="Shape 32"/>
          <p:cNvSpPr/>
          <p:nvPr/>
        </p:nvSpPr>
        <p:spPr>
          <a:xfrm>
            <a:off x="3431286"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6" name="Shape 34"/>
          <p:cNvSpPr/>
          <p:nvPr/>
        </p:nvSpPr>
        <p:spPr>
          <a:xfrm>
            <a:off x="4395978"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8" name="Shape 36"/>
          <p:cNvSpPr/>
          <p:nvPr/>
        </p:nvSpPr>
        <p:spPr>
          <a:xfrm>
            <a:off x="5360670"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0" name="Shape 38"/>
          <p:cNvSpPr/>
          <p:nvPr/>
        </p:nvSpPr>
        <p:spPr>
          <a:xfrm>
            <a:off x="6325362"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2" name="Shape 40"/>
          <p:cNvSpPr/>
          <p:nvPr/>
        </p:nvSpPr>
        <p:spPr>
          <a:xfrm>
            <a:off x="7290054"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4" name="Shape 42"/>
          <p:cNvSpPr/>
          <p:nvPr/>
        </p:nvSpPr>
        <p:spPr>
          <a:xfrm>
            <a:off x="8254746"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6" name="Shape 44"/>
          <p:cNvSpPr/>
          <p:nvPr/>
        </p:nvSpPr>
        <p:spPr>
          <a:xfrm>
            <a:off x="9219438"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8" name="Shape 46"/>
          <p:cNvSpPr/>
          <p:nvPr/>
        </p:nvSpPr>
        <p:spPr>
          <a:xfrm>
            <a:off x="10184130"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0" name="Shape 48"/>
          <p:cNvSpPr/>
          <p:nvPr/>
        </p:nvSpPr>
        <p:spPr>
          <a:xfrm>
            <a:off x="11148822" y="6464808"/>
            <a:ext cx="146304" cy="146304"/>
          </a:xfrm>
          <a:prstGeom prst="ellipse">
            <a:avLst/>
          </a:prstGeom>
          <a:solidFill>
            <a:srgbClr val="FFFFFF"/>
          </a:solidFill>
          <a:ln w="12700">
            <a:solidFill>
              <a:srgbClr val="E6E6E6"/>
            </a:solidFill>
            <a:prstDash val="solid"/>
          </a:ln>
        </p:spPr>
      </p:sp>
      <p:sp>
        <p:nvSpPr>
          <p:cNvPr id="51" name="Text 49"/>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B-14 ／ 経営分析：生産性・成長性分析</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1人あたりどれだけ付加価値を生んだか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限られた経営資源から生み出した付加価値を測る労働生産性と、規模の伸びを測る成長性分析。</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労働生産性は限られた人員でどれだけ付加価値を生み出せたかを測る指標で、控除法・加算法という2通りの計算方法があり、成長性分析（売上高増加率）と合わせて会社の伸びしろを評価する。</a:t>
            </a:r>
            <a:endParaRPr lang="en-US" sz="1100" dirty="0"/>
          </a:p>
        </p:txBody>
      </p:sp>
      <p:sp>
        <p:nvSpPr>
          <p:cNvPr id="9" name="Text 7"/>
          <p:cNvSpPr txBox="1"/>
          <p:nvPr/>
        </p:nvSpPr>
        <p:spPr>
          <a:xfrm>
            <a:off x="502920" y="2221992"/>
            <a:ext cx="1828800" cy="34747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労働生産性</a:t>
            </a:r>
            <a:endParaRPr lang="en-US" sz="1100" dirty="0"/>
          </a:p>
        </p:txBody>
      </p:sp>
      <p:sp>
        <p:nvSpPr>
          <p:cNvPr id="10" name="Shape 8"/>
          <p:cNvSpPr/>
          <p:nvPr/>
        </p:nvSpPr>
        <p:spPr>
          <a:xfrm>
            <a:off x="2313432" y="2221992"/>
            <a:ext cx="0" cy="256032"/>
          </a:xfrm>
          <a:prstGeom prst="line">
            <a:avLst/>
          </a:prstGeom>
          <a:noFill/>
          <a:ln w="12700">
            <a:solidFill>
              <a:srgbClr val="E6E6E6"/>
            </a:solidFill>
            <a:prstDash val="solid"/>
          </a:ln>
        </p:spPr>
      </p:sp>
      <p:sp>
        <p:nvSpPr>
          <p:cNvPr id="11" name="Text 9"/>
          <p:cNvSpPr txBox="1"/>
          <p:nvPr/>
        </p:nvSpPr>
        <p:spPr>
          <a:xfrm>
            <a:off x="2468880" y="2221992"/>
            <a:ext cx="9235440" cy="34747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付加価値額 ÷ 従業員数</a:t>
            </a:r>
            <a:endParaRPr lang="en-US" sz="1100" dirty="0"/>
          </a:p>
        </p:txBody>
      </p:sp>
      <p:sp>
        <p:nvSpPr>
          <p:cNvPr id="12" name="Text 10"/>
          <p:cNvSpPr txBox="1"/>
          <p:nvPr/>
        </p:nvSpPr>
        <p:spPr>
          <a:xfrm>
            <a:off x="502920" y="2587752"/>
            <a:ext cx="1828800" cy="34747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控除法</a:t>
            </a:r>
            <a:endParaRPr lang="en-US" sz="1100" dirty="0"/>
          </a:p>
        </p:txBody>
      </p:sp>
      <p:sp>
        <p:nvSpPr>
          <p:cNvPr id="13" name="Shape 11"/>
          <p:cNvSpPr/>
          <p:nvPr/>
        </p:nvSpPr>
        <p:spPr>
          <a:xfrm>
            <a:off x="2313432" y="2587752"/>
            <a:ext cx="0" cy="256032"/>
          </a:xfrm>
          <a:prstGeom prst="line">
            <a:avLst/>
          </a:prstGeom>
          <a:noFill/>
          <a:ln w="12700">
            <a:solidFill>
              <a:srgbClr val="E6E6E6"/>
            </a:solidFill>
            <a:prstDash val="solid"/>
          </a:ln>
        </p:spPr>
      </p:sp>
      <p:sp>
        <p:nvSpPr>
          <p:cNvPr id="14" name="Text 12"/>
          <p:cNvSpPr txBox="1"/>
          <p:nvPr/>
        </p:nvSpPr>
        <p:spPr>
          <a:xfrm>
            <a:off x="2468880" y="2587752"/>
            <a:ext cx="9235440" cy="34747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付加価値＝売上高－外部購入価値（材料費・外注費）</a:t>
            </a:r>
            <a:endParaRPr lang="en-US" sz="1100" dirty="0"/>
          </a:p>
        </p:txBody>
      </p:sp>
      <p:sp>
        <p:nvSpPr>
          <p:cNvPr id="15" name="Text 13"/>
          <p:cNvSpPr txBox="1"/>
          <p:nvPr/>
        </p:nvSpPr>
        <p:spPr>
          <a:xfrm>
            <a:off x="502920" y="2953512"/>
            <a:ext cx="1828800" cy="34747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加算法</a:t>
            </a:r>
            <a:endParaRPr lang="en-US" sz="1100" dirty="0"/>
          </a:p>
        </p:txBody>
      </p:sp>
      <p:sp>
        <p:nvSpPr>
          <p:cNvPr id="16" name="Shape 14"/>
          <p:cNvSpPr/>
          <p:nvPr/>
        </p:nvSpPr>
        <p:spPr>
          <a:xfrm>
            <a:off x="2313432" y="2953512"/>
            <a:ext cx="0" cy="256032"/>
          </a:xfrm>
          <a:prstGeom prst="line">
            <a:avLst/>
          </a:prstGeom>
          <a:noFill/>
          <a:ln w="12700">
            <a:solidFill>
              <a:srgbClr val="E6E6E6"/>
            </a:solidFill>
            <a:prstDash val="solid"/>
          </a:ln>
        </p:spPr>
      </p:sp>
      <p:sp>
        <p:nvSpPr>
          <p:cNvPr id="17" name="Text 15"/>
          <p:cNvSpPr txBox="1"/>
          <p:nvPr/>
        </p:nvSpPr>
        <p:spPr>
          <a:xfrm>
            <a:off x="2468880" y="2953512"/>
            <a:ext cx="9235440" cy="34747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付加価値＝経常利益＋人件費＋金融費用＋賃借料＋租税公課＋減価償却費</a:t>
            </a:r>
            <a:endParaRPr lang="en-US" sz="1100" dirty="0"/>
          </a:p>
        </p:txBody>
      </p:sp>
      <p:sp>
        <p:nvSpPr>
          <p:cNvPr id="18" name="Text 16"/>
          <p:cNvSpPr txBox="1"/>
          <p:nvPr/>
        </p:nvSpPr>
        <p:spPr>
          <a:xfrm>
            <a:off x="502920" y="3319272"/>
            <a:ext cx="1828800" cy="34747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売上高増加率</a:t>
            </a:r>
            <a:endParaRPr lang="en-US" sz="1100" dirty="0"/>
          </a:p>
        </p:txBody>
      </p:sp>
      <p:sp>
        <p:nvSpPr>
          <p:cNvPr id="19" name="Shape 17"/>
          <p:cNvSpPr/>
          <p:nvPr/>
        </p:nvSpPr>
        <p:spPr>
          <a:xfrm>
            <a:off x="2313432" y="3319272"/>
            <a:ext cx="0" cy="256032"/>
          </a:xfrm>
          <a:prstGeom prst="line">
            <a:avLst/>
          </a:prstGeom>
          <a:noFill/>
          <a:ln w="12700">
            <a:solidFill>
              <a:srgbClr val="E6E6E6"/>
            </a:solidFill>
            <a:prstDash val="solid"/>
          </a:ln>
        </p:spPr>
      </p:sp>
      <p:sp>
        <p:nvSpPr>
          <p:cNvPr id="20" name="Text 18"/>
          <p:cNvSpPr txBox="1"/>
          <p:nvPr/>
        </p:nvSpPr>
        <p:spPr>
          <a:xfrm>
            <a:off x="2468880" y="3319272"/>
            <a:ext cx="9235440" cy="34747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(当期売上高－前期売上高) ÷ 前期売上高 × 100</a:t>
            </a:r>
            <a:endParaRPr lang="en-US" sz="1100" dirty="0"/>
          </a:p>
        </p:txBody>
      </p:sp>
      <p:sp>
        <p:nvSpPr>
          <p:cNvPr id="21" name="Text 19"/>
          <p:cNvSpPr txBox="1"/>
          <p:nvPr/>
        </p:nvSpPr>
        <p:spPr>
          <a:xfrm>
            <a:off x="502920" y="3776472"/>
            <a:ext cx="11201400" cy="530352"/>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売上高3億円、外部購入価値1億8,000万円、従業員20人→控除法の付加価値＝1億2,000万円、労働生産性＝600万円／人。</a:t>
            </a:r>
            <a:endParaRPr lang="en-US" sz="850" dirty="0"/>
          </a:p>
        </p:txBody>
      </p:sp>
      <p:sp>
        <p:nvSpPr>
          <p:cNvPr id="22" name="Shape 20"/>
          <p:cNvSpPr/>
          <p:nvPr/>
        </p:nvSpPr>
        <p:spPr>
          <a:xfrm>
            <a:off x="502920" y="4379976"/>
            <a:ext cx="11201400" cy="0"/>
          </a:xfrm>
          <a:prstGeom prst="line">
            <a:avLst/>
          </a:prstGeom>
          <a:noFill/>
          <a:ln w="12700">
            <a:solidFill>
              <a:srgbClr val="E6E6E6"/>
            </a:solidFill>
            <a:prstDash val="solid"/>
          </a:ln>
        </p:spPr>
      </p:sp>
      <p:sp>
        <p:nvSpPr>
          <p:cNvPr id="23" name="Text 21"/>
          <p:cNvSpPr txBox="1"/>
          <p:nvPr/>
        </p:nvSpPr>
        <p:spPr>
          <a:xfrm>
            <a:off x="502920" y="4453128"/>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労働生産性が高い＝従業員の給料が高いとは限らない（利益として会社に残る場合もある）。</a:t>
            </a:r>
            <a:endParaRPr lang="en-US" sz="950" dirty="0"/>
          </a:p>
        </p:txBody>
      </p:sp>
      <p:sp>
        <p:nvSpPr>
          <p:cNvPr id="24" name="Shape 22"/>
          <p:cNvSpPr/>
          <p:nvPr/>
        </p:nvSpPr>
        <p:spPr>
          <a:xfrm>
            <a:off x="502920" y="5989320"/>
            <a:ext cx="11201400" cy="0"/>
          </a:xfrm>
          <a:prstGeom prst="line">
            <a:avLst/>
          </a:prstGeom>
          <a:noFill/>
          <a:ln w="9525">
            <a:solidFill>
              <a:srgbClr val="171717"/>
            </a:solidFill>
            <a:prstDash val="solid"/>
          </a:ln>
        </p:spPr>
      </p:sp>
      <p:sp>
        <p:nvSpPr>
          <p:cNvPr id="25" name="Shape 23"/>
          <p:cNvSpPr/>
          <p:nvPr/>
        </p:nvSpPr>
        <p:spPr>
          <a:xfrm>
            <a:off x="502920" y="6062472"/>
            <a:ext cx="329184" cy="329184"/>
          </a:xfrm>
          <a:prstGeom prst="ellipse">
            <a:avLst/>
          </a:prstGeom>
          <a:solidFill>
            <a:srgbClr val="FF3B1F"/>
          </a:solidFill>
          <a:ln/>
        </p:spPr>
      </p:sp>
      <p:sp>
        <p:nvSpPr>
          <p:cNvPr id="26" name="Text 24"/>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7" name="Text 25"/>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8" name="Shape 26"/>
          <p:cNvSpPr/>
          <p:nvPr/>
        </p:nvSpPr>
        <p:spPr>
          <a:xfrm>
            <a:off x="2331720" y="6062472"/>
            <a:ext cx="0" cy="329184"/>
          </a:xfrm>
          <a:prstGeom prst="line">
            <a:avLst/>
          </a:prstGeom>
          <a:noFill/>
          <a:ln w="12700">
            <a:solidFill>
              <a:srgbClr val="E6E6E6"/>
            </a:solidFill>
            <a:prstDash val="solid"/>
          </a:ln>
        </p:spPr>
      </p:sp>
      <p:sp>
        <p:nvSpPr>
          <p:cNvPr id="29" name="Text 27"/>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関連：B-12 収益性分析（同じ財務諸表から異なる切り口で会社を読み解く）。</a:t>
            </a:r>
            <a:endParaRPr lang="en-US" sz="1000" dirty="0"/>
          </a:p>
        </p:txBody>
      </p:sp>
      <p:sp>
        <p:nvSpPr>
          <p:cNvPr id="30" name="Text 28"/>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1" name="Shape 29"/>
          <p:cNvSpPr/>
          <p:nvPr/>
        </p:nvSpPr>
        <p:spPr>
          <a:xfrm>
            <a:off x="2466594"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3" name="Shape 31"/>
          <p:cNvSpPr/>
          <p:nvPr/>
        </p:nvSpPr>
        <p:spPr>
          <a:xfrm>
            <a:off x="3431286"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5" name="Shape 33"/>
          <p:cNvSpPr/>
          <p:nvPr/>
        </p:nvSpPr>
        <p:spPr>
          <a:xfrm>
            <a:off x="4395978"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7" name="Shape 35"/>
          <p:cNvSpPr/>
          <p:nvPr/>
        </p:nvSpPr>
        <p:spPr>
          <a:xfrm>
            <a:off x="5360670"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9" name="Shape 37"/>
          <p:cNvSpPr/>
          <p:nvPr/>
        </p:nvSpPr>
        <p:spPr>
          <a:xfrm>
            <a:off x="6325362"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1" name="Shape 39"/>
          <p:cNvSpPr/>
          <p:nvPr/>
        </p:nvSpPr>
        <p:spPr>
          <a:xfrm>
            <a:off x="7290054"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3" name="Shape 41"/>
          <p:cNvSpPr/>
          <p:nvPr/>
        </p:nvSpPr>
        <p:spPr>
          <a:xfrm>
            <a:off x="8254746"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5" name="Shape 43"/>
          <p:cNvSpPr/>
          <p:nvPr/>
        </p:nvSpPr>
        <p:spPr>
          <a:xfrm>
            <a:off x="9219438"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7" name="Shape 45"/>
          <p:cNvSpPr/>
          <p:nvPr/>
        </p:nvSpPr>
        <p:spPr>
          <a:xfrm>
            <a:off x="10184130" y="6464808"/>
            <a:ext cx="146304" cy="146304"/>
          </a:xfrm>
          <a:prstGeom prst="ellipse">
            <a:avLst/>
          </a:prstGeom>
          <a:solidFill>
            <a:srgbClr val="FFFFFF"/>
          </a:solidFill>
          <a:ln w="12700">
            <a:solidFill>
              <a:srgbClr val="E6E6E6"/>
            </a:solidFill>
            <a:prstDash val="solid"/>
          </a:ln>
        </p:spPr>
      </p:sp>
      <p:sp>
        <p:nvSpPr>
          <p:cNvPr id="48" name="Text 46"/>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9" name="Shape 47"/>
          <p:cNvSpPr/>
          <p:nvPr/>
        </p:nvSpPr>
        <p:spPr>
          <a:xfrm>
            <a:off x="11148822" y="6464808"/>
            <a:ext cx="146304" cy="146304"/>
          </a:xfrm>
          <a:prstGeom prst="ellipse">
            <a:avLst/>
          </a:prstGeom>
          <a:solidFill>
            <a:srgbClr val="FFFFFF"/>
          </a:solidFill>
          <a:ln w="12700">
            <a:solidFill>
              <a:srgbClr val="E6E6E6"/>
            </a:solidFill>
            <a:prstDash val="solid"/>
          </a:ln>
        </p:spPr>
      </p:sp>
      <p:sp>
        <p:nvSpPr>
          <p:cNvPr id="50" name="Text 48"/>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B-15 ／ 経営分析：CVP分析（損益分岐点分析）</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売上高がいくらで利益ゼロになるか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原価を変動費・固定費に分解し、損益分岐点売上高・安全余裕率・営業レバレッジを求める。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949440" cy="502920"/>
          </a:xfrm>
          <a:prstGeom prst="rect">
            <a:avLst/>
          </a:prstGeom>
          <a:noFill/>
          <a:ln/>
        </p:spPr>
        <p:txBody>
          <a:bodyPr wrap="square" lIns="0" tIns="0" rIns="0" bIns="0" rtlCol="0" anchor="ctr"/>
          <a:lstStyle/>
          <a:p>
            <a:pPr indent="0" marL="0">
              <a:lnSpc>
                <a:spcPct val="125000"/>
              </a:lnSpc>
              <a:buNone/>
            </a:pPr>
            <a:r>
              <a:rPr lang="en-US" sz="950" dirty="0">
                <a:solidFill>
                  <a:srgbClr val="8A8A8A"/>
                </a:solidFill>
                <a:latin typeface="Yu Gothic" pitchFamily="34" charset="0"/>
                <a:ea typeface="Yu Gothic" pitchFamily="34" charset="-122"/>
                <a:cs typeface="Yu Gothic" pitchFamily="34" charset="-120"/>
              </a:rPr>
              <a:t>売上高から変動費・固定費を差し引くと、損益分岐点・安全余裕率・営業レバレッジまで一連の指標を導ける。</a:t>
            </a:r>
            <a:endParaRPr lang="en-US" sz="950" dirty="0"/>
          </a:p>
        </p:txBody>
      </p:sp>
      <p:sp>
        <p:nvSpPr>
          <p:cNvPr id="9" name="Text 7"/>
          <p:cNvSpPr txBox="1"/>
          <p:nvPr/>
        </p:nvSpPr>
        <p:spPr>
          <a:xfrm>
            <a:off x="502920" y="2267712"/>
            <a:ext cx="192024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限界利益</a:t>
            </a:r>
            <a:endParaRPr lang="en-US" sz="1050" dirty="0"/>
          </a:p>
        </p:txBody>
      </p:sp>
      <p:sp>
        <p:nvSpPr>
          <p:cNvPr id="10" name="Shape 8"/>
          <p:cNvSpPr/>
          <p:nvPr/>
        </p:nvSpPr>
        <p:spPr>
          <a:xfrm>
            <a:off x="2404872" y="2267712"/>
            <a:ext cx="0" cy="256032"/>
          </a:xfrm>
          <a:prstGeom prst="line">
            <a:avLst/>
          </a:prstGeom>
          <a:noFill/>
          <a:ln w="12700">
            <a:solidFill>
              <a:srgbClr val="E6E6E6"/>
            </a:solidFill>
            <a:prstDash val="solid"/>
          </a:ln>
        </p:spPr>
      </p:sp>
      <p:sp>
        <p:nvSpPr>
          <p:cNvPr id="11" name="Text 9"/>
          <p:cNvSpPr txBox="1"/>
          <p:nvPr/>
        </p:nvSpPr>
        <p:spPr>
          <a:xfrm>
            <a:off x="2560320" y="2267712"/>
            <a:ext cx="489204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売上高－変動費</a:t>
            </a:r>
            <a:endParaRPr lang="en-US" sz="1050" dirty="0"/>
          </a:p>
        </p:txBody>
      </p:sp>
      <p:sp>
        <p:nvSpPr>
          <p:cNvPr id="12" name="Text 10"/>
          <p:cNvSpPr txBox="1"/>
          <p:nvPr/>
        </p:nvSpPr>
        <p:spPr>
          <a:xfrm>
            <a:off x="502920" y="2651760"/>
            <a:ext cx="192024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損益分岐点売上高</a:t>
            </a:r>
            <a:endParaRPr lang="en-US" sz="1050" dirty="0"/>
          </a:p>
        </p:txBody>
      </p:sp>
      <p:sp>
        <p:nvSpPr>
          <p:cNvPr id="13" name="Shape 11"/>
          <p:cNvSpPr/>
          <p:nvPr/>
        </p:nvSpPr>
        <p:spPr>
          <a:xfrm>
            <a:off x="2404872" y="2651760"/>
            <a:ext cx="0" cy="256032"/>
          </a:xfrm>
          <a:prstGeom prst="line">
            <a:avLst/>
          </a:prstGeom>
          <a:noFill/>
          <a:ln w="12700">
            <a:solidFill>
              <a:srgbClr val="E6E6E6"/>
            </a:solidFill>
            <a:prstDash val="solid"/>
          </a:ln>
        </p:spPr>
      </p:sp>
      <p:sp>
        <p:nvSpPr>
          <p:cNvPr id="14" name="Text 12"/>
          <p:cNvSpPr txBox="1"/>
          <p:nvPr/>
        </p:nvSpPr>
        <p:spPr>
          <a:xfrm>
            <a:off x="2560320" y="2651760"/>
            <a:ext cx="489204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固定費 ÷ 限界利益率</a:t>
            </a:r>
            <a:endParaRPr lang="en-US" sz="1050" dirty="0"/>
          </a:p>
        </p:txBody>
      </p:sp>
      <p:sp>
        <p:nvSpPr>
          <p:cNvPr id="15" name="Text 13"/>
          <p:cNvSpPr txBox="1"/>
          <p:nvPr/>
        </p:nvSpPr>
        <p:spPr>
          <a:xfrm>
            <a:off x="502920" y="3035808"/>
            <a:ext cx="192024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安全余裕率</a:t>
            </a:r>
            <a:endParaRPr lang="en-US" sz="1050" dirty="0"/>
          </a:p>
        </p:txBody>
      </p:sp>
      <p:sp>
        <p:nvSpPr>
          <p:cNvPr id="16" name="Shape 14"/>
          <p:cNvSpPr/>
          <p:nvPr/>
        </p:nvSpPr>
        <p:spPr>
          <a:xfrm>
            <a:off x="2404872" y="3035808"/>
            <a:ext cx="0" cy="256032"/>
          </a:xfrm>
          <a:prstGeom prst="line">
            <a:avLst/>
          </a:prstGeom>
          <a:noFill/>
          <a:ln w="12700">
            <a:solidFill>
              <a:srgbClr val="E6E6E6"/>
            </a:solidFill>
            <a:prstDash val="solid"/>
          </a:ln>
        </p:spPr>
      </p:sp>
      <p:sp>
        <p:nvSpPr>
          <p:cNvPr id="17" name="Text 15"/>
          <p:cNvSpPr txBox="1"/>
          <p:nvPr/>
        </p:nvSpPr>
        <p:spPr>
          <a:xfrm>
            <a:off x="2560320" y="3035808"/>
            <a:ext cx="489204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1－損益分岐点比率</a:t>
            </a:r>
            <a:endParaRPr lang="en-US" sz="1050" dirty="0"/>
          </a:p>
        </p:txBody>
      </p:sp>
      <p:sp>
        <p:nvSpPr>
          <p:cNvPr id="18" name="Text 16"/>
          <p:cNvSpPr txBox="1"/>
          <p:nvPr/>
        </p:nvSpPr>
        <p:spPr>
          <a:xfrm>
            <a:off x="502920" y="3419856"/>
            <a:ext cx="192024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営業レバレッジ度</a:t>
            </a:r>
            <a:endParaRPr lang="en-US" sz="1050" dirty="0"/>
          </a:p>
        </p:txBody>
      </p:sp>
      <p:sp>
        <p:nvSpPr>
          <p:cNvPr id="19" name="Shape 17"/>
          <p:cNvSpPr/>
          <p:nvPr/>
        </p:nvSpPr>
        <p:spPr>
          <a:xfrm>
            <a:off x="2404872" y="3419856"/>
            <a:ext cx="0" cy="256032"/>
          </a:xfrm>
          <a:prstGeom prst="line">
            <a:avLst/>
          </a:prstGeom>
          <a:noFill/>
          <a:ln w="12700">
            <a:solidFill>
              <a:srgbClr val="E6E6E6"/>
            </a:solidFill>
            <a:prstDash val="solid"/>
          </a:ln>
        </p:spPr>
      </p:sp>
      <p:sp>
        <p:nvSpPr>
          <p:cNvPr id="20" name="Text 18"/>
          <p:cNvSpPr txBox="1"/>
          <p:nvPr/>
        </p:nvSpPr>
        <p:spPr>
          <a:xfrm>
            <a:off x="2560320" y="3419856"/>
            <a:ext cx="489204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限界利益 ÷ 営業利益</a:t>
            </a:r>
            <a:endParaRPr lang="en-US" sz="1050" dirty="0"/>
          </a:p>
        </p:txBody>
      </p:sp>
      <p:sp>
        <p:nvSpPr>
          <p:cNvPr id="21" name="Shape 19"/>
          <p:cNvSpPr/>
          <p:nvPr/>
        </p:nvSpPr>
        <p:spPr>
          <a:xfrm>
            <a:off x="502920" y="3895344"/>
            <a:ext cx="6949440" cy="0"/>
          </a:xfrm>
          <a:prstGeom prst="line">
            <a:avLst/>
          </a:prstGeom>
          <a:noFill/>
          <a:ln w="12700">
            <a:solidFill>
              <a:srgbClr val="E6E6E6"/>
            </a:solidFill>
            <a:prstDash val="solid"/>
          </a:ln>
        </p:spPr>
      </p:sp>
      <p:sp>
        <p:nvSpPr>
          <p:cNvPr id="22" name="Text 20"/>
          <p:cNvSpPr txBox="1"/>
          <p:nvPr/>
        </p:nvSpPr>
        <p:spPr>
          <a:xfrm>
            <a:off x="502920" y="3968496"/>
            <a:ext cx="6949440" cy="50292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固定費を削減し変動費を増やすと営業レバレッジは低下する。製造業は小売業より営業レバレッジが高い傾向。</a:t>
            </a:r>
            <a:endParaRPr lang="en-US" sz="950" dirty="0"/>
          </a:p>
        </p:txBody>
      </p:sp>
      <p:sp>
        <p:nvSpPr>
          <p:cNvPr id="23" name="Shape 21"/>
          <p:cNvSpPr/>
          <p:nvPr/>
        </p:nvSpPr>
        <p:spPr>
          <a:xfrm>
            <a:off x="8138160" y="5166360"/>
            <a:ext cx="3383280" cy="0"/>
          </a:xfrm>
          <a:prstGeom prst="line">
            <a:avLst/>
          </a:prstGeom>
          <a:noFill/>
          <a:ln w="20320">
            <a:solidFill>
              <a:srgbClr val="171717"/>
            </a:solidFill>
            <a:prstDash val="solid"/>
            <a:tailEnd type="triangle"/>
          </a:ln>
        </p:spPr>
      </p:sp>
      <p:sp>
        <p:nvSpPr>
          <p:cNvPr id="24" name="Shape 22"/>
          <p:cNvSpPr/>
          <p:nvPr/>
        </p:nvSpPr>
        <p:spPr>
          <a:xfrm flipV="1">
            <a:off x="8138160" y="2103120"/>
            <a:ext cx="0" cy="3063240"/>
          </a:xfrm>
          <a:prstGeom prst="line">
            <a:avLst/>
          </a:prstGeom>
          <a:noFill/>
          <a:ln w="20320">
            <a:solidFill>
              <a:srgbClr val="171717"/>
            </a:solidFill>
            <a:prstDash val="solid"/>
            <a:tailEnd type="triangle"/>
          </a:ln>
        </p:spPr>
      </p:sp>
      <p:sp>
        <p:nvSpPr>
          <p:cNvPr id="25" name="Shape 23"/>
          <p:cNvSpPr/>
          <p:nvPr/>
        </p:nvSpPr>
        <p:spPr>
          <a:xfrm flipV="1">
            <a:off x="8138160" y="2103120"/>
            <a:ext cx="3383280" cy="3063240"/>
          </a:xfrm>
          <a:prstGeom prst="line">
            <a:avLst/>
          </a:prstGeom>
          <a:noFill/>
          <a:ln w="25400">
            <a:solidFill>
              <a:srgbClr val="171717"/>
            </a:solidFill>
            <a:prstDash val="solid"/>
          </a:ln>
        </p:spPr>
      </p:sp>
      <p:sp>
        <p:nvSpPr>
          <p:cNvPr id="26" name="Text 24"/>
          <p:cNvSpPr txBox="1"/>
          <p:nvPr/>
        </p:nvSpPr>
        <p:spPr>
          <a:xfrm>
            <a:off x="11018520" y="1965960"/>
            <a:ext cx="548640" cy="274320"/>
          </a:xfrm>
          <a:prstGeom prst="rect">
            <a:avLst/>
          </a:prstGeom>
          <a:noFill/>
          <a:ln/>
        </p:spPr>
        <p:txBody>
          <a:bodyPr wrap="square" lIns="0" tIns="0" rIns="0" bIns="0" rtlCol="0" anchor="ctr"/>
          <a:lstStyle/>
          <a:p>
            <a:pPr indent="0" marL="0">
              <a:buNone/>
            </a:pPr>
            <a:r>
              <a:rPr lang="en-US" sz="1100" b="1" dirty="0">
                <a:solidFill>
                  <a:srgbClr val="171717"/>
                </a:solidFill>
                <a:latin typeface="Yu Gothic" pitchFamily="34" charset="0"/>
                <a:ea typeface="Yu Gothic" pitchFamily="34" charset="-122"/>
                <a:cs typeface="Yu Gothic" pitchFamily="34" charset="-120"/>
              </a:rPr>
              <a:t>売上高</a:t>
            </a:r>
            <a:endParaRPr lang="en-US" sz="1100" dirty="0"/>
          </a:p>
        </p:txBody>
      </p:sp>
      <p:sp>
        <p:nvSpPr>
          <p:cNvPr id="27" name="Shape 25"/>
          <p:cNvSpPr/>
          <p:nvPr/>
        </p:nvSpPr>
        <p:spPr>
          <a:xfrm flipV="1">
            <a:off x="8138160" y="3175254"/>
            <a:ext cx="3383280" cy="1072134"/>
          </a:xfrm>
          <a:prstGeom prst="line">
            <a:avLst/>
          </a:prstGeom>
          <a:noFill/>
          <a:ln w="25400">
            <a:solidFill>
              <a:srgbClr val="FF3B1F"/>
            </a:solidFill>
            <a:prstDash val="solid"/>
          </a:ln>
        </p:spPr>
      </p:sp>
      <p:sp>
        <p:nvSpPr>
          <p:cNvPr id="28" name="Text 26"/>
          <p:cNvSpPr txBox="1"/>
          <p:nvPr/>
        </p:nvSpPr>
        <p:spPr>
          <a:xfrm>
            <a:off x="11018520" y="3038094"/>
            <a:ext cx="548640" cy="274320"/>
          </a:xfrm>
          <a:prstGeom prst="rect">
            <a:avLst/>
          </a:prstGeom>
          <a:noFill/>
          <a:ln/>
        </p:spPr>
        <p:txBody>
          <a:bodyPr wrap="square" lIns="0" tIns="0" rIns="0" bIns="0" rtlCol="0" anchor="ctr"/>
          <a:lstStyle/>
          <a:p>
            <a:pPr indent="0" marL="0">
              <a:buNone/>
            </a:pPr>
            <a:r>
              <a:rPr lang="en-US" sz="1100" b="1" dirty="0">
                <a:solidFill>
                  <a:srgbClr val="FF3B1F"/>
                </a:solidFill>
                <a:latin typeface="Yu Gothic" pitchFamily="34" charset="0"/>
                <a:ea typeface="Yu Gothic" pitchFamily="34" charset="-122"/>
                <a:cs typeface="Yu Gothic" pitchFamily="34" charset="-120"/>
              </a:rPr>
              <a:t>総原価</a:t>
            </a:r>
            <a:endParaRPr lang="en-US" sz="1100" dirty="0"/>
          </a:p>
        </p:txBody>
      </p:sp>
      <p:sp>
        <p:nvSpPr>
          <p:cNvPr id="29" name="Shape 27"/>
          <p:cNvSpPr/>
          <p:nvPr/>
        </p:nvSpPr>
        <p:spPr>
          <a:xfrm>
            <a:off x="8138160" y="3757270"/>
            <a:ext cx="1556309" cy="91"/>
          </a:xfrm>
          <a:prstGeom prst="line">
            <a:avLst/>
          </a:prstGeom>
          <a:noFill/>
          <a:ln w="9525">
            <a:solidFill>
              <a:srgbClr val="8A8A8A"/>
            </a:solidFill>
            <a:prstDash val="dash"/>
          </a:ln>
        </p:spPr>
      </p:sp>
      <p:sp>
        <p:nvSpPr>
          <p:cNvPr id="30" name="Shape 28"/>
          <p:cNvSpPr/>
          <p:nvPr/>
        </p:nvSpPr>
        <p:spPr>
          <a:xfrm>
            <a:off x="9694469" y="3757270"/>
            <a:ext cx="91" cy="1409090"/>
          </a:xfrm>
          <a:prstGeom prst="line">
            <a:avLst/>
          </a:prstGeom>
          <a:noFill/>
          <a:ln w="9525">
            <a:solidFill>
              <a:srgbClr val="8A8A8A"/>
            </a:solidFill>
            <a:prstDash val="dash"/>
          </a:ln>
        </p:spPr>
      </p:sp>
      <p:sp>
        <p:nvSpPr>
          <p:cNvPr id="31" name="Shape 29"/>
          <p:cNvSpPr/>
          <p:nvPr/>
        </p:nvSpPr>
        <p:spPr>
          <a:xfrm>
            <a:off x="9648749" y="3711550"/>
            <a:ext cx="91440" cy="91440"/>
          </a:xfrm>
          <a:prstGeom prst="ellipse">
            <a:avLst/>
          </a:prstGeom>
          <a:solidFill>
            <a:srgbClr val="171717"/>
          </a:solidFill>
          <a:ln/>
        </p:spPr>
      </p:sp>
      <p:sp>
        <p:nvSpPr>
          <p:cNvPr id="32" name="Text 30"/>
          <p:cNvSpPr txBox="1"/>
          <p:nvPr/>
        </p:nvSpPr>
        <p:spPr>
          <a:xfrm>
            <a:off x="9767621" y="3464662"/>
            <a:ext cx="457200" cy="256032"/>
          </a:xfrm>
          <a:prstGeom prst="rect">
            <a:avLst/>
          </a:prstGeom>
          <a:noFill/>
          <a:ln/>
        </p:spPr>
        <p:txBody>
          <a:bodyPr wrap="square" lIns="0" tIns="0" rIns="0" bIns="0" rtlCol="0" anchor="ctr"/>
          <a:lstStyle/>
          <a:p>
            <a:pPr indent="0" marL="0">
              <a:buNone/>
            </a:pPr>
            <a:r>
              <a:rPr lang="en-US" sz="1100" b="1" dirty="0">
                <a:solidFill>
                  <a:srgbClr val="171717"/>
                </a:solidFill>
                <a:latin typeface="Yu Gothic" pitchFamily="34" charset="0"/>
                <a:ea typeface="Yu Gothic" pitchFamily="34" charset="-122"/>
                <a:cs typeface="Yu Gothic" pitchFamily="34" charset="-120"/>
              </a:rPr>
              <a:t>BEP</a:t>
            </a:r>
            <a:endParaRPr lang="en-US" sz="1100" dirty="0"/>
          </a:p>
        </p:txBody>
      </p:sp>
      <p:sp>
        <p:nvSpPr>
          <p:cNvPr id="33" name="Text 31"/>
          <p:cNvSpPr txBox="1"/>
          <p:nvPr/>
        </p:nvSpPr>
        <p:spPr>
          <a:xfrm>
            <a:off x="7543800" y="5257800"/>
            <a:ext cx="4251960" cy="274320"/>
          </a:xfrm>
          <a:prstGeom prst="rect">
            <a:avLst/>
          </a:prstGeom>
          <a:noFill/>
          <a:ln/>
        </p:spPr>
        <p:txBody>
          <a:bodyPr wrap="square" lIns="0" tIns="0" rIns="0" bIns="0" rtlCol="0" anchor="ctr"/>
          <a:lstStyle/>
          <a:p>
            <a:pPr algn="ctr" indent="0" marL="0">
              <a:buNone/>
            </a:pPr>
            <a:r>
              <a:rPr lang="en-US" sz="950" dirty="0">
                <a:solidFill>
                  <a:srgbClr val="8A8A8A"/>
                </a:solidFill>
                <a:latin typeface="Yu Gothic" pitchFamily="34" charset="0"/>
                <a:ea typeface="Yu Gothic" pitchFamily="34" charset="-122"/>
                <a:cs typeface="Yu Gothic" pitchFamily="34" charset="-120"/>
              </a:rPr>
              <a:t>損益分岐点＝売上高線と総原価線の交点</a:t>
            </a:r>
            <a:endParaRPr lang="en-US" sz="950" dirty="0"/>
          </a:p>
        </p:txBody>
      </p:sp>
      <p:sp>
        <p:nvSpPr>
          <p:cNvPr id="34" name="Shape 32"/>
          <p:cNvSpPr/>
          <p:nvPr/>
        </p:nvSpPr>
        <p:spPr>
          <a:xfrm>
            <a:off x="502920" y="5989320"/>
            <a:ext cx="11201400" cy="0"/>
          </a:xfrm>
          <a:prstGeom prst="line">
            <a:avLst/>
          </a:prstGeom>
          <a:noFill/>
          <a:ln w="9525">
            <a:solidFill>
              <a:srgbClr val="171717"/>
            </a:solidFill>
            <a:prstDash val="solid"/>
          </a:ln>
        </p:spPr>
      </p:sp>
      <p:sp>
        <p:nvSpPr>
          <p:cNvPr id="35" name="Shape 33"/>
          <p:cNvSpPr/>
          <p:nvPr/>
        </p:nvSpPr>
        <p:spPr>
          <a:xfrm>
            <a:off x="502920" y="6062472"/>
            <a:ext cx="329184" cy="329184"/>
          </a:xfrm>
          <a:prstGeom prst="ellipse">
            <a:avLst/>
          </a:prstGeom>
          <a:solidFill>
            <a:srgbClr val="FF3B1F"/>
          </a:solidFill>
          <a:ln/>
        </p:spPr>
      </p:sp>
      <p:sp>
        <p:nvSpPr>
          <p:cNvPr id="36" name="Text 34"/>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7" name="Text 35"/>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8" name="Shape 36"/>
          <p:cNvSpPr/>
          <p:nvPr/>
        </p:nvSpPr>
        <p:spPr>
          <a:xfrm>
            <a:off x="2331720" y="6062472"/>
            <a:ext cx="0" cy="329184"/>
          </a:xfrm>
          <a:prstGeom prst="line">
            <a:avLst/>
          </a:prstGeom>
          <a:noFill/>
          <a:ln w="12700">
            <a:solidFill>
              <a:srgbClr val="E6E6E6"/>
            </a:solidFill>
            <a:prstDash val="solid"/>
          </a:ln>
        </p:spPr>
      </p:sp>
      <p:sp>
        <p:nvSpPr>
          <p:cNvPr id="39" name="Text 37"/>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具体例：売上500万・変動費200万・固定費240万→限界利益300万、損益分岐点400万、安全余裕率20％、営業レバレッジ5倍。</a:t>
            </a:r>
            <a:endParaRPr lang="en-US" sz="1000" dirty="0"/>
          </a:p>
        </p:txBody>
      </p:sp>
      <p:sp>
        <p:nvSpPr>
          <p:cNvPr id="40" name="Text 38"/>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41" name="Shape 39"/>
          <p:cNvSpPr/>
          <p:nvPr/>
        </p:nvSpPr>
        <p:spPr>
          <a:xfrm>
            <a:off x="2466594"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43" name="Shape 41"/>
          <p:cNvSpPr/>
          <p:nvPr/>
        </p:nvSpPr>
        <p:spPr>
          <a:xfrm>
            <a:off x="3431286"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45" name="Shape 43"/>
          <p:cNvSpPr/>
          <p:nvPr/>
        </p:nvSpPr>
        <p:spPr>
          <a:xfrm>
            <a:off x="4395978"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7" name="Shape 45"/>
          <p:cNvSpPr/>
          <p:nvPr/>
        </p:nvSpPr>
        <p:spPr>
          <a:xfrm>
            <a:off x="5360670" y="6464808"/>
            <a:ext cx="146304" cy="146304"/>
          </a:xfrm>
          <a:prstGeom prst="ellipse">
            <a:avLst/>
          </a:prstGeom>
          <a:solidFill>
            <a:srgbClr val="FFFFFF"/>
          </a:solidFill>
          <a:ln w="12700">
            <a:solidFill>
              <a:srgbClr val="E6E6E6"/>
            </a:solidFill>
            <a:prstDash val="solid"/>
          </a:ln>
        </p:spPr>
      </p:sp>
      <p:sp>
        <p:nvSpPr>
          <p:cNvPr id="48" name="Text 46"/>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49" name="Shape 47"/>
          <p:cNvSpPr/>
          <p:nvPr/>
        </p:nvSpPr>
        <p:spPr>
          <a:xfrm>
            <a:off x="6325362" y="6464808"/>
            <a:ext cx="146304" cy="146304"/>
          </a:xfrm>
          <a:prstGeom prst="ellipse">
            <a:avLst/>
          </a:prstGeom>
          <a:solidFill>
            <a:srgbClr val="FF3B1F"/>
          </a:solidFill>
          <a:ln w="12700">
            <a:solidFill>
              <a:srgbClr val="FF3B1F"/>
            </a:solidFill>
            <a:prstDash val="solid"/>
          </a:ln>
        </p:spPr>
      </p:sp>
      <p:sp>
        <p:nvSpPr>
          <p:cNvPr id="50" name="Text 48"/>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51" name="Shape 49"/>
          <p:cNvSpPr/>
          <p:nvPr/>
        </p:nvSpPr>
        <p:spPr>
          <a:xfrm>
            <a:off x="7290054" y="6464808"/>
            <a:ext cx="146304" cy="146304"/>
          </a:xfrm>
          <a:prstGeom prst="ellipse">
            <a:avLst/>
          </a:prstGeom>
          <a:solidFill>
            <a:srgbClr val="FF3B1F"/>
          </a:solidFill>
          <a:ln w="12700">
            <a:solidFill>
              <a:srgbClr val="FF3B1F"/>
            </a:solidFill>
            <a:prstDash val="solid"/>
          </a:ln>
        </p:spPr>
      </p:sp>
      <p:sp>
        <p:nvSpPr>
          <p:cNvPr id="52" name="Text 50"/>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53" name="Shape 51"/>
          <p:cNvSpPr/>
          <p:nvPr/>
        </p:nvSpPr>
        <p:spPr>
          <a:xfrm>
            <a:off x="8254746" y="6464808"/>
            <a:ext cx="146304" cy="146304"/>
          </a:xfrm>
          <a:prstGeom prst="ellipse">
            <a:avLst/>
          </a:prstGeom>
          <a:solidFill>
            <a:srgbClr val="FF3B1F"/>
          </a:solidFill>
          <a:ln w="12700">
            <a:solidFill>
              <a:srgbClr val="FF3B1F"/>
            </a:solidFill>
            <a:prstDash val="solid"/>
          </a:ln>
        </p:spPr>
      </p:sp>
      <p:sp>
        <p:nvSpPr>
          <p:cNvPr id="54" name="Text 52"/>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55" name="Shape 53"/>
          <p:cNvSpPr/>
          <p:nvPr/>
        </p:nvSpPr>
        <p:spPr>
          <a:xfrm>
            <a:off x="9219438" y="6464808"/>
            <a:ext cx="146304" cy="146304"/>
          </a:xfrm>
          <a:prstGeom prst="ellipse">
            <a:avLst/>
          </a:prstGeom>
          <a:solidFill>
            <a:srgbClr val="FFFFFF"/>
          </a:solidFill>
          <a:ln w="12700">
            <a:solidFill>
              <a:srgbClr val="E6E6E6"/>
            </a:solidFill>
            <a:prstDash val="solid"/>
          </a:ln>
        </p:spPr>
      </p:sp>
      <p:sp>
        <p:nvSpPr>
          <p:cNvPr id="56" name="Text 54"/>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57" name="Shape 55"/>
          <p:cNvSpPr/>
          <p:nvPr/>
        </p:nvSpPr>
        <p:spPr>
          <a:xfrm>
            <a:off x="10184130" y="6464808"/>
            <a:ext cx="146304" cy="146304"/>
          </a:xfrm>
          <a:prstGeom prst="ellipse">
            <a:avLst/>
          </a:prstGeom>
          <a:solidFill>
            <a:srgbClr val="FF3B1F"/>
          </a:solidFill>
          <a:ln w="12700">
            <a:solidFill>
              <a:srgbClr val="FF3B1F"/>
            </a:solidFill>
            <a:prstDash val="solid"/>
          </a:ln>
        </p:spPr>
      </p:sp>
      <p:sp>
        <p:nvSpPr>
          <p:cNvPr id="58" name="Text 56"/>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9" name="Shape 57"/>
          <p:cNvSpPr/>
          <p:nvPr/>
        </p:nvSpPr>
        <p:spPr>
          <a:xfrm>
            <a:off x="11148822" y="6464808"/>
            <a:ext cx="146304" cy="146304"/>
          </a:xfrm>
          <a:prstGeom prst="ellipse">
            <a:avLst/>
          </a:prstGeom>
          <a:solidFill>
            <a:srgbClr val="FF3B1F"/>
          </a:solidFill>
          <a:ln w="12700">
            <a:solidFill>
              <a:srgbClr val="FF3B1F"/>
            </a:solidFill>
            <a:prstDash val="solid"/>
          </a:ln>
        </p:spPr>
      </p:sp>
      <p:sp>
        <p:nvSpPr>
          <p:cNvPr id="60" name="Text 58"/>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B-15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第13問）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50292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営業レバレッジ（オペレーティング・レバレッジ）に関する記述として、最も適切なものはどれか。</a:t>
            </a:r>
            <a:endParaRPr lang="en-US" sz="1250" dirty="0"/>
          </a:p>
        </p:txBody>
      </p:sp>
      <p:sp>
        <p:nvSpPr>
          <p:cNvPr id="9" name="Text 7"/>
          <p:cNvSpPr txBox="1"/>
          <p:nvPr/>
        </p:nvSpPr>
        <p:spPr>
          <a:xfrm>
            <a:off x="731520" y="228600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営業レバレッジが低い企業は、営業レバレッジが高い企業に比べて、売上高が減少しても利益が減少しにくい状態であるといえる。</a:t>
            </a:r>
            <a:endParaRPr lang="en-US" sz="1150" dirty="0"/>
          </a:p>
        </p:txBody>
      </p:sp>
      <p:sp>
        <p:nvSpPr>
          <p:cNvPr id="10" name="Text 8"/>
          <p:cNvSpPr txBox="1"/>
          <p:nvPr/>
        </p:nvSpPr>
        <p:spPr>
          <a:xfrm>
            <a:off x="731520" y="276148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営業レバレッジの状況は、営業利益と当期純利益から把握できる。</a:t>
            </a:r>
            <a:endParaRPr lang="en-US" sz="1150" dirty="0"/>
          </a:p>
        </p:txBody>
      </p:sp>
      <p:sp>
        <p:nvSpPr>
          <p:cNvPr id="11" name="Text 9"/>
          <p:cNvSpPr txBox="1"/>
          <p:nvPr/>
        </p:nvSpPr>
        <p:spPr>
          <a:xfrm>
            <a:off x="731520" y="323697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営業レバレッジは、一般的に、製造業の企業よりも小売業の企業の方が高くなる傾向にある。</a:t>
            </a:r>
            <a:endParaRPr lang="en-US" sz="1150" dirty="0"/>
          </a:p>
        </p:txBody>
      </p:sp>
      <p:sp>
        <p:nvSpPr>
          <p:cNvPr id="12" name="Text 10"/>
          <p:cNvSpPr txBox="1"/>
          <p:nvPr/>
        </p:nvSpPr>
        <p:spPr>
          <a:xfrm>
            <a:off x="731520" y="371246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営業レバレッジは、固定費を削減して変動費を増やすことによって高めることができる。</a:t>
            </a:r>
            <a:endParaRPr lang="en-US" sz="1150" dirty="0"/>
          </a:p>
        </p:txBody>
      </p:sp>
      <p:sp>
        <p:nvSpPr>
          <p:cNvPr id="13" name="Text 11"/>
          <p:cNvSpPr txBox="1"/>
          <p:nvPr/>
        </p:nvSpPr>
        <p:spPr>
          <a:xfrm>
            <a:off x="502920" y="4325112"/>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出典：past_exams/1st_stage/1ji2025/B1JI2025.pdf（令和7年度第1次試験）第13問</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B-15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第13問）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正解はア。固定費比率が低い企業ほど、売上変動の利益への影響は小さい。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Shape 6"/>
          <p:cNvSpPr/>
          <p:nvPr/>
        </p:nvSpPr>
        <p:spPr>
          <a:xfrm>
            <a:off x="502920" y="1709928"/>
            <a:ext cx="11201400" cy="475488"/>
          </a:xfrm>
          <a:prstGeom prst="rect">
            <a:avLst/>
          </a:prstGeom>
          <a:solidFill>
            <a:srgbClr val="F4F4F4"/>
          </a:solidFill>
          <a:ln/>
        </p:spPr>
      </p:sp>
      <p:sp>
        <p:nvSpPr>
          <p:cNvPr id="9" name="Shape 7"/>
          <p:cNvSpPr/>
          <p:nvPr/>
        </p:nvSpPr>
        <p:spPr>
          <a:xfrm>
            <a:off x="502920" y="1709928"/>
            <a:ext cx="0" cy="475488"/>
          </a:xfrm>
          <a:prstGeom prst="line">
            <a:avLst/>
          </a:prstGeom>
          <a:noFill/>
          <a:ln w="38100">
            <a:solidFill>
              <a:srgbClr val="FF3B1F"/>
            </a:solidFill>
            <a:prstDash val="solid"/>
          </a:ln>
        </p:spPr>
      </p:sp>
      <p:sp>
        <p:nvSpPr>
          <p:cNvPr id="10" name="Text 8"/>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営業レバレッジが低い企業は、営業レバレッジが高い企業に比べて、売上高が減少しても利益が減少しにくい状態であるといえる。</a:t>
            </a:r>
            <a:endParaRPr lang="en-US" sz="1150" dirty="0"/>
          </a:p>
        </p:txBody>
      </p:sp>
      <p:sp>
        <p:nvSpPr>
          <p:cNvPr id="11" name="Text 9"/>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営業レバレッジの状況は、営業利益と当期純利益から把握できる。</a:t>
            </a:r>
            <a:endParaRPr lang="en-US" sz="1150" dirty="0"/>
          </a:p>
        </p:txBody>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営業レバレッジは、一般的に、製造業の企業よりも小売業の企業の方が高くなる傾向にある。</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営業レバレッジは、固定費を削減して変動費を増やすことによって高めることができる。</a:t>
            </a:r>
            <a:endParaRPr lang="en-US" sz="1150" dirty="0"/>
          </a:p>
        </p:txBody>
      </p:sp>
      <p:sp>
        <p:nvSpPr>
          <p:cNvPr id="14" name="Shape 12"/>
          <p:cNvSpPr/>
          <p:nvPr/>
        </p:nvSpPr>
        <p:spPr>
          <a:xfrm>
            <a:off x="502920" y="3712464"/>
            <a:ext cx="11201400" cy="0"/>
          </a:xfrm>
          <a:prstGeom prst="line">
            <a:avLst/>
          </a:prstGeom>
          <a:noFill/>
          <a:ln w="12700">
            <a:solidFill>
              <a:srgbClr val="171717"/>
            </a:solidFill>
            <a:prstDash val="solid"/>
          </a:ln>
        </p:spPr>
      </p:sp>
      <p:sp>
        <p:nvSpPr>
          <p:cNvPr id="15" name="Text 13"/>
          <p:cNvSpPr txBox="1"/>
          <p:nvPr/>
        </p:nvSpPr>
        <p:spPr>
          <a:xfrm>
            <a:off x="502920" y="3803904"/>
            <a:ext cx="11201400" cy="914400"/>
          </a:xfrm>
          <a:prstGeom prst="rect">
            <a:avLst/>
          </a:prstGeom>
          <a:noFill/>
          <a:ln/>
        </p:spPr>
        <p:txBody>
          <a:bodyPr wrap="square" lIns="0" tIns="0" rIns="0" bIns="0" rtlCol="0" anchor="ctr"/>
          <a:lstStyle/>
          <a:p>
            <a:pPr indent="0" marL="0">
              <a:lnSpc>
                <a:spcPct val="120000"/>
              </a:lnSpc>
              <a:buNone/>
            </a:pPr>
            <a:r>
              <a:rPr lang="en-US" sz="1050" b="1" dirty="0">
                <a:solidFill>
                  <a:srgbClr val="FF3B1F"/>
                </a:solidFill>
                <a:latin typeface="Yu Gothic" pitchFamily="34" charset="0"/>
                <a:ea typeface="Yu Gothic" pitchFamily="34" charset="-122"/>
                <a:cs typeface="Yu Gothic" pitchFamily="34" charset="-120"/>
              </a:rPr>
              <a:t>正解：ア</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営業レバレッジ度＝限界利益÷営業利益で、固定費比率が高いほど値は大きくなる。固定費比率が低い企業ほど、売上高が変動しても利益への影響は相対的に小さい。イ：営業レバレッジ度は「限界利益÷営業利益」で計算するもので、営業利益と当期純利益からは把握できない。ウ：製造業の方が小売業よりも営業レバレッジは</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高くなる</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傾向にあり記述は逆。エ：固定費を削減し変動費を増やすと、営業レバレッジはむしろ</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低下</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する。</a:t>
            </a:r>
            <a:endParaRPr lang="en-US" sz="1050" dirty="0"/>
          </a:p>
        </p:txBody>
      </p:sp>
      <p:sp>
        <p:nvSpPr>
          <p:cNvPr id="16" name="Text 14"/>
          <p:cNvSpPr txBox="1"/>
          <p:nvPr/>
        </p:nvSpPr>
        <p:spPr>
          <a:xfrm>
            <a:off x="502920" y="4791456"/>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固定費比率が高い＝ハイリスク・ハイリターンな費用構造、という理解が土台。CVP分析（損益分岐点）の考え方と表裏一体。</a:t>
            </a:r>
            <a:endParaRPr lang="en-US" sz="850" dirty="0"/>
          </a:p>
        </p:txBody>
      </p:sp>
      <p:sp>
        <p:nvSpPr>
          <p:cNvPr id="17" name="Text 15"/>
          <p:cNvSpPr txBox="1"/>
          <p:nvPr/>
        </p:nvSpPr>
        <p:spPr>
          <a:xfrm>
            <a:off x="502920" y="5321808"/>
            <a:ext cx="11201400" cy="27432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関連知識：docs/07_key_formulas_and_frameworks.mdのCVP分析参照。</a:t>
            </a:r>
            <a:endParaRPr lang="en-US" sz="1000" dirty="0"/>
          </a:p>
        </p:txBody>
      </p:sp>
      <p:sp>
        <p:nvSpPr>
          <p:cNvPr id="18" name="Text 16"/>
          <p:cNvSpPr txBox="1"/>
          <p:nvPr/>
        </p:nvSpPr>
        <p:spPr>
          <a:xfrm>
            <a:off x="502920" y="566928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出典：past_exams/1st_stage/1ji2025/B1JI2025.pdf（令和7年度第1次試験）第13問／正解：past_exams/1st_stage_answers/r07/2025b.pdf</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B-16 ／ 利益と資金の管理：利益計画</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ボトルネック1単位あたりの限界利益で優先順位を決める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複数製品を作る際、制約資源1単位あたりの限界利益が高い製品を優先する。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502920"/>
          </a:xfrm>
          <a:prstGeom prst="rect">
            <a:avLst/>
          </a:prstGeom>
          <a:noFill/>
          <a:ln/>
        </p:spPr>
        <p:txBody>
          <a:bodyPr wrap="square" lIns="0" tIns="0" rIns="0" bIns="0" rtlCol="0" anchor="ctr"/>
          <a:lstStyle/>
          <a:p>
            <a:pPr indent="0" marL="0">
              <a:lnSpc>
                <a:spcPct val="125000"/>
              </a:lnSpc>
              <a:buNone/>
            </a:pPr>
            <a:r>
              <a:rPr lang="en-US" sz="1150" dirty="0">
                <a:solidFill>
                  <a:srgbClr val="171717"/>
                </a:solidFill>
                <a:latin typeface="Yu Gothic" pitchFamily="34" charset="0"/>
                <a:ea typeface="Yu Gothic" pitchFamily="34" charset="-122"/>
                <a:cs typeface="Yu Gothic" pitchFamily="34" charset="-120"/>
              </a:rPr>
              <a:t>限られた生産能力（ボトルネック）をどの製品にどれだけ振り向けるか（プロダクト・ミックス）は、「1個あたりの限界利益」ではなく「制約資源1単位あたりの限界利益」で優先順位を決める。</a:t>
            </a:r>
            <a:endParaRPr lang="en-US" sz="1150" dirty="0"/>
          </a:p>
        </p:txBody>
      </p:sp>
      <p:sp>
        <p:nvSpPr>
          <p:cNvPr id="9" name="Text 7"/>
          <p:cNvSpPr txBox="1"/>
          <p:nvPr/>
        </p:nvSpPr>
        <p:spPr>
          <a:xfrm>
            <a:off x="502920" y="2267712"/>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加工機械480分／日がボトルネック。製品X＝限界利益1,000円・機械5分（200円/分）、製品Y＝限界利益1,500円・機械10分（150円/分）。1個あたりはYが高いが、機械1分あたりではXの方が効率的→Xを優先。</a:t>
            </a:r>
            <a:endParaRPr lang="en-US" sz="850" dirty="0"/>
          </a:p>
        </p:txBody>
      </p:sp>
      <p:sp>
        <p:nvSpPr>
          <p:cNvPr id="10" name="Shape 8"/>
          <p:cNvSpPr/>
          <p:nvPr/>
        </p:nvSpPr>
        <p:spPr>
          <a:xfrm>
            <a:off x="502920" y="2980944"/>
            <a:ext cx="11201400" cy="0"/>
          </a:xfrm>
          <a:prstGeom prst="line">
            <a:avLst/>
          </a:prstGeom>
          <a:noFill/>
          <a:ln w="12700">
            <a:solidFill>
              <a:srgbClr val="E6E6E6"/>
            </a:solidFill>
            <a:prstDash val="solid"/>
          </a:ln>
        </p:spPr>
      </p:sp>
      <p:sp>
        <p:nvSpPr>
          <p:cNvPr id="11" name="Text 9"/>
          <p:cNvSpPr txBox="1"/>
          <p:nvPr/>
        </p:nvSpPr>
        <p:spPr>
          <a:xfrm>
            <a:off x="502920" y="3054096"/>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「1個あたりの限界利益が高い方を優先」という単純な発想は、制約条件がある場合は誤り。必ず制約資源1単位あたりで比較する。</a:t>
            </a:r>
            <a:endParaRPr lang="en-US" sz="950" dirty="0"/>
          </a:p>
        </p:txBody>
      </p:sp>
      <p:sp>
        <p:nvSpPr>
          <p:cNvPr id="12" name="Shape 10"/>
          <p:cNvSpPr/>
          <p:nvPr/>
        </p:nvSpPr>
        <p:spPr>
          <a:xfrm>
            <a:off x="502920" y="5989320"/>
            <a:ext cx="11201400" cy="0"/>
          </a:xfrm>
          <a:prstGeom prst="line">
            <a:avLst/>
          </a:prstGeom>
          <a:noFill/>
          <a:ln w="9525">
            <a:solidFill>
              <a:srgbClr val="171717"/>
            </a:solidFill>
            <a:prstDash val="solid"/>
          </a:ln>
        </p:spPr>
      </p:sp>
      <p:sp>
        <p:nvSpPr>
          <p:cNvPr id="13" name="Shape 11"/>
          <p:cNvSpPr/>
          <p:nvPr/>
        </p:nvSpPr>
        <p:spPr>
          <a:xfrm>
            <a:off x="502920" y="6062472"/>
            <a:ext cx="329184" cy="329184"/>
          </a:xfrm>
          <a:prstGeom prst="ellipse">
            <a:avLst/>
          </a:prstGeom>
          <a:solidFill>
            <a:srgbClr val="FF3B1F"/>
          </a:solidFill>
          <a:ln/>
        </p:spPr>
      </p:sp>
      <p:sp>
        <p:nvSpPr>
          <p:cNvPr id="14" name="Text 1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15" name="Text 1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直近10年で1回出題</a:t>
            </a:r>
            <a:endParaRPr lang="en-US" sz="1050" dirty="0"/>
          </a:p>
        </p:txBody>
      </p:sp>
      <p:sp>
        <p:nvSpPr>
          <p:cNvPr id="16" name="Shape 14"/>
          <p:cNvSpPr/>
          <p:nvPr/>
        </p:nvSpPr>
        <p:spPr>
          <a:xfrm>
            <a:off x="2331720" y="6062472"/>
            <a:ext cx="0" cy="329184"/>
          </a:xfrm>
          <a:prstGeom prst="line">
            <a:avLst/>
          </a:prstGeom>
          <a:noFill/>
          <a:ln w="12700">
            <a:solidFill>
              <a:srgbClr val="E6E6E6"/>
            </a:solidFill>
            <a:prstDash val="solid"/>
          </a:ln>
        </p:spPr>
      </p:sp>
      <p:sp>
        <p:nvSpPr>
          <p:cNvPr id="17" name="Text 1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関連：B-11 原価情報の利用（差額原価収益分析と同じ「差で考える」発想）。</a:t>
            </a:r>
            <a:endParaRPr lang="en-US" sz="1000" dirty="0"/>
          </a:p>
        </p:txBody>
      </p:sp>
      <p:sp>
        <p:nvSpPr>
          <p:cNvPr id="18" name="Text 1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19" name="Shape 17"/>
          <p:cNvSpPr/>
          <p:nvPr/>
        </p:nvSpPr>
        <p:spPr>
          <a:xfrm>
            <a:off x="2466594" y="6464808"/>
            <a:ext cx="146304" cy="146304"/>
          </a:xfrm>
          <a:prstGeom prst="ellipse">
            <a:avLst/>
          </a:prstGeom>
          <a:solidFill>
            <a:srgbClr val="FF3B1F"/>
          </a:solidFill>
          <a:ln w="12700">
            <a:solidFill>
              <a:srgbClr val="FF3B1F"/>
            </a:solidFill>
            <a:prstDash val="solid"/>
          </a:ln>
        </p:spPr>
      </p:sp>
      <p:sp>
        <p:nvSpPr>
          <p:cNvPr id="20" name="Text 1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1" name="Shape 19"/>
          <p:cNvSpPr/>
          <p:nvPr/>
        </p:nvSpPr>
        <p:spPr>
          <a:xfrm>
            <a:off x="3431286" y="6464808"/>
            <a:ext cx="146304" cy="146304"/>
          </a:xfrm>
          <a:prstGeom prst="ellipse">
            <a:avLst/>
          </a:prstGeom>
          <a:solidFill>
            <a:srgbClr val="FFFFFF"/>
          </a:solidFill>
          <a:ln w="12700">
            <a:solidFill>
              <a:srgbClr val="E6E6E6"/>
            </a:solidFill>
            <a:prstDash val="solid"/>
          </a:ln>
        </p:spPr>
      </p:sp>
      <p:sp>
        <p:nvSpPr>
          <p:cNvPr id="22" name="Text 2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3" name="Shape 21"/>
          <p:cNvSpPr/>
          <p:nvPr/>
        </p:nvSpPr>
        <p:spPr>
          <a:xfrm>
            <a:off x="4395978" y="6464808"/>
            <a:ext cx="146304" cy="146304"/>
          </a:xfrm>
          <a:prstGeom prst="ellipse">
            <a:avLst/>
          </a:prstGeom>
          <a:solidFill>
            <a:srgbClr val="FFFFFF"/>
          </a:solidFill>
          <a:ln w="12700">
            <a:solidFill>
              <a:srgbClr val="E6E6E6"/>
            </a:solidFill>
            <a:prstDash val="solid"/>
          </a:ln>
        </p:spPr>
      </p:sp>
      <p:sp>
        <p:nvSpPr>
          <p:cNvPr id="24" name="Text 2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25" name="Shape 23"/>
          <p:cNvSpPr/>
          <p:nvPr/>
        </p:nvSpPr>
        <p:spPr>
          <a:xfrm>
            <a:off x="5360670" y="6464808"/>
            <a:ext cx="146304" cy="146304"/>
          </a:xfrm>
          <a:prstGeom prst="ellipse">
            <a:avLst/>
          </a:prstGeom>
          <a:solidFill>
            <a:srgbClr val="FFFFFF"/>
          </a:solidFill>
          <a:ln w="12700">
            <a:solidFill>
              <a:srgbClr val="E6E6E6"/>
            </a:solidFill>
            <a:prstDash val="solid"/>
          </a:ln>
        </p:spPr>
      </p:sp>
      <p:sp>
        <p:nvSpPr>
          <p:cNvPr id="26" name="Text 2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27" name="Shape 25"/>
          <p:cNvSpPr/>
          <p:nvPr/>
        </p:nvSpPr>
        <p:spPr>
          <a:xfrm>
            <a:off x="6325362"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29" name="Shape 27"/>
          <p:cNvSpPr/>
          <p:nvPr/>
        </p:nvSpPr>
        <p:spPr>
          <a:xfrm>
            <a:off x="7290054"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1" name="Shape 29"/>
          <p:cNvSpPr/>
          <p:nvPr/>
        </p:nvSpPr>
        <p:spPr>
          <a:xfrm>
            <a:off x="8254746"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3" name="Shape 31"/>
          <p:cNvSpPr/>
          <p:nvPr/>
        </p:nvSpPr>
        <p:spPr>
          <a:xfrm>
            <a:off x="9219438"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35" name="Shape 33"/>
          <p:cNvSpPr/>
          <p:nvPr/>
        </p:nvSpPr>
        <p:spPr>
          <a:xfrm>
            <a:off x="10184130"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37" name="Shape 35"/>
          <p:cNvSpPr/>
          <p:nvPr/>
        </p:nvSpPr>
        <p:spPr>
          <a:xfrm>
            <a:off x="11148822"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B-17 ／ 利益と資金の管理：予算・実績差異分析</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価格差異と数量差異に分けて原因を切り分ける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標準原価計算における差異分析。掛け合わせる数量（実際か標準か）の組み合わせがポイント。</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標準原価と実際原価のズレ（原価差異）は「予算より多くかかった」で終わらせず、単価が違ったのか（価格差異）、使った量が違ったのか（数量差異）に分解して原因を切り分ける。</a:t>
            </a:r>
            <a:endParaRPr lang="en-US" sz="1100" dirty="0"/>
          </a:p>
        </p:txBody>
      </p:sp>
      <p:sp>
        <p:nvSpPr>
          <p:cNvPr id="9" name="Text 7"/>
          <p:cNvSpPr txBox="1"/>
          <p:nvPr/>
        </p:nvSpPr>
        <p:spPr>
          <a:xfrm>
            <a:off x="502920" y="2176272"/>
            <a:ext cx="155448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価格差異</a:t>
            </a:r>
            <a:endParaRPr lang="en-US" sz="1150" dirty="0"/>
          </a:p>
        </p:txBody>
      </p:sp>
      <p:sp>
        <p:nvSpPr>
          <p:cNvPr id="10" name="Shape 8"/>
          <p:cNvSpPr/>
          <p:nvPr/>
        </p:nvSpPr>
        <p:spPr>
          <a:xfrm>
            <a:off x="2039112" y="2176272"/>
            <a:ext cx="0" cy="256032"/>
          </a:xfrm>
          <a:prstGeom prst="line">
            <a:avLst/>
          </a:prstGeom>
          <a:noFill/>
          <a:ln w="12700">
            <a:solidFill>
              <a:srgbClr val="E6E6E6"/>
            </a:solidFill>
            <a:prstDash val="solid"/>
          </a:ln>
        </p:spPr>
      </p:sp>
      <p:sp>
        <p:nvSpPr>
          <p:cNvPr id="11" name="Text 9"/>
          <p:cNvSpPr txBox="1"/>
          <p:nvPr/>
        </p:nvSpPr>
        <p:spPr>
          <a:xfrm>
            <a:off x="2194560" y="2176272"/>
            <a:ext cx="950976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(実際価格－標準価格) × 実際消費量</a:t>
            </a:r>
            <a:endParaRPr lang="en-US" sz="1150" dirty="0"/>
          </a:p>
        </p:txBody>
      </p:sp>
      <p:sp>
        <p:nvSpPr>
          <p:cNvPr id="12" name="Text 10"/>
          <p:cNvSpPr txBox="1"/>
          <p:nvPr/>
        </p:nvSpPr>
        <p:spPr>
          <a:xfrm>
            <a:off x="502920" y="2560320"/>
            <a:ext cx="155448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数量差異</a:t>
            </a:r>
            <a:endParaRPr lang="en-US" sz="1150" dirty="0"/>
          </a:p>
        </p:txBody>
      </p:sp>
      <p:sp>
        <p:nvSpPr>
          <p:cNvPr id="13" name="Shape 11"/>
          <p:cNvSpPr/>
          <p:nvPr/>
        </p:nvSpPr>
        <p:spPr>
          <a:xfrm>
            <a:off x="2039112" y="2560320"/>
            <a:ext cx="0" cy="256032"/>
          </a:xfrm>
          <a:prstGeom prst="line">
            <a:avLst/>
          </a:prstGeom>
          <a:noFill/>
          <a:ln w="12700">
            <a:solidFill>
              <a:srgbClr val="E6E6E6"/>
            </a:solidFill>
            <a:prstDash val="solid"/>
          </a:ln>
        </p:spPr>
      </p:sp>
      <p:sp>
        <p:nvSpPr>
          <p:cNvPr id="14" name="Text 12"/>
          <p:cNvSpPr txBox="1"/>
          <p:nvPr/>
        </p:nvSpPr>
        <p:spPr>
          <a:xfrm>
            <a:off x="2194560" y="2560320"/>
            <a:ext cx="950976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(実際消費量－標準消費量) × 標準価格</a:t>
            </a:r>
            <a:endParaRPr lang="en-US" sz="1150" dirty="0"/>
          </a:p>
        </p:txBody>
      </p:sp>
      <p:sp>
        <p:nvSpPr>
          <p:cNvPr id="15" name="Text 13"/>
          <p:cNvSpPr txBox="1"/>
          <p:nvPr/>
        </p:nvSpPr>
        <p:spPr>
          <a:xfrm>
            <a:off x="502920" y="3035808"/>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標準：1kgあたり500円、1個2kg。実際：520円、2.2kg消費。価格差異＝(520－500)×2.2kg＝44円（不利）。数量差異＝(2.2－2)×500円＝100円（不利）。</a:t>
            </a:r>
            <a:endParaRPr lang="en-US" sz="850" dirty="0"/>
          </a:p>
        </p:txBody>
      </p:sp>
      <p:sp>
        <p:nvSpPr>
          <p:cNvPr id="16" name="Shape 14"/>
          <p:cNvSpPr/>
          <p:nvPr/>
        </p:nvSpPr>
        <p:spPr>
          <a:xfrm>
            <a:off x="502920" y="3611880"/>
            <a:ext cx="11201400" cy="0"/>
          </a:xfrm>
          <a:prstGeom prst="line">
            <a:avLst/>
          </a:prstGeom>
          <a:noFill/>
          <a:ln w="12700">
            <a:solidFill>
              <a:srgbClr val="E6E6E6"/>
            </a:solidFill>
            <a:prstDash val="solid"/>
          </a:ln>
        </p:spPr>
      </p:sp>
      <p:sp>
        <p:nvSpPr>
          <p:cNvPr id="17" name="Text 15"/>
          <p:cNvSpPr txBox="1"/>
          <p:nvPr/>
        </p:nvSpPr>
        <p:spPr>
          <a:xfrm>
            <a:off x="502920" y="3685032"/>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「価格のズレは実際消費量を掛ける」「数量のズレは標準価格で固定して掛ける」という掛け合わせる数量の組み合わせを逆にしやすい。</a:t>
            </a:r>
            <a:endParaRPr lang="en-US" sz="950" dirty="0"/>
          </a:p>
        </p:txBody>
      </p:sp>
      <p:sp>
        <p:nvSpPr>
          <p:cNvPr id="18" name="Shape 16"/>
          <p:cNvSpPr/>
          <p:nvPr/>
        </p:nvSpPr>
        <p:spPr>
          <a:xfrm>
            <a:off x="502920" y="5989320"/>
            <a:ext cx="11201400" cy="0"/>
          </a:xfrm>
          <a:prstGeom prst="line">
            <a:avLst/>
          </a:prstGeom>
          <a:noFill/>
          <a:ln w="9525">
            <a:solidFill>
              <a:srgbClr val="171717"/>
            </a:solidFill>
            <a:prstDash val="solid"/>
          </a:ln>
        </p:spPr>
      </p:sp>
      <p:sp>
        <p:nvSpPr>
          <p:cNvPr id="19" name="Shape 17"/>
          <p:cNvSpPr/>
          <p:nvPr/>
        </p:nvSpPr>
        <p:spPr>
          <a:xfrm>
            <a:off x="502920" y="6062472"/>
            <a:ext cx="329184" cy="329184"/>
          </a:xfrm>
          <a:prstGeom prst="ellipse">
            <a:avLst/>
          </a:prstGeom>
          <a:solidFill>
            <a:srgbClr val="FF3B1F"/>
          </a:solidFill>
          <a:ln/>
        </p:spPr>
      </p:sp>
      <p:sp>
        <p:nvSpPr>
          <p:cNvPr id="20" name="Text 1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21" name="Text 19"/>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直近10年で1回出題</a:t>
            </a:r>
            <a:endParaRPr lang="en-US" sz="1050" dirty="0"/>
          </a:p>
        </p:txBody>
      </p:sp>
      <p:sp>
        <p:nvSpPr>
          <p:cNvPr id="22" name="Shape 20"/>
          <p:cNvSpPr/>
          <p:nvPr/>
        </p:nvSpPr>
        <p:spPr>
          <a:xfrm>
            <a:off x="2331720" y="6062472"/>
            <a:ext cx="0" cy="329184"/>
          </a:xfrm>
          <a:prstGeom prst="line">
            <a:avLst/>
          </a:prstGeom>
          <a:noFill/>
          <a:ln w="12700">
            <a:solidFill>
              <a:srgbClr val="E6E6E6"/>
            </a:solidFill>
            <a:prstDash val="solid"/>
          </a:ln>
        </p:spPr>
      </p:sp>
      <p:sp>
        <p:nvSpPr>
          <p:cNvPr id="23" name="Text 21"/>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関連：B-10 原価計算（標準原価計算の考え方がベース）。</a:t>
            </a:r>
            <a:endParaRPr lang="en-US" sz="1000" dirty="0"/>
          </a:p>
        </p:txBody>
      </p:sp>
      <p:sp>
        <p:nvSpPr>
          <p:cNvPr id="24" name="Text 22"/>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5" name="Shape 23"/>
          <p:cNvSpPr/>
          <p:nvPr/>
        </p:nvSpPr>
        <p:spPr>
          <a:xfrm>
            <a:off x="2466594" y="6464808"/>
            <a:ext cx="146304" cy="146304"/>
          </a:xfrm>
          <a:prstGeom prst="ellipse">
            <a:avLst/>
          </a:prstGeom>
          <a:solidFill>
            <a:srgbClr val="FFFFFF"/>
          </a:solidFill>
          <a:ln w="12700">
            <a:solidFill>
              <a:srgbClr val="E6E6E6"/>
            </a:solidFill>
            <a:prstDash val="solid"/>
          </a:ln>
        </p:spPr>
      </p:sp>
      <p:sp>
        <p:nvSpPr>
          <p:cNvPr id="26" name="Text 24"/>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7" name="Shape 25"/>
          <p:cNvSpPr/>
          <p:nvPr/>
        </p:nvSpPr>
        <p:spPr>
          <a:xfrm>
            <a:off x="3431286"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9" name="Shape 27"/>
          <p:cNvSpPr/>
          <p:nvPr/>
        </p:nvSpPr>
        <p:spPr>
          <a:xfrm>
            <a:off x="4395978"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1" name="Shape 29"/>
          <p:cNvSpPr/>
          <p:nvPr/>
        </p:nvSpPr>
        <p:spPr>
          <a:xfrm>
            <a:off x="5360670"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3" name="Shape 31"/>
          <p:cNvSpPr/>
          <p:nvPr/>
        </p:nvSpPr>
        <p:spPr>
          <a:xfrm>
            <a:off x="6325362"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5" name="Shape 33"/>
          <p:cNvSpPr/>
          <p:nvPr/>
        </p:nvSpPr>
        <p:spPr>
          <a:xfrm>
            <a:off x="7290054"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7" name="Shape 35"/>
          <p:cNvSpPr/>
          <p:nvPr/>
        </p:nvSpPr>
        <p:spPr>
          <a:xfrm>
            <a:off x="8254746"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9" name="Shape 37"/>
          <p:cNvSpPr/>
          <p:nvPr/>
        </p:nvSpPr>
        <p:spPr>
          <a:xfrm>
            <a:off x="9219438"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1" name="Shape 39"/>
          <p:cNvSpPr/>
          <p:nvPr/>
        </p:nvSpPr>
        <p:spPr>
          <a:xfrm>
            <a:off x="10184130"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3" name="Shape 41"/>
          <p:cNvSpPr/>
          <p:nvPr/>
        </p:nvSpPr>
        <p:spPr>
          <a:xfrm>
            <a:off x="11148822"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B-18 ／ 利益と資金の管理：資金繰りと資金計画</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利益が出ていても現金が足りなくなる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運転資金＝売上債権＋棚卸資産－仕入債務。急拡大局面ほど資金がショートしやすい。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50" b="1" dirty="0">
                <a:solidFill>
                  <a:srgbClr val="171717"/>
                </a:solidFill>
                <a:latin typeface="Yu Gothic" pitchFamily="34" charset="0"/>
                <a:ea typeface="Yu Gothic" pitchFamily="34" charset="-122"/>
                <a:cs typeface="Yu Gothic" pitchFamily="34" charset="-120"/>
              </a:rPr>
              <a:t>資金繰り：</a:t>
            </a:r>
            <a:pPr indent="0" marL="0">
              <a:lnSpc>
                <a:spcPct val="125000"/>
              </a:lnSpc>
              <a:buNone/>
            </a:pPr>
            <a:r>
              <a:rPr lang="en-US" sz="1150" dirty="0">
                <a:solidFill>
                  <a:srgbClr val="171717"/>
                </a:solidFill>
                <a:latin typeface="Yu Gothic" pitchFamily="34" charset="0"/>
                <a:ea typeface="Yu Gothic" pitchFamily="34" charset="-122"/>
                <a:cs typeface="Yu Gothic" pitchFamily="34" charset="-120"/>
              </a:rPr>
              <a:t>事業継続に必要な現金がいつ・いくら必要かを予測し、ショートしないよう管理すること。中心は「運転資金」の考え方。</a:t>
            </a:r>
            <a:endParaRPr lang="en-US" sz="1150" dirty="0"/>
          </a:p>
        </p:txBody>
      </p:sp>
      <p:sp>
        <p:nvSpPr>
          <p:cNvPr id="9" name="Text 7"/>
          <p:cNvSpPr txBox="1"/>
          <p:nvPr/>
        </p:nvSpPr>
        <p:spPr>
          <a:xfrm>
            <a:off x="502920" y="2176272"/>
            <a:ext cx="155448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運転資金</a:t>
            </a:r>
            <a:endParaRPr lang="en-US" sz="1150" dirty="0"/>
          </a:p>
        </p:txBody>
      </p:sp>
      <p:sp>
        <p:nvSpPr>
          <p:cNvPr id="10" name="Shape 8"/>
          <p:cNvSpPr/>
          <p:nvPr/>
        </p:nvSpPr>
        <p:spPr>
          <a:xfrm>
            <a:off x="2039112" y="2176272"/>
            <a:ext cx="0" cy="256032"/>
          </a:xfrm>
          <a:prstGeom prst="line">
            <a:avLst/>
          </a:prstGeom>
          <a:noFill/>
          <a:ln w="12700">
            <a:solidFill>
              <a:srgbClr val="E6E6E6"/>
            </a:solidFill>
            <a:prstDash val="solid"/>
          </a:ln>
        </p:spPr>
      </p:sp>
      <p:sp>
        <p:nvSpPr>
          <p:cNvPr id="11" name="Text 9"/>
          <p:cNvSpPr txBox="1"/>
          <p:nvPr/>
        </p:nvSpPr>
        <p:spPr>
          <a:xfrm>
            <a:off x="2194560" y="2176272"/>
            <a:ext cx="950976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売上債権＋棚卸資産－仕入債務</a:t>
            </a:r>
            <a:endParaRPr lang="en-US" sz="1150" dirty="0"/>
          </a:p>
        </p:txBody>
      </p:sp>
      <p:sp>
        <p:nvSpPr>
          <p:cNvPr id="12" name="Text 10"/>
          <p:cNvSpPr txBox="1"/>
          <p:nvPr/>
        </p:nvSpPr>
        <p:spPr>
          <a:xfrm>
            <a:off x="502920" y="2633472"/>
            <a:ext cx="11201400" cy="713232"/>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売上債権2,000万・棚卸資産1,500万・仕入債務1,200万→運転資金＝2,300万円。売上急拡大で売掛金・在庫が膨らむと運転資金の必要額が増加する（黒字倒産の典型パターン）。</a:t>
            </a:r>
            <a:endParaRPr lang="en-US" sz="850" dirty="0"/>
          </a:p>
        </p:txBody>
      </p:sp>
      <p:sp>
        <p:nvSpPr>
          <p:cNvPr id="13" name="Shape 11"/>
          <p:cNvSpPr/>
          <p:nvPr/>
        </p:nvSpPr>
        <p:spPr>
          <a:xfrm>
            <a:off x="502920" y="3419856"/>
            <a:ext cx="11201400" cy="0"/>
          </a:xfrm>
          <a:prstGeom prst="line">
            <a:avLst/>
          </a:prstGeom>
          <a:noFill/>
          <a:ln w="12700">
            <a:solidFill>
              <a:srgbClr val="E6E6E6"/>
            </a:solidFill>
            <a:prstDash val="solid"/>
          </a:ln>
        </p:spPr>
      </p:sp>
      <p:sp>
        <p:nvSpPr>
          <p:cNvPr id="14" name="Text 12"/>
          <p:cNvSpPr txBox="1"/>
          <p:nvPr/>
        </p:nvSpPr>
        <p:spPr>
          <a:xfrm>
            <a:off x="502920" y="3493008"/>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「利益が出ている＝現金に余裕がある」とは限らない。「勘定合って銭足らず」の状況を理解しておく。</a:t>
            </a:r>
            <a:endParaRPr lang="en-US" sz="950" dirty="0"/>
          </a:p>
        </p:txBody>
      </p:sp>
      <p:sp>
        <p:nvSpPr>
          <p:cNvPr id="15" name="Shape 13"/>
          <p:cNvSpPr/>
          <p:nvPr/>
        </p:nvSpPr>
        <p:spPr>
          <a:xfrm>
            <a:off x="502920" y="5989320"/>
            <a:ext cx="11201400" cy="0"/>
          </a:xfrm>
          <a:prstGeom prst="line">
            <a:avLst/>
          </a:prstGeom>
          <a:noFill/>
          <a:ln w="9525">
            <a:solidFill>
              <a:srgbClr val="171717"/>
            </a:solidFill>
            <a:prstDash val="solid"/>
          </a:ln>
        </p:spPr>
      </p:sp>
      <p:sp>
        <p:nvSpPr>
          <p:cNvPr id="16" name="Shape 14"/>
          <p:cNvSpPr/>
          <p:nvPr/>
        </p:nvSpPr>
        <p:spPr>
          <a:xfrm>
            <a:off x="502920" y="6062472"/>
            <a:ext cx="329184" cy="329184"/>
          </a:xfrm>
          <a:prstGeom prst="ellipse">
            <a:avLst/>
          </a:prstGeom>
          <a:solidFill>
            <a:srgbClr val="FF3B1F"/>
          </a:solidFill>
          <a:ln/>
        </p:spPr>
      </p:sp>
      <p:sp>
        <p:nvSpPr>
          <p:cNvPr id="17" name="Text 15"/>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a:t>
            </a:r>
            <a:endParaRPr lang="en-US" sz="1300" dirty="0"/>
          </a:p>
        </p:txBody>
      </p:sp>
      <p:sp>
        <p:nvSpPr>
          <p:cNvPr id="18" name="Text 16"/>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直近10年で2回出題</a:t>
            </a:r>
            <a:endParaRPr lang="en-US" sz="1050" dirty="0"/>
          </a:p>
        </p:txBody>
      </p:sp>
      <p:sp>
        <p:nvSpPr>
          <p:cNvPr id="19" name="Shape 17"/>
          <p:cNvSpPr/>
          <p:nvPr/>
        </p:nvSpPr>
        <p:spPr>
          <a:xfrm>
            <a:off x="2331720" y="6062472"/>
            <a:ext cx="0" cy="329184"/>
          </a:xfrm>
          <a:prstGeom prst="line">
            <a:avLst/>
          </a:prstGeom>
          <a:noFill/>
          <a:ln w="12700">
            <a:solidFill>
              <a:srgbClr val="E6E6E6"/>
            </a:solidFill>
            <a:prstDash val="solid"/>
          </a:ln>
        </p:spPr>
      </p:sp>
      <p:sp>
        <p:nvSpPr>
          <p:cNvPr id="20" name="Text 18"/>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関連：B-19 キャッシュ・フロー管理（CCCは運転資金を日数で見る指標）。</a:t>
            </a:r>
            <a:endParaRPr lang="en-US" sz="1000" dirty="0"/>
          </a:p>
        </p:txBody>
      </p:sp>
      <p:sp>
        <p:nvSpPr>
          <p:cNvPr id="21" name="Text 19"/>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2" name="Shape 20"/>
          <p:cNvSpPr/>
          <p:nvPr/>
        </p:nvSpPr>
        <p:spPr>
          <a:xfrm>
            <a:off x="2466594" y="6464808"/>
            <a:ext cx="146304" cy="146304"/>
          </a:xfrm>
          <a:prstGeom prst="ellipse">
            <a:avLst/>
          </a:prstGeom>
          <a:solidFill>
            <a:srgbClr val="FFFFFF"/>
          </a:solidFill>
          <a:ln w="12700">
            <a:solidFill>
              <a:srgbClr val="E6E6E6"/>
            </a:solidFill>
            <a:prstDash val="solid"/>
          </a:ln>
        </p:spPr>
      </p:sp>
      <p:sp>
        <p:nvSpPr>
          <p:cNvPr id="23" name="Text 21"/>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4" name="Shape 22"/>
          <p:cNvSpPr/>
          <p:nvPr/>
        </p:nvSpPr>
        <p:spPr>
          <a:xfrm>
            <a:off x="3431286" y="6464808"/>
            <a:ext cx="146304" cy="146304"/>
          </a:xfrm>
          <a:prstGeom prst="ellipse">
            <a:avLst/>
          </a:prstGeom>
          <a:solidFill>
            <a:srgbClr val="FFFFFF"/>
          </a:solidFill>
          <a:ln w="12700">
            <a:solidFill>
              <a:srgbClr val="E6E6E6"/>
            </a:solidFill>
            <a:prstDash val="solid"/>
          </a:ln>
        </p:spPr>
      </p:sp>
      <p:sp>
        <p:nvSpPr>
          <p:cNvPr id="25" name="Text 23"/>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6" name="Shape 24"/>
          <p:cNvSpPr/>
          <p:nvPr/>
        </p:nvSpPr>
        <p:spPr>
          <a:xfrm>
            <a:off x="4395978"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28" name="Shape 26"/>
          <p:cNvSpPr/>
          <p:nvPr/>
        </p:nvSpPr>
        <p:spPr>
          <a:xfrm>
            <a:off x="5360670"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0" name="Shape 28"/>
          <p:cNvSpPr/>
          <p:nvPr/>
        </p:nvSpPr>
        <p:spPr>
          <a:xfrm>
            <a:off x="6325362"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2" name="Shape 30"/>
          <p:cNvSpPr/>
          <p:nvPr/>
        </p:nvSpPr>
        <p:spPr>
          <a:xfrm>
            <a:off x="7290054"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4" name="Shape 32"/>
          <p:cNvSpPr/>
          <p:nvPr/>
        </p:nvSpPr>
        <p:spPr>
          <a:xfrm>
            <a:off x="8254746"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6" name="Shape 34"/>
          <p:cNvSpPr/>
          <p:nvPr/>
        </p:nvSpPr>
        <p:spPr>
          <a:xfrm>
            <a:off x="9219438"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38" name="Shape 36"/>
          <p:cNvSpPr/>
          <p:nvPr/>
        </p:nvSpPr>
        <p:spPr>
          <a:xfrm>
            <a:off x="10184130"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0" name="Shape 38"/>
          <p:cNvSpPr/>
          <p:nvPr/>
        </p:nvSpPr>
        <p:spPr>
          <a:xfrm>
            <a:off x="11148822"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B-19 ／ 利益と資金の管理：キャッシュ・フロー管理</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FCF＝営業CF－投資CF</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自由に使える現金がFCF。CCCは仕入から回収までの日数を測る資金効率の指標。</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B-6で見た営業CFの計算に、設備投資による資金流出（投資CF）を反映させたものがFCF。CCCは、その資金効率を売上債権・棚卸資産・仕入債務の回転日数から日数換算した指標。</a:t>
            </a:r>
            <a:endParaRPr lang="en-US" sz="1100" dirty="0"/>
          </a:p>
        </p:txBody>
      </p:sp>
      <p:sp>
        <p:nvSpPr>
          <p:cNvPr id="9" name="Text 7"/>
          <p:cNvSpPr txBox="1"/>
          <p:nvPr/>
        </p:nvSpPr>
        <p:spPr>
          <a:xfrm>
            <a:off x="502920" y="2176272"/>
            <a:ext cx="118872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FCF</a:t>
            </a:r>
            <a:endParaRPr lang="en-US" sz="1150" dirty="0"/>
          </a:p>
        </p:txBody>
      </p:sp>
      <p:sp>
        <p:nvSpPr>
          <p:cNvPr id="10" name="Shape 8"/>
          <p:cNvSpPr/>
          <p:nvPr/>
        </p:nvSpPr>
        <p:spPr>
          <a:xfrm>
            <a:off x="1673352" y="2176272"/>
            <a:ext cx="0" cy="256032"/>
          </a:xfrm>
          <a:prstGeom prst="line">
            <a:avLst/>
          </a:prstGeom>
          <a:noFill/>
          <a:ln w="12700">
            <a:solidFill>
              <a:srgbClr val="E6E6E6"/>
            </a:solidFill>
            <a:prstDash val="solid"/>
          </a:ln>
        </p:spPr>
      </p:sp>
      <p:sp>
        <p:nvSpPr>
          <p:cNvPr id="11" name="Text 9"/>
          <p:cNvSpPr txBox="1"/>
          <p:nvPr/>
        </p:nvSpPr>
        <p:spPr>
          <a:xfrm>
            <a:off x="1828800" y="2176272"/>
            <a:ext cx="987552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営業キャッシュ・フロー－投資キャッシュ・フロー（設備投資額）</a:t>
            </a:r>
            <a:endParaRPr lang="en-US" sz="1150" dirty="0"/>
          </a:p>
        </p:txBody>
      </p:sp>
      <p:sp>
        <p:nvSpPr>
          <p:cNvPr id="12" name="Text 10"/>
          <p:cNvSpPr txBox="1"/>
          <p:nvPr/>
        </p:nvSpPr>
        <p:spPr>
          <a:xfrm>
            <a:off x="502920" y="2560320"/>
            <a:ext cx="118872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CCC</a:t>
            </a:r>
            <a:endParaRPr lang="en-US" sz="1150" dirty="0"/>
          </a:p>
        </p:txBody>
      </p:sp>
      <p:sp>
        <p:nvSpPr>
          <p:cNvPr id="13" name="Shape 11"/>
          <p:cNvSpPr/>
          <p:nvPr/>
        </p:nvSpPr>
        <p:spPr>
          <a:xfrm>
            <a:off x="1673352" y="2560320"/>
            <a:ext cx="0" cy="256032"/>
          </a:xfrm>
          <a:prstGeom prst="line">
            <a:avLst/>
          </a:prstGeom>
          <a:noFill/>
          <a:ln w="12700">
            <a:solidFill>
              <a:srgbClr val="E6E6E6"/>
            </a:solidFill>
            <a:prstDash val="solid"/>
          </a:ln>
        </p:spPr>
      </p:sp>
      <p:sp>
        <p:nvSpPr>
          <p:cNvPr id="14" name="Text 12"/>
          <p:cNvSpPr txBox="1"/>
          <p:nvPr/>
        </p:nvSpPr>
        <p:spPr>
          <a:xfrm>
            <a:off x="1828800" y="2560320"/>
            <a:ext cx="987552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売上債権回転日数＋棚卸資産回転日数－仕入債務回転日数（短いほど資金効率が良い）</a:t>
            </a:r>
            <a:endParaRPr lang="en-US" sz="1150" dirty="0"/>
          </a:p>
        </p:txBody>
      </p:sp>
      <p:sp>
        <p:nvSpPr>
          <p:cNvPr id="15" name="Text 13"/>
          <p:cNvSpPr txBox="1"/>
          <p:nvPr/>
        </p:nvSpPr>
        <p:spPr>
          <a:xfrm>
            <a:off x="502920" y="3035808"/>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当期純利益1,000万・減価償却費200万・売上債権150万増加・仕入債務80万増加・設備投資300万→営業CF1,130万、FCF＝1,130－300＝830万円。</a:t>
            </a:r>
            <a:endParaRPr lang="en-US" sz="850" dirty="0"/>
          </a:p>
        </p:txBody>
      </p:sp>
      <p:sp>
        <p:nvSpPr>
          <p:cNvPr id="16" name="Shape 14"/>
          <p:cNvSpPr/>
          <p:nvPr/>
        </p:nvSpPr>
        <p:spPr>
          <a:xfrm>
            <a:off x="502920" y="3611880"/>
            <a:ext cx="11201400" cy="0"/>
          </a:xfrm>
          <a:prstGeom prst="line">
            <a:avLst/>
          </a:prstGeom>
          <a:noFill/>
          <a:ln w="12700">
            <a:solidFill>
              <a:srgbClr val="E6E6E6"/>
            </a:solidFill>
            <a:prstDash val="solid"/>
          </a:ln>
        </p:spPr>
      </p:sp>
      <p:sp>
        <p:nvSpPr>
          <p:cNvPr id="17" name="Text 15"/>
          <p:cNvSpPr txBox="1"/>
          <p:nvPr/>
        </p:nvSpPr>
        <p:spPr>
          <a:xfrm>
            <a:off x="502920" y="3685032"/>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「売上債権の増加額は加算」「設備投資額は加算」はB-6の向きを逆にした典型的な誤り。売上債権増加→減算、設備投資額→減算が正しい向き。</a:t>
            </a:r>
            <a:endParaRPr lang="en-US" sz="950" dirty="0"/>
          </a:p>
        </p:txBody>
      </p:sp>
      <p:sp>
        <p:nvSpPr>
          <p:cNvPr id="18" name="Shape 16"/>
          <p:cNvSpPr/>
          <p:nvPr/>
        </p:nvSpPr>
        <p:spPr>
          <a:xfrm>
            <a:off x="502920" y="5989320"/>
            <a:ext cx="11201400" cy="0"/>
          </a:xfrm>
          <a:prstGeom prst="line">
            <a:avLst/>
          </a:prstGeom>
          <a:noFill/>
          <a:ln w="9525">
            <a:solidFill>
              <a:srgbClr val="171717"/>
            </a:solidFill>
            <a:prstDash val="solid"/>
          </a:ln>
        </p:spPr>
      </p:sp>
      <p:sp>
        <p:nvSpPr>
          <p:cNvPr id="19" name="Shape 17"/>
          <p:cNvSpPr/>
          <p:nvPr/>
        </p:nvSpPr>
        <p:spPr>
          <a:xfrm>
            <a:off x="502920" y="6062472"/>
            <a:ext cx="329184" cy="329184"/>
          </a:xfrm>
          <a:prstGeom prst="ellipse">
            <a:avLst/>
          </a:prstGeom>
          <a:solidFill>
            <a:srgbClr val="FF3B1F"/>
          </a:solidFill>
          <a:ln/>
        </p:spPr>
      </p:sp>
      <p:sp>
        <p:nvSpPr>
          <p:cNvPr id="20" name="Text 1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a:t>
            </a:r>
            <a:endParaRPr lang="en-US" sz="1300" dirty="0"/>
          </a:p>
        </p:txBody>
      </p:sp>
      <p:sp>
        <p:nvSpPr>
          <p:cNvPr id="21" name="Text 19"/>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直近10年で2回出題</a:t>
            </a:r>
            <a:endParaRPr lang="en-US" sz="1050" dirty="0"/>
          </a:p>
        </p:txBody>
      </p:sp>
      <p:sp>
        <p:nvSpPr>
          <p:cNvPr id="22" name="Shape 20"/>
          <p:cNvSpPr/>
          <p:nvPr/>
        </p:nvSpPr>
        <p:spPr>
          <a:xfrm>
            <a:off x="2331720" y="6062472"/>
            <a:ext cx="0" cy="329184"/>
          </a:xfrm>
          <a:prstGeom prst="line">
            <a:avLst/>
          </a:prstGeom>
          <a:noFill/>
          <a:ln w="12700">
            <a:solidFill>
              <a:srgbClr val="E6E6E6"/>
            </a:solidFill>
            <a:prstDash val="solid"/>
          </a:ln>
        </p:spPr>
      </p:sp>
      <p:sp>
        <p:nvSpPr>
          <p:cNvPr id="23" name="Text 21"/>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関連：B-6 キャッシュ・フロー計算書（間接法の調整がこのFCF計算のベース）。</a:t>
            </a:r>
            <a:endParaRPr lang="en-US" sz="1000" dirty="0"/>
          </a:p>
        </p:txBody>
      </p:sp>
      <p:sp>
        <p:nvSpPr>
          <p:cNvPr id="24" name="Text 22"/>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5" name="Shape 23"/>
          <p:cNvSpPr/>
          <p:nvPr/>
        </p:nvSpPr>
        <p:spPr>
          <a:xfrm>
            <a:off x="2466594" y="6464808"/>
            <a:ext cx="146304" cy="146304"/>
          </a:xfrm>
          <a:prstGeom prst="ellipse">
            <a:avLst/>
          </a:prstGeom>
          <a:solidFill>
            <a:srgbClr val="FFFFFF"/>
          </a:solidFill>
          <a:ln w="12700">
            <a:solidFill>
              <a:srgbClr val="E6E6E6"/>
            </a:solidFill>
            <a:prstDash val="solid"/>
          </a:ln>
        </p:spPr>
      </p:sp>
      <p:sp>
        <p:nvSpPr>
          <p:cNvPr id="26" name="Text 24"/>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7" name="Shape 25"/>
          <p:cNvSpPr/>
          <p:nvPr/>
        </p:nvSpPr>
        <p:spPr>
          <a:xfrm>
            <a:off x="3431286"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9" name="Shape 27"/>
          <p:cNvSpPr/>
          <p:nvPr/>
        </p:nvSpPr>
        <p:spPr>
          <a:xfrm>
            <a:off x="4395978"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1" name="Shape 29"/>
          <p:cNvSpPr/>
          <p:nvPr/>
        </p:nvSpPr>
        <p:spPr>
          <a:xfrm>
            <a:off x="5360670"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3" name="Shape 31"/>
          <p:cNvSpPr/>
          <p:nvPr/>
        </p:nvSpPr>
        <p:spPr>
          <a:xfrm>
            <a:off x="6325362"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5" name="Shape 33"/>
          <p:cNvSpPr/>
          <p:nvPr/>
        </p:nvSpPr>
        <p:spPr>
          <a:xfrm>
            <a:off x="7290054"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7" name="Shape 35"/>
          <p:cNvSpPr/>
          <p:nvPr/>
        </p:nvSpPr>
        <p:spPr>
          <a:xfrm>
            <a:off x="8254746"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9" name="Shape 37"/>
          <p:cNvSpPr/>
          <p:nvPr/>
        </p:nvSpPr>
        <p:spPr>
          <a:xfrm>
            <a:off x="9219438"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1" name="Shape 39"/>
          <p:cNvSpPr/>
          <p:nvPr/>
        </p:nvSpPr>
        <p:spPr>
          <a:xfrm>
            <a:off x="10184130"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3" name="Shape 41"/>
          <p:cNvSpPr/>
          <p:nvPr/>
        </p:nvSpPr>
        <p:spPr>
          <a:xfrm>
            <a:off x="11148822"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第21問）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5486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当期純利益からフリー・キャッシュ・フローを計算する場合の記述として、最も適切なものはどれか。なお、税金は存在しないものとする。</a:t>
            </a:r>
            <a:endParaRPr lang="en-US" sz="1250" dirty="0"/>
          </a:p>
        </p:txBody>
      </p:sp>
      <p:sp>
        <p:nvSpPr>
          <p:cNvPr id="9" name="Text 7"/>
          <p:cNvSpPr txBox="1"/>
          <p:nvPr/>
        </p:nvSpPr>
        <p:spPr>
          <a:xfrm>
            <a:off x="731520" y="233172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売上債権の増加額は、当期純利益に加算される。</a:t>
            </a:r>
            <a:endParaRPr lang="en-US" sz="1150" dirty="0"/>
          </a:p>
        </p:txBody>
      </p:sp>
      <p:sp>
        <p:nvSpPr>
          <p:cNvPr id="10" name="Text 8"/>
          <p:cNvSpPr txBox="1"/>
          <p:nvPr/>
        </p:nvSpPr>
        <p:spPr>
          <a:xfrm>
            <a:off x="731520" y="280720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減価償却費は、当期純利益から減算される。</a:t>
            </a:r>
            <a:endParaRPr lang="en-US" sz="1150" dirty="0"/>
          </a:p>
        </p:txBody>
      </p:sp>
      <p:sp>
        <p:nvSpPr>
          <p:cNvPr id="11" name="Text 9"/>
          <p:cNvSpPr txBox="1"/>
          <p:nvPr/>
        </p:nvSpPr>
        <p:spPr>
          <a:xfrm>
            <a:off x="731520" y="328269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仕入債務の増加額は、当期純利益に加算される。</a:t>
            </a:r>
            <a:endParaRPr lang="en-US" sz="1150" dirty="0"/>
          </a:p>
        </p:txBody>
      </p:sp>
      <p:sp>
        <p:nvSpPr>
          <p:cNvPr id="12" name="Text 10"/>
          <p:cNvSpPr txBox="1"/>
          <p:nvPr/>
        </p:nvSpPr>
        <p:spPr>
          <a:xfrm>
            <a:off x="731520" y="375818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設備投資額は、当期純利益に加算される。</a:t>
            </a:r>
            <a:endParaRPr lang="en-US" sz="1150" dirty="0"/>
          </a:p>
        </p:txBody>
      </p:sp>
      <p:sp>
        <p:nvSpPr>
          <p:cNvPr id="13" name="Text 11"/>
          <p:cNvSpPr txBox="1"/>
          <p:nvPr/>
        </p:nvSpPr>
        <p:spPr>
          <a:xfrm>
            <a:off x="502920" y="4370832"/>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出典：past_exams/1st_stage/1ji2025/B1JI2025.pdf（令和7年度第1次試験）第21問</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B-19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第21問）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正解はウ。仕入債務の増加＝支払いの先延ばし＝現金流出が抑えられる＝加算。</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売上債権の増加額は、当期純利益に加算される。</a:t>
            </a:r>
            <a:endParaRPr lang="en-US" sz="1150" dirty="0"/>
          </a:p>
        </p:txBody>
      </p:sp>
      <p:sp>
        <p:nvSpPr>
          <p:cNvPr id="9" name="Text 7"/>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減価償却費は、当期純利益から減算される。</a:t>
            </a:r>
            <a:endParaRPr lang="en-US" sz="1150" dirty="0"/>
          </a:p>
        </p:txBody>
      </p:sp>
      <p:sp>
        <p:nvSpPr>
          <p:cNvPr id="10" name="Shape 8"/>
          <p:cNvSpPr/>
          <p:nvPr/>
        </p:nvSpPr>
        <p:spPr>
          <a:xfrm>
            <a:off x="502920" y="2660904"/>
            <a:ext cx="11201400" cy="475488"/>
          </a:xfrm>
          <a:prstGeom prst="rect">
            <a:avLst/>
          </a:prstGeom>
          <a:solidFill>
            <a:srgbClr val="F4F4F4"/>
          </a:solidFill>
          <a:ln/>
        </p:spPr>
      </p:sp>
      <p:sp>
        <p:nvSpPr>
          <p:cNvPr id="11" name="Shape 9"/>
          <p:cNvSpPr/>
          <p:nvPr/>
        </p:nvSpPr>
        <p:spPr>
          <a:xfrm>
            <a:off x="502920" y="2660904"/>
            <a:ext cx="0" cy="475488"/>
          </a:xfrm>
          <a:prstGeom prst="line">
            <a:avLst/>
          </a:prstGeom>
          <a:noFill/>
          <a:ln w="38100">
            <a:solidFill>
              <a:srgbClr val="FF3B1F"/>
            </a:solidFill>
            <a:prstDash val="solid"/>
          </a:ln>
        </p:spPr>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仕入債務の増加額は、当期純利益に加算される。</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設備投資額は、当期純利益に加算される。</a:t>
            </a:r>
            <a:endParaRPr lang="en-US" sz="1150" dirty="0"/>
          </a:p>
        </p:txBody>
      </p:sp>
      <p:sp>
        <p:nvSpPr>
          <p:cNvPr id="14" name="Shape 12"/>
          <p:cNvSpPr/>
          <p:nvPr/>
        </p:nvSpPr>
        <p:spPr>
          <a:xfrm>
            <a:off x="502920" y="3712464"/>
            <a:ext cx="11201400" cy="0"/>
          </a:xfrm>
          <a:prstGeom prst="line">
            <a:avLst/>
          </a:prstGeom>
          <a:noFill/>
          <a:ln w="12700">
            <a:solidFill>
              <a:srgbClr val="171717"/>
            </a:solidFill>
            <a:prstDash val="solid"/>
          </a:ln>
        </p:spPr>
      </p:sp>
      <p:sp>
        <p:nvSpPr>
          <p:cNvPr id="15" name="Text 13"/>
          <p:cNvSpPr txBox="1"/>
          <p:nvPr/>
        </p:nvSpPr>
        <p:spPr>
          <a:xfrm>
            <a:off x="502920" y="3803904"/>
            <a:ext cx="11201400" cy="914400"/>
          </a:xfrm>
          <a:prstGeom prst="rect">
            <a:avLst/>
          </a:prstGeom>
          <a:noFill/>
          <a:ln/>
        </p:spPr>
        <p:txBody>
          <a:bodyPr wrap="square" lIns="0" tIns="0" rIns="0" bIns="0" rtlCol="0" anchor="ctr"/>
          <a:lstStyle/>
          <a:p>
            <a:pPr indent="0" marL="0">
              <a:lnSpc>
                <a:spcPct val="120000"/>
              </a:lnSpc>
              <a:buNone/>
            </a:pPr>
            <a:r>
              <a:rPr lang="en-US" sz="1050" b="1" dirty="0">
                <a:solidFill>
                  <a:srgbClr val="FF3B1F"/>
                </a:solidFill>
                <a:latin typeface="Yu Gothic" pitchFamily="34" charset="0"/>
                <a:ea typeface="Yu Gothic" pitchFamily="34" charset="-122"/>
                <a:cs typeface="Yu Gothic" pitchFamily="34" charset="-120"/>
              </a:rPr>
              <a:t>正解：ウ</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仕入債務が増加する＝支払いを先延ばしできている＝現金流出が抑えられている、ということなので当期純利益に加算される。ア：売上債権が増加する＝まだ現金を回収できていない、ということなのでキャッシュベースでは</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減算</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しなければならない。イ：減価償却費は実際の現金支出を伴わない（非資金費用）ため、当期純利益に</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加算</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して戻す。エ：設備投資額は実際に現金が出ていく支出なので、当期純利益から</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減算</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する。</a:t>
            </a:r>
            <a:endParaRPr lang="en-US" sz="1050" dirty="0"/>
          </a:p>
        </p:txBody>
      </p:sp>
      <p:sp>
        <p:nvSpPr>
          <p:cNvPr id="16" name="Text 14"/>
          <p:cNvSpPr txBox="1"/>
          <p:nvPr/>
        </p:nvSpPr>
        <p:spPr>
          <a:xfrm>
            <a:off x="502920" y="4791456"/>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FCF＝営業CF－投資CF、間接法での営業CFは「当期純利益＋非資金費用－運転資本の増加＋運転資本の減少」という構造。</a:t>
            </a:r>
            <a:endParaRPr lang="en-US" sz="850" dirty="0"/>
          </a:p>
        </p:txBody>
      </p:sp>
      <p:sp>
        <p:nvSpPr>
          <p:cNvPr id="17" name="Text 15"/>
          <p:cNvSpPr txBox="1"/>
          <p:nvPr/>
        </p:nvSpPr>
        <p:spPr>
          <a:xfrm>
            <a:off x="502920" y="5321808"/>
            <a:ext cx="11201400" cy="27432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関連知識：B-18の運転資金の定義（売上債権＋棚卸資産－仕入債務）と対応させて覚えること。</a:t>
            </a:r>
            <a:endParaRPr lang="en-US" sz="1000" dirty="0"/>
          </a:p>
        </p:txBody>
      </p:sp>
      <p:sp>
        <p:nvSpPr>
          <p:cNvPr id="18" name="Text 16"/>
          <p:cNvSpPr txBox="1"/>
          <p:nvPr/>
        </p:nvSpPr>
        <p:spPr>
          <a:xfrm>
            <a:off x="502920" y="566928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出典：past_exams/1st_stage/1ji2025/B1JI2025.pdf（令和7年度第1次試験）第21問／正解：past_exams/1st_stage_answers/r07/2025b.pdf</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03</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03</a:t>
            </a:r>
            <a:pPr indent="0" marL="0">
              <a:buNone/>
            </a:pPr>
            <a:r>
              <a:rPr lang="en-US" sz="1300" dirty="0">
                <a:solidFill>
                  <a:srgbClr val="A2A2A2"/>
                </a:solidFill>
                <a:latin typeface="Consolas" pitchFamily="34" charset="0"/>
                <a:ea typeface="Consolas" pitchFamily="34" charset="-122"/>
                <a:cs typeface="Consolas" pitchFamily="34" charset="-120"/>
              </a:rPr>
              <a:t>   財務・会計 ／ B-20〜B-27</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資金調達と実物投資</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どこからお金を集め、そのコスト（WACC）をどう計算し、儲けをどう配分するか。そして、集めたお金を工場・設備にどう投じ、その投資が見合うかを判定する分野。2次試験事例IVに直結する。</a:t>
            </a:r>
            <a:endParaRPr lang="en-US" sz="1400" dirty="0"/>
          </a:p>
        </p:txBody>
      </p:sp>
      <p:sp>
        <p:nvSpPr>
          <p:cNvPr id="6" name="Shape 4"/>
          <p:cNvSpPr/>
          <p:nvPr/>
        </p:nvSpPr>
        <p:spPr>
          <a:xfrm>
            <a:off x="640080" y="4800600"/>
            <a:ext cx="1431036" cy="384048"/>
          </a:xfrm>
          <a:prstGeom prst="rect">
            <a:avLst/>
          </a:prstGeom>
          <a:ln w="9525">
            <a:solidFill>
              <a:srgbClr val="7F7F7F"/>
            </a:solidFill>
            <a:prstDash val="solid"/>
          </a:ln>
        </p:spPr>
      </p:sp>
      <p:sp>
        <p:nvSpPr>
          <p:cNvPr id="7" name="Text 5"/>
          <p:cNvSpPr txBox="1"/>
          <p:nvPr/>
        </p:nvSpPr>
        <p:spPr>
          <a:xfrm>
            <a:off x="640080" y="4800600"/>
            <a:ext cx="143103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B-21 WACC</a:t>
            </a:r>
            <a:endParaRPr lang="en-US" sz="1000" dirty="0"/>
          </a:p>
        </p:txBody>
      </p:sp>
      <p:sp>
        <p:nvSpPr>
          <p:cNvPr id="8" name="Shape 6"/>
          <p:cNvSpPr/>
          <p:nvPr/>
        </p:nvSpPr>
        <p:spPr>
          <a:xfrm>
            <a:off x="2299716" y="4800600"/>
            <a:ext cx="1431036" cy="384048"/>
          </a:xfrm>
          <a:prstGeom prst="rect">
            <a:avLst/>
          </a:prstGeom>
          <a:ln w="9525">
            <a:solidFill>
              <a:srgbClr val="7F7F7F"/>
            </a:solidFill>
            <a:prstDash val="solid"/>
          </a:ln>
        </p:spPr>
      </p:sp>
      <p:sp>
        <p:nvSpPr>
          <p:cNvPr id="9" name="Text 7"/>
          <p:cNvSpPr txBox="1"/>
          <p:nvPr/>
        </p:nvSpPr>
        <p:spPr>
          <a:xfrm>
            <a:off x="2299716" y="4800600"/>
            <a:ext cx="143103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B-23 MM理論</a:t>
            </a:r>
            <a:endParaRPr lang="en-US" sz="1000" dirty="0"/>
          </a:p>
        </p:txBody>
      </p:sp>
      <p:sp>
        <p:nvSpPr>
          <p:cNvPr id="10" name="Shape 8"/>
          <p:cNvSpPr/>
          <p:nvPr/>
        </p:nvSpPr>
        <p:spPr>
          <a:xfrm>
            <a:off x="3959352" y="4800600"/>
            <a:ext cx="1431036" cy="384048"/>
          </a:xfrm>
          <a:prstGeom prst="rect">
            <a:avLst/>
          </a:prstGeom>
          <a:ln w="9525">
            <a:solidFill>
              <a:srgbClr val="7F7F7F"/>
            </a:solidFill>
            <a:prstDash val="solid"/>
          </a:ln>
        </p:spPr>
      </p:sp>
      <p:sp>
        <p:nvSpPr>
          <p:cNvPr id="11" name="Text 9"/>
          <p:cNvSpPr txBox="1"/>
          <p:nvPr/>
        </p:nvSpPr>
        <p:spPr>
          <a:xfrm>
            <a:off x="3959352" y="4800600"/>
            <a:ext cx="143103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B-26 NPV法</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B-20 ／ 資金調達と配当政策：資金調達の形態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2つの軸は独立している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「調達元（内部／外部）」と「資金の流れ（直接／間接）」は別々の分類軸。</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資金調達は「誰から集めるか（内部／外部）」と「どの経路で集めるか（直接／間接）」という独立した2つの軸で分類でき、どちらか一方だけでは整理できない。</a:t>
            </a:r>
            <a:endParaRPr lang="en-US" sz="1100" dirty="0"/>
          </a:p>
        </p:txBody>
      </p:sp>
      <p:sp>
        <p:nvSpPr>
          <p:cNvPr id="9" name="Shape 7"/>
          <p:cNvSpPr/>
          <p:nvPr/>
        </p:nvSpPr>
        <p:spPr>
          <a:xfrm>
            <a:off x="502920" y="2194560"/>
            <a:ext cx="5573268" cy="1549908"/>
          </a:xfrm>
          <a:prstGeom prst="rect">
            <a:avLst/>
          </a:prstGeom>
          <a:solidFill>
            <a:srgbClr val="F4F4F4"/>
          </a:solidFill>
          <a:ln w="12700">
            <a:solidFill>
              <a:srgbClr val="171717"/>
            </a:solidFill>
            <a:prstDash val="solid"/>
          </a:ln>
        </p:spPr>
      </p:sp>
      <p:sp>
        <p:nvSpPr>
          <p:cNvPr id="10" name="Text 8"/>
          <p:cNvSpPr txBox="1"/>
          <p:nvPr/>
        </p:nvSpPr>
        <p:spPr>
          <a:xfrm>
            <a:off x="576072" y="2194560"/>
            <a:ext cx="5426964" cy="1549908"/>
          </a:xfrm>
          <a:prstGeom prst="rect">
            <a:avLst/>
          </a:prstGeom>
          <a:noFill/>
          <a:ln/>
        </p:spPr>
        <p:txBody>
          <a:bodyPr wrap="square" lIns="0" tIns="0" rIns="0" bIns="0" rtlCol="0" anchor="ctr"/>
          <a:lstStyle/>
          <a:p>
            <a:pPr algn="ctr" indent="0" marL="0">
              <a:lnSpc>
                <a:spcPct val="115000"/>
              </a:lnSpc>
              <a:buNone/>
            </a:pPr>
            <a:r>
              <a:rPr lang="en-US" sz="1200" b="1" dirty="0">
                <a:solidFill>
                  <a:srgbClr val="171717"/>
                </a:solidFill>
                <a:latin typeface="Yu Gothic" pitchFamily="34" charset="0"/>
                <a:ea typeface="Yu Gothic" pitchFamily="34" charset="-122"/>
                <a:cs typeface="Yu Gothic" pitchFamily="34" charset="-120"/>
              </a:rPr>
              <a:t>内部金融
</a:t>
            </a:r>
            <a:endParaRPr lang="en-US" sz="1200" dirty="0"/>
          </a:p>
          <a:p>
            <a:pPr algn="ctr" indent="0" marL="0">
              <a:lnSpc>
                <a:spcPct val="115000"/>
              </a:lnSpc>
              <a:buNone/>
            </a:pPr>
            <a:r>
              <a:rPr lang="en-US" sz="850" dirty="0">
                <a:solidFill>
                  <a:srgbClr val="8A8A8A"/>
                </a:solidFill>
                <a:latin typeface="Yu Gothic" pitchFamily="34" charset="0"/>
                <a:ea typeface="Yu Gothic" pitchFamily="34" charset="-122"/>
                <a:cs typeface="Yu Gothic" pitchFamily="34" charset="-120"/>
              </a:rPr>
              <a:t>内部留保、減価償却費</a:t>
            </a:r>
            <a:endParaRPr lang="en-US" sz="1200" dirty="0"/>
          </a:p>
        </p:txBody>
      </p:sp>
      <p:sp>
        <p:nvSpPr>
          <p:cNvPr id="11" name="Shape 9"/>
          <p:cNvSpPr/>
          <p:nvPr/>
        </p:nvSpPr>
        <p:spPr>
          <a:xfrm>
            <a:off x="6131052" y="2194560"/>
            <a:ext cx="5573268" cy="1549908"/>
          </a:xfrm>
          <a:prstGeom prst="rect">
            <a:avLst/>
          </a:prstGeom>
          <a:solidFill>
            <a:srgbClr val="F4F4F4"/>
          </a:solidFill>
          <a:ln w="12700">
            <a:solidFill>
              <a:srgbClr val="171717"/>
            </a:solidFill>
            <a:prstDash val="solid"/>
          </a:ln>
        </p:spPr>
      </p:sp>
      <p:sp>
        <p:nvSpPr>
          <p:cNvPr id="12" name="Text 10"/>
          <p:cNvSpPr txBox="1"/>
          <p:nvPr/>
        </p:nvSpPr>
        <p:spPr>
          <a:xfrm>
            <a:off x="6204204" y="2194560"/>
            <a:ext cx="5426964" cy="1549908"/>
          </a:xfrm>
          <a:prstGeom prst="rect">
            <a:avLst/>
          </a:prstGeom>
          <a:noFill/>
          <a:ln/>
        </p:spPr>
        <p:txBody>
          <a:bodyPr wrap="square" lIns="0" tIns="0" rIns="0" bIns="0" rtlCol="0" anchor="ctr"/>
          <a:lstStyle/>
          <a:p>
            <a:pPr algn="ctr" indent="0" marL="0">
              <a:lnSpc>
                <a:spcPct val="115000"/>
              </a:lnSpc>
              <a:buNone/>
            </a:pPr>
            <a:r>
              <a:rPr lang="en-US" sz="1200" b="1" dirty="0">
                <a:solidFill>
                  <a:srgbClr val="171717"/>
                </a:solidFill>
                <a:latin typeface="Yu Gothic" pitchFamily="34" charset="0"/>
                <a:ea typeface="Yu Gothic" pitchFamily="34" charset="-122"/>
                <a:cs typeface="Yu Gothic" pitchFamily="34" charset="-120"/>
              </a:rPr>
              <a:t>直接金融
</a:t>
            </a:r>
            <a:endParaRPr lang="en-US" sz="1200" dirty="0"/>
          </a:p>
          <a:p>
            <a:pPr algn="ctr" indent="0" marL="0">
              <a:lnSpc>
                <a:spcPct val="115000"/>
              </a:lnSpc>
              <a:buNone/>
            </a:pPr>
            <a:r>
              <a:rPr lang="en-US" sz="850" dirty="0">
                <a:solidFill>
                  <a:srgbClr val="8A8A8A"/>
                </a:solidFill>
                <a:latin typeface="Yu Gothic" pitchFamily="34" charset="0"/>
                <a:ea typeface="Yu Gothic" pitchFamily="34" charset="-122"/>
                <a:cs typeface="Yu Gothic" pitchFamily="34" charset="-120"/>
              </a:rPr>
              <a:t>株式・社債発行（投資家から直接）</a:t>
            </a:r>
            <a:endParaRPr lang="en-US" sz="1200" dirty="0"/>
          </a:p>
        </p:txBody>
      </p:sp>
      <p:sp>
        <p:nvSpPr>
          <p:cNvPr id="13" name="Shape 11"/>
          <p:cNvSpPr/>
          <p:nvPr/>
        </p:nvSpPr>
        <p:spPr>
          <a:xfrm>
            <a:off x="502920" y="3799332"/>
            <a:ext cx="5573268" cy="1549908"/>
          </a:xfrm>
          <a:prstGeom prst="rect">
            <a:avLst/>
          </a:prstGeom>
          <a:solidFill>
            <a:srgbClr val="F4F4F4"/>
          </a:solidFill>
          <a:ln w="12700">
            <a:solidFill>
              <a:srgbClr val="171717"/>
            </a:solidFill>
            <a:prstDash val="solid"/>
          </a:ln>
        </p:spPr>
      </p:sp>
      <p:sp>
        <p:nvSpPr>
          <p:cNvPr id="14" name="Text 12"/>
          <p:cNvSpPr txBox="1"/>
          <p:nvPr/>
        </p:nvSpPr>
        <p:spPr>
          <a:xfrm>
            <a:off x="576072" y="3799332"/>
            <a:ext cx="5426964" cy="1549908"/>
          </a:xfrm>
          <a:prstGeom prst="rect">
            <a:avLst/>
          </a:prstGeom>
          <a:noFill/>
          <a:ln/>
        </p:spPr>
        <p:txBody>
          <a:bodyPr wrap="square" lIns="0" tIns="0" rIns="0" bIns="0" rtlCol="0" anchor="ctr"/>
          <a:lstStyle/>
          <a:p>
            <a:pPr algn="ctr" indent="0" marL="0">
              <a:lnSpc>
                <a:spcPct val="115000"/>
              </a:lnSpc>
              <a:buNone/>
            </a:pPr>
            <a:r>
              <a:rPr lang="en-US" sz="1200" b="1" dirty="0">
                <a:solidFill>
                  <a:srgbClr val="171717"/>
                </a:solidFill>
                <a:latin typeface="Yu Gothic" pitchFamily="34" charset="0"/>
                <a:ea typeface="Yu Gothic" pitchFamily="34" charset="-122"/>
                <a:cs typeface="Yu Gothic" pitchFamily="34" charset="-120"/>
              </a:rPr>
              <a:t>間接金融
</a:t>
            </a:r>
            <a:endParaRPr lang="en-US" sz="1200" dirty="0"/>
          </a:p>
          <a:p>
            <a:pPr algn="ctr" indent="0" marL="0">
              <a:lnSpc>
                <a:spcPct val="115000"/>
              </a:lnSpc>
              <a:buNone/>
            </a:pPr>
            <a:r>
              <a:rPr lang="en-US" sz="850" dirty="0">
                <a:solidFill>
                  <a:srgbClr val="8A8A8A"/>
                </a:solidFill>
                <a:latin typeface="Yu Gothic" pitchFamily="34" charset="0"/>
                <a:ea typeface="Yu Gothic" pitchFamily="34" charset="-122"/>
                <a:cs typeface="Yu Gothic" pitchFamily="34" charset="-120"/>
              </a:rPr>
              <a:t>銀行借入（金融機関を介する）</a:t>
            </a:r>
            <a:endParaRPr lang="en-US" sz="1200" dirty="0"/>
          </a:p>
        </p:txBody>
      </p:sp>
      <p:sp>
        <p:nvSpPr>
          <p:cNvPr id="15" name="Shape 13"/>
          <p:cNvSpPr/>
          <p:nvPr/>
        </p:nvSpPr>
        <p:spPr>
          <a:xfrm>
            <a:off x="6131052" y="3799332"/>
            <a:ext cx="5573268" cy="1549908"/>
          </a:xfrm>
          <a:prstGeom prst="rect">
            <a:avLst/>
          </a:prstGeom>
          <a:solidFill>
            <a:srgbClr val="F4F4F4"/>
          </a:solidFill>
          <a:ln w="12700">
            <a:solidFill>
              <a:srgbClr val="171717"/>
            </a:solidFill>
            <a:prstDash val="solid"/>
          </a:ln>
        </p:spPr>
      </p:sp>
      <p:sp>
        <p:nvSpPr>
          <p:cNvPr id="16" name="Text 14"/>
          <p:cNvSpPr txBox="1"/>
          <p:nvPr/>
        </p:nvSpPr>
        <p:spPr>
          <a:xfrm>
            <a:off x="6204204" y="3799332"/>
            <a:ext cx="5426964" cy="1549908"/>
          </a:xfrm>
          <a:prstGeom prst="rect">
            <a:avLst/>
          </a:prstGeom>
          <a:noFill/>
          <a:ln/>
        </p:spPr>
        <p:txBody>
          <a:bodyPr wrap="square" lIns="0" tIns="0" rIns="0" bIns="0" rtlCol="0" anchor="ctr"/>
          <a:lstStyle/>
          <a:p>
            <a:pPr algn="ctr" indent="0" marL="0">
              <a:lnSpc>
                <a:spcPct val="115000"/>
              </a:lnSpc>
              <a:buNone/>
            </a:pPr>
            <a:r>
              <a:rPr lang="en-US" sz="1200" b="1" dirty="0">
                <a:solidFill>
                  <a:srgbClr val="171717"/>
                </a:solidFill>
                <a:latin typeface="Yu Gothic" pitchFamily="34" charset="0"/>
                <a:ea typeface="Yu Gothic" pitchFamily="34" charset="-122"/>
                <a:cs typeface="Yu Gothic" pitchFamily="34" charset="-120"/>
              </a:rPr>
              <a:t>外部金融
</a:t>
            </a:r>
            <a:endParaRPr lang="en-US" sz="1200" dirty="0"/>
          </a:p>
          <a:p>
            <a:pPr algn="ctr" indent="0" marL="0">
              <a:lnSpc>
                <a:spcPct val="115000"/>
              </a:lnSpc>
              <a:buNone/>
            </a:pPr>
            <a:r>
              <a:rPr lang="en-US" sz="850" dirty="0">
                <a:solidFill>
                  <a:srgbClr val="8A8A8A"/>
                </a:solidFill>
                <a:latin typeface="Yu Gothic" pitchFamily="34" charset="0"/>
                <a:ea typeface="Yu Gothic" pitchFamily="34" charset="-122"/>
                <a:cs typeface="Yu Gothic" pitchFamily="34" charset="-120"/>
              </a:rPr>
              <a:t>増資、借入、社債発行</a:t>
            </a:r>
            <a:endParaRPr lang="en-US" sz="1200" dirty="0"/>
          </a:p>
        </p:txBody>
      </p:sp>
      <p:sp>
        <p:nvSpPr>
          <p:cNvPr id="17" name="Text 15"/>
          <p:cNvSpPr txBox="1"/>
          <p:nvPr/>
        </p:nvSpPr>
        <p:spPr>
          <a:xfrm>
            <a:off x="502920" y="5440680"/>
            <a:ext cx="11201400" cy="274320"/>
          </a:xfrm>
          <a:prstGeom prst="rect">
            <a:avLst/>
          </a:prstGeom>
          <a:noFill/>
          <a:ln/>
        </p:spPr>
        <p:txBody>
          <a:bodyPr wrap="square" lIns="0" tIns="0" rIns="0" bIns="0" rtlCol="0" anchor="ctr"/>
          <a:lstStyle/>
          <a:p>
            <a:pPr algn="ctr" indent="0" marL="0">
              <a:buNone/>
            </a:pPr>
            <a:r>
              <a:rPr lang="en-US" sz="800" dirty="0">
                <a:solidFill>
                  <a:srgbClr val="8A8A8A"/>
                </a:solidFill>
                <a:latin typeface="Yu Gothic" pitchFamily="34" charset="0"/>
                <a:ea typeface="Yu Gothic" pitchFamily="34" charset="-122"/>
                <a:cs typeface="Yu Gothic" pitchFamily="34" charset="-120"/>
              </a:rPr>
              <a:t>具体例：内部留保の取り崩し＝内部金融、銀行融資＝外部・間接金融、新株発行＝外部・直接金融</a:t>
            </a:r>
            <a:endParaRPr lang="en-US" sz="800" dirty="0"/>
          </a:p>
        </p:txBody>
      </p:sp>
      <p:sp>
        <p:nvSpPr>
          <p:cNvPr id="18" name="Shape 16"/>
          <p:cNvSpPr/>
          <p:nvPr/>
        </p:nvSpPr>
        <p:spPr>
          <a:xfrm>
            <a:off x="502920" y="5989320"/>
            <a:ext cx="11201400" cy="0"/>
          </a:xfrm>
          <a:prstGeom prst="line">
            <a:avLst/>
          </a:prstGeom>
          <a:noFill/>
          <a:ln w="9525">
            <a:solidFill>
              <a:srgbClr val="171717"/>
            </a:solidFill>
            <a:prstDash val="solid"/>
          </a:ln>
        </p:spPr>
      </p:sp>
      <p:sp>
        <p:nvSpPr>
          <p:cNvPr id="19" name="Shape 17"/>
          <p:cNvSpPr/>
          <p:nvPr/>
        </p:nvSpPr>
        <p:spPr>
          <a:xfrm>
            <a:off x="502920" y="6062472"/>
            <a:ext cx="329184" cy="329184"/>
          </a:xfrm>
          <a:prstGeom prst="ellipse">
            <a:avLst/>
          </a:prstGeom>
          <a:solidFill>
            <a:srgbClr val="FF3B1F"/>
          </a:solidFill>
          <a:ln/>
        </p:spPr>
      </p:sp>
      <p:sp>
        <p:nvSpPr>
          <p:cNvPr id="20" name="Text 1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1" name="Text 19"/>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2" name="Shape 20"/>
          <p:cNvSpPr/>
          <p:nvPr/>
        </p:nvSpPr>
        <p:spPr>
          <a:xfrm>
            <a:off x="2331720" y="6062472"/>
            <a:ext cx="0" cy="329184"/>
          </a:xfrm>
          <a:prstGeom prst="line">
            <a:avLst/>
          </a:prstGeom>
          <a:noFill/>
          <a:ln w="12700">
            <a:solidFill>
              <a:srgbClr val="E6E6E6"/>
            </a:solidFill>
            <a:prstDash val="solid"/>
          </a:ln>
        </p:spPr>
      </p:sp>
      <p:sp>
        <p:nvSpPr>
          <p:cNvPr id="23" name="Text 21"/>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ひっかけ：「外部金融＝間接金融」ではない。銀行借入は外部＋間接、社債発行は外部＋直接。</a:t>
            </a:r>
            <a:endParaRPr lang="en-US" sz="1000" dirty="0"/>
          </a:p>
        </p:txBody>
      </p:sp>
      <p:sp>
        <p:nvSpPr>
          <p:cNvPr id="24" name="Text 22"/>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5" name="Shape 23"/>
          <p:cNvSpPr/>
          <p:nvPr/>
        </p:nvSpPr>
        <p:spPr>
          <a:xfrm>
            <a:off x="2466594"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7" name="Shape 25"/>
          <p:cNvSpPr/>
          <p:nvPr/>
        </p:nvSpPr>
        <p:spPr>
          <a:xfrm>
            <a:off x="3431286"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9" name="Shape 27"/>
          <p:cNvSpPr/>
          <p:nvPr/>
        </p:nvSpPr>
        <p:spPr>
          <a:xfrm>
            <a:off x="4395978"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1" name="Shape 29"/>
          <p:cNvSpPr/>
          <p:nvPr/>
        </p:nvSpPr>
        <p:spPr>
          <a:xfrm>
            <a:off x="5360670"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3" name="Shape 31"/>
          <p:cNvSpPr/>
          <p:nvPr/>
        </p:nvSpPr>
        <p:spPr>
          <a:xfrm>
            <a:off x="6325362"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5" name="Shape 33"/>
          <p:cNvSpPr/>
          <p:nvPr/>
        </p:nvSpPr>
        <p:spPr>
          <a:xfrm>
            <a:off x="7290054"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7" name="Shape 35"/>
          <p:cNvSpPr/>
          <p:nvPr/>
        </p:nvSpPr>
        <p:spPr>
          <a:xfrm>
            <a:off x="8254746"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9" name="Shape 37"/>
          <p:cNvSpPr/>
          <p:nvPr/>
        </p:nvSpPr>
        <p:spPr>
          <a:xfrm>
            <a:off x="9219438"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1" name="Shape 39"/>
          <p:cNvSpPr/>
          <p:nvPr/>
        </p:nvSpPr>
        <p:spPr>
          <a:xfrm>
            <a:off x="10184130"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3" name="Shape 41"/>
          <p:cNvSpPr/>
          <p:nvPr/>
        </p:nvSpPr>
        <p:spPr>
          <a:xfrm>
            <a:off x="11148822"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B-21 ／ 資金調達と配当政策：資本コスト</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負債コストは必ず税引後にする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負債コストと自己資本コストを調達額の割合で加重平均したものがWACC。</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会社の調達コストは負債と自己資本で性質が異なるため、まず個別に計算し、調達額の割合に応じて加重平均したものをWACC（会社全体の資本コスト）として使う。</a:t>
            </a:r>
            <a:endParaRPr lang="en-US" sz="1100" dirty="0"/>
          </a:p>
        </p:txBody>
      </p:sp>
      <p:sp>
        <p:nvSpPr>
          <p:cNvPr id="9" name="Text 7"/>
          <p:cNvSpPr txBox="1"/>
          <p:nvPr/>
        </p:nvSpPr>
        <p:spPr>
          <a:xfrm>
            <a:off x="502920" y="2176272"/>
            <a:ext cx="19202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負債コスト</a:t>
            </a:r>
            <a:endParaRPr lang="en-US" sz="1100" dirty="0"/>
          </a:p>
        </p:txBody>
      </p:sp>
      <p:sp>
        <p:nvSpPr>
          <p:cNvPr id="10" name="Shape 8"/>
          <p:cNvSpPr/>
          <p:nvPr/>
        </p:nvSpPr>
        <p:spPr>
          <a:xfrm>
            <a:off x="2404872" y="2176272"/>
            <a:ext cx="0" cy="256032"/>
          </a:xfrm>
          <a:prstGeom prst="line">
            <a:avLst/>
          </a:prstGeom>
          <a:noFill/>
          <a:ln w="12700">
            <a:solidFill>
              <a:srgbClr val="E6E6E6"/>
            </a:solidFill>
            <a:prstDash val="solid"/>
          </a:ln>
        </p:spPr>
      </p:sp>
      <p:sp>
        <p:nvSpPr>
          <p:cNvPr id="11" name="Text 9"/>
          <p:cNvSpPr txBox="1"/>
          <p:nvPr/>
        </p:nvSpPr>
        <p:spPr>
          <a:xfrm>
            <a:off x="2560320" y="2176272"/>
            <a:ext cx="91440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税引前負債コスト×(1－実効税率)（税引後で考える）</a:t>
            </a:r>
            <a:endParaRPr lang="en-US" sz="1100" dirty="0"/>
          </a:p>
        </p:txBody>
      </p:sp>
      <p:sp>
        <p:nvSpPr>
          <p:cNvPr id="12" name="Text 10"/>
          <p:cNvSpPr txBox="1"/>
          <p:nvPr/>
        </p:nvSpPr>
        <p:spPr>
          <a:xfrm>
            <a:off x="502920" y="2560320"/>
            <a:ext cx="19202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自己資本コスト</a:t>
            </a:r>
            <a:endParaRPr lang="en-US" sz="1100" dirty="0"/>
          </a:p>
        </p:txBody>
      </p:sp>
      <p:sp>
        <p:nvSpPr>
          <p:cNvPr id="13" name="Shape 11"/>
          <p:cNvSpPr/>
          <p:nvPr/>
        </p:nvSpPr>
        <p:spPr>
          <a:xfrm>
            <a:off x="2404872" y="2560320"/>
            <a:ext cx="0" cy="256032"/>
          </a:xfrm>
          <a:prstGeom prst="line">
            <a:avLst/>
          </a:prstGeom>
          <a:noFill/>
          <a:ln w="12700">
            <a:solidFill>
              <a:srgbClr val="E6E6E6"/>
            </a:solidFill>
            <a:prstDash val="solid"/>
          </a:ln>
        </p:spPr>
      </p:sp>
      <p:sp>
        <p:nvSpPr>
          <p:cNvPr id="14" name="Text 12"/>
          <p:cNvSpPr txBox="1"/>
          <p:nvPr/>
        </p:nvSpPr>
        <p:spPr>
          <a:xfrm>
            <a:off x="2560320" y="2560320"/>
            <a:ext cx="91440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配当割引モデル：1株当たり予想配当÷株価（成長率ゼロの場合）</a:t>
            </a:r>
            <a:endParaRPr lang="en-US" sz="1100" dirty="0"/>
          </a:p>
        </p:txBody>
      </p:sp>
      <p:sp>
        <p:nvSpPr>
          <p:cNvPr id="15" name="Text 13"/>
          <p:cNvSpPr txBox="1"/>
          <p:nvPr/>
        </p:nvSpPr>
        <p:spPr>
          <a:xfrm>
            <a:off x="502920" y="2944368"/>
            <a:ext cx="19202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WACC</a:t>
            </a:r>
            <a:endParaRPr lang="en-US" sz="1100" dirty="0"/>
          </a:p>
        </p:txBody>
      </p:sp>
      <p:sp>
        <p:nvSpPr>
          <p:cNvPr id="16" name="Shape 14"/>
          <p:cNvSpPr/>
          <p:nvPr/>
        </p:nvSpPr>
        <p:spPr>
          <a:xfrm>
            <a:off x="2404872" y="2944368"/>
            <a:ext cx="0" cy="256032"/>
          </a:xfrm>
          <a:prstGeom prst="line">
            <a:avLst/>
          </a:prstGeom>
          <a:noFill/>
          <a:ln w="12700">
            <a:solidFill>
              <a:srgbClr val="E6E6E6"/>
            </a:solidFill>
            <a:prstDash val="solid"/>
          </a:ln>
        </p:spPr>
      </p:sp>
      <p:sp>
        <p:nvSpPr>
          <p:cNvPr id="17" name="Text 15"/>
          <p:cNvSpPr txBox="1"/>
          <p:nvPr/>
        </p:nvSpPr>
        <p:spPr>
          <a:xfrm>
            <a:off x="2560320" y="2944368"/>
            <a:ext cx="91440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負債コスト×(負債／総資本)＋自己資本コスト×(自己資本／総資本)</a:t>
            </a:r>
            <a:endParaRPr lang="en-US" sz="1100" dirty="0"/>
          </a:p>
        </p:txBody>
      </p:sp>
      <p:sp>
        <p:nvSpPr>
          <p:cNvPr id="18" name="Text 16"/>
          <p:cNvSpPr txBox="1"/>
          <p:nvPr/>
        </p:nvSpPr>
        <p:spPr>
          <a:xfrm>
            <a:off x="502920" y="3419856"/>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負債5,000万・株主資本5,000万、配当5円・株価50円→自己資本コスト10％。税引前負債4％・実効税率30％→税引後負債コスト2.8％。WACC＝2.8％×0.5＋10％×0.5＝6.4％。</a:t>
            </a:r>
            <a:endParaRPr lang="en-US" sz="850" dirty="0"/>
          </a:p>
        </p:txBody>
      </p:sp>
      <p:sp>
        <p:nvSpPr>
          <p:cNvPr id="19" name="Shape 17"/>
          <p:cNvSpPr/>
          <p:nvPr/>
        </p:nvSpPr>
        <p:spPr>
          <a:xfrm>
            <a:off x="502920" y="3995928"/>
            <a:ext cx="11201400" cy="0"/>
          </a:xfrm>
          <a:prstGeom prst="line">
            <a:avLst/>
          </a:prstGeom>
          <a:noFill/>
          <a:ln w="12700">
            <a:solidFill>
              <a:srgbClr val="E6E6E6"/>
            </a:solidFill>
            <a:prstDash val="solid"/>
          </a:ln>
        </p:spPr>
      </p:sp>
      <p:sp>
        <p:nvSpPr>
          <p:cNvPr id="20" name="Text 18"/>
          <p:cNvSpPr txBox="1"/>
          <p:nvPr/>
        </p:nvSpPr>
        <p:spPr>
          <a:xfrm>
            <a:off x="502920" y="406908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負債コストを税引前のまま加重平均する計算ミスが最頻出。株主資本コストも「リスクフリー・レート＋事業リスクプレミアム＋財務リスクプレミアム」の構成。</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関連：B-24〜B-26 投資評価（WACCはNPV法の割引率として登場）。</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第15問）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4572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資本コストのリスクプレミアムに関する記述として、最も適切なものはどれか。</a:t>
            </a:r>
            <a:endParaRPr lang="en-US" sz="1250" dirty="0"/>
          </a:p>
        </p:txBody>
      </p:sp>
      <p:sp>
        <p:nvSpPr>
          <p:cNvPr id="9" name="Text 7"/>
          <p:cNvSpPr txBox="1"/>
          <p:nvPr/>
        </p:nvSpPr>
        <p:spPr>
          <a:xfrm>
            <a:off x="731520" y="2240280"/>
            <a:ext cx="10789920" cy="52120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不確実な投資プロジェクトの評価に確実性等価法を適用する場合、キャッシュフローの不確実性を、割引率として用いる資本コストのリスクプレミアムで調整する。</a:t>
            </a:r>
            <a:endParaRPr lang="en-US" sz="1150" dirty="0"/>
          </a:p>
        </p:txBody>
      </p:sp>
      <p:sp>
        <p:nvSpPr>
          <p:cNvPr id="10" name="Text 8"/>
          <p:cNvSpPr txBox="1"/>
          <p:nvPr/>
        </p:nvSpPr>
        <p:spPr>
          <a:xfrm>
            <a:off x="731520" y="2807208"/>
            <a:ext cx="10789920" cy="52120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負債が増大するにつれて、債務不履行リスクが大きくなる場合、負債の資本コストのリスクプレミアムには、債務不履行リスクが反映される。</a:t>
            </a:r>
            <a:endParaRPr lang="en-US" sz="1150" dirty="0"/>
          </a:p>
        </p:txBody>
      </p:sp>
      <p:sp>
        <p:nvSpPr>
          <p:cNvPr id="11" name="Text 9"/>
          <p:cNvSpPr txBox="1"/>
          <p:nvPr/>
        </p:nvSpPr>
        <p:spPr>
          <a:xfrm>
            <a:off x="731520" y="3374136"/>
            <a:ext cx="10789920" cy="52120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負債による資金調達を行っている企業の株主資本コストは、リスクフリー・レートと財務リスクプレミアムで構成されている。</a:t>
            </a:r>
            <a:endParaRPr lang="en-US" sz="1150" dirty="0"/>
          </a:p>
        </p:txBody>
      </p:sp>
      <p:sp>
        <p:nvSpPr>
          <p:cNvPr id="12" name="Text 10"/>
          <p:cNvSpPr txBox="1"/>
          <p:nvPr/>
        </p:nvSpPr>
        <p:spPr>
          <a:xfrm>
            <a:off x="731520" y="3941064"/>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ポートフォリオ理論によれば、株主資本コストのリスクプレミアムには、市場リスクが反映されていない。</a:t>
            </a:r>
            <a:endParaRPr lang="en-US" sz="1150" dirty="0"/>
          </a:p>
        </p:txBody>
      </p:sp>
      <p:sp>
        <p:nvSpPr>
          <p:cNvPr id="13" name="Text 11"/>
          <p:cNvSpPr txBox="1"/>
          <p:nvPr/>
        </p:nvSpPr>
        <p:spPr>
          <a:xfrm>
            <a:off x="502920" y="4535424"/>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出典：past_exams/1st_stage/1ji2025/B1JI2025.pdf（令和7年度第1次試験）第15問</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第15問）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正解はイ。負債増加による債務不履行リスクは、負債コストに反映される。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52120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不確実な投資プロジェクトの評価に確実性等価法を適用する場合、キャッシュフローの不確実性を、割引率として用いる資本コストのリスクプレミアムで調整する。</a:t>
            </a:r>
            <a:endParaRPr lang="en-US" sz="1150" dirty="0"/>
          </a:p>
        </p:txBody>
      </p:sp>
      <p:sp>
        <p:nvSpPr>
          <p:cNvPr id="9" name="Shape 7"/>
          <p:cNvSpPr/>
          <p:nvPr/>
        </p:nvSpPr>
        <p:spPr>
          <a:xfrm>
            <a:off x="502920" y="2276856"/>
            <a:ext cx="11201400" cy="566928"/>
          </a:xfrm>
          <a:prstGeom prst="rect">
            <a:avLst/>
          </a:prstGeom>
          <a:solidFill>
            <a:srgbClr val="F4F4F4"/>
          </a:solidFill>
          <a:ln/>
        </p:spPr>
      </p:sp>
      <p:sp>
        <p:nvSpPr>
          <p:cNvPr id="10" name="Shape 8"/>
          <p:cNvSpPr/>
          <p:nvPr/>
        </p:nvSpPr>
        <p:spPr>
          <a:xfrm>
            <a:off x="502920" y="2276856"/>
            <a:ext cx="0" cy="566928"/>
          </a:xfrm>
          <a:prstGeom prst="line">
            <a:avLst/>
          </a:prstGeom>
          <a:noFill/>
          <a:ln w="38100">
            <a:solidFill>
              <a:srgbClr val="FF3B1F"/>
            </a:solidFill>
            <a:prstDash val="solid"/>
          </a:ln>
        </p:spPr>
      </p:sp>
      <p:sp>
        <p:nvSpPr>
          <p:cNvPr id="11" name="Text 9"/>
          <p:cNvSpPr txBox="1"/>
          <p:nvPr/>
        </p:nvSpPr>
        <p:spPr>
          <a:xfrm>
            <a:off x="731520" y="2304288"/>
            <a:ext cx="10789920" cy="52120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負債が増大するにつれて、債務不履行リスクが大きくなる場合、負債の資本コストのリスクプレミアムには、債務不履行リスクが反映される。</a:t>
            </a:r>
            <a:endParaRPr lang="en-US" sz="1150" dirty="0"/>
          </a:p>
        </p:txBody>
      </p:sp>
      <p:sp>
        <p:nvSpPr>
          <p:cNvPr id="12" name="Text 10"/>
          <p:cNvSpPr txBox="1"/>
          <p:nvPr/>
        </p:nvSpPr>
        <p:spPr>
          <a:xfrm>
            <a:off x="731520" y="2871216"/>
            <a:ext cx="10789920" cy="52120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負債による資金調達を行っている企業の株主資本コストは、リスクフリー・レートと財務リスクプレミアムで構成されている。</a:t>
            </a:r>
            <a:endParaRPr lang="en-US" sz="1150" dirty="0"/>
          </a:p>
        </p:txBody>
      </p:sp>
      <p:sp>
        <p:nvSpPr>
          <p:cNvPr id="13" name="Text 11"/>
          <p:cNvSpPr txBox="1"/>
          <p:nvPr/>
        </p:nvSpPr>
        <p:spPr>
          <a:xfrm>
            <a:off x="731520" y="3438144"/>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ポートフォリオ理論によれば、株主資本コストのリスクプレミアムには、市場リスクが反映されていない。</a:t>
            </a:r>
            <a:endParaRPr lang="en-US" sz="1150" dirty="0"/>
          </a:p>
        </p:txBody>
      </p:sp>
      <p:sp>
        <p:nvSpPr>
          <p:cNvPr id="14" name="Shape 12"/>
          <p:cNvSpPr/>
          <p:nvPr/>
        </p:nvSpPr>
        <p:spPr>
          <a:xfrm>
            <a:off x="502920" y="3968496"/>
            <a:ext cx="11201400" cy="0"/>
          </a:xfrm>
          <a:prstGeom prst="line">
            <a:avLst/>
          </a:prstGeom>
          <a:noFill/>
          <a:ln w="12700">
            <a:solidFill>
              <a:srgbClr val="171717"/>
            </a:solidFill>
            <a:prstDash val="solid"/>
          </a:ln>
        </p:spPr>
      </p:sp>
      <p:sp>
        <p:nvSpPr>
          <p:cNvPr id="15" name="Text 13"/>
          <p:cNvSpPr txBox="1"/>
          <p:nvPr/>
        </p:nvSpPr>
        <p:spPr>
          <a:xfrm>
            <a:off x="502920" y="4059936"/>
            <a:ext cx="11201400" cy="914400"/>
          </a:xfrm>
          <a:prstGeom prst="rect">
            <a:avLst/>
          </a:prstGeom>
          <a:noFill/>
          <a:ln/>
        </p:spPr>
        <p:txBody>
          <a:bodyPr wrap="square" lIns="0" tIns="0" rIns="0" bIns="0" rtlCol="0" anchor="ctr"/>
          <a:lstStyle/>
          <a:p>
            <a:pPr indent="0" marL="0">
              <a:lnSpc>
                <a:spcPct val="120000"/>
              </a:lnSpc>
              <a:buNone/>
            </a:pPr>
            <a:r>
              <a:rPr lang="en-US" sz="1050" b="1" dirty="0">
                <a:solidFill>
                  <a:srgbClr val="FF3B1F"/>
                </a:solidFill>
                <a:latin typeface="Yu Gothic" pitchFamily="34" charset="0"/>
                <a:ea typeface="Yu Gothic" pitchFamily="34" charset="-122"/>
                <a:cs typeface="Yu Gothic" pitchFamily="34" charset="-120"/>
              </a:rPr>
              <a:t>正解：イ</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負債が増えるほど倒産（債務不履行）の可能性が高まり、それに応じて負債コストにリスクプレミアムが上乗せされる。ア：確実性等価法はキャッシュフロー自体を変換する手法で、割引率側で調整するのは「リスク調整割引率法」。手法の説明が逆。ウ：負債を利用する企業の株主資本コストは、リスクフリー・レートに加え事業リスクプレミアムと財務リスクプレミアムの</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両方</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で構成される。エ：CAPMによれば市場リスクは明確に</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反映される</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a:t>
            </a:r>
            <a:endParaRPr lang="en-US" sz="1050" dirty="0"/>
          </a:p>
        </p:txBody>
      </p:sp>
      <p:sp>
        <p:nvSpPr>
          <p:cNvPr id="16" name="Text 14"/>
          <p:cNvSpPr txBox="1"/>
          <p:nvPr/>
        </p:nvSpPr>
        <p:spPr>
          <a:xfrm>
            <a:off x="502920" y="5047488"/>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負債比率が高い会社ほど、貸し手は返済されないリスクを警戒し、より高い金利（リスクプレミアム）を要求する。</a:t>
            </a:r>
            <a:endParaRPr lang="en-US" sz="850" dirty="0"/>
          </a:p>
        </p:txBody>
      </p:sp>
      <p:sp>
        <p:nvSpPr>
          <p:cNvPr id="17" name="Text 15"/>
          <p:cNvSpPr txBox="1"/>
          <p:nvPr/>
        </p:nvSpPr>
        <p:spPr>
          <a:xfrm>
            <a:off x="502920" y="5577840"/>
            <a:ext cx="11201400" cy="27432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関連知識：株主資本コストの構成はB-23の財務レバレッジ・MM理論とも関連する。</a:t>
            </a:r>
            <a:endParaRPr lang="en-US" sz="1000" dirty="0"/>
          </a:p>
        </p:txBody>
      </p:sp>
      <p:sp>
        <p:nvSpPr>
          <p:cNvPr id="18" name="Text 16"/>
          <p:cNvSpPr txBox="1"/>
          <p:nvPr/>
        </p:nvSpPr>
        <p:spPr>
          <a:xfrm>
            <a:off x="502920" y="5925312"/>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出典：past_exams/1st_stage/1ji2025/B1JI2025.pdf（令和7年度第1次試験）第15問／正解：past_exams/1st_stage_answers/r07/2025b.pdf</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第16問）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計算問題。前のスライドの公式で自分の手で計算してみる。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105156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以下のデータに基づき、毎期一定額の配当を行っている当社の加重平均資本コストを計算したとき、最も適切なものを下記の解答群から選べ。ただし、株主資本コストは配当割引モデルによって求めるものとする。</a:t>
            </a:r>
            <a:endParaRPr lang="en-US" sz="1250" dirty="0"/>
          </a:p>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【当社のデータ】負債（時価）5,000万円／株主資本（時価）5,000万円／発行済株式数100万株／毎期の1株当たり配当金5円／税引前の負債コスト4％／法人税等の実効税率30％</a:t>
            </a:r>
            <a:endParaRPr lang="en-US" sz="1250" dirty="0"/>
          </a:p>
        </p:txBody>
      </p:sp>
      <p:sp>
        <p:nvSpPr>
          <p:cNvPr id="9" name="Text 7"/>
          <p:cNvSpPr txBox="1"/>
          <p:nvPr/>
        </p:nvSpPr>
        <p:spPr>
          <a:xfrm>
            <a:off x="731520" y="283464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5.6％</a:t>
            </a:r>
            <a:endParaRPr lang="en-US" sz="1150" dirty="0"/>
          </a:p>
        </p:txBody>
      </p:sp>
      <p:sp>
        <p:nvSpPr>
          <p:cNvPr id="10" name="Text 8"/>
          <p:cNvSpPr txBox="1"/>
          <p:nvPr/>
        </p:nvSpPr>
        <p:spPr>
          <a:xfrm>
            <a:off x="731520" y="331012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6.4％</a:t>
            </a:r>
            <a:endParaRPr lang="en-US" sz="1150" dirty="0"/>
          </a:p>
        </p:txBody>
      </p:sp>
      <p:sp>
        <p:nvSpPr>
          <p:cNvPr id="11" name="Text 9"/>
          <p:cNvSpPr txBox="1"/>
          <p:nvPr/>
        </p:nvSpPr>
        <p:spPr>
          <a:xfrm>
            <a:off x="731520" y="378561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6.5％</a:t>
            </a:r>
            <a:endParaRPr lang="en-US" sz="1150" dirty="0"/>
          </a:p>
        </p:txBody>
      </p:sp>
      <p:sp>
        <p:nvSpPr>
          <p:cNvPr id="12" name="Text 10"/>
          <p:cNvSpPr txBox="1"/>
          <p:nvPr/>
        </p:nvSpPr>
        <p:spPr>
          <a:xfrm>
            <a:off x="731520" y="426110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7％</a:t>
            </a:r>
            <a:endParaRPr lang="en-US" sz="1150" dirty="0"/>
          </a:p>
        </p:txBody>
      </p:sp>
      <p:sp>
        <p:nvSpPr>
          <p:cNvPr id="13" name="Text 11"/>
          <p:cNvSpPr txBox="1"/>
          <p:nvPr/>
        </p:nvSpPr>
        <p:spPr>
          <a:xfrm>
            <a:off x="502920" y="4873752"/>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出典：past_exams/1st_stage/1ji2025/B1JI2025.pdf（令和7年度第1次試験）第16問</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第16問）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正解はイ（6.4％）。株価50円→自己資本コスト10％、税引後負債コスト2.8％。</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5.6％</a:t>
            </a:r>
            <a:endParaRPr lang="en-US" sz="1150" dirty="0"/>
          </a:p>
        </p:txBody>
      </p:sp>
      <p:sp>
        <p:nvSpPr>
          <p:cNvPr id="9" name="Shape 7"/>
          <p:cNvSpPr/>
          <p:nvPr/>
        </p:nvSpPr>
        <p:spPr>
          <a:xfrm>
            <a:off x="502920" y="2185416"/>
            <a:ext cx="11201400" cy="475488"/>
          </a:xfrm>
          <a:prstGeom prst="rect">
            <a:avLst/>
          </a:prstGeom>
          <a:solidFill>
            <a:srgbClr val="F4F4F4"/>
          </a:solidFill>
          <a:ln/>
        </p:spPr>
      </p:sp>
      <p:sp>
        <p:nvSpPr>
          <p:cNvPr id="10" name="Shape 8"/>
          <p:cNvSpPr/>
          <p:nvPr/>
        </p:nvSpPr>
        <p:spPr>
          <a:xfrm>
            <a:off x="502920" y="2185416"/>
            <a:ext cx="0" cy="475488"/>
          </a:xfrm>
          <a:prstGeom prst="line">
            <a:avLst/>
          </a:prstGeom>
          <a:noFill/>
          <a:ln w="38100">
            <a:solidFill>
              <a:srgbClr val="FF3B1F"/>
            </a:solidFill>
            <a:prstDash val="solid"/>
          </a:ln>
        </p:spPr>
      </p:sp>
      <p:sp>
        <p:nvSpPr>
          <p:cNvPr id="11" name="Text 9"/>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6.4％</a:t>
            </a:r>
            <a:endParaRPr lang="en-US" sz="1150" dirty="0"/>
          </a:p>
        </p:txBody>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6.5％</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7％</a:t>
            </a:r>
            <a:endParaRPr lang="en-US" sz="1150" dirty="0"/>
          </a:p>
        </p:txBody>
      </p:sp>
      <p:sp>
        <p:nvSpPr>
          <p:cNvPr id="14" name="Shape 12"/>
          <p:cNvSpPr/>
          <p:nvPr/>
        </p:nvSpPr>
        <p:spPr>
          <a:xfrm>
            <a:off x="502920" y="3712464"/>
            <a:ext cx="11201400" cy="0"/>
          </a:xfrm>
          <a:prstGeom prst="line">
            <a:avLst/>
          </a:prstGeom>
          <a:noFill/>
          <a:ln w="12700">
            <a:solidFill>
              <a:srgbClr val="171717"/>
            </a:solidFill>
            <a:prstDash val="solid"/>
          </a:ln>
        </p:spPr>
      </p:sp>
      <p:sp>
        <p:nvSpPr>
          <p:cNvPr id="15" name="Text 13"/>
          <p:cNvSpPr txBox="1"/>
          <p:nvPr/>
        </p:nvSpPr>
        <p:spPr>
          <a:xfrm>
            <a:off x="502920" y="3803904"/>
            <a:ext cx="11201400" cy="731520"/>
          </a:xfrm>
          <a:prstGeom prst="rect">
            <a:avLst/>
          </a:prstGeom>
          <a:noFill/>
          <a:ln/>
        </p:spPr>
        <p:txBody>
          <a:bodyPr wrap="square" lIns="0" tIns="0" rIns="0" bIns="0" rtlCol="0" anchor="ctr"/>
          <a:lstStyle/>
          <a:p>
            <a:pPr indent="0" marL="0">
              <a:lnSpc>
                <a:spcPct val="120000"/>
              </a:lnSpc>
              <a:buNone/>
            </a:pPr>
            <a:r>
              <a:rPr lang="en-US" sz="1050" b="1" dirty="0">
                <a:solidFill>
                  <a:srgbClr val="FF3B1F"/>
                </a:solidFill>
                <a:latin typeface="Yu Gothic" pitchFamily="34" charset="0"/>
                <a:ea typeface="Yu Gothic" pitchFamily="34" charset="-122"/>
                <a:cs typeface="Yu Gothic" pitchFamily="34" charset="-120"/>
              </a:rPr>
              <a:t>正解：イ（6.4％）</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。①株価＝5,000万円÷100万株＝50円。②自己資本コスト（配当割引モデル）＝5円÷50円＝10％。③税引後負債コスト＝4％×(1－30％)＝2.8％。④WACC＝2.8％×0.5＋10％×0.5＝1.4％＋5％＝</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6.4％</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a:t>
            </a:r>
            <a:endParaRPr lang="en-US" sz="1050" dirty="0"/>
          </a:p>
        </p:txBody>
      </p:sp>
      <p:sp>
        <p:nvSpPr>
          <p:cNvPr id="16" name="Text 14"/>
          <p:cNvSpPr txBox="1"/>
          <p:nvPr/>
        </p:nvSpPr>
        <p:spPr>
          <a:xfrm>
            <a:off x="502920" y="4608576"/>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税引後負債コストへの変換を忘れて「4％×0.5＋10％×0.5＝7％」（選択肢エ）と誤答するのが典型的なひっかけパターン。</a:t>
            </a:r>
            <a:endParaRPr lang="en-US" sz="850" dirty="0"/>
          </a:p>
        </p:txBody>
      </p:sp>
      <p:sp>
        <p:nvSpPr>
          <p:cNvPr id="17" name="Text 15"/>
          <p:cNvSpPr txBox="1"/>
          <p:nvPr/>
        </p:nvSpPr>
        <p:spPr>
          <a:xfrm>
            <a:off x="502920" y="5138928"/>
            <a:ext cx="11201400" cy="27432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関連知識：WACC計算は毎年頻出。負債コストは必ず税引後に直してから加重平均する点を忘れないこと。</a:t>
            </a:r>
            <a:endParaRPr lang="en-US" sz="1000" dirty="0"/>
          </a:p>
        </p:txBody>
      </p:sp>
      <p:sp>
        <p:nvSpPr>
          <p:cNvPr id="18" name="Text 16"/>
          <p:cNvSpPr txBox="1"/>
          <p:nvPr/>
        </p:nvSpPr>
        <p:spPr>
          <a:xfrm>
            <a:off x="502920" y="548640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出典：past_exams/1st_stage/1ji2025/B1JI2025.pdf（令和7年度第1次試験）第16問／正解：past_exams/1st_stage_answers/r07/2025b.pdf</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B-22 ／ 資金調達と配当政策：ペイアウト政策</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配当と自社株買い、還元の仕方が違う</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現金で直接還元する配当と、株価上昇で還元する自社株買い。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株主への利益還元には、現金を直接渡す配当と、自社株買いで発行済株式数を減らし1株あたりの価値を高める方法の2通りがあり、還元の仕方が異なる。</a:t>
            </a:r>
            <a:endParaRPr lang="en-US" sz="1100" dirty="0"/>
          </a:p>
        </p:txBody>
      </p:sp>
      <p:sp>
        <p:nvSpPr>
          <p:cNvPr id="9" name="Text 7"/>
          <p:cNvSpPr txBox="1"/>
          <p:nvPr/>
        </p:nvSpPr>
        <p:spPr>
          <a:xfrm>
            <a:off x="502920" y="2176272"/>
            <a:ext cx="16459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配当</a:t>
            </a:r>
            <a:endParaRPr lang="en-US" sz="1100" dirty="0"/>
          </a:p>
        </p:txBody>
      </p:sp>
      <p:sp>
        <p:nvSpPr>
          <p:cNvPr id="10" name="Shape 8"/>
          <p:cNvSpPr/>
          <p:nvPr/>
        </p:nvSpPr>
        <p:spPr>
          <a:xfrm>
            <a:off x="2130552" y="2176272"/>
            <a:ext cx="0" cy="256032"/>
          </a:xfrm>
          <a:prstGeom prst="line">
            <a:avLst/>
          </a:prstGeom>
          <a:noFill/>
          <a:ln w="12700">
            <a:solidFill>
              <a:srgbClr val="E6E6E6"/>
            </a:solidFill>
            <a:prstDash val="solid"/>
          </a:ln>
        </p:spPr>
      </p:sp>
      <p:sp>
        <p:nvSpPr>
          <p:cNvPr id="11" name="Text 9"/>
          <p:cNvSpPr txBox="1"/>
          <p:nvPr/>
        </p:nvSpPr>
        <p:spPr>
          <a:xfrm>
            <a:off x="2286000" y="2176272"/>
            <a:ext cx="94183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利益の一部を現金で株主に分配する</a:t>
            </a:r>
            <a:endParaRPr lang="en-US" sz="1100" dirty="0"/>
          </a:p>
        </p:txBody>
      </p:sp>
      <p:sp>
        <p:nvSpPr>
          <p:cNvPr id="12" name="Text 10"/>
          <p:cNvSpPr txBox="1"/>
          <p:nvPr/>
        </p:nvSpPr>
        <p:spPr>
          <a:xfrm>
            <a:off x="502920" y="2560320"/>
            <a:ext cx="16459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自社株買い</a:t>
            </a:r>
            <a:endParaRPr lang="en-US" sz="1100" dirty="0"/>
          </a:p>
        </p:txBody>
      </p:sp>
      <p:sp>
        <p:nvSpPr>
          <p:cNvPr id="13" name="Shape 11"/>
          <p:cNvSpPr/>
          <p:nvPr/>
        </p:nvSpPr>
        <p:spPr>
          <a:xfrm>
            <a:off x="2130552" y="2560320"/>
            <a:ext cx="0" cy="256032"/>
          </a:xfrm>
          <a:prstGeom prst="line">
            <a:avLst/>
          </a:prstGeom>
          <a:noFill/>
          <a:ln w="12700">
            <a:solidFill>
              <a:srgbClr val="E6E6E6"/>
            </a:solidFill>
            <a:prstDash val="solid"/>
          </a:ln>
        </p:spPr>
      </p:sp>
      <p:sp>
        <p:nvSpPr>
          <p:cNvPr id="14" name="Text 12"/>
          <p:cNvSpPr txBox="1"/>
          <p:nvPr/>
        </p:nvSpPr>
        <p:spPr>
          <a:xfrm>
            <a:off x="2286000" y="2560320"/>
            <a:ext cx="94183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発行済株式数が減りEPS・BPSが向上する（株価上昇で還元）</a:t>
            </a:r>
            <a:endParaRPr lang="en-US" sz="1100" dirty="0"/>
          </a:p>
        </p:txBody>
      </p:sp>
      <p:sp>
        <p:nvSpPr>
          <p:cNvPr id="15" name="Text 13"/>
          <p:cNvSpPr txBox="1"/>
          <p:nvPr/>
        </p:nvSpPr>
        <p:spPr>
          <a:xfrm>
            <a:off x="502920" y="2944368"/>
            <a:ext cx="16459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配当性向</a:t>
            </a:r>
            <a:endParaRPr lang="en-US" sz="1100" dirty="0"/>
          </a:p>
        </p:txBody>
      </p:sp>
      <p:sp>
        <p:nvSpPr>
          <p:cNvPr id="16" name="Shape 14"/>
          <p:cNvSpPr/>
          <p:nvPr/>
        </p:nvSpPr>
        <p:spPr>
          <a:xfrm>
            <a:off x="2130552" y="2944368"/>
            <a:ext cx="0" cy="256032"/>
          </a:xfrm>
          <a:prstGeom prst="line">
            <a:avLst/>
          </a:prstGeom>
          <a:noFill/>
          <a:ln w="12700">
            <a:solidFill>
              <a:srgbClr val="E6E6E6"/>
            </a:solidFill>
            <a:prstDash val="solid"/>
          </a:ln>
        </p:spPr>
      </p:sp>
      <p:sp>
        <p:nvSpPr>
          <p:cNvPr id="17" name="Text 15"/>
          <p:cNvSpPr txBox="1"/>
          <p:nvPr/>
        </p:nvSpPr>
        <p:spPr>
          <a:xfrm>
            <a:off x="2286000" y="2944368"/>
            <a:ext cx="94183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配当金総額 ÷ 当期純利益 × 100</a:t>
            </a:r>
            <a:endParaRPr lang="en-US" sz="1100" dirty="0"/>
          </a:p>
        </p:txBody>
      </p:sp>
      <p:sp>
        <p:nvSpPr>
          <p:cNvPr id="18" name="Text 16"/>
          <p:cNvSpPr txBox="1"/>
          <p:nvPr/>
        </p:nvSpPr>
        <p:spPr>
          <a:xfrm>
            <a:off x="502920" y="3419856"/>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当期純利益10億円・配当3億円→配当性向30％。3億円で自社株買いし発行済株式数を1,000万株→900万株に減らすと、EPS＝100円→約111円に上昇。</a:t>
            </a:r>
            <a:endParaRPr lang="en-US" sz="850" dirty="0"/>
          </a:p>
        </p:txBody>
      </p:sp>
      <p:sp>
        <p:nvSpPr>
          <p:cNvPr id="19" name="Shape 17"/>
          <p:cNvSpPr/>
          <p:nvPr/>
        </p:nvSpPr>
        <p:spPr>
          <a:xfrm>
            <a:off x="502920" y="3995928"/>
            <a:ext cx="11201400" cy="0"/>
          </a:xfrm>
          <a:prstGeom prst="line">
            <a:avLst/>
          </a:prstGeom>
          <a:noFill/>
          <a:ln w="12700">
            <a:solidFill>
              <a:srgbClr val="E6E6E6"/>
            </a:solidFill>
            <a:prstDash val="solid"/>
          </a:ln>
        </p:spPr>
      </p:sp>
      <p:sp>
        <p:nvSpPr>
          <p:cNvPr id="20" name="Text 18"/>
          <p:cNvSpPr txBox="1"/>
          <p:nvPr/>
        </p:nvSpPr>
        <p:spPr>
          <a:xfrm>
            <a:off x="502920" y="406908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MM理論（完全資本市場）では配当政策は企業価値に無関連（配当無関連命題）とされるが、現実には税制の違いやシグナリング効果があり実務上は重要な意思決定。</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関連：B-23 最適資本構成（MM理論の考え方は資本構成論と配当政策論の両方に登場）。</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B-23 ／ 資金調達と配当政策：最適資本構成</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負債はROEを押し上げるが倒産リスクも上げる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MM理論・修正MM理論・トレードオフ理論。財務レバレッジの効果は条件付き。</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資本構成と企業価値の関係は、税金を考えないMM理論の無関連命題から出発し、節税効果を加えた修正MM理論、さらに倒産コストとのバランスを考えるトレードオフ理論へと議論が発展する。</a:t>
            </a:r>
            <a:endParaRPr lang="en-US" sz="1100" dirty="0"/>
          </a:p>
        </p:txBody>
      </p:sp>
      <p:sp>
        <p:nvSpPr>
          <p:cNvPr id="9" name="Text 7"/>
          <p:cNvSpPr txBox="1"/>
          <p:nvPr/>
        </p:nvSpPr>
        <p:spPr>
          <a:xfrm>
            <a:off x="502920" y="2176272"/>
            <a:ext cx="19202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MM理論（無税）</a:t>
            </a:r>
            <a:endParaRPr lang="en-US" sz="1100" dirty="0"/>
          </a:p>
        </p:txBody>
      </p:sp>
      <p:sp>
        <p:nvSpPr>
          <p:cNvPr id="10" name="Shape 8"/>
          <p:cNvSpPr/>
          <p:nvPr/>
        </p:nvSpPr>
        <p:spPr>
          <a:xfrm>
            <a:off x="2404872" y="2176272"/>
            <a:ext cx="0" cy="256032"/>
          </a:xfrm>
          <a:prstGeom prst="line">
            <a:avLst/>
          </a:prstGeom>
          <a:noFill/>
          <a:ln w="12700">
            <a:solidFill>
              <a:srgbClr val="E6E6E6"/>
            </a:solidFill>
            <a:prstDash val="solid"/>
          </a:ln>
        </p:spPr>
      </p:sp>
      <p:sp>
        <p:nvSpPr>
          <p:cNvPr id="11" name="Text 9"/>
          <p:cNvSpPr txBox="1"/>
          <p:nvPr/>
        </p:nvSpPr>
        <p:spPr>
          <a:xfrm>
            <a:off x="2560320" y="2176272"/>
            <a:ext cx="91440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資本構成を変えても企業価値は変化しない（無関連命題）</a:t>
            </a:r>
            <a:endParaRPr lang="en-US" sz="1100" dirty="0"/>
          </a:p>
        </p:txBody>
      </p:sp>
      <p:sp>
        <p:nvSpPr>
          <p:cNvPr id="12" name="Text 10"/>
          <p:cNvSpPr txBox="1"/>
          <p:nvPr/>
        </p:nvSpPr>
        <p:spPr>
          <a:xfrm>
            <a:off x="502920" y="2560320"/>
            <a:ext cx="19202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修正MM理論</a:t>
            </a:r>
            <a:endParaRPr lang="en-US" sz="1100" dirty="0"/>
          </a:p>
        </p:txBody>
      </p:sp>
      <p:sp>
        <p:nvSpPr>
          <p:cNvPr id="13" name="Shape 11"/>
          <p:cNvSpPr/>
          <p:nvPr/>
        </p:nvSpPr>
        <p:spPr>
          <a:xfrm>
            <a:off x="2404872" y="2560320"/>
            <a:ext cx="0" cy="256032"/>
          </a:xfrm>
          <a:prstGeom prst="line">
            <a:avLst/>
          </a:prstGeom>
          <a:noFill/>
          <a:ln w="12700">
            <a:solidFill>
              <a:srgbClr val="E6E6E6"/>
            </a:solidFill>
            <a:prstDash val="solid"/>
          </a:ln>
        </p:spPr>
      </p:sp>
      <p:sp>
        <p:nvSpPr>
          <p:cNvPr id="14" name="Text 12"/>
          <p:cNvSpPr txBox="1"/>
          <p:nvPr/>
        </p:nvSpPr>
        <p:spPr>
          <a:xfrm>
            <a:off x="2560320" y="2560320"/>
            <a:ext cx="91440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負債の節税効果の分だけ企業価値は増加する</a:t>
            </a:r>
            <a:endParaRPr lang="en-US" sz="1100" dirty="0"/>
          </a:p>
        </p:txBody>
      </p:sp>
      <p:sp>
        <p:nvSpPr>
          <p:cNvPr id="15" name="Text 13"/>
          <p:cNvSpPr txBox="1"/>
          <p:nvPr/>
        </p:nvSpPr>
        <p:spPr>
          <a:xfrm>
            <a:off x="502920" y="2944368"/>
            <a:ext cx="19202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トレードオフ理論</a:t>
            </a:r>
            <a:endParaRPr lang="en-US" sz="1100" dirty="0"/>
          </a:p>
        </p:txBody>
      </p:sp>
      <p:sp>
        <p:nvSpPr>
          <p:cNvPr id="16" name="Shape 14"/>
          <p:cNvSpPr/>
          <p:nvPr/>
        </p:nvSpPr>
        <p:spPr>
          <a:xfrm>
            <a:off x="2404872" y="2944368"/>
            <a:ext cx="0" cy="256032"/>
          </a:xfrm>
          <a:prstGeom prst="line">
            <a:avLst/>
          </a:prstGeom>
          <a:noFill/>
          <a:ln w="12700">
            <a:solidFill>
              <a:srgbClr val="E6E6E6"/>
            </a:solidFill>
            <a:prstDash val="solid"/>
          </a:ln>
        </p:spPr>
      </p:sp>
      <p:sp>
        <p:nvSpPr>
          <p:cNvPr id="17" name="Text 15"/>
          <p:cNvSpPr txBox="1"/>
          <p:nvPr/>
        </p:nvSpPr>
        <p:spPr>
          <a:xfrm>
            <a:off x="2560320" y="2944368"/>
            <a:ext cx="91440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節税効果と倒産コストが釣り合う点に最適資本構成がある</a:t>
            </a:r>
            <a:endParaRPr lang="en-US" sz="1100" dirty="0"/>
          </a:p>
        </p:txBody>
      </p:sp>
      <p:sp>
        <p:nvSpPr>
          <p:cNvPr id="18" name="Text 16"/>
          <p:cNvSpPr txBox="1"/>
          <p:nvPr/>
        </p:nvSpPr>
        <p:spPr>
          <a:xfrm>
            <a:off x="502920" y="3419856"/>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総資産10億円・利回り8％。全額自己資本ならROE8％。半分を借入（利率4％）にすると、支払利息2,000万円を引いてもROE12％に上昇（事業利回り＞借入利率のため）。</a:t>
            </a:r>
            <a:endParaRPr lang="en-US" sz="850" dirty="0"/>
          </a:p>
        </p:txBody>
      </p:sp>
      <p:sp>
        <p:nvSpPr>
          <p:cNvPr id="19" name="Shape 17"/>
          <p:cNvSpPr/>
          <p:nvPr/>
        </p:nvSpPr>
        <p:spPr>
          <a:xfrm>
            <a:off x="502920" y="3995928"/>
            <a:ext cx="11201400" cy="0"/>
          </a:xfrm>
          <a:prstGeom prst="line">
            <a:avLst/>
          </a:prstGeom>
          <a:noFill/>
          <a:ln w="12700">
            <a:solidFill>
              <a:srgbClr val="E6E6E6"/>
            </a:solidFill>
            <a:prstDash val="solid"/>
          </a:ln>
        </p:spPr>
      </p:sp>
      <p:sp>
        <p:nvSpPr>
          <p:cNvPr id="20" name="Text 18"/>
          <p:cNvSpPr txBox="1"/>
          <p:nvPr/>
        </p:nvSpPr>
        <p:spPr>
          <a:xfrm>
            <a:off x="502920" y="406908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「負債を増やすほど無条件にROE・企業価値が上がる」は誤り。財務レバレッジは「事業の利回り＞負債の利率」のときのみROEを押し上げる条件付きの効果。</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関連：B-12 収益性分析（デュポン分解の財務レバレッジと同じ概念）。</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B-24 ／ 実物投資：貨幣の時間価値とDCF</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「今日の100万円」と「1年後の100万円」は違う</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将来のキャッシュフローを現在価値に割り引くのがDCF法。</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949440" cy="502920"/>
          </a:xfrm>
          <a:prstGeom prst="rect">
            <a:avLst/>
          </a:prstGeom>
          <a:noFill/>
          <a:ln/>
        </p:spPr>
        <p:txBody>
          <a:bodyPr wrap="square" lIns="0" tIns="0" rIns="0" bIns="0" rtlCol="0" anchor="ctr"/>
          <a:lstStyle/>
          <a:p>
            <a:pPr indent="0" marL="0">
              <a:lnSpc>
                <a:spcPct val="125000"/>
              </a:lnSpc>
              <a:buNone/>
            </a:pPr>
            <a:r>
              <a:rPr lang="en-US" sz="950" dirty="0">
                <a:solidFill>
                  <a:srgbClr val="8A8A8A"/>
                </a:solidFill>
                <a:latin typeface="Yu Gothic" pitchFamily="34" charset="0"/>
                <a:ea typeface="Yu Gothic" pitchFamily="34" charset="-122"/>
                <a:cs typeface="Yu Gothic" pitchFamily="34" charset="-120"/>
              </a:rPr>
              <a:t>将来のお金は今のお金より価値が低い（貨幣の時間価値）。この割引計算がB-26のNPV法・IRR法など投資評価の土台になる。</a:t>
            </a:r>
            <a:endParaRPr lang="en-US" sz="950" dirty="0"/>
          </a:p>
        </p:txBody>
      </p:sp>
      <p:sp>
        <p:nvSpPr>
          <p:cNvPr id="9" name="Text 7"/>
          <p:cNvSpPr txBox="1"/>
          <p:nvPr/>
        </p:nvSpPr>
        <p:spPr>
          <a:xfrm>
            <a:off x="502920" y="2267712"/>
            <a:ext cx="1463040" cy="36576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現在価値</a:t>
            </a:r>
            <a:endParaRPr lang="en-US" sz="1050" dirty="0"/>
          </a:p>
        </p:txBody>
      </p:sp>
      <p:sp>
        <p:nvSpPr>
          <p:cNvPr id="10" name="Shape 8"/>
          <p:cNvSpPr/>
          <p:nvPr/>
        </p:nvSpPr>
        <p:spPr>
          <a:xfrm>
            <a:off x="1947672" y="2267712"/>
            <a:ext cx="0" cy="256032"/>
          </a:xfrm>
          <a:prstGeom prst="line">
            <a:avLst/>
          </a:prstGeom>
          <a:noFill/>
          <a:ln w="12700">
            <a:solidFill>
              <a:srgbClr val="E6E6E6"/>
            </a:solidFill>
            <a:prstDash val="solid"/>
          </a:ln>
        </p:spPr>
      </p:sp>
      <p:sp>
        <p:nvSpPr>
          <p:cNvPr id="11" name="Text 9"/>
          <p:cNvSpPr txBox="1"/>
          <p:nvPr/>
        </p:nvSpPr>
        <p:spPr>
          <a:xfrm>
            <a:off x="2103120" y="2267712"/>
            <a:ext cx="5349240" cy="36576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CFn ÷ (1＋r)^n（rは割引率、nは年数）</a:t>
            </a:r>
            <a:endParaRPr lang="en-US" sz="1050" dirty="0"/>
          </a:p>
        </p:txBody>
      </p:sp>
      <p:sp>
        <p:nvSpPr>
          <p:cNvPr id="12" name="Text 10"/>
          <p:cNvSpPr txBox="1"/>
          <p:nvPr/>
        </p:nvSpPr>
        <p:spPr>
          <a:xfrm>
            <a:off x="502920" y="2743200"/>
            <a:ext cx="694944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割引率6％、2年後の220万円→現在価値＝220万円×0.88（複利現価係数）＝193.6万円。</a:t>
            </a:r>
            <a:endParaRPr lang="en-US" sz="850" dirty="0"/>
          </a:p>
        </p:txBody>
      </p:sp>
      <p:sp>
        <p:nvSpPr>
          <p:cNvPr id="13" name="Shape 11"/>
          <p:cNvSpPr/>
          <p:nvPr/>
        </p:nvSpPr>
        <p:spPr>
          <a:xfrm>
            <a:off x="502920" y="3319272"/>
            <a:ext cx="6949440" cy="0"/>
          </a:xfrm>
          <a:prstGeom prst="line">
            <a:avLst/>
          </a:prstGeom>
          <a:noFill/>
          <a:ln w="12700">
            <a:solidFill>
              <a:srgbClr val="E6E6E6"/>
            </a:solidFill>
            <a:prstDash val="solid"/>
          </a:ln>
        </p:spPr>
      </p:sp>
      <p:sp>
        <p:nvSpPr>
          <p:cNvPr id="14" name="Text 12"/>
          <p:cNvSpPr txBox="1"/>
          <p:nvPr/>
        </p:nvSpPr>
        <p:spPr>
          <a:xfrm>
            <a:off x="502920" y="3392424"/>
            <a:ext cx="6949440" cy="50292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「何年後のCFに何年の係数を掛けるか」の取り違えが多発。CFの発生タイミングを必ずタイムラインで整理してから計算する。</a:t>
            </a:r>
            <a:endParaRPr lang="en-US" sz="950" dirty="0"/>
          </a:p>
        </p:txBody>
      </p:sp>
      <p:sp>
        <p:nvSpPr>
          <p:cNvPr id="15" name="Shape 13"/>
          <p:cNvSpPr/>
          <p:nvPr/>
        </p:nvSpPr>
        <p:spPr>
          <a:xfrm>
            <a:off x="7818120" y="3657600"/>
            <a:ext cx="3703320" cy="0"/>
          </a:xfrm>
          <a:prstGeom prst="line">
            <a:avLst/>
          </a:prstGeom>
          <a:noFill/>
          <a:ln w="15875">
            <a:solidFill>
              <a:srgbClr val="171717"/>
            </a:solidFill>
            <a:prstDash val="solid"/>
          </a:ln>
        </p:spPr>
      </p:sp>
      <p:sp>
        <p:nvSpPr>
          <p:cNvPr id="16" name="Shape 14"/>
          <p:cNvSpPr/>
          <p:nvPr/>
        </p:nvSpPr>
        <p:spPr>
          <a:xfrm>
            <a:off x="7772400" y="3611880"/>
            <a:ext cx="91440" cy="91440"/>
          </a:xfrm>
          <a:prstGeom prst="ellipse">
            <a:avLst/>
          </a:prstGeom>
          <a:solidFill>
            <a:srgbClr val="171717"/>
          </a:solidFill>
          <a:ln/>
        </p:spPr>
      </p:sp>
      <p:sp>
        <p:nvSpPr>
          <p:cNvPr id="17" name="Text 15"/>
          <p:cNvSpPr txBox="1"/>
          <p:nvPr/>
        </p:nvSpPr>
        <p:spPr>
          <a:xfrm>
            <a:off x="7452360" y="3749040"/>
            <a:ext cx="822960" cy="274320"/>
          </a:xfrm>
          <a:prstGeom prst="rect">
            <a:avLst/>
          </a:prstGeom>
          <a:noFill/>
          <a:ln/>
        </p:spPr>
        <p:txBody>
          <a:bodyPr wrap="square" lIns="0" tIns="0" rIns="0" bIns="0" rtlCol="0" anchor="ctr"/>
          <a:lstStyle/>
          <a:p>
            <a:pPr algn="ctr" indent="0" marL="0">
              <a:buNone/>
            </a:pPr>
            <a:r>
              <a:rPr lang="en-US" sz="1000" dirty="0">
                <a:solidFill>
                  <a:srgbClr val="171717"/>
                </a:solidFill>
                <a:latin typeface="Yu Gothic" pitchFamily="34" charset="0"/>
                <a:ea typeface="Yu Gothic" pitchFamily="34" charset="-122"/>
                <a:cs typeface="Yu Gothic" pitchFamily="34" charset="-120"/>
              </a:rPr>
              <a:t>現在</a:t>
            </a:r>
            <a:endParaRPr lang="en-US" sz="1000" dirty="0"/>
          </a:p>
        </p:txBody>
      </p:sp>
      <p:sp>
        <p:nvSpPr>
          <p:cNvPr id="18" name="Shape 16"/>
          <p:cNvSpPr/>
          <p:nvPr/>
        </p:nvSpPr>
        <p:spPr>
          <a:xfrm>
            <a:off x="11384280" y="3611880"/>
            <a:ext cx="91440" cy="91440"/>
          </a:xfrm>
          <a:prstGeom prst="ellipse">
            <a:avLst/>
          </a:prstGeom>
          <a:solidFill>
            <a:srgbClr val="FF3B1F"/>
          </a:solidFill>
          <a:ln/>
        </p:spPr>
      </p:sp>
      <p:sp>
        <p:nvSpPr>
          <p:cNvPr id="19" name="Text 17"/>
          <p:cNvSpPr txBox="1"/>
          <p:nvPr/>
        </p:nvSpPr>
        <p:spPr>
          <a:xfrm>
            <a:off x="10332720" y="2926080"/>
            <a:ext cx="1600200" cy="274320"/>
          </a:xfrm>
          <a:prstGeom prst="rect">
            <a:avLst/>
          </a:prstGeom>
          <a:noFill/>
          <a:ln/>
        </p:spPr>
        <p:txBody>
          <a:bodyPr wrap="square" lIns="0" tIns="0" rIns="0" bIns="0" rtlCol="0" anchor="ctr"/>
          <a:lstStyle/>
          <a:p>
            <a:pPr algn="ctr" indent="0" marL="0">
              <a:buNone/>
            </a:pPr>
            <a:r>
              <a:rPr lang="en-US" sz="1000" dirty="0">
                <a:solidFill>
                  <a:srgbClr val="FF3B1F"/>
                </a:solidFill>
                <a:latin typeface="Yu Gothic" pitchFamily="34" charset="0"/>
                <a:ea typeface="Yu Gothic" pitchFamily="34" charset="-122"/>
                <a:cs typeface="Yu Gothic" pitchFamily="34" charset="-120"/>
              </a:rPr>
              <a:t>2年後（220万円）</a:t>
            </a:r>
            <a:endParaRPr lang="en-US" sz="1000" dirty="0"/>
          </a:p>
        </p:txBody>
      </p:sp>
      <p:sp>
        <p:nvSpPr>
          <p:cNvPr id="20" name="Text 18"/>
          <p:cNvSpPr txBox="1"/>
          <p:nvPr/>
        </p:nvSpPr>
        <p:spPr>
          <a:xfrm>
            <a:off x="7818120" y="4023360"/>
            <a:ext cx="3703320" cy="274320"/>
          </a:xfrm>
          <a:prstGeom prst="rect">
            <a:avLst/>
          </a:prstGeom>
          <a:noFill/>
          <a:ln/>
        </p:spPr>
        <p:txBody>
          <a:bodyPr wrap="square" lIns="0" tIns="0" rIns="0" bIns="0" rtlCol="0" anchor="ctr"/>
          <a:lstStyle/>
          <a:p>
            <a:pPr algn="ctr" indent="0" marL="0">
              <a:buNone/>
            </a:pPr>
            <a:r>
              <a:rPr lang="en-US" sz="1050" b="1" dirty="0">
                <a:solidFill>
                  <a:srgbClr val="171717"/>
                </a:solidFill>
                <a:latin typeface="Yu Gothic" pitchFamily="34" charset="0"/>
                <a:ea typeface="Yu Gothic" pitchFamily="34" charset="-122"/>
                <a:cs typeface="Yu Gothic" pitchFamily="34" charset="-120"/>
              </a:rPr>
              <a:t>×0.88で割引 → 193.6万円</a:t>
            </a:r>
            <a:endParaRPr lang="en-US" sz="10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関連：B-26 投資評価基準（このDCFの考え方がNPV法・IRR法の土台）。</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B-25 ／ 実物投資：投資評価基準（回収期間法、ARR）</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貨幣の時間価値を考慮しない簡便法</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計算は簡単だが、回収後のキャッシュフローを無視するという共通の弱点がある。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貨幣の時間価値を考慮しない分、計算が簡単な2つの簡便法。まず投資の妥当性を素早くスクリーニングし、より精緻な判断はB-26のNPV法等に譲る、という位置づけで理解するとよい。</a:t>
            </a:r>
            <a:endParaRPr lang="en-US" sz="1100" dirty="0"/>
          </a:p>
        </p:txBody>
      </p:sp>
      <p:sp>
        <p:nvSpPr>
          <p:cNvPr id="9" name="Text 7"/>
          <p:cNvSpPr txBox="1"/>
          <p:nvPr/>
        </p:nvSpPr>
        <p:spPr>
          <a:xfrm>
            <a:off x="502920" y="2176272"/>
            <a:ext cx="26517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回収期間法</a:t>
            </a:r>
            <a:endParaRPr lang="en-US" sz="1100" dirty="0"/>
          </a:p>
        </p:txBody>
      </p:sp>
      <p:sp>
        <p:nvSpPr>
          <p:cNvPr id="10" name="Shape 8"/>
          <p:cNvSpPr/>
          <p:nvPr/>
        </p:nvSpPr>
        <p:spPr>
          <a:xfrm>
            <a:off x="3136392" y="2176272"/>
            <a:ext cx="0" cy="256032"/>
          </a:xfrm>
          <a:prstGeom prst="line">
            <a:avLst/>
          </a:prstGeom>
          <a:noFill/>
          <a:ln w="12700">
            <a:solidFill>
              <a:srgbClr val="E6E6E6"/>
            </a:solidFill>
            <a:prstDash val="solid"/>
          </a:ln>
        </p:spPr>
      </p:sp>
      <p:sp>
        <p:nvSpPr>
          <p:cNvPr id="11" name="Text 9"/>
          <p:cNvSpPr txBox="1"/>
          <p:nvPr/>
        </p:nvSpPr>
        <p:spPr>
          <a:xfrm>
            <a:off x="3291840" y="2176272"/>
            <a:ext cx="84124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投資額 ÷ 年間キャッシュフロー（短いほど良いと判断）</a:t>
            </a:r>
            <a:endParaRPr lang="en-US" sz="1100" dirty="0"/>
          </a:p>
        </p:txBody>
      </p:sp>
      <p:sp>
        <p:nvSpPr>
          <p:cNvPr id="12" name="Text 10"/>
          <p:cNvSpPr txBox="1"/>
          <p:nvPr/>
        </p:nvSpPr>
        <p:spPr>
          <a:xfrm>
            <a:off x="502920" y="2560320"/>
            <a:ext cx="26517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会計的投資利益率法（ARR）</a:t>
            </a:r>
            <a:endParaRPr lang="en-US" sz="1100" dirty="0"/>
          </a:p>
        </p:txBody>
      </p:sp>
      <p:sp>
        <p:nvSpPr>
          <p:cNvPr id="13" name="Shape 11"/>
          <p:cNvSpPr/>
          <p:nvPr/>
        </p:nvSpPr>
        <p:spPr>
          <a:xfrm>
            <a:off x="3136392" y="2560320"/>
            <a:ext cx="0" cy="256032"/>
          </a:xfrm>
          <a:prstGeom prst="line">
            <a:avLst/>
          </a:prstGeom>
          <a:noFill/>
          <a:ln w="12700">
            <a:solidFill>
              <a:srgbClr val="E6E6E6"/>
            </a:solidFill>
            <a:prstDash val="solid"/>
          </a:ln>
        </p:spPr>
      </p:sp>
      <p:sp>
        <p:nvSpPr>
          <p:cNvPr id="14" name="Text 12"/>
          <p:cNvSpPr txBox="1"/>
          <p:nvPr/>
        </p:nvSpPr>
        <p:spPr>
          <a:xfrm>
            <a:off x="3291840" y="2560320"/>
            <a:ext cx="84124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平均年間利益 ÷ 平均（初期）投資額 × 100</a:t>
            </a:r>
            <a:endParaRPr lang="en-US" sz="1100" dirty="0"/>
          </a:p>
        </p:txBody>
      </p:sp>
      <p:sp>
        <p:nvSpPr>
          <p:cNvPr id="15" name="Text 13"/>
          <p:cNvSpPr txBox="1"/>
          <p:nvPr/>
        </p:nvSpPr>
        <p:spPr>
          <a:xfrm>
            <a:off x="502920" y="3035808"/>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投資案A：初期投資1,000万・年200万→回収期間5年。投資案B：初期投資600万・年150万→回収期間4年。単純比較ではBが優先される。</a:t>
            </a:r>
            <a:endParaRPr lang="en-US" sz="850" dirty="0"/>
          </a:p>
        </p:txBody>
      </p:sp>
      <p:sp>
        <p:nvSpPr>
          <p:cNvPr id="16" name="Shape 14"/>
          <p:cNvSpPr/>
          <p:nvPr/>
        </p:nvSpPr>
        <p:spPr>
          <a:xfrm>
            <a:off x="502920" y="3611880"/>
            <a:ext cx="11201400" cy="0"/>
          </a:xfrm>
          <a:prstGeom prst="line">
            <a:avLst/>
          </a:prstGeom>
          <a:noFill/>
          <a:ln w="12700">
            <a:solidFill>
              <a:srgbClr val="E6E6E6"/>
            </a:solidFill>
            <a:prstDash val="solid"/>
          </a:ln>
        </p:spPr>
      </p:sp>
      <p:sp>
        <p:nvSpPr>
          <p:cNvPr id="17" name="Text 15"/>
          <p:cNvSpPr txBox="1"/>
          <p:nvPr/>
        </p:nvSpPr>
        <p:spPr>
          <a:xfrm>
            <a:off x="502920" y="3685032"/>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両者とも貨幣の時間価値を考慮しないため、「5年目以降にどれだけ稼ぐか」を無視し、長期的に有利な案を過小評価する可能性がある。</a:t>
            </a:r>
            <a:endParaRPr lang="en-US" sz="950" dirty="0"/>
          </a:p>
        </p:txBody>
      </p:sp>
      <p:sp>
        <p:nvSpPr>
          <p:cNvPr id="18" name="Shape 16"/>
          <p:cNvSpPr/>
          <p:nvPr/>
        </p:nvSpPr>
        <p:spPr>
          <a:xfrm>
            <a:off x="502920" y="5989320"/>
            <a:ext cx="11201400" cy="0"/>
          </a:xfrm>
          <a:prstGeom prst="line">
            <a:avLst/>
          </a:prstGeom>
          <a:noFill/>
          <a:ln w="9525">
            <a:solidFill>
              <a:srgbClr val="171717"/>
            </a:solidFill>
            <a:prstDash val="solid"/>
          </a:ln>
        </p:spPr>
      </p:sp>
      <p:sp>
        <p:nvSpPr>
          <p:cNvPr id="19" name="Shape 17"/>
          <p:cNvSpPr/>
          <p:nvPr/>
        </p:nvSpPr>
        <p:spPr>
          <a:xfrm>
            <a:off x="502920" y="6062472"/>
            <a:ext cx="329184" cy="329184"/>
          </a:xfrm>
          <a:prstGeom prst="ellipse">
            <a:avLst/>
          </a:prstGeom>
          <a:solidFill>
            <a:srgbClr val="8A8A8A"/>
          </a:solidFill>
          <a:ln/>
        </p:spPr>
      </p:sp>
      <p:sp>
        <p:nvSpPr>
          <p:cNvPr id="20" name="Text 1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21" name="Text 19"/>
          <p:cNvSpPr txBox="1"/>
          <p:nvPr/>
        </p:nvSpPr>
        <p:spPr>
          <a:xfrm>
            <a:off x="914400" y="6062472"/>
            <a:ext cx="10515600" cy="329184"/>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集計データなし　／　関連：B-26 投資評価基準（NPV法、IRR法、収益性指数法）。</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B-26 ／ 実物投資：投資評価基準（IRR法、NPV法、PI法）</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NPV＞0、IRR＞資本コスト、PI＞1なら実行</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貨幣の時間価値を考慮した、より精緻な投資評価方法。</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B-24の割引計算を投資判断の意思決定基準に発展させたのがこの3手法。割引後の金額差で判断するNPV法、割引率そのもので判断するIRR法、投資額あたりの効率で判断するPI法と、切り口が異なる。</a:t>
            </a:r>
            <a:endParaRPr lang="en-US" sz="1100" dirty="0"/>
          </a:p>
        </p:txBody>
      </p:sp>
      <p:sp>
        <p:nvSpPr>
          <p:cNvPr id="9" name="Text 7"/>
          <p:cNvSpPr txBox="1"/>
          <p:nvPr/>
        </p:nvSpPr>
        <p:spPr>
          <a:xfrm>
            <a:off x="502920" y="2176272"/>
            <a:ext cx="21945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NPV法</a:t>
            </a:r>
            <a:endParaRPr lang="en-US" sz="1100" dirty="0"/>
          </a:p>
        </p:txBody>
      </p:sp>
      <p:sp>
        <p:nvSpPr>
          <p:cNvPr id="10" name="Shape 8"/>
          <p:cNvSpPr/>
          <p:nvPr/>
        </p:nvSpPr>
        <p:spPr>
          <a:xfrm>
            <a:off x="2679192" y="2176272"/>
            <a:ext cx="0" cy="256032"/>
          </a:xfrm>
          <a:prstGeom prst="line">
            <a:avLst/>
          </a:prstGeom>
          <a:noFill/>
          <a:ln w="12700">
            <a:solidFill>
              <a:srgbClr val="E6E6E6"/>
            </a:solidFill>
            <a:prstDash val="solid"/>
          </a:ln>
        </p:spPr>
      </p:sp>
      <p:sp>
        <p:nvSpPr>
          <p:cNvPr id="11" name="Text 9"/>
          <p:cNvSpPr txBox="1"/>
          <p:nvPr/>
        </p:nvSpPr>
        <p:spPr>
          <a:xfrm>
            <a:off x="2834640" y="2176272"/>
            <a:ext cx="88696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将来CFの現在価値の合計－初期投資額。NPV＞0なら実行</a:t>
            </a:r>
            <a:endParaRPr lang="en-US" sz="1100" dirty="0"/>
          </a:p>
        </p:txBody>
      </p:sp>
      <p:sp>
        <p:nvSpPr>
          <p:cNvPr id="12" name="Text 10"/>
          <p:cNvSpPr txBox="1"/>
          <p:nvPr/>
        </p:nvSpPr>
        <p:spPr>
          <a:xfrm>
            <a:off x="502920" y="2560320"/>
            <a:ext cx="21945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IRR法</a:t>
            </a:r>
            <a:endParaRPr lang="en-US" sz="1100" dirty="0"/>
          </a:p>
        </p:txBody>
      </p:sp>
      <p:sp>
        <p:nvSpPr>
          <p:cNvPr id="13" name="Shape 11"/>
          <p:cNvSpPr/>
          <p:nvPr/>
        </p:nvSpPr>
        <p:spPr>
          <a:xfrm>
            <a:off x="2679192" y="2560320"/>
            <a:ext cx="0" cy="256032"/>
          </a:xfrm>
          <a:prstGeom prst="line">
            <a:avLst/>
          </a:prstGeom>
          <a:noFill/>
          <a:ln w="12700">
            <a:solidFill>
              <a:srgbClr val="E6E6E6"/>
            </a:solidFill>
            <a:prstDash val="solid"/>
          </a:ln>
        </p:spPr>
      </p:sp>
      <p:sp>
        <p:nvSpPr>
          <p:cNvPr id="14" name="Text 12"/>
          <p:cNvSpPr txBox="1"/>
          <p:nvPr/>
        </p:nvSpPr>
        <p:spPr>
          <a:xfrm>
            <a:off x="2834640" y="2560320"/>
            <a:ext cx="88696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NPV＝0になる割引率。IRR＞資本コストなら実行</a:t>
            </a:r>
            <a:endParaRPr lang="en-US" sz="1100" dirty="0"/>
          </a:p>
        </p:txBody>
      </p:sp>
      <p:sp>
        <p:nvSpPr>
          <p:cNvPr id="15" name="Text 13"/>
          <p:cNvSpPr txBox="1"/>
          <p:nvPr/>
        </p:nvSpPr>
        <p:spPr>
          <a:xfrm>
            <a:off x="502920" y="2944368"/>
            <a:ext cx="21945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収益性指数法（PI）</a:t>
            </a:r>
            <a:endParaRPr lang="en-US" sz="1100" dirty="0"/>
          </a:p>
        </p:txBody>
      </p:sp>
      <p:sp>
        <p:nvSpPr>
          <p:cNvPr id="16" name="Shape 14"/>
          <p:cNvSpPr/>
          <p:nvPr/>
        </p:nvSpPr>
        <p:spPr>
          <a:xfrm>
            <a:off x="2679192" y="2944368"/>
            <a:ext cx="0" cy="256032"/>
          </a:xfrm>
          <a:prstGeom prst="line">
            <a:avLst/>
          </a:prstGeom>
          <a:noFill/>
          <a:ln w="12700">
            <a:solidFill>
              <a:srgbClr val="E6E6E6"/>
            </a:solidFill>
            <a:prstDash val="solid"/>
          </a:ln>
        </p:spPr>
      </p:sp>
      <p:sp>
        <p:nvSpPr>
          <p:cNvPr id="17" name="Text 15"/>
          <p:cNvSpPr txBox="1"/>
          <p:nvPr/>
        </p:nvSpPr>
        <p:spPr>
          <a:xfrm>
            <a:off x="2834640" y="2944368"/>
            <a:ext cx="88696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将来CFの現在価値 ÷ 初期投資額。PI＞1なら実行</a:t>
            </a:r>
            <a:endParaRPr lang="en-US" sz="1100" dirty="0"/>
          </a:p>
        </p:txBody>
      </p:sp>
      <p:sp>
        <p:nvSpPr>
          <p:cNvPr id="18" name="Text 16"/>
          <p:cNvSpPr txBox="1"/>
          <p:nvPr/>
        </p:nvSpPr>
        <p:spPr>
          <a:xfrm>
            <a:off x="502920" y="3419856"/>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初期投資2,200万、1年後1,100万（係数0.94）、2年後2,200万（係数0.88）、資本コスト6％→NPV＝－2,200＋1,034＋1,936＝770万円（＞0なので実行）。</a:t>
            </a:r>
            <a:endParaRPr lang="en-US" sz="850" dirty="0"/>
          </a:p>
        </p:txBody>
      </p:sp>
      <p:sp>
        <p:nvSpPr>
          <p:cNvPr id="19" name="Shape 17"/>
          <p:cNvSpPr/>
          <p:nvPr/>
        </p:nvSpPr>
        <p:spPr>
          <a:xfrm>
            <a:off x="502920" y="3995928"/>
            <a:ext cx="11201400" cy="0"/>
          </a:xfrm>
          <a:prstGeom prst="line">
            <a:avLst/>
          </a:prstGeom>
          <a:noFill/>
          <a:ln w="12700">
            <a:solidFill>
              <a:srgbClr val="E6E6E6"/>
            </a:solidFill>
            <a:prstDash val="solid"/>
          </a:ln>
        </p:spPr>
      </p:sp>
      <p:sp>
        <p:nvSpPr>
          <p:cNvPr id="20" name="Text 18"/>
          <p:cNvSpPr txBox="1"/>
          <p:nvPr/>
        </p:nvSpPr>
        <p:spPr>
          <a:xfrm>
            <a:off x="502920" y="406908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投資規模が大きく異なる複数案の比較ではNPVとIRRで優劣が逆転することがある。一般にNPV法の方が優れた判断基準とされる。</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関連：B-21 資本コスト（WACCがこの割引率として使われる）。</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B-26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第17問）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計算問題。前のスライドの公式で自分の手で計算してみる。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128016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Y社は、ある投資案の採否について正味現在価値法に基づいて判断している。なお、税金は存在しないものとする。この投資案の初期投資は第1期首に行われ、初期投資額は2,200万円、第1期末のキャッシュフローは1,100万円、第2期末のキャッシュフローは2,200万円と予測されている。投資の経済命数は2年であり、資本コストは6％である。この投資案の正味現在価値として、最も適切なものを下記の解答群から選べ。なお、計算には以下の複利現価係数表を使用すること。複利現価係数表：1年＝0.94（6％）、2年＝0.88（6％）</a:t>
            </a:r>
            <a:endParaRPr lang="en-US" sz="1250" dirty="0"/>
          </a:p>
        </p:txBody>
      </p:sp>
      <p:sp>
        <p:nvSpPr>
          <p:cNvPr id="9" name="Text 7"/>
          <p:cNvSpPr txBox="1"/>
          <p:nvPr/>
        </p:nvSpPr>
        <p:spPr>
          <a:xfrm>
            <a:off x="731520" y="306324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737万円</a:t>
            </a:r>
            <a:endParaRPr lang="en-US" sz="1150" dirty="0"/>
          </a:p>
        </p:txBody>
      </p:sp>
      <p:sp>
        <p:nvSpPr>
          <p:cNvPr id="10" name="Text 8"/>
          <p:cNvSpPr txBox="1"/>
          <p:nvPr/>
        </p:nvSpPr>
        <p:spPr>
          <a:xfrm>
            <a:off x="731520" y="353872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770万円</a:t>
            </a:r>
            <a:endParaRPr lang="en-US" sz="1150" dirty="0"/>
          </a:p>
        </p:txBody>
      </p:sp>
      <p:sp>
        <p:nvSpPr>
          <p:cNvPr id="11" name="Text 9"/>
          <p:cNvSpPr txBox="1"/>
          <p:nvPr/>
        </p:nvSpPr>
        <p:spPr>
          <a:xfrm>
            <a:off x="731520" y="401421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825万円</a:t>
            </a:r>
            <a:endParaRPr lang="en-US" sz="1150" dirty="0"/>
          </a:p>
        </p:txBody>
      </p:sp>
      <p:sp>
        <p:nvSpPr>
          <p:cNvPr id="12" name="Text 10"/>
          <p:cNvSpPr txBox="1"/>
          <p:nvPr/>
        </p:nvSpPr>
        <p:spPr>
          <a:xfrm>
            <a:off x="731520" y="448970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902万円</a:t>
            </a:r>
            <a:endParaRPr lang="en-US" sz="1150" dirty="0"/>
          </a:p>
        </p:txBody>
      </p:sp>
      <p:sp>
        <p:nvSpPr>
          <p:cNvPr id="13" name="Text 11"/>
          <p:cNvSpPr txBox="1"/>
          <p:nvPr/>
        </p:nvSpPr>
        <p:spPr>
          <a:xfrm>
            <a:off x="502920" y="5102352"/>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出典：past_exams/1st_stage/1ji2025/B1JI2025.pdf（令和7年度第1次試験）第17問</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B-26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第17問）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正解はイ（770万円）。初期投資額はそのまま、将来CFだけ割り引く。</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737万円</a:t>
            </a:r>
            <a:endParaRPr lang="en-US" sz="1150" dirty="0"/>
          </a:p>
        </p:txBody>
      </p:sp>
      <p:sp>
        <p:nvSpPr>
          <p:cNvPr id="9" name="Shape 7"/>
          <p:cNvSpPr/>
          <p:nvPr/>
        </p:nvSpPr>
        <p:spPr>
          <a:xfrm>
            <a:off x="502920" y="2185416"/>
            <a:ext cx="11201400" cy="475488"/>
          </a:xfrm>
          <a:prstGeom prst="rect">
            <a:avLst/>
          </a:prstGeom>
          <a:solidFill>
            <a:srgbClr val="F4F4F4"/>
          </a:solidFill>
          <a:ln/>
        </p:spPr>
      </p:sp>
      <p:sp>
        <p:nvSpPr>
          <p:cNvPr id="10" name="Shape 8"/>
          <p:cNvSpPr/>
          <p:nvPr/>
        </p:nvSpPr>
        <p:spPr>
          <a:xfrm>
            <a:off x="502920" y="2185416"/>
            <a:ext cx="0" cy="475488"/>
          </a:xfrm>
          <a:prstGeom prst="line">
            <a:avLst/>
          </a:prstGeom>
          <a:noFill/>
          <a:ln w="38100">
            <a:solidFill>
              <a:srgbClr val="FF3B1F"/>
            </a:solidFill>
            <a:prstDash val="solid"/>
          </a:ln>
        </p:spPr>
      </p:sp>
      <p:sp>
        <p:nvSpPr>
          <p:cNvPr id="11" name="Text 9"/>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770万円</a:t>
            </a:r>
            <a:endParaRPr lang="en-US" sz="1150" dirty="0"/>
          </a:p>
        </p:txBody>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825万円</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902万円</a:t>
            </a:r>
            <a:endParaRPr lang="en-US" sz="1150" dirty="0"/>
          </a:p>
        </p:txBody>
      </p:sp>
      <p:sp>
        <p:nvSpPr>
          <p:cNvPr id="14" name="Shape 12"/>
          <p:cNvSpPr/>
          <p:nvPr/>
        </p:nvSpPr>
        <p:spPr>
          <a:xfrm>
            <a:off x="502920" y="3712464"/>
            <a:ext cx="11201400" cy="0"/>
          </a:xfrm>
          <a:prstGeom prst="line">
            <a:avLst/>
          </a:prstGeom>
          <a:noFill/>
          <a:ln w="12700">
            <a:solidFill>
              <a:srgbClr val="171717"/>
            </a:solidFill>
            <a:prstDash val="solid"/>
          </a:ln>
        </p:spPr>
      </p:sp>
      <p:sp>
        <p:nvSpPr>
          <p:cNvPr id="15" name="Text 13"/>
          <p:cNvSpPr txBox="1"/>
          <p:nvPr/>
        </p:nvSpPr>
        <p:spPr>
          <a:xfrm>
            <a:off x="502920" y="3803904"/>
            <a:ext cx="11201400" cy="640080"/>
          </a:xfrm>
          <a:prstGeom prst="rect">
            <a:avLst/>
          </a:prstGeom>
          <a:noFill/>
          <a:ln/>
        </p:spPr>
        <p:txBody>
          <a:bodyPr wrap="square" lIns="0" tIns="0" rIns="0" bIns="0" rtlCol="0" anchor="ctr"/>
          <a:lstStyle/>
          <a:p>
            <a:pPr indent="0" marL="0">
              <a:lnSpc>
                <a:spcPct val="120000"/>
              </a:lnSpc>
              <a:buNone/>
            </a:pPr>
            <a:r>
              <a:rPr lang="en-US" sz="1050" b="1" dirty="0">
                <a:solidFill>
                  <a:srgbClr val="FF3B1F"/>
                </a:solidFill>
                <a:latin typeface="Yu Gothic" pitchFamily="34" charset="0"/>
                <a:ea typeface="Yu Gothic" pitchFamily="34" charset="-122"/>
                <a:cs typeface="Yu Gothic" pitchFamily="34" charset="-120"/>
              </a:rPr>
              <a:t>正解：イ（770万円）</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。NPV＝－初期投資額＋第1期末CF×1年現価係数＋第2期末CF×2年現価係数＝－2,200＋1,100×0.94＋2,200×0.88＝－2,200＋1,034＋1,936＝</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770万円</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a:t>
            </a:r>
            <a:endParaRPr lang="en-US" sz="1050" dirty="0"/>
          </a:p>
        </p:txBody>
      </p:sp>
      <p:sp>
        <p:nvSpPr>
          <p:cNvPr id="16" name="Text 14"/>
          <p:cNvSpPr txBox="1"/>
          <p:nvPr/>
        </p:nvSpPr>
        <p:spPr>
          <a:xfrm>
            <a:off x="502920" y="4517136"/>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初期投資額（第1期首＝現時点）はそのままの金額を使い、将来のCF（第1期末・第2期末）だけを現価係数で割り引く点がポイント。</a:t>
            </a:r>
            <a:endParaRPr lang="en-US" sz="850" dirty="0"/>
          </a:p>
        </p:txBody>
      </p:sp>
      <p:sp>
        <p:nvSpPr>
          <p:cNvPr id="17" name="Text 15"/>
          <p:cNvSpPr txBox="1"/>
          <p:nvPr/>
        </p:nvSpPr>
        <p:spPr>
          <a:xfrm>
            <a:off x="502920" y="5047488"/>
            <a:ext cx="11201400" cy="27432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関連知識：NPVがプラスなので、この投資案は実行すべきと判断する。docs/07_key_formulas_and_frameworks.md参照。</a:t>
            </a:r>
            <a:endParaRPr lang="en-US" sz="1000" dirty="0"/>
          </a:p>
        </p:txBody>
      </p:sp>
      <p:sp>
        <p:nvSpPr>
          <p:cNvPr id="18" name="Text 16"/>
          <p:cNvSpPr txBox="1"/>
          <p:nvPr/>
        </p:nvSpPr>
        <p:spPr>
          <a:xfrm>
            <a:off x="502920" y="539496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出典：past_exams/1st_stage/1ji2025/B1JI2025.pdf（令和7年度第1次試験）第17問／正解：past_exams/1st_stage_answers/r07/2025b.pdf</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B-27 ／ 実物投資：不確実性下の投資決定</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将来の不確実性を投資判断に織り込む</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期待値法・感応度分析・デシジョンツリー分析の3つの考え方。</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B-24〜B-26の投資評価は将来CFが確定している前提だったが、実際には不確実性を伴うため、期待値法・感応度分析・デシジョンツリー分析で判断を補強する。</a:t>
            </a:r>
            <a:endParaRPr lang="en-US" sz="1100" dirty="0"/>
          </a:p>
        </p:txBody>
      </p:sp>
      <p:sp>
        <p:nvSpPr>
          <p:cNvPr id="9" name="Text 7"/>
          <p:cNvSpPr txBox="1"/>
          <p:nvPr/>
        </p:nvSpPr>
        <p:spPr>
          <a:xfrm>
            <a:off x="502920" y="2176272"/>
            <a:ext cx="21031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期待値法</a:t>
            </a:r>
            <a:endParaRPr lang="en-US" sz="1100" dirty="0"/>
          </a:p>
        </p:txBody>
      </p:sp>
      <p:sp>
        <p:nvSpPr>
          <p:cNvPr id="10" name="Shape 8"/>
          <p:cNvSpPr/>
          <p:nvPr/>
        </p:nvSpPr>
        <p:spPr>
          <a:xfrm>
            <a:off x="2587752" y="2176272"/>
            <a:ext cx="0" cy="256032"/>
          </a:xfrm>
          <a:prstGeom prst="line">
            <a:avLst/>
          </a:prstGeom>
          <a:noFill/>
          <a:ln w="12700">
            <a:solidFill>
              <a:srgbClr val="E6E6E6"/>
            </a:solidFill>
            <a:prstDash val="solid"/>
          </a:ln>
        </p:spPr>
      </p:sp>
      <p:sp>
        <p:nvSpPr>
          <p:cNvPr id="11" name="Text 9"/>
          <p:cNvSpPr txBox="1"/>
          <p:nvPr/>
        </p:nvSpPr>
        <p:spPr>
          <a:xfrm>
            <a:off x="2743200" y="2176272"/>
            <a:ext cx="89611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複数シナリオの発生確率×CFの加重平均でNPV等を計算</a:t>
            </a:r>
            <a:endParaRPr lang="en-US" sz="1100" dirty="0"/>
          </a:p>
        </p:txBody>
      </p:sp>
      <p:sp>
        <p:nvSpPr>
          <p:cNvPr id="12" name="Text 10"/>
          <p:cNvSpPr txBox="1"/>
          <p:nvPr/>
        </p:nvSpPr>
        <p:spPr>
          <a:xfrm>
            <a:off x="502920" y="2560320"/>
            <a:ext cx="21031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感応度分析</a:t>
            </a:r>
            <a:endParaRPr lang="en-US" sz="1100" dirty="0"/>
          </a:p>
        </p:txBody>
      </p:sp>
      <p:sp>
        <p:nvSpPr>
          <p:cNvPr id="13" name="Shape 11"/>
          <p:cNvSpPr/>
          <p:nvPr/>
        </p:nvSpPr>
        <p:spPr>
          <a:xfrm>
            <a:off x="2587752" y="2560320"/>
            <a:ext cx="0" cy="256032"/>
          </a:xfrm>
          <a:prstGeom prst="line">
            <a:avLst/>
          </a:prstGeom>
          <a:noFill/>
          <a:ln w="12700">
            <a:solidFill>
              <a:srgbClr val="E6E6E6"/>
            </a:solidFill>
            <a:prstDash val="solid"/>
          </a:ln>
        </p:spPr>
      </p:sp>
      <p:sp>
        <p:nvSpPr>
          <p:cNvPr id="14" name="Text 12"/>
          <p:cNvSpPr txBox="1"/>
          <p:nvPr/>
        </p:nvSpPr>
        <p:spPr>
          <a:xfrm>
            <a:off x="2743200" y="2560320"/>
            <a:ext cx="89611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前提条件を変化させNPV等の変化を分析、リスク要因を特定</a:t>
            </a:r>
            <a:endParaRPr lang="en-US" sz="1100" dirty="0"/>
          </a:p>
        </p:txBody>
      </p:sp>
      <p:sp>
        <p:nvSpPr>
          <p:cNvPr id="15" name="Text 13"/>
          <p:cNvSpPr txBox="1"/>
          <p:nvPr/>
        </p:nvSpPr>
        <p:spPr>
          <a:xfrm>
            <a:off x="502920" y="2944368"/>
            <a:ext cx="21031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デシジョンツリー分析</a:t>
            </a:r>
            <a:endParaRPr lang="en-US" sz="1100" dirty="0"/>
          </a:p>
        </p:txBody>
      </p:sp>
      <p:sp>
        <p:nvSpPr>
          <p:cNvPr id="16" name="Shape 14"/>
          <p:cNvSpPr/>
          <p:nvPr/>
        </p:nvSpPr>
        <p:spPr>
          <a:xfrm>
            <a:off x="2587752" y="2944368"/>
            <a:ext cx="0" cy="256032"/>
          </a:xfrm>
          <a:prstGeom prst="line">
            <a:avLst/>
          </a:prstGeom>
          <a:noFill/>
          <a:ln w="12700">
            <a:solidFill>
              <a:srgbClr val="E6E6E6"/>
            </a:solidFill>
            <a:prstDash val="solid"/>
          </a:ln>
        </p:spPr>
      </p:sp>
      <p:sp>
        <p:nvSpPr>
          <p:cNvPr id="17" name="Text 15"/>
          <p:cNvSpPr txBox="1"/>
          <p:nvPr/>
        </p:nvSpPr>
        <p:spPr>
          <a:xfrm>
            <a:off x="2743200" y="2944368"/>
            <a:ext cx="89611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意思決定と不確実な事象を樹形図に整理し期待値で最適経路を探る</a:t>
            </a:r>
            <a:endParaRPr lang="en-US" sz="1100" dirty="0"/>
          </a:p>
        </p:txBody>
      </p:sp>
      <p:sp>
        <p:nvSpPr>
          <p:cNvPr id="18" name="Text 16"/>
          <p:cNvSpPr txBox="1"/>
          <p:nvPr/>
        </p:nvSpPr>
        <p:spPr>
          <a:xfrm>
            <a:off x="502920" y="3419856"/>
            <a:ext cx="11201400" cy="530352"/>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好況60％・CF3,000万、不況40％・CF500万→期待CF＝3,000×60％＋500×40％＝2,000万円。</a:t>
            </a:r>
            <a:endParaRPr lang="en-US" sz="850" dirty="0"/>
          </a:p>
        </p:txBody>
      </p:sp>
      <p:sp>
        <p:nvSpPr>
          <p:cNvPr id="19" name="Shape 17"/>
          <p:cNvSpPr/>
          <p:nvPr/>
        </p:nvSpPr>
        <p:spPr>
          <a:xfrm>
            <a:off x="502920" y="4023360"/>
            <a:ext cx="11201400" cy="0"/>
          </a:xfrm>
          <a:prstGeom prst="line">
            <a:avLst/>
          </a:prstGeom>
          <a:noFill/>
          <a:ln w="12700">
            <a:solidFill>
              <a:srgbClr val="E6E6E6"/>
            </a:solidFill>
            <a:prstDash val="solid"/>
          </a:ln>
        </p:spPr>
      </p:sp>
      <p:sp>
        <p:nvSpPr>
          <p:cNvPr id="20" name="Text 18"/>
          <p:cNvSpPr txBox="1"/>
          <p:nvPr/>
        </p:nvSpPr>
        <p:spPr>
          <a:xfrm>
            <a:off x="502920" y="4096512"/>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期待値だけで判断すると「最悪シナリオでの損失の大きさ」が見えなくなる。期待値が同じでもばらつきが大きい案と小さい案では慎重な意思決定者は後者を選好する場合がある。</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直近10年で2回出題</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関連：B-26 投資評価基準（期待CFを使ってNPVを計算する応用形）。</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04</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04</a:t>
            </a:r>
            <a:pPr indent="0" marL="0">
              <a:buNone/>
            </a:pPr>
            <a:r>
              <a:rPr lang="en-US" sz="1300" dirty="0">
                <a:solidFill>
                  <a:srgbClr val="A2A2A2"/>
                </a:solidFill>
                <a:latin typeface="Consolas" pitchFamily="34" charset="0"/>
                <a:ea typeface="Consolas" pitchFamily="34" charset="-122"/>
                <a:cs typeface="Consolas" pitchFamily="34" charset="-120"/>
              </a:rPr>
              <a:t>   財務・会計 ／ B-28〜B-34</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証券投資／企業価値</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投資家側から見た証券投資の考え方（分散投資、CAPM）、会社全体・株式の価値をどう算定するか（企業価値評価）、そしてリスクをヘッジする金融派生商品（デリバティブ）まで。</a:t>
            </a:r>
            <a:endParaRPr lang="en-US" sz="1400" dirty="0"/>
          </a:p>
        </p:txBody>
      </p:sp>
      <p:sp>
        <p:nvSpPr>
          <p:cNvPr id="6" name="Shape 4"/>
          <p:cNvSpPr/>
          <p:nvPr/>
        </p:nvSpPr>
        <p:spPr>
          <a:xfrm>
            <a:off x="640080" y="4800600"/>
            <a:ext cx="2048256" cy="384048"/>
          </a:xfrm>
          <a:prstGeom prst="rect">
            <a:avLst/>
          </a:prstGeom>
          <a:ln w="9525">
            <a:solidFill>
              <a:srgbClr val="7F7F7F"/>
            </a:solidFill>
            <a:prstDash val="solid"/>
          </a:ln>
        </p:spPr>
      </p:sp>
      <p:sp>
        <p:nvSpPr>
          <p:cNvPr id="7" name="Text 5"/>
          <p:cNvSpPr txBox="1"/>
          <p:nvPr/>
        </p:nvSpPr>
        <p:spPr>
          <a:xfrm>
            <a:off x="640080" y="4800600"/>
            <a:ext cx="204825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B-28 ポートフォリオ理論</a:t>
            </a:r>
            <a:endParaRPr lang="en-US" sz="1000" dirty="0"/>
          </a:p>
        </p:txBody>
      </p:sp>
      <p:sp>
        <p:nvSpPr>
          <p:cNvPr id="8" name="Shape 6"/>
          <p:cNvSpPr/>
          <p:nvPr/>
        </p:nvSpPr>
        <p:spPr>
          <a:xfrm>
            <a:off x="2916936" y="4800600"/>
            <a:ext cx="1431036" cy="384048"/>
          </a:xfrm>
          <a:prstGeom prst="rect">
            <a:avLst/>
          </a:prstGeom>
          <a:ln w="9525">
            <a:solidFill>
              <a:srgbClr val="7F7F7F"/>
            </a:solidFill>
            <a:prstDash val="solid"/>
          </a:ln>
        </p:spPr>
      </p:sp>
      <p:sp>
        <p:nvSpPr>
          <p:cNvPr id="9" name="Text 7"/>
          <p:cNvSpPr txBox="1"/>
          <p:nvPr/>
        </p:nvSpPr>
        <p:spPr>
          <a:xfrm>
            <a:off x="2916936" y="4800600"/>
            <a:ext cx="143103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B-29 CAPM</a:t>
            </a:r>
            <a:endParaRPr lang="en-US" sz="1000" dirty="0"/>
          </a:p>
        </p:txBody>
      </p:sp>
      <p:sp>
        <p:nvSpPr>
          <p:cNvPr id="10" name="Shape 8"/>
          <p:cNvSpPr/>
          <p:nvPr/>
        </p:nvSpPr>
        <p:spPr>
          <a:xfrm>
            <a:off x="4576572" y="4800600"/>
            <a:ext cx="1801368" cy="384048"/>
          </a:xfrm>
          <a:prstGeom prst="rect">
            <a:avLst/>
          </a:prstGeom>
          <a:ln w="9525">
            <a:solidFill>
              <a:srgbClr val="7F7F7F"/>
            </a:solidFill>
            <a:prstDash val="solid"/>
          </a:ln>
        </p:spPr>
      </p:sp>
      <p:sp>
        <p:nvSpPr>
          <p:cNvPr id="11" name="Text 9"/>
          <p:cNvSpPr txBox="1"/>
          <p:nvPr/>
        </p:nvSpPr>
        <p:spPr>
          <a:xfrm>
            <a:off x="4576572" y="4800600"/>
            <a:ext cx="180136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B-33 オプション取引</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B-28 ／ 証券投資：ポートフォリオ理論</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分散投資で消せるリスク、消せないリスク</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複数証券への分散投資でリスクを減らせるが、市場リスクだけは消せない。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複数の証券を組み合わせて保有すると、個別銘柄固有のリスクは打ち消し合って減らせるが、市場全体が動くリスクだけはどれだけ分散しても消えずに残る。</a:t>
            </a:r>
            <a:endParaRPr lang="en-US" sz="1100" dirty="0"/>
          </a:p>
        </p:txBody>
      </p:sp>
      <p:sp>
        <p:nvSpPr>
          <p:cNvPr id="9" name="Text 7"/>
          <p:cNvSpPr txBox="1"/>
          <p:nvPr/>
        </p:nvSpPr>
        <p:spPr>
          <a:xfrm>
            <a:off x="502920" y="2176272"/>
            <a:ext cx="16459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分散投資効果</a:t>
            </a:r>
            <a:endParaRPr lang="en-US" sz="1100" dirty="0"/>
          </a:p>
        </p:txBody>
      </p:sp>
      <p:sp>
        <p:nvSpPr>
          <p:cNvPr id="10" name="Shape 8"/>
          <p:cNvSpPr/>
          <p:nvPr/>
        </p:nvSpPr>
        <p:spPr>
          <a:xfrm>
            <a:off x="2130552" y="2176272"/>
            <a:ext cx="0" cy="256032"/>
          </a:xfrm>
          <a:prstGeom prst="line">
            <a:avLst/>
          </a:prstGeom>
          <a:noFill/>
          <a:ln w="12700">
            <a:solidFill>
              <a:srgbClr val="E6E6E6"/>
            </a:solidFill>
            <a:prstDash val="solid"/>
          </a:ln>
        </p:spPr>
      </p:sp>
      <p:sp>
        <p:nvSpPr>
          <p:cNvPr id="11" name="Text 9"/>
          <p:cNvSpPr txBox="1"/>
          <p:nvPr/>
        </p:nvSpPr>
        <p:spPr>
          <a:xfrm>
            <a:off x="2286000" y="2176272"/>
            <a:ext cx="94183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組み合わせる証券の相関係数（－1〜＋1）が低いほど大きい</a:t>
            </a:r>
            <a:endParaRPr lang="en-US" sz="1100" dirty="0"/>
          </a:p>
        </p:txBody>
      </p:sp>
      <p:sp>
        <p:nvSpPr>
          <p:cNvPr id="12" name="Text 10"/>
          <p:cNvSpPr txBox="1"/>
          <p:nvPr/>
        </p:nvSpPr>
        <p:spPr>
          <a:xfrm>
            <a:off x="502920" y="2560320"/>
            <a:ext cx="16459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個別リスク</a:t>
            </a:r>
            <a:endParaRPr lang="en-US" sz="1100" dirty="0"/>
          </a:p>
        </p:txBody>
      </p:sp>
      <p:sp>
        <p:nvSpPr>
          <p:cNvPr id="13" name="Shape 11"/>
          <p:cNvSpPr/>
          <p:nvPr/>
        </p:nvSpPr>
        <p:spPr>
          <a:xfrm>
            <a:off x="2130552" y="2560320"/>
            <a:ext cx="0" cy="256032"/>
          </a:xfrm>
          <a:prstGeom prst="line">
            <a:avLst/>
          </a:prstGeom>
          <a:noFill/>
          <a:ln w="12700">
            <a:solidFill>
              <a:srgbClr val="E6E6E6"/>
            </a:solidFill>
            <a:prstDash val="solid"/>
          </a:ln>
        </p:spPr>
      </p:sp>
      <p:sp>
        <p:nvSpPr>
          <p:cNvPr id="14" name="Text 12"/>
          <p:cNvSpPr txBox="1"/>
          <p:nvPr/>
        </p:nvSpPr>
        <p:spPr>
          <a:xfrm>
            <a:off x="2286000" y="2560320"/>
            <a:ext cx="94183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分散投資で消せる、個別銘柄固有のリスク</a:t>
            </a:r>
            <a:endParaRPr lang="en-US" sz="1100" dirty="0"/>
          </a:p>
        </p:txBody>
      </p:sp>
      <p:sp>
        <p:nvSpPr>
          <p:cNvPr id="15" name="Text 13"/>
          <p:cNvSpPr txBox="1"/>
          <p:nvPr/>
        </p:nvSpPr>
        <p:spPr>
          <a:xfrm>
            <a:off x="502920" y="2944368"/>
            <a:ext cx="16459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市場リスク</a:t>
            </a:r>
            <a:endParaRPr lang="en-US" sz="1100" dirty="0"/>
          </a:p>
        </p:txBody>
      </p:sp>
      <p:sp>
        <p:nvSpPr>
          <p:cNvPr id="16" name="Shape 14"/>
          <p:cNvSpPr/>
          <p:nvPr/>
        </p:nvSpPr>
        <p:spPr>
          <a:xfrm>
            <a:off x="2130552" y="2944368"/>
            <a:ext cx="0" cy="256032"/>
          </a:xfrm>
          <a:prstGeom prst="line">
            <a:avLst/>
          </a:prstGeom>
          <a:noFill/>
          <a:ln w="12700">
            <a:solidFill>
              <a:srgbClr val="E6E6E6"/>
            </a:solidFill>
            <a:prstDash val="solid"/>
          </a:ln>
        </p:spPr>
      </p:sp>
      <p:sp>
        <p:nvSpPr>
          <p:cNvPr id="17" name="Text 15"/>
          <p:cNvSpPr txBox="1"/>
          <p:nvPr/>
        </p:nvSpPr>
        <p:spPr>
          <a:xfrm>
            <a:off x="2286000" y="2944368"/>
            <a:ext cx="94183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分散投資でも消せない、市場全体が動くリスク（システマティック・リスク）</a:t>
            </a:r>
            <a:endParaRPr lang="en-US" sz="1100" dirty="0"/>
          </a:p>
        </p:txBody>
      </p:sp>
      <p:sp>
        <p:nvSpPr>
          <p:cNvPr id="18" name="Text 16"/>
          <p:cNvSpPr txBox="1"/>
          <p:nvPr/>
        </p:nvSpPr>
        <p:spPr>
          <a:xfrm>
            <a:off x="502920" y="3419856"/>
            <a:ext cx="11201400" cy="713232"/>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傘メーカーと日焼け止めメーカーは天候で業績が逆に動く（相関係数がマイナスに近い）。両方に投資すると天候リスクを打ち消し合い、ポートフォリオ全体のリスクを減らせる。</a:t>
            </a:r>
            <a:endParaRPr lang="en-US" sz="850" dirty="0"/>
          </a:p>
        </p:txBody>
      </p:sp>
      <p:sp>
        <p:nvSpPr>
          <p:cNvPr id="19" name="Shape 17"/>
          <p:cNvSpPr/>
          <p:nvPr/>
        </p:nvSpPr>
        <p:spPr>
          <a:xfrm>
            <a:off x="502920" y="4206240"/>
            <a:ext cx="11201400" cy="0"/>
          </a:xfrm>
          <a:prstGeom prst="line">
            <a:avLst/>
          </a:prstGeom>
          <a:noFill/>
          <a:ln w="12700">
            <a:solidFill>
              <a:srgbClr val="E6E6E6"/>
            </a:solidFill>
            <a:prstDash val="solid"/>
          </a:ln>
        </p:spPr>
      </p:sp>
      <p:sp>
        <p:nvSpPr>
          <p:cNvPr id="20" name="Text 18"/>
          <p:cNvSpPr txBox="1"/>
          <p:nvPr/>
        </p:nvSpPr>
        <p:spPr>
          <a:xfrm>
            <a:off x="502920" y="4279392"/>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「分散投資をすればリスクはゼロにできる」は誤り。消せるのは個別リスクだけで、市場リスクはどれだけ銘柄数を増やしても残り続ける。</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関連：B-29 資本市場理論（市場リスクへの感応度を測る指標がβ）。</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B-29 ／ 証券投資：資本市場理論</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市場リスクへの感応度がβ</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効率的市場仮説の3段階と、市場リスクプレミアムをモデル化したCAPM。</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50292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効率的市場仮説は、株価にどこまでの情報が織り込まれているかによってウィーク型からストロング型まで3段階に分かれ、段階が進むほどより多くの情報を使っても超過収益を得ることが難しくなる。</a:t>
            </a:r>
            <a:endParaRPr lang="en-US" sz="1050" dirty="0"/>
          </a:p>
        </p:txBody>
      </p:sp>
      <p:sp>
        <p:nvSpPr>
          <p:cNvPr id="9" name="Text 7"/>
          <p:cNvSpPr txBox="1"/>
          <p:nvPr/>
        </p:nvSpPr>
        <p:spPr>
          <a:xfrm>
            <a:off x="502920" y="2395728"/>
            <a:ext cx="21945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ウィーク型</a:t>
            </a:r>
            <a:endParaRPr lang="en-US" sz="1500" dirty="0"/>
          </a:p>
        </p:txBody>
      </p:sp>
      <p:sp>
        <p:nvSpPr>
          <p:cNvPr id="10" name="Text 8"/>
          <p:cNvSpPr txBox="1"/>
          <p:nvPr/>
        </p:nvSpPr>
        <p:spPr>
          <a:xfrm>
            <a:off x="2788920" y="2359152"/>
            <a:ext cx="8915400" cy="7589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過去の株価・出来高情報。テクニカル分析でも超過収益は得られない</a:t>
            </a:r>
            <a:endParaRPr lang="en-US" sz="1100" dirty="0"/>
          </a:p>
        </p:txBody>
      </p:sp>
      <p:sp>
        <p:nvSpPr>
          <p:cNvPr id="11" name="Shape 9"/>
          <p:cNvSpPr/>
          <p:nvPr/>
        </p:nvSpPr>
        <p:spPr>
          <a:xfrm>
            <a:off x="502920" y="3200400"/>
            <a:ext cx="11201400" cy="0"/>
          </a:xfrm>
          <a:prstGeom prst="line">
            <a:avLst/>
          </a:prstGeom>
          <a:noFill/>
          <a:ln w="12700">
            <a:solidFill>
              <a:srgbClr val="E6E6E6"/>
            </a:solidFill>
            <a:prstDash val="solid"/>
          </a:ln>
        </p:spPr>
      </p:sp>
      <p:sp>
        <p:nvSpPr>
          <p:cNvPr id="12" name="Text 10"/>
          <p:cNvSpPr txBox="1"/>
          <p:nvPr/>
        </p:nvSpPr>
        <p:spPr>
          <a:xfrm>
            <a:off x="502920" y="3310128"/>
            <a:ext cx="21945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セミストロング型</a:t>
            </a:r>
            <a:endParaRPr lang="en-US" sz="1500" dirty="0"/>
          </a:p>
        </p:txBody>
      </p:sp>
      <p:sp>
        <p:nvSpPr>
          <p:cNvPr id="13" name="Text 11"/>
          <p:cNvSpPr txBox="1"/>
          <p:nvPr/>
        </p:nvSpPr>
        <p:spPr>
          <a:xfrm>
            <a:off x="2788920" y="3273552"/>
            <a:ext cx="8915400" cy="7589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公表されている全情報。ファンダメンタルズ分析でも超過収益は得られない</a:t>
            </a:r>
            <a:endParaRPr lang="en-US" sz="1100" dirty="0"/>
          </a:p>
        </p:txBody>
      </p:sp>
      <p:sp>
        <p:nvSpPr>
          <p:cNvPr id="14" name="Shape 12"/>
          <p:cNvSpPr/>
          <p:nvPr/>
        </p:nvSpPr>
        <p:spPr>
          <a:xfrm>
            <a:off x="502920" y="4114800"/>
            <a:ext cx="11201400" cy="0"/>
          </a:xfrm>
          <a:prstGeom prst="line">
            <a:avLst/>
          </a:prstGeom>
          <a:noFill/>
          <a:ln w="12700">
            <a:solidFill>
              <a:srgbClr val="E6E6E6"/>
            </a:solidFill>
            <a:prstDash val="solid"/>
          </a:ln>
        </p:spPr>
      </p:sp>
      <p:sp>
        <p:nvSpPr>
          <p:cNvPr id="15" name="Text 13"/>
          <p:cNvSpPr txBox="1"/>
          <p:nvPr/>
        </p:nvSpPr>
        <p:spPr>
          <a:xfrm>
            <a:off x="502920" y="4224528"/>
            <a:ext cx="21945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ストロング型</a:t>
            </a:r>
            <a:endParaRPr lang="en-US" sz="1500" dirty="0"/>
          </a:p>
        </p:txBody>
      </p:sp>
      <p:sp>
        <p:nvSpPr>
          <p:cNvPr id="16" name="Text 14"/>
          <p:cNvSpPr txBox="1"/>
          <p:nvPr/>
        </p:nvSpPr>
        <p:spPr>
          <a:xfrm>
            <a:off x="2788920" y="4187952"/>
            <a:ext cx="8915400" cy="75895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未公表の内部情報も含む全情報。インサイダー情報でも超過収益は得られない</a:t>
            </a:r>
            <a:endParaRPr lang="en-US" sz="1100" dirty="0"/>
          </a:p>
        </p:txBody>
      </p:sp>
      <p:sp>
        <p:nvSpPr>
          <p:cNvPr id="17" name="Text 15"/>
          <p:cNvSpPr txBox="1"/>
          <p:nvPr/>
        </p:nvSpPr>
        <p:spPr>
          <a:xfrm>
            <a:off x="502920" y="5074920"/>
            <a:ext cx="11201400" cy="7772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小売業A社の株価が公表済みの決算情報をすべて織り込んでいるなら（セミストロング型）、有価証券報告書を分析するだけで継続的に市場平均を上回る利益を得ることはできない。実際の株式市場はおおむねセミストロング型に近いとされる。</a:t>
            </a:r>
            <a:endParaRPr lang="en-US" sz="850" dirty="0"/>
          </a:p>
        </p:txBody>
      </p:sp>
      <p:sp>
        <p:nvSpPr>
          <p:cNvPr id="18" name="Shape 16"/>
          <p:cNvSpPr/>
          <p:nvPr/>
        </p:nvSpPr>
        <p:spPr>
          <a:xfrm>
            <a:off x="502920" y="5989320"/>
            <a:ext cx="11201400" cy="0"/>
          </a:xfrm>
          <a:prstGeom prst="line">
            <a:avLst/>
          </a:prstGeom>
          <a:noFill/>
          <a:ln w="9525">
            <a:solidFill>
              <a:srgbClr val="171717"/>
            </a:solidFill>
            <a:prstDash val="solid"/>
          </a:ln>
        </p:spPr>
      </p:sp>
      <p:sp>
        <p:nvSpPr>
          <p:cNvPr id="19" name="Shape 17"/>
          <p:cNvSpPr/>
          <p:nvPr/>
        </p:nvSpPr>
        <p:spPr>
          <a:xfrm>
            <a:off x="502920" y="6062472"/>
            <a:ext cx="329184" cy="329184"/>
          </a:xfrm>
          <a:prstGeom prst="ellipse">
            <a:avLst/>
          </a:prstGeom>
          <a:solidFill>
            <a:srgbClr val="FF3B1F"/>
          </a:solidFill>
          <a:ln/>
        </p:spPr>
      </p:sp>
      <p:sp>
        <p:nvSpPr>
          <p:cNvPr id="20" name="Text 1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1" name="Text 19"/>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2" name="Shape 20"/>
          <p:cNvSpPr/>
          <p:nvPr/>
        </p:nvSpPr>
        <p:spPr>
          <a:xfrm>
            <a:off x="2331720" y="6062472"/>
            <a:ext cx="0" cy="329184"/>
          </a:xfrm>
          <a:prstGeom prst="line">
            <a:avLst/>
          </a:prstGeom>
          <a:noFill/>
          <a:ln w="12700">
            <a:solidFill>
              <a:srgbClr val="E6E6E6"/>
            </a:solidFill>
            <a:prstDash val="solid"/>
          </a:ln>
        </p:spPr>
      </p:sp>
      <p:sp>
        <p:nvSpPr>
          <p:cNvPr id="23" name="Text 21"/>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CAPM：自己資本コスト＝リスクフリー・レート＋β×市場リスクプレミアム。具体例：2％＋1.5×(8％－2％)＝11％。</a:t>
            </a:r>
            <a:endParaRPr lang="en-US" sz="1000" dirty="0"/>
          </a:p>
        </p:txBody>
      </p:sp>
      <p:sp>
        <p:nvSpPr>
          <p:cNvPr id="24" name="Text 22"/>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5" name="Shape 23"/>
          <p:cNvSpPr/>
          <p:nvPr/>
        </p:nvSpPr>
        <p:spPr>
          <a:xfrm>
            <a:off x="2466594"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7" name="Shape 25"/>
          <p:cNvSpPr/>
          <p:nvPr/>
        </p:nvSpPr>
        <p:spPr>
          <a:xfrm>
            <a:off x="3431286"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9" name="Shape 27"/>
          <p:cNvSpPr/>
          <p:nvPr/>
        </p:nvSpPr>
        <p:spPr>
          <a:xfrm>
            <a:off x="4395978"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1" name="Shape 29"/>
          <p:cNvSpPr/>
          <p:nvPr/>
        </p:nvSpPr>
        <p:spPr>
          <a:xfrm>
            <a:off x="5360670"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3" name="Shape 31"/>
          <p:cNvSpPr/>
          <p:nvPr/>
        </p:nvSpPr>
        <p:spPr>
          <a:xfrm>
            <a:off x="6325362"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5" name="Shape 33"/>
          <p:cNvSpPr/>
          <p:nvPr/>
        </p:nvSpPr>
        <p:spPr>
          <a:xfrm>
            <a:off x="7290054"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7" name="Shape 35"/>
          <p:cNvSpPr/>
          <p:nvPr/>
        </p:nvSpPr>
        <p:spPr>
          <a:xfrm>
            <a:off x="8254746"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9" name="Shape 37"/>
          <p:cNvSpPr/>
          <p:nvPr/>
        </p:nvSpPr>
        <p:spPr>
          <a:xfrm>
            <a:off x="9219438"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1" name="Shape 39"/>
          <p:cNvSpPr/>
          <p:nvPr/>
        </p:nvSpPr>
        <p:spPr>
          <a:xfrm>
            <a:off x="10184130"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3" name="Shape 41"/>
          <p:cNvSpPr/>
          <p:nvPr/>
        </p:nvSpPr>
        <p:spPr>
          <a:xfrm>
            <a:off x="11148822"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B-30 ／ 企業価値：株主価値の算定</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株価＝将来配当の現在価値</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配当割引モデル（DDM）と、実務で使われる簡便な株価指標PER・PBR。</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理論上の株価は将来受け取る配当の現在価値の合計（配当割引モデル）で計算できるが、実務ではより簡便なPER・PBRという相対指標も併用して割高・割安を判断する。</a:t>
            </a:r>
            <a:endParaRPr lang="en-US" sz="1100" dirty="0"/>
          </a:p>
        </p:txBody>
      </p:sp>
      <p:sp>
        <p:nvSpPr>
          <p:cNvPr id="9" name="Text 7"/>
          <p:cNvSpPr txBox="1"/>
          <p:nvPr/>
        </p:nvSpPr>
        <p:spPr>
          <a:xfrm>
            <a:off x="502920" y="2176272"/>
            <a:ext cx="182880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配当割引モデル</a:t>
            </a:r>
            <a:endParaRPr lang="en-US" sz="1100" dirty="0"/>
          </a:p>
        </p:txBody>
      </p:sp>
      <p:sp>
        <p:nvSpPr>
          <p:cNvPr id="10" name="Shape 8"/>
          <p:cNvSpPr/>
          <p:nvPr/>
        </p:nvSpPr>
        <p:spPr>
          <a:xfrm>
            <a:off x="2313432" y="2176272"/>
            <a:ext cx="0" cy="256032"/>
          </a:xfrm>
          <a:prstGeom prst="line">
            <a:avLst/>
          </a:prstGeom>
          <a:noFill/>
          <a:ln w="12700">
            <a:solidFill>
              <a:srgbClr val="E6E6E6"/>
            </a:solidFill>
            <a:prstDash val="solid"/>
          </a:ln>
        </p:spPr>
      </p:sp>
      <p:sp>
        <p:nvSpPr>
          <p:cNvPr id="11" name="Text 9"/>
          <p:cNvSpPr txBox="1"/>
          <p:nvPr/>
        </p:nvSpPr>
        <p:spPr>
          <a:xfrm>
            <a:off x="2468880" y="2176272"/>
            <a:ext cx="923544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株価＝来期予想配当 ÷ (株主資本コスト－配当成長率)</a:t>
            </a:r>
            <a:endParaRPr lang="en-US" sz="1100" dirty="0"/>
          </a:p>
        </p:txBody>
      </p:sp>
      <p:sp>
        <p:nvSpPr>
          <p:cNvPr id="12" name="Text 10"/>
          <p:cNvSpPr txBox="1"/>
          <p:nvPr/>
        </p:nvSpPr>
        <p:spPr>
          <a:xfrm>
            <a:off x="502920" y="2560320"/>
            <a:ext cx="182880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PER</a:t>
            </a:r>
            <a:endParaRPr lang="en-US" sz="1100" dirty="0"/>
          </a:p>
        </p:txBody>
      </p:sp>
      <p:sp>
        <p:nvSpPr>
          <p:cNvPr id="13" name="Shape 11"/>
          <p:cNvSpPr/>
          <p:nvPr/>
        </p:nvSpPr>
        <p:spPr>
          <a:xfrm>
            <a:off x="2313432" y="2560320"/>
            <a:ext cx="0" cy="256032"/>
          </a:xfrm>
          <a:prstGeom prst="line">
            <a:avLst/>
          </a:prstGeom>
          <a:noFill/>
          <a:ln w="12700">
            <a:solidFill>
              <a:srgbClr val="E6E6E6"/>
            </a:solidFill>
            <a:prstDash val="solid"/>
          </a:ln>
        </p:spPr>
      </p:sp>
      <p:sp>
        <p:nvSpPr>
          <p:cNvPr id="14" name="Text 12"/>
          <p:cNvSpPr txBox="1"/>
          <p:nvPr/>
        </p:nvSpPr>
        <p:spPr>
          <a:xfrm>
            <a:off x="2468880" y="2560320"/>
            <a:ext cx="923544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株価 ÷ 1株当たり利益（EPS）。低いほど割安とされることが多い</a:t>
            </a:r>
            <a:endParaRPr lang="en-US" sz="1100" dirty="0"/>
          </a:p>
        </p:txBody>
      </p:sp>
      <p:sp>
        <p:nvSpPr>
          <p:cNvPr id="15" name="Text 13"/>
          <p:cNvSpPr txBox="1"/>
          <p:nvPr/>
        </p:nvSpPr>
        <p:spPr>
          <a:xfrm>
            <a:off x="502920" y="2944368"/>
            <a:ext cx="182880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PBR</a:t>
            </a:r>
            <a:endParaRPr lang="en-US" sz="1100" dirty="0"/>
          </a:p>
        </p:txBody>
      </p:sp>
      <p:sp>
        <p:nvSpPr>
          <p:cNvPr id="16" name="Shape 14"/>
          <p:cNvSpPr/>
          <p:nvPr/>
        </p:nvSpPr>
        <p:spPr>
          <a:xfrm>
            <a:off x="2313432" y="2944368"/>
            <a:ext cx="0" cy="256032"/>
          </a:xfrm>
          <a:prstGeom prst="line">
            <a:avLst/>
          </a:prstGeom>
          <a:noFill/>
          <a:ln w="12700">
            <a:solidFill>
              <a:srgbClr val="E6E6E6"/>
            </a:solidFill>
            <a:prstDash val="solid"/>
          </a:ln>
        </p:spPr>
      </p:sp>
      <p:sp>
        <p:nvSpPr>
          <p:cNvPr id="17" name="Text 15"/>
          <p:cNvSpPr txBox="1"/>
          <p:nvPr/>
        </p:nvSpPr>
        <p:spPr>
          <a:xfrm>
            <a:off x="2468880" y="2944368"/>
            <a:ext cx="923544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株価 ÷ 1株当たり純資産（BPS）。1倍未満は解散価値割れ</a:t>
            </a:r>
            <a:endParaRPr lang="en-US" sz="1100" dirty="0"/>
          </a:p>
        </p:txBody>
      </p:sp>
      <p:sp>
        <p:nvSpPr>
          <p:cNvPr id="18" name="Text 16"/>
          <p:cNvSpPr txBox="1"/>
          <p:nvPr/>
        </p:nvSpPr>
        <p:spPr>
          <a:xfrm>
            <a:off x="502920" y="3419856"/>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来期予想配当30円、株主資本コスト8％、成長率3％→株価＝30÷5％＝600円。EPS50円→PER12倍、BPS400円→PBR1.5倍。</a:t>
            </a:r>
            <a:endParaRPr lang="en-US" sz="850" dirty="0"/>
          </a:p>
        </p:txBody>
      </p:sp>
      <p:sp>
        <p:nvSpPr>
          <p:cNvPr id="19" name="Shape 17"/>
          <p:cNvSpPr/>
          <p:nvPr/>
        </p:nvSpPr>
        <p:spPr>
          <a:xfrm>
            <a:off x="502920" y="3995928"/>
            <a:ext cx="11201400" cy="0"/>
          </a:xfrm>
          <a:prstGeom prst="line">
            <a:avLst/>
          </a:prstGeom>
          <a:noFill/>
          <a:ln w="12700">
            <a:solidFill>
              <a:srgbClr val="E6E6E6"/>
            </a:solidFill>
            <a:prstDash val="solid"/>
          </a:ln>
        </p:spPr>
      </p:sp>
      <p:sp>
        <p:nvSpPr>
          <p:cNvPr id="20" name="Text 18"/>
          <p:cNvSpPr txBox="1"/>
          <p:nvPr/>
        </p:nvSpPr>
        <p:spPr>
          <a:xfrm>
            <a:off x="502920" y="406908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配当成長率が株主資本コストを上回る（分母マイナス）ケースは理論上想定されない。PER・PBRは業種で適正水準が異なる。</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関連：B-21 資本コスト（株主資本コストの計算はここでも使う）。</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B-31 ／ 企業価値：企業価値評価モデル</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企業価値と株主価値を混同しない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DCF法（企業価値版）と残余利益モデル。企業価値－有利子負債＝株主価値。</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企業価値の評価法にはDCF法・残余利益モデルなど複数あるが、いずれの方法でも企業価値から有利子負債を差し引いて初めて株主だけの取り分（株主価値）になる、という関係は共通している。</a:t>
            </a:r>
            <a:endParaRPr lang="en-US" sz="1100" dirty="0"/>
          </a:p>
        </p:txBody>
      </p:sp>
      <p:sp>
        <p:nvSpPr>
          <p:cNvPr id="9" name="Text 7"/>
          <p:cNvSpPr txBox="1"/>
          <p:nvPr/>
        </p:nvSpPr>
        <p:spPr>
          <a:xfrm>
            <a:off x="502920" y="2176272"/>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DCF法</a:t>
            </a:r>
            <a:endParaRPr lang="en-US" sz="1100" dirty="0"/>
          </a:p>
        </p:txBody>
      </p:sp>
      <p:sp>
        <p:nvSpPr>
          <p:cNvPr id="10" name="Shape 8"/>
          <p:cNvSpPr/>
          <p:nvPr/>
        </p:nvSpPr>
        <p:spPr>
          <a:xfrm>
            <a:off x="2221992" y="2176272"/>
            <a:ext cx="0" cy="256032"/>
          </a:xfrm>
          <a:prstGeom prst="line">
            <a:avLst/>
          </a:prstGeom>
          <a:noFill/>
          <a:ln w="12700">
            <a:solidFill>
              <a:srgbClr val="E6E6E6"/>
            </a:solidFill>
            <a:prstDash val="solid"/>
          </a:ln>
        </p:spPr>
      </p:sp>
      <p:sp>
        <p:nvSpPr>
          <p:cNvPr id="11" name="Text 9"/>
          <p:cNvSpPr txBox="1"/>
          <p:nvPr/>
        </p:nvSpPr>
        <p:spPr>
          <a:xfrm>
            <a:off x="2377440" y="2176272"/>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将来FCFをWACCで割引いた事業価値＋非事業用資産＝企業価値</a:t>
            </a:r>
            <a:endParaRPr lang="en-US" sz="1100" dirty="0"/>
          </a:p>
        </p:txBody>
      </p:sp>
      <p:sp>
        <p:nvSpPr>
          <p:cNvPr id="12" name="Text 10"/>
          <p:cNvSpPr txBox="1"/>
          <p:nvPr/>
        </p:nvSpPr>
        <p:spPr>
          <a:xfrm>
            <a:off x="502920" y="2560320"/>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残余利益モデル</a:t>
            </a:r>
            <a:endParaRPr lang="en-US" sz="1100" dirty="0"/>
          </a:p>
        </p:txBody>
      </p:sp>
      <p:sp>
        <p:nvSpPr>
          <p:cNvPr id="13" name="Shape 11"/>
          <p:cNvSpPr/>
          <p:nvPr/>
        </p:nvSpPr>
        <p:spPr>
          <a:xfrm>
            <a:off x="2221992" y="2560320"/>
            <a:ext cx="0" cy="256032"/>
          </a:xfrm>
          <a:prstGeom prst="line">
            <a:avLst/>
          </a:prstGeom>
          <a:noFill/>
          <a:ln w="12700">
            <a:solidFill>
              <a:srgbClr val="E6E6E6"/>
            </a:solidFill>
            <a:prstDash val="solid"/>
          </a:ln>
        </p:spPr>
      </p:sp>
      <p:sp>
        <p:nvSpPr>
          <p:cNvPr id="14" name="Text 12"/>
          <p:cNvSpPr txBox="1"/>
          <p:nvPr/>
        </p:nvSpPr>
        <p:spPr>
          <a:xfrm>
            <a:off x="2377440" y="2560320"/>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現在の純資産＋将来の残余利益（利益－資本コスト相当額）の現在価値</a:t>
            </a:r>
            <a:endParaRPr lang="en-US" sz="1100" dirty="0"/>
          </a:p>
        </p:txBody>
      </p:sp>
      <p:sp>
        <p:nvSpPr>
          <p:cNvPr id="15" name="Text 13"/>
          <p:cNvSpPr txBox="1"/>
          <p:nvPr/>
        </p:nvSpPr>
        <p:spPr>
          <a:xfrm>
            <a:off x="502920" y="2944368"/>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株主価値</a:t>
            </a:r>
            <a:endParaRPr lang="en-US" sz="1100" dirty="0"/>
          </a:p>
        </p:txBody>
      </p:sp>
      <p:sp>
        <p:nvSpPr>
          <p:cNvPr id="16" name="Shape 14"/>
          <p:cNvSpPr/>
          <p:nvPr/>
        </p:nvSpPr>
        <p:spPr>
          <a:xfrm>
            <a:off x="2221992" y="2944368"/>
            <a:ext cx="0" cy="256032"/>
          </a:xfrm>
          <a:prstGeom prst="line">
            <a:avLst/>
          </a:prstGeom>
          <a:noFill/>
          <a:ln w="12700">
            <a:solidFill>
              <a:srgbClr val="E6E6E6"/>
            </a:solidFill>
            <a:prstDash val="solid"/>
          </a:ln>
        </p:spPr>
      </p:sp>
      <p:sp>
        <p:nvSpPr>
          <p:cNvPr id="17" name="Text 15"/>
          <p:cNvSpPr txBox="1"/>
          <p:nvPr/>
        </p:nvSpPr>
        <p:spPr>
          <a:xfrm>
            <a:off x="2377440" y="2944368"/>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企業価値 － 有利子負債</a:t>
            </a:r>
            <a:endParaRPr lang="en-US" sz="1100" dirty="0"/>
          </a:p>
        </p:txBody>
      </p:sp>
      <p:sp>
        <p:nvSpPr>
          <p:cNvPr id="18" name="Text 16"/>
          <p:cNvSpPr txBox="1"/>
          <p:nvPr/>
        </p:nvSpPr>
        <p:spPr>
          <a:xfrm>
            <a:off x="502920" y="3419856"/>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事業価値20億・非事業用資産3億→企業価値23億。有利子負債8億→株主価値15億。発行済株式1,000万株→理論株価150円。</a:t>
            </a:r>
            <a:endParaRPr lang="en-US" sz="850" dirty="0"/>
          </a:p>
        </p:txBody>
      </p:sp>
      <p:sp>
        <p:nvSpPr>
          <p:cNvPr id="19" name="Shape 17"/>
          <p:cNvSpPr/>
          <p:nvPr/>
        </p:nvSpPr>
        <p:spPr>
          <a:xfrm>
            <a:off x="502920" y="3995928"/>
            <a:ext cx="11201400" cy="0"/>
          </a:xfrm>
          <a:prstGeom prst="line">
            <a:avLst/>
          </a:prstGeom>
          <a:noFill/>
          <a:ln w="12700">
            <a:solidFill>
              <a:srgbClr val="E6E6E6"/>
            </a:solidFill>
            <a:prstDash val="solid"/>
          </a:ln>
        </p:spPr>
      </p:sp>
      <p:sp>
        <p:nvSpPr>
          <p:cNvPr id="20" name="Text 18"/>
          <p:cNvSpPr txBox="1"/>
          <p:nvPr/>
        </p:nvSpPr>
        <p:spPr>
          <a:xfrm>
            <a:off x="502920" y="406908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企業価値（株主＋債権者の取り分の合計）と株主価値（そこから有利子負債を引いた株主だけの取り分）を混同しない。</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関連：B-32 M&amp;Aにおける企業評価（インカムアプローチとしてDCF法が使われる）。</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B-32 ／ 企業価値：M&amp;Aにおける企業評価</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3つのアプローチで評価額は変わりうる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コスト・マーケット・インカムの3アプローチ。「唯一の正しい企業価値」はない。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59436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M&amp;Aでの企業評価額は1つに定まらない。貸借対照表を基準にするコストアプローチ、類似企業と比較するマーケットアプローチ、将来の稼ぐ力を基準にするインカムアプローチという3つの切り口で、それぞれ違う金額が算出されうる。</a:t>
            </a:r>
            <a:endParaRPr lang="en-US" sz="1050" dirty="0"/>
          </a:p>
        </p:txBody>
      </p:sp>
      <p:sp>
        <p:nvSpPr>
          <p:cNvPr id="9" name="Text 7"/>
          <p:cNvSpPr txBox="1"/>
          <p:nvPr/>
        </p:nvSpPr>
        <p:spPr>
          <a:xfrm>
            <a:off x="502920" y="2487168"/>
            <a:ext cx="22860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コストアプローチ</a:t>
            </a:r>
            <a:endParaRPr lang="en-US" sz="1500" dirty="0"/>
          </a:p>
        </p:txBody>
      </p:sp>
      <p:sp>
        <p:nvSpPr>
          <p:cNvPr id="10" name="Text 8"/>
          <p:cNvSpPr txBox="1"/>
          <p:nvPr/>
        </p:nvSpPr>
        <p:spPr>
          <a:xfrm>
            <a:off x="2880360" y="2505456"/>
            <a:ext cx="17373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純資産方式</a:t>
            </a:r>
            <a:endParaRPr lang="en-US" sz="1100" dirty="0"/>
          </a:p>
        </p:txBody>
      </p:sp>
      <p:sp>
        <p:nvSpPr>
          <p:cNvPr id="11" name="Text 9"/>
          <p:cNvSpPr txBox="1"/>
          <p:nvPr/>
        </p:nvSpPr>
        <p:spPr>
          <a:xfrm>
            <a:off x="4709160" y="2450592"/>
            <a:ext cx="699516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貸借対照表上の（時価）純資産を基準。客観的だが将来の収益力を反映しにくい</a:t>
            </a:r>
            <a:endParaRPr lang="en-US" sz="1100" dirty="0"/>
          </a:p>
        </p:txBody>
      </p:sp>
      <p:sp>
        <p:nvSpPr>
          <p:cNvPr id="12" name="Shape 10"/>
          <p:cNvSpPr/>
          <p:nvPr/>
        </p:nvSpPr>
        <p:spPr>
          <a:xfrm>
            <a:off x="502920" y="3474720"/>
            <a:ext cx="11201400" cy="0"/>
          </a:xfrm>
          <a:prstGeom prst="line">
            <a:avLst/>
          </a:prstGeom>
          <a:noFill/>
          <a:ln w="12700">
            <a:solidFill>
              <a:srgbClr val="E6E6E6"/>
            </a:solidFill>
            <a:prstDash val="solid"/>
          </a:ln>
        </p:spPr>
      </p:sp>
      <p:sp>
        <p:nvSpPr>
          <p:cNvPr id="13" name="Text 11"/>
          <p:cNvSpPr txBox="1"/>
          <p:nvPr/>
        </p:nvSpPr>
        <p:spPr>
          <a:xfrm>
            <a:off x="502920" y="3584448"/>
            <a:ext cx="22860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マーケットアプローチ</a:t>
            </a:r>
            <a:endParaRPr lang="en-US" sz="1500" dirty="0"/>
          </a:p>
        </p:txBody>
      </p:sp>
      <p:sp>
        <p:nvSpPr>
          <p:cNvPr id="14" name="Text 12"/>
          <p:cNvSpPr txBox="1"/>
          <p:nvPr/>
        </p:nvSpPr>
        <p:spPr>
          <a:xfrm>
            <a:off x="2880360" y="3602736"/>
            <a:ext cx="17373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乗数法</a:t>
            </a:r>
            <a:endParaRPr lang="en-US" sz="1100" dirty="0"/>
          </a:p>
        </p:txBody>
      </p:sp>
      <p:sp>
        <p:nvSpPr>
          <p:cNvPr id="15" name="Text 13"/>
          <p:cNvSpPr txBox="1"/>
          <p:nvPr/>
        </p:nvSpPr>
        <p:spPr>
          <a:xfrm>
            <a:off x="4709160" y="3547872"/>
            <a:ext cx="699516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類似上場企業のPER・PBR等の倍率を対象会社の利益・純資産に掛ける</a:t>
            </a:r>
            <a:endParaRPr lang="en-US" sz="1100" dirty="0"/>
          </a:p>
        </p:txBody>
      </p:sp>
      <p:sp>
        <p:nvSpPr>
          <p:cNvPr id="16" name="Shape 14"/>
          <p:cNvSpPr/>
          <p:nvPr/>
        </p:nvSpPr>
        <p:spPr>
          <a:xfrm>
            <a:off x="502920" y="4572000"/>
            <a:ext cx="11201400" cy="0"/>
          </a:xfrm>
          <a:prstGeom prst="line">
            <a:avLst/>
          </a:prstGeom>
          <a:noFill/>
          <a:ln w="12700">
            <a:solidFill>
              <a:srgbClr val="E6E6E6"/>
            </a:solidFill>
            <a:prstDash val="solid"/>
          </a:ln>
        </p:spPr>
      </p:sp>
      <p:sp>
        <p:nvSpPr>
          <p:cNvPr id="17" name="Text 15"/>
          <p:cNvSpPr txBox="1"/>
          <p:nvPr/>
        </p:nvSpPr>
        <p:spPr>
          <a:xfrm>
            <a:off x="502920" y="4681728"/>
            <a:ext cx="22860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インカムアプローチ</a:t>
            </a:r>
            <a:endParaRPr lang="en-US" sz="1500" dirty="0"/>
          </a:p>
        </p:txBody>
      </p:sp>
      <p:sp>
        <p:nvSpPr>
          <p:cNvPr id="18" name="Text 16"/>
          <p:cNvSpPr txBox="1"/>
          <p:nvPr/>
        </p:nvSpPr>
        <p:spPr>
          <a:xfrm>
            <a:off x="2880360" y="4700016"/>
            <a:ext cx="17373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収益還元法・DCF法</a:t>
            </a:r>
            <a:endParaRPr lang="en-US" sz="1100" dirty="0"/>
          </a:p>
        </p:txBody>
      </p:sp>
      <p:sp>
        <p:nvSpPr>
          <p:cNvPr id="19" name="Text 17"/>
          <p:cNvSpPr txBox="1"/>
          <p:nvPr/>
        </p:nvSpPr>
        <p:spPr>
          <a:xfrm>
            <a:off x="4709160" y="4645152"/>
            <a:ext cx="699516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将来の利益・CFを基準に評価。収益還元法＝利益÷資本還元率</a:t>
            </a:r>
            <a:endParaRPr lang="en-US" sz="110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具体例：税引後利益2,000万・資本還元率10％→収益還元法の企業価値＝2億円。時価純資産1億5,000万との差はのれん相当額。</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B-33 ／ デリバティブとリスク管理：オプション取引</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買い手の損失はプレミアムに限定される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あらかじめ決めた価格で売買する「権利」の取引。買い手と売り手でリスクが非対称。</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949440" cy="640080"/>
          </a:xfrm>
          <a:prstGeom prst="rect">
            <a:avLst/>
          </a:prstGeom>
          <a:noFill/>
          <a:ln/>
        </p:spPr>
        <p:txBody>
          <a:bodyPr wrap="square" lIns="0" tIns="0" rIns="0" bIns="0" rtlCol="0" anchor="ctr"/>
          <a:lstStyle/>
          <a:p>
            <a:pPr indent="0" marL="0">
              <a:lnSpc>
                <a:spcPct val="125000"/>
              </a:lnSpc>
              <a:buNone/>
            </a:pPr>
            <a:r>
              <a:rPr lang="en-US" sz="950" dirty="0">
                <a:solidFill>
                  <a:srgbClr val="8A8A8A"/>
                </a:solidFill>
                <a:latin typeface="Yu Gothic" pitchFamily="34" charset="0"/>
                <a:ea typeface="Yu Gothic" pitchFamily="34" charset="-122"/>
                <a:cs typeface="Yu Gothic" pitchFamily="34" charset="-120"/>
              </a:rPr>
              <a:t>オプションは「買う権利」（コール）・「売る権利」（プット）の取引。権利なので買い手は不利なら行使せず、損失はプレミアムに限定される。</a:t>
            </a:r>
            <a:endParaRPr lang="en-US" sz="950" dirty="0"/>
          </a:p>
        </p:txBody>
      </p:sp>
      <p:sp>
        <p:nvSpPr>
          <p:cNvPr id="9" name="Text 7"/>
          <p:cNvSpPr txBox="1"/>
          <p:nvPr/>
        </p:nvSpPr>
        <p:spPr>
          <a:xfrm>
            <a:off x="502920" y="2404872"/>
            <a:ext cx="1280160" cy="393192"/>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コール</a:t>
            </a:r>
            <a:endParaRPr lang="en-US" sz="1050" dirty="0"/>
          </a:p>
        </p:txBody>
      </p:sp>
      <p:sp>
        <p:nvSpPr>
          <p:cNvPr id="10" name="Shape 8"/>
          <p:cNvSpPr/>
          <p:nvPr/>
        </p:nvSpPr>
        <p:spPr>
          <a:xfrm>
            <a:off x="1764792" y="2404872"/>
            <a:ext cx="0" cy="256032"/>
          </a:xfrm>
          <a:prstGeom prst="line">
            <a:avLst/>
          </a:prstGeom>
          <a:noFill/>
          <a:ln w="12700">
            <a:solidFill>
              <a:srgbClr val="E6E6E6"/>
            </a:solidFill>
            <a:prstDash val="solid"/>
          </a:ln>
        </p:spPr>
      </p:sp>
      <p:sp>
        <p:nvSpPr>
          <p:cNvPr id="11" name="Text 9"/>
          <p:cNvSpPr txBox="1"/>
          <p:nvPr/>
        </p:nvSpPr>
        <p:spPr>
          <a:xfrm>
            <a:off x="1920240" y="2404872"/>
            <a:ext cx="5532120" cy="393192"/>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あらかじめ決めた価格で「買う権利」</a:t>
            </a:r>
            <a:endParaRPr lang="en-US" sz="1050" dirty="0"/>
          </a:p>
        </p:txBody>
      </p:sp>
      <p:sp>
        <p:nvSpPr>
          <p:cNvPr id="12" name="Text 10"/>
          <p:cNvSpPr txBox="1"/>
          <p:nvPr/>
        </p:nvSpPr>
        <p:spPr>
          <a:xfrm>
            <a:off x="502920" y="2816352"/>
            <a:ext cx="1280160" cy="393192"/>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プット</a:t>
            </a:r>
            <a:endParaRPr lang="en-US" sz="1050" dirty="0"/>
          </a:p>
        </p:txBody>
      </p:sp>
      <p:sp>
        <p:nvSpPr>
          <p:cNvPr id="13" name="Shape 11"/>
          <p:cNvSpPr/>
          <p:nvPr/>
        </p:nvSpPr>
        <p:spPr>
          <a:xfrm>
            <a:off x="1764792" y="2816352"/>
            <a:ext cx="0" cy="256032"/>
          </a:xfrm>
          <a:prstGeom prst="line">
            <a:avLst/>
          </a:prstGeom>
          <a:noFill/>
          <a:ln w="12700">
            <a:solidFill>
              <a:srgbClr val="E6E6E6"/>
            </a:solidFill>
            <a:prstDash val="solid"/>
          </a:ln>
        </p:spPr>
      </p:sp>
      <p:sp>
        <p:nvSpPr>
          <p:cNvPr id="14" name="Text 12"/>
          <p:cNvSpPr txBox="1"/>
          <p:nvPr/>
        </p:nvSpPr>
        <p:spPr>
          <a:xfrm>
            <a:off x="1920240" y="2816352"/>
            <a:ext cx="5532120" cy="393192"/>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あらかじめ決めた価格で「売る権利」</a:t>
            </a:r>
            <a:endParaRPr lang="en-US" sz="1050" dirty="0"/>
          </a:p>
        </p:txBody>
      </p:sp>
      <p:sp>
        <p:nvSpPr>
          <p:cNvPr id="15" name="Text 13"/>
          <p:cNvSpPr txBox="1"/>
          <p:nvPr/>
        </p:nvSpPr>
        <p:spPr>
          <a:xfrm>
            <a:off x="502920" y="3227832"/>
            <a:ext cx="1280160" cy="393192"/>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プレミアム</a:t>
            </a:r>
            <a:endParaRPr lang="en-US" sz="1050" dirty="0"/>
          </a:p>
        </p:txBody>
      </p:sp>
      <p:sp>
        <p:nvSpPr>
          <p:cNvPr id="16" name="Shape 14"/>
          <p:cNvSpPr/>
          <p:nvPr/>
        </p:nvSpPr>
        <p:spPr>
          <a:xfrm>
            <a:off x="1764792" y="3227832"/>
            <a:ext cx="0" cy="256032"/>
          </a:xfrm>
          <a:prstGeom prst="line">
            <a:avLst/>
          </a:prstGeom>
          <a:noFill/>
          <a:ln w="12700">
            <a:solidFill>
              <a:srgbClr val="E6E6E6"/>
            </a:solidFill>
            <a:prstDash val="solid"/>
          </a:ln>
        </p:spPr>
      </p:sp>
      <p:sp>
        <p:nvSpPr>
          <p:cNvPr id="17" name="Text 15"/>
          <p:cNvSpPr txBox="1"/>
          <p:nvPr/>
        </p:nvSpPr>
        <p:spPr>
          <a:xfrm>
            <a:off x="1920240" y="3227832"/>
            <a:ext cx="5532120" cy="393192"/>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本質的価値＋時間的価値（満期に近づくほど減る）</a:t>
            </a:r>
            <a:endParaRPr lang="en-US" sz="1050" dirty="0"/>
          </a:p>
        </p:txBody>
      </p:sp>
      <p:sp>
        <p:nvSpPr>
          <p:cNvPr id="18" name="Shape 16"/>
          <p:cNvSpPr/>
          <p:nvPr/>
        </p:nvSpPr>
        <p:spPr>
          <a:xfrm>
            <a:off x="502920" y="3730752"/>
            <a:ext cx="6949440" cy="0"/>
          </a:xfrm>
          <a:prstGeom prst="line">
            <a:avLst/>
          </a:prstGeom>
          <a:noFill/>
          <a:ln w="12700">
            <a:solidFill>
              <a:srgbClr val="E6E6E6"/>
            </a:solidFill>
            <a:prstDash val="solid"/>
          </a:ln>
        </p:spPr>
      </p:sp>
      <p:sp>
        <p:nvSpPr>
          <p:cNvPr id="19" name="Text 17"/>
          <p:cNvSpPr txBox="1"/>
          <p:nvPr/>
        </p:nvSpPr>
        <p:spPr>
          <a:xfrm>
            <a:off x="502920" y="3803904"/>
            <a:ext cx="6949440" cy="6858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買い手の損失はプレミアムに限定されるが、売り手は理論上無限大の損失を被りうる。中小企業のヘッジ利用は基本的に「買い」が中心。</a:t>
            </a:r>
            <a:endParaRPr lang="en-US" sz="950" dirty="0"/>
          </a:p>
        </p:txBody>
      </p:sp>
      <p:sp>
        <p:nvSpPr>
          <p:cNvPr id="20" name="Shape 18"/>
          <p:cNvSpPr/>
          <p:nvPr/>
        </p:nvSpPr>
        <p:spPr>
          <a:xfrm>
            <a:off x="7818120" y="5029200"/>
            <a:ext cx="3703320" cy="0"/>
          </a:xfrm>
          <a:prstGeom prst="line">
            <a:avLst/>
          </a:prstGeom>
          <a:noFill/>
          <a:ln w="17780">
            <a:solidFill>
              <a:srgbClr val="171717"/>
            </a:solidFill>
            <a:prstDash val="solid"/>
          </a:ln>
        </p:spPr>
      </p:sp>
      <p:sp>
        <p:nvSpPr>
          <p:cNvPr id="21" name="Shape 19"/>
          <p:cNvSpPr/>
          <p:nvPr/>
        </p:nvSpPr>
        <p:spPr>
          <a:xfrm>
            <a:off x="7818120" y="1828800"/>
            <a:ext cx="0" cy="3200400"/>
          </a:xfrm>
          <a:prstGeom prst="line">
            <a:avLst/>
          </a:prstGeom>
          <a:noFill/>
          <a:ln w="17780">
            <a:solidFill>
              <a:srgbClr val="171717"/>
            </a:solidFill>
            <a:prstDash val="solid"/>
          </a:ln>
        </p:spPr>
      </p:sp>
      <p:sp>
        <p:nvSpPr>
          <p:cNvPr id="22" name="Shape 20"/>
          <p:cNvSpPr/>
          <p:nvPr/>
        </p:nvSpPr>
        <p:spPr>
          <a:xfrm>
            <a:off x="7818120" y="4549140"/>
            <a:ext cx="1703527" cy="91"/>
          </a:xfrm>
          <a:prstGeom prst="line">
            <a:avLst/>
          </a:prstGeom>
          <a:noFill/>
          <a:ln w="31750">
            <a:solidFill>
              <a:srgbClr val="FF3B1F"/>
            </a:solidFill>
            <a:prstDash val="solid"/>
          </a:ln>
        </p:spPr>
      </p:sp>
      <p:sp>
        <p:nvSpPr>
          <p:cNvPr id="23" name="Shape 21"/>
          <p:cNvSpPr/>
          <p:nvPr/>
        </p:nvSpPr>
        <p:spPr>
          <a:xfrm flipV="1">
            <a:off x="9521647" y="2468880"/>
            <a:ext cx="1999793" cy="2080260"/>
          </a:xfrm>
          <a:prstGeom prst="line">
            <a:avLst/>
          </a:prstGeom>
          <a:noFill/>
          <a:ln w="31750">
            <a:solidFill>
              <a:srgbClr val="FF3B1F"/>
            </a:solidFill>
            <a:prstDash val="solid"/>
          </a:ln>
        </p:spPr>
      </p:sp>
      <p:sp>
        <p:nvSpPr>
          <p:cNvPr id="24" name="Shape 22"/>
          <p:cNvSpPr/>
          <p:nvPr/>
        </p:nvSpPr>
        <p:spPr>
          <a:xfrm>
            <a:off x="9521647" y="4521708"/>
            <a:ext cx="0" cy="507492"/>
          </a:xfrm>
          <a:prstGeom prst="line">
            <a:avLst/>
          </a:prstGeom>
          <a:noFill/>
          <a:ln w="9525">
            <a:solidFill>
              <a:srgbClr val="8A8A8A"/>
            </a:solidFill>
            <a:prstDash val="dash"/>
          </a:ln>
        </p:spPr>
      </p:sp>
      <p:sp>
        <p:nvSpPr>
          <p:cNvPr id="25" name="Text 23"/>
          <p:cNvSpPr txBox="1"/>
          <p:nvPr/>
        </p:nvSpPr>
        <p:spPr>
          <a:xfrm>
            <a:off x="8607247" y="5102352"/>
            <a:ext cx="1828800" cy="274320"/>
          </a:xfrm>
          <a:prstGeom prst="rect">
            <a:avLst/>
          </a:prstGeom>
          <a:noFill/>
          <a:ln/>
        </p:spPr>
        <p:txBody>
          <a:bodyPr wrap="square" lIns="0" tIns="0" rIns="0" bIns="0" rtlCol="0" anchor="ctr"/>
          <a:lstStyle/>
          <a:p>
            <a:pPr algn="ctr" indent="0" marL="0">
              <a:buNone/>
            </a:pPr>
            <a:r>
              <a:rPr lang="en-US" sz="950" dirty="0">
                <a:solidFill>
                  <a:srgbClr val="171717"/>
                </a:solidFill>
                <a:latin typeface="Yu Gothic" pitchFamily="34" charset="0"/>
                <a:ea typeface="Yu Gothic" pitchFamily="34" charset="-122"/>
                <a:cs typeface="Yu Gothic" pitchFamily="34" charset="-120"/>
              </a:rPr>
              <a:t>権利行使価格</a:t>
            </a:r>
            <a:endParaRPr lang="en-US" sz="950" dirty="0"/>
          </a:p>
        </p:txBody>
      </p:sp>
      <p:sp>
        <p:nvSpPr>
          <p:cNvPr id="26" name="Text 24"/>
          <p:cNvSpPr txBox="1"/>
          <p:nvPr/>
        </p:nvSpPr>
        <p:spPr>
          <a:xfrm>
            <a:off x="10881360" y="1737360"/>
            <a:ext cx="640080" cy="274320"/>
          </a:xfrm>
          <a:prstGeom prst="rect">
            <a:avLst/>
          </a:prstGeom>
          <a:noFill/>
          <a:ln/>
        </p:spPr>
        <p:txBody>
          <a:bodyPr wrap="square" lIns="0" tIns="0" rIns="0" bIns="0" rtlCol="0" anchor="ctr"/>
          <a:lstStyle/>
          <a:p>
            <a:pPr indent="0" marL="0">
              <a:buNone/>
            </a:pPr>
            <a:r>
              <a:rPr lang="en-US" sz="1100" b="1" dirty="0">
                <a:solidFill>
                  <a:srgbClr val="FF3B1F"/>
                </a:solidFill>
                <a:latin typeface="Yu Gothic" pitchFamily="34" charset="0"/>
                <a:ea typeface="Yu Gothic" pitchFamily="34" charset="-122"/>
                <a:cs typeface="Yu Gothic" pitchFamily="34" charset="-120"/>
              </a:rPr>
              <a:t>利益</a:t>
            </a:r>
            <a:endParaRPr lang="en-US" sz="1100" dirty="0"/>
          </a:p>
        </p:txBody>
      </p:sp>
      <p:sp>
        <p:nvSpPr>
          <p:cNvPr id="27" name="Text 25"/>
          <p:cNvSpPr txBox="1"/>
          <p:nvPr/>
        </p:nvSpPr>
        <p:spPr>
          <a:xfrm>
            <a:off x="7543800" y="5349240"/>
            <a:ext cx="4251960" cy="365760"/>
          </a:xfrm>
          <a:prstGeom prst="rect">
            <a:avLst/>
          </a:prstGeom>
          <a:noFill/>
          <a:ln/>
        </p:spPr>
        <p:txBody>
          <a:bodyPr wrap="square" lIns="0" tIns="0" rIns="0" bIns="0" rtlCol="0" anchor="ctr"/>
          <a:lstStyle/>
          <a:p>
            <a:pPr algn="ctr" indent="0" marL="0">
              <a:lnSpc>
                <a:spcPct val="115000"/>
              </a:lnSpc>
              <a:buNone/>
            </a:pPr>
            <a:r>
              <a:rPr lang="en-US" sz="900" dirty="0">
                <a:solidFill>
                  <a:srgbClr val="8A8A8A"/>
                </a:solidFill>
                <a:latin typeface="Yu Gothic" pitchFamily="34" charset="0"/>
                <a:ea typeface="Yu Gothic" pitchFamily="34" charset="-122"/>
                <a:cs typeface="Yu Gothic" pitchFamily="34" charset="-120"/>
              </a:rPr>
              <a:t>コール買いの損益：損失はプレミアムに限定、利益は青天井</a:t>
            </a:r>
            <a:endParaRPr lang="en-US" sz="900" dirty="0"/>
          </a:p>
        </p:txBody>
      </p:sp>
      <p:sp>
        <p:nvSpPr>
          <p:cNvPr id="28" name="Shape 26"/>
          <p:cNvSpPr/>
          <p:nvPr/>
        </p:nvSpPr>
        <p:spPr>
          <a:xfrm>
            <a:off x="502920" y="5989320"/>
            <a:ext cx="11201400" cy="0"/>
          </a:xfrm>
          <a:prstGeom prst="line">
            <a:avLst/>
          </a:prstGeom>
          <a:noFill/>
          <a:ln w="9525">
            <a:solidFill>
              <a:srgbClr val="171717"/>
            </a:solidFill>
            <a:prstDash val="solid"/>
          </a:ln>
        </p:spPr>
      </p:sp>
      <p:sp>
        <p:nvSpPr>
          <p:cNvPr id="29" name="Shape 27"/>
          <p:cNvSpPr/>
          <p:nvPr/>
        </p:nvSpPr>
        <p:spPr>
          <a:xfrm>
            <a:off x="502920" y="6062472"/>
            <a:ext cx="329184" cy="329184"/>
          </a:xfrm>
          <a:prstGeom prst="ellipse">
            <a:avLst/>
          </a:prstGeom>
          <a:solidFill>
            <a:srgbClr val="FF3B1F"/>
          </a:solidFill>
          <a:ln/>
        </p:spPr>
      </p:sp>
      <p:sp>
        <p:nvSpPr>
          <p:cNvPr id="30" name="Text 28"/>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1" name="Text 29"/>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2" name="Shape 30"/>
          <p:cNvSpPr/>
          <p:nvPr/>
        </p:nvSpPr>
        <p:spPr>
          <a:xfrm>
            <a:off x="2331720" y="6062472"/>
            <a:ext cx="0" cy="329184"/>
          </a:xfrm>
          <a:prstGeom prst="line">
            <a:avLst/>
          </a:prstGeom>
          <a:noFill/>
          <a:ln w="12700">
            <a:solidFill>
              <a:srgbClr val="E6E6E6"/>
            </a:solidFill>
            <a:prstDash val="solid"/>
          </a:ln>
        </p:spPr>
      </p:sp>
      <p:sp>
        <p:nvSpPr>
          <p:cNvPr id="33" name="Text 31"/>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具体例：権利行使価格1,000円・プレミアム50円のコール。満期株価1,200円→利益150円。満期株価900円→権利放棄、損失はプレミアム50円のみ。</a:t>
            </a:r>
            <a:endParaRPr lang="en-US" sz="1000" dirty="0"/>
          </a:p>
        </p:txBody>
      </p:sp>
      <p:sp>
        <p:nvSpPr>
          <p:cNvPr id="34" name="Text 32"/>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5" name="Shape 33"/>
          <p:cNvSpPr/>
          <p:nvPr/>
        </p:nvSpPr>
        <p:spPr>
          <a:xfrm>
            <a:off x="2466594"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7" name="Shape 35"/>
          <p:cNvSpPr/>
          <p:nvPr/>
        </p:nvSpPr>
        <p:spPr>
          <a:xfrm>
            <a:off x="3431286"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9" name="Shape 37"/>
          <p:cNvSpPr/>
          <p:nvPr/>
        </p:nvSpPr>
        <p:spPr>
          <a:xfrm>
            <a:off x="4395978"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1" name="Shape 39"/>
          <p:cNvSpPr/>
          <p:nvPr/>
        </p:nvSpPr>
        <p:spPr>
          <a:xfrm>
            <a:off x="5360670"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3" name="Shape 41"/>
          <p:cNvSpPr/>
          <p:nvPr/>
        </p:nvSpPr>
        <p:spPr>
          <a:xfrm>
            <a:off x="6325362"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5" name="Shape 43"/>
          <p:cNvSpPr/>
          <p:nvPr/>
        </p:nvSpPr>
        <p:spPr>
          <a:xfrm>
            <a:off x="7290054"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7" name="Shape 45"/>
          <p:cNvSpPr/>
          <p:nvPr/>
        </p:nvSpPr>
        <p:spPr>
          <a:xfrm>
            <a:off x="8254746" y="6464808"/>
            <a:ext cx="146304" cy="146304"/>
          </a:xfrm>
          <a:prstGeom prst="ellipse">
            <a:avLst/>
          </a:prstGeom>
          <a:solidFill>
            <a:srgbClr val="FFFFFF"/>
          </a:solidFill>
          <a:ln w="12700">
            <a:solidFill>
              <a:srgbClr val="E6E6E6"/>
            </a:solidFill>
            <a:prstDash val="solid"/>
          </a:ln>
        </p:spPr>
      </p:sp>
      <p:sp>
        <p:nvSpPr>
          <p:cNvPr id="48" name="Text 46"/>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9" name="Shape 47"/>
          <p:cNvSpPr/>
          <p:nvPr/>
        </p:nvSpPr>
        <p:spPr>
          <a:xfrm>
            <a:off x="9219438" y="6464808"/>
            <a:ext cx="146304" cy="146304"/>
          </a:xfrm>
          <a:prstGeom prst="ellipse">
            <a:avLst/>
          </a:prstGeom>
          <a:solidFill>
            <a:srgbClr val="FFFFFF"/>
          </a:solidFill>
          <a:ln w="12700">
            <a:solidFill>
              <a:srgbClr val="E6E6E6"/>
            </a:solidFill>
            <a:prstDash val="solid"/>
          </a:ln>
        </p:spPr>
      </p:sp>
      <p:sp>
        <p:nvSpPr>
          <p:cNvPr id="50" name="Text 48"/>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51" name="Shape 49"/>
          <p:cNvSpPr/>
          <p:nvPr/>
        </p:nvSpPr>
        <p:spPr>
          <a:xfrm>
            <a:off x="10184130" y="6464808"/>
            <a:ext cx="146304" cy="146304"/>
          </a:xfrm>
          <a:prstGeom prst="ellipse">
            <a:avLst/>
          </a:prstGeom>
          <a:solidFill>
            <a:srgbClr val="FF3B1F"/>
          </a:solidFill>
          <a:ln w="12700">
            <a:solidFill>
              <a:srgbClr val="FF3B1F"/>
            </a:solidFill>
            <a:prstDash val="solid"/>
          </a:ln>
        </p:spPr>
      </p:sp>
      <p:sp>
        <p:nvSpPr>
          <p:cNvPr id="52" name="Text 50"/>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3" name="Shape 51"/>
          <p:cNvSpPr/>
          <p:nvPr/>
        </p:nvSpPr>
        <p:spPr>
          <a:xfrm>
            <a:off x="11148822" y="6464808"/>
            <a:ext cx="146304" cy="146304"/>
          </a:xfrm>
          <a:prstGeom prst="ellipse">
            <a:avLst/>
          </a:prstGeom>
          <a:solidFill>
            <a:srgbClr val="FFFFFF"/>
          </a:solidFill>
          <a:ln w="12700">
            <a:solidFill>
              <a:srgbClr val="E6E6E6"/>
            </a:solidFill>
            <a:prstDash val="solid"/>
          </a:ln>
        </p:spPr>
      </p:sp>
      <p:sp>
        <p:nvSpPr>
          <p:cNvPr id="54" name="Text 52"/>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B-34 ／ デリバティブとリスク管理：先物取引・スワップ</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「権利」ではなく「義務」</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先物・為替予約は必ず実行しなければならない取引。オプションとの根本的な違い。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財務・会計</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11480"/>
          </a:xfrm>
          <a:prstGeom prst="rect">
            <a:avLst/>
          </a:prstGeom>
          <a:noFill/>
          <a:ln/>
        </p:spPr>
        <p:txBody>
          <a:bodyPr wrap="square" lIns="0" tIns="0" rIns="0" bIns="0" rtlCol="0" anchor="ctr"/>
          <a:lstStyle/>
          <a:p>
            <a:pPr indent="0" marL="0">
              <a:lnSpc>
                <a:spcPct val="125000"/>
              </a:lnSpc>
              <a:buNone/>
            </a:pPr>
            <a:r>
              <a:rPr lang="en-US" sz="1100" dirty="0">
                <a:solidFill>
                  <a:srgbClr val="8A8A8A"/>
                </a:solidFill>
                <a:latin typeface="Yu Gothic" pitchFamily="34" charset="0"/>
                <a:ea typeface="Yu Gothic" pitchFamily="34" charset="-122"/>
                <a:cs typeface="Yu Gothic" pitchFamily="34" charset="-120"/>
              </a:rPr>
              <a:t>同じデリバティブでも先物取引・為替予約・スワップは「権利」ではなく「義務」であり、B-33のオプションのように不利な条件を放棄することはできない点が本質的な違い。</a:t>
            </a:r>
            <a:endParaRPr lang="en-US" sz="1100" dirty="0"/>
          </a:p>
        </p:txBody>
      </p:sp>
      <p:sp>
        <p:nvSpPr>
          <p:cNvPr id="9" name="Text 7"/>
          <p:cNvSpPr txBox="1"/>
          <p:nvPr/>
        </p:nvSpPr>
        <p:spPr>
          <a:xfrm>
            <a:off x="502920" y="2176272"/>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先物取引</a:t>
            </a:r>
            <a:endParaRPr lang="en-US" sz="1100" dirty="0"/>
          </a:p>
        </p:txBody>
      </p:sp>
      <p:sp>
        <p:nvSpPr>
          <p:cNvPr id="10" name="Shape 8"/>
          <p:cNvSpPr/>
          <p:nvPr/>
        </p:nvSpPr>
        <p:spPr>
          <a:xfrm>
            <a:off x="2221992" y="2176272"/>
            <a:ext cx="0" cy="256032"/>
          </a:xfrm>
          <a:prstGeom prst="line">
            <a:avLst/>
          </a:prstGeom>
          <a:noFill/>
          <a:ln w="12700">
            <a:solidFill>
              <a:srgbClr val="E6E6E6"/>
            </a:solidFill>
            <a:prstDash val="solid"/>
          </a:ln>
        </p:spPr>
      </p:sp>
      <p:sp>
        <p:nvSpPr>
          <p:cNvPr id="11" name="Text 9"/>
          <p:cNvSpPr txBox="1"/>
          <p:nvPr/>
        </p:nvSpPr>
        <p:spPr>
          <a:xfrm>
            <a:off x="2377440" y="2176272"/>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将来の期日に、あらかじめ決めた価格・数量で売買を約束する（義務）</a:t>
            </a:r>
            <a:endParaRPr lang="en-US" sz="1100" dirty="0"/>
          </a:p>
        </p:txBody>
      </p:sp>
      <p:sp>
        <p:nvSpPr>
          <p:cNvPr id="12" name="Text 10"/>
          <p:cNvSpPr txBox="1"/>
          <p:nvPr/>
        </p:nvSpPr>
        <p:spPr>
          <a:xfrm>
            <a:off x="502920" y="2560320"/>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為替予約</a:t>
            </a:r>
            <a:endParaRPr lang="en-US" sz="1100" dirty="0"/>
          </a:p>
        </p:txBody>
      </p:sp>
      <p:sp>
        <p:nvSpPr>
          <p:cNvPr id="13" name="Shape 11"/>
          <p:cNvSpPr/>
          <p:nvPr/>
        </p:nvSpPr>
        <p:spPr>
          <a:xfrm>
            <a:off x="2221992" y="2560320"/>
            <a:ext cx="0" cy="256032"/>
          </a:xfrm>
          <a:prstGeom prst="line">
            <a:avLst/>
          </a:prstGeom>
          <a:noFill/>
          <a:ln w="12700">
            <a:solidFill>
              <a:srgbClr val="E6E6E6"/>
            </a:solidFill>
            <a:prstDash val="solid"/>
          </a:ln>
        </p:spPr>
      </p:sp>
      <p:sp>
        <p:nvSpPr>
          <p:cNvPr id="14" name="Text 12"/>
          <p:cNvSpPr txBox="1"/>
          <p:nvPr/>
        </p:nvSpPr>
        <p:spPr>
          <a:xfrm>
            <a:off x="2377440" y="2560320"/>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将来の外貨受払いレートを固定し為替変動リスクをヘッジ</a:t>
            </a:r>
            <a:endParaRPr lang="en-US" sz="1100" dirty="0"/>
          </a:p>
        </p:txBody>
      </p:sp>
      <p:sp>
        <p:nvSpPr>
          <p:cNvPr id="15" name="Text 13"/>
          <p:cNvSpPr txBox="1"/>
          <p:nvPr/>
        </p:nvSpPr>
        <p:spPr>
          <a:xfrm>
            <a:off x="502920" y="2944368"/>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スワップ取引</a:t>
            </a:r>
            <a:endParaRPr lang="en-US" sz="1100" dirty="0"/>
          </a:p>
        </p:txBody>
      </p:sp>
      <p:sp>
        <p:nvSpPr>
          <p:cNvPr id="16" name="Shape 14"/>
          <p:cNvSpPr/>
          <p:nvPr/>
        </p:nvSpPr>
        <p:spPr>
          <a:xfrm>
            <a:off x="2221992" y="2944368"/>
            <a:ext cx="0" cy="256032"/>
          </a:xfrm>
          <a:prstGeom prst="line">
            <a:avLst/>
          </a:prstGeom>
          <a:noFill/>
          <a:ln w="12700">
            <a:solidFill>
              <a:srgbClr val="E6E6E6"/>
            </a:solidFill>
            <a:prstDash val="solid"/>
          </a:ln>
        </p:spPr>
      </p:sp>
      <p:sp>
        <p:nvSpPr>
          <p:cNvPr id="17" name="Text 15"/>
          <p:cNvSpPr txBox="1"/>
          <p:nvPr/>
        </p:nvSpPr>
        <p:spPr>
          <a:xfrm>
            <a:off x="2377440" y="2944368"/>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2つのキャッシュフローを交換（金利スワップ、通貨スワップ）</a:t>
            </a:r>
            <a:endParaRPr lang="en-US" sz="1100" dirty="0"/>
          </a:p>
        </p:txBody>
      </p:sp>
      <p:sp>
        <p:nvSpPr>
          <p:cNvPr id="18" name="Text 16"/>
          <p:cNvSpPr txBox="1"/>
          <p:nvPr/>
        </p:nvSpPr>
        <p:spPr>
          <a:xfrm>
            <a:off x="502920" y="3419856"/>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3か月後の輸出代金1万ドルを1ドル148円で為替予約→実際のレートによらず148万円を確定できる。変動金利の借入を金利スワップで実質固定金利に変換することも可能。</a:t>
            </a:r>
            <a:endParaRPr lang="en-US" sz="850" dirty="0"/>
          </a:p>
        </p:txBody>
      </p:sp>
      <p:sp>
        <p:nvSpPr>
          <p:cNvPr id="19" name="Shape 17"/>
          <p:cNvSpPr/>
          <p:nvPr/>
        </p:nvSpPr>
        <p:spPr>
          <a:xfrm>
            <a:off x="502920" y="3995928"/>
            <a:ext cx="11201400" cy="0"/>
          </a:xfrm>
          <a:prstGeom prst="line">
            <a:avLst/>
          </a:prstGeom>
          <a:noFill/>
          <a:ln w="12700">
            <a:solidFill>
              <a:srgbClr val="E6E6E6"/>
            </a:solidFill>
            <a:prstDash val="solid"/>
          </a:ln>
        </p:spPr>
      </p:sp>
      <p:sp>
        <p:nvSpPr>
          <p:cNvPr id="20" name="Text 18"/>
          <p:cNvSpPr txBox="1"/>
          <p:nvPr/>
        </p:nvSpPr>
        <p:spPr>
          <a:xfrm>
            <a:off x="502920" y="406908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先物・為替予約は「義務」であり、有利な方向に相場が動いても予約レートでの取引が確定する（オプションのような「権利放棄」はできない）。</a:t>
            </a:r>
            <a:endParaRPr lang="en-US" sz="95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関連：B-33 オプション取引（「権利」と「義務」の対比で押さえる）。</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財務・会計</dc:title>
  <dc:subject>PptxGenJS Presentation</dc:subject>
  <dc:creator>SMEC</dc:creator>
  <cp:lastModifiedBy>SMEC</cp:lastModifiedBy>
  <cp:revision>1</cp:revision>
  <dcterms:created xsi:type="dcterms:W3CDTF">2026-09-20T09:54:24Z</dcterms:created>
  <dcterms:modified xsi:type="dcterms:W3CDTF">2026-09-20T09:54:24Z</dcterms:modified>
</cp:coreProperties>
</file>