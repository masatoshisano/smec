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表紙スライド。運営管理の全体像を示す。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生産管理概論／生産計画パートの区切りスライド。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640080" y="502920"/>
            <a:ext cx="5486400" cy="320040"/>
          </a:xfrm>
          <a:prstGeom prst="rect">
            <a:avLst/>
          </a:prstGeom>
          <a:noFill/>
          <a:ln/>
        </p:spPr>
        <p:txBody>
          <a:bodyPr wrap="square" lIns="0" tIns="0" rIns="0" bIns="0" rtlCol="0" anchor="ctr"/>
          <a:lstStyle/>
          <a:p>
            <a:pPr indent="0" marL="0">
              <a:buNone/>
            </a:pPr>
            <a:r>
              <a:rPr lang="en-US" sz="1200" dirty="0">
                <a:solidFill>
                  <a:srgbClr val="FFFFFF"/>
                </a:solidFill>
                <a:latin typeface="Consolas" pitchFamily="34" charset="0"/>
                <a:ea typeface="Consolas" pitchFamily="34" charset="-122"/>
                <a:cs typeface="Consolas" pitchFamily="34" charset="-120"/>
              </a:rPr>
              <a:t>中小企業診断士 第1次試験</a:t>
            </a:r>
            <a:endParaRPr lang="en-US" sz="1200" dirty="0"/>
          </a:p>
        </p:txBody>
      </p:sp>
      <p:sp>
        <p:nvSpPr>
          <p:cNvPr id="3" name="Text 1"/>
          <p:cNvSpPr txBox="1"/>
          <p:nvPr/>
        </p:nvSpPr>
        <p:spPr>
          <a:xfrm>
            <a:off x="8686800" y="502920"/>
            <a:ext cx="2834640" cy="320040"/>
          </a:xfrm>
          <a:prstGeom prst="rect">
            <a:avLst/>
          </a:prstGeom>
          <a:noFill/>
          <a:ln/>
        </p:spPr>
        <p:txBody>
          <a:bodyPr wrap="square" lIns="0" tIns="0" rIns="0" bIns="0" rtlCol="0" anchor="ctr"/>
          <a:lstStyle/>
          <a:p>
            <a:pPr algn="r" indent="0" marL="0">
              <a:buNone/>
            </a:pPr>
            <a:r>
              <a:rPr lang="en-US" sz="1200" dirty="0">
                <a:solidFill>
                  <a:srgbClr val="FF3B1F"/>
                </a:solidFill>
                <a:latin typeface="Consolas" pitchFamily="34" charset="0"/>
                <a:ea typeface="Consolas" pitchFamily="34" charset="-122"/>
                <a:cs typeface="Consolas" pitchFamily="34" charset="-120"/>
              </a:rPr>
              <a:t>SUBJECT 04 / 07</a:t>
            </a:r>
            <a:endParaRPr lang="en-US" sz="1200" dirty="0"/>
          </a:p>
        </p:txBody>
      </p:sp>
      <p:sp>
        <p:nvSpPr>
          <p:cNvPr id="4" name="Text 2"/>
          <p:cNvSpPr txBox="1"/>
          <p:nvPr/>
        </p:nvSpPr>
        <p:spPr>
          <a:xfrm>
            <a:off x="594360" y="2103120"/>
            <a:ext cx="10058400" cy="1371600"/>
          </a:xfrm>
          <a:prstGeom prst="rect">
            <a:avLst/>
          </a:prstGeom>
          <a:noFill/>
          <a:ln/>
        </p:spPr>
        <p:txBody>
          <a:bodyPr wrap="square" lIns="0" tIns="0" rIns="0" bIns="0" rtlCol="0" anchor="ctr"/>
          <a:lstStyle/>
          <a:p>
            <a:pPr indent="0" marL="0">
              <a:buNone/>
            </a:pPr>
            <a:r>
              <a:rPr lang="en-US" sz="6600" b="1" dirty="0">
                <a:solidFill>
                  <a:srgbClr val="FFFFFF"/>
                </a:solidFill>
                <a:latin typeface="Yu Gothic" pitchFamily="34" charset="0"/>
                <a:ea typeface="Yu Gothic" pitchFamily="34" charset="-122"/>
                <a:cs typeface="Yu Gothic" pitchFamily="34" charset="-120"/>
              </a:rPr>
              <a:t>運営管理</a:t>
            </a:r>
            <a:pPr indent="0" marL="0">
              <a:buNone/>
            </a:pPr>
            <a:r>
              <a:rPr lang="en-US" sz="6600" b="1" dirty="0">
                <a:solidFill>
                  <a:srgbClr val="FF3B1F"/>
                </a:solidFill>
                <a:latin typeface="Yu Gothic" pitchFamily="34" charset="0"/>
                <a:ea typeface="Yu Gothic" pitchFamily="34" charset="-122"/>
                <a:cs typeface="Yu Gothic" pitchFamily="34" charset="-120"/>
              </a:rPr>
              <a:t>。</a:t>
            </a:r>
            <a:endParaRPr lang="en-US" sz="6600" dirty="0"/>
          </a:p>
        </p:txBody>
      </p:sp>
      <p:sp>
        <p:nvSpPr>
          <p:cNvPr id="5" name="Text 3"/>
          <p:cNvSpPr txBox="1"/>
          <p:nvPr/>
        </p:nvSpPr>
        <p:spPr>
          <a:xfrm>
            <a:off x="640080" y="3429000"/>
            <a:ext cx="7680960" cy="914400"/>
          </a:xfrm>
          <a:prstGeom prst="rect">
            <a:avLst/>
          </a:prstGeom>
          <a:noFill/>
          <a:ln/>
        </p:spPr>
        <p:txBody>
          <a:bodyPr wrap="square" lIns="0" tIns="0" rIns="0" bIns="0" rtlCol="0" anchor="ctr"/>
          <a:lstStyle/>
          <a:p>
            <a:pPr indent="0" marL="0">
              <a:lnSpc>
                <a:spcPct val="150000"/>
              </a:lnSpc>
              <a:buNone/>
            </a:pPr>
            <a:r>
              <a:rPr lang="en-US" sz="1500" dirty="0">
                <a:solidFill>
                  <a:srgbClr val="C5C5C5"/>
                </a:solidFill>
                <a:latin typeface="Yu Gothic" pitchFamily="34" charset="0"/>
                <a:ea typeface="Yu Gothic" pitchFamily="34" charset="-122"/>
                <a:cs typeface="Yu Gothic" pitchFamily="34" charset="-120"/>
              </a:rPr>
              <a:t>生産管理（工場でどう作るか）と店舗・販売管理（店でどう売るか）の2分野、35論点。暗記事項と計算問題（タクトタイム、EOQ、ライリーの法則等）の両方が出題される。</a:t>
            </a:r>
            <a:endParaRPr lang="en-US" sz="1500" dirty="0"/>
          </a:p>
        </p:txBody>
      </p:sp>
      <p:sp>
        <p:nvSpPr>
          <p:cNvPr id="6" name="Shape 4"/>
          <p:cNvSpPr/>
          <p:nvPr/>
        </p:nvSpPr>
        <p:spPr>
          <a:xfrm>
            <a:off x="640080" y="5806440"/>
            <a:ext cx="10881360" cy="0"/>
          </a:xfrm>
          <a:prstGeom prst="line">
            <a:avLst/>
          </a:prstGeom>
          <a:noFill/>
          <a:ln w="9525">
            <a:solidFill>
              <a:srgbClr val="515151"/>
            </a:solidFill>
            <a:prstDash val="solid"/>
          </a:ln>
        </p:spPr>
      </p:sp>
      <p:sp>
        <p:nvSpPr>
          <p:cNvPr id="7" name="Text 5"/>
          <p:cNvSpPr txBox="1"/>
          <p:nvPr/>
        </p:nvSpPr>
        <p:spPr>
          <a:xfrm>
            <a:off x="64008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35</a:t>
            </a:r>
            <a:endParaRPr lang="en-US" sz="2400" dirty="0"/>
          </a:p>
        </p:txBody>
      </p:sp>
      <p:sp>
        <p:nvSpPr>
          <p:cNvPr id="8" name="Text 6"/>
          <p:cNvSpPr txBox="1"/>
          <p:nvPr/>
        </p:nvSpPr>
        <p:spPr>
          <a:xfrm>
            <a:off x="64008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収録論点数</a:t>
            </a:r>
            <a:endParaRPr lang="en-US" sz="1000" dirty="0"/>
          </a:p>
        </p:txBody>
      </p:sp>
      <p:sp>
        <p:nvSpPr>
          <p:cNvPr id="9" name="Text 7"/>
          <p:cNvSpPr txBox="1"/>
          <p:nvPr/>
        </p:nvSpPr>
        <p:spPr>
          <a:xfrm>
            <a:off x="256032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2</a:t>
            </a:r>
            <a:endParaRPr lang="en-US" sz="2400" dirty="0"/>
          </a:p>
        </p:txBody>
      </p:sp>
      <p:sp>
        <p:nvSpPr>
          <p:cNvPr id="10" name="Text 8"/>
          <p:cNvSpPr txBox="1"/>
          <p:nvPr/>
        </p:nvSpPr>
        <p:spPr>
          <a:xfrm>
            <a:off x="256032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分野</a:t>
            </a:r>
            <a:endParaRPr lang="en-US" sz="1000" dirty="0"/>
          </a:p>
        </p:txBody>
      </p:sp>
      <p:sp>
        <p:nvSpPr>
          <p:cNvPr id="11" name="Text 9"/>
          <p:cNvSpPr txBox="1"/>
          <p:nvPr/>
        </p:nvSpPr>
        <p:spPr>
          <a:xfrm>
            <a:off x="4480560" y="5989320"/>
            <a:ext cx="1737360" cy="457200"/>
          </a:xfrm>
          <a:prstGeom prst="rect">
            <a:avLst/>
          </a:prstGeom>
          <a:noFill/>
          <a:ln/>
        </p:spPr>
        <p:txBody>
          <a:bodyPr wrap="square" lIns="0" tIns="0" rIns="0" bIns="0" rtlCol="0" anchor="ctr"/>
          <a:lstStyle/>
          <a:p>
            <a:pPr indent="0" marL="0">
              <a:buNone/>
            </a:pPr>
            <a:r>
              <a:rPr lang="en-US" sz="2400" b="1" dirty="0">
                <a:solidFill>
                  <a:srgbClr val="FF3B1F"/>
                </a:solidFill>
                <a:latin typeface="Consolas" pitchFamily="34" charset="0"/>
                <a:ea typeface="Consolas" pitchFamily="34" charset="-122"/>
                <a:cs typeface="Consolas" pitchFamily="34" charset="-120"/>
              </a:rPr>
              <a:t>32/35</a:t>
            </a:r>
            <a:endParaRPr lang="en-US" sz="2400" dirty="0"/>
          </a:p>
        </p:txBody>
      </p:sp>
      <p:sp>
        <p:nvSpPr>
          <p:cNvPr id="12" name="Text 10"/>
          <p:cNvSpPr txBox="1"/>
          <p:nvPr/>
        </p:nvSpPr>
        <p:spPr>
          <a:xfrm>
            <a:off x="4480560" y="6446520"/>
            <a:ext cx="1737360" cy="274320"/>
          </a:xfrm>
          <a:prstGeom prst="rect">
            <a:avLst/>
          </a:prstGeom>
          <a:noFill/>
          <a:ln/>
        </p:spPr>
        <p:txBody>
          <a:bodyPr wrap="square" lIns="0" tIns="0" rIns="0" bIns="0" rtlCol="0" anchor="ctr"/>
          <a:lstStyle/>
          <a:p>
            <a:pPr indent="0" marL="0">
              <a:buNone/>
            </a:pPr>
            <a:r>
              <a:rPr lang="en-US" sz="1000" dirty="0">
                <a:solidFill>
                  <a:srgbClr val="C5C5C5"/>
                </a:solidFill>
                <a:latin typeface="Yu Gothic" pitchFamily="34" charset="0"/>
                <a:ea typeface="Yu Gothic" pitchFamily="34" charset="-122"/>
                <a:cs typeface="Yu Gothic" pitchFamily="34" charset="-120"/>
              </a:rPr>
              <a:t>頻出ランクA</a:t>
            </a:r>
            <a:endParaRPr lang="en-US" sz="1000" dirty="0"/>
          </a:p>
        </p:txBody>
      </p:sp>
      <p:sp>
        <p:nvSpPr>
          <p:cNvPr id="13" name="Shape 11"/>
          <p:cNvSpPr/>
          <p:nvPr/>
        </p:nvSpPr>
        <p:spPr>
          <a:xfrm>
            <a:off x="7863840" y="6172200"/>
            <a:ext cx="3657600" cy="384048"/>
          </a:xfrm>
          <a:prstGeom prst="rect">
            <a:avLst/>
          </a:prstGeom>
          <a:ln w="9525">
            <a:solidFill>
              <a:srgbClr val="7F7F7F"/>
            </a:solidFill>
            <a:prstDash val="solid"/>
          </a:ln>
        </p:spPr>
      </p:sp>
      <p:sp>
        <p:nvSpPr>
          <p:cNvPr id="14" name="Text 12"/>
          <p:cNvSpPr txBox="1"/>
          <p:nvPr/>
        </p:nvSpPr>
        <p:spPr>
          <a:xfrm>
            <a:off x="7863840" y="6172200"/>
            <a:ext cx="3657600" cy="384048"/>
          </a:xfrm>
          <a:prstGeom prst="rect">
            <a:avLst/>
          </a:prstGeom>
          <a:noFill/>
          <a:ln/>
        </p:spPr>
        <p:txBody>
          <a:bodyPr wrap="square" lIns="0" tIns="0" rIns="0" bIns="0" rtlCol="0" anchor="ctr"/>
          <a:lstStyle/>
          <a:p>
            <a:pPr algn="ctr" indent="0" marL="0">
              <a:buNone/>
            </a:pPr>
            <a:r>
              <a:rPr lang="en-US" sz="850" dirty="0">
                <a:solidFill>
                  <a:srgbClr val="FFFFFF"/>
                </a:solidFill>
                <a:latin typeface="Consolas" pitchFamily="34" charset="0"/>
                <a:ea typeface="Consolas" pitchFamily="34" charset="-122"/>
                <a:cs typeface="Consolas" pitchFamily="34" charset="-120"/>
              </a:rPr>
              <a:t>docs/textbook/D_operations_management_textbook.md</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71717"/>
        </a:solidFill>
      </p:bgPr>
    </p:bg>
    <p:spTree>
      <p:nvGrpSpPr>
        <p:cNvPr id="1" name=""/>
        <p:cNvGrpSpPr/>
        <p:nvPr/>
      </p:nvGrpSpPr>
      <p:grpSpPr>
        <a:xfrm>
          <a:off x="0" y="0"/>
          <a:ext cx="0" cy="0"/>
          <a:chOff x="0" y="0"/>
          <a:chExt cx="0" cy="0"/>
        </a:xfrm>
      </p:grpSpPr>
      <p:sp>
        <p:nvSpPr>
          <p:cNvPr id="2" name="Text 0"/>
          <p:cNvSpPr txBox="1"/>
          <p:nvPr/>
        </p:nvSpPr>
        <p:spPr>
          <a:xfrm>
            <a:off x="8046720" y="1463040"/>
            <a:ext cx="3931920" cy="4114800"/>
          </a:xfrm>
          <a:prstGeom prst="rect">
            <a:avLst/>
          </a:prstGeom>
          <a:noFill/>
          <a:ln/>
        </p:spPr>
        <p:txBody>
          <a:bodyPr wrap="square" lIns="0" tIns="0" rIns="0" bIns="0" rtlCol="0" anchor="ctr"/>
          <a:lstStyle/>
          <a:p>
            <a:pPr algn="r" indent="0" marL="0">
              <a:buNone/>
            </a:pPr>
            <a:r>
              <a:rPr lang="en-US" sz="22000" b="1" dirty="0">
                <a:solidFill>
                  <a:srgbClr val="252525"/>
                </a:solidFill>
                <a:latin typeface="Consolas" pitchFamily="34" charset="0"/>
                <a:ea typeface="Consolas" pitchFamily="34" charset="-122"/>
                <a:cs typeface="Consolas" pitchFamily="34" charset="-120"/>
              </a:rPr>
              <a:t>01</a:t>
            </a:r>
            <a:endParaRPr lang="en-US" sz="22000" dirty="0"/>
          </a:p>
        </p:txBody>
      </p:sp>
      <p:sp>
        <p:nvSpPr>
          <p:cNvPr id="3" name="Text 1"/>
          <p:cNvSpPr txBox="1"/>
          <p:nvPr/>
        </p:nvSpPr>
        <p:spPr>
          <a:xfrm>
            <a:off x="640080" y="1920240"/>
            <a:ext cx="8229600" cy="365760"/>
          </a:xfrm>
          <a:prstGeom prst="rect">
            <a:avLst/>
          </a:prstGeom>
          <a:noFill/>
          <a:ln/>
        </p:spPr>
        <p:txBody>
          <a:bodyPr wrap="square" lIns="0" tIns="0" rIns="0" bIns="0" rtlCol="0" anchor="ctr"/>
          <a:lstStyle/>
          <a:p>
            <a:pPr indent="0" marL="0">
              <a:buNone/>
            </a:pPr>
            <a:r>
              <a:rPr lang="en-US" sz="1300" b="1" dirty="0">
                <a:solidFill>
                  <a:srgbClr val="FF3B1F"/>
                </a:solidFill>
                <a:latin typeface="Consolas" pitchFamily="34" charset="0"/>
                <a:ea typeface="Consolas" pitchFamily="34" charset="-122"/>
                <a:cs typeface="Consolas" pitchFamily="34" charset="-120"/>
              </a:rPr>
              <a:t>PART 01</a:t>
            </a:r>
            <a:pPr indent="0" marL="0">
              <a:buNone/>
            </a:pPr>
            <a:r>
              <a:rPr lang="en-US" sz="1300" dirty="0">
                <a:solidFill>
                  <a:srgbClr val="A2A2A2"/>
                </a:solidFill>
                <a:latin typeface="Consolas" pitchFamily="34" charset="0"/>
                <a:ea typeface="Consolas" pitchFamily="34" charset="-122"/>
                <a:cs typeface="Consolas" pitchFamily="34" charset="-120"/>
              </a:rPr>
              <a:t>   運営管理 ／ D-1〜D-9</a:t>
            </a:r>
            <a:endParaRPr lang="en-US" sz="1300" dirty="0"/>
          </a:p>
        </p:txBody>
      </p:sp>
      <p:sp>
        <p:nvSpPr>
          <p:cNvPr id="4" name="Text 2"/>
          <p:cNvSpPr txBox="1"/>
          <p:nvPr/>
        </p:nvSpPr>
        <p:spPr>
          <a:xfrm>
            <a:off x="594360" y="2331720"/>
            <a:ext cx="8229600" cy="1005840"/>
          </a:xfrm>
          <a:prstGeom prst="rect">
            <a:avLst/>
          </a:prstGeom>
          <a:noFill/>
          <a:ln/>
        </p:spPr>
        <p:txBody>
          <a:bodyPr wrap="square" lIns="0" tIns="0" rIns="0" bIns="0" rtlCol="0" anchor="ctr"/>
          <a:lstStyle/>
          <a:p>
            <a:pPr indent="0" marL="0">
              <a:buNone/>
            </a:pPr>
            <a:r>
              <a:rPr lang="en-US" sz="4600" b="1" dirty="0">
                <a:solidFill>
                  <a:srgbClr val="FFFFFF"/>
                </a:solidFill>
                <a:latin typeface="Yu Gothic" pitchFamily="34" charset="0"/>
                <a:ea typeface="Yu Gothic" pitchFamily="34" charset="-122"/>
                <a:cs typeface="Yu Gothic" pitchFamily="34" charset="-120"/>
              </a:rPr>
              <a:t>生産管理概論／生産計画</a:t>
            </a:r>
            <a:endParaRPr lang="en-US" sz="4600" dirty="0"/>
          </a:p>
        </p:txBody>
      </p:sp>
      <p:sp>
        <p:nvSpPr>
          <p:cNvPr id="5" name="Text 3"/>
          <p:cNvSpPr txBox="1"/>
          <p:nvPr/>
        </p:nvSpPr>
        <p:spPr>
          <a:xfrm>
            <a:off x="640080" y="3429000"/>
            <a:ext cx="7498080" cy="1188720"/>
          </a:xfrm>
          <a:prstGeom prst="rect">
            <a:avLst/>
          </a:prstGeom>
          <a:noFill/>
          <a:ln/>
        </p:spPr>
        <p:txBody>
          <a:bodyPr wrap="square" lIns="0" tIns="0" rIns="0" bIns="0" rtlCol="0" anchor="ctr"/>
          <a:lstStyle/>
          <a:p>
            <a:pPr indent="0" marL="0">
              <a:lnSpc>
                <a:spcPct val="160000"/>
              </a:lnSpc>
              <a:buNone/>
            </a:pPr>
            <a:r>
              <a:rPr lang="en-US" sz="1400" dirty="0">
                <a:solidFill>
                  <a:srgbClr val="D1D1D1"/>
                </a:solidFill>
                <a:latin typeface="Yu Gothic" pitchFamily="34" charset="0"/>
                <a:ea typeface="Yu Gothic" pitchFamily="34" charset="-122"/>
                <a:cs typeface="Yu Gothic" pitchFamily="34" charset="-120"/>
              </a:rPr>
              <a:t>工場管理の目標（PQCDSME）から、生産方式・ライン編成・需要予測・需給計画・スケジューリングまで。町工場をイメージしながら読み進める。</a:t>
            </a:r>
            <a:endParaRPr lang="en-US" sz="1400" dirty="0"/>
          </a:p>
        </p:txBody>
      </p:sp>
      <p:sp>
        <p:nvSpPr>
          <p:cNvPr id="6" name="Shape 4"/>
          <p:cNvSpPr/>
          <p:nvPr/>
        </p:nvSpPr>
        <p:spPr>
          <a:xfrm>
            <a:off x="640080" y="4800600"/>
            <a:ext cx="1801368" cy="384048"/>
          </a:xfrm>
          <a:prstGeom prst="rect">
            <a:avLst/>
          </a:prstGeom>
          <a:ln w="9525">
            <a:solidFill>
              <a:srgbClr val="7F7F7F"/>
            </a:solidFill>
            <a:prstDash val="solid"/>
          </a:ln>
        </p:spPr>
      </p:sp>
      <p:sp>
        <p:nvSpPr>
          <p:cNvPr id="7" name="Text 5"/>
          <p:cNvSpPr txBox="1"/>
          <p:nvPr/>
        </p:nvSpPr>
        <p:spPr>
          <a:xfrm>
            <a:off x="64008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D-2 JIT・かんばん</a:t>
            </a:r>
            <a:endParaRPr lang="en-US" sz="1000" dirty="0"/>
          </a:p>
        </p:txBody>
      </p:sp>
      <p:sp>
        <p:nvSpPr>
          <p:cNvPr id="8" name="Shape 6"/>
          <p:cNvSpPr/>
          <p:nvPr/>
        </p:nvSpPr>
        <p:spPr>
          <a:xfrm>
            <a:off x="2670048" y="4800600"/>
            <a:ext cx="1924812" cy="384048"/>
          </a:xfrm>
          <a:prstGeom prst="rect">
            <a:avLst/>
          </a:prstGeom>
          <a:ln w="9525">
            <a:solidFill>
              <a:srgbClr val="7F7F7F"/>
            </a:solidFill>
            <a:prstDash val="solid"/>
          </a:ln>
        </p:spPr>
      </p:sp>
      <p:sp>
        <p:nvSpPr>
          <p:cNvPr id="9" name="Text 7"/>
          <p:cNvSpPr txBox="1"/>
          <p:nvPr/>
        </p:nvSpPr>
        <p:spPr>
          <a:xfrm>
            <a:off x="2670048" y="4800600"/>
            <a:ext cx="1924812"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D-6 ラインバランシング</a:t>
            </a:r>
            <a:endParaRPr lang="en-US" sz="1000" dirty="0"/>
          </a:p>
        </p:txBody>
      </p:sp>
      <p:sp>
        <p:nvSpPr>
          <p:cNvPr id="10" name="Shape 8"/>
          <p:cNvSpPr/>
          <p:nvPr/>
        </p:nvSpPr>
        <p:spPr>
          <a:xfrm>
            <a:off x="4823460" y="4800600"/>
            <a:ext cx="1801368" cy="384048"/>
          </a:xfrm>
          <a:prstGeom prst="rect">
            <a:avLst/>
          </a:prstGeom>
          <a:ln w="9525">
            <a:solidFill>
              <a:srgbClr val="7F7F7F"/>
            </a:solidFill>
            <a:prstDash val="solid"/>
          </a:ln>
        </p:spPr>
      </p:sp>
      <p:sp>
        <p:nvSpPr>
          <p:cNvPr id="11" name="Text 9"/>
          <p:cNvSpPr txBox="1"/>
          <p:nvPr/>
        </p:nvSpPr>
        <p:spPr>
          <a:xfrm>
            <a:off x="4823460" y="4800600"/>
            <a:ext cx="1801368" cy="384048"/>
          </a:xfrm>
          <a:prstGeom prst="rect">
            <a:avLst/>
          </a:prstGeom>
          <a:noFill/>
          <a:ln/>
        </p:spPr>
        <p:txBody>
          <a:bodyPr wrap="square" lIns="0" tIns="0" rIns="0" bIns="0" rtlCol="0" anchor="ctr"/>
          <a:lstStyle/>
          <a:p>
            <a:pPr algn="ctr" indent="0" marL="0">
              <a:buNone/>
            </a:pPr>
            <a:r>
              <a:rPr lang="en-US" sz="1000" dirty="0">
                <a:solidFill>
                  <a:srgbClr val="E8E8E8"/>
                </a:solidFill>
                <a:latin typeface="Consolas" pitchFamily="34" charset="0"/>
                <a:ea typeface="Consolas" pitchFamily="34" charset="-122"/>
                <a:cs typeface="Consolas" pitchFamily="34" charset="-120"/>
              </a:rPr>
              <a:t>D-9 ジョンソンの規則</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D-1 ／ 生産管理概論（PQCDSME）</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7つの目標はトレードオフの関係</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工場管理者が同時に追う7つの目標。一方を追求すると他方が犠牲になりやすい。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P：生産性</a:t>
            </a:r>
            <a:endParaRPr lang="en-US" sz="105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少ない人・設備・時間でどれだけ多く作れるか</a:t>
            </a:r>
            <a:endParaRPr lang="en-US" sz="1050" dirty="0"/>
          </a:p>
        </p:txBody>
      </p:sp>
      <p:sp>
        <p:nvSpPr>
          <p:cNvPr id="11" name="Text 9"/>
          <p:cNvSpPr txBox="1"/>
          <p:nvPr/>
        </p:nvSpPr>
        <p:spPr>
          <a:xfrm>
            <a:off x="502920" y="2020824"/>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Q：品質</a:t>
            </a:r>
            <a:endParaRPr lang="en-US" sz="1050" dirty="0"/>
          </a:p>
        </p:txBody>
      </p:sp>
      <p:sp>
        <p:nvSpPr>
          <p:cNvPr id="12" name="Shape 10"/>
          <p:cNvSpPr/>
          <p:nvPr/>
        </p:nvSpPr>
        <p:spPr>
          <a:xfrm>
            <a:off x="2039112" y="2020824"/>
            <a:ext cx="0" cy="256032"/>
          </a:xfrm>
          <a:prstGeom prst="line">
            <a:avLst/>
          </a:prstGeom>
          <a:noFill/>
          <a:ln w="12700">
            <a:solidFill>
              <a:srgbClr val="E6E6E6"/>
            </a:solidFill>
            <a:prstDash val="solid"/>
          </a:ln>
        </p:spPr>
      </p:sp>
      <p:sp>
        <p:nvSpPr>
          <p:cNvPr id="13" name="Text 11"/>
          <p:cNvSpPr txBox="1"/>
          <p:nvPr/>
        </p:nvSpPr>
        <p:spPr>
          <a:xfrm>
            <a:off x="2194560" y="2020824"/>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不良品を出さず要求品質を満たすか</a:t>
            </a:r>
            <a:endParaRPr lang="en-US" sz="1050" dirty="0"/>
          </a:p>
        </p:txBody>
      </p:sp>
      <p:sp>
        <p:nvSpPr>
          <p:cNvPr id="14" name="Text 12"/>
          <p:cNvSpPr txBox="1"/>
          <p:nvPr/>
        </p:nvSpPr>
        <p:spPr>
          <a:xfrm>
            <a:off x="502920" y="2350008"/>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C：コスト</a:t>
            </a:r>
            <a:endParaRPr lang="en-US" sz="1050" dirty="0"/>
          </a:p>
        </p:txBody>
      </p:sp>
      <p:sp>
        <p:nvSpPr>
          <p:cNvPr id="15" name="Shape 13"/>
          <p:cNvSpPr/>
          <p:nvPr/>
        </p:nvSpPr>
        <p:spPr>
          <a:xfrm>
            <a:off x="2039112" y="2350008"/>
            <a:ext cx="0" cy="256032"/>
          </a:xfrm>
          <a:prstGeom prst="line">
            <a:avLst/>
          </a:prstGeom>
          <a:noFill/>
          <a:ln w="12700">
            <a:solidFill>
              <a:srgbClr val="E6E6E6"/>
            </a:solidFill>
            <a:prstDash val="solid"/>
          </a:ln>
        </p:spPr>
      </p:sp>
      <p:sp>
        <p:nvSpPr>
          <p:cNvPr id="16" name="Text 14"/>
          <p:cNvSpPr txBox="1"/>
          <p:nvPr/>
        </p:nvSpPr>
        <p:spPr>
          <a:xfrm>
            <a:off x="2194560" y="2350008"/>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材料費・労務費・経費をどれだけ抑えられるか</a:t>
            </a:r>
            <a:endParaRPr lang="en-US" sz="1050" dirty="0"/>
          </a:p>
        </p:txBody>
      </p:sp>
      <p:sp>
        <p:nvSpPr>
          <p:cNvPr id="17" name="Text 15"/>
          <p:cNvSpPr txBox="1"/>
          <p:nvPr/>
        </p:nvSpPr>
        <p:spPr>
          <a:xfrm>
            <a:off x="502920" y="2679192"/>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D：納期</a:t>
            </a:r>
            <a:endParaRPr lang="en-US" sz="1050" dirty="0"/>
          </a:p>
        </p:txBody>
      </p:sp>
      <p:sp>
        <p:nvSpPr>
          <p:cNvPr id="18" name="Shape 16"/>
          <p:cNvSpPr/>
          <p:nvPr/>
        </p:nvSpPr>
        <p:spPr>
          <a:xfrm>
            <a:off x="2039112" y="2679192"/>
            <a:ext cx="0" cy="256032"/>
          </a:xfrm>
          <a:prstGeom prst="line">
            <a:avLst/>
          </a:prstGeom>
          <a:noFill/>
          <a:ln w="12700">
            <a:solidFill>
              <a:srgbClr val="E6E6E6"/>
            </a:solidFill>
            <a:prstDash val="solid"/>
          </a:ln>
        </p:spPr>
      </p:sp>
      <p:sp>
        <p:nvSpPr>
          <p:cNvPr id="19" name="Text 17"/>
          <p:cNvSpPr txBox="1"/>
          <p:nvPr/>
        </p:nvSpPr>
        <p:spPr>
          <a:xfrm>
            <a:off x="2194560" y="2679192"/>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決められた期日までに決められた量を届けられるか</a:t>
            </a:r>
            <a:endParaRPr lang="en-US" sz="1050" dirty="0"/>
          </a:p>
        </p:txBody>
      </p:sp>
      <p:sp>
        <p:nvSpPr>
          <p:cNvPr id="20" name="Text 18"/>
          <p:cNvSpPr txBox="1"/>
          <p:nvPr/>
        </p:nvSpPr>
        <p:spPr>
          <a:xfrm>
            <a:off x="502920" y="3008376"/>
            <a:ext cx="1554480" cy="310896"/>
          </a:xfrm>
          <a:prstGeom prst="rect">
            <a:avLst/>
          </a:prstGeom>
          <a:noFill/>
          <a:ln/>
        </p:spPr>
        <p:txBody>
          <a:bodyPr wrap="square" lIns="0" tIns="0" rIns="0" bIns="0" rtlCol="0" anchor="t"/>
          <a:lstStyle/>
          <a:p>
            <a:pPr indent="0" marL="0">
              <a:buNone/>
            </a:pPr>
            <a:r>
              <a:rPr lang="en-US" sz="1050" b="1" dirty="0">
                <a:solidFill>
                  <a:srgbClr val="171717"/>
                </a:solidFill>
                <a:latin typeface="Yu Gothic" pitchFamily="34" charset="0"/>
                <a:ea typeface="Yu Gothic" pitchFamily="34" charset="-122"/>
                <a:cs typeface="Yu Gothic" pitchFamily="34" charset="-120"/>
              </a:rPr>
              <a:t>S・M・E</a:t>
            </a:r>
            <a:endParaRPr lang="en-US" sz="1050" dirty="0"/>
          </a:p>
        </p:txBody>
      </p:sp>
      <p:sp>
        <p:nvSpPr>
          <p:cNvPr id="21" name="Shape 19"/>
          <p:cNvSpPr/>
          <p:nvPr/>
        </p:nvSpPr>
        <p:spPr>
          <a:xfrm>
            <a:off x="2039112" y="3008376"/>
            <a:ext cx="0" cy="256032"/>
          </a:xfrm>
          <a:prstGeom prst="line">
            <a:avLst/>
          </a:prstGeom>
          <a:noFill/>
          <a:ln w="12700">
            <a:solidFill>
              <a:srgbClr val="E6E6E6"/>
            </a:solidFill>
            <a:prstDash val="solid"/>
          </a:ln>
        </p:spPr>
      </p:sp>
      <p:sp>
        <p:nvSpPr>
          <p:cNvPr id="22" name="Text 20"/>
          <p:cNvSpPr txBox="1"/>
          <p:nvPr/>
        </p:nvSpPr>
        <p:spPr>
          <a:xfrm>
            <a:off x="2194560" y="3008376"/>
            <a:ext cx="9509760" cy="310896"/>
          </a:xfrm>
          <a:prstGeom prst="rect">
            <a:avLst/>
          </a:prstGeom>
          <a:noFill/>
          <a:ln/>
        </p:spPr>
        <p:txBody>
          <a:bodyPr wrap="square" lIns="0" tIns="0" rIns="0" bIns="0" rtlCol="0" anchor="t"/>
          <a:lstStyle/>
          <a:p>
            <a:pPr indent="0" marL="0">
              <a:buNone/>
            </a:pPr>
            <a:r>
              <a:rPr lang="en-US" sz="1050" dirty="0">
                <a:solidFill>
                  <a:srgbClr val="8A8A8A"/>
                </a:solidFill>
                <a:latin typeface="Yu Gothic" pitchFamily="34" charset="0"/>
                <a:ea typeface="Yu Gothic" pitchFamily="34" charset="-122"/>
                <a:cs typeface="Yu Gothic" pitchFamily="34" charset="-120"/>
              </a:rPr>
              <a:t>Safety（安全）・Morale（士気）・Environment（環境）</a:t>
            </a:r>
            <a:endParaRPr lang="en-US" sz="1050" dirty="0"/>
          </a:p>
        </p:txBody>
      </p:sp>
      <p:sp>
        <p:nvSpPr>
          <p:cNvPr id="23" name="Shape 21"/>
          <p:cNvSpPr/>
          <p:nvPr/>
        </p:nvSpPr>
        <p:spPr>
          <a:xfrm>
            <a:off x="502920" y="3410712"/>
            <a:ext cx="11201400" cy="0"/>
          </a:xfrm>
          <a:prstGeom prst="line">
            <a:avLst/>
          </a:prstGeom>
          <a:noFill/>
          <a:ln w="12700">
            <a:solidFill>
              <a:srgbClr val="E6E6E6"/>
            </a:solidFill>
            <a:prstDash val="solid"/>
          </a:ln>
        </p:spPr>
      </p:sp>
      <p:sp>
        <p:nvSpPr>
          <p:cNvPr id="24" name="Text 22"/>
          <p:cNvSpPr txBox="1"/>
          <p:nvPr/>
        </p:nvSpPr>
        <p:spPr>
          <a:xfrm>
            <a:off x="502920" y="348386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SはSales（販売）ではなくSafety（安全）、EはEfficiency（効率）ではなくEnvironment（環境）。並び順より互いにトレードオフになりうる理解が問われる。</a:t>
            </a:r>
            <a:endParaRPr lang="en-US" sz="950" dirty="0"/>
          </a:p>
        </p:txBody>
      </p:sp>
      <p:sp>
        <p:nvSpPr>
          <p:cNvPr id="25" name="Shape 23"/>
          <p:cNvSpPr/>
          <p:nvPr/>
        </p:nvSpPr>
        <p:spPr>
          <a:xfrm>
            <a:off x="502920" y="5989320"/>
            <a:ext cx="11201400" cy="0"/>
          </a:xfrm>
          <a:prstGeom prst="line">
            <a:avLst/>
          </a:prstGeom>
          <a:noFill/>
          <a:ln w="9525">
            <a:solidFill>
              <a:srgbClr val="171717"/>
            </a:solidFill>
            <a:prstDash val="solid"/>
          </a:ln>
        </p:spPr>
      </p:sp>
      <p:sp>
        <p:nvSpPr>
          <p:cNvPr id="26" name="Shape 24"/>
          <p:cNvSpPr/>
          <p:nvPr/>
        </p:nvSpPr>
        <p:spPr>
          <a:xfrm>
            <a:off x="502920" y="6062472"/>
            <a:ext cx="329184" cy="329184"/>
          </a:xfrm>
          <a:prstGeom prst="ellipse">
            <a:avLst/>
          </a:prstGeom>
          <a:solidFill>
            <a:srgbClr val="FF3B1F"/>
          </a:solidFill>
          <a:ln/>
        </p:spPr>
      </p:sp>
      <p:sp>
        <p:nvSpPr>
          <p:cNvPr id="27" name="Text 25"/>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8" name="Text 26"/>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9" name="Shape 27"/>
          <p:cNvSpPr/>
          <p:nvPr/>
        </p:nvSpPr>
        <p:spPr>
          <a:xfrm>
            <a:off x="2331720" y="6062472"/>
            <a:ext cx="0" cy="329184"/>
          </a:xfrm>
          <a:prstGeom prst="line">
            <a:avLst/>
          </a:prstGeom>
          <a:noFill/>
          <a:ln w="12700">
            <a:solidFill>
              <a:srgbClr val="E6E6E6"/>
            </a:solidFill>
            <a:prstDash val="solid"/>
          </a:ln>
        </p:spPr>
      </p:sp>
      <p:sp>
        <p:nvSpPr>
          <p:cNvPr id="30" name="Text 28"/>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関連：D-10 生産統制（PQCDSMEを実際に管理する活動）。</a:t>
            </a:r>
            <a:endParaRPr lang="en-US" sz="1000" dirty="0"/>
          </a:p>
        </p:txBody>
      </p:sp>
      <p:sp>
        <p:nvSpPr>
          <p:cNvPr id="31" name="Text 29"/>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2" name="Shape 30"/>
          <p:cNvSpPr/>
          <p:nvPr/>
        </p:nvSpPr>
        <p:spPr>
          <a:xfrm>
            <a:off x="2466594"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34" name="Shape 32"/>
          <p:cNvSpPr/>
          <p:nvPr/>
        </p:nvSpPr>
        <p:spPr>
          <a:xfrm>
            <a:off x="3431286"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6" name="Shape 34"/>
          <p:cNvSpPr/>
          <p:nvPr/>
        </p:nvSpPr>
        <p:spPr>
          <a:xfrm>
            <a:off x="4395978"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8" name="Shape 36"/>
          <p:cNvSpPr/>
          <p:nvPr/>
        </p:nvSpPr>
        <p:spPr>
          <a:xfrm>
            <a:off x="5360670"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0" name="Shape 38"/>
          <p:cNvSpPr/>
          <p:nvPr/>
        </p:nvSpPr>
        <p:spPr>
          <a:xfrm>
            <a:off x="6325362"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2" name="Shape 40"/>
          <p:cNvSpPr/>
          <p:nvPr/>
        </p:nvSpPr>
        <p:spPr>
          <a:xfrm>
            <a:off x="7290054"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4" name="Shape 42"/>
          <p:cNvSpPr/>
          <p:nvPr/>
        </p:nvSpPr>
        <p:spPr>
          <a:xfrm>
            <a:off x="8254746"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6" name="Shape 44"/>
          <p:cNvSpPr/>
          <p:nvPr/>
        </p:nvSpPr>
        <p:spPr>
          <a:xfrm>
            <a:off x="9219438" y="6464808"/>
            <a:ext cx="146304" cy="146304"/>
          </a:xfrm>
          <a:prstGeom prst="ellipse">
            <a:avLst/>
          </a:prstGeom>
          <a:solidFill>
            <a:srgbClr val="FF3B1F"/>
          </a:solidFill>
          <a:ln w="12700">
            <a:solidFill>
              <a:srgbClr val="FF3B1F"/>
            </a:solidFill>
            <a:prstDash val="solid"/>
          </a:ln>
        </p:spPr>
      </p:sp>
      <p:sp>
        <p:nvSpPr>
          <p:cNvPr id="47" name="Text 45"/>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8" name="Shape 46"/>
          <p:cNvSpPr/>
          <p:nvPr/>
        </p:nvSpPr>
        <p:spPr>
          <a:xfrm>
            <a:off x="10184130" y="6464808"/>
            <a:ext cx="146304" cy="146304"/>
          </a:xfrm>
          <a:prstGeom prst="ellipse">
            <a:avLst/>
          </a:prstGeom>
          <a:solidFill>
            <a:srgbClr val="FFFFFF"/>
          </a:solidFill>
          <a:ln w="12700">
            <a:solidFill>
              <a:srgbClr val="E6E6E6"/>
            </a:solidFill>
            <a:prstDash val="solid"/>
          </a:ln>
        </p:spPr>
      </p:sp>
      <p:sp>
        <p:nvSpPr>
          <p:cNvPr id="49" name="Text 47"/>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50" name="Shape 48"/>
          <p:cNvSpPr/>
          <p:nvPr/>
        </p:nvSpPr>
        <p:spPr>
          <a:xfrm>
            <a:off x="11148822" y="6464808"/>
            <a:ext cx="146304" cy="146304"/>
          </a:xfrm>
          <a:prstGeom prst="ellipse">
            <a:avLst/>
          </a:prstGeom>
          <a:solidFill>
            <a:srgbClr val="FF3B1F"/>
          </a:solidFill>
          <a:ln w="12700">
            <a:solidFill>
              <a:srgbClr val="FF3B1F"/>
            </a:solidFill>
            <a:prstDash val="solid"/>
          </a:ln>
        </p:spPr>
      </p:sp>
      <p:sp>
        <p:nvSpPr>
          <p:cNvPr id="51" name="Text 49"/>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D-2 ／ 生産システム（JIT、かんばん方式、ERP、SCM）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かんばんはJITを実現する道具</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必要な物を必要な時に必要な量だけ作るJIT。後工程引取りの仕組みがかんばん。</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JIT</a:t>
            </a:r>
            <a:endParaRPr lang="en-US" sz="1100" dirty="0"/>
          </a:p>
        </p:txBody>
      </p:sp>
      <p:sp>
        <p:nvSpPr>
          <p:cNvPr id="9" name="Shape 7"/>
          <p:cNvSpPr/>
          <p:nvPr/>
        </p:nvSpPr>
        <p:spPr>
          <a:xfrm>
            <a:off x="2130552" y="1691640"/>
            <a:ext cx="0" cy="256032"/>
          </a:xfrm>
          <a:prstGeom prst="line">
            <a:avLst/>
          </a:prstGeom>
          <a:noFill/>
          <a:ln w="12700">
            <a:solidFill>
              <a:srgbClr val="E6E6E6"/>
            </a:solidFill>
            <a:prstDash val="solid"/>
          </a:ln>
        </p:spPr>
      </p:sp>
      <p:sp>
        <p:nvSpPr>
          <p:cNvPr id="10" name="Text 8"/>
          <p:cNvSpPr txBox="1"/>
          <p:nvPr/>
        </p:nvSpPr>
        <p:spPr>
          <a:xfrm>
            <a:off x="2286000" y="1691640"/>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必要な物を必要な時に必要な量だけ作る・運ぶ（トヨタ生産方式）</a:t>
            </a:r>
            <a:endParaRPr lang="en-US" sz="1100" dirty="0"/>
          </a:p>
        </p:txBody>
      </p:sp>
      <p:sp>
        <p:nvSpPr>
          <p:cNvPr id="11" name="Text 9"/>
          <p:cNvSpPr txBox="1"/>
          <p:nvPr/>
        </p:nvSpPr>
        <p:spPr>
          <a:xfrm>
            <a:off x="502920" y="2075688"/>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かんばん方式</a:t>
            </a:r>
            <a:endParaRPr lang="en-US" sz="1100" dirty="0"/>
          </a:p>
        </p:txBody>
      </p:sp>
      <p:sp>
        <p:nvSpPr>
          <p:cNvPr id="12" name="Shape 10"/>
          <p:cNvSpPr/>
          <p:nvPr/>
        </p:nvSpPr>
        <p:spPr>
          <a:xfrm>
            <a:off x="2130552" y="2075688"/>
            <a:ext cx="0" cy="256032"/>
          </a:xfrm>
          <a:prstGeom prst="line">
            <a:avLst/>
          </a:prstGeom>
          <a:noFill/>
          <a:ln w="12700">
            <a:solidFill>
              <a:srgbClr val="E6E6E6"/>
            </a:solidFill>
            <a:prstDash val="solid"/>
          </a:ln>
        </p:spPr>
      </p:sp>
      <p:sp>
        <p:nvSpPr>
          <p:cNvPr id="13" name="Text 11"/>
          <p:cNvSpPr txBox="1"/>
          <p:nvPr/>
        </p:nvSpPr>
        <p:spPr>
          <a:xfrm>
            <a:off x="2286000" y="2075688"/>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後工程が使った分だけ前工程に指示する情報伝達の道具（プル型）</a:t>
            </a:r>
            <a:endParaRPr lang="en-US" sz="1100" dirty="0"/>
          </a:p>
        </p:txBody>
      </p:sp>
      <p:sp>
        <p:nvSpPr>
          <p:cNvPr id="14" name="Text 12"/>
          <p:cNvSpPr txBox="1"/>
          <p:nvPr/>
        </p:nvSpPr>
        <p:spPr>
          <a:xfrm>
            <a:off x="502920" y="2459736"/>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ERP</a:t>
            </a:r>
            <a:endParaRPr lang="en-US" sz="1100" dirty="0"/>
          </a:p>
        </p:txBody>
      </p:sp>
      <p:sp>
        <p:nvSpPr>
          <p:cNvPr id="15" name="Shape 13"/>
          <p:cNvSpPr/>
          <p:nvPr/>
        </p:nvSpPr>
        <p:spPr>
          <a:xfrm>
            <a:off x="2130552" y="2459736"/>
            <a:ext cx="0" cy="256032"/>
          </a:xfrm>
          <a:prstGeom prst="line">
            <a:avLst/>
          </a:prstGeom>
          <a:noFill/>
          <a:ln w="12700">
            <a:solidFill>
              <a:srgbClr val="E6E6E6"/>
            </a:solidFill>
            <a:prstDash val="solid"/>
          </a:ln>
        </p:spPr>
      </p:sp>
      <p:sp>
        <p:nvSpPr>
          <p:cNvPr id="16" name="Text 14"/>
          <p:cNvSpPr txBox="1"/>
          <p:nvPr/>
        </p:nvSpPr>
        <p:spPr>
          <a:xfrm>
            <a:off x="2286000" y="2459736"/>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会計・人事・生産・販売を1システムで統合管理</a:t>
            </a:r>
            <a:endParaRPr lang="en-US" sz="1100" dirty="0"/>
          </a:p>
        </p:txBody>
      </p:sp>
      <p:sp>
        <p:nvSpPr>
          <p:cNvPr id="17" name="Text 15"/>
          <p:cNvSpPr txBox="1"/>
          <p:nvPr/>
        </p:nvSpPr>
        <p:spPr>
          <a:xfrm>
            <a:off x="502920" y="2843784"/>
            <a:ext cx="164592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SCM</a:t>
            </a:r>
            <a:endParaRPr lang="en-US" sz="1100" dirty="0"/>
          </a:p>
        </p:txBody>
      </p:sp>
      <p:sp>
        <p:nvSpPr>
          <p:cNvPr id="18" name="Shape 16"/>
          <p:cNvSpPr/>
          <p:nvPr/>
        </p:nvSpPr>
        <p:spPr>
          <a:xfrm>
            <a:off x="2130552" y="2843784"/>
            <a:ext cx="0" cy="256032"/>
          </a:xfrm>
          <a:prstGeom prst="line">
            <a:avLst/>
          </a:prstGeom>
          <a:noFill/>
          <a:ln w="12700">
            <a:solidFill>
              <a:srgbClr val="E6E6E6"/>
            </a:solidFill>
            <a:prstDash val="solid"/>
          </a:ln>
        </p:spPr>
      </p:sp>
      <p:sp>
        <p:nvSpPr>
          <p:cNvPr id="19" name="Text 17"/>
          <p:cNvSpPr txBox="1"/>
          <p:nvPr/>
        </p:nvSpPr>
        <p:spPr>
          <a:xfrm>
            <a:off x="2286000" y="2843784"/>
            <a:ext cx="941832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複数の会社をまたぐ調達〜販売の供給連鎖全体を最適化</a:t>
            </a:r>
            <a:endParaRPr lang="en-US" sz="1100" dirty="0"/>
          </a:p>
        </p:txBody>
      </p:sp>
      <p:sp>
        <p:nvSpPr>
          <p:cNvPr id="20" name="Shape 18"/>
          <p:cNvSpPr/>
          <p:nvPr/>
        </p:nvSpPr>
        <p:spPr>
          <a:xfrm>
            <a:off x="502920" y="3319272"/>
            <a:ext cx="11201400" cy="0"/>
          </a:xfrm>
          <a:prstGeom prst="line">
            <a:avLst/>
          </a:prstGeom>
          <a:noFill/>
          <a:ln w="12700">
            <a:solidFill>
              <a:srgbClr val="E6E6E6"/>
            </a:solidFill>
            <a:prstDash val="solid"/>
          </a:ln>
        </p:spPr>
      </p:sp>
      <p:sp>
        <p:nvSpPr>
          <p:cNvPr id="21" name="Text 19"/>
          <p:cNvSpPr txBox="1"/>
          <p:nvPr/>
        </p:nvSpPr>
        <p:spPr>
          <a:xfrm>
            <a:off x="502920" y="3392424"/>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かんばん方式はJITを実現する道具であり、JITそのものではない。JIT（プル型）とMRP（D-8、プッシュ型）は対照的な考え方で混同しない。</a:t>
            </a:r>
            <a:endParaRPr lang="en-US" sz="950" dirty="0"/>
          </a:p>
        </p:txBody>
      </p:sp>
      <p:sp>
        <p:nvSpPr>
          <p:cNvPr id="22" name="Shape 20"/>
          <p:cNvSpPr/>
          <p:nvPr/>
        </p:nvSpPr>
        <p:spPr>
          <a:xfrm>
            <a:off x="502920" y="5989320"/>
            <a:ext cx="11201400" cy="0"/>
          </a:xfrm>
          <a:prstGeom prst="line">
            <a:avLst/>
          </a:prstGeom>
          <a:noFill/>
          <a:ln w="9525">
            <a:solidFill>
              <a:srgbClr val="171717"/>
            </a:solidFill>
            <a:prstDash val="solid"/>
          </a:ln>
        </p:spPr>
      </p:sp>
      <p:sp>
        <p:nvSpPr>
          <p:cNvPr id="23" name="Shape 21"/>
          <p:cNvSpPr/>
          <p:nvPr/>
        </p:nvSpPr>
        <p:spPr>
          <a:xfrm>
            <a:off x="502920" y="6062472"/>
            <a:ext cx="329184" cy="329184"/>
          </a:xfrm>
          <a:prstGeom prst="ellipse">
            <a:avLst/>
          </a:prstGeom>
          <a:solidFill>
            <a:srgbClr val="FF3B1F"/>
          </a:solidFill>
          <a:ln/>
        </p:spPr>
      </p:sp>
      <p:sp>
        <p:nvSpPr>
          <p:cNvPr id="24" name="Text 22"/>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5" name="Text 23"/>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6" name="Shape 24"/>
          <p:cNvSpPr/>
          <p:nvPr/>
        </p:nvSpPr>
        <p:spPr>
          <a:xfrm>
            <a:off x="2331720" y="6062472"/>
            <a:ext cx="0" cy="329184"/>
          </a:xfrm>
          <a:prstGeom prst="line">
            <a:avLst/>
          </a:prstGeom>
          <a:noFill/>
          <a:ln w="12700">
            <a:solidFill>
              <a:srgbClr val="E6E6E6"/>
            </a:solidFill>
            <a:prstDash val="solid"/>
          </a:ln>
        </p:spPr>
      </p:sp>
      <p:sp>
        <p:nvSpPr>
          <p:cNvPr id="27" name="Text 25"/>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関連：D-8 需給計画（MRP、プッシュ型との対比）。</a:t>
            </a:r>
            <a:endParaRPr lang="en-US" sz="1000" dirty="0"/>
          </a:p>
        </p:txBody>
      </p:sp>
      <p:sp>
        <p:nvSpPr>
          <p:cNvPr id="28" name="Text 26"/>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9" name="Shape 27"/>
          <p:cNvSpPr/>
          <p:nvPr/>
        </p:nvSpPr>
        <p:spPr>
          <a:xfrm>
            <a:off x="2466594"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1" name="Shape 29"/>
          <p:cNvSpPr/>
          <p:nvPr/>
        </p:nvSpPr>
        <p:spPr>
          <a:xfrm>
            <a:off x="3431286"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33" name="Shape 31"/>
          <p:cNvSpPr/>
          <p:nvPr/>
        </p:nvSpPr>
        <p:spPr>
          <a:xfrm>
            <a:off x="4395978"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5" name="Shape 33"/>
          <p:cNvSpPr/>
          <p:nvPr/>
        </p:nvSpPr>
        <p:spPr>
          <a:xfrm>
            <a:off x="5360670" y="6464808"/>
            <a:ext cx="146304" cy="146304"/>
          </a:xfrm>
          <a:prstGeom prst="ellipse">
            <a:avLst/>
          </a:prstGeom>
          <a:solidFill>
            <a:srgbClr val="FFFFFF"/>
          </a:solidFill>
          <a:ln w="12700">
            <a:solidFill>
              <a:srgbClr val="E6E6E6"/>
            </a:solidFill>
            <a:prstDash val="solid"/>
          </a:ln>
        </p:spPr>
      </p:sp>
      <p:sp>
        <p:nvSpPr>
          <p:cNvPr id="36" name="Text 34"/>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7" name="Shape 35"/>
          <p:cNvSpPr/>
          <p:nvPr/>
        </p:nvSpPr>
        <p:spPr>
          <a:xfrm>
            <a:off x="6325362"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9" name="Shape 37"/>
          <p:cNvSpPr/>
          <p:nvPr/>
        </p:nvSpPr>
        <p:spPr>
          <a:xfrm>
            <a:off x="7290054"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1" name="Shape 39"/>
          <p:cNvSpPr/>
          <p:nvPr/>
        </p:nvSpPr>
        <p:spPr>
          <a:xfrm>
            <a:off x="8254746"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3" name="Shape 41"/>
          <p:cNvSpPr/>
          <p:nvPr/>
        </p:nvSpPr>
        <p:spPr>
          <a:xfrm>
            <a:off x="9219438" y="6464808"/>
            <a:ext cx="146304" cy="146304"/>
          </a:xfrm>
          <a:prstGeom prst="ellipse">
            <a:avLst/>
          </a:prstGeom>
          <a:solidFill>
            <a:srgbClr val="FFFFFF"/>
          </a:solidFill>
          <a:ln w="12700">
            <a:solidFill>
              <a:srgbClr val="E6E6E6"/>
            </a:solidFill>
            <a:prstDash val="solid"/>
          </a:ln>
        </p:spPr>
      </p:sp>
      <p:sp>
        <p:nvSpPr>
          <p:cNvPr id="44" name="Text 42"/>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5" name="Shape 43"/>
          <p:cNvSpPr/>
          <p:nvPr/>
        </p:nvSpPr>
        <p:spPr>
          <a:xfrm>
            <a:off x="10184130"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7" name="Shape 45"/>
          <p:cNvSpPr/>
          <p:nvPr/>
        </p:nvSpPr>
        <p:spPr>
          <a:xfrm>
            <a:off x="11148822"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D-3 ／ 環境配慮型生産（3R、LCA）</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優先順位はリデュース＞リユース＞リサイクル</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3Rの優先順位と、製品の一生涯を評価するLCA。</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①リデュース</a:t>
            </a:r>
            <a:endParaRPr lang="en-US" sz="1500" dirty="0"/>
          </a:p>
        </p:txBody>
      </p:sp>
      <p:sp>
        <p:nvSpPr>
          <p:cNvPr id="9" name="Text 7"/>
          <p:cNvSpPr txBox="1"/>
          <p:nvPr/>
        </p:nvSpPr>
        <p:spPr>
          <a:xfrm>
            <a:off x="2331720" y="185623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そもそも廃棄物・使用資源の発生量を減らす（最優先）</a:t>
            </a:r>
            <a:endParaRPr lang="en-US" sz="1100" dirty="0"/>
          </a:p>
        </p:txBody>
      </p:sp>
      <p:sp>
        <p:nvSpPr>
          <p:cNvPr id="10" name="Shape 8"/>
          <p:cNvSpPr/>
          <p:nvPr/>
        </p:nvSpPr>
        <p:spPr>
          <a:xfrm>
            <a:off x="502920" y="2606040"/>
            <a:ext cx="11201400" cy="0"/>
          </a:xfrm>
          <a:prstGeom prst="line">
            <a:avLst/>
          </a:prstGeom>
          <a:noFill/>
          <a:ln w="12700">
            <a:solidFill>
              <a:srgbClr val="E6E6E6"/>
            </a:solidFill>
            <a:prstDash val="solid"/>
          </a:ln>
        </p:spPr>
      </p:sp>
      <p:sp>
        <p:nvSpPr>
          <p:cNvPr id="11" name="Text 9"/>
          <p:cNvSpPr txBox="1"/>
          <p:nvPr/>
        </p:nvSpPr>
        <p:spPr>
          <a:xfrm>
            <a:off x="502920" y="271576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②リユース</a:t>
            </a:r>
            <a:endParaRPr lang="en-US" sz="1500" dirty="0"/>
          </a:p>
        </p:txBody>
      </p:sp>
      <p:sp>
        <p:nvSpPr>
          <p:cNvPr id="12" name="Text 10"/>
          <p:cNvSpPr txBox="1"/>
          <p:nvPr/>
        </p:nvSpPr>
        <p:spPr>
          <a:xfrm>
            <a:off x="2331720" y="267919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使えるものはそのまま繰り返し使う</a:t>
            </a:r>
            <a:endParaRPr lang="en-US" sz="1100" dirty="0"/>
          </a:p>
        </p:txBody>
      </p:sp>
      <p:sp>
        <p:nvSpPr>
          <p:cNvPr id="13" name="Shape 11"/>
          <p:cNvSpPr/>
          <p:nvPr/>
        </p:nvSpPr>
        <p:spPr>
          <a:xfrm>
            <a:off x="502920" y="3429000"/>
            <a:ext cx="11201400" cy="0"/>
          </a:xfrm>
          <a:prstGeom prst="line">
            <a:avLst/>
          </a:prstGeom>
          <a:noFill/>
          <a:ln w="12700">
            <a:solidFill>
              <a:srgbClr val="E6E6E6"/>
            </a:solidFill>
            <a:prstDash val="solid"/>
          </a:ln>
        </p:spPr>
      </p:sp>
      <p:sp>
        <p:nvSpPr>
          <p:cNvPr id="14" name="Text 12"/>
          <p:cNvSpPr txBox="1"/>
          <p:nvPr/>
        </p:nvSpPr>
        <p:spPr>
          <a:xfrm>
            <a:off x="502920" y="353872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③リサイクル</a:t>
            </a:r>
            <a:endParaRPr lang="en-US" sz="1500" dirty="0"/>
          </a:p>
        </p:txBody>
      </p:sp>
      <p:sp>
        <p:nvSpPr>
          <p:cNvPr id="15" name="Text 13"/>
          <p:cNvSpPr txBox="1"/>
          <p:nvPr/>
        </p:nvSpPr>
        <p:spPr>
          <a:xfrm>
            <a:off x="2331720" y="350215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使い終わったものを資源として再生利用する（優先順位は最後）</a:t>
            </a:r>
            <a:endParaRPr lang="en-US" sz="1100" dirty="0"/>
          </a:p>
        </p:txBody>
      </p:sp>
      <p:sp>
        <p:nvSpPr>
          <p:cNvPr id="16" name="Shape 14"/>
          <p:cNvSpPr/>
          <p:nvPr/>
        </p:nvSpPr>
        <p:spPr>
          <a:xfrm>
            <a:off x="502920" y="4251960"/>
            <a:ext cx="11201400" cy="0"/>
          </a:xfrm>
          <a:prstGeom prst="line">
            <a:avLst/>
          </a:prstGeom>
          <a:noFill/>
          <a:ln w="12700">
            <a:solidFill>
              <a:srgbClr val="E6E6E6"/>
            </a:solidFill>
            <a:prstDash val="solid"/>
          </a:ln>
        </p:spPr>
      </p:sp>
      <p:sp>
        <p:nvSpPr>
          <p:cNvPr id="17" name="Text 15"/>
          <p:cNvSpPr txBox="1"/>
          <p:nvPr/>
        </p:nvSpPr>
        <p:spPr>
          <a:xfrm>
            <a:off x="502920" y="4361688"/>
            <a:ext cx="173736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LCA</a:t>
            </a:r>
            <a:endParaRPr lang="en-US" sz="1500" dirty="0"/>
          </a:p>
        </p:txBody>
      </p:sp>
      <p:sp>
        <p:nvSpPr>
          <p:cNvPr id="18" name="Text 16"/>
          <p:cNvSpPr txBox="1"/>
          <p:nvPr/>
        </p:nvSpPr>
        <p:spPr>
          <a:xfrm>
            <a:off x="2331720" y="4325112"/>
            <a:ext cx="9372600" cy="66751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原材料採取→製造→輸送→使用→廃棄まで一生涯の環境負荷を定量評価</a:t>
            </a:r>
            <a:endParaRPr lang="en-US" sz="1100" dirty="0"/>
          </a:p>
        </p:txBody>
      </p:sp>
      <p:sp>
        <p:nvSpPr>
          <p:cNvPr id="19" name="Shape 17"/>
          <p:cNvSpPr/>
          <p:nvPr/>
        </p:nvSpPr>
        <p:spPr>
          <a:xfrm>
            <a:off x="502920" y="5989320"/>
            <a:ext cx="11201400" cy="0"/>
          </a:xfrm>
          <a:prstGeom prst="line">
            <a:avLst/>
          </a:prstGeom>
          <a:noFill/>
          <a:ln w="9525">
            <a:solidFill>
              <a:srgbClr val="171717"/>
            </a:solidFill>
            <a:prstDash val="solid"/>
          </a:ln>
        </p:spPr>
      </p:sp>
      <p:sp>
        <p:nvSpPr>
          <p:cNvPr id="20" name="Shape 18"/>
          <p:cNvSpPr/>
          <p:nvPr/>
        </p:nvSpPr>
        <p:spPr>
          <a:xfrm>
            <a:off x="502920" y="6062472"/>
            <a:ext cx="329184" cy="329184"/>
          </a:xfrm>
          <a:prstGeom prst="ellipse">
            <a:avLst/>
          </a:prstGeom>
          <a:solidFill>
            <a:srgbClr val="FF3B1F"/>
          </a:solidFill>
          <a:ln/>
        </p:spPr>
      </p:sp>
      <p:sp>
        <p:nvSpPr>
          <p:cNvPr id="21" name="Text 19"/>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2" name="Text 20"/>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3" name="Shape 21"/>
          <p:cNvSpPr/>
          <p:nvPr/>
        </p:nvSpPr>
        <p:spPr>
          <a:xfrm>
            <a:off x="2331720" y="6062472"/>
            <a:ext cx="0" cy="329184"/>
          </a:xfrm>
          <a:prstGeom prst="line">
            <a:avLst/>
          </a:prstGeom>
          <a:noFill/>
          <a:ln w="12700">
            <a:solidFill>
              <a:srgbClr val="E6E6E6"/>
            </a:solidFill>
            <a:prstDash val="solid"/>
          </a:ln>
        </p:spPr>
      </p:sp>
      <p:sp>
        <p:nvSpPr>
          <p:cNvPr id="24" name="Text 22"/>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ひっかけ：LCAは製造工程だけでなく調達〜廃棄までの全体を対象とする。</a:t>
            </a:r>
            <a:endParaRPr lang="en-US" sz="1000" dirty="0"/>
          </a:p>
        </p:txBody>
      </p:sp>
      <p:sp>
        <p:nvSpPr>
          <p:cNvPr id="25" name="Text 23"/>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6" name="Shape 24"/>
          <p:cNvSpPr/>
          <p:nvPr/>
        </p:nvSpPr>
        <p:spPr>
          <a:xfrm>
            <a:off x="2466594"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8" name="Shape 26"/>
          <p:cNvSpPr/>
          <p:nvPr/>
        </p:nvSpPr>
        <p:spPr>
          <a:xfrm>
            <a:off x="3431286"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0" name="Shape 28"/>
          <p:cNvSpPr/>
          <p:nvPr/>
        </p:nvSpPr>
        <p:spPr>
          <a:xfrm>
            <a:off x="4395978"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2" name="Shape 30"/>
          <p:cNvSpPr/>
          <p:nvPr/>
        </p:nvSpPr>
        <p:spPr>
          <a:xfrm>
            <a:off x="5360670"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4" name="Shape 32"/>
          <p:cNvSpPr/>
          <p:nvPr/>
        </p:nvSpPr>
        <p:spPr>
          <a:xfrm>
            <a:off x="6325362"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6" name="Shape 34"/>
          <p:cNvSpPr/>
          <p:nvPr/>
        </p:nvSpPr>
        <p:spPr>
          <a:xfrm>
            <a:off x="7290054"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8" name="Shape 36"/>
          <p:cNvSpPr/>
          <p:nvPr/>
        </p:nvSpPr>
        <p:spPr>
          <a:xfrm>
            <a:off x="8254746"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0" name="Shape 38"/>
          <p:cNvSpPr/>
          <p:nvPr/>
        </p:nvSpPr>
        <p:spPr>
          <a:xfrm>
            <a:off x="9219438"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2" name="Shape 40"/>
          <p:cNvSpPr/>
          <p:nvPr/>
        </p:nvSpPr>
        <p:spPr>
          <a:xfrm>
            <a:off x="10184130"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4" name="Shape 42"/>
          <p:cNvSpPr/>
          <p:nvPr/>
        </p:nvSpPr>
        <p:spPr>
          <a:xfrm>
            <a:off x="11148822" y="6464808"/>
            <a:ext cx="146304" cy="146304"/>
          </a:xfrm>
          <a:prstGeom prst="ellipse">
            <a:avLst/>
          </a:prstGeom>
          <a:solidFill>
            <a:srgbClr val="FF3B1F"/>
          </a:solidFill>
          <a:ln w="12700">
            <a:solidFill>
              <a:srgbClr val="FF3B1F"/>
            </a:solidFill>
            <a:prstDash val="solid"/>
          </a:ln>
        </p:spPr>
      </p:sp>
      <p:sp>
        <p:nvSpPr>
          <p:cNvPr id="45" name="Text 43"/>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D-4 ／ 生産計画：製品開発・製品設計</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価値＝機能÷コスト</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VA/VEは機能を維持・向上しながら価値を高める活動。コスト削減だけが目的ではない。</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VA/VE</a:t>
            </a:r>
            <a:endParaRPr lang="en-US" sz="1100" dirty="0"/>
          </a:p>
        </p:txBody>
      </p:sp>
      <p:sp>
        <p:nvSpPr>
          <p:cNvPr id="9" name="Shape 7"/>
          <p:cNvSpPr/>
          <p:nvPr/>
        </p:nvSpPr>
        <p:spPr>
          <a:xfrm>
            <a:off x="3136392" y="1691640"/>
            <a:ext cx="0" cy="256032"/>
          </a:xfrm>
          <a:prstGeom prst="line">
            <a:avLst/>
          </a:prstGeom>
          <a:noFill/>
          <a:ln w="12700">
            <a:solidFill>
              <a:srgbClr val="E6E6E6"/>
            </a:solidFill>
            <a:prstDash val="solid"/>
          </a:ln>
        </p:spPr>
      </p:sp>
      <p:sp>
        <p:nvSpPr>
          <p:cNvPr id="10" name="Text 8"/>
          <p:cNvSpPr txBox="1"/>
          <p:nvPr/>
        </p:nvSpPr>
        <p:spPr>
          <a:xfrm>
            <a:off x="3291840" y="1691640"/>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価値（V）＝機能（F）÷コスト（C）を高める体系的活動</a:t>
            </a:r>
            <a:endParaRPr lang="en-US" sz="1100" dirty="0"/>
          </a:p>
        </p:txBody>
      </p:sp>
      <p:sp>
        <p:nvSpPr>
          <p:cNvPr id="11" name="Text 9"/>
          <p:cNvSpPr txBox="1"/>
          <p:nvPr/>
        </p:nvSpPr>
        <p:spPr>
          <a:xfrm>
            <a:off x="502920" y="2075688"/>
            <a:ext cx="265176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コンカレントエンジニアリング</a:t>
            </a:r>
            <a:endParaRPr lang="en-US" sz="1100" dirty="0"/>
          </a:p>
        </p:txBody>
      </p:sp>
      <p:sp>
        <p:nvSpPr>
          <p:cNvPr id="12" name="Shape 10"/>
          <p:cNvSpPr/>
          <p:nvPr/>
        </p:nvSpPr>
        <p:spPr>
          <a:xfrm>
            <a:off x="3136392" y="2075688"/>
            <a:ext cx="0" cy="256032"/>
          </a:xfrm>
          <a:prstGeom prst="line">
            <a:avLst/>
          </a:prstGeom>
          <a:noFill/>
          <a:ln w="12700">
            <a:solidFill>
              <a:srgbClr val="E6E6E6"/>
            </a:solidFill>
            <a:prstDash val="solid"/>
          </a:ln>
        </p:spPr>
      </p:sp>
      <p:sp>
        <p:nvSpPr>
          <p:cNvPr id="13" name="Text 11"/>
          <p:cNvSpPr txBox="1"/>
          <p:nvPr/>
        </p:nvSpPr>
        <p:spPr>
          <a:xfrm>
            <a:off x="3291840" y="2075688"/>
            <a:ext cx="841248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設計・生産技術・調達・販売が同時並行で検討し開発期間を短縮</a:t>
            </a:r>
            <a:endParaRPr lang="en-US" sz="1100" dirty="0"/>
          </a:p>
        </p:txBody>
      </p:sp>
      <p:sp>
        <p:nvSpPr>
          <p:cNvPr id="14" name="Text 12"/>
          <p:cNvSpPr txBox="1"/>
          <p:nvPr/>
        </p:nvSpPr>
        <p:spPr>
          <a:xfrm>
            <a:off x="502920" y="2551176"/>
            <a:ext cx="11201400" cy="71323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家電メーカーが企画段階から設計者・生産技術者・調達担当者が一緒に検討し、「金型が高額」「量産時に調達しにくい」等の懸念を早期に反映するのがコンカレントエンジニアリング。</a:t>
            </a:r>
            <a:endParaRPr lang="en-US" sz="850" dirty="0"/>
          </a:p>
        </p:txBody>
      </p:sp>
      <p:sp>
        <p:nvSpPr>
          <p:cNvPr id="15" name="Shape 13"/>
          <p:cNvSpPr/>
          <p:nvPr/>
        </p:nvSpPr>
        <p:spPr>
          <a:xfrm>
            <a:off x="502920" y="3337560"/>
            <a:ext cx="11201400" cy="0"/>
          </a:xfrm>
          <a:prstGeom prst="line">
            <a:avLst/>
          </a:prstGeom>
          <a:noFill/>
          <a:ln w="12700">
            <a:solidFill>
              <a:srgbClr val="E6E6E6"/>
            </a:solidFill>
            <a:prstDash val="solid"/>
          </a:ln>
        </p:spPr>
      </p:sp>
      <p:sp>
        <p:nvSpPr>
          <p:cNvPr id="16" name="Text 14"/>
          <p:cNvSpPr txBox="1"/>
          <p:nvPr/>
        </p:nvSpPr>
        <p:spPr>
          <a:xfrm>
            <a:off x="502920" y="341071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「機能を下げてコストを下げれば必ず価値が上がる」は誤り。コンカレントエンジニアリングは「同時並行で情報共有」であり「独立して同時に別設計」ではない。</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関連：D-16 工場計画（SLP、設計後のレイアウト検討にもつながる）。</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3B1F"/>
          </a:solidFill>
          <a:ln w="12700">
            <a:solidFill>
              <a:srgbClr val="FF3B1F"/>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FFFF"/>
          </a:solidFill>
          <a:ln w="12700">
            <a:solidFill>
              <a:srgbClr val="E6E6E6"/>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FFFF"/>
          </a:solidFill>
          <a:ln w="12700">
            <a:solidFill>
              <a:srgbClr val="E6E6E6"/>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FFFF"/>
          </a:solidFill>
          <a:ln w="12700">
            <a:solidFill>
              <a:srgbClr val="E6E6E6"/>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FFFF"/>
          </a:solidFill>
          <a:ln w="12700">
            <a:solidFill>
              <a:srgbClr val="E6E6E6"/>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D-5 ／ 生産計画：生産方式</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3つの分類軸で生産方式を整理する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「いつ作るか」「どれだけまとめて作るか」「どう配置するか」の3軸。</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89280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見込／受注生産</a:t>
            </a:r>
            <a:endParaRPr lang="en-US" sz="1500" dirty="0"/>
          </a:p>
        </p:txBody>
      </p:sp>
      <p:sp>
        <p:nvSpPr>
          <p:cNvPr id="9" name="Text 7"/>
          <p:cNvSpPr txBox="1"/>
          <p:nvPr/>
        </p:nvSpPr>
        <p:spPr>
          <a:xfrm>
            <a:off x="2971800" y="185623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需要予測で先に作る（欠品・過剰在庫リスク）／注文後に作る（リードタイム長い）</a:t>
            </a:r>
            <a:endParaRPr lang="en-US" sz="1100" dirty="0"/>
          </a:p>
        </p:txBody>
      </p:sp>
      <p:sp>
        <p:nvSpPr>
          <p:cNvPr id="10" name="Shape 8"/>
          <p:cNvSpPr/>
          <p:nvPr/>
        </p:nvSpPr>
        <p:spPr>
          <a:xfrm>
            <a:off x="502920" y="2880360"/>
            <a:ext cx="11201400" cy="0"/>
          </a:xfrm>
          <a:prstGeom prst="line">
            <a:avLst/>
          </a:prstGeom>
          <a:noFill/>
          <a:ln w="12700">
            <a:solidFill>
              <a:srgbClr val="E6E6E6"/>
            </a:solidFill>
            <a:prstDash val="solid"/>
          </a:ln>
        </p:spPr>
      </p:sp>
      <p:sp>
        <p:nvSpPr>
          <p:cNvPr id="11" name="Text 9"/>
          <p:cNvSpPr txBox="1"/>
          <p:nvPr/>
        </p:nvSpPr>
        <p:spPr>
          <a:xfrm>
            <a:off x="502920" y="299008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個別／ロット／連続生産</a:t>
            </a:r>
            <a:endParaRPr lang="en-US" sz="1500" dirty="0"/>
          </a:p>
        </p:txBody>
      </p:sp>
      <p:sp>
        <p:nvSpPr>
          <p:cNvPr id="12" name="Text 10"/>
          <p:cNvSpPr txBox="1"/>
          <p:nvPr/>
        </p:nvSpPr>
        <p:spPr>
          <a:xfrm>
            <a:off x="2971800" y="295351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1個ずつ専用計画／まとまった数量で段取替え／同一製品を継続生産</a:t>
            </a:r>
            <a:endParaRPr lang="en-US" sz="1100" dirty="0"/>
          </a:p>
        </p:txBody>
      </p:sp>
      <p:sp>
        <p:nvSpPr>
          <p:cNvPr id="13" name="Shape 11"/>
          <p:cNvSpPr/>
          <p:nvPr/>
        </p:nvSpPr>
        <p:spPr>
          <a:xfrm>
            <a:off x="502920" y="3977640"/>
            <a:ext cx="11201400" cy="0"/>
          </a:xfrm>
          <a:prstGeom prst="line">
            <a:avLst/>
          </a:prstGeom>
          <a:noFill/>
          <a:ln w="12700">
            <a:solidFill>
              <a:srgbClr val="E6E6E6"/>
            </a:solidFill>
            <a:prstDash val="solid"/>
          </a:ln>
        </p:spPr>
      </p:sp>
      <p:sp>
        <p:nvSpPr>
          <p:cNvPr id="14" name="Text 12"/>
          <p:cNvSpPr txBox="1"/>
          <p:nvPr/>
        </p:nvSpPr>
        <p:spPr>
          <a:xfrm>
            <a:off x="502920" y="4087368"/>
            <a:ext cx="2377440" cy="320040"/>
          </a:xfrm>
          <a:prstGeom prst="rect">
            <a:avLst/>
          </a:prstGeom>
          <a:noFill/>
          <a:ln/>
        </p:spPr>
        <p:txBody>
          <a:bodyPr wrap="square" lIns="0" tIns="0" rIns="0" bIns="0" rtlCol="0" anchor="ctr"/>
          <a:lstStyle/>
          <a:p>
            <a:pPr indent="0" marL="0">
              <a:buNone/>
            </a:pPr>
            <a:r>
              <a:rPr lang="en-US" sz="1500" b="1" dirty="0">
                <a:solidFill>
                  <a:srgbClr val="171717"/>
                </a:solidFill>
                <a:latin typeface="Yu Gothic" pitchFamily="34" charset="0"/>
                <a:ea typeface="Yu Gothic" pitchFamily="34" charset="-122"/>
                <a:cs typeface="Yu Gothic" pitchFamily="34" charset="-120"/>
              </a:rPr>
              <a:t>ライン／セル生産</a:t>
            </a:r>
            <a:endParaRPr lang="en-US" sz="1500" dirty="0"/>
          </a:p>
        </p:txBody>
      </p:sp>
      <p:sp>
        <p:nvSpPr>
          <p:cNvPr id="15" name="Text 13"/>
          <p:cNvSpPr txBox="1"/>
          <p:nvPr/>
        </p:nvSpPr>
        <p:spPr>
          <a:xfrm>
            <a:off x="2971800" y="4050792"/>
            <a:ext cx="8732520" cy="941832"/>
          </a:xfrm>
          <a:prstGeom prst="rect">
            <a:avLst/>
          </a:prstGeom>
          <a:noFill/>
          <a:ln/>
        </p:spPr>
        <p:txBody>
          <a:bodyPr wrap="square" lIns="0" tIns="0" rIns="0" bIns="0" rtlCol="0" anchor="ctr"/>
          <a:lstStyle/>
          <a:p>
            <a:pPr indent="0" marL="0">
              <a:lnSpc>
                <a:spcPct val="120000"/>
              </a:lnSpc>
              <a:buNone/>
            </a:pPr>
            <a:r>
              <a:rPr lang="en-US" sz="1100" dirty="0">
                <a:solidFill>
                  <a:srgbClr val="8A8A8A"/>
                </a:solidFill>
                <a:latin typeface="Yu Gothic" pitchFamily="34" charset="0"/>
                <a:ea typeface="Yu Gothic" pitchFamily="34" charset="-122"/>
                <a:cs typeface="Yu Gothic" pitchFamily="34" charset="-120"/>
              </a:rPr>
              <a:t>大量生産向き・柔軟性低い／多能工が一連工程を担当し多品種少量に強い</a:t>
            </a:r>
            <a:endParaRPr lang="en-US" sz="1100" dirty="0"/>
          </a:p>
        </p:txBody>
      </p:sp>
      <p:sp>
        <p:nvSpPr>
          <p:cNvPr id="16" name="Shape 14"/>
          <p:cNvSpPr/>
          <p:nvPr/>
        </p:nvSpPr>
        <p:spPr>
          <a:xfrm>
            <a:off x="502920" y="5989320"/>
            <a:ext cx="11201400" cy="0"/>
          </a:xfrm>
          <a:prstGeom prst="line">
            <a:avLst/>
          </a:prstGeom>
          <a:noFill/>
          <a:ln w="9525">
            <a:solidFill>
              <a:srgbClr val="171717"/>
            </a:solidFill>
            <a:prstDash val="solid"/>
          </a:ln>
        </p:spPr>
      </p:sp>
      <p:sp>
        <p:nvSpPr>
          <p:cNvPr id="17" name="Shape 15"/>
          <p:cNvSpPr/>
          <p:nvPr/>
        </p:nvSpPr>
        <p:spPr>
          <a:xfrm>
            <a:off x="502920" y="6062472"/>
            <a:ext cx="329184" cy="329184"/>
          </a:xfrm>
          <a:prstGeom prst="ellipse">
            <a:avLst/>
          </a:prstGeom>
          <a:solidFill>
            <a:srgbClr val="FF3B1F"/>
          </a:solidFill>
          <a:ln/>
        </p:spPr>
      </p:sp>
      <p:sp>
        <p:nvSpPr>
          <p:cNvPr id="18" name="Text 16"/>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19" name="Text 17"/>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0" name="Shape 18"/>
          <p:cNvSpPr/>
          <p:nvPr/>
        </p:nvSpPr>
        <p:spPr>
          <a:xfrm>
            <a:off x="2331720" y="6062472"/>
            <a:ext cx="0" cy="329184"/>
          </a:xfrm>
          <a:prstGeom prst="line">
            <a:avLst/>
          </a:prstGeom>
          <a:noFill/>
          <a:ln w="12700">
            <a:solidFill>
              <a:srgbClr val="E6E6E6"/>
            </a:solidFill>
            <a:prstDash val="solid"/>
          </a:ln>
        </p:spPr>
      </p:sp>
      <p:sp>
        <p:nvSpPr>
          <p:cNvPr id="21" name="Text 19"/>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ひっかけ：セル生産は多能工化（D-11）が前提。「少人化」と「省人化」は別概念。</a:t>
            </a:r>
            <a:endParaRPr lang="en-US" sz="1000" dirty="0"/>
          </a:p>
        </p:txBody>
      </p:sp>
      <p:sp>
        <p:nvSpPr>
          <p:cNvPr id="22" name="Text 20"/>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3" name="Shape 21"/>
          <p:cNvSpPr/>
          <p:nvPr/>
        </p:nvSpPr>
        <p:spPr>
          <a:xfrm>
            <a:off x="2466594" y="6464808"/>
            <a:ext cx="146304" cy="146304"/>
          </a:xfrm>
          <a:prstGeom prst="ellipse">
            <a:avLst/>
          </a:prstGeom>
          <a:solidFill>
            <a:srgbClr val="FF3B1F"/>
          </a:solidFill>
          <a:ln w="12700">
            <a:solidFill>
              <a:srgbClr val="FF3B1F"/>
            </a:solidFill>
            <a:prstDash val="solid"/>
          </a:ln>
        </p:spPr>
      </p:sp>
      <p:sp>
        <p:nvSpPr>
          <p:cNvPr id="24" name="Text 22"/>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5" name="Shape 23"/>
          <p:cNvSpPr/>
          <p:nvPr/>
        </p:nvSpPr>
        <p:spPr>
          <a:xfrm>
            <a:off x="3431286" y="6464808"/>
            <a:ext cx="146304" cy="146304"/>
          </a:xfrm>
          <a:prstGeom prst="ellipse">
            <a:avLst/>
          </a:prstGeom>
          <a:solidFill>
            <a:srgbClr val="FF3B1F"/>
          </a:solidFill>
          <a:ln w="12700">
            <a:solidFill>
              <a:srgbClr val="FF3B1F"/>
            </a:solidFill>
            <a:prstDash val="solid"/>
          </a:ln>
        </p:spPr>
      </p:sp>
      <p:sp>
        <p:nvSpPr>
          <p:cNvPr id="26" name="Text 24"/>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'17</a:t>
            </a:r>
            <a:endParaRPr lang="en-US" sz="800" dirty="0"/>
          </a:p>
        </p:txBody>
      </p:sp>
      <p:sp>
        <p:nvSpPr>
          <p:cNvPr id="27" name="Shape 25"/>
          <p:cNvSpPr/>
          <p:nvPr/>
        </p:nvSpPr>
        <p:spPr>
          <a:xfrm>
            <a:off x="4395978"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29" name="Shape 27"/>
          <p:cNvSpPr/>
          <p:nvPr/>
        </p:nvSpPr>
        <p:spPr>
          <a:xfrm>
            <a:off x="5360670" y="6464808"/>
            <a:ext cx="146304" cy="146304"/>
          </a:xfrm>
          <a:prstGeom prst="ellipse">
            <a:avLst/>
          </a:prstGeom>
          <a:solidFill>
            <a:srgbClr val="FF3B1F"/>
          </a:solidFill>
          <a:ln w="12700">
            <a:solidFill>
              <a:srgbClr val="FF3B1F"/>
            </a:solidFill>
            <a:prstDash val="solid"/>
          </a:ln>
        </p:spPr>
      </p:sp>
      <p:sp>
        <p:nvSpPr>
          <p:cNvPr id="30" name="Text 28"/>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1" name="Shape 29"/>
          <p:cNvSpPr/>
          <p:nvPr/>
        </p:nvSpPr>
        <p:spPr>
          <a:xfrm>
            <a:off x="6325362" y="6464808"/>
            <a:ext cx="146304" cy="146304"/>
          </a:xfrm>
          <a:prstGeom prst="ellipse">
            <a:avLst/>
          </a:prstGeom>
          <a:solidFill>
            <a:srgbClr val="FFFFFF"/>
          </a:solidFill>
          <a:ln w="12700">
            <a:solidFill>
              <a:srgbClr val="E6E6E6"/>
            </a:solidFill>
            <a:prstDash val="solid"/>
          </a:ln>
        </p:spPr>
      </p:sp>
      <p:sp>
        <p:nvSpPr>
          <p:cNvPr id="32" name="Text 30"/>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'20</a:t>
            </a:r>
            <a:endParaRPr lang="en-US" sz="800" dirty="0"/>
          </a:p>
        </p:txBody>
      </p:sp>
      <p:sp>
        <p:nvSpPr>
          <p:cNvPr id="33" name="Shape 31"/>
          <p:cNvSpPr/>
          <p:nvPr/>
        </p:nvSpPr>
        <p:spPr>
          <a:xfrm>
            <a:off x="7290054" y="6464808"/>
            <a:ext cx="146304" cy="146304"/>
          </a:xfrm>
          <a:prstGeom prst="ellipse">
            <a:avLst/>
          </a:prstGeom>
          <a:solidFill>
            <a:srgbClr val="FFFFFF"/>
          </a:solidFill>
          <a:ln w="12700">
            <a:solidFill>
              <a:srgbClr val="E6E6E6"/>
            </a:solidFill>
            <a:prstDash val="solid"/>
          </a:ln>
        </p:spPr>
      </p:sp>
      <p:sp>
        <p:nvSpPr>
          <p:cNvPr id="34" name="Text 32"/>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'21</a:t>
            </a:r>
            <a:endParaRPr lang="en-US" sz="800" dirty="0"/>
          </a:p>
        </p:txBody>
      </p:sp>
      <p:sp>
        <p:nvSpPr>
          <p:cNvPr id="35" name="Shape 33"/>
          <p:cNvSpPr/>
          <p:nvPr/>
        </p:nvSpPr>
        <p:spPr>
          <a:xfrm>
            <a:off x="8254746"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7" name="Shape 35"/>
          <p:cNvSpPr/>
          <p:nvPr/>
        </p:nvSpPr>
        <p:spPr>
          <a:xfrm>
            <a:off x="9219438" y="6464808"/>
            <a:ext cx="146304" cy="146304"/>
          </a:xfrm>
          <a:prstGeom prst="ellipse">
            <a:avLst/>
          </a:prstGeom>
          <a:solidFill>
            <a:srgbClr val="FFFFFF"/>
          </a:solidFill>
          <a:ln w="12700">
            <a:solidFill>
              <a:srgbClr val="E6E6E6"/>
            </a:solidFill>
            <a:prstDash val="solid"/>
          </a:ln>
        </p:spPr>
      </p:sp>
      <p:sp>
        <p:nvSpPr>
          <p:cNvPr id="38" name="Text 36"/>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39" name="Shape 37"/>
          <p:cNvSpPr/>
          <p:nvPr/>
        </p:nvSpPr>
        <p:spPr>
          <a:xfrm>
            <a:off x="10184130"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1" name="Shape 39"/>
          <p:cNvSpPr/>
          <p:nvPr/>
        </p:nvSpPr>
        <p:spPr>
          <a:xfrm>
            <a:off x="11148822"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生産計画：ライン編成（ラインバランシング）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ネック工程がサイクルタイムを決める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タクトタイムは目標値、サイクルタイムは実績値（最も遅い工程の時間）。</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286000" cy="48463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タクトタイム</a:t>
            </a:r>
            <a:endParaRPr lang="en-US" sz="1000" dirty="0"/>
          </a:p>
        </p:txBody>
      </p:sp>
      <p:sp>
        <p:nvSpPr>
          <p:cNvPr id="9" name="Shape 7"/>
          <p:cNvSpPr/>
          <p:nvPr/>
        </p:nvSpPr>
        <p:spPr>
          <a:xfrm>
            <a:off x="2770632" y="1691640"/>
            <a:ext cx="0" cy="256032"/>
          </a:xfrm>
          <a:prstGeom prst="line">
            <a:avLst/>
          </a:prstGeom>
          <a:noFill/>
          <a:ln w="12700">
            <a:solidFill>
              <a:srgbClr val="E6E6E6"/>
            </a:solidFill>
            <a:prstDash val="solid"/>
          </a:ln>
        </p:spPr>
      </p:sp>
      <p:sp>
        <p:nvSpPr>
          <p:cNvPr id="10" name="Text 8"/>
          <p:cNvSpPr txBox="1"/>
          <p:nvPr/>
        </p:nvSpPr>
        <p:spPr>
          <a:xfrm>
            <a:off x="2926080" y="1691640"/>
            <a:ext cx="4526280" cy="48463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実稼働時間 ÷ 必要生産数（目標値）</a:t>
            </a:r>
            <a:endParaRPr lang="en-US" sz="1000" dirty="0"/>
          </a:p>
        </p:txBody>
      </p:sp>
      <p:sp>
        <p:nvSpPr>
          <p:cNvPr id="11" name="Text 9"/>
          <p:cNvSpPr txBox="1"/>
          <p:nvPr/>
        </p:nvSpPr>
        <p:spPr>
          <a:xfrm>
            <a:off x="502920" y="2194560"/>
            <a:ext cx="2286000" cy="484632"/>
          </a:xfrm>
          <a:prstGeom prst="rect">
            <a:avLst/>
          </a:prstGeom>
          <a:noFill/>
          <a:ln/>
        </p:spPr>
        <p:txBody>
          <a:bodyPr wrap="square" lIns="0" tIns="0" rIns="0" bIns="0" rtlCol="0" anchor="t"/>
          <a:lstStyle/>
          <a:p>
            <a:pPr indent="0" marL="0">
              <a:buNone/>
            </a:pPr>
            <a:r>
              <a:rPr lang="en-US" sz="1000" b="1" dirty="0">
                <a:solidFill>
                  <a:srgbClr val="171717"/>
                </a:solidFill>
                <a:latin typeface="Yu Gothic" pitchFamily="34" charset="0"/>
                <a:ea typeface="Yu Gothic" pitchFamily="34" charset="-122"/>
                <a:cs typeface="Yu Gothic" pitchFamily="34" charset="-120"/>
              </a:rPr>
              <a:t>ラインバランシング効率</a:t>
            </a:r>
            <a:endParaRPr lang="en-US" sz="1000" dirty="0"/>
          </a:p>
        </p:txBody>
      </p:sp>
      <p:sp>
        <p:nvSpPr>
          <p:cNvPr id="12" name="Shape 10"/>
          <p:cNvSpPr/>
          <p:nvPr/>
        </p:nvSpPr>
        <p:spPr>
          <a:xfrm>
            <a:off x="2770632" y="2194560"/>
            <a:ext cx="0" cy="256032"/>
          </a:xfrm>
          <a:prstGeom prst="line">
            <a:avLst/>
          </a:prstGeom>
          <a:noFill/>
          <a:ln w="12700">
            <a:solidFill>
              <a:srgbClr val="E6E6E6"/>
            </a:solidFill>
            <a:prstDash val="solid"/>
          </a:ln>
        </p:spPr>
      </p:sp>
      <p:sp>
        <p:nvSpPr>
          <p:cNvPr id="13" name="Text 11"/>
          <p:cNvSpPr txBox="1"/>
          <p:nvPr/>
        </p:nvSpPr>
        <p:spPr>
          <a:xfrm>
            <a:off x="2926080" y="2194560"/>
            <a:ext cx="4526280" cy="484632"/>
          </a:xfrm>
          <a:prstGeom prst="rect">
            <a:avLst/>
          </a:prstGeom>
          <a:noFill/>
          <a:ln/>
        </p:spPr>
        <p:txBody>
          <a:bodyPr wrap="square" lIns="0" tIns="0" rIns="0" bIns="0" rtlCol="0" anchor="t"/>
          <a:lstStyle/>
          <a:p>
            <a:pPr indent="0" marL="0">
              <a:buNone/>
            </a:pPr>
            <a:r>
              <a:rPr lang="en-US" sz="1000" dirty="0">
                <a:solidFill>
                  <a:srgbClr val="8A8A8A"/>
                </a:solidFill>
                <a:latin typeface="Yu Gothic" pitchFamily="34" charset="0"/>
                <a:ea typeface="Yu Gothic" pitchFamily="34" charset="-122"/>
                <a:cs typeface="Yu Gothic" pitchFamily="34" charset="-120"/>
              </a:rPr>
              <a:t>各工程作業時間合計 ÷ (工程数×サイクルタイム) × 100</a:t>
            </a:r>
            <a:endParaRPr lang="en-US" sz="1000" dirty="0"/>
          </a:p>
        </p:txBody>
      </p:sp>
      <p:sp>
        <p:nvSpPr>
          <p:cNvPr id="14" name="Shape 12"/>
          <p:cNvSpPr/>
          <p:nvPr/>
        </p:nvSpPr>
        <p:spPr>
          <a:xfrm>
            <a:off x="502920" y="2788920"/>
            <a:ext cx="6949440" cy="0"/>
          </a:xfrm>
          <a:prstGeom prst="line">
            <a:avLst/>
          </a:prstGeom>
          <a:noFill/>
          <a:ln w="12700">
            <a:solidFill>
              <a:srgbClr val="E6E6E6"/>
            </a:solidFill>
            <a:prstDash val="solid"/>
          </a:ln>
        </p:spPr>
      </p:sp>
      <p:sp>
        <p:nvSpPr>
          <p:cNvPr id="15" name="Text 13"/>
          <p:cNvSpPr txBox="1"/>
          <p:nvPr/>
        </p:nvSpPr>
        <p:spPr>
          <a:xfrm>
            <a:off x="502920" y="2862072"/>
            <a:ext cx="6949440" cy="50292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分母のサイクルタイムには「平均」ではなく「最大（ネック工程）」の時間を使う。</a:t>
            </a:r>
            <a:endParaRPr lang="en-US" sz="950" dirty="0"/>
          </a:p>
        </p:txBody>
      </p:sp>
      <p:sp>
        <p:nvSpPr>
          <p:cNvPr id="16" name="Shape 14"/>
          <p:cNvSpPr/>
          <p:nvPr/>
        </p:nvSpPr>
        <p:spPr>
          <a:xfrm>
            <a:off x="7818120" y="4983480"/>
            <a:ext cx="3703320" cy="0"/>
          </a:xfrm>
          <a:prstGeom prst="line">
            <a:avLst/>
          </a:prstGeom>
          <a:noFill/>
          <a:ln w="19050">
            <a:solidFill>
              <a:srgbClr val="171717"/>
            </a:solidFill>
            <a:prstDash val="solid"/>
          </a:ln>
        </p:spPr>
      </p:sp>
      <p:sp>
        <p:nvSpPr>
          <p:cNvPr id="17" name="Shape 15"/>
          <p:cNvSpPr/>
          <p:nvPr/>
        </p:nvSpPr>
        <p:spPr>
          <a:xfrm>
            <a:off x="7818120" y="2733766"/>
            <a:ext cx="759181" cy="2249714"/>
          </a:xfrm>
          <a:prstGeom prst="rect">
            <a:avLst/>
          </a:prstGeom>
          <a:solidFill>
            <a:srgbClr val="F4F4F4"/>
          </a:solidFill>
          <a:ln w="12700">
            <a:solidFill>
              <a:srgbClr val="171717"/>
            </a:solidFill>
            <a:prstDash val="solid"/>
          </a:ln>
        </p:spPr>
      </p:sp>
      <p:sp>
        <p:nvSpPr>
          <p:cNvPr id="18" name="Text 16"/>
          <p:cNvSpPr txBox="1"/>
          <p:nvPr/>
        </p:nvSpPr>
        <p:spPr>
          <a:xfrm>
            <a:off x="7790688" y="2441158"/>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200</a:t>
            </a:r>
            <a:endParaRPr lang="en-US" sz="1050" dirty="0"/>
          </a:p>
        </p:txBody>
      </p:sp>
      <p:sp>
        <p:nvSpPr>
          <p:cNvPr id="19" name="Text 17"/>
          <p:cNvSpPr txBox="1"/>
          <p:nvPr/>
        </p:nvSpPr>
        <p:spPr>
          <a:xfrm>
            <a:off x="779068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第1工程</a:t>
            </a:r>
            <a:endParaRPr lang="en-US" sz="900" dirty="0"/>
          </a:p>
        </p:txBody>
      </p:sp>
      <p:sp>
        <p:nvSpPr>
          <p:cNvPr id="20" name="Shape 18"/>
          <p:cNvSpPr/>
          <p:nvPr/>
        </p:nvSpPr>
        <p:spPr>
          <a:xfrm>
            <a:off x="8799500" y="2148840"/>
            <a:ext cx="759181" cy="2834640"/>
          </a:xfrm>
          <a:prstGeom prst="rect">
            <a:avLst/>
          </a:prstGeom>
          <a:solidFill>
            <a:srgbClr val="FF3B1F"/>
          </a:solidFill>
          <a:ln w="12700">
            <a:solidFill>
              <a:srgbClr val="FF3B1F"/>
            </a:solidFill>
            <a:prstDash val="solid"/>
          </a:ln>
        </p:spPr>
      </p:sp>
      <p:sp>
        <p:nvSpPr>
          <p:cNvPr id="21" name="Text 19"/>
          <p:cNvSpPr txBox="1"/>
          <p:nvPr/>
        </p:nvSpPr>
        <p:spPr>
          <a:xfrm>
            <a:off x="8772068" y="1856232"/>
            <a:ext cx="814045" cy="256032"/>
          </a:xfrm>
          <a:prstGeom prst="rect">
            <a:avLst/>
          </a:prstGeom>
          <a:noFill/>
          <a:ln/>
        </p:spPr>
        <p:txBody>
          <a:bodyPr wrap="square" lIns="0" tIns="0" rIns="0" bIns="0" rtlCol="0" anchor="ctr"/>
          <a:lstStyle/>
          <a:p>
            <a:pPr algn="ctr" indent="0" marL="0">
              <a:buNone/>
            </a:pPr>
            <a:r>
              <a:rPr lang="en-US" sz="1300" b="1" dirty="0">
                <a:solidFill>
                  <a:srgbClr val="FF3B1F"/>
                </a:solidFill>
                <a:latin typeface="Consolas" pitchFamily="34" charset="0"/>
                <a:ea typeface="Consolas" pitchFamily="34" charset="-122"/>
                <a:cs typeface="Consolas" pitchFamily="34" charset="-120"/>
              </a:rPr>
              <a:t>252</a:t>
            </a:r>
            <a:endParaRPr lang="en-US" sz="1300" dirty="0"/>
          </a:p>
        </p:txBody>
      </p:sp>
      <p:sp>
        <p:nvSpPr>
          <p:cNvPr id="22" name="Text 20"/>
          <p:cNvSpPr txBox="1"/>
          <p:nvPr/>
        </p:nvSpPr>
        <p:spPr>
          <a:xfrm>
            <a:off x="877206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第2工程</a:t>
            </a:r>
            <a:endParaRPr lang="en-US" sz="900" dirty="0"/>
          </a:p>
        </p:txBody>
      </p:sp>
      <p:sp>
        <p:nvSpPr>
          <p:cNvPr id="23" name="Shape 21"/>
          <p:cNvSpPr/>
          <p:nvPr/>
        </p:nvSpPr>
        <p:spPr>
          <a:xfrm>
            <a:off x="9780880" y="2958737"/>
            <a:ext cx="759181" cy="2024743"/>
          </a:xfrm>
          <a:prstGeom prst="rect">
            <a:avLst/>
          </a:prstGeom>
          <a:solidFill>
            <a:srgbClr val="F4F4F4"/>
          </a:solidFill>
          <a:ln w="12700">
            <a:solidFill>
              <a:srgbClr val="171717"/>
            </a:solidFill>
            <a:prstDash val="solid"/>
          </a:ln>
        </p:spPr>
      </p:sp>
      <p:sp>
        <p:nvSpPr>
          <p:cNvPr id="24" name="Text 22"/>
          <p:cNvSpPr txBox="1"/>
          <p:nvPr/>
        </p:nvSpPr>
        <p:spPr>
          <a:xfrm>
            <a:off x="9753448" y="2666129"/>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180</a:t>
            </a:r>
            <a:endParaRPr lang="en-US" sz="1050" dirty="0"/>
          </a:p>
        </p:txBody>
      </p:sp>
      <p:sp>
        <p:nvSpPr>
          <p:cNvPr id="25" name="Text 23"/>
          <p:cNvSpPr txBox="1"/>
          <p:nvPr/>
        </p:nvSpPr>
        <p:spPr>
          <a:xfrm>
            <a:off x="9753448"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第3工程</a:t>
            </a:r>
            <a:endParaRPr lang="en-US" sz="900" dirty="0"/>
          </a:p>
        </p:txBody>
      </p:sp>
      <p:sp>
        <p:nvSpPr>
          <p:cNvPr id="26" name="Shape 24"/>
          <p:cNvSpPr/>
          <p:nvPr/>
        </p:nvSpPr>
        <p:spPr>
          <a:xfrm>
            <a:off x="10762259" y="2508794"/>
            <a:ext cx="759181" cy="2474686"/>
          </a:xfrm>
          <a:prstGeom prst="rect">
            <a:avLst/>
          </a:prstGeom>
          <a:solidFill>
            <a:srgbClr val="F4F4F4"/>
          </a:solidFill>
          <a:ln w="12700">
            <a:solidFill>
              <a:srgbClr val="171717"/>
            </a:solidFill>
            <a:prstDash val="solid"/>
          </a:ln>
        </p:spPr>
      </p:sp>
      <p:sp>
        <p:nvSpPr>
          <p:cNvPr id="27" name="Text 25"/>
          <p:cNvSpPr txBox="1"/>
          <p:nvPr/>
        </p:nvSpPr>
        <p:spPr>
          <a:xfrm>
            <a:off x="10734827" y="2216186"/>
            <a:ext cx="814045" cy="256032"/>
          </a:xfrm>
          <a:prstGeom prst="rect">
            <a:avLst/>
          </a:prstGeom>
          <a:noFill/>
          <a:ln/>
        </p:spPr>
        <p:txBody>
          <a:bodyPr wrap="square" lIns="0" tIns="0" rIns="0" bIns="0" rtlCol="0" anchor="ctr"/>
          <a:lstStyle/>
          <a:p>
            <a:pPr algn="ctr" indent="0" marL="0">
              <a:buNone/>
            </a:pPr>
            <a:r>
              <a:rPr lang="en-US" sz="1050" dirty="0">
                <a:solidFill>
                  <a:srgbClr val="171717"/>
                </a:solidFill>
                <a:latin typeface="Consolas" pitchFamily="34" charset="0"/>
                <a:ea typeface="Consolas" pitchFamily="34" charset="-122"/>
                <a:cs typeface="Consolas" pitchFamily="34" charset="-120"/>
              </a:rPr>
              <a:t>220</a:t>
            </a:r>
            <a:endParaRPr lang="en-US" sz="1050" dirty="0"/>
          </a:p>
        </p:txBody>
      </p:sp>
      <p:sp>
        <p:nvSpPr>
          <p:cNvPr id="28" name="Text 26"/>
          <p:cNvSpPr txBox="1"/>
          <p:nvPr/>
        </p:nvSpPr>
        <p:spPr>
          <a:xfrm>
            <a:off x="10734827" y="5038344"/>
            <a:ext cx="814045" cy="274320"/>
          </a:xfrm>
          <a:prstGeom prst="rect">
            <a:avLst/>
          </a:prstGeom>
          <a:noFill/>
          <a:ln/>
        </p:spPr>
        <p:txBody>
          <a:bodyPr wrap="square" lIns="0" tIns="0" rIns="0" bIns="0" rtlCol="0" anchor="ctr"/>
          <a:lstStyle/>
          <a:p>
            <a:pPr algn="ctr" indent="0" marL="0">
              <a:buNone/>
            </a:pPr>
            <a:r>
              <a:rPr lang="en-US" sz="900" dirty="0">
                <a:solidFill>
                  <a:srgbClr val="171717"/>
                </a:solidFill>
                <a:latin typeface="Yu Gothic" pitchFamily="34" charset="0"/>
                <a:ea typeface="Yu Gothic" pitchFamily="34" charset="-122"/>
                <a:cs typeface="Yu Gothic" pitchFamily="34" charset="-120"/>
              </a:rPr>
              <a:t>第4工程</a:t>
            </a:r>
            <a:endParaRPr lang="en-US" sz="900" dirty="0"/>
          </a:p>
        </p:txBody>
      </p:sp>
      <p:sp>
        <p:nvSpPr>
          <p:cNvPr id="29" name="Text 27"/>
          <p:cNvSpPr txBox="1"/>
          <p:nvPr/>
        </p:nvSpPr>
        <p:spPr>
          <a:xfrm>
            <a:off x="7543800" y="5394960"/>
            <a:ext cx="4251960" cy="274320"/>
          </a:xfrm>
          <a:prstGeom prst="rect">
            <a:avLst/>
          </a:prstGeom>
          <a:noFill/>
          <a:ln/>
        </p:spPr>
        <p:txBody>
          <a:bodyPr wrap="square" lIns="0" tIns="0" rIns="0" bIns="0" rtlCol="0" anchor="ctr"/>
          <a:lstStyle/>
          <a:p>
            <a:pPr algn="ctr" indent="0" marL="0">
              <a:buNone/>
            </a:pPr>
            <a:r>
              <a:rPr lang="en-US" sz="900" dirty="0">
                <a:solidFill>
                  <a:srgbClr val="8A8A8A"/>
                </a:solidFill>
                <a:latin typeface="Yu Gothic" pitchFamily="34" charset="0"/>
                <a:ea typeface="Yu Gothic" pitchFamily="34" charset="-122"/>
                <a:cs typeface="Yu Gothic" pitchFamily="34" charset="-120"/>
              </a:rPr>
              <a:t>第2工程（赤）がネック＝サイクルタイム252秒</a:t>
            </a:r>
            <a:endParaRPr lang="en-US" sz="900" dirty="0"/>
          </a:p>
        </p:txBody>
      </p:sp>
      <p:sp>
        <p:nvSpPr>
          <p:cNvPr id="30" name="Shape 28"/>
          <p:cNvSpPr/>
          <p:nvPr/>
        </p:nvSpPr>
        <p:spPr>
          <a:xfrm>
            <a:off x="502920" y="5989320"/>
            <a:ext cx="11201400" cy="0"/>
          </a:xfrm>
          <a:prstGeom prst="line">
            <a:avLst/>
          </a:prstGeom>
          <a:noFill/>
          <a:ln w="9525">
            <a:solidFill>
              <a:srgbClr val="171717"/>
            </a:solidFill>
            <a:prstDash val="solid"/>
          </a:ln>
        </p:spPr>
      </p:sp>
      <p:sp>
        <p:nvSpPr>
          <p:cNvPr id="31" name="Shape 29"/>
          <p:cNvSpPr/>
          <p:nvPr/>
        </p:nvSpPr>
        <p:spPr>
          <a:xfrm>
            <a:off x="502920" y="6062472"/>
            <a:ext cx="329184" cy="329184"/>
          </a:xfrm>
          <a:prstGeom prst="ellipse">
            <a:avLst/>
          </a:prstGeom>
          <a:solidFill>
            <a:srgbClr val="FF3B1F"/>
          </a:solidFill>
          <a:ln/>
        </p:spPr>
      </p:sp>
      <p:sp>
        <p:nvSpPr>
          <p:cNvPr id="32" name="Text 3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33" name="Text 3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34" name="Shape 32"/>
          <p:cNvSpPr/>
          <p:nvPr/>
        </p:nvSpPr>
        <p:spPr>
          <a:xfrm>
            <a:off x="2331720" y="6062472"/>
            <a:ext cx="0" cy="329184"/>
          </a:xfrm>
          <a:prstGeom prst="line">
            <a:avLst/>
          </a:prstGeom>
          <a:noFill/>
          <a:ln w="12700">
            <a:solidFill>
              <a:srgbClr val="E6E6E6"/>
            </a:solidFill>
            <a:prstDash val="solid"/>
          </a:ln>
        </p:spPr>
      </p:sp>
      <p:sp>
        <p:nvSpPr>
          <p:cNvPr id="35" name="Text 3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具体例：852秒÷(4×252秒)×100＝約84.5％、バランスロス率約15.5％。</a:t>
            </a:r>
            <a:endParaRPr lang="en-US" sz="1000" dirty="0"/>
          </a:p>
        </p:txBody>
      </p:sp>
      <p:sp>
        <p:nvSpPr>
          <p:cNvPr id="36" name="Text 3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37" name="Shape 35"/>
          <p:cNvSpPr/>
          <p:nvPr/>
        </p:nvSpPr>
        <p:spPr>
          <a:xfrm>
            <a:off x="246659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39" name="Shape 37"/>
          <p:cNvSpPr/>
          <p:nvPr/>
        </p:nvSpPr>
        <p:spPr>
          <a:xfrm>
            <a:off x="3431286" y="6464808"/>
            <a:ext cx="146304" cy="146304"/>
          </a:xfrm>
          <a:prstGeom prst="ellipse">
            <a:avLst/>
          </a:prstGeom>
          <a:solidFill>
            <a:srgbClr val="FFFFFF"/>
          </a:solidFill>
          <a:ln w="12700">
            <a:solidFill>
              <a:srgbClr val="E6E6E6"/>
            </a:solidFill>
            <a:prstDash val="solid"/>
          </a:ln>
        </p:spPr>
      </p:sp>
      <p:sp>
        <p:nvSpPr>
          <p:cNvPr id="40" name="Text 3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41" name="Shape 39"/>
          <p:cNvSpPr/>
          <p:nvPr/>
        </p:nvSpPr>
        <p:spPr>
          <a:xfrm>
            <a:off x="439597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43" name="Shape 41"/>
          <p:cNvSpPr/>
          <p:nvPr/>
        </p:nvSpPr>
        <p:spPr>
          <a:xfrm>
            <a:off x="536067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45" name="Shape 43"/>
          <p:cNvSpPr/>
          <p:nvPr/>
        </p:nvSpPr>
        <p:spPr>
          <a:xfrm>
            <a:off x="6325362" y="6464808"/>
            <a:ext cx="146304" cy="146304"/>
          </a:xfrm>
          <a:prstGeom prst="ellipse">
            <a:avLst/>
          </a:prstGeom>
          <a:solidFill>
            <a:srgbClr val="FF3B1F"/>
          </a:solidFill>
          <a:ln w="12700">
            <a:solidFill>
              <a:srgbClr val="FF3B1F"/>
            </a:solidFill>
            <a:prstDash val="solid"/>
          </a:ln>
        </p:spPr>
      </p:sp>
      <p:sp>
        <p:nvSpPr>
          <p:cNvPr id="46" name="Text 4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47" name="Shape 45"/>
          <p:cNvSpPr/>
          <p:nvPr/>
        </p:nvSpPr>
        <p:spPr>
          <a:xfrm>
            <a:off x="7290054" y="6464808"/>
            <a:ext cx="146304" cy="146304"/>
          </a:xfrm>
          <a:prstGeom prst="ellipse">
            <a:avLst/>
          </a:prstGeom>
          <a:solidFill>
            <a:srgbClr val="FF3B1F"/>
          </a:solidFill>
          <a:ln w="12700">
            <a:solidFill>
              <a:srgbClr val="FF3B1F"/>
            </a:solidFill>
            <a:prstDash val="solid"/>
          </a:ln>
        </p:spPr>
      </p:sp>
      <p:sp>
        <p:nvSpPr>
          <p:cNvPr id="48" name="Text 4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49" name="Shape 47"/>
          <p:cNvSpPr/>
          <p:nvPr/>
        </p:nvSpPr>
        <p:spPr>
          <a:xfrm>
            <a:off x="8254746" y="6464808"/>
            <a:ext cx="146304" cy="146304"/>
          </a:xfrm>
          <a:prstGeom prst="ellipse">
            <a:avLst/>
          </a:prstGeom>
          <a:solidFill>
            <a:srgbClr val="FF3B1F"/>
          </a:solidFill>
          <a:ln w="12700">
            <a:solidFill>
              <a:srgbClr val="FF3B1F"/>
            </a:solidFill>
            <a:prstDash val="solid"/>
          </a:ln>
        </p:spPr>
      </p:sp>
      <p:sp>
        <p:nvSpPr>
          <p:cNvPr id="50" name="Text 4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51" name="Shape 49"/>
          <p:cNvSpPr/>
          <p:nvPr/>
        </p:nvSpPr>
        <p:spPr>
          <a:xfrm>
            <a:off x="9219438" y="6464808"/>
            <a:ext cx="146304" cy="146304"/>
          </a:xfrm>
          <a:prstGeom prst="ellipse">
            <a:avLst/>
          </a:prstGeom>
          <a:solidFill>
            <a:srgbClr val="FF3B1F"/>
          </a:solidFill>
          <a:ln w="12700">
            <a:solidFill>
              <a:srgbClr val="FF3B1F"/>
            </a:solidFill>
            <a:prstDash val="solid"/>
          </a:ln>
        </p:spPr>
      </p:sp>
      <p:sp>
        <p:nvSpPr>
          <p:cNvPr id="52" name="Text 5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53" name="Shape 51"/>
          <p:cNvSpPr/>
          <p:nvPr/>
        </p:nvSpPr>
        <p:spPr>
          <a:xfrm>
            <a:off x="10184130" y="6464808"/>
            <a:ext cx="146304" cy="146304"/>
          </a:xfrm>
          <a:prstGeom prst="ellipse">
            <a:avLst/>
          </a:prstGeom>
          <a:solidFill>
            <a:srgbClr val="FF3B1F"/>
          </a:solidFill>
          <a:ln w="12700">
            <a:solidFill>
              <a:srgbClr val="FF3B1F"/>
            </a:solidFill>
            <a:prstDash val="solid"/>
          </a:ln>
        </p:spPr>
      </p:sp>
      <p:sp>
        <p:nvSpPr>
          <p:cNvPr id="54" name="Text 5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55" name="Shape 53"/>
          <p:cNvSpPr/>
          <p:nvPr/>
        </p:nvSpPr>
        <p:spPr>
          <a:xfrm>
            <a:off x="11148822" y="6464808"/>
            <a:ext cx="146304" cy="146304"/>
          </a:xfrm>
          <a:prstGeom prst="ellipse">
            <a:avLst/>
          </a:prstGeom>
          <a:solidFill>
            <a:srgbClr val="FF3B1F"/>
          </a:solidFill>
          <a:ln w="12700">
            <a:solidFill>
              <a:srgbClr val="FF3B1F"/>
            </a:solidFill>
            <a:prstDash val="solid"/>
          </a:ln>
        </p:spPr>
      </p:sp>
      <p:sp>
        <p:nvSpPr>
          <p:cNvPr id="56" name="Text 5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64008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ある工場では、1種類の製品をライン生産方式で生産することを計画している。1カ月の製品の必要生産数は2,000個、稼働日は20日である。1日の実稼働時間は7時間である。この生産ラインのタクトタイムが含まれる範囲として、最も適切なものはどれか。</a:t>
            </a:r>
            <a:endParaRPr lang="en-US" sz="1250" dirty="0"/>
          </a:p>
        </p:txBody>
      </p:sp>
      <p:sp>
        <p:nvSpPr>
          <p:cNvPr id="9" name="Text 7"/>
          <p:cNvSpPr txBox="1"/>
          <p:nvPr/>
        </p:nvSpPr>
        <p:spPr>
          <a:xfrm>
            <a:off x="731520" y="24231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100秒未満</a:t>
            </a:r>
            <a:endParaRPr lang="en-US" sz="1150" dirty="0"/>
          </a:p>
        </p:txBody>
      </p:sp>
      <p:sp>
        <p:nvSpPr>
          <p:cNvPr id="10" name="Text 8"/>
          <p:cNvSpPr txBox="1"/>
          <p:nvPr/>
        </p:nvSpPr>
        <p:spPr>
          <a:xfrm>
            <a:off x="731520" y="28986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100秒以上、200秒未満</a:t>
            </a:r>
            <a:endParaRPr lang="en-US" sz="1150" dirty="0"/>
          </a:p>
        </p:txBody>
      </p:sp>
      <p:sp>
        <p:nvSpPr>
          <p:cNvPr id="11" name="Text 9"/>
          <p:cNvSpPr txBox="1"/>
          <p:nvPr/>
        </p:nvSpPr>
        <p:spPr>
          <a:xfrm>
            <a:off x="731520" y="33741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200秒以上、300秒未満</a:t>
            </a:r>
            <a:endParaRPr lang="en-US" sz="1150" dirty="0"/>
          </a:p>
        </p:txBody>
      </p:sp>
      <p:sp>
        <p:nvSpPr>
          <p:cNvPr id="12" name="Text 10"/>
          <p:cNvSpPr txBox="1"/>
          <p:nvPr/>
        </p:nvSpPr>
        <p:spPr>
          <a:xfrm>
            <a:off x="731520" y="38496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300秒以上、400秒未満</a:t>
            </a:r>
            <a:endParaRPr lang="en-US" sz="1150" dirty="0"/>
          </a:p>
        </p:txBody>
      </p:sp>
      <p:sp>
        <p:nvSpPr>
          <p:cNvPr id="13" name="Text 11"/>
          <p:cNvSpPr txBox="1"/>
          <p:nvPr/>
        </p:nvSpPr>
        <p:spPr>
          <a:xfrm>
            <a:off x="731520" y="43251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400秒以上</a:t>
            </a:r>
            <a:endParaRPr lang="en-US" sz="1150" dirty="0"/>
          </a:p>
        </p:txBody>
      </p:sp>
      <p:sp>
        <p:nvSpPr>
          <p:cNvPr id="14" name="Text 12"/>
          <p:cNvSpPr txBox="1"/>
          <p:nvPr/>
        </p:nvSpPr>
        <p:spPr>
          <a:xfrm>
            <a:off x="502920" y="493776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出典：past_exams/1st_stage/1ji2025/D1JI2025.pdf（令和7年度第1次試験）第21問</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D-6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第21問）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正解はウ。タクトタイム＝25,200秒÷100個＝252秒/個。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100秒未満</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100秒以上、200秒未満</a:t>
            </a:r>
            <a:endParaRPr lang="en-US" sz="1150" dirty="0"/>
          </a:p>
        </p:txBody>
      </p:sp>
      <p:sp>
        <p:nvSpPr>
          <p:cNvPr id="10" name="Shape 8"/>
          <p:cNvSpPr/>
          <p:nvPr/>
        </p:nvSpPr>
        <p:spPr>
          <a:xfrm>
            <a:off x="502920" y="2660904"/>
            <a:ext cx="11201400" cy="475488"/>
          </a:xfrm>
          <a:prstGeom prst="rect">
            <a:avLst/>
          </a:prstGeom>
          <a:solidFill>
            <a:srgbClr val="F4F4F4"/>
          </a:solidFill>
          <a:ln/>
        </p:spPr>
      </p:sp>
      <p:sp>
        <p:nvSpPr>
          <p:cNvPr id="11" name="Shape 9"/>
          <p:cNvSpPr/>
          <p:nvPr/>
        </p:nvSpPr>
        <p:spPr>
          <a:xfrm>
            <a:off x="502920" y="2660904"/>
            <a:ext cx="0" cy="475488"/>
          </a:xfrm>
          <a:prstGeom prst="line">
            <a:avLst/>
          </a:prstGeom>
          <a:noFill/>
          <a:ln w="38100">
            <a:solidFill>
              <a:srgbClr val="FF3B1F"/>
            </a:solidFill>
            <a:prstDash val="solid"/>
          </a:ln>
        </p:spPr>
      </p:sp>
      <p:sp>
        <p:nvSpPr>
          <p:cNvPr id="12" name="Text 10"/>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200秒以上、300秒未満</a:t>
            </a:r>
            <a:endParaRPr lang="en-US" sz="1150" dirty="0"/>
          </a:p>
        </p:txBody>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300秒以上、400秒未満</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400秒以上</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64008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正解：ウ</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。①1日あたりの必要生産数＝2,000個÷20日＝100個/日。②1日の実稼働時間＝7時間＝25,200秒。③タクトタイム＝25,200秒÷100個＝</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252秒/個</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。252秒は「200秒以上、300秒未満」に含まれる。</a:t>
            </a:r>
            <a:endParaRPr lang="en-US" sz="1050" dirty="0"/>
          </a:p>
        </p:txBody>
      </p:sp>
      <p:sp>
        <p:nvSpPr>
          <p:cNvPr id="17" name="Text 15"/>
          <p:cNvSpPr txBox="1"/>
          <p:nvPr/>
        </p:nvSpPr>
        <p:spPr>
          <a:xfrm>
            <a:off x="502920" y="499262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タクトタイムは「必要な生産量を稼働時間内に満たすには1個あたり何秒で生産すればよいか」を表す目標値で、ラインバランシングの前提となる基準時間として使われる。</a:t>
            </a:r>
            <a:endParaRPr lang="en-US" sz="850" dirty="0"/>
          </a:p>
        </p:txBody>
      </p:sp>
      <p:sp>
        <p:nvSpPr>
          <p:cNvPr id="18" name="Text 16"/>
          <p:cNvSpPr txBox="1"/>
          <p:nvPr/>
        </p:nvSpPr>
        <p:spPr>
          <a:xfrm>
            <a:off x="502920" y="552297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関連知識：docs/07_key_formulas_and_frameworks.mdのラインバランシング効率の分母にこのタクトタイムを使う。</a:t>
            </a:r>
            <a:endParaRPr lang="en-US" sz="1000" dirty="0"/>
          </a:p>
        </p:txBody>
      </p:sp>
      <p:sp>
        <p:nvSpPr>
          <p:cNvPr id="19" name="Text 17"/>
          <p:cNvSpPr txBox="1"/>
          <p:nvPr/>
        </p:nvSpPr>
        <p:spPr>
          <a:xfrm>
            <a:off x="502920" y="587044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出典：past_exams/1st_stage/1ji2025/D1JI2025.pdf（令和7年度第1次試験）第21問／正解：past_exams/1st_stage_answers/r07/d_v2_20250902.pdf</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D-7 ／ 生産計画：需要予測</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αが大きいほど直近実績を重視</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移動平均法は均等ウェイト、指数平滑法は直近ほど大きなウェイト。</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移動平均法</a:t>
            </a:r>
            <a:endParaRPr lang="en-US" sz="1100" dirty="0"/>
          </a:p>
        </p:txBody>
      </p:sp>
      <p:sp>
        <p:nvSpPr>
          <p:cNvPr id="9" name="Shape 7"/>
          <p:cNvSpPr/>
          <p:nvPr/>
        </p:nvSpPr>
        <p:spPr>
          <a:xfrm>
            <a:off x="2313432" y="1691640"/>
            <a:ext cx="0" cy="256032"/>
          </a:xfrm>
          <a:prstGeom prst="line">
            <a:avLst/>
          </a:prstGeom>
          <a:noFill/>
          <a:ln w="12700">
            <a:solidFill>
              <a:srgbClr val="E6E6E6"/>
            </a:solidFill>
            <a:prstDash val="solid"/>
          </a:ln>
        </p:spPr>
      </p:sp>
      <p:sp>
        <p:nvSpPr>
          <p:cNvPr id="10" name="Text 8"/>
          <p:cNvSpPr txBox="1"/>
          <p:nvPr/>
        </p:nvSpPr>
        <p:spPr>
          <a:xfrm>
            <a:off x="2468880" y="1691640"/>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直近n期間の実績値の単純平均。各期に均等なウェイト</a:t>
            </a:r>
            <a:endParaRPr lang="en-US" sz="1100" dirty="0"/>
          </a:p>
        </p:txBody>
      </p:sp>
      <p:sp>
        <p:nvSpPr>
          <p:cNvPr id="11" name="Text 9"/>
          <p:cNvSpPr txBox="1"/>
          <p:nvPr/>
        </p:nvSpPr>
        <p:spPr>
          <a:xfrm>
            <a:off x="502920" y="2075688"/>
            <a:ext cx="182880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指数平滑法</a:t>
            </a:r>
            <a:endParaRPr lang="en-US" sz="1100" dirty="0"/>
          </a:p>
        </p:txBody>
      </p:sp>
      <p:sp>
        <p:nvSpPr>
          <p:cNvPr id="12" name="Shape 10"/>
          <p:cNvSpPr/>
          <p:nvPr/>
        </p:nvSpPr>
        <p:spPr>
          <a:xfrm>
            <a:off x="2313432" y="2075688"/>
            <a:ext cx="0" cy="256032"/>
          </a:xfrm>
          <a:prstGeom prst="line">
            <a:avLst/>
          </a:prstGeom>
          <a:noFill/>
          <a:ln w="12700">
            <a:solidFill>
              <a:srgbClr val="E6E6E6"/>
            </a:solidFill>
            <a:prstDash val="solid"/>
          </a:ln>
        </p:spPr>
      </p:sp>
      <p:sp>
        <p:nvSpPr>
          <p:cNvPr id="13" name="Text 11"/>
          <p:cNvSpPr txBox="1"/>
          <p:nvPr/>
        </p:nvSpPr>
        <p:spPr>
          <a:xfrm>
            <a:off x="2468880" y="2075688"/>
            <a:ext cx="923544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次期予測値＝α×当期実績値＋(1－α)×当期予測値</a:t>
            </a:r>
            <a:endParaRPr lang="en-US" sz="1100" dirty="0"/>
          </a:p>
        </p:txBody>
      </p:sp>
      <p:sp>
        <p:nvSpPr>
          <p:cNvPr id="14" name="Text 12"/>
          <p:cNvSpPr txBox="1"/>
          <p:nvPr/>
        </p:nvSpPr>
        <p:spPr>
          <a:xfrm>
            <a:off x="502920" y="2551176"/>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先月実績100個・予測90個。α＝0.3→次期予測93個。α＝0.6→次期予測96個。αが大きいほど直近実績（100個）に近づく。</a:t>
            </a:r>
            <a:endParaRPr lang="en-US" sz="850" dirty="0"/>
          </a:p>
        </p:txBody>
      </p:sp>
      <p:sp>
        <p:nvSpPr>
          <p:cNvPr id="15" name="Shape 13"/>
          <p:cNvSpPr/>
          <p:nvPr/>
        </p:nvSpPr>
        <p:spPr>
          <a:xfrm>
            <a:off x="502920" y="3127248"/>
            <a:ext cx="11201400" cy="0"/>
          </a:xfrm>
          <a:prstGeom prst="line">
            <a:avLst/>
          </a:prstGeom>
          <a:noFill/>
          <a:ln w="12700">
            <a:solidFill>
              <a:srgbClr val="E6E6E6"/>
            </a:solidFill>
            <a:prstDash val="solid"/>
          </a:ln>
        </p:spPr>
      </p:sp>
      <p:sp>
        <p:nvSpPr>
          <p:cNvPr id="16" name="Text 14"/>
          <p:cNvSpPr txBox="1"/>
          <p:nvPr/>
        </p:nvSpPr>
        <p:spPr>
          <a:xfrm>
            <a:off x="502920" y="3200400"/>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「αが大きいほど予測が安定する」は誤り。αが大きいほど直近実績への反応が敏感になり予測は振れやすくなる。</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関連：D-31 商品在庫管理・需要予測（店舗版でも同じ考え方を使う）。</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FFFF"/>
          </a:solidFill>
          <a:ln w="12700">
            <a:solidFill>
              <a:srgbClr val="E6E6E6"/>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FFFF"/>
          </a:solidFill>
          <a:ln w="12700">
            <a:solidFill>
              <a:srgbClr val="E6E6E6"/>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FFFF"/>
          </a:solidFill>
          <a:ln w="12700">
            <a:solidFill>
              <a:srgbClr val="E6E6E6"/>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FFFF"/>
          </a:solidFill>
          <a:ln w="12700">
            <a:solidFill>
              <a:srgbClr val="E6E6E6"/>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FFFF"/>
          </a:solidFill>
          <a:ln w="12700">
            <a:solidFill>
              <a:srgbClr val="E6E6E6"/>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D-8 ／ 生産計画：需給計画（MRP、MPS、BOM）</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総所要量から在庫・入庫予定を引く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MPS（生産計画）とBOM（部品表）から必要部品を展開し、正味所要量を計算する。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MPS</a:t>
            </a:r>
            <a:endParaRPr lang="en-US" sz="1100" dirty="0"/>
          </a:p>
        </p:txBody>
      </p:sp>
      <p:sp>
        <p:nvSpPr>
          <p:cNvPr id="9" name="Shape 7"/>
          <p:cNvSpPr/>
          <p:nvPr/>
        </p:nvSpPr>
        <p:spPr>
          <a:xfrm>
            <a:off x="2039112" y="1691640"/>
            <a:ext cx="0" cy="256032"/>
          </a:xfrm>
          <a:prstGeom prst="line">
            <a:avLst/>
          </a:prstGeom>
          <a:noFill/>
          <a:ln w="12700">
            <a:solidFill>
              <a:srgbClr val="E6E6E6"/>
            </a:solidFill>
            <a:prstDash val="solid"/>
          </a:ln>
        </p:spPr>
      </p:sp>
      <p:sp>
        <p:nvSpPr>
          <p:cNvPr id="10" name="Text 8"/>
          <p:cNvSpPr txBox="1"/>
          <p:nvPr/>
        </p:nvSpPr>
        <p:spPr>
          <a:xfrm>
            <a:off x="2194560" y="1691640"/>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最終製品を「いつ・いくつ作るか」定めた基準生産計画</a:t>
            </a:r>
            <a:endParaRPr lang="en-US" sz="1100" dirty="0"/>
          </a:p>
        </p:txBody>
      </p:sp>
      <p:sp>
        <p:nvSpPr>
          <p:cNvPr id="11" name="Text 9"/>
          <p:cNvSpPr txBox="1"/>
          <p:nvPr/>
        </p:nvSpPr>
        <p:spPr>
          <a:xfrm>
            <a:off x="502920" y="2075688"/>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BOM</a:t>
            </a:r>
            <a:endParaRPr lang="en-US" sz="1100" dirty="0"/>
          </a:p>
        </p:txBody>
      </p:sp>
      <p:sp>
        <p:nvSpPr>
          <p:cNvPr id="12" name="Shape 10"/>
          <p:cNvSpPr/>
          <p:nvPr/>
        </p:nvSpPr>
        <p:spPr>
          <a:xfrm>
            <a:off x="2039112" y="2075688"/>
            <a:ext cx="0" cy="256032"/>
          </a:xfrm>
          <a:prstGeom prst="line">
            <a:avLst/>
          </a:prstGeom>
          <a:noFill/>
          <a:ln w="12700">
            <a:solidFill>
              <a:srgbClr val="E6E6E6"/>
            </a:solidFill>
            <a:prstDash val="solid"/>
          </a:ln>
        </p:spPr>
      </p:sp>
      <p:sp>
        <p:nvSpPr>
          <p:cNvPr id="13" name="Text 11"/>
          <p:cNvSpPr txBox="1"/>
          <p:nvPr/>
        </p:nvSpPr>
        <p:spPr>
          <a:xfrm>
            <a:off x="2194560" y="2075688"/>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製品1個に必要な部品・員数を示す部品表</a:t>
            </a:r>
            <a:endParaRPr lang="en-US" sz="1100" dirty="0"/>
          </a:p>
        </p:txBody>
      </p:sp>
      <p:sp>
        <p:nvSpPr>
          <p:cNvPr id="14" name="Text 12"/>
          <p:cNvSpPr txBox="1"/>
          <p:nvPr/>
        </p:nvSpPr>
        <p:spPr>
          <a:xfrm>
            <a:off x="502920" y="2459736"/>
            <a:ext cx="15544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正味所要量</a:t>
            </a:r>
            <a:endParaRPr lang="en-US" sz="1100" dirty="0"/>
          </a:p>
        </p:txBody>
      </p:sp>
      <p:sp>
        <p:nvSpPr>
          <p:cNvPr id="15" name="Shape 13"/>
          <p:cNvSpPr/>
          <p:nvPr/>
        </p:nvSpPr>
        <p:spPr>
          <a:xfrm>
            <a:off x="2039112" y="2459736"/>
            <a:ext cx="0" cy="256032"/>
          </a:xfrm>
          <a:prstGeom prst="line">
            <a:avLst/>
          </a:prstGeom>
          <a:noFill/>
          <a:ln w="12700">
            <a:solidFill>
              <a:srgbClr val="E6E6E6"/>
            </a:solidFill>
            <a:prstDash val="solid"/>
          </a:ln>
        </p:spPr>
      </p:sp>
      <p:sp>
        <p:nvSpPr>
          <p:cNvPr id="16" name="Text 14"/>
          <p:cNvSpPr txBox="1"/>
          <p:nvPr/>
        </p:nvSpPr>
        <p:spPr>
          <a:xfrm>
            <a:off x="2194560" y="2459736"/>
            <a:ext cx="95097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総所要量－（現在庫＋入庫予定）</a:t>
            </a:r>
            <a:endParaRPr lang="en-US" sz="1100" dirty="0"/>
          </a:p>
        </p:txBody>
      </p:sp>
      <p:sp>
        <p:nvSpPr>
          <p:cNvPr id="17" name="Text 15"/>
          <p:cNvSpPr txBox="1"/>
          <p:nvPr/>
        </p:nvSpPr>
        <p:spPr>
          <a:xfrm>
            <a:off x="502920" y="2935224"/>
            <a:ext cx="11201400" cy="50292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自転車1台＝車輪2個。来月50台生産→総所要量100個。在庫15個・入荷予定10個→正味所要量＝100－25＝75個をリードタイム分前倒しで発注。</a:t>
            </a:r>
            <a:endParaRPr lang="en-US" sz="850" dirty="0"/>
          </a:p>
        </p:txBody>
      </p:sp>
      <p:sp>
        <p:nvSpPr>
          <p:cNvPr id="18" name="Shape 16"/>
          <p:cNvSpPr/>
          <p:nvPr/>
        </p:nvSpPr>
        <p:spPr>
          <a:xfrm>
            <a:off x="502920" y="3511296"/>
            <a:ext cx="11201400" cy="0"/>
          </a:xfrm>
          <a:prstGeom prst="line">
            <a:avLst/>
          </a:prstGeom>
          <a:noFill/>
          <a:ln w="12700">
            <a:solidFill>
              <a:srgbClr val="E6E6E6"/>
            </a:solidFill>
            <a:prstDash val="solid"/>
          </a:ln>
        </p:spPr>
      </p:sp>
      <p:sp>
        <p:nvSpPr>
          <p:cNvPr id="19" name="Text 17"/>
          <p:cNvSpPr txBox="1"/>
          <p:nvPr/>
        </p:nvSpPr>
        <p:spPr>
          <a:xfrm>
            <a:off x="502920" y="3584448"/>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員数（自転車1台＝車輪2個）の掛け忘れに注意。MRPは計画に基づき部品を押し出すプッシュ型で、かんばん（プル型、D-2）とは対照的。</a:t>
            </a:r>
            <a:endParaRPr lang="en-US" sz="950" dirty="0"/>
          </a:p>
        </p:txBody>
      </p:sp>
      <p:sp>
        <p:nvSpPr>
          <p:cNvPr id="20" name="Shape 18"/>
          <p:cNvSpPr/>
          <p:nvPr/>
        </p:nvSpPr>
        <p:spPr>
          <a:xfrm>
            <a:off x="502920" y="5989320"/>
            <a:ext cx="11201400" cy="0"/>
          </a:xfrm>
          <a:prstGeom prst="line">
            <a:avLst/>
          </a:prstGeom>
          <a:noFill/>
          <a:ln w="9525">
            <a:solidFill>
              <a:srgbClr val="171717"/>
            </a:solidFill>
            <a:prstDash val="solid"/>
          </a:ln>
        </p:spPr>
      </p:sp>
      <p:sp>
        <p:nvSpPr>
          <p:cNvPr id="21" name="Shape 19"/>
          <p:cNvSpPr/>
          <p:nvPr/>
        </p:nvSpPr>
        <p:spPr>
          <a:xfrm>
            <a:off x="502920" y="6062472"/>
            <a:ext cx="329184" cy="329184"/>
          </a:xfrm>
          <a:prstGeom prst="ellipse">
            <a:avLst/>
          </a:prstGeom>
          <a:solidFill>
            <a:srgbClr val="FF3B1F"/>
          </a:solidFill>
          <a:ln/>
        </p:spPr>
      </p:sp>
      <p:sp>
        <p:nvSpPr>
          <p:cNvPr id="22" name="Text 20"/>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3" name="Text 21"/>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4" name="Shape 22"/>
          <p:cNvSpPr/>
          <p:nvPr/>
        </p:nvSpPr>
        <p:spPr>
          <a:xfrm>
            <a:off x="2331720" y="6062472"/>
            <a:ext cx="0" cy="329184"/>
          </a:xfrm>
          <a:prstGeom prst="line">
            <a:avLst/>
          </a:prstGeom>
          <a:noFill/>
          <a:ln w="12700">
            <a:solidFill>
              <a:srgbClr val="E6E6E6"/>
            </a:solidFill>
            <a:prstDash val="solid"/>
          </a:ln>
        </p:spPr>
      </p:sp>
      <p:sp>
        <p:nvSpPr>
          <p:cNvPr id="25" name="Text 23"/>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関連：D-2 生産システム（JIT・かんばん＝プル型との対比）。</a:t>
            </a:r>
            <a:endParaRPr lang="en-US" sz="1000" dirty="0"/>
          </a:p>
        </p:txBody>
      </p:sp>
      <p:sp>
        <p:nvSpPr>
          <p:cNvPr id="26" name="Text 24"/>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7" name="Shape 25"/>
          <p:cNvSpPr/>
          <p:nvPr/>
        </p:nvSpPr>
        <p:spPr>
          <a:xfrm>
            <a:off x="2466594" y="6464808"/>
            <a:ext cx="146304" cy="146304"/>
          </a:xfrm>
          <a:prstGeom prst="ellipse">
            <a:avLst/>
          </a:prstGeom>
          <a:solidFill>
            <a:srgbClr val="FF3B1F"/>
          </a:solidFill>
          <a:ln w="12700">
            <a:solidFill>
              <a:srgbClr val="FF3B1F"/>
            </a:solidFill>
            <a:prstDash val="solid"/>
          </a:ln>
        </p:spPr>
      </p:sp>
      <p:sp>
        <p:nvSpPr>
          <p:cNvPr id="28" name="Text 26"/>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9" name="Shape 27"/>
          <p:cNvSpPr/>
          <p:nvPr/>
        </p:nvSpPr>
        <p:spPr>
          <a:xfrm>
            <a:off x="3431286" y="6464808"/>
            <a:ext cx="146304" cy="146304"/>
          </a:xfrm>
          <a:prstGeom prst="ellipse">
            <a:avLst/>
          </a:prstGeom>
          <a:solidFill>
            <a:srgbClr val="FFFFFF"/>
          </a:solidFill>
          <a:ln w="12700">
            <a:solidFill>
              <a:srgbClr val="E6E6E6"/>
            </a:solidFill>
            <a:prstDash val="solid"/>
          </a:ln>
        </p:spPr>
      </p:sp>
      <p:sp>
        <p:nvSpPr>
          <p:cNvPr id="30" name="Text 28"/>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31" name="Shape 29"/>
          <p:cNvSpPr/>
          <p:nvPr/>
        </p:nvSpPr>
        <p:spPr>
          <a:xfrm>
            <a:off x="4395978" y="6464808"/>
            <a:ext cx="146304" cy="146304"/>
          </a:xfrm>
          <a:prstGeom prst="ellipse">
            <a:avLst/>
          </a:prstGeom>
          <a:solidFill>
            <a:srgbClr val="FF3B1F"/>
          </a:solidFill>
          <a:ln w="12700">
            <a:solidFill>
              <a:srgbClr val="FF3B1F"/>
            </a:solidFill>
            <a:prstDash val="solid"/>
          </a:ln>
        </p:spPr>
      </p:sp>
      <p:sp>
        <p:nvSpPr>
          <p:cNvPr id="32" name="Text 30"/>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3" name="Shape 31"/>
          <p:cNvSpPr/>
          <p:nvPr/>
        </p:nvSpPr>
        <p:spPr>
          <a:xfrm>
            <a:off x="5360670" y="6464808"/>
            <a:ext cx="146304" cy="146304"/>
          </a:xfrm>
          <a:prstGeom prst="ellipse">
            <a:avLst/>
          </a:prstGeom>
          <a:solidFill>
            <a:srgbClr val="FF3B1F"/>
          </a:solidFill>
          <a:ln w="12700">
            <a:solidFill>
              <a:srgbClr val="FF3B1F"/>
            </a:solidFill>
            <a:prstDash val="solid"/>
          </a:ln>
        </p:spPr>
      </p:sp>
      <p:sp>
        <p:nvSpPr>
          <p:cNvPr id="34" name="Text 32"/>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5" name="Shape 33"/>
          <p:cNvSpPr/>
          <p:nvPr/>
        </p:nvSpPr>
        <p:spPr>
          <a:xfrm>
            <a:off x="6325362" y="6464808"/>
            <a:ext cx="146304" cy="146304"/>
          </a:xfrm>
          <a:prstGeom prst="ellipse">
            <a:avLst/>
          </a:prstGeom>
          <a:solidFill>
            <a:srgbClr val="FF3B1F"/>
          </a:solidFill>
          <a:ln w="12700">
            <a:solidFill>
              <a:srgbClr val="FF3B1F"/>
            </a:solidFill>
            <a:prstDash val="solid"/>
          </a:ln>
        </p:spPr>
      </p:sp>
      <p:sp>
        <p:nvSpPr>
          <p:cNvPr id="36" name="Text 34"/>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7" name="Shape 35"/>
          <p:cNvSpPr/>
          <p:nvPr/>
        </p:nvSpPr>
        <p:spPr>
          <a:xfrm>
            <a:off x="7290054" y="6464808"/>
            <a:ext cx="146304" cy="146304"/>
          </a:xfrm>
          <a:prstGeom prst="ellipse">
            <a:avLst/>
          </a:prstGeom>
          <a:solidFill>
            <a:srgbClr val="FF3B1F"/>
          </a:solidFill>
          <a:ln w="12700">
            <a:solidFill>
              <a:srgbClr val="FF3B1F"/>
            </a:solidFill>
            <a:prstDash val="solid"/>
          </a:ln>
        </p:spPr>
      </p:sp>
      <p:sp>
        <p:nvSpPr>
          <p:cNvPr id="38" name="Text 36"/>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9" name="Shape 37"/>
          <p:cNvSpPr/>
          <p:nvPr/>
        </p:nvSpPr>
        <p:spPr>
          <a:xfrm>
            <a:off x="8254746" y="6464808"/>
            <a:ext cx="146304" cy="146304"/>
          </a:xfrm>
          <a:prstGeom prst="ellipse">
            <a:avLst/>
          </a:prstGeom>
          <a:solidFill>
            <a:srgbClr val="FF3B1F"/>
          </a:solidFill>
          <a:ln w="12700">
            <a:solidFill>
              <a:srgbClr val="FF3B1F"/>
            </a:solidFill>
            <a:prstDash val="solid"/>
          </a:ln>
        </p:spPr>
      </p:sp>
      <p:sp>
        <p:nvSpPr>
          <p:cNvPr id="40" name="Text 38"/>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41" name="Shape 39"/>
          <p:cNvSpPr/>
          <p:nvPr/>
        </p:nvSpPr>
        <p:spPr>
          <a:xfrm>
            <a:off x="9219438" y="6464808"/>
            <a:ext cx="146304" cy="146304"/>
          </a:xfrm>
          <a:prstGeom prst="ellipse">
            <a:avLst/>
          </a:prstGeom>
          <a:solidFill>
            <a:srgbClr val="FF3B1F"/>
          </a:solidFill>
          <a:ln w="12700">
            <a:solidFill>
              <a:srgbClr val="FF3B1F"/>
            </a:solidFill>
            <a:prstDash val="solid"/>
          </a:ln>
        </p:spPr>
      </p:sp>
      <p:sp>
        <p:nvSpPr>
          <p:cNvPr id="42" name="Text 40"/>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3" name="Shape 41"/>
          <p:cNvSpPr/>
          <p:nvPr/>
        </p:nvSpPr>
        <p:spPr>
          <a:xfrm>
            <a:off x="10184130" y="6464808"/>
            <a:ext cx="146304" cy="146304"/>
          </a:xfrm>
          <a:prstGeom prst="ellipse">
            <a:avLst/>
          </a:prstGeom>
          <a:solidFill>
            <a:srgbClr val="FF3B1F"/>
          </a:solidFill>
          <a:ln w="12700">
            <a:solidFill>
              <a:srgbClr val="FF3B1F"/>
            </a:solidFill>
            <a:prstDash val="solid"/>
          </a:ln>
        </p:spPr>
      </p:sp>
      <p:sp>
        <p:nvSpPr>
          <p:cNvPr id="44" name="Text 42"/>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5" name="Shape 43"/>
          <p:cNvSpPr/>
          <p:nvPr/>
        </p:nvSpPr>
        <p:spPr>
          <a:xfrm>
            <a:off x="11148822" y="6464808"/>
            <a:ext cx="146304" cy="146304"/>
          </a:xfrm>
          <a:prstGeom prst="ellipse">
            <a:avLst/>
          </a:prstGeom>
          <a:solidFill>
            <a:srgbClr val="FFFFFF"/>
          </a:solidFill>
          <a:ln w="12700">
            <a:solidFill>
              <a:srgbClr val="E6E6E6"/>
            </a:solidFill>
            <a:prstDash val="solid"/>
          </a:ln>
        </p:spPr>
      </p:sp>
      <p:sp>
        <p:nvSpPr>
          <p:cNvPr id="46" name="Text 44"/>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生産計画：スケジューリング</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短い工程に着目して投入順序を決める</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PERTのクリティカルパスと、2機械フローショップのジョンソンの規則。</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691640"/>
            <a:ext cx="20116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クリティカルパス</a:t>
            </a:r>
            <a:endParaRPr lang="en-US" sz="1100" dirty="0"/>
          </a:p>
        </p:txBody>
      </p:sp>
      <p:sp>
        <p:nvSpPr>
          <p:cNvPr id="9" name="Shape 7"/>
          <p:cNvSpPr/>
          <p:nvPr/>
        </p:nvSpPr>
        <p:spPr>
          <a:xfrm>
            <a:off x="2496312" y="1691640"/>
            <a:ext cx="0" cy="256032"/>
          </a:xfrm>
          <a:prstGeom prst="line">
            <a:avLst/>
          </a:prstGeom>
          <a:noFill/>
          <a:ln w="12700">
            <a:solidFill>
              <a:srgbClr val="E6E6E6"/>
            </a:solidFill>
            <a:prstDash val="solid"/>
          </a:ln>
        </p:spPr>
      </p:sp>
      <p:sp>
        <p:nvSpPr>
          <p:cNvPr id="10" name="Text 8"/>
          <p:cNvSpPr txBox="1"/>
          <p:nvPr/>
        </p:nvSpPr>
        <p:spPr>
          <a:xfrm>
            <a:off x="2651760" y="1691640"/>
            <a:ext cx="90525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PERT図で最も時間のかかる経路。余裕時間ゼロで遅れが全体に直結</a:t>
            </a:r>
            <a:endParaRPr lang="en-US" sz="1100" dirty="0"/>
          </a:p>
        </p:txBody>
      </p:sp>
      <p:sp>
        <p:nvSpPr>
          <p:cNvPr id="11" name="Text 9"/>
          <p:cNvSpPr txBox="1"/>
          <p:nvPr/>
        </p:nvSpPr>
        <p:spPr>
          <a:xfrm>
            <a:off x="502920" y="2075688"/>
            <a:ext cx="2011680" cy="365760"/>
          </a:xfrm>
          <a:prstGeom prst="rect">
            <a:avLst/>
          </a:prstGeom>
          <a:noFill/>
          <a:ln/>
        </p:spPr>
        <p:txBody>
          <a:bodyPr wrap="square" lIns="0" tIns="0" rIns="0" bIns="0" rtlCol="0" anchor="t"/>
          <a:lstStyle/>
          <a:p>
            <a:pPr indent="0" marL="0">
              <a:buNone/>
            </a:pPr>
            <a:r>
              <a:rPr lang="en-US" sz="1100" b="1" dirty="0">
                <a:solidFill>
                  <a:srgbClr val="171717"/>
                </a:solidFill>
                <a:latin typeface="Yu Gothic" pitchFamily="34" charset="0"/>
                <a:ea typeface="Yu Gothic" pitchFamily="34" charset="-122"/>
                <a:cs typeface="Yu Gothic" pitchFamily="34" charset="-120"/>
              </a:rPr>
              <a:t>ジョンソンの規則</a:t>
            </a:r>
            <a:endParaRPr lang="en-US" sz="1100" dirty="0"/>
          </a:p>
        </p:txBody>
      </p:sp>
      <p:sp>
        <p:nvSpPr>
          <p:cNvPr id="12" name="Shape 10"/>
          <p:cNvSpPr/>
          <p:nvPr/>
        </p:nvSpPr>
        <p:spPr>
          <a:xfrm>
            <a:off x="2496312" y="2075688"/>
            <a:ext cx="0" cy="256032"/>
          </a:xfrm>
          <a:prstGeom prst="line">
            <a:avLst/>
          </a:prstGeom>
          <a:noFill/>
          <a:ln w="12700">
            <a:solidFill>
              <a:srgbClr val="E6E6E6"/>
            </a:solidFill>
            <a:prstDash val="solid"/>
          </a:ln>
        </p:spPr>
      </p:sp>
      <p:sp>
        <p:nvSpPr>
          <p:cNvPr id="13" name="Text 11"/>
          <p:cNvSpPr txBox="1"/>
          <p:nvPr/>
        </p:nvSpPr>
        <p:spPr>
          <a:xfrm>
            <a:off x="2651760" y="2075688"/>
            <a:ext cx="9052560" cy="365760"/>
          </a:xfrm>
          <a:prstGeom prst="rect">
            <a:avLst/>
          </a:prstGeom>
          <a:noFill/>
          <a:ln/>
        </p:spPr>
        <p:txBody>
          <a:bodyPr wrap="square" lIns="0" tIns="0" rIns="0" bIns="0" rtlCol="0" anchor="t"/>
          <a:lstStyle/>
          <a:p>
            <a:pPr indent="0" marL="0">
              <a:buNone/>
            </a:pPr>
            <a:r>
              <a:rPr lang="en-US" sz="1100" dirty="0">
                <a:solidFill>
                  <a:srgbClr val="8A8A8A"/>
                </a:solidFill>
                <a:latin typeface="Yu Gothic" pitchFamily="34" charset="0"/>
                <a:ea typeface="Yu Gothic" pitchFamily="34" charset="-122"/>
                <a:cs typeface="Yu Gothic" pitchFamily="34" charset="-120"/>
              </a:rPr>
              <a:t>第1工程が短いジョブは前方へ昇順、第2工程が短いジョブは後方へ降順</a:t>
            </a:r>
            <a:endParaRPr lang="en-US" sz="1100" dirty="0"/>
          </a:p>
        </p:txBody>
      </p:sp>
      <p:sp>
        <p:nvSpPr>
          <p:cNvPr id="14" name="Text 12"/>
          <p:cNvSpPr txBox="1"/>
          <p:nvPr/>
        </p:nvSpPr>
        <p:spPr>
          <a:xfrm>
            <a:off x="502920" y="2551176"/>
            <a:ext cx="11201400" cy="530352"/>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4ジョブa,b,c,dの投入順序＝a→c→d→b（前方は第1工程時間昇順、後方は第2工程時間降順）。</a:t>
            </a:r>
            <a:endParaRPr lang="en-US" sz="850" dirty="0"/>
          </a:p>
        </p:txBody>
      </p:sp>
      <p:sp>
        <p:nvSpPr>
          <p:cNvPr id="15" name="Shape 13"/>
          <p:cNvSpPr/>
          <p:nvPr/>
        </p:nvSpPr>
        <p:spPr>
          <a:xfrm>
            <a:off x="502920" y="3154680"/>
            <a:ext cx="11201400" cy="0"/>
          </a:xfrm>
          <a:prstGeom prst="line">
            <a:avLst/>
          </a:prstGeom>
          <a:noFill/>
          <a:ln w="12700">
            <a:solidFill>
              <a:srgbClr val="E6E6E6"/>
            </a:solidFill>
            <a:prstDash val="solid"/>
          </a:ln>
        </p:spPr>
      </p:sp>
      <p:sp>
        <p:nvSpPr>
          <p:cNvPr id="16" name="Text 14"/>
          <p:cNvSpPr txBox="1"/>
          <p:nvPr/>
        </p:nvSpPr>
        <p:spPr>
          <a:xfrm>
            <a:off x="502920" y="3227832"/>
            <a:ext cx="11201400" cy="365760"/>
          </a:xfrm>
          <a:prstGeom prst="rect">
            <a:avLst/>
          </a:prstGeom>
          <a:noFill/>
          <a:ln/>
        </p:spPr>
        <p:txBody>
          <a:bodyPr wrap="square" lIns="0" tIns="0" rIns="0" bIns="0" rtlCol="0" anchor="ctr"/>
          <a:lstStyle/>
          <a:p>
            <a:pPr indent="0" marL="0">
              <a:lnSpc>
                <a:spcPct val="120000"/>
              </a:lnSpc>
              <a:buNone/>
            </a:pPr>
            <a:r>
              <a:rPr lang="en-US" sz="950" b="1" dirty="0">
                <a:solidFill>
                  <a:srgbClr val="FF3B1F"/>
                </a:solidFill>
                <a:latin typeface="Yu Gothic" pitchFamily="34" charset="0"/>
                <a:ea typeface="Yu Gothic" pitchFamily="34" charset="-122"/>
                <a:cs typeface="Yu Gothic" pitchFamily="34" charset="-120"/>
              </a:rPr>
              <a:t>ひっかけ：</a:t>
            </a:r>
            <a:pPr indent="0" marL="0">
              <a:lnSpc>
                <a:spcPct val="120000"/>
              </a:lnSpc>
              <a:buNone/>
            </a:pPr>
            <a:r>
              <a:rPr lang="en-US" sz="950" dirty="0">
                <a:solidFill>
                  <a:srgbClr val="FF3B1F"/>
                </a:solidFill>
                <a:latin typeface="Yu Gothic" pitchFamily="34" charset="0"/>
                <a:ea typeface="Yu Gothic" pitchFamily="34" charset="-122"/>
                <a:cs typeface="Yu Gothic" pitchFamily="34" charset="-120"/>
              </a:rPr>
              <a:t>「第1工程が長いジョブを先に」ではなく「短い工程に着目」。ジョンソンの規則は2台機械・同一工程順序のフローショップ限定。</a:t>
            </a:r>
            <a:endParaRPr lang="en-US" sz="950" dirty="0"/>
          </a:p>
        </p:txBody>
      </p:sp>
      <p:sp>
        <p:nvSpPr>
          <p:cNvPr id="17" name="Shape 15"/>
          <p:cNvSpPr/>
          <p:nvPr/>
        </p:nvSpPr>
        <p:spPr>
          <a:xfrm>
            <a:off x="502920" y="5989320"/>
            <a:ext cx="11201400" cy="0"/>
          </a:xfrm>
          <a:prstGeom prst="line">
            <a:avLst/>
          </a:prstGeom>
          <a:noFill/>
          <a:ln w="9525">
            <a:solidFill>
              <a:srgbClr val="171717"/>
            </a:solidFill>
            <a:prstDash val="solid"/>
          </a:ln>
        </p:spPr>
      </p:sp>
      <p:sp>
        <p:nvSpPr>
          <p:cNvPr id="18" name="Shape 16"/>
          <p:cNvSpPr/>
          <p:nvPr/>
        </p:nvSpPr>
        <p:spPr>
          <a:xfrm>
            <a:off x="502920" y="6062472"/>
            <a:ext cx="329184" cy="329184"/>
          </a:xfrm>
          <a:prstGeom prst="ellipse">
            <a:avLst/>
          </a:prstGeom>
          <a:solidFill>
            <a:srgbClr val="FF3B1F"/>
          </a:solidFill>
          <a:ln/>
        </p:spPr>
      </p:sp>
      <p:sp>
        <p:nvSpPr>
          <p:cNvPr id="19" name="Text 17"/>
          <p:cNvSpPr txBox="1"/>
          <p:nvPr/>
        </p:nvSpPr>
        <p:spPr>
          <a:xfrm>
            <a:off x="502920" y="60624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onsolas" pitchFamily="34" charset="0"/>
                <a:ea typeface="Consolas" pitchFamily="34" charset="-122"/>
                <a:cs typeface="Consolas" pitchFamily="34" charset="-120"/>
              </a:rPr>
              <a:t>A</a:t>
            </a:r>
            <a:endParaRPr lang="en-US" sz="1300" dirty="0"/>
          </a:p>
        </p:txBody>
      </p:sp>
      <p:sp>
        <p:nvSpPr>
          <p:cNvPr id="20" name="Text 18"/>
          <p:cNvSpPr txBox="1"/>
          <p:nvPr/>
        </p:nvSpPr>
        <p:spPr>
          <a:xfrm>
            <a:off x="914400" y="6062472"/>
            <a:ext cx="1371600" cy="329184"/>
          </a:xfrm>
          <a:prstGeom prst="rect">
            <a:avLst/>
          </a:prstGeom>
          <a:noFill/>
          <a:ln/>
        </p:spPr>
        <p:txBody>
          <a:bodyPr wrap="square" lIns="0" tIns="0" rIns="0" bIns="0" rtlCol="0" anchor="ctr"/>
          <a:lstStyle/>
          <a:p>
            <a:pPr indent="0" marL="0">
              <a:buNone/>
            </a:pPr>
            <a:r>
              <a:rPr lang="en-US" sz="1050" b="1" dirty="0">
                <a:solidFill>
                  <a:srgbClr val="171717"/>
                </a:solidFill>
                <a:latin typeface="Yu Gothic" pitchFamily="34" charset="0"/>
                <a:ea typeface="Yu Gothic" pitchFamily="34" charset="-122"/>
                <a:cs typeface="Yu Gothic" pitchFamily="34" charset="-120"/>
              </a:rPr>
              <a:t>最頻出論点</a:t>
            </a:r>
            <a:endParaRPr lang="en-US" sz="1050" dirty="0"/>
          </a:p>
        </p:txBody>
      </p:sp>
      <p:sp>
        <p:nvSpPr>
          <p:cNvPr id="21" name="Shape 19"/>
          <p:cNvSpPr/>
          <p:nvPr/>
        </p:nvSpPr>
        <p:spPr>
          <a:xfrm>
            <a:off x="2331720" y="6062472"/>
            <a:ext cx="0" cy="329184"/>
          </a:xfrm>
          <a:prstGeom prst="line">
            <a:avLst/>
          </a:prstGeom>
          <a:noFill/>
          <a:ln w="12700">
            <a:solidFill>
              <a:srgbClr val="E6E6E6"/>
            </a:solidFill>
            <a:prstDash val="solid"/>
          </a:ln>
        </p:spPr>
      </p:sp>
      <p:sp>
        <p:nvSpPr>
          <p:cNvPr id="22" name="Text 20"/>
          <p:cNvSpPr txBox="1"/>
          <p:nvPr/>
        </p:nvSpPr>
        <p:spPr>
          <a:xfrm>
            <a:off x="2514600" y="6044184"/>
            <a:ext cx="9189720" cy="36576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関連：D-10 生産統制（進捗管理でスケジュール通りかを日々チェック）。</a:t>
            </a:r>
            <a:endParaRPr lang="en-US" sz="1000" dirty="0"/>
          </a:p>
        </p:txBody>
      </p:sp>
      <p:sp>
        <p:nvSpPr>
          <p:cNvPr id="23" name="Text 21"/>
          <p:cNvSpPr txBox="1"/>
          <p:nvPr/>
        </p:nvSpPr>
        <p:spPr>
          <a:xfrm>
            <a:off x="502920" y="6464808"/>
            <a:ext cx="1417320" cy="219456"/>
          </a:xfrm>
          <a:prstGeom prst="rect">
            <a:avLst/>
          </a:prstGeom>
          <a:noFill/>
          <a:ln/>
        </p:spPr>
        <p:txBody>
          <a:bodyPr wrap="square" lIns="0" tIns="0" rIns="0" bIns="0" rtlCol="0" anchor="ctr"/>
          <a:lstStyle/>
          <a:p>
            <a:pPr indent="0" marL="0">
              <a:buNone/>
            </a:pPr>
            <a:r>
              <a:rPr lang="en-US" sz="850" dirty="0">
                <a:solidFill>
                  <a:srgbClr val="8A8A8A"/>
                </a:solidFill>
                <a:latin typeface="Yu Gothic" pitchFamily="34" charset="0"/>
                <a:ea typeface="Yu Gothic" pitchFamily="34" charset="-122"/>
                <a:cs typeface="Yu Gothic" pitchFamily="34" charset="-120"/>
              </a:rPr>
              <a:t>出題年度（過去10年）</a:t>
            </a:r>
            <a:endParaRPr lang="en-US" sz="850" dirty="0"/>
          </a:p>
        </p:txBody>
      </p:sp>
      <p:sp>
        <p:nvSpPr>
          <p:cNvPr id="24" name="Shape 22"/>
          <p:cNvSpPr/>
          <p:nvPr/>
        </p:nvSpPr>
        <p:spPr>
          <a:xfrm>
            <a:off x="2466594" y="6464808"/>
            <a:ext cx="146304" cy="146304"/>
          </a:xfrm>
          <a:prstGeom prst="ellipse">
            <a:avLst/>
          </a:prstGeom>
          <a:solidFill>
            <a:srgbClr val="FF3B1F"/>
          </a:solidFill>
          <a:ln w="12700">
            <a:solidFill>
              <a:srgbClr val="FF3B1F"/>
            </a:solidFill>
            <a:prstDash val="solid"/>
          </a:ln>
        </p:spPr>
      </p:sp>
      <p:sp>
        <p:nvSpPr>
          <p:cNvPr id="25" name="Text 23"/>
          <p:cNvSpPr txBox="1"/>
          <p:nvPr/>
        </p:nvSpPr>
        <p:spPr>
          <a:xfrm>
            <a:off x="205740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'16</a:t>
            </a:r>
            <a:endParaRPr lang="en-US" sz="800" dirty="0"/>
          </a:p>
        </p:txBody>
      </p:sp>
      <p:sp>
        <p:nvSpPr>
          <p:cNvPr id="26" name="Shape 24"/>
          <p:cNvSpPr/>
          <p:nvPr/>
        </p:nvSpPr>
        <p:spPr>
          <a:xfrm>
            <a:off x="3431286" y="6464808"/>
            <a:ext cx="146304" cy="146304"/>
          </a:xfrm>
          <a:prstGeom prst="ellipse">
            <a:avLst/>
          </a:prstGeom>
          <a:solidFill>
            <a:srgbClr val="FFFFFF"/>
          </a:solidFill>
          <a:ln w="12700">
            <a:solidFill>
              <a:srgbClr val="E6E6E6"/>
            </a:solidFill>
            <a:prstDash val="solid"/>
          </a:ln>
        </p:spPr>
      </p:sp>
      <p:sp>
        <p:nvSpPr>
          <p:cNvPr id="27" name="Text 25"/>
          <p:cNvSpPr txBox="1"/>
          <p:nvPr/>
        </p:nvSpPr>
        <p:spPr>
          <a:xfrm>
            <a:off x="3022092" y="6620256"/>
            <a:ext cx="964692" cy="173736"/>
          </a:xfrm>
          <a:prstGeom prst="rect">
            <a:avLst/>
          </a:prstGeom>
          <a:noFill/>
          <a:ln/>
        </p:spPr>
        <p:txBody>
          <a:bodyPr wrap="square" lIns="0" tIns="0" rIns="0" bIns="0" rtlCol="0" anchor="ctr"/>
          <a:lstStyle/>
          <a:p>
            <a:pPr algn="ctr" indent="0" marL="0">
              <a:buNone/>
            </a:pPr>
            <a:r>
              <a:rPr lang="en-US" sz="800" dirty="0">
                <a:solidFill>
                  <a:srgbClr val="8A8A8A"/>
                </a:solidFill>
                <a:latin typeface="Consolas" pitchFamily="34" charset="0"/>
                <a:ea typeface="Consolas" pitchFamily="34" charset="-122"/>
                <a:cs typeface="Consolas" pitchFamily="34" charset="-120"/>
              </a:rPr>
              <a:t>'17</a:t>
            </a:r>
            <a:endParaRPr lang="en-US" sz="800" dirty="0"/>
          </a:p>
        </p:txBody>
      </p:sp>
      <p:sp>
        <p:nvSpPr>
          <p:cNvPr id="28" name="Shape 26"/>
          <p:cNvSpPr/>
          <p:nvPr/>
        </p:nvSpPr>
        <p:spPr>
          <a:xfrm>
            <a:off x="4395978" y="6464808"/>
            <a:ext cx="146304" cy="146304"/>
          </a:xfrm>
          <a:prstGeom prst="ellipse">
            <a:avLst/>
          </a:prstGeom>
          <a:solidFill>
            <a:srgbClr val="FF3B1F"/>
          </a:solidFill>
          <a:ln w="12700">
            <a:solidFill>
              <a:srgbClr val="FF3B1F"/>
            </a:solidFill>
            <a:prstDash val="solid"/>
          </a:ln>
        </p:spPr>
      </p:sp>
      <p:sp>
        <p:nvSpPr>
          <p:cNvPr id="29" name="Text 27"/>
          <p:cNvSpPr txBox="1"/>
          <p:nvPr/>
        </p:nvSpPr>
        <p:spPr>
          <a:xfrm>
            <a:off x="398678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'18</a:t>
            </a:r>
            <a:endParaRPr lang="en-US" sz="800" dirty="0"/>
          </a:p>
        </p:txBody>
      </p:sp>
      <p:sp>
        <p:nvSpPr>
          <p:cNvPr id="30" name="Shape 28"/>
          <p:cNvSpPr/>
          <p:nvPr/>
        </p:nvSpPr>
        <p:spPr>
          <a:xfrm>
            <a:off x="5360670" y="6464808"/>
            <a:ext cx="146304" cy="146304"/>
          </a:xfrm>
          <a:prstGeom prst="ellipse">
            <a:avLst/>
          </a:prstGeom>
          <a:solidFill>
            <a:srgbClr val="FF3B1F"/>
          </a:solidFill>
          <a:ln w="12700">
            <a:solidFill>
              <a:srgbClr val="FF3B1F"/>
            </a:solidFill>
            <a:prstDash val="solid"/>
          </a:ln>
        </p:spPr>
      </p:sp>
      <p:sp>
        <p:nvSpPr>
          <p:cNvPr id="31" name="Text 29"/>
          <p:cNvSpPr txBox="1"/>
          <p:nvPr/>
        </p:nvSpPr>
        <p:spPr>
          <a:xfrm>
            <a:off x="495147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'19</a:t>
            </a:r>
            <a:endParaRPr lang="en-US" sz="800" dirty="0"/>
          </a:p>
        </p:txBody>
      </p:sp>
      <p:sp>
        <p:nvSpPr>
          <p:cNvPr id="32" name="Shape 30"/>
          <p:cNvSpPr/>
          <p:nvPr/>
        </p:nvSpPr>
        <p:spPr>
          <a:xfrm>
            <a:off x="6325362" y="6464808"/>
            <a:ext cx="146304" cy="146304"/>
          </a:xfrm>
          <a:prstGeom prst="ellipse">
            <a:avLst/>
          </a:prstGeom>
          <a:solidFill>
            <a:srgbClr val="FF3B1F"/>
          </a:solidFill>
          <a:ln w="12700">
            <a:solidFill>
              <a:srgbClr val="FF3B1F"/>
            </a:solidFill>
            <a:prstDash val="solid"/>
          </a:ln>
        </p:spPr>
      </p:sp>
      <p:sp>
        <p:nvSpPr>
          <p:cNvPr id="33" name="Text 31"/>
          <p:cNvSpPr txBox="1"/>
          <p:nvPr/>
        </p:nvSpPr>
        <p:spPr>
          <a:xfrm>
            <a:off x="591616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'20</a:t>
            </a:r>
            <a:endParaRPr lang="en-US" sz="800" dirty="0"/>
          </a:p>
        </p:txBody>
      </p:sp>
      <p:sp>
        <p:nvSpPr>
          <p:cNvPr id="34" name="Shape 32"/>
          <p:cNvSpPr/>
          <p:nvPr/>
        </p:nvSpPr>
        <p:spPr>
          <a:xfrm>
            <a:off x="7290054" y="6464808"/>
            <a:ext cx="146304" cy="146304"/>
          </a:xfrm>
          <a:prstGeom prst="ellipse">
            <a:avLst/>
          </a:prstGeom>
          <a:solidFill>
            <a:srgbClr val="FF3B1F"/>
          </a:solidFill>
          <a:ln w="12700">
            <a:solidFill>
              <a:srgbClr val="FF3B1F"/>
            </a:solidFill>
            <a:prstDash val="solid"/>
          </a:ln>
        </p:spPr>
      </p:sp>
      <p:sp>
        <p:nvSpPr>
          <p:cNvPr id="35" name="Text 33"/>
          <p:cNvSpPr txBox="1"/>
          <p:nvPr/>
        </p:nvSpPr>
        <p:spPr>
          <a:xfrm>
            <a:off x="6880860"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'21</a:t>
            </a:r>
            <a:endParaRPr lang="en-US" sz="800" dirty="0"/>
          </a:p>
        </p:txBody>
      </p:sp>
      <p:sp>
        <p:nvSpPr>
          <p:cNvPr id="36" name="Shape 34"/>
          <p:cNvSpPr/>
          <p:nvPr/>
        </p:nvSpPr>
        <p:spPr>
          <a:xfrm>
            <a:off x="8254746" y="6464808"/>
            <a:ext cx="146304" cy="146304"/>
          </a:xfrm>
          <a:prstGeom prst="ellipse">
            <a:avLst/>
          </a:prstGeom>
          <a:solidFill>
            <a:srgbClr val="FF3B1F"/>
          </a:solidFill>
          <a:ln w="12700">
            <a:solidFill>
              <a:srgbClr val="FF3B1F"/>
            </a:solidFill>
            <a:prstDash val="solid"/>
          </a:ln>
        </p:spPr>
      </p:sp>
      <p:sp>
        <p:nvSpPr>
          <p:cNvPr id="37" name="Text 35"/>
          <p:cNvSpPr txBox="1"/>
          <p:nvPr/>
        </p:nvSpPr>
        <p:spPr>
          <a:xfrm>
            <a:off x="7845552"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'22</a:t>
            </a:r>
            <a:endParaRPr lang="en-US" sz="800" dirty="0"/>
          </a:p>
        </p:txBody>
      </p:sp>
      <p:sp>
        <p:nvSpPr>
          <p:cNvPr id="38" name="Shape 36"/>
          <p:cNvSpPr/>
          <p:nvPr/>
        </p:nvSpPr>
        <p:spPr>
          <a:xfrm>
            <a:off x="9219438" y="6464808"/>
            <a:ext cx="146304" cy="146304"/>
          </a:xfrm>
          <a:prstGeom prst="ellipse">
            <a:avLst/>
          </a:prstGeom>
          <a:solidFill>
            <a:srgbClr val="FF3B1F"/>
          </a:solidFill>
          <a:ln w="12700">
            <a:solidFill>
              <a:srgbClr val="FF3B1F"/>
            </a:solidFill>
            <a:prstDash val="solid"/>
          </a:ln>
        </p:spPr>
      </p:sp>
      <p:sp>
        <p:nvSpPr>
          <p:cNvPr id="39" name="Text 37"/>
          <p:cNvSpPr txBox="1"/>
          <p:nvPr/>
        </p:nvSpPr>
        <p:spPr>
          <a:xfrm>
            <a:off x="8810244"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'23</a:t>
            </a:r>
            <a:endParaRPr lang="en-US" sz="800" dirty="0"/>
          </a:p>
        </p:txBody>
      </p:sp>
      <p:sp>
        <p:nvSpPr>
          <p:cNvPr id="40" name="Shape 38"/>
          <p:cNvSpPr/>
          <p:nvPr/>
        </p:nvSpPr>
        <p:spPr>
          <a:xfrm>
            <a:off x="10184130" y="6464808"/>
            <a:ext cx="146304" cy="146304"/>
          </a:xfrm>
          <a:prstGeom prst="ellipse">
            <a:avLst/>
          </a:prstGeom>
          <a:solidFill>
            <a:srgbClr val="FF3B1F"/>
          </a:solidFill>
          <a:ln w="12700">
            <a:solidFill>
              <a:srgbClr val="FF3B1F"/>
            </a:solidFill>
            <a:prstDash val="solid"/>
          </a:ln>
        </p:spPr>
      </p:sp>
      <p:sp>
        <p:nvSpPr>
          <p:cNvPr id="41" name="Text 39"/>
          <p:cNvSpPr txBox="1"/>
          <p:nvPr/>
        </p:nvSpPr>
        <p:spPr>
          <a:xfrm>
            <a:off x="9774936"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'24</a:t>
            </a:r>
            <a:endParaRPr lang="en-US" sz="800" dirty="0"/>
          </a:p>
        </p:txBody>
      </p:sp>
      <p:sp>
        <p:nvSpPr>
          <p:cNvPr id="42" name="Shape 40"/>
          <p:cNvSpPr/>
          <p:nvPr/>
        </p:nvSpPr>
        <p:spPr>
          <a:xfrm>
            <a:off x="11148822" y="6464808"/>
            <a:ext cx="146304" cy="146304"/>
          </a:xfrm>
          <a:prstGeom prst="ellipse">
            <a:avLst/>
          </a:prstGeom>
          <a:solidFill>
            <a:srgbClr val="FF3B1F"/>
          </a:solidFill>
          <a:ln w="12700">
            <a:solidFill>
              <a:srgbClr val="FF3B1F"/>
            </a:solidFill>
            <a:prstDash val="solid"/>
          </a:ln>
        </p:spPr>
      </p:sp>
      <p:sp>
        <p:nvSpPr>
          <p:cNvPr id="43" name="Text 41"/>
          <p:cNvSpPr txBox="1"/>
          <p:nvPr/>
        </p:nvSpPr>
        <p:spPr>
          <a:xfrm>
            <a:off x="10739628" y="6620256"/>
            <a:ext cx="964692" cy="173736"/>
          </a:xfrm>
          <a:prstGeom prst="rect">
            <a:avLst/>
          </a:prstGeom>
          <a:noFill/>
          <a:ln/>
        </p:spPr>
        <p:txBody>
          <a:bodyPr wrap="square" lIns="0" tIns="0" rIns="0" bIns="0" rtlCol="0" anchor="ctr"/>
          <a:lstStyle/>
          <a:p>
            <a:pPr algn="ctr" indent="0" marL="0">
              <a:buNone/>
            </a:pPr>
            <a:r>
              <a:rPr lang="en-US" sz="800" b="1" dirty="0">
                <a:solidFill>
                  <a:srgbClr val="171717"/>
                </a:solidFill>
                <a:latin typeface="Consolas" pitchFamily="34" charset="0"/>
                <a:ea typeface="Consolas" pitchFamily="34" charset="-122"/>
                <a:cs typeface="Consolas" pitchFamily="34" charset="-120"/>
              </a:rPr>
              <a:t>'25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こう出題される（令和7年度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計算問題。前のスライドの公式で自分の手で計算してみる。</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502920" y="1737360"/>
            <a:ext cx="11201400" cy="1005840"/>
          </a:xfrm>
          <a:prstGeom prst="rect">
            <a:avLst/>
          </a:prstGeom>
          <a:noFill/>
          <a:ln/>
        </p:spPr>
        <p:txBody>
          <a:bodyPr wrap="square" lIns="0" tIns="0" rIns="0" bIns="0" rtlCol="0" anchor="ctr"/>
          <a:lstStyle/>
          <a:p>
            <a:pPr indent="0" marL="0">
              <a:lnSpc>
                <a:spcPct val="130000"/>
              </a:lnSpc>
              <a:buNone/>
            </a:pPr>
            <a:r>
              <a:rPr lang="en-US" sz="1250" dirty="0">
                <a:solidFill>
                  <a:srgbClr val="171717"/>
                </a:solidFill>
                <a:latin typeface="Yu Gothic" pitchFamily="34" charset="0"/>
                <a:ea typeface="Yu Gothic" pitchFamily="34" charset="-122"/>
                <a:cs typeface="Yu Gothic" pitchFamily="34" charset="-120"/>
              </a:rPr>
              <a:t>2台の機械を用いて、第1工程、第2工程の順で作業するフローショップにおいて、各ジョブの作業時間が下表に与えられている（ジョブa：第1工程3・第2工程4／ジョブb：第1工程4・第2工程1／ジョブc：第1工程5・第2工程7／ジョブd：第1工程6・第2工程2）。メイクスパンが最小になるように各ジョブがフローショップに投入された場合、メイクスパンにおける2台の機械の非稼働時間の合計として、最も適切なものを下記の解答群から選べ。</a:t>
            </a:r>
            <a:endParaRPr lang="en-US" sz="1250" dirty="0"/>
          </a:p>
        </p:txBody>
      </p:sp>
      <p:sp>
        <p:nvSpPr>
          <p:cNvPr id="9" name="Text 7"/>
          <p:cNvSpPr txBox="1"/>
          <p:nvPr/>
        </p:nvSpPr>
        <p:spPr>
          <a:xfrm>
            <a:off x="731520" y="278892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a:t>
            </a:r>
            <a:endParaRPr lang="en-US" sz="1150" dirty="0"/>
          </a:p>
        </p:txBody>
      </p:sp>
      <p:sp>
        <p:nvSpPr>
          <p:cNvPr id="10" name="Text 8"/>
          <p:cNvSpPr txBox="1"/>
          <p:nvPr/>
        </p:nvSpPr>
        <p:spPr>
          <a:xfrm>
            <a:off x="731520" y="326440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a:t>
            </a:r>
            <a:endParaRPr lang="en-US" sz="1150" dirty="0"/>
          </a:p>
        </p:txBody>
      </p:sp>
      <p:sp>
        <p:nvSpPr>
          <p:cNvPr id="11" name="Text 9"/>
          <p:cNvSpPr txBox="1"/>
          <p:nvPr/>
        </p:nvSpPr>
        <p:spPr>
          <a:xfrm>
            <a:off x="731520" y="373989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a:t>
            </a:r>
            <a:endParaRPr lang="en-US" sz="1150" dirty="0"/>
          </a:p>
        </p:txBody>
      </p:sp>
      <p:sp>
        <p:nvSpPr>
          <p:cNvPr id="12" name="Text 10"/>
          <p:cNvSpPr txBox="1"/>
          <p:nvPr/>
        </p:nvSpPr>
        <p:spPr>
          <a:xfrm>
            <a:off x="731520" y="421538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a:t>
            </a:r>
            <a:endParaRPr lang="en-US" sz="1150" dirty="0"/>
          </a:p>
        </p:txBody>
      </p:sp>
      <p:sp>
        <p:nvSpPr>
          <p:cNvPr id="13" name="Text 11"/>
          <p:cNvSpPr txBox="1"/>
          <p:nvPr/>
        </p:nvSpPr>
        <p:spPr>
          <a:xfrm>
            <a:off x="731520" y="469087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4" name="Text 12"/>
          <p:cNvSpPr txBox="1"/>
          <p:nvPr/>
        </p:nvSpPr>
        <p:spPr>
          <a:xfrm>
            <a:off x="502920" y="5303520"/>
            <a:ext cx="11201400" cy="274320"/>
          </a:xfrm>
          <a:prstGeom prst="rect">
            <a:avLst/>
          </a:prstGeom>
          <a:noFill/>
          <a:ln/>
        </p:spPr>
        <p:txBody>
          <a:bodyPr wrap="square" lIns="0" tIns="0" rIns="0" bIns="0" rtlCol="0" anchor="ctr"/>
          <a:lstStyle/>
          <a:p>
            <a:pPr indent="0" marL="0">
              <a:buNone/>
            </a:pPr>
            <a:r>
              <a:rPr lang="en-US" sz="900" dirty="0">
                <a:solidFill>
                  <a:srgbClr val="8A8A8A"/>
                </a:solidFill>
                <a:latin typeface="Consolas" pitchFamily="34" charset="0"/>
                <a:ea typeface="Consolas" pitchFamily="34" charset="-122"/>
                <a:cs typeface="Consolas" pitchFamily="34" charset="-120"/>
              </a:rPr>
              <a:t>出典：past_exams/1st_stage/1ji2025/D1JI2025.pdf（令和7年度第1次試験）第6問</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02920" y="320040"/>
            <a:ext cx="8686800" cy="274320"/>
          </a:xfrm>
          <a:prstGeom prst="rect">
            <a:avLst/>
          </a:prstGeom>
          <a:noFill/>
          <a:ln/>
        </p:spPr>
        <p:txBody>
          <a:bodyPr wrap="square" lIns="0" tIns="0" rIns="0" bIns="0" rtlCol="0" anchor="ctr"/>
          <a:lstStyle/>
          <a:p>
            <a:pPr indent="0" marL="0">
              <a:buNone/>
            </a:pPr>
            <a:r>
              <a:rPr lang="en-US" sz="1100" dirty="0">
                <a:solidFill>
                  <a:srgbClr val="8A8A8A"/>
                </a:solidFill>
                <a:latin typeface="Consolas" pitchFamily="34" charset="0"/>
                <a:ea typeface="Consolas" pitchFamily="34" charset="-122"/>
                <a:cs typeface="Consolas" pitchFamily="34" charset="-120"/>
              </a:rPr>
              <a:t>D-9 ／ 過去問で確認する</a:t>
            </a:r>
            <a:endParaRPr lang="en-US" sz="1100" dirty="0"/>
          </a:p>
        </p:txBody>
      </p:sp>
      <p:sp>
        <p:nvSpPr>
          <p:cNvPr id="3" name="Text 1"/>
          <p:cNvSpPr txBox="1"/>
          <p:nvPr/>
        </p:nvSpPr>
        <p:spPr>
          <a:xfrm>
            <a:off x="484632" y="566928"/>
            <a:ext cx="8869680" cy="502920"/>
          </a:xfrm>
          <a:prstGeom prst="rect">
            <a:avLst/>
          </a:prstGeom>
          <a:noFill/>
          <a:ln/>
        </p:spPr>
        <p:txBody>
          <a:bodyPr wrap="square" lIns="0" tIns="0" rIns="0" bIns="0" rtlCol="0" anchor="ctr"/>
          <a:lstStyle/>
          <a:p>
            <a:pPr indent="0" marL="0">
              <a:buNone/>
            </a:pPr>
            <a:r>
              <a:rPr lang="en-US" sz="2500" b="1" dirty="0">
                <a:solidFill>
                  <a:srgbClr val="171717"/>
                </a:solidFill>
                <a:latin typeface="Yu Gothic" pitchFamily="34" charset="0"/>
                <a:ea typeface="Yu Gothic" pitchFamily="34" charset="-122"/>
                <a:cs typeface="Yu Gothic" pitchFamily="34" charset="-120"/>
              </a:rPr>
              <a:t>解答＆解説（令和7年度 第6問）</a:t>
            </a:r>
            <a:endParaRPr lang="en-US" sz="2500" dirty="0"/>
          </a:p>
        </p:txBody>
      </p:sp>
      <p:sp>
        <p:nvSpPr>
          <p:cNvPr id="4" name="Text 2"/>
          <p:cNvSpPr txBox="1"/>
          <p:nvPr/>
        </p:nvSpPr>
        <p:spPr>
          <a:xfrm>
            <a:off x="502920" y="1078992"/>
            <a:ext cx="10698480" cy="365760"/>
          </a:xfrm>
          <a:prstGeom prst="rect">
            <a:avLst/>
          </a:prstGeom>
          <a:noFill/>
          <a:ln/>
        </p:spPr>
        <p:txBody>
          <a:bodyPr wrap="square" lIns="0" tIns="0" rIns="0" bIns="0" rtlCol="0" anchor="ctr"/>
          <a:lstStyle/>
          <a:p>
            <a:pPr indent="0" marL="0">
              <a:buNone/>
            </a:pPr>
            <a:r>
              <a:rPr lang="en-US" sz="1300" dirty="0">
                <a:solidFill>
                  <a:srgbClr val="8A8A8A"/>
                </a:solidFill>
                <a:latin typeface="Yu Gothic" pitchFamily="34" charset="0"/>
                <a:ea typeface="Yu Gothic" pitchFamily="34" charset="-122"/>
                <a:cs typeface="Yu Gothic" pitchFamily="34" charset="-120"/>
              </a:rPr>
              <a:t>正解はエ（6）。投入順序a→c→d→bでメイクスパン19、非稼働時間合計6。</a:t>
            </a:r>
            <a:endParaRPr lang="en-US" sz="1300" dirty="0"/>
          </a:p>
        </p:txBody>
      </p:sp>
      <p:sp>
        <p:nvSpPr>
          <p:cNvPr id="5" name="Shape 3"/>
          <p:cNvSpPr/>
          <p:nvPr/>
        </p:nvSpPr>
        <p:spPr>
          <a:xfrm>
            <a:off x="9692640" y="365760"/>
            <a:ext cx="2057400" cy="329184"/>
          </a:xfrm>
          <a:prstGeom prst="rect">
            <a:avLst/>
          </a:prstGeom>
          <a:solidFill>
            <a:srgbClr val="171717"/>
          </a:solidFill>
          <a:ln/>
        </p:spPr>
      </p:sp>
      <p:sp>
        <p:nvSpPr>
          <p:cNvPr id="6" name="Text 4"/>
          <p:cNvSpPr txBox="1"/>
          <p:nvPr/>
        </p:nvSpPr>
        <p:spPr>
          <a:xfrm>
            <a:off x="9692640" y="365760"/>
            <a:ext cx="2057400" cy="329184"/>
          </a:xfrm>
          <a:prstGeom prst="rect">
            <a:avLst/>
          </a:prstGeom>
          <a:noFill/>
          <a:ln/>
        </p:spPr>
        <p:txBody>
          <a:bodyPr wrap="square" lIns="0" tIns="0" rIns="0" bIns="0" rtlCol="0" anchor="ctr"/>
          <a:lstStyle/>
          <a:p>
            <a:pPr algn="ctr" indent="0" marL="0">
              <a:buNone/>
            </a:pPr>
            <a:r>
              <a:rPr lang="en-US" sz="1050" dirty="0">
                <a:solidFill>
                  <a:srgbClr val="FFFFFF"/>
                </a:solidFill>
                <a:latin typeface="Consolas" pitchFamily="34" charset="0"/>
                <a:ea typeface="Consolas" pitchFamily="34" charset="-122"/>
                <a:cs typeface="Consolas" pitchFamily="34" charset="-120"/>
              </a:rPr>
              <a:t>運営管理</a:t>
            </a:r>
            <a:endParaRPr lang="en-US" sz="1050" dirty="0"/>
          </a:p>
        </p:txBody>
      </p:sp>
      <p:sp>
        <p:nvSpPr>
          <p:cNvPr id="7" name="Shape 5"/>
          <p:cNvSpPr/>
          <p:nvPr/>
        </p:nvSpPr>
        <p:spPr>
          <a:xfrm>
            <a:off x="484632" y="1481328"/>
            <a:ext cx="11219688" cy="0"/>
          </a:xfrm>
          <a:prstGeom prst="line">
            <a:avLst/>
          </a:prstGeom>
          <a:noFill/>
          <a:ln w="15875">
            <a:solidFill>
              <a:srgbClr val="171717"/>
            </a:solidFill>
            <a:prstDash val="solid"/>
          </a:ln>
        </p:spPr>
      </p:sp>
      <p:sp>
        <p:nvSpPr>
          <p:cNvPr id="8" name="Text 6"/>
          <p:cNvSpPr txBox="1"/>
          <p:nvPr/>
        </p:nvSpPr>
        <p:spPr>
          <a:xfrm>
            <a:off x="731520" y="1737360"/>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ア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3</a:t>
            </a:r>
            <a:endParaRPr lang="en-US" sz="1150" dirty="0"/>
          </a:p>
        </p:txBody>
      </p:sp>
      <p:sp>
        <p:nvSpPr>
          <p:cNvPr id="9" name="Text 7"/>
          <p:cNvSpPr txBox="1"/>
          <p:nvPr/>
        </p:nvSpPr>
        <p:spPr>
          <a:xfrm>
            <a:off x="731520" y="2212848"/>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イ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4</a:t>
            </a:r>
            <a:endParaRPr lang="en-US" sz="1150" dirty="0"/>
          </a:p>
        </p:txBody>
      </p:sp>
      <p:sp>
        <p:nvSpPr>
          <p:cNvPr id="10" name="Text 8"/>
          <p:cNvSpPr txBox="1"/>
          <p:nvPr/>
        </p:nvSpPr>
        <p:spPr>
          <a:xfrm>
            <a:off x="731520" y="2688336"/>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ウ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5</a:t>
            </a:r>
            <a:endParaRPr lang="en-US" sz="1150" dirty="0"/>
          </a:p>
        </p:txBody>
      </p:sp>
      <p:sp>
        <p:nvSpPr>
          <p:cNvPr id="11" name="Shape 9"/>
          <p:cNvSpPr/>
          <p:nvPr/>
        </p:nvSpPr>
        <p:spPr>
          <a:xfrm>
            <a:off x="502920" y="3136392"/>
            <a:ext cx="11201400" cy="475488"/>
          </a:xfrm>
          <a:prstGeom prst="rect">
            <a:avLst/>
          </a:prstGeom>
          <a:solidFill>
            <a:srgbClr val="F4F4F4"/>
          </a:solidFill>
          <a:ln/>
        </p:spPr>
      </p:sp>
      <p:sp>
        <p:nvSpPr>
          <p:cNvPr id="12" name="Shape 10"/>
          <p:cNvSpPr/>
          <p:nvPr/>
        </p:nvSpPr>
        <p:spPr>
          <a:xfrm>
            <a:off x="502920" y="3136392"/>
            <a:ext cx="0" cy="475488"/>
          </a:xfrm>
          <a:prstGeom prst="line">
            <a:avLst/>
          </a:prstGeom>
          <a:noFill/>
          <a:ln w="38100">
            <a:solidFill>
              <a:srgbClr val="FF3B1F"/>
            </a:solidFill>
            <a:prstDash val="solid"/>
          </a:ln>
        </p:spPr>
      </p:sp>
      <p:sp>
        <p:nvSpPr>
          <p:cNvPr id="13" name="Text 11"/>
          <p:cNvSpPr txBox="1"/>
          <p:nvPr/>
        </p:nvSpPr>
        <p:spPr>
          <a:xfrm>
            <a:off x="731520" y="3163824"/>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FF3B1F"/>
                </a:solidFill>
                <a:latin typeface="Yu Gothic" pitchFamily="34" charset="0"/>
                <a:ea typeface="Yu Gothic" pitchFamily="34" charset="-122"/>
                <a:cs typeface="Yu Gothic" pitchFamily="34" charset="-120"/>
              </a:rPr>
              <a:t>エ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6</a:t>
            </a:r>
            <a:endParaRPr lang="en-US" sz="1150" dirty="0"/>
          </a:p>
        </p:txBody>
      </p:sp>
      <p:sp>
        <p:nvSpPr>
          <p:cNvPr id="14" name="Text 12"/>
          <p:cNvSpPr txBox="1"/>
          <p:nvPr/>
        </p:nvSpPr>
        <p:spPr>
          <a:xfrm>
            <a:off x="731520" y="3639312"/>
            <a:ext cx="10789920" cy="429768"/>
          </a:xfrm>
          <a:prstGeom prst="rect">
            <a:avLst/>
          </a:prstGeom>
          <a:noFill/>
          <a:ln/>
        </p:spPr>
        <p:txBody>
          <a:bodyPr wrap="square" lIns="0" tIns="0" rIns="0" bIns="0" rtlCol="0" anchor="ctr"/>
          <a:lstStyle/>
          <a:p>
            <a:pPr indent="0" marL="0">
              <a:lnSpc>
                <a:spcPct val="115000"/>
              </a:lnSpc>
              <a:buNone/>
            </a:pPr>
            <a:r>
              <a:rPr lang="en-US" sz="1150" b="1" dirty="0">
                <a:solidFill>
                  <a:srgbClr val="8A8A8A"/>
                </a:solidFill>
                <a:latin typeface="Yu Gothic" pitchFamily="34" charset="0"/>
                <a:ea typeface="Yu Gothic" pitchFamily="34" charset="-122"/>
                <a:cs typeface="Yu Gothic" pitchFamily="34" charset="-120"/>
              </a:rPr>
              <a:t>オ  </a:t>
            </a:r>
            <a:pPr indent="0" marL="0">
              <a:lnSpc>
                <a:spcPct val="115000"/>
              </a:lnSpc>
              <a:buNone/>
            </a:pPr>
            <a:r>
              <a:rPr lang="en-US" sz="1150" dirty="0">
                <a:solidFill>
                  <a:srgbClr val="171717"/>
                </a:solidFill>
                <a:latin typeface="Yu Gothic" pitchFamily="34" charset="0"/>
                <a:ea typeface="Yu Gothic" pitchFamily="34" charset="-122"/>
                <a:cs typeface="Yu Gothic" pitchFamily="34" charset="-120"/>
              </a:rPr>
              <a:t>7</a:t>
            </a:r>
            <a:endParaRPr lang="en-US" sz="1150" dirty="0"/>
          </a:p>
        </p:txBody>
      </p:sp>
      <p:sp>
        <p:nvSpPr>
          <p:cNvPr id="15" name="Shape 13"/>
          <p:cNvSpPr/>
          <p:nvPr/>
        </p:nvSpPr>
        <p:spPr>
          <a:xfrm>
            <a:off x="502920" y="4187952"/>
            <a:ext cx="11201400" cy="0"/>
          </a:xfrm>
          <a:prstGeom prst="line">
            <a:avLst/>
          </a:prstGeom>
          <a:noFill/>
          <a:ln w="12700">
            <a:solidFill>
              <a:srgbClr val="171717"/>
            </a:solidFill>
            <a:prstDash val="solid"/>
          </a:ln>
        </p:spPr>
      </p:sp>
      <p:sp>
        <p:nvSpPr>
          <p:cNvPr id="16" name="Text 14"/>
          <p:cNvSpPr txBox="1"/>
          <p:nvPr/>
        </p:nvSpPr>
        <p:spPr>
          <a:xfrm>
            <a:off x="502920" y="4279392"/>
            <a:ext cx="11201400" cy="914400"/>
          </a:xfrm>
          <a:prstGeom prst="rect">
            <a:avLst/>
          </a:prstGeom>
          <a:noFill/>
          <a:ln/>
        </p:spPr>
        <p:txBody>
          <a:bodyPr wrap="square" lIns="0" tIns="0" rIns="0" bIns="0" rtlCol="0" anchor="ctr"/>
          <a:lstStyle/>
          <a:p>
            <a:pPr indent="0" marL="0">
              <a:lnSpc>
                <a:spcPct val="120000"/>
              </a:lnSpc>
              <a:buNone/>
            </a:pPr>
            <a:r>
              <a:rPr lang="en-US" sz="1050" b="1" dirty="0">
                <a:solidFill>
                  <a:srgbClr val="FF3B1F"/>
                </a:solidFill>
                <a:latin typeface="Yu Gothic" pitchFamily="34" charset="0"/>
                <a:ea typeface="Yu Gothic" pitchFamily="34" charset="-122"/>
                <a:cs typeface="Yu Gothic" pitchFamily="34" charset="-120"/>
              </a:rPr>
              <a:t>正解：エ（6）</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ジョンソンの規則より投入順序＝a→c→d→b。第1工程：0-3-8-14-18（合計18稼働、非稼働1）。第2工程：a(3-7)→c(8-15)→d(15-17)→b(18-19)。メイクスパン＝19。第2工程の非稼働＝開始前3＋a後の待ち1＋d後の待ち1＝5。2台合計＝1＋5＝</a:t>
            </a:r>
            <a:pPr indent="0" marL="0">
              <a:lnSpc>
                <a:spcPct val="120000"/>
              </a:lnSpc>
              <a:buNone/>
            </a:pPr>
            <a:r>
              <a:rPr lang="en-US" sz="1050" b="1" dirty="0">
                <a:solidFill>
                  <a:srgbClr val="171717"/>
                </a:solidFill>
                <a:latin typeface="Yu Gothic" pitchFamily="34" charset="0"/>
                <a:ea typeface="Yu Gothic" pitchFamily="34" charset="-122"/>
                <a:cs typeface="Yu Gothic" pitchFamily="34" charset="-120"/>
              </a:rPr>
              <a:t>6</a:t>
            </a:r>
            <a:pPr indent="0" marL="0">
              <a:lnSpc>
                <a:spcPct val="120000"/>
              </a:lnSpc>
              <a:buNone/>
            </a:pPr>
            <a:r>
              <a:rPr lang="en-US" sz="1050" dirty="0">
                <a:solidFill>
                  <a:srgbClr val="171717"/>
                </a:solidFill>
                <a:latin typeface="Yu Gothic" pitchFamily="34" charset="0"/>
                <a:ea typeface="Yu Gothic" pitchFamily="34" charset="-122"/>
                <a:cs typeface="Yu Gothic" pitchFamily="34" charset="-120"/>
              </a:rPr>
              <a:t>。</a:t>
            </a:r>
            <a:endParaRPr lang="en-US" sz="1050" dirty="0"/>
          </a:p>
        </p:txBody>
      </p:sp>
      <p:sp>
        <p:nvSpPr>
          <p:cNvPr id="17" name="Text 15"/>
          <p:cNvSpPr txBox="1"/>
          <p:nvPr/>
        </p:nvSpPr>
        <p:spPr>
          <a:xfrm>
            <a:off x="502920" y="5266944"/>
            <a:ext cx="11201400" cy="457200"/>
          </a:xfrm>
          <a:prstGeom prst="rect">
            <a:avLst/>
          </a:prstGeom>
          <a:noFill/>
          <a:ln/>
        </p:spPr>
        <p:txBody>
          <a:bodyPr wrap="square" lIns="0" tIns="0" rIns="0" bIns="0" rtlCol="0" anchor="ctr"/>
          <a:lstStyle/>
          <a:p>
            <a:pPr indent="0" marL="0">
              <a:lnSpc>
                <a:spcPct val="120000"/>
              </a:lnSpc>
              <a:buNone/>
            </a:pPr>
            <a:r>
              <a:rPr lang="en-US" sz="850" b="1" dirty="0">
                <a:solidFill>
                  <a:srgbClr val="8A8A8A"/>
                </a:solidFill>
                <a:latin typeface="Consolas" pitchFamily="34" charset="0"/>
                <a:ea typeface="Consolas" pitchFamily="34" charset="-122"/>
                <a:cs typeface="Consolas" pitchFamily="34" charset="-120"/>
              </a:rPr>
              <a:t>具体例
</a:t>
            </a:r>
            <a:endParaRPr lang="en-US" sz="850" dirty="0"/>
          </a:p>
          <a:p>
            <a:pPr indent="0" marL="0">
              <a:lnSpc>
                <a:spcPct val="120000"/>
              </a:lnSpc>
              <a:buNone/>
            </a:pPr>
            <a:r>
              <a:rPr lang="en-US" sz="1000" dirty="0">
                <a:solidFill>
                  <a:srgbClr val="171717"/>
                </a:solidFill>
                <a:latin typeface="Yu Gothic" pitchFamily="34" charset="0"/>
                <a:ea typeface="Yu Gothic" pitchFamily="34" charset="-122"/>
                <a:cs typeface="Yu Gothic" pitchFamily="34" charset="-120"/>
              </a:rPr>
              <a:t>a：min(3,4)=3→前方、b：min(4,1)=1→後方、c：min(5,7)=5→前方、d：min(6,2)=2→後方。前方は第1工程時間昇順（a→c）、後方は第2工程時間降順（d→b）。</a:t>
            </a:r>
            <a:endParaRPr lang="en-US" sz="850" dirty="0"/>
          </a:p>
        </p:txBody>
      </p:sp>
      <p:sp>
        <p:nvSpPr>
          <p:cNvPr id="18" name="Text 16"/>
          <p:cNvSpPr txBox="1"/>
          <p:nvPr/>
        </p:nvSpPr>
        <p:spPr>
          <a:xfrm>
            <a:off x="502920" y="5797296"/>
            <a:ext cx="11201400" cy="274320"/>
          </a:xfrm>
          <a:prstGeom prst="rect">
            <a:avLst/>
          </a:prstGeom>
          <a:noFill/>
          <a:ln/>
        </p:spPr>
        <p:txBody>
          <a:bodyPr wrap="square" lIns="0" tIns="0" rIns="0" bIns="0" rtlCol="0" anchor="ctr"/>
          <a:lstStyle/>
          <a:p>
            <a:pPr indent="0" marL="0">
              <a:buNone/>
            </a:pPr>
            <a:r>
              <a:rPr lang="en-US" sz="1000" dirty="0">
                <a:solidFill>
                  <a:srgbClr val="8A8A8A"/>
                </a:solidFill>
                <a:latin typeface="Yu Gothic" pitchFamily="34" charset="0"/>
                <a:ea typeface="Yu Gothic" pitchFamily="34" charset="-122"/>
                <a:cs typeface="Yu Gothic" pitchFamily="34" charset="-120"/>
              </a:rPr>
              <a:t>関連知識：ジョンソンの規則は2機械n個ジョブのフローショップでメイクスパンを最小化する代表的手法。</a:t>
            </a:r>
            <a:endParaRPr lang="en-US" sz="1000" dirty="0"/>
          </a:p>
        </p:txBody>
      </p:sp>
      <p:sp>
        <p:nvSpPr>
          <p:cNvPr id="19" name="Text 17"/>
          <p:cNvSpPr txBox="1"/>
          <p:nvPr/>
        </p:nvSpPr>
        <p:spPr>
          <a:xfrm>
            <a:off x="502920" y="6144768"/>
            <a:ext cx="11201400" cy="274320"/>
          </a:xfrm>
          <a:prstGeom prst="rect">
            <a:avLst/>
          </a:prstGeom>
          <a:noFill/>
          <a:ln/>
        </p:spPr>
        <p:txBody>
          <a:bodyPr wrap="square" lIns="0" tIns="0" rIns="0" bIns="0" rtlCol="0" anchor="ctr"/>
          <a:lstStyle/>
          <a:p>
            <a:pPr indent="0" marL="0">
              <a:buNone/>
            </a:pPr>
            <a:r>
              <a:rPr lang="en-US" sz="850" dirty="0">
                <a:solidFill>
                  <a:srgbClr val="8A8A8A"/>
                </a:solidFill>
                <a:latin typeface="Consolas" pitchFamily="34" charset="0"/>
                <a:ea typeface="Consolas" pitchFamily="34" charset="-122"/>
                <a:cs typeface="Consolas" pitchFamily="34" charset="-120"/>
              </a:rPr>
              <a:t>出典：past_exams/1st_stage/1ji2025/D1JI2025.pdf（令和7年度第1次試験）第6問／正解：past_exams/1st_stage_answers/r07/d_v2_20250902.pdf</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運営管理</dc:title>
  <dc:subject>PptxGenJS Presentation</dc:subject>
  <dc:creator>SMEC</dc:creator>
  <cp:lastModifiedBy>SMEC</cp:lastModifiedBy>
  <cp:revision>1</cp:revision>
  <dcterms:created xsi:type="dcterms:W3CDTF">2026-09-13T10:18:01Z</dcterms:created>
  <dcterms:modified xsi:type="dcterms:W3CDTF">2026-09-13T10:18:01Z</dcterms:modified>
</cp:coreProperties>
</file>