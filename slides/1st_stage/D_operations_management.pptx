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表紙スライド。運営管理の全体像を示す。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生産管理概論／生産計画パートの区切りスライド。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生産統制／作業・設備・物の管理パートの区切りスライド。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04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運営管理</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生産管理（工場でどう作るか）と店舗・販売管理（店でどう売るか）の2分野、35論点。暗記事項と計算問題（タクトタイム、EOQ、ライリーの法則等）の両方が出題される。</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35</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32/35</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docs/textbook/D_operations_management_textbook.md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運営管理 ／ D-1〜D-9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生産管理概論／生産計画</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工場管理の目標（PQCDSME）から、生産方式・ライン編成・需要予測・需給計画・スケジューリングまで。町工場をイメージしながら読み進める。</a:t>
            </a:r>
            <a:endParaRPr lang="en-US" sz="1400" dirty="0"/>
          </a:p>
        </p:txBody>
      </p:sp>
      <p:sp>
        <p:nvSpPr>
          <p:cNvPr id="6" name="Shape 4"/>
          <p:cNvSpPr/>
          <p:nvPr/>
        </p:nvSpPr>
        <p:spPr>
          <a:xfrm>
            <a:off x="640080" y="4800600"/>
            <a:ext cx="1801368" cy="384048"/>
          </a:xfrm>
          <a:prstGeom prst="rect">
            <a:avLst/>
          </a:prstGeom>
          <a:ln w="9525">
            <a:solidFill>
              <a:srgbClr val="7F7F7F"/>
            </a:solidFill>
            <a:prstDash val="solid"/>
          </a:ln>
        </p:spPr>
      </p:sp>
      <p:sp>
        <p:nvSpPr>
          <p:cNvPr id="7" name="Text 5"/>
          <p:cNvSpPr txBox="1"/>
          <p:nvPr/>
        </p:nvSpPr>
        <p:spPr>
          <a:xfrm>
            <a:off x="64008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D-2 JIT・かんばん</a:t>
            </a:r>
            <a:endParaRPr lang="en-US" sz="1000" dirty="0"/>
          </a:p>
        </p:txBody>
      </p:sp>
      <p:sp>
        <p:nvSpPr>
          <p:cNvPr id="8" name="Shape 6"/>
          <p:cNvSpPr/>
          <p:nvPr/>
        </p:nvSpPr>
        <p:spPr>
          <a:xfrm>
            <a:off x="2670048" y="4800600"/>
            <a:ext cx="1924812" cy="384048"/>
          </a:xfrm>
          <a:prstGeom prst="rect">
            <a:avLst/>
          </a:prstGeom>
          <a:ln w="9525">
            <a:solidFill>
              <a:srgbClr val="7F7F7F"/>
            </a:solidFill>
            <a:prstDash val="solid"/>
          </a:ln>
        </p:spPr>
      </p:sp>
      <p:sp>
        <p:nvSpPr>
          <p:cNvPr id="9" name="Text 7"/>
          <p:cNvSpPr txBox="1"/>
          <p:nvPr/>
        </p:nvSpPr>
        <p:spPr>
          <a:xfrm>
            <a:off x="2670048" y="4800600"/>
            <a:ext cx="192481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D-6 ラインバランシング</a:t>
            </a:r>
            <a:endParaRPr lang="en-US" sz="1000" dirty="0"/>
          </a:p>
        </p:txBody>
      </p:sp>
      <p:sp>
        <p:nvSpPr>
          <p:cNvPr id="10" name="Shape 8"/>
          <p:cNvSpPr/>
          <p:nvPr/>
        </p:nvSpPr>
        <p:spPr>
          <a:xfrm>
            <a:off x="4823460" y="4800600"/>
            <a:ext cx="1801368" cy="384048"/>
          </a:xfrm>
          <a:prstGeom prst="rect">
            <a:avLst/>
          </a:prstGeom>
          <a:ln w="9525">
            <a:solidFill>
              <a:srgbClr val="7F7F7F"/>
            </a:solidFill>
            <a:prstDash val="solid"/>
          </a:ln>
        </p:spPr>
      </p:sp>
      <p:sp>
        <p:nvSpPr>
          <p:cNvPr id="11" name="Text 9"/>
          <p:cNvSpPr txBox="1"/>
          <p:nvPr/>
        </p:nvSpPr>
        <p:spPr>
          <a:xfrm>
            <a:off x="482346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D-9 ジョンソンの規則</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 ／ 生産管理概論（PQCDSME）</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7つの目標はトレードオフの関係</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工場管理者が同時に追う7つの目標。一方を追求すると他方が犠牲になりやすい。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P：生産性</a:t>
            </a:r>
            <a:endParaRPr lang="en-US" sz="105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少ない人・設備・時間でどれだけ多く作れるか</a:t>
            </a:r>
            <a:endParaRPr lang="en-US" sz="1050" dirty="0"/>
          </a:p>
        </p:txBody>
      </p:sp>
      <p:sp>
        <p:nvSpPr>
          <p:cNvPr id="11" name="Text 9"/>
          <p:cNvSpPr txBox="1"/>
          <p:nvPr/>
        </p:nvSpPr>
        <p:spPr>
          <a:xfrm>
            <a:off x="502920" y="2020824"/>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Q：品質</a:t>
            </a:r>
            <a:endParaRPr lang="en-US" sz="1050" dirty="0"/>
          </a:p>
        </p:txBody>
      </p:sp>
      <p:sp>
        <p:nvSpPr>
          <p:cNvPr id="12" name="Shape 10"/>
          <p:cNvSpPr/>
          <p:nvPr/>
        </p:nvSpPr>
        <p:spPr>
          <a:xfrm>
            <a:off x="2039112" y="2020824"/>
            <a:ext cx="0" cy="256032"/>
          </a:xfrm>
          <a:prstGeom prst="line">
            <a:avLst/>
          </a:prstGeom>
          <a:noFill/>
          <a:ln w="12700">
            <a:solidFill>
              <a:srgbClr val="E6E6E6"/>
            </a:solidFill>
            <a:prstDash val="solid"/>
          </a:ln>
        </p:spPr>
      </p:sp>
      <p:sp>
        <p:nvSpPr>
          <p:cNvPr id="13" name="Text 11"/>
          <p:cNvSpPr txBox="1"/>
          <p:nvPr/>
        </p:nvSpPr>
        <p:spPr>
          <a:xfrm>
            <a:off x="2194560" y="2020824"/>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不良品を出さず要求品質を満たすか</a:t>
            </a:r>
            <a:endParaRPr lang="en-US" sz="1050" dirty="0"/>
          </a:p>
        </p:txBody>
      </p:sp>
      <p:sp>
        <p:nvSpPr>
          <p:cNvPr id="14" name="Text 12"/>
          <p:cNvSpPr txBox="1"/>
          <p:nvPr/>
        </p:nvSpPr>
        <p:spPr>
          <a:xfrm>
            <a:off x="502920" y="2350008"/>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C：コスト</a:t>
            </a:r>
            <a:endParaRPr lang="en-US" sz="1050" dirty="0"/>
          </a:p>
        </p:txBody>
      </p:sp>
      <p:sp>
        <p:nvSpPr>
          <p:cNvPr id="15" name="Shape 13"/>
          <p:cNvSpPr/>
          <p:nvPr/>
        </p:nvSpPr>
        <p:spPr>
          <a:xfrm>
            <a:off x="2039112" y="2350008"/>
            <a:ext cx="0" cy="256032"/>
          </a:xfrm>
          <a:prstGeom prst="line">
            <a:avLst/>
          </a:prstGeom>
          <a:noFill/>
          <a:ln w="12700">
            <a:solidFill>
              <a:srgbClr val="E6E6E6"/>
            </a:solidFill>
            <a:prstDash val="solid"/>
          </a:ln>
        </p:spPr>
      </p:sp>
      <p:sp>
        <p:nvSpPr>
          <p:cNvPr id="16" name="Text 14"/>
          <p:cNvSpPr txBox="1"/>
          <p:nvPr/>
        </p:nvSpPr>
        <p:spPr>
          <a:xfrm>
            <a:off x="2194560" y="2350008"/>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材料費・労務費・経費をどれだけ抑えられるか</a:t>
            </a:r>
            <a:endParaRPr lang="en-US" sz="1050" dirty="0"/>
          </a:p>
        </p:txBody>
      </p:sp>
      <p:sp>
        <p:nvSpPr>
          <p:cNvPr id="17" name="Text 15"/>
          <p:cNvSpPr txBox="1"/>
          <p:nvPr/>
        </p:nvSpPr>
        <p:spPr>
          <a:xfrm>
            <a:off x="502920" y="2679192"/>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D：納期</a:t>
            </a:r>
            <a:endParaRPr lang="en-US" sz="1050" dirty="0"/>
          </a:p>
        </p:txBody>
      </p:sp>
      <p:sp>
        <p:nvSpPr>
          <p:cNvPr id="18" name="Shape 16"/>
          <p:cNvSpPr/>
          <p:nvPr/>
        </p:nvSpPr>
        <p:spPr>
          <a:xfrm>
            <a:off x="2039112" y="2679192"/>
            <a:ext cx="0" cy="256032"/>
          </a:xfrm>
          <a:prstGeom prst="line">
            <a:avLst/>
          </a:prstGeom>
          <a:noFill/>
          <a:ln w="12700">
            <a:solidFill>
              <a:srgbClr val="E6E6E6"/>
            </a:solidFill>
            <a:prstDash val="solid"/>
          </a:ln>
        </p:spPr>
      </p:sp>
      <p:sp>
        <p:nvSpPr>
          <p:cNvPr id="19" name="Text 17"/>
          <p:cNvSpPr txBox="1"/>
          <p:nvPr/>
        </p:nvSpPr>
        <p:spPr>
          <a:xfrm>
            <a:off x="2194560" y="2679192"/>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決められた期日までに決められた量を届けられるか</a:t>
            </a:r>
            <a:endParaRPr lang="en-US" sz="1050" dirty="0"/>
          </a:p>
        </p:txBody>
      </p:sp>
      <p:sp>
        <p:nvSpPr>
          <p:cNvPr id="20" name="Text 18"/>
          <p:cNvSpPr txBox="1"/>
          <p:nvPr/>
        </p:nvSpPr>
        <p:spPr>
          <a:xfrm>
            <a:off x="502920" y="3008376"/>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S・M・E</a:t>
            </a:r>
            <a:endParaRPr lang="en-US" sz="1050" dirty="0"/>
          </a:p>
        </p:txBody>
      </p:sp>
      <p:sp>
        <p:nvSpPr>
          <p:cNvPr id="21" name="Shape 19"/>
          <p:cNvSpPr/>
          <p:nvPr/>
        </p:nvSpPr>
        <p:spPr>
          <a:xfrm>
            <a:off x="2039112" y="3008376"/>
            <a:ext cx="0" cy="256032"/>
          </a:xfrm>
          <a:prstGeom prst="line">
            <a:avLst/>
          </a:prstGeom>
          <a:noFill/>
          <a:ln w="12700">
            <a:solidFill>
              <a:srgbClr val="E6E6E6"/>
            </a:solidFill>
            <a:prstDash val="solid"/>
          </a:ln>
        </p:spPr>
      </p:sp>
      <p:sp>
        <p:nvSpPr>
          <p:cNvPr id="22" name="Text 20"/>
          <p:cNvSpPr txBox="1"/>
          <p:nvPr/>
        </p:nvSpPr>
        <p:spPr>
          <a:xfrm>
            <a:off x="2194560" y="3008376"/>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Safety（安全）・Morale（士気）・Environment（環境）</a:t>
            </a:r>
            <a:endParaRPr lang="en-US" sz="1050" dirty="0"/>
          </a:p>
        </p:txBody>
      </p:sp>
      <p:sp>
        <p:nvSpPr>
          <p:cNvPr id="23" name="Shape 21"/>
          <p:cNvSpPr/>
          <p:nvPr/>
        </p:nvSpPr>
        <p:spPr>
          <a:xfrm>
            <a:off x="502920" y="3410712"/>
            <a:ext cx="11201400" cy="0"/>
          </a:xfrm>
          <a:prstGeom prst="line">
            <a:avLst/>
          </a:prstGeom>
          <a:noFill/>
          <a:ln w="12700">
            <a:solidFill>
              <a:srgbClr val="E6E6E6"/>
            </a:solidFill>
            <a:prstDash val="solid"/>
          </a:ln>
        </p:spPr>
      </p:sp>
      <p:sp>
        <p:nvSpPr>
          <p:cNvPr id="24" name="Text 22"/>
          <p:cNvSpPr txBox="1"/>
          <p:nvPr/>
        </p:nvSpPr>
        <p:spPr>
          <a:xfrm>
            <a:off x="502920" y="348386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SはSales（販売）ではなくSafety（安全）、EはEfficiency（効率）ではなくEnvironment（環境）。並び順より互いにトレードオフになりうる理解が問われる。</a:t>
            </a:r>
            <a:endParaRPr lang="en-US" sz="950" dirty="0"/>
          </a:p>
        </p:txBody>
      </p:sp>
      <p:sp>
        <p:nvSpPr>
          <p:cNvPr id="25" name="Shape 23"/>
          <p:cNvSpPr/>
          <p:nvPr/>
        </p:nvSpPr>
        <p:spPr>
          <a:xfrm>
            <a:off x="502920" y="5989320"/>
            <a:ext cx="11201400" cy="0"/>
          </a:xfrm>
          <a:prstGeom prst="line">
            <a:avLst/>
          </a:prstGeom>
          <a:noFill/>
          <a:ln w="9525">
            <a:solidFill>
              <a:srgbClr val="171717"/>
            </a:solidFill>
            <a:prstDash val="solid"/>
          </a:ln>
        </p:spPr>
      </p:sp>
      <p:sp>
        <p:nvSpPr>
          <p:cNvPr id="26" name="Shape 24"/>
          <p:cNvSpPr/>
          <p:nvPr/>
        </p:nvSpPr>
        <p:spPr>
          <a:xfrm>
            <a:off x="502920" y="6062472"/>
            <a:ext cx="329184" cy="329184"/>
          </a:xfrm>
          <a:prstGeom prst="ellipse">
            <a:avLst/>
          </a:prstGeom>
          <a:solidFill>
            <a:srgbClr val="FF3B1F"/>
          </a:solidFill>
          <a:ln/>
        </p:spPr>
      </p:sp>
      <p:sp>
        <p:nvSpPr>
          <p:cNvPr id="27" name="Text 2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62472"/>
            <a:ext cx="0" cy="329184"/>
          </a:xfrm>
          <a:prstGeom prst="line">
            <a:avLst/>
          </a:prstGeom>
          <a:noFill/>
          <a:ln w="12700">
            <a:solidFill>
              <a:srgbClr val="E6E6E6"/>
            </a:solidFill>
            <a:prstDash val="solid"/>
          </a:ln>
        </p:spPr>
      </p:sp>
      <p:sp>
        <p:nvSpPr>
          <p:cNvPr id="30" name="Text 2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関連：D-10 生産統制（PQCDSMEを実際に管理する活動）。</a:t>
            </a:r>
            <a:endParaRPr lang="en-US" sz="1000" dirty="0"/>
          </a:p>
        </p:txBody>
      </p:sp>
      <p:sp>
        <p:nvSpPr>
          <p:cNvPr id="31" name="Text 2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 ／ 生産システム（JIT、かんばん方式、ERP、SCM）</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かんばんはJITを実現する道具</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必要な物を必要な時に必要な量だけ作るJIT。後工程引取りの仕組みがかんばん。</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JIT</a:t>
            </a:r>
            <a:endParaRPr lang="en-US" sz="1100" dirty="0"/>
          </a:p>
        </p:txBody>
      </p:sp>
      <p:sp>
        <p:nvSpPr>
          <p:cNvPr id="9" name="Shape 7"/>
          <p:cNvSpPr/>
          <p:nvPr/>
        </p:nvSpPr>
        <p:spPr>
          <a:xfrm>
            <a:off x="2130552" y="1691640"/>
            <a:ext cx="0" cy="256032"/>
          </a:xfrm>
          <a:prstGeom prst="line">
            <a:avLst/>
          </a:prstGeom>
          <a:noFill/>
          <a:ln w="12700">
            <a:solidFill>
              <a:srgbClr val="E6E6E6"/>
            </a:solidFill>
            <a:prstDash val="solid"/>
          </a:ln>
        </p:spPr>
      </p:sp>
      <p:sp>
        <p:nvSpPr>
          <p:cNvPr id="10" name="Text 8"/>
          <p:cNvSpPr txBox="1"/>
          <p:nvPr/>
        </p:nvSpPr>
        <p:spPr>
          <a:xfrm>
            <a:off x="2286000" y="1691640"/>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必要な物を必要な時に必要な量だけ作る・運ぶ（トヨタ生産方式）</a:t>
            </a:r>
            <a:endParaRPr lang="en-US" sz="1100" dirty="0"/>
          </a:p>
        </p:txBody>
      </p:sp>
      <p:sp>
        <p:nvSpPr>
          <p:cNvPr id="11" name="Text 9"/>
          <p:cNvSpPr txBox="1"/>
          <p:nvPr/>
        </p:nvSpPr>
        <p:spPr>
          <a:xfrm>
            <a:off x="502920" y="2075688"/>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かんばん方式</a:t>
            </a:r>
            <a:endParaRPr lang="en-US" sz="1100" dirty="0"/>
          </a:p>
        </p:txBody>
      </p:sp>
      <p:sp>
        <p:nvSpPr>
          <p:cNvPr id="12" name="Shape 10"/>
          <p:cNvSpPr/>
          <p:nvPr/>
        </p:nvSpPr>
        <p:spPr>
          <a:xfrm>
            <a:off x="2130552" y="2075688"/>
            <a:ext cx="0" cy="256032"/>
          </a:xfrm>
          <a:prstGeom prst="line">
            <a:avLst/>
          </a:prstGeom>
          <a:noFill/>
          <a:ln w="12700">
            <a:solidFill>
              <a:srgbClr val="E6E6E6"/>
            </a:solidFill>
            <a:prstDash val="solid"/>
          </a:ln>
        </p:spPr>
      </p:sp>
      <p:sp>
        <p:nvSpPr>
          <p:cNvPr id="13" name="Text 11"/>
          <p:cNvSpPr txBox="1"/>
          <p:nvPr/>
        </p:nvSpPr>
        <p:spPr>
          <a:xfrm>
            <a:off x="2286000" y="2075688"/>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後工程が使った分だけ前工程に指示する情報伝達の道具（プル型）</a:t>
            </a:r>
            <a:endParaRPr lang="en-US" sz="1100" dirty="0"/>
          </a:p>
        </p:txBody>
      </p:sp>
      <p:sp>
        <p:nvSpPr>
          <p:cNvPr id="14" name="Text 12"/>
          <p:cNvSpPr txBox="1"/>
          <p:nvPr/>
        </p:nvSpPr>
        <p:spPr>
          <a:xfrm>
            <a:off x="502920" y="2459736"/>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ERP</a:t>
            </a:r>
            <a:endParaRPr lang="en-US" sz="1100" dirty="0"/>
          </a:p>
        </p:txBody>
      </p:sp>
      <p:sp>
        <p:nvSpPr>
          <p:cNvPr id="15" name="Shape 13"/>
          <p:cNvSpPr/>
          <p:nvPr/>
        </p:nvSpPr>
        <p:spPr>
          <a:xfrm>
            <a:off x="2130552" y="2459736"/>
            <a:ext cx="0" cy="256032"/>
          </a:xfrm>
          <a:prstGeom prst="line">
            <a:avLst/>
          </a:prstGeom>
          <a:noFill/>
          <a:ln w="12700">
            <a:solidFill>
              <a:srgbClr val="E6E6E6"/>
            </a:solidFill>
            <a:prstDash val="solid"/>
          </a:ln>
        </p:spPr>
      </p:sp>
      <p:sp>
        <p:nvSpPr>
          <p:cNvPr id="16" name="Text 14"/>
          <p:cNvSpPr txBox="1"/>
          <p:nvPr/>
        </p:nvSpPr>
        <p:spPr>
          <a:xfrm>
            <a:off x="2286000" y="2459736"/>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会計・人事・生産・販売を1システムで統合管理</a:t>
            </a:r>
            <a:endParaRPr lang="en-US" sz="1100" dirty="0"/>
          </a:p>
        </p:txBody>
      </p:sp>
      <p:sp>
        <p:nvSpPr>
          <p:cNvPr id="17" name="Text 15"/>
          <p:cNvSpPr txBox="1"/>
          <p:nvPr/>
        </p:nvSpPr>
        <p:spPr>
          <a:xfrm>
            <a:off x="502920" y="2843784"/>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SCM</a:t>
            </a:r>
            <a:endParaRPr lang="en-US" sz="1100" dirty="0"/>
          </a:p>
        </p:txBody>
      </p:sp>
      <p:sp>
        <p:nvSpPr>
          <p:cNvPr id="18" name="Shape 16"/>
          <p:cNvSpPr/>
          <p:nvPr/>
        </p:nvSpPr>
        <p:spPr>
          <a:xfrm>
            <a:off x="2130552" y="2843784"/>
            <a:ext cx="0" cy="256032"/>
          </a:xfrm>
          <a:prstGeom prst="line">
            <a:avLst/>
          </a:prstGeom>
          <a:noFill/>
          <a:ln w="12700">
            <a:solidFill>
              <a:srgbClr val="E6E6E6"/>
            </a:solidFill>
            <a:prstDash val="solid"/>
          </a:ln>
        </p:spPr>
      </p:sp>
      <p:sp>
        <p:nvSpPr>
          <p:cNvPr id="19" name="Text 17"/>
          <p:cNvSpPr txBox="1"/>
          <p:nvPr/>
        </p:nvSpPr>
        <p:spPr>
          <a:xfrm>
            <a:off x="2286000" y="2843784"/>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複数の会社をまたぐ調達〜販売の供給連鎖全体を最適化</a:t>
            </a:r>
            <a:endParaRPr lang="en-US" sz="1100" dirty="0"/>
          </a:p>
        </p:txBody>
      </p:sp>
      <p:sp>
        <p:nvSpPr>
          <p:cNvPr id="20" name="Shape 18"/>
          <p:cNvSpPr/>
          <p:nvPr/>
        </p:nvSpPr>
        <p:spPr>
          <a:xfrm>
            <a:off x="502920" y="3319272"/>
            <a:ext cx="11201400" cy="0"/>
          </a:xfrm>
          <a:prstGeom prst="line">
            <a:avLst/>
          </a:prstGeom>
          <a:noFill/>
          <a:ln w="12700">
            <a:solidFill>
              <a:srgbClr val="E6E6E6"/>
            </a:solidFill>
            <a:prstDash val="solid"/>
          </a:ln>
        </p:spPr>
      </p:sp>
      <p:sp>
        <p:nvSpPr>
          <p:cNvPr id="21" name="Text 19"/>
          <p:cNvSpPr txBox="1"/>
          <p:nvPr/>
        </p:nvSpPr>
        <p:spPr>
          <a:xfrm>
            <a:off x="502920" y="339242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かんばん方式はJITを実現する道具であり、JITそのものではない。JIT（プル型）とMRP（D-8、プッシュ型）は対照的な考え方で混同しない。</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関連：D-8 需給計画（MRP、プッシュ型との対比）。</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 ／ 環境配慮型生産（3R、LCA）</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優先順位はリデュース＞リユース＞リサイクル</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3Rの優先順位と、製品の一生涯を評価するLCA。</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7373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①リデュース</a:t>
            </a:r>
            <a:endParaRPr lang="en-US" sz="1500" dirty="0"/>
          </a:p>
        </p:txBody>
      </p:sp>
      <p:sp>
        <p:nvSpPr>
          <p:cNvPr id="9" name="Text 7"/>
          <p:cNvSpPr txBox="1"/>
          <p:nvPr/>
        </p:nvSpPr>
        <p:spPr>
          <a:xfrm>
            <a:off x="2331720" y="1856232"/>
            <a:ext cx="9372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そもそも廃棄物・使用資源の発生量を減らす（最優先）</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17373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②リユース</a:t>
            </a:r>
            <a:endParaRPr lang="en-US" sz="1500" dirty="0"/>
          </a:p>
        </p:txBody>
      </p:sp>
      <p:sp>
        <p:nvSpPr>
          <p:cNvPr id="12" name="Text 10"/>
          <p:cNvSpPr txBox="1"/>
          <p:nvPr/>
        </p:nvSpPr>
        <p:spPr>
          <a:xfrm>
            <a:off x="2331720" y="2679192"/>
            <a:ext cx="9372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使えるものはそのまま繰り返し使う</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17373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③リサイクル</a:t>
            </a:r>
            <a:endParaRPr lang="en-US" sz="1500" dirty="0"/>
          </a:p>
        </p:txBody>
      </p:sp>
      <p:sp>
        <p:nvSpPr>
          <p:cNvPr id="15" name="Text 13"/>
          <p:cNvSpPr txBox="1"/>
          <p:nvPr/>
        </p:nvSpPr>
        <p:spPr>
          <a:xfrm>
            <a:off x="2331720" y="3502152"/>
            <a:ext cx="9372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使い終わったものを資源として再生利用する（優先順位は最後）</a:t>
            </a:r>
            <a:endParaRPr lang="en-US" sz="1100" dirty="0"/>
          </a:p>
        </p:txBody>
      </p:sp>
      <p:sp>
        <p:nvSpPr>
          <p:cNvPr id="16" name="Shape 14"/>
          <p:cNvSpPr/>
          <p:nvPr/>
        </p:nvSpPr>
        <p:spPr>
          <a:xfrm>
            <a:off x="502920" y="4251960"/>
            <a:ext cx="11201400" cy="0"/>
          </a:xfrm>
          <a:prstGeom prst="line">
            <a:avLst/>
          </a:prstGeom>
          <a:noFill/>
          <a:ln w="12700">
            <a:solidFill>
              <a:srgbClr val="E6E6E6"/>
            </a:solidFill>
            <a:prstDash val="solid"/>
          </a:ln>
        </p:spPr>
      </p:sp>
      <p:sp>
        <p:nvSpPr>
          <p:cNvPr id="17" name="Text 15"/>
          <p:cNvSpPr txBox="1"/>
          <p:nvPr/>
        </p:nvSpPr>
        <p:spPr>
          <a:xfrm>
            <a:off x="502920" y="4361688"/>
            <a:ext cx="17373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LCA</a:t>
            </a:r>
            <a:endParaRPr lang="en-US" sz="1500" dirty="0"/>
          </a:p>
        </p:txBody>
      </p:sp>
      <p:sp>
        <p:nvSpPr>
          <p:cNvPr id="18" name="Text 16"/>
          <p:cNvSpPr txBox="1"/>
          <p:nvPr/>
        </p:nvSpPr>
        <p:spPr>
          <a:xfrm>
            <a:off x="2331720" y="4325112"/>
            <a:ext cx="9372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原材料採取→製造→輸送→使用→廃棄まで一生涯の環境負荷を定量評価</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ひっかけ：LCAは製造工程だけでなく調達〜廃棄までの全体を対象とする。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D-4 ／ 生産計画：製品開発・製品設計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価値＝機能÷コスト</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VA/VEは機能を維持・向上しながら価値を高める活動。コスト削減だけが目的ではない。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6517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VA/VE</a:t>
            </a:r>
            <a:endParaRPr lang="en-US" sz="1100" dirty="0"/>
          </a:p>
        </p:txBody>
      </p:sp>
      <p:sp>
        <p:nvSpPr>
          <p:cNvPr id="9" name="Shape 7"/>
          <p:cNvSpPr/>
          <p:nvPr/>
        </p:nvSpPr>
        <p:spPr>
          <a:xfrm>
            <a:off x="3136392" y="1691640"/>
            <a:ext cx="0" cy="256032"/>
          </a:xfrm>
          <a:prstGeom prst="line">
            <a:avLst/>
          </a:prstGeom>
          <a:noFill/>
          <a:ln w="12700">
            <a:solidFill>
              <a:srgbClr val="E6E6E6"/>
            </a:solidFill>
            <a:prstDash val="solid"/>
          </a:ln>
        </p:spPr>
      </p:sp>
      <p:sp>
        <p:nvSpPr>
          <p:cNvPr id="10" name="Text 8"/>
          <p:cNvSpPr txBox="1"/>
          <p:nvPr/>
        </p:nvSpPr>
        <p:spPr>
          <a:xfrm>
            <a:off x="3291840" y="1691640"/>
            <a:ext cx="84124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価値（V）＝機能（F）÷コスト（C）を高める体系的活動</a:t>
            </a:r>
            <a:endParaRPr lang="en-US" sz="1100" dirty="0"/>
          </a:p>
        </p:txBody>
      </p:sp>
      <p:sp>
        <p:nvSpPr>
          <p:cNvPr id="11" name="Text 9"/>
          <p:cNvSpPr txBox="1"/>
          <p:nvPr/>
        </p:nvSpPr>
        <p:spPr>
          <a:xfrm>
            <a:off x="502920" y="2075688"/>
            <a:ext cx="26517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コンカレントエンジニアリング</a:t>
            </a:r>
            <a:endParaRPr lang="en-US" sz="1100" dirty="0"/>
          </a:p>
        </p:txBody>
      </p:sp>
      <p:sp>
        <p:nvSpPr>
          <p:cNvPr id="12" name="Shape 10"/>
          <p:cNvSpPr/>
          <p:nvPr/>
        </p:nvSpPr>
        <p:spPr>
          <a:xfrm>
            <a:off x="3136392" y="2075688"/>
            <a:ext cx="0" cy="256032"/>
          </a:xfrm>
          <a:prstGeom prst="line">
            <a:avLst/>
          </a:prstGeom>
          <a:noFill/>
          <a:ln w="12700">
            <a:solidFill>
              <a:srgbClr val="E6E6E6"/>
            </a:solidFill>
            <a:prstDash val="solid"/>
          </a:ln>
        </p:spPr>
      </p:sp>
      <p:sp>
        <p:nvSpPr>
          <p:cNvPr id="13" name="Text 11"/>
          <p:cNvSpPr txBox="1"/>
          <p:nvPr/>
        </p:nvSpPr>
        <p:spPr>
          <a:xfrm>
            <a:off x="3291840" y="2075688"/>
            <a:ext cx="84124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設計・生産技術・調達・販売が同時並行で検討し開発期間を短縮</a:t>
            </a:r>
            <a:endParaRPr lang="en-US" sz="1100" dirty="0"/>
          </a:p>
        </p:txBody>
      </p:sp>
      <p:sp>
        <p:nvSpPr>
          <p:cNvPr id="14" name="Text 12"/>
          <p:cNvSpPr txBox="1"/>
          <p:nvPr/>
        </p:nvSpPr>
        <p:spPr>
          <a:xfrm>
            <a:off x="502920" y="2551176"/>
            <a:ext cx="11201400" cy="71323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家電メーカーが企画段階から設計者・生産技術者・調達担当者が一緒に検討し、「金型が高額」「量産時に調達しにくい」等の懸念を早期に反映するのがコンカレントエンジニアリング。</a:t>
            </a:r>
            <a:endParaRPr lang="en-US" sz="850" dirty="0"/>
          </a:p>
        </p:txBody>
      </p:sp>
      <p:sp>
        <p:nvSpPr>
          <p:cNvPr id="15" name="Shape 13"/>
          <p:cNvSpPr/>
          <p:nvPr/>
        </p:nvSpPr>
        <p:spPr>
          <a:xfrm>
            <a:off x="502920" y="3337560"/>
            <a:ext cx="11201400" cy="0"/>
          </a:xfrm>
          <a:prstGeom prst="line">
            <a:avLst/>
          </a:prstGeom>
          <a:noFill/>
          <a:ln w="12700">
            <a:solidFill>
              <a:srgbClr val="E6E6E6"/>
            </a:solidFill>
            <a:prstDash val="solid"/>
          </a:ln>
        </p:spPr>
      </p:sp>
      <p:sp>
        <p:nvSpPr>
          <p:cNvPr id="16" name="Text 14"/>
          <p:cNvSpPr txBox="1"/>
          <p:nvPr/>
        </p:nvSpPr>
        <p:spPr>
          <a:xfrm>
            <a:off x="502920" y="341071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「機能を下げてコストを下げれば必ず価値が上がる」は誤り。コンカレントエンジニアリングは「同時並行で情報共有」であり「独立して同時に別設計」ではない。</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関連：D-16 工場計画（SLP、設計後のレイアウト検討にもつながる）。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D-5 ／ 生産計画：生産方式</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3つの分類軸で生産方式を整理する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「いつ作るか」「どれだけまとめて作るか」「どう配置するか」の3軸。</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見込／受注生産</a:t>
            </a:r>
            <a:endParaRPr lang="en-US" sz="1500" dirty="0"/>
          </a:p>
        </p:txBody>
      </p:sp>
      <p:sp>
        <p:nvSpPr>
          <p:cNvPr id="9" name="Text 7"/>
          <p:cNvSpPr txBox="1"/>
          <p:nvPr/>
        </p:nvSpPr>
        <p:spPr>
          <a:xfrm>
            <a:off x="2971800" y="185623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需要予測で先に作る（欠品・過剰在庫リスク）／注文後に作る（リードタイム長い）</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個別／ロット／連続生産</a:t>
            </a:r>
            <a:endParaRPr lang="en-US" sz="1500" dirty="0"/>
          </a:p>
        </p:txBody>
      </p:sp>
      <p:sp>
        <p:nvSpPr>
          <p:cNvPr id="12" name="Text 10"/>
          <p:cNvSpPr txBox="1"/>
          <p:nvPr/>
        </p:nvSpPr>
        <p:spPr>
          <a:xfrm>
            <a:off x="2971800" y="295351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1個ずつ専用計画／まとまった数量で段取替え／同一製品を継続生産</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ライン／セル生産</a:t>
            </a:r>
            <a:endParaRPr lang="en-US" sz="1500" dirty="0"/>
          </a:p>
        </p:txBody>
      </p:sp>
      <p:sp>
        <p:nvSpPr>
          <p:cNvPr id="15" name="Text 13"/>
          <p:cNvSpPr txBox="1"/>
          <p:nvPr/>
        </p:nvSpPr>
        <p:spPr>
          <a:xfrm>
            <a:off x="2971800" y="405079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大量生産向き・柔軟性低い／多能工が一連工程を担当し多品種少量に強い</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ひっかけ：セル生産は多能工化（D-11）が前提。「少人化」と「省人化」は別概念。</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D-6 ／ 生産計画：ライン編成（ラインバランシング）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ネック工程がサイクルタイムを決める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タクトタイムは目標値、サイクルタイムは実績値（最も遅い工程の時間）。</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286000" cy="48463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タクトタイム</a:t>
            </a:r>
            <a:endParaRPr lang="en-US" sz="1000" dirty="0"/>
          </a:p>
        </p:txBody>
      </p:sp>
      <p:sp>
        <p:nvSpPr>
          <p:cNvPr id="9" name="Shape 7"/>
          <p:cNvSpPr/>
          <p:nvPr/>
        </p:nvSpPr>
        <p:spPr>
          <a:xfrm>
            <a:off x="2770632" y="1691640"/>
            <a:ext cx="0" cy="256032"/>
          </a:xfrm>
          <a:prstGeom prst="line">
            <a:avLst/>
          </a:prstGeom>
          <a:noFill/>
          <a:ln w="12700">
            <a:solidFill>
              <a:srgbClr val="E6E6E6"/>
            </a:solidFill>
            <a:prstDash val="solid"/>
          </a:ln>
        </p:spPr>
      </p:sp>
      <p:sp>
        <p:nvSpPr>
          <p:cNvPr id="10" name="Text 8"/>
          <p:cNvSpPr txBox="1"/>
          <p:nvPr/>
        </p:nvSpPr>
        <p:spPr>
          <a:xfrm>
            <a:off x="2926080" y="1691640"/>
            <a:ext cx="4526280" cy="48463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実稼働時間 ÷ 必要生産数（目標値）</a:t>
            </a:r>
            <a:endParaRPr lang="en-US" sz="1000" dirty="0"/>
          </a:p>
        </p:txBody>
      </p:sp>
      <p:sp>
        <p:nvSpPr>
          <p:cNvPr id="11" name="Text 9"/>
          <p:cNvSpPr txBox="1"/>
          <p:nvPr/>
        </p:nvSpPr>
        <p:spPr>
          <a:xfrm>
            <a:off x="502920" y="2194560"/>
            <a:ext cx="2286000" cy="48463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ラインバランシング効率</a:t>
            </a:r>
            <a:endParaRPr lang="en-US" sz="1000" dirty="0"/>
          </a:p>
        </p:txBody>
      </p:sp>
      <p:sp>
        <p:nvSpPr>
          <p:cNvPr id="12" name="Shape 10"/>
          <p:cNvSpPr/>
          <p:nvPr/>
        </p:nvSpPr>
        <p:spPr>
          <a:xfrm>
            <a:off x="2770632" y="2194560"/>
            <a:ext cx="0" cy="256032"/>
          </a:xfrm>
          <a:prstGeom prst="line">
            <a:avLst/>
          </a:prstGeom>
          <a:noFill/>
          <a:ln w="12700">
            <a:solidFill>
              <a:srgbClr val="E6E6E6"/>
            </a:solidFill>
            <a:prstDash val="solid"/>
          </a:ln>
        </p:spPr>
      </p:sp>
      <p:sp>
        <p:nvSpPr>
          <p:cNvPr id="13" name="Text 11"/>
          <p:cNvSpPr txBox="1"/>
          <p:nvPr/>
        </p:nvSpPr>
        <p:spPr>
          <a:xfrm>
            <a:off x="2926080" y="2194560"/>
            <a:ext cx="4526280" cy="48463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各工程作業時間合計 ÷ (工程数×サイクルタイム) × 100</a:t>
            </a:r>
            <a:endParaRPr lang="en-US" sz="1000" dirty="0"/>
          </a:p>
        </p:txBody>
      </p:sp>
      <p:sp>
        <p:nvSpPr>
          <p:cNvPr id="14" name="Shape 12"/>
          <p:cNvSpPr/>
          <p:nvPr/>
        </p:nvSpPr>
        <p:spPr>
          <a:xfrm>
            <a:off x="502920" y="2788920"/>
            <a:ext cx="6949440" cy="0"/>
          </a:xfrm>
          <a:prstGeom prst="line">
            <a:avLst/>
          </a:prstGeom>
          <a:noFill/>
          <a:ln w="12700">
            <a:solidFill>
              <a:srgbClr val="E6E6E6"/>
            </a:solidFill>
            <a:prstDash val="solid"/>
          </a:ln>
        </p:spPr>
      </p:sp>
      <p:sp>
        <p:nvSpPr>
          <p:cNvPr id="15" name="Text 13"/>
          <p:cNvSpPr txBox="1"/>
          <p:nvPr/>
        </p:nvSpPr>
        <p:spPr>
          <a:xfrm>
            <a:off x="502920" y="2862072"/>
            <a:ext cx="6949440" cy="50292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分母のサイクルタイムには「平均」ではなく「最大（ネック工程）」の時間を使う。</a:t>
            </a:r>
            <a:endParaRPr lang="en-US" sz="950" dirty="0"/>
          </a:p>
        </p:txBody>
      </p:sp>
      <p:sp>
        <p:nvSpPr>
          <p:cNvPr id="16" name="Shape 14"/>
          <p:cNvSpPr/>
          <p:nvPr/>
        </p:nvSpPr>
        <p:spPr>
          <a:xfrm>
            <a:off x="7818120" y="4983480"/>
            <a:ext cx="3703320" cy="0"/>
          </a:xfrm>
          <a:prstGeom prst="line">
            <a:avLst/>
          </a:prstGeom>
          <a:noFill/>
          <a:ln w="19050">
            <a:solidFill>
              <a:srgbClr val="171717"/>
            </a:solidFill>
            <a:prstDash val="solid"/>
          </a:ln>
        </p:spPr>
      </p:sp>
      <p:sp>
        <p:nvSpPr>
          <p:cNvPr id="17" name="Shape 15"/>
          <p:cNvSpPr/>
          <p:nvPr/>
        </p:nvSpPr>
        <p:spPr>
          <a:xfrm>
            <a:off x="7818120" y="2733766"/>
            <a:ext cx="759181" cy="2249714"/>
          </a:xfrm>
          <a:prstGeom prst="rect">
            <a:avLst/>
          </a:prstGeom>
          <a:solidFill>
            <a:srgbClr val="F4F4F4"/>
          </a:solidFill>
          <a:ln w="12700">
            <a:solidFill>
              <a:srgbClr val="171717"/>
            </a:solidFill>
            <a:prstDash val="solid"/>
          </a:ln>
        </p:spPr>
      </p:sp>
      <p:sp>
        <p:nvSpPr>
          <p:cNvPr id="18" name="Text 16"/>
          <p:cNvSpPr txBox="1"/>
          <p:nvPr/>
        </p:nvSpPr>
        <p:spPr>
          <a:xfrm>
            <a:off x="7790688" y="2441158"/>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200</a:t>
            </a:r>
            <a:endParaRPr lang="en-US" sz="1050" dirty="0"/>
          </a:p>
        </p:txBody>
      </p:sp>
      <p:sp>
        <p:nvSpPr>
          <p:cNvPr id="19" name="Text 17"/>
          <p:cNvSpPr txBox="1"/>
          <p:nvPr/>
        </p:nvSpPr>
        <p:spPr>
          <a:xfrm>
            <a:off x="779068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第1工程</a:t>
            </a:r>
            <a:endParaRPr lang="en-US" sz="900" dirty="0"/>
          </a:p>
        </p:txBody>
      </p:sp>
      <p:sp>
        <p:nvSpPr>
          <p:cNvPr id="20" name="Shape 18"/>
          <p:cNvSpPr/>
          <p:nvPr/>
        </p:nvSpPr>
        <p:spPr>
          <a:xfrm>
            <a:off x="8799500" y="2148840"/>
            <a:ext cx="759181" cy="2834640"/>
          </a:xfrm>
          <a:prstGeom prst="rect">
            <a:avLst/>
          </a:prstGeom>
          <a:solidFill>
            <a:srgbClr val="FF3B1F"/>
          </a:solidFill>
          <a:ln w="12700">
            <a:solidFill>
              <a:srgbClr val="FF3B1F"/>
            </a:solidFill>
            <a:prstDash val="solid"/>
          </a:ln>
        </p:spPr>
      </p:sp>
      <p:sp>
        <p:nvSpPr>
          <p:cNvPr id="21" name="Text 19"/>
          <p:cNvSpPr txBox="1"/>
          <p:nvPr/>
        </p:nvSpPr>
        <p:spPr>
          <a:xfrm>
            <a:off x="8772068" y="1856232"/>
            <a:ext cx="814045" cy="256032"/>
          </a:xfrm>
          <a:prstGeom prst="rect">
            <a:avLst/>
          </a:prstGeom>
          <a:noFill/>
          <a:ln/>
        </p:spPr>
        <p:txBody>
          <a:bodyPr wrap="square" lIns="0" tIns="0" rIns="0" bIns="0" rtlCol="0" anchor="ctr"/>
          <a:lstStyle/>
          <a:p>
            <a:pPr algn="ctr" indent="0" marL="0">
              <a:buNone/>
            </a:pPr>
            <a:r>
              <a:rPr lang="en-US" sz="1300" b="1" dirty="0">
                <a:solidFill>
                  <a:srgbClr val="FF3B1F"/>
                </a:solidFill>
                <a:latin typeface="Consolas" pitchFamily="34" charset="0"/>
                <a:ea typeface="Consolas" pitchFamily="34" charset="-122"/>
                <a:cs typeface="Consolas" pitchFamily="34" charset="-120"/>
              </a:rPr>
              <a:t>252</a:t>
            </a:r>
            <a:endParaRPr lang="en-US" sz="1300" dirty="0"/>
          </a:p>
        </p:txBody>
      </p:sp>
      <p:sp>
        <p:nvSpPr>
          <p:cNvPr id="22" name="Text 20"/>
          <p:cNvSpPr txBox="1"/>
          <p:nvPr/>
        </p:nvSpPr>
        <p:spPr>
          <a:xfrm>
            <a:off x="877206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第2工程</a:t>
            </a:r>
            <a:endParaRPr lang="en-US" sz="900" dirty="0"/>
          </a:p>
        </p:txBody>
      </p:sp>
      <p:sp>
        <p:nvSpPr>
          <p:cNvPr id="23" name="Shape 21"/>
          <p:cNvSpPr/>
          <p:nvPr/>
        </p:nvSpPr>
        <p:spPr>
          <a:xfrm>
            <a:off x="9780880" y="2958737"/>
            <a:ext cx="759181" cy="2024743"/>
          </a:xfrm>
          <a:prstGeom prst="rect">
            <a:avLst/>
          </a:prstGeom>
          <a:solidFill>
            <a:srgbClr val="F4F4F4"/>
          </a:solidFill>
          <a:ln w="12700">
            <a:solidFill>
              <a:srgbClr val="171717"/>
            </a:solidFill>
            <a:prstDash val="solid"/>
          </a:ln>
        </p:spPr>
      </p:sp>
      <p:sp>
        <p:nvSpPr>
          <p:cNvPr id="24" name="Text 22"/>
          <p:cNvSpPr txBox="1"/>
          <p:nvPr/>
        </p:nvSpPr>
        <p:spPr>
          <a:xfrm>
            <a:off x="9753448" y="2666129"/>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180</a:t>
            </a:r>
            <a:endParaRPr lang="en-US" sz="1050" dirty="0"/>
          </a:p>
        </p:txBody>
      </p:sp>
      <p:sp>
        <p:nvSpPr>
          <p:cNvPr id="25" name="Text 23"/>
          <p:cNvSpPr txBox="1"/>
          <p:nvPr/>
        </p:nvSpPr>
        <p:spPr>
          <a:xfrm>
            <a:off x="975344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第3工程</a:t>
            </a:r>
            <a:endParaRPr lang="en-US" sz="900" dirty="0"/>
          </a:p>
        </p:txBody>
      </p:sp>
      <p:sp>
        <p:nvSpPr>
          <p:cNvPr id="26" name="Shape 24"/>
          <p:cNvSpPr/>
          <p:nvPr/>
        </p:nvSpPr>
        <p:spPr>
          <a:xfrm>
            <a:off x="10762259" y="2508794"/>
            <a:ext cx="759181" cy="2474686"/>
          </a:xfrm>
          <a:prstGeom prst="rect">
            <a:avLst/>
          </a:prstGeom>
          <a:solidFill>
            <a:srgbClr val="F4F4F4"/>
          </a:solidFill>
          <a:ln w="12700">
            <a:solidFill>
              <a:srgbClr val="171717"/>
            </a:solidFill>
            <a:prstDash val="solid"/>
          </a:ln>
        </p:spPr>
      </p:sp>
      <p:sp>
        <p:nvSpPr>
          <p:cNvPr id="27" name="Text 25"/>
          <p:cNvSpPr txBox="1"/>
          <p:nvPr/>
        </p:nvSpPr>
        <p:spPr>
          <a:xfrm>
            <a:off x="10734827" y="2216186"/>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220</a:t>
            </a:r>
            <a:endParaRPr lang="en-US" sz="1050" dirty="0"/>
          </a:p>
        </p:txBody>
      </p:sp>
      <p:sp>
        <p:nvSpPr>
          <p:cNvPr id="28" name="Text 26"/>
          <p:cNvSpPr txBox="1"/>
          <p:nvPr/>
        </p:nvSpPr>
        <p:spPr>
          <a:xfrm>
            <a:off x="10734827"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第4工程</a:t>
            </a:r>
            <a:endParaRPr lang="en-US" sz="900" dirty="0"/>
          </a:p>
        </p:txBody>
      </p:sp>
      <p:sp>
        <p:nvSpPr>
          <p:cNvPr id="29" name="Text 27"/>
          <p:cNvSpPr txBox="1"/>
          <p:nvPr/>
        </p:nvSpPr>
        <p:spPr>
          <a:xfrm>
            <a:off x="7543800" y="5394960"/>
            <a:ext cx="4251960" cy="274320"/>
          </a:xfrm>
          <a:prstGeom prst="rect">
            <a:avLst/>
          </a:prstGeom>
          <a:noFill/>
          <a:ln/>
        </p:spPr>
        <p:txBody>
          <a:bodyPr wrap="square" lIns="0" tIns="0" rIns="0" bIns="0" rtlCol="0" anchor="ctr"/>
          <a:lstStyle/>
          <a:p>
            <a:pPr algn="ctr" indent="0" marL="0">
              <a:buNone/>
            </a:pPr>
            <a:r>
              <a:rPr lang="en-US" sz="900" dirty="0">
                <a:solidFill>
                  <a:srgbClr val="8A8A8A"/>
                </a:solidFill>
                <a:latin typeface="Yu Gothic" pitchFamily="34" charset="0"/>
                <a:ea typeface="Yu Gothic" pitchFamily="34" charset="-122"/>
                <a:cs typeface="Yu Gothic" pitchFamily="34" charset="-120"/>
              </a:rPr>
              <a:t>第2工程（赤）がネック＝サイクルタイム252秒</a:t>
            </a:r>
            <a:endParaRPr lang="en-US" sz="900" dirty="0"/>
          </a:p>
        </p:txBody>
      </p:sp>
      <p:sp>
        <p:nvSpPr>
          <p:cNvPr id="30" name="Shape 28"/>
          <p:cNvSpPr/>
          <p:nvPr/>
        </p:nvSpPr>
        <p:spPr>
          <a:xfrm>
            <a:off x="502920" y="5989320"/>
            <a:ext cx="11201400" cy="0"/>
          </a:xfrm>
          <a:prstGeom prst="line">
            <a:avLst/>
          </a:prstGeom>
          <a:noFill/>
          <a:ln w="9525">
            <a:solidFill>
              <a:srgbClr val="171717"/>
            </a:solidFill>
            <a:prstDash val="solid"/>
          </a:ln>
        </p:spPr>
      </p:sp>
      <p:sp>
        <p:nvSpPr>
          <p:cNvPr id="31" name="Shape 29"/>
          <p:cNvSpPr/>
          <p:nvPr/>
        </p:nvSpPr>
        <p:spPr>
          <a:xfrm>
            <a:off x="502920" y="6062472"/>
            <a:ext cx="329184" cy="329184"/>
          </a:xfrm>
          <a:prstGeom prst="ellipse">
            <a:avLst/>
          </a:prstGeom>
          <a:solidFill>
            <a:srgbClr val="FF3B1F"/>
          </a:solidFill>
          <a:ln/>
        </p:spPr>
      </p:sp>
      <p:sp>
        <p:nvSpPr>
          <p:cNvPr id="32" name="Text 3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3" name="Text 3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4" name="Shape 32"/>
          <p:cNvSpPr/>
          <p:nvPr/>
        </p:nvSpPr>
        <p:spPr>
          <a:xfrm>
            <a:off x="2331720" y="6062472"/>
            <a:ext cx="0" cy="329184"/>
          </a:xfrm>
          <a:prstGeom prst="line">
            <a:avLst/>
          </a:prstGeom>
          <a:noFill/>
          <a:ln w="12700">
            <a:solidFill>
              <a:srgbClr val="E6E6E6"/>
            </a:solidFill>
            <a:prstDash val="solid"/>
          </a:ln>
        </p:spPr>
      </p:sp>
      <p:sp>
        <p:nvSpPr>
          <p:cNvPr id="35" name="Text 3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具体例：852秒÷(4×252秒)×100＝約84.5％、バランスロス率約15.5％。</a:t>
            </a:r>
            <a:endParaRPr lang="en-US" sz="1000" dirty="0"/>
          </a:p>
        </p:txBody>
      </p:sp>
      <p:sp>
        <p:nvSpPr>
          <p:cNvPr id="36" name="Text 3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7" name="Shape 35"/>
          <p:cNvSpPr/>
          <p:nvPr/>
        </p:nvSpPr>
        <p:spPr>
          <a:xfrm>
            <a:off x="246659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9" name="Shape 37"/>
          <p:cNvSpPr/>
          <p:nvPr/>
        </p:nvSpPr>
        <p:spPr>
          <a:xfrm>
            <a:off x="343128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41" name="Shape 39"/>
          <p:cNvSpPr/>
          <p:nvPr/>
        </p:nvSpPr>
        <p:spPr>
          <a:xfrm>
            <a:off x="439597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3" name="Shape 41"/>
          <p:cNvSpPr/>
          <p:nvPr/>
        </p:nvSpPr>
        <p:spPr>
          <a:xfrm>
            <a:off x="536067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5" name="Shape 43"/>
          <p:cNvSpPr/>
          <p:nvPr/>
        </p:nvSpPr>
        <p:spPr>
          <a:xfrm>
            <a:off x="632536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7" name="Shape 45"/>
          <p:cNvSpPr/>
          <p:nvPr/>
        </p:nvSpPr>
        <p:spPr>
          <a:xfrm>
            <a:off x="7290054"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9" name="Shape 47"/>
          <p:cNvSpPr/>
          <p:nvPr/>
        </p:nvSpPr>
        <p:spPr>
          <a:xfrm>
            <a:off x="8254746"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1" name="Shape 49"/>
          <p:cNvSpPr/>
          <p:nvPr/>
        </p:nvSpPr>
        <p:spPr>
          <a:xfrm>
            <a:off x="9219438"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3" name="Shape 51"/>
          <p:cNvSpPr/>
          <p:nvPr/>
        </p:nvSpPr>
        <p:spPr>
          <a:xfrm>
            <a:off x="10184130"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5" name="Shape 53"/>
          <p:cNvSpPr/>
          <p:nvPr/>
        </p:nvSpPr>
        <p:spPr>
          <a:xfrm>
            <a:off x="11148822" y="6464808"/>
            <a:ext cx="146304" cy="146304"/>
          </a:xfrm>
          <a:prstGeom prst="ellipse">
            <a:avLst/>
          </a:prstGeom>
          <a:solidFill>
            <a:srgbClr val="FF3B1F"/>
          </a:solidFill>
          <a:ln w="12700">
            <a:solidFill>
              <a:srgbClr val="FF3B1F"/>
            </a:solidFill>
            <a:prstDash val="solid"/>
          </a:ln>
        </p:spPr>
      </p:sp>
      <p:sp>
        <p:nvSpPr>
          <p:cNvPr id="56" name="Text 5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64008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ある工場では、1種類の製品をライン生産方式で生産することを計画している。1カ月の製品の必要生産数は2,000個、稼働日は20日である。1日の実稼働時間は7時間である。この生産ラインのタクトタイムが含まれる範囲として、最も適切なものはどれか。</a:t>
            </a:r>
            <a:endParaRPr lang="en-US" sz="1250" dirty="0"/>
          </a:p>
        </p:txBody>
      </p:sp>
      <p:sp>
        <p:nvSpPr>
          <p:cNvPr id="9" name="Text 7"/>
          <p:cNvSpPr txBox="1"/>
          <p:nvPr/>
        </p:nvSpPr>
        <p:spPr>
          <a:xfrm>
            <a:off x="731520" y="24231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100秒未満</a:t>
            </a:r>
            <a:endParaRPr lang="en-US" sz="1150" dirty="0"/>
          </a:p>
        </p:txBody>
      </p:sp>
      <p:sp>
        <p:nvSpPr>
          <p:cNvPr id="10" name="Text 8"/>
          <p:cNvSpPr txBox="1"/>
          <p:nvPr/>
        </p:nvSpPr>
        <p:spPr>
          <a:xfrm>
            <a:off x="731520" y="28986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100秒以上、200秒未満</a:t>
            </a:r>
            <a:endParaRPr lang="en-US" sz="1150" dirty="0"/>
          </a:p>
        </p:txBody>
      </p:sp>
      <p:sp>
        <p:nvSpPr>
          <p:cNvPr id="11" name="Text 9"/>
          <p:cNvSpPr txBox="1"/>
          <p:nvPr/>
        </p:nvSpPr>
        <p:spPr>
          <a:xfrm>
            <a:off x="731520" y="33741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200秒以上、300秒未満</a:t>
            </a:r>
            <a:endParaRPr lang="en-US" sz="1150" dirty="0"/>
          </a:p>
        </p:txBody>
      </p:sp>
      <p:sp>
        <p:nvSpPr>
          <p:cNvPr id="12" name="Text 10"/>
          <p:cNvSpPr txBox="1"/>
          <p:nvPr/>
        </p:nvSpPr>
        <p:spPr>
          <a:xfrm>
            <a:off x="731520" y="38496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300秒以上、400秒未満</a:t>
            </a:r>
            <a:endParaRPr lang="en-US" sz="1150" dirty="0"/>
          </a:p>
        </p:txBody>
      </p:sp>
      <p:sp>
        <p:nvSpPr>
          <p:cNvPr id="13" name="Text 11"/>
          <p:cNvSpPr txBox="1"/>
          <p:nvPr/>
        </p:nvSpPr>
        <p:spPr>
          <a:xfrm>
            <a:off x="731520" y="43251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400秒以上</a:t>
            </a:r>
            <a:endParaRPr lang="en-US" sz="1150" dirty="0"/>
          </a:p>
        </p:txBody>
      </p:sp>
      <p:sp>
        <p:nvSpPr>
          <p:cNvPr id="14" name="Text 12"/>
          <p:cNvSpPr txBox="1"/>
          <p:nvPr/>
        </p:nvSpPr>
        <p:spPr>
          <a:xfrm>
            <a:off x="502920" y="49377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出典：past_exams/1st_stage/1ji2025/D1JI2025.pdf（令和7年度第1次試験）第21問</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正解はウ。タクトタイム＝25,200秒÷100個＝252秒/個。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100秒未満</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100秒以上、200秒未満</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200秒以上、300秒未満</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300秒以上、400秒未満</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400秒以上</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64008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。①1日あたりの必要生産数＝2,000個÷20日＝100個/日。②1日の実稼働時間＝7時間＝25,200秒。③タクトタイム＝25,200秒÷100個＝</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252秒/個</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。252秒は「200秒以上、300秒未満」に含まれる。</a:t>
            </a:r>
            <a:endParaRPr lang="en-US" sz="1050" dirty="0"/>
          </a:p>
        </p:txBody>
      </p:sp>
      <p:sp>
        <p:nvSpPr>
          <p:cNvPr id="17" name="Text 15"/>
          <p:cNvSpPr txBox="1"/>
          <p:nvPr/>
        </p:nvSpPr>
        <p:spPr>
          <a:xfrm>
            <a:off x="502920" y="499262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タクトタイムは「必要な生産量を稼働時間内に満たすには1個あたり何秒で生産すればよいか」を表す目標値で、ラインバランシングの前提となる基準時間として使われる。</a:t>
            </a:r>
            <a:endParaRPr lang="en-US" sz="850" dirty="0"/>
          </a:p>
        </p:txBody>
      </p:sp>
      <p:sp>
        <p:nvSpPr>
          <p:cNvPr id="18" name="Text 16"/>
          <p:cNvSpPr txBox="1"/>
          <p:nvPr/>
        </p:nvSpPr>
        <p:spPr>
          <a:xfrm>
            <a:off x="502920" y="552297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関連知識：docs/07_key_formulas_and_frameworks.mdのラインバランシング効率の分母にこのタクトタイムを使う。</a:t>
            </a:r>
            <a:endParaRPr lang="en-US" sz="1000" dirty="0"/>
          </a:p>
        </p:txBody>
      </p:sp>
      <p:sp>
        <p:nvSpPr>
          <p:cNvPr id="19" name="Text 17"/>
          <p:cNvSpPr txBox="1"/>
          <p:nvPr/>
        </p:nvSpPr>
        <p:spPr>
          <a:xfrm>
            <a:off x="502920" y="587044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出典：past_exams/1st_stage/1ji2025/D1JI2025.pdf（令和7年度第1次試験）第21問／正解：past_exams/1st_stage_answers/r07/d_v2_20250902.pdf</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D-7 ／ 生産計画：需要予測</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αが大きいほど直近実績を重視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移動平均法は均等ウェイト、指数平滑法は直近ほど大きなウェイト。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移動平均法</a:t>
            </a:r>
            <a:endParaRPr lang="en-US" sz="110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直近n期間の実績値の単純平均。各期に均等なウェイト</a:t>
            </a:r>
            <a:endParaRPr lang="en-US" sz="1100" dirty="0"/>
          </a:p>
        </p:txBody>
      </p:sp>
      <p:sp>
        <p:nvSpPr>
          <p:cNvPr id="11" name="Text 9"/>
          <p:cNvSpPr txBox="1"/>
          <p:nvPr/>
        </p:nvSpPr>
        <p:spPr>
          <a:xfrm>
            <a:off x="502920" y="2075688"/>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指数平滑法</a:t>
            </a:r>
            <a:endParaRPr lang="en-US" sz="1100" dirty="0"/>
          </a:p>
        </p:txBody>
      </p:sp>
      <p:sp>
        <p:nvSpPr>
          <p:cNvPr id="12" name="Shape 10"/>
          <p:cNvSpPr/>
          <p:nvPr/>
        </p:nvSpPr>
        <p:spPr>
          <a:xfrm>
            <a:off x="2313432" y="2075688"/>
            <a:ext cx="0" cy="256032"/>
          </a:xfrm>
          <a:prstGeom prst="line">
            <a:avLst/>
          </a:prstGeom>
          <a:noFill/>
          <a:ln w="12700">
            <a:solidFill>
              <a:srgbClr val="E6E6E6"/>
            </a:solidFill>
            <a:prstDash val="solid"/>
          </a:ln>
        </p:spPr>
      </p:sp>
      <p:sp>
        <p:nvSpPr>
          <p:cNvPr id="13" name="Text 11"/>
          <p:cNvSpPr txBox="1"/>
          <p:nvPr/>
        </p:nvSpPr>
        <p:spPr>
          <a:xfrm>
            <a:off x="2468880" y="2075688"/>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次期予測値＝α×当期実績値＋(1－α)×当期予測値</a:t>
            </a:r>
            <a:endParaRPr lang="en-US" sz="110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先月実績100個・予測90個。α＝0.3→次期予測93個。α＝0.6→次期予測96個。αが大きいほど直近実績（100個）に近づく。</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「αが大きいほど予測が安定する」は誤り。αが大きいほど直近実績への反応が敏感になり予測は振れやすくなる。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関連：D-31 商品在庫管理・需要予測（店舗版でも同じ考え方を使う）。</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D-8 ／ 生産計画：需給計画（MRP、MPS、BOM）</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総所要量から在庫・入庫予定を引く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MPS（生産計画）とBOM（部品表）から必要部品を展開し、正味所要量を計算する。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MPS</a:t>
            </a:r>
            <a:endParaRPr lang="en-US" sz="110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最終製品を「いつ・いくつ作るか」定めた基準生産計画</a:t>
            </a:r>
            <a:endParaRPr lang="en-US" sz="1100" dirty="0"/>
          </a:p>
        </p:txBody>
      </p:sp>
      <p:sp>
        <p:nvSpPr>
          <p:cNvPr id="11" name="Text 9"/>
          <p:cNvSpPr txBox="1"/>
          <p:nvPr/>
        </p:nvSpPr>
        <p:spPr>
          <a:xfrm>
            <a:off x="502920" y="2075688"/>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BOM</a:t>
            </a:r>
            <a:endParaRPr lang="en-US" sz="1100" dirty="0"/>
          </a:p>
        </p:txBody>
      </p:sp>
      <p:sp>
        <p:nvSpPr>
          <p:cNvPr id="12" name="Shape 10"/>
          <p:cNvSpPr/>
          <p:nvPr/>
        </p:nvSpPr>
        <p:spPr>
          <a:xfrm>
            <a:off x="2039112" y="2075688"/>
            <a:ext cx="0" cy="256032"/>
          </a:xfrm>
          <a:prstGeom prst="line">
            <a:avLst/>
          </a:prstGeom>
          <a:noFill/>
          <a:ln w="12700">
            <a:solidFill>
              <a:srgbClr val="E6E6E6"/>
            </a:solidFill>
            <a:prstDash val="solid"/>
          </a:ln>
        </p:spPr>
      </p:sp>
      <p:sp>
        <p:nvSpPr>
          <p:cNvPr id="13" name="Text 11"/>
          <p:cNvSpPr txBox="1"/>
          <p:nvPr/>
        </p:nvSpPr>
        <p:spPr>
          <a:xfrm>
            <a:off x="2194560" y="2075688"/>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製品1個に必要な部品・員数を示す部品表</a:t>
            </a:r>
            <a:endParaRPr lang="en-US" sz="1100" dirty="0"/>
          </a:p>
        </p:txBody>
      </p:sp>
      <p:sp>
        <p:nvSpPr>
          <p:cNvPr id="14" name="Text 12"/>
          <p:cNvSpPr txBox="1"/>
          <p:nvPr/>
        </p:nvSpPr>
        <p:spPr>
          <a:xfrm>
            <a:off x="502920" y="2459736"/>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正味所要量</a:t>
            </a:r>
            <a:endParaRPr lang="en-US" sz="1100" dirty="0"/>
          </a:p>
        </p:txBody>
      </p:sp>
      <p:sp>
        <p:nvSpPr>
          <p:cNvPr id="15" name="Shape 13"/>
          <p:cNvSpPr/>
          <p:nvPr/>
        </p:nvSpPr>
        <p:spPr>
          <a:xfrm>
            <a:off x="2039112" y="2459736"/>
            <a:ext cx="0" cy="256032"/>
          </a:xfrm>
          <a:prstGeom prst="line">
            <a:avLst/>
          </a:prstGeom>
          <a:noFill/>
          <a:ln w="12700">
            <a:solidFill>
              <a:srgbClr val="E6E6E6"/>
            </a:solidFill>
            <a:prstDash val="solid"/>
          </a:ln>
        </p:spPr>
      </p:sp>
      <p:sp>
        <p:nvSpPr>
          <p:cNvPr id="16" name="Text 14"/>
          <p:cNvSpPr txBox="1"/>
          <p:nvPr/>
        </p:nvSpPr>
        <p:spPr>
          <a:xfrm>
            <a:off x="2194560" y="2459736"/>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総所要量－（現在庫＋入庫予定）</a:t>
            </a:r>
            <a:endParaRPr lang="en-US" sz="110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自転車1台＝車輪2個。来月50台生産→総所要量100個。在庫15個・入荷予定10個→正味所要量＝100－25＝75個をリードタイム分前倒しで発注。</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員数（自転車1台＝車輪2個）の掛け忘れに注意。MRPは計画に基づき部品を押し出すプッシュ型で、かんばん（プル型、D-2）とは対照的。</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 生産システム（JIT・かんばん＝プル型との対比）。</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D-9 ／ 生産計画：スケジューリング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短い工程に着目して投入順序を決める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PERTのクリティカルパスと、2機械フローショップのジョンソンの規則。</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0116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クリティカルパス</a:t>
            </a:r>
            <a:endParaRPr lang="en-US" sz="1100" dirty="0"/>
          </a:p>
        </p:txBody>
      </p:sp>
      <p:sp>
        <p:nvSpPr>
          <p:cNvPr id="9" name="Shape 7"/>
          <p:cNvSpPr/>
          <p:nvPr/>
        </p:nvSpPr>
        <p:spPr>
          <a:xfrm>
            <a:off x="2496312" y="1691640"/>
            <a:ext cx="0" cy="256032"/>
          </a:xfrm>
          <a:prstGeom prst="line">
            <a:avLst/>
          </a:prstGeom>
          <a:noFill/>
          <a:ln w="12700">
            <a:solidFill>
              <a:srgbClr val="E6E6E6"/>
            </a:solidFill>
            <a:prstDash val="solid"/>
          </a:ln>
        </p:spPr>
      </p:sp>
      <p:sp>
        <p:nvSpPr>
          <p:cNvPr id="10" name="Text 8"/>
          <p:cNvSpPr txBox="1"/>
          <p:nvPr/>
        </p:nvSpPr>
        <p:spPr>
          <a:xfrm>
            <a:off x="2651760" y="1691640"/>
            <a:ext cx="90525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PERT図で最も時間のかかる経路。余裕時間ゼロで遅れが全体に直結</a:t>
            </a:r>
            <a:endParaRPr lang="en-US" sz="1100" dirty="0"/>
          </a:p>
        </p:txBody>
      </p:sp>
      <p:sp>
        <p:nvSpPr>
          <p:cNvPr id="11" name="Text 9"/>
          <p:cNvSpPr txBox="1"/>
          <p:nvPr/>
        </p:nvSpPr>
        <p:spPr>
          <a:xfrm>
            <a:off x="502920" y="2075688"/>
            <a:ext cx="20116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ジョンソンの規則</a:t>
            </a:r>
            <a:endParaRPr lang="en-US" sz="1100" dirty="0"/>
          </a:p>
        </p:txBody>
      </p:sp>
      <p:sp>
        <p:nvSpPr>
          <p:cNvPr id="12" name="Shape 10"/>
          <p:cNvSpPr/>
          <p:nvPr/>
        </p:nvSpPr>
        <p:spPr>
          <a:xfrm>
            <a:off x="2496312" y="2075688"/>
            <a:ext cx="0" cy="256032"/>
          </a:xfrm>
          <a:prstGeom prst="line">
            <a:avLst/>
          </a:prstGeom>
          <a:noFill/>
          <a:ln w="12700">
            <a:solidFill>
              <a:srgbClr val="E6E6E6"/>
            </a:solidFill>
            <a:prstDash val="solid"/>
          </a:ln>
        </p:spPr>
      </p:sp>
      <p:sp>
        <p:nvSpPr>
          <p:cNvPr id="13" name="Text 11"/>
          <p:cNvSpPr txBox="1"/>
          <p:nvPr/>
        </p:nvSpPr>
        <p:spPr>
          <a:xfrm>
            <a:off x="2651760" y="2075688"/>
            <a:ext cx="90525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第1工程が短いジョブは前方へ昇順、第2工程が短いジョブは後方へ降順</a:t>
            </a:r>
            <a:endParaRPr lang="en-US" sz="1100" dirty="0"/>
          </a:p>
        </p:txBody>
      </p:sp>
      <p:sp>
        <p:nvSpPr>
          <p:cNvPr id="14" name="Text 12"/>
          <p:cNvSpPr txBox="1"/>
          <p:nvPr/>
        </p:nvSpPr>
        <p:spPr>
          <a:xfrm>
            <a:off x="502920" y="2551176"/>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4ジョブa,b,c,dの投入順序＝a→c→d→b（前方は第1工程時間昇順、後方は第2工程時間降順）。</a:t>
            </a:r>
            <a:endParaRPr lang="en-US" sz="850" dirty="0"/>
          </a:p>
        </p:txBody>
      </p:sp>
      <p:sp>
        <p:nvSpPr>
          <p:cNvPr id="15" name="Shape 13"/>
          <p:cNvSpPr/>
          <p:nvPr/>
        </p:nvSpPr>
        <p:spPr>
          <a:xfrm>
            <a:off x="502920" y="3154680"/>
            <a:ext cx="11201400" cy="0"/>
          </a:xfrm>
          <a:prstGeom prst="line">
            <a:avLst/>
          </a:prstGeom>
          <a:noFill/>
          <a:ln w="12700">
            <a:solidFill>
              <a:srgbClr val="E6E6E6"/>
            </a:solidFill>
            <a:prstDash val="solid"/>
          </a:ln>
        </p:spPr>
      </p:sp>
      <p:sp>
        <p:nvSpPr>
          <p:cNvPr id="16" name="Text 14"/>
          <p:cNvSpPr txBox="1"/>
          <p:nvPr/>
        </p:nvSpPr>
        <p:spPr>
          <a:xfrm>
            <a:off x="502920" y="322783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「第1工程が長いジョブを先に」ではなく「短い工程に着目」。ジョンソンの規則は2台機械・同一工程順序のフローショップ限定。</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関連：D-10 生産統制（進捗管理でスケジュール通りかを日々チェック）。</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058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2台の機械を用いて、第1工程、第2工程の順で作業するフローショップにおいて、各ジョブの作業時間が下表に与えられている（ジョブa：第1工程3・第2工程4／ジョブb：第1工程4・第2工程1／ジョブc：第1工程5・第2工程7／ジョブd：第1工程6・第2工程2）。メイクスパンが最小になるように各ジョブがフローショップに投入された場合、メイクスパンにおける2台の機械の非稼働時間の合計として、最も適切なものを下記の解答群から選べ。</a:t>
            </a:r>
            <a:endParaRPr lang="en-US" sz="1250" dirty="0"/>
          </a:p>
        </p:txBody>
      </p:sp>
      <p:sp>
        <p:nvSpPr>
          <p:cNvPr id="9" name="Text 7"/>
          <p:cNvSpPr txBox="1"/>
          <p:nvPr/>
        </p:nvSpPr>
        <p:spPr>
          <a:xfrm>
            <a:off x="731520" y="27889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3</a:t>
            </a:r>
            <a:endParaRPr lang="en-US" sz="1150" dirty="0"/>
          </a:p>
        </p:txBody>
      </p:sp>
      <p:sp>
        <p:nvSpPr>
          <p:cNvPr id="10" name="Text 8"/>
          <p:cNvSpPr txBox="1"/>
          <p:nvPr/>
        </p:nvSpPr>
        <p:spPr>
          <a:xfrm>
            <a:off x="731520" y="32644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4</a:t>
            </a:r>
            <a:endParaRPr lang="en-US" sz="1150" dirty="0"/>
          </a:p>
        </p:txBody>
      </p:sp>
      <p:sp>
        <p:nvSpPr>
          <p:cNvPr id="11" name="Text 9"/>
          <p:cNvSpPr txBox="1"/>
          <p:nvPr/>
        </p:nvSpPr>
        <p:spPr>
          <a:xfrm>
            <a:off x="731520" y="37398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5</a:t>
            </a:r>
            <a:endParaRPr lang="en-US" sz="1150" dirty="0"/>
          </a:p>
        </p:txBody>
      </p:sp>
      <p:sp>
        <p:nvSpPr>
          <p:cNvPr id="12" name="Text 10"/>
          <p:cNvSpPr txBox="1"/>
          <p:nvPr/>
        </p:nvSpPr>
        <p:spPr>
          <a:xfrm>
            <a:off x="731520" y="42153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a:t>
            </a:r>
            <a:endParaRPr lang="en-US" sz="1150" dirty="0"/>
          </a:p>
        </p:txBody>
      </p:sp>
      <p:sp>
        <p:nvSpPr>
          <p:cNvPr id="13" name="Text 11"/>
          <p:cNvSpPr txBox="1"/>
          <p:nvPr/>
        </p:nvSpPr>
        <p:spPr>
          <a:xfrm>
            <a:off x="731520" y="46908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a:t>
            </a:r>
            <a:endParaRPr lang="en-US" sz="1150" dirty="0"/>
          </a:p>
        </p:txBody>
      </p:sp>
      <p:sp>
        <p:nvSpPr>
          <p:cNvPr id="14" name="Text 12"/>
          <p:cNvSpPr txBox="1"/>
          <p:nvPr/>
        </p:nvSpPr>
        <p:spPr>
          <a:xfrm>
            <a:off x="502920" y="53035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出典：past_exams/1st_stage/1ji2025/D1JI2025.pdf（令和7年度第1次試験）第6問</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正解はエ（6）。投入順序a→c→d→bでメイクスパン19、非稼働時間合計6。</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3</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4</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5</a:t>
            </a:r>
            <a:endParaRPr lang="en-US" sz="1150" dirty="0"/>
          </a:p>
        </p:txBody>
      </p:sp>
      <p:sp>
        <p:nvSpPr>
          <p:cNvPr id="11" name="Shape 9"/>
          <p:cNvSpPr/>
          <p:nvPr/>
        </p:nvSpPr>
        <p:spPr>
          <a:xfrm>
            <a:off x="502920" y="3136392"/>
            <a:ext cx="11201400" cy="475488"/>
          </a:xfrm>
          <a:prstGeom prst="rect">
            <a:avLst/>
          </a:prstGeom>
          <a:solidFill>
            <a:srgbClr val="F4F4F4"/>
          </a:solidFill>
          <a:ln/>
        </p:spPr>
      </p:sp>
      <p:sp>
        <p:nvSpPr>
          <p:cNvPr id="12" name="Shape 10"/>
          <p:cNvSpPr/>
          <p:nvPr/>
        </p:nvSpPr>
        <p:spPr>
          <a:xfrm>
            <a:off x="502920" y="3136392"/>
            <a:ext cx="0" cy="475488"/>
          </a:xfrm>
          <a:prstGeom prst="line">
            <a:avLst/>
          </a:prstGeom>
          <a:noFill/>
          <a:ln w="38100">
            <a:solidFill>
              <a:srgbClr val="FF3B1F"/>
            </a:solidFill>
            <a:prstDash val="solid"/>
          </a:ln>
        </p:spPr>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正解：エ（6）</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ジョンソンの規則より投入順序＝a→c→d→b。第1工程：0-3-8-14-18（合計18稼働、非稼働1）。第2工程：a(3-7)→c(8-15)→d(15-17)→b(18-19)。メイクスパン＝19。第2工程の非稼働＝開始前3＋a後の待ち1＋d後の待ち1＝5。2台合計＝1＋5＝</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6</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7" name="Text 15"/>
          <p:cNvSpPr txBox="1"/>
          <p:nvPr/>
        </p:nvSpPr>
        <p:spPr>
          <a:xfrm>
            <a:off x="502920" y="526694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a：min(3,4)=3→前方、b：min(4,1)=1→後方、c：min(5,7)=5→前方、d：min(6,2)=2→後方。前方は第1工程時間昇順（a→c）、後方は第2工程時間降順（d→b）。</a:t>
            </a:r>
            <a:endParaRPr lang="en-US" sz="850" dirty="0"/>
          </a:p>
        </p:txBody>
      </p:sp>
      <p:sp>
        <p:nvSpPr>
          <p:cNvPr id="18" name="Text 16"/>
          <p:cNvSpPr txBox="1"/>
          <p:nvPr/>
        </p:nvSpPr>
        <p:spPr>
          <a:xfrm>
            <a:off x="502920" y="579729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関連知識：ジョンソンの規則は2機械n個ジョブのフローショップでメイクスパンを最小化する代表的手法。</a:t>
            </a:r>
            <a:endParaRPr lang="en-US" sz="1000" dirty="0"/>
          </a:p>
        </p:txBody>
      </p:sp>
      <p:sp>
        <p:nvSpPr>
          <p:cNvPr id="19" name="Text 17"/>
          <p:cNvSpPr txBox="1"/>
          <p:nvPr/>
        </p:nvSpPr>
        <p:spPr>
          <a:xfrm>
            <a:off x="502920" y="614476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出典：past_exams/1st_stage/1ji2025/D1JI2025.pdf（令和7年度第1次試験）第6問／正解：past_exams/1st_stage_answers/r07/d_v2_20250902.pdf</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運営管理 ／ D-10〜D-19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生産統制と作業・設備管理</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計画通りに実行できているかをチェックする生産統制から、標準時間・作業改善、5S・TPMによる設備管理、工場レイアウト、資材・外注管理まで。</a:t>
            </a:r>
            <a:endParaRPr lang="en-US" sz="1400" dirty="0"/>
          </a:p>
        </p:txBody>
      </p:sp>
      <p:sp>
        <p:nvSpPr>
          <p:cNvPr id="6" name="Shape 4"/>
          <p:cNvSpPr/>
          <p:nvPr/>
        </p:nvSpPr>
        <p:spPr>
          <a:xfrm>
            <a:off x="640080" y="4800600"/>
            <a:ext cx="1801368" cy="384048"/>
          </a:xfrm>
          <a:prstGeom prst="rect">
            <a:avLst/>
          </a:prstGeom>
          <a:ln w="9525">
            <a:solidFill>
              <a:srgbClr val="7F7F7F"/>
            </a:solidFill>
            <a:prstDash val="solid"/>
          </a:ln>
        </p:spPr>
      </p:sp>
      <p:sp>
        <p:nvSpPr>
          <p:cNvPr id="7" name="Text 5"/>
          <p:cNvSpPr txBox="1"/>
          <p:nvPr/>
        </p:nvSpPr>
        <p:spPr>
          <a:xfrm>
            <a:off x="64008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D-13 ECRSの原則</a:t>
            </a:r>
            <a:endParaRPr lang="en-US" sz="1000" dirty="0"/>
          </a:p>
        </p:txBody>
      </p:sp>
      <p:sp>
        <p:nvSpPr>
          <p:cNvPr id="8" name="Shape 6"/>
          <p:cNvSpPr/>
          <p:nvPr/>
        </p:nvSpPr>
        <p:spPr>
          <a:xfrm>
            <a:off x="2670048" y="4800600"/>
            <a:ext cx="1677924" cy="384048"/>
          </a:xfrm>
          <a:prstGeom prst="rect">
            <a:avLst/>
          </a:prstGeom>
          <a:ln w="9525">
            <a:solidFill>
              <a:srgbClr val="7F7F7F"/>
            </a:solidFill>
            <a:prstDash val="solid"/>
          </a:ln>
        </p:spPr>
      </p:sp>
      <p:sp>
        <p:nvSpPr>
          <p:cNvPr id="9" name="Text 7"/>
          <p:cNvSpPr txBox="1"/>
          <p:nvPr/>
        </p:nvSpPr>
        <p:spPr>
          <a:xfrm>
            <a:off x="2670048"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D-14 5S・TPM</a:t>
            </a:r>
            <a:endParaRPr lang="en-US" sz="1000" dirty="0"/>
          </a:p>
        </p:txBody>
      </p:sp>
      <p:sp>
        <p:nvSpPr>
          <p:cNvPr id="10" name="Shape 8"/>
          <p:cNvSpPr/>
          <p:nvPr/>
        </p:nvSpPr>
        <p:spPr>
          <a:xfrm>
            <a:off x="4576572" y="4800600"/>
            <a:ext cx="1307592" cy="384048"/>
          </a:xfrm>
          <a:prstGeom prst="rect">
            <a:avLst/>
          </a:prstGeom>
          <a:ln w="9525">
            <a:solidFill>
              <a:srgbClr val="7F7F7F"/>
            </a:solidFill>
            <a:prstDash val="solid"/>
          </a:ln>
        </p:spPr>
      </p:sp>
      <p:sp>
        <p:nvSpPr>
          <p:cNvPr id="11" name="Text 9"/>
          <p:cNvSpPr txBox="1"/>
          <p:nvPr/>
        </p:nvSpPr>
        <p:spPr>
          <a:xfrm>
            <a:off x="4576572"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D-16 SLP</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D-10 ／ 生産統制</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「モノ」「能力」「スケジュール」を管理する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計画通りに実行できているかを日々チェック・調整する3つの管理。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現品管理</a:t>
            </a:r>
            <a:endParaRPr lang="en-US" sz="1500" dirty="0"/>
          </a:p>
        </p:txBody>
      </p:sp>
      <p:sp>
        <p:nvSpPr>
          <p:cNvPr id="9" name="Text 7"/>
          <p:cNvSpPr txBox="1"/>
          <p:nvPr/>
        </p:nvSpPr>
        <p:spPr>
          <a:xfrm>
            <a:off x="2423160" y="19110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モノ</a:t>
            </a:r>
            <a:endParaRPr lang="en-US" sz="1100" dirty="0"/>
          </a:p>
        </p:txBody>
      </p:sp>
      <p:sp>
        <p:nvSpPr>
          <p:cNvPr id="10" name="Text 8"/>
          <p:cNvSpPr txBox="1"/>
          <p:nvPr/>
        </p:nvSpPr>
        <p:spPr>
          <a:xfrm>
            <a:off x="3977640" y="1856232"/>
            <a:ext cx="77266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仕掛品・材料・製品が今どこに・どれだけあるかを把握し紛失・取り違えを防ぐ</a:t>
            </a:r>
            <a:endParaRPr lang="en-US" sz="1100" dirty="0"/>
          </a:p>
        </p:txBody>
      </p:sp>
      <p:sp>
        <p:nvSpPr>
          <p:cNvPr id="11" name="Shape 9"/>
          <p:cNvSpPr/>
          <p:nvPr/>
        </p:nvSpPr>
        <p:spPr>
          <a:xfrm>
            <a:off x="502920" y="2880360"/>
            <a:ext cx="11201400" cy="0"/>
          </a:xfrm>
          <a:prstGeom prst="line">
            <a:avLst/>
          </a:prstGeom>
          <a:noFill/>
          <a:ln w="12700">
            <a:solidFill>
              <a:srgbClr val="E6E6E6"/>
            </a:solidFill>
            <a:prstDash val="solid"/>
          </a:ln>
        </p:spPr>
      </p:sp>
      <p:sp>
        <p:nvSpPr>
          <p:cNvPr id="12" name="Text 10"/>
          <p:cNvSpPr txBox="1"/>
          <p:nvPr/>
        </p:nvSpPr>
        <p:spPr>
          <a:xfrm>
            <a:off x="502920" y="29900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余力管理</a:t>
            </a:r>
            <a:endParaRPr lang="en-US" sz="1500" dirty="0"/>
          </a:p>
        </p:txBody>
      </p:sp>
      <p:sp>
        <p:nvSpPr>
          <p:cNvPr id="13" name="Text 11"/>
          <p:cNvSpPr txBox="1"/>
          <p:nvPr/>
        </p:nvSpPr>
        <p:spPr>
          <a:xfrm>
            <a:off x="2423160" y="300837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能力</a:t>
            </a:r>
            <a:endParaRPr lang="en-US" sz="1100" dirty="0"/>
          </a:p>
        </p:txBody>
      </p:sp>
      <p:sp>
        <p:nvSpPr>
          <p:cNvPr id="14" name="Text 12"/>
          <p:cNvSpPr txBox="1"/>
          <p:nvPr/>
        </p:nvSpPr>
        <p:spPr>
          <a:xfrm>
            <a:off x="3977640" y="2953512"/>
            <a:ext cx="77266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職場・設備の保有能力と実際の負荷を比較し過負荷・手待ちを調整する</a:t>
            </a:r>
            <a:endParaRPr lang="en-US" sz="1100" dirty="0"/>
          </a:p>
        </p:txBody>
      </p:sp>
      <p:sp>
        <p:nvSpPr>
          <p:cNvPr id="15" name="Shape 13"/>
          <p:cNvSpPr/>
          <p:nvPr/>
        </p:nvSpPr>
        <p:spPr>
          <a:xfrm>
            <a:off x="502920" y="3977640"/>
            <a:ext cx="11201400" cy="0"/>
          </a:xfrm>
          <a:prstGeom prst="line">
            <a:avLst/>
          </a:prstGeom>
          <a:noFill/>
          <a:ln w="12700">
            <a:solidFill>
              <a:srgbClr val="E6E6E6"/>
            </a:solidFill>
            <a:prstDash val="solid"/>
          </a:ln>
        </p:spPr>
      </p:sp>
      <p:sp>
        <p:nvSpPr>
          <p:cNvPr id="16" name="Text 14"/>
          <p:cNvSpPr txBox="1"/>
          <p:nvPr/>
        </p:nvSpPr>
        <p:spPr>
          <a:xfrm>
            <a:off x="502920" y="408736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進捗管理</a:t>
            </a:r>
            <a:endParaRPr lang="en-US" sz="1500" dirty="0"/>
          </a:p>
        </p:txBody>
      </p:sp>
      <p:sp>
        <p:nvSpPr>
          <p:cNvPr id="17" name="Text 15"/>
          <p:cNvSpPr txBox="1"/>
          <p:nvPr/>
        </p:nvSpPr>
        <p:spPr>
          <a:xfrm>
            <a:off x="2423160" y="410565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スケジュール</a:t>
            </a:r>
            <a:endParaRPr lang="en-US" sz="1100" dirty="0"/>
          </a:p>
        </p:txBody>
      </p:sp>
      <p:sp>
        <p:nvSpPr>
          <p:cNvPr id="18" name="Text 16"/>
          <p:cNvSpPr txBox="1"/>
          <p:nvPr/>
        </p:nvSpPr>
        <p:spPr>
          <a:xfrm>
            <a:off x="3977640" y="4050792"/>
            <a:ext cx="77266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計画に対する実際の進み具合を把握し、遅れていれば挽回策を打つ</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ひっかけ：3つの管理対象を入れ替えた誤答が定番。名称と対象を正確に対応させる。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D-11 ／ 作業管理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標準時間＝正味時間＋余裕時間</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熟練者が正常なペースで作業するのに必要な時間。外掛け法と内掛け法で余裕率の定義が違う。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正味時間</a:t>
            </a:r>
            <a:endParaRPr lang="en-US" sz="105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観測時間の代表値×レイティング係数</a:t>
            </a:r>
            <a:endParaRPr lang="en-US" sz="1050" dirty="0"/>
          </a:p>
        </p:txBody>
      </p:sp>
      <p:sp>
        <p:nvSpPr>
          <p:cNvPr id="11" name="Text 9"/>
          <p:cNvSpPr txBox="1"/>
          <p:nvPr/>
        </p:nvSpPr>
        <p:spPr>
          <a:xfrm>
            <a:off x="502920" y="2039112"/>
            <a:ext cx="173736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外掛け法</a:t>
            </a:r>
            <a:endParaRPr lang="en-US" sz="1050" dirty="0"/>
          </a:p>
        </p:txBody>
      </p:sp>
      <p:sp>
        <p:nvSpPr>
          <p:cNvPr id="12" name="Shape 10"/>
          <p:cNvSpPr/>
          <p:nvPr/>
        </p:nvSpPr>
        <p:spPr>
          <a:xfrm>
            <a:off x="2221992" y="2039112"/>
            <a:ext cx="0" cy="256032"/>
          </a:xfrm>
          <a:prstGeom prst="line">
            <a:avLst/>
          </a:prstGeom>
          <a:noFill/>
          <a:ln w="12700">
            <a:solidFill>
              <a:srgbClr val="E6E6E6"/>
            </a:solidFill>
            <a:prstDash val="solid"/>
          </a:ln>
        </p:spPr>
      </p:sp>
      <p:sp>
        <p:nvSpPr>
          <p:cNvPr id="13" name="Text 11"/>
          <p:cNvSpPr txBox="1"/>
          <p:nvPr/>
        </p:nvSpPr>
        <p:spPr>
          <a:xfrm>
            <a:off x="2377440" y="2039112"/>
            <a:ext cx="932688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標準時間＝正味時間×（1＋余裕率）</a:t>
            </a:r>
            <a:endParaRPr lang="en-US" sz="1050" dirty="0"/>
          </a:p>
        </p:txBody>
      </p:sp>
      <p:sp>
        <p:nvSpPr>
          <p:cNvPr id="14" name="Text 12"/>
          <p:cNvSpPr txBox="1"/>
          <p:nvPr/>
        </p:nvSpPr>
        <p:spPr>
          <a:xfrm>
            <a:off x="502920" y="2386584"/>
            <a:ext cx="173736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内掛け法</a:t>
            </a:r>
            <a:endParaRPr lang="en-US" sz="1050" dirty="0"/>
          </a:p>
        </p:txBody>
      </p:sp>
      <p:sp>
        <p:nvSpPr>
          <p:cNvPr id="15" name="Shape 13"/>
          <p:cNvSpPr/>
          <p:nvPr/>
        </p:nvSpPr>
        <p:spPr>
          <a:xfrm>
            <a:off x="2221992" y="2386584"/>
            <a:ext cx="0" cy="256032"/>
          </a:xfrm>
          <a:prstGeom prst="line">
            <a:avLst/>
          </a:prstGeom>
          <a:noFill/>
          <a:ln w="12700">
            <a:solidFill>
              <a:srgbClr val="E6E6E6"/>
            </a:solidFill>
            <a:prstDash val="solid"/>
          </a:ln>
        </p:spPr>
      </p:sp>
      <p:sp>
        <p:nvSpPr>
          <p:cNvPr id="16" name="Text 14"/>
          <p:cNvSpPr txBox="1"/>
          <p:nvPr/>
        </p:nvSpPr>
        <p:spPr>
          <a:xfrm>
            <a:off x="2377440" y="2386584"/>
            <a:ext cx="932688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標準時間＝正味時間÷（1－余裕率）</a:t>
            </a:r>
            <a:endParaRPr lang="en-US" sz="1050" dirty="0"/>
          </a:p>
        </p:txBody>
      </p:sp>
      <p:sp>
        <p:nvSpPr>
          <p:cNvPr id="17" name="Text 15"/>
          <p:cNvSpPr txBox="1"/>
          <p:nvPr/>
        </p:nvSpPr>
        <p:spPr>
          <a:xfrm>
            <a:off x="502920" y="2734056"/>
            <a:ext cx="173736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標準作業</a:t>
            </a:r>
            <a:endParaRPr lang="en-US" sz="1050" dirty="0"/>
          </a:p>
        </p:txBody>
      </p:sp>
      <p:sp>
        <p:nvSpPr>
          <p:cNvPr id="18" name="Shape 16"/>
          <p:cNvSpPr/>
          <p:nvPr/>
        </p:nvSpPr>
        <p:spPr>
          <a:xfrm>
            <a:off x="2221992" y="2734056"/>
            <a:ext cx="0" cy="256032"/>
          </a:xfrm>
          <a:prstGeom prst="line">
            <a:avLst/>
          </a:prstGeom>
          <a:noFill/>
          <a:ln w="12700">
            <a:solidFill>
              <a:srgbClr val="E6E6E6"/>
            </a:solidFill>
            <a:prstDash val="solid"/>
          </a:ln>
        </p:spPr>
      </p:sp>
      <p:sp>
        <p:nvSpPr>
          <p:cNvPr id="19" name="Text 17"/>
          <p:cNvSpPr txBox="1"/>
          <p:nvPr/>
        </p:nvSpPr>
        <p:spPr>
          <a:xfrm>
            <a:off x="2377440" y="2734056"/>
            <a:ext cx="932688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サイクルタイム・作業順序・標準手持ちの3要素（トヨタ生産方式）</a:t>
            </a:r>
            <a:endParaRPr lang="en-US" sz="1050" dirty="0"/>
          </a:p>
        </p:txBody>
      </p:sp>
      <p:sp>
        <p:nvSpPr>
          <p:cNvPr id="20" name="Text 18"/>
          <p:cNvSpPr txBox="1"/>
          <p:nvPr/>
        </p:nvSpPr>
        <p:spPr>
          <a:xfrm>
            <a:off x="502920" y="3154680"/>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観測時間48秒、レイティング110％→正味時間52.8秒。外掛け余裕率20％→標準時間＝52.8×1.2＝63.36秒。</a:t>
            </a:r>
            <a:endParaRPr lang="en-US" sz="850" dirty="0"/>
          </a:p>
        </p:txBody>
      </p:sp>
      <p:sp>
        <p:nvSpPr>
          <p:cNvPr id="21" name="Shape 19"/>
          <p:cNvSpPr/>
          <p:nvPr/>
        </p:nvSpPr>
        <p:spPr>
          <a:xfrm>
            <a:off x="502920" y="3758184"/>
            <a:ext cx="11201400" cy="0"/>
          </a:xfrm>
          <a:prstGeom prst="line">
            <a:avLst/>
          </a:prstGeom>
          <a:noFill/>
          <a:ln w="12700">
            <a:solidFill>
              <a:srgbClr val="E6E6E6"/>
            </a:solidFill>
            <a:prstDash val="solid"/>
          </a:ln>
        </p:spPr>
      </p:sp>
      <p:sp>
        <p:nvSpPr>
          <p:cNvPr id="22" name="Text 20"/>
          <p:cNvSpPr txBox="1"/>
          <p:nvPr/>
        </p:nvSpPr>
        <p:spPr>
          <a:xfrm>
            <a:off x="502920" y="383133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外掛け法・内掛け法は割る対象が違うため余裕率の数値自体が変わる。標準作業の3要素と標準時間の構成要素を混同しない。</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関連：D-5 セル生産方式（多能工化が前提条件）。</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D-12 ／ 作業の分析手法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工程図記号で「見える化」する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貯蔵（計画的）と滞留（計画外）の違いが頻出のひっかけ。</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 加工</a:t>
            </a:r>
            <a:endParaRPr lang="en-US" sz="1500" dirty="0"/>
          </a:p>
        </p:txBody>
      </p:sp>
      <p:sp>
        <p:nvSpPr>
          <p:cNvPr id="9" name="Text 7"/>
          <p:cNvSpPr txBox="1"/>
          <p:nvPr/>
        </p:nvSpPr>
        <p:spPr>
          <a:xfrm>
            <a:off x="2880360" y="1856232"/>
            <a:ext cx="88239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形状・性質を変える作業</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 運搬</a:t>
            </a:r>
            <a:endParaRPr lang="en-US" sz="1500" dirty="0"/>
          </a:p>
        </p:txBody>
      </p:sp>
      <p:sp>
        <p:nvSpPr>
          <p:cNvPr id="12" name="Text 10"/>
          <p:cNvSpPr txBox="1"/>
          <p:nvPr/>
        </p:nvSpPr>
        <p:spPr>
          <a:xfrm>
            <a:off x="2880360" y="2679192"/>
            <a:ext cx="88239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位置を移動させる</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 検査</a:t>
            </a:r>
            <a:endParaRPr lang="en-US" sz="1500" dirty="0"/>
          </a:p>
        </p:txBody>
      </p:sp>
      <p:sp>
        <p:nvSpPr>
          <p:cNvPr id="15" name="Text 13"/>
          <p:cNvSpPr txBox="1"/>
          <p:nvPr/>
        </p:nvSpPr>
        <p:spPr>
          <a:xfrm>
            <a:off x="2880360" y="3502152"/>
            <a:ext cx="88239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□数量検査（個数・重量）／◇品質検査（規格適合）</a:t>
            </a:r>
            <a:endParaRPr lang="en-US" sz="1100" dirty="0"/>
          </a:p>
        </p:txBody>
      </p:sp>
      <p:sp>
        <p:nvSpPr>
          <p:cNvPr id="16" name="Shape 14"/>
          <p:cNvSpPr/>
          <p:nvPr/>
        </p:nvSpPr>
        <p:spPr>
          <a:xfrm>
            <a:off x="502920" y="4251960"/>
            <a:ext cx="11201400" cy="0"/>
          </a:xfrm>
          <a:prstGeom prst="line">
            <a:avLst/>
          </a:prstGeom>
          <a:noFill/>
          <a:ln w="12700">
            <a:solidFill>
              <a:srgbClr val="E6E6E6"/>
            </a:solidFill>
            <a:prstDash val="solid"/>
          </a:ln>
        </p:spPr>
      </p:sp>
      <p:sp>
        <p:nvSpPr>
          <p:cNvPr id="17" name="Text 15"/>
          <p:cNvSpPr txBox="1"/>
          <p:nvPr/>
        </p:nvSpPr>
        <p:spPr>
          <a:xfrm>
            <a:off x="502920" y="43616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▽／D 貯蔵・滞留</a:t>
            </a:r>
            <a:endParaRPr lang="en-US" sz="1500" dirty="0"/>
          </a:p>
        </p:txBody>
      </p:sp>
      <p:sp>
        <p:nvSpPr>
          <p:cNvPr id="18" name="Text 16"/>
          <p:cNvSpPr txBox="1"/>
          <p:nvPr/>
        </p:nvSpPr>
        <p:spPr>
          <a:xfrm>
            <a:off x="2880360" y="4325112"/>
            <a:ext cx="88239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▽計画的にためる／D計画外のやむを得ない足止め</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動作分析：ギルブレス夫妻のサーブリッグ分析（つかむ・運ぶ・探す等に分解）。D-13につながる。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D-13 ／ 作業の改善</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まず「なくせないか」から考える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ECRSはE→C→R→Sの順で検討する。順番自体が頻出の出題ポイント。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463040" cy="329184"/>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E：排除</a:t>
            </a:r>
            <a:endParaRPr lang="en-US" sz="1100" dirty="0"/>
          </a:p>
        </p:txBody>
      </p:sp>
      <p:sp>
        <p:nvSpPr>
          <p:cNvPr id="9" name="Shape 7"/>
          <p:cNvSpPr/>
          <p:nvPr/>
        </p:nvSpPr>
        <p:spPr>
          <a:xfrm>
            <a:off x="1947672" y="1691640"/>
            <a:ext cx="0" cy="256032"/>
          </a:xfrm>
          <a:prstGeom prst="line">
            <a:avLst/>
          </a:prstGeom>
          <a:noFill/>
          <a:ln w="12700">
            <a:solidFill>
              <a:srgbClr val="E6E6E6"/>
            </a:solidFill>
            <a:prstDash val="solid"/>
          </a:ln>
        </p:spPr>
      </p:sp>
      <p:sp>
        <p:nvSpPr>
          <p:cNvPr id="10" name="Text 8"/>
          <p:cNvSpPr txBox="1"/>
          <p:nvPr/>
        </p:nvSpPr>
        <p:spPr>
          <a:xfrm>
            <a:off x="2103120" y="1691640"/>
            <a:ext cx="9601200" cy="329184"/>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その作業自体をなくせないか（最初に検討）</a:t>
            </a:r>
            <a:endParaRPr lang="en-US" sz="1100" dirty="0"/>
          </a:p>
        </p:txBody>
      </p:sp>
      <p:sp>
        <p:nvSpPr>
          <p:cNvPr id="11" name="Text 9"/>
          <p:cNvSpPr txBox="1"/>
          <p:nvPr/>
        </p:nvSpPr>
        <p:spPr>
          <a:xfrm>
            <a:off x="502920" y="2039112"/>
            <a:ext cx="1463040" cy="329184"/>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C：結合</a:t>
            </a:r>
            <a:endParaRPr lang="en-US" sz="1100" dirty="0"/>
          </a:p>
        </p:txBody>
      </p:sp>
      <p:sp>
        <p:nvSpPr>
          <p:cNvPr id="12" name="Shape 10"/>
          <p:cNvSpPr/>
          <p:nvPr/>
        </p:nvSpPr>
        <p:spPr>
          <a:xfrm>
            <a:off x="1947672" y="2039112"/>
            <a:ext cx="0" cy="256032"/>
          </a:xfrm>
          <a:prstGeom prst="line">
            <a:avLst/>
          </a:prstGeom>
          <a:noFill/>
          <a:ln w="12700">
            <a:solidFill>
              <a:srgbClr val="E6E6E6"/>
            </a:solidFill>
            <a:prstDash val="solid"/>
          </a:ln>
        </p:spPr>
      </p:sp>
      <p:sp>
        <p:nvSpPr>
          <p:cNvPr id="13" name="Text 11"/>
          <p:cNvSpPr txBox="1"/>
          <p:nvPr/>
        </p:nvSpPr>
        <p:spPr>
          <a:xfrm>
            <a:off x="2103120" y="2039112"/>
            <a:ext cx="9601200" cy="329184"/>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複数の作業を1つにまとめられないか</a:t>
            </a:r>
            <a:endParaRPr lang="en-US" sz="1100" dirty="0"/>
          </a:p>
        </p:txBody>
      </p:sp>
      <p:sp>
        <p:nvSpPr>
          <p:cNvPr id="14" name="Text 12"/>
          <p:cNvSpPr txBox="1"/>
          <p:nvPr/>
        </p:nvSpPr>
        <p:spPr>
          <a:xfrm>
            <a:off x="502920" y="2386584"/>
            <a:ext cx="1463040" cy="329184"/>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R：交換</a:t>
            </a:r>
            <a:endParaRPr lang="en-US" sz="1100" dirty="0"/>
          </a:p>
        </p:txBody>
      </p:sp>
      <p:sp>
        <p:nvSpPr>
          <p:cNvPr id="15" name="Shape 13"/>
          <p:cNvSpPr/>
          <p:nvPr/>
        </p:nvSpPr>
        <p:spPr>
          <a:xfrm>
            <a:off x="1947672" y="2386584"/>
            <a:ext cx="0" cy="256032"/>
          </a:xfrm>
          <a:prstGeom prst="line">
            <a:avLst/>
          </a:prstGeom>
          <a:noFill/>
          <a:ln w="12700">
            <a:solidFill>
              <a:srgbClr val="E6E6E6"/>
            </a:solidFill>
            <a:prstDash val="solid"/>
          </a:ln>
        </p:spPr>
      </p:sp>
      <p:sp>
        <p:nvSpPr>
          <p:cNvPr id="16" name="Text 14"/>
          <p:cNvSpPr txBox="1"/>
          <p:nvPr/>
        </p:nvSpPr>
        <p:spPr>
          <a:xfrm>
            <a:off x="2103120" y="2386584"/>
            <a:ext cx="9601200" cy="329184"/>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作業の順序・場所を入れ替えられないか</a:t>
            </a:r>
            <a:endParaRPr lang="en-US" sz="1100" dirty="0"/>
          </a:p>
        </p:txBody>
      </p:sp>
      <p:sp>
        <p:nvSpPr>
          <p:cNvPr id="17" name="Text 15"/>
          <p:cNvSpPr txBox="1"/>
          <p:nvPr/>
        </p:nvSpPr>
        <p:spPr>
          <a:xfrm>
            <a:off x="502920" y="2734056"/>
            <a:ext cx="1463040" cy="329184"/>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S：簡素化</a:t>
            </a:r>
            <a:endParaRPr lang="en-US" sz="1100" dirty="0"/>
          </a:p>
        </p:txBody>
      </p:sp>
      <p:sp>
        <p:nvSpPr>
          <p:cNvPr id="18" name="Shape 16"/>
          <p:cNvSpPr/>
          <p:nvPr/>
        </p:nvSpPr>
        <p:spPr>
          <a:xfrm>
            <a:off x="1947672" y="2734056"/>
            <a:ext cx="0" cy="256032"/>
          </a:xfrm>
          <a:prstGeom prst="line">
            <a:avLst/>
          </a:prstGeom>
          <a:noFill/>
          <a:ln w="12700">
            <a:solidFill>
              <a:srgbClr val="E6E6E6"/>
            </a:solidFill>
            <a:prstDash val="solid"/>
          </a:ln>
        </p:spPr>
      </p:sp>
      <p:sp>
        <p:nvSpPr>
          <p:cNvPr id="19" name="Text 17"/>
          <p:cNvSpPr txBox="1"/>
          <p:nvPr/>
        </p:nvSpPr>
        <p:spPr>
          <a:xfrm>
            <a:off x="2103120" y="2734056"/>
            <a:ext cx="9601200" cy="329184"/>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より簡単な方法にできないか</a:t>
            </a:r>
            <a:endParaRPr lang="en-US" sz="1100" dirty="0"/>
          </a:p>
        </p:txBody>
      </p:sp>
      <p:sp>
        <p:nvSpPr>
          <p:cNvPr id="20" name="Text 18"/>
          <p:cNvSpPr txBox="1"/>
          <p:nvPr/>
        </p:nvSpPr>
        <p:spPr>
          <a:xfrm>
            <a:off x="502920" y="3154680"/>
            <a:ext cx="11201400" cy="365760"/>
          </a:xfrm>
          <a:prstGeom prst="rect">
            <a:avLst/>
          </a:prstGeom>
          <a:noFill/>
          <a:ln/>
        </p:spPr>
        <p:txBody>
          <a:bodyPr wrap="square" lIns="0" tIns="0" rIns="0" bIns="0" rtlCol="0" anchor="ctr"/>
          <a:lstStyle/>
          <a:p>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動作経済の原則：</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身体の使用／作業場の配置／工具・設備の設計、の3分類でムダのない動き方・環境を作る。</a:t>
            </a:r>
            <a:endParaRPr lang="en-US" sz="1050" dirty="0"/>
          </a:p>
        </p:txBody>
      </p:sp>
      <p:sp>
        <p:nvSpPr>
          <p:cNvPr id="21" name="Shape 19"/>
          <p:cNvSpPr/>
          <p:nvPr/>
        </p:nvSpPr>
        <p:spPr>
          <a:xfrm>
            <a:off x="502920" y="3593592"/>
            <a:ext cx="11201400" cy="0"/>
          </a:xfrm>
          <a:prstGeom prst="line">
            <a:avLst/>
          </a:prstGeom>
          <a:noFill/>
          <a:ln w="12700">
            <a:solidFill>
              <a:srgbClr val="E6E6E6"/>
            </a:solidFill>
            <a:prstDash val="solid"/>
          </a:ln>
        </p:spPr>
      </p:sp>
      <p:sp>
        <p:nvSpPr>
          <p:cNvPr id="22" name="Text 20"/>
          <p:cNvSpPr txBox="1"/>
          <p:nvPr/>
        </p:nvSpPr>
        <p:spPr>
          <a:xfrm>
            <a:off x="502920" y="366674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「まず簡素化を検討し、それでも難しければ排除を検討する」のように順序を入れ替えた記述は誤り。</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関連：D-12 動作分析（サーブリッグ分析の結果がここでの改善につながる）。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D-14 ／ 設備管理（5S、TPM）</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自主保全が現場のオペレーターの手で行われる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5Sは職場環境の基本活動。TPMは全員参加の設備保全活動。</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整理／整頓</a:t>
            </a:r>
            <a:endParaRPr lang="en-US" sz="105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不要品を捨てる／必要な物をすぐ取り出せる状態に置く</a:t>
            </a:r>
            <a:endParaRPr lang="en-US" sz="1050" dirty="0"/>
          </a:p>
        </p:txBody>
      </p:sp>
      <p:sp>
        <p:nvSpPr>
          <p:cNvPr id="11" name="Text 9"/>
          <p:cNvSpPr txBox="1"/>
          <p:nvPr/>
        </p:nvSpPr>
        <p:spPr>
          <a:xfrm>
            <a:off x="502920" y="2039112"/>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清掃・清潔・躾</a:t>
            </a:r>
            <a:endParaRPr lang="en-US" sz="1050" dirty="0"/>
          </a:p>
        </p:txBody>
      </p:sp>
      <p:sp>
        <p:nvSpPr>
          <p:cNvPr id="12" name="Shape 10"/>
          <p:cNvSpPr/>
          <p:nvPr/>
        </p:nvSpPr>
        <p:spPr>
          <a:xfrm>
            <a:off x="2587752" y="2039112"/>
            <a:ext cx="0" cy="256032"/>
          </a:xfrm>
          <a:prstGeom prst="line">
            <a:avLst/>
          </a:prstGeom>
          <a:noFill/>
          <a:ln w="12700">
            <a:solidFill>
              <a:srgbClr val="E6E6E6"/>
            </a:solidFill>
            <a:prstDash val="solid"/>
          </a:ln>
        </p:spPr>
      </p:sp>
      <p:sp>
        <p:nvSpPr>
          <p:cNvPr id="13" name="Text 11"/>
          <p:cNvSpPr txBox="1"/>
          <p:nvPr/>
        </p:nvSpPr>
        <p:spPr>
          <a:xfrm>
            <a:off x="2743200" y="2039112"/>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掃除しながら点検／維持する／ルールを守る習慣</a:t>
            </a:r>
            <a:endParaRPr lang="en-US" sz="1050" dirty="0"/>
          </a:p>
        </p:txBody>
      </p:sp>
      <p:sp>
        <p:nvSpPr>
          <p:cNvPr id="14" name="Text 12"/>
          <p:cNvSpPr txBox="1"/>
          <p:nvPr/>
        </p:nvSpPr>
        <p:spPr>
          <a:xfrm>
            <a:off x="502920" y="2386584"/>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TPM・自主保全</a:t>
            </a:r>
            <a:endParaRPr lang="en-US" sz="1050" dirty="0"/>
          </a:p>
        </p:txBody>
      </p:sp>
      <p:sp>
        <p:nvSpPr>
          <p:cNvPr id="15" name="Shape 13"/>
          <p:cNvSpPr/>
          <p:nvPr/>
        </p:nvSpPr>
        <p:spPr>
          <a:xfrm>
            <a:off x="2587752" y="2386584"/>
            <a:ext cx="0" cy="256032"/>
          </a:xfrm>
          <a:prstGeom prst="line">
            <a:avLst/>
          </a:prstGeom>
          <a:noFill/>
          <a:ln w="12700">
            <a:solidFill>
              <a:srgbClr val="E6E6E6"/>
            </a:solidFill>
            <a:prstDash val="solid"/>
          </a:ln>
        </p:spPr>
      </p:sp>
      <p:sp>
        <p:nvSpPr>
          <p:cNvPr id="16" name="Text 14"/>
          <p:cNvSpPr txBox="1"/>
          <p:nvPr/>
        </p:nvSpPr>
        <p:spPr>
          <a:xfrm>
            <a:off x="2743200" y="2386584"/>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現場オペレーター自身が日常点検・簡単な保全を行う</a:t>
            </a:r>
            <a:endParaRPr lang="en-US" sz="1050" dirty="0"/>
          </a:p>
        </p:txBody>
      </p:sp>
      <p:sp>
        <p:nvSpPr>
          <p:cNvPr id="17" name="Text 15"/>
          <p:cNvSpPr txBox="1"/>
          <p:nvPr/>
        </p:nvSpPr>
        <p:spPr>
          <a:xfrm>
            <a:off x="502920" y="2734056"/>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設備総合効率（OEE）</a:t>
            </a:r>
            <a:endParaRPr lang="en-US" sz="1050" dirty="0"/>
          </a:p>
        </p:txBody>
      </p:sp>
      <p:sp>
        <p:nvSpPr>
          <p:cNvPr id="18" name="Shape 16"/>
          <p:cNvSpPr/>
          <p:nvPr/>
        </p:nvSpPr>
        <p:spPr>
          <a:xfrm>
            <a:off x="2587752" y="2734056"/>
            <a:ext cx="0" cy="256032"/>
          </a:xfrm>
          <a:prstGeom prst="line">
            <a:avLst/>
          </a:prstGeom>
          <a:noFill/>
          <a:ln w="12700">
            <a:solidFill>
              <a:srgbClr val="E6E6E6"/>
            </a:solidFill>
            <a:prstDash val="solid"/>
          </a:ln>
        </p:spPr>
      </p:sp>
      <p:sp>
        <p:nvSpPr>
          <p:cNvPr id="19" name="Text 17"/>
          <p:cNvSpPr txBox="1"/>
          <p:nvPr/>
        </p:nvSpPr>
        <p:spPr>
          <a:xfrm>
            <a:off x="2743200" y="2734056"/>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時間稼働率×性能稼働率×良品率</a:t>
            </a:r>
            <a:endParaRPr lang="en-US" sz="1050" dirty="0"/>
          </a:p>
        </p:txBody>
      </p:sp>
      <p:sp>
        <p:nvSpPr>
          <p:cNvPr id="20" name="Text 18"/>
          <p:cNvSpPr txBox="1"/>
          <p:nvPr/>
        </p:nvSpPr>
        <p:spPr>
          <a:xfrm>
            <a:off x="502920" y="3154680"/>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時間稼働率90％×性能稼働率約92.6％×良品率95％＝設備総合効率約79.2％。</a:t>
            </a:r>
            <a:endParaRPr lang="en-US" sz="850" dirty="0"/>
          </a:p>
        </p:txBody>
      </p:sp>
      <p:sp>
        <p:nvSpPr>
          <p:cNvPr id="21" name="Shape 19"/>
          <p:cNvSpPr/>
          <p:nvPr/>
        </p:nvSpPr>
        <p:spPr>
          <a:xfrm>
            <a:off x="502920" y="3758184"/>
            <a:ext cx="11201400" cy="0"/>
          </a:xfrm>
          <a:prstGeom prst="line">
            <a:avLst/>
          </a:prstGeom>
          <a:noFill/>
          <a:ln w="12700">
            <a:solidFill>
              <a:srgbClr val="E6E6E6"/>
            </a:solidFill>
            <a:prstDash val="solid"/>
          </a:ln>
        </p:spPr>
      </p:sp>
      <p:sp>
        <p:nvSpPr>
          <p:cNvPr id="22" name="Text 20"/>
          <p:cNvSpPr txBox="1"/>
          <p:nvPr/>
        </p:nvSpPr>
        <p:spPr>
          <a:xfrm>
            <a:off x="502920" y="383133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「整理」と「整頓」の意味を入れ替えた選択肢が頻出。自主保全は保全担当者だけでなく現場オペレーターも行う。</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関連：D-17 設備投資の経済性分析（設備の更新判断につながる）。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D-15 ／ 設備の評価と更新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耐用年数は税法上の目安であって物理的限界ではない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稼働率・減価償却・耐用年数を踏まえて設備更新を判断する。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4630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稼働率</a:t>
            </a:r>
            <a:endParaRPr lang="en-US" sz="1100" dirty="0"/>
          </a:p>
        </p:txBody>
      </p:sp>
      <p:sp>
        <p:nvSpPr>
          <p:cNvPr id="9" name="Shape 7"/>
          <p:cNvSpPr/>
          <p:nvPr/>
        </p:nvSpPr>
        <p:spPr>
          <a:xfrm>
            <a:off x="1947672" y="1691640"/>
            <a:ext cx="0" cy="256032"/>
          </a:xfrm>
          <a:prstGeom prst="line">
            <a:avLst/>
          </a:prstGeom>
          <a:noFill/>
          <a:ln w="12700">
            <a:solidFill>
              <a:srgbClr val="E6E6E6"/>
            </a:solidFill>
            <a:prstDash val="solid"/>
          </a:ln>
        </p:spPr>
      </p:sp>
      <p:sp>
        <p:nvSpPr>
          <p:cNvPr id="10" name="Text 8"/>
          <p:cNvSpPr txBox="1"/>
          <p:nvPr/>
        </p:nvSpPr>
        <p:spPr>
          <a:xfrm>
            <a:off x="2103120" y="1691640"/>
            <a:ext cx="96012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実際生産量 ÷ 標準（基準）生産量 × 100</a:t>
            </a:r>
            <a:endParaRPr lang="en-US" sz="1100" dirty="0"/>
          </a:p>
        </p:txBody>
      </p:sp>
      <p:sp>
        <p:nvSpPr>
          <p:cNvPr id="11" name="Text 9"/>
          <p:cNvSpPr txBox="1"/>
          <p:nvPr/>
        </p:nvSpPr>
        <p:spPr>
          <a:xfrm>
            <a:off x="502920" y="2075688"/>
            <a:ext cx="14630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減価償却</a:t>
            </a:r>
            <a:endParaRPr lang="en-US" sz="1100" dirty="0"/>
          </a:p>
        </p:txBody>
      </p:sp>
      <p:sp>
        <p:nvSpPr>
          <p:cNvPr id="12" name="Shape 10"/>
          <p:cNvSpPr/>
          <p:nvPr/>
        </p:nvSpPr>
        <p:spPr>
          <a:xfrm>
            <a:off x="1947672" y="2075688"/>
            <a:ext cx="0" cy="256032"/>
          </a:xfrm>
          <a:prstGeom prst="line">
            <a:avLst/>
          </a:prstGeom>
          <a:noFill/>
          <a:ln w="12700">
            <a:solidFill>
              <a:srgbClr val="E6E6E6"/>
            </a:solidFill>
            <a:prstDash val="solid"/>
          </a:ln>
        </p:spPr>
      </p:sp>
      <p:sp>
        <p:nvSpPr>
          <p:cNvPr id="13" name="Text 11"/>
          <p:cNvSpPr txBox="1"/>
          <p:nvPr/>
        </p:nvSpPr>
        <p:spPr>
          <a:xfrm>
            <a:off x="2103120" y="2075688"/>
            <a:ext cx="96012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取得原価を耐用年数にわたり費用配分（定額法／定率法）</a:t>
            </a:r>
            <a:endParaRPr lang="en-US" sz="1100" dirty="0"/>
          </a:p>
        </p:txBody>
      </p:sp>
      <p:sp>
        <p:nvSpPr>
          <p:cNvPr id="14" name="Text 12"/>
          <p:cNvSpPr txBox="1"/>
          <p:nvPr/>
        </p:nvSpPr>
        <p:spPr>
          <a:xfrm>
            <a:off x="502920" y="2459736"/>
            <a:ext cx="14630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耐用年数</a:t>
            </a:r>
            <a:endParaRPr lang="en-US" sz="1100" dirty="0"/>
          </a:p>
        </p:txBody>
      </p:sp>
      <p:sp>
        <p:nvSpPr>
          <p:cNvPr id="15" name="Shape 13"/>
          <p:cNvSpPr/>
          <p:nvPr/>
        </p:nvSpPr>
        <p:spPr>
          <a:xfrm>
            <a:off x="1947672" y="2459736"/>
            <a:ext cx="0" cy="256032"/>
          </a:xfrm>
          <a:prstGeom prst="line">
            <a:avLst/>
          </a:prstGeom>
          <a:noFill/>
          <a:ln w="12700">
            <a:solidFill>
              <a:srgbClr val="E6E6E6"/>
            </a:solidFill>
            <a:prstDash val="solid"/>
          </a:ln>
        </p:spPr>
      </p:sp>
      <p:sp>
        <p:nvSpPr>
          <p:cNvPr id="16" name="Text 14"/>
          <p:cNvSpPr txBox="1"/>
          <p:nvPr/>
        </p:nvSpPr>
        <p:spPr>
          <a:xfrm>
            <a:off x="2103120" y="2459736"/>
            <a:ext cx="96012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税法上定められた使用可能期間の目安（物理的限界とは別）</a:t>
            </a:r>
            <a:endParaRPr lang="en-US" sz="110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「耐用年数＝実際に使用できる物理的限界」は誤り。老朽化による稼働率・良品率低下、修理費増加も総合的に考慮して更新判断する。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8A8A8A"/>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2" name="Text 20"/>
          <p:cNvSpPr txBox="1"/>
          <p:nvPr/>
        </p:nvSpPr>
        <p:spPr>
          <a:xfrm>
            <a:off x="914400" y="6062472"/>
            <a:ext cx="10515600" cy="329184"/>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集計データなし　／　関連：D-17 設備投資の経済性分析（更新すべきかの投資判断）。</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D-16 ／ 工場計画（SLP、DI分析、プラントレイアウト）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勘や経験ではなく体系的にレイアウトを決める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SLPは物の流れ分析→近接性評価→レイアウト案作成の手順で進める。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SLP</a:t>
            </a:r>
            <a:endParaRPr lang="en-US" sz="1500" dirty="0"/>
          </a:p>
        </p:txBody>
      </p:sp>
      <p:sp>
        <p:nvSpPr>
          <p:cNvPr id="9" name="Text 7"/>
          <p:cNvSpPr txBox="1"/>
          <p:nvPr/>
        </p:nvSpPr>
        <p:spPr>
          <a:xfrm>
            <a:off x="2971800" y="185623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P-Q分析で物の流れを把握→アクティビティ相互関係図（A・E・I・O・U・X）→レイアウト案</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DI分析</a:t>
            </a:r>
            <a:endParaRPr lang="en-US" sz="1500" dirty="0"/>
          </a:p>
        </p:txBody>
      </p:sp>
      <p:sp>
        <p:nvSpPr>
          <p:cNvPr id="12" name="Text 10"/>
          <p:cNvSpPr txBox="1"/>
          <p:nvPr/>
        </p:nvSpPr>
        <p:spPr>
          <a:xfrm>
            <a:off x="2971800" y="295351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方向（Direction）と関係の強さ（Intensity）から工程間の結びつきを検討</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機能別／製品別／固定型</a:t>
            </a:r>
            <a:endParaRPr lang="en-US" sz="1500" dirty="0"/>
          </a:p>
        </p:txBody>
      </p:sp>
      <p:sp>
        <p:nvSpPr>
          <p:cNvPr id="15" name="Text 13"/>
          <p:cNvSpPr txBox="1"/>
          <p:nvPr/>
        </p:nvSpPr>
        <p:spPr>
          <a:xfrm>
            <a:off x="2971800" y="405079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工程ごとにまとめる／加工順に並べる／大型製品の周りに配置</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ひっかけ：SLPは体系的・定量的な手順。DI分析は「距離の近さだけ」ではなく方向＋強さの2視点。</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D-17 ／ 設備投資の経済性分析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回収期間法は時間的価値を考慮しない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設備更新の判断は「変化する部分（差額）」に着目する差額原価収益分析の考え方。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回収期間法</a:t>
            </a:r>
            <a:endParaRPr lang="en-US" sz="110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投資額 ÷ 年間キャッシュフロー（簡便だが時間的価値を考慮しない）</a:t>
            </a:r>
            <a:endParaRPr lang="en-US" sz="1100" dirty="0"/>
          </a:p>
        </p:txBody>
      </p:sp>
      <p:sp>
        <p:nvSpPr>
          <p:cNvPr id="11" name="Text 9"/>
          <p:cNvSpPr txBox="1"/>
          <p:nvPr/>
        </p:nvSpPr>
        <p:spPr>
          <a:xfrm>
            <a:off x="502920" y="2075688"/>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NPV法</a:t>
            </a:r>
            <a:endParaRPr lang="en-US" sz="1100" dirty="0"/>
          </a:p>
        </p:txBody>
      </p:sp>
      <p:sp>
        <p:nvSpPr>
          <p:cNvPr id="12" name="Shape 10"/>
          <p:cNvSpPr/>
          <p:nvPr/>
        </p:nvSpPr>
        <p:spPr>
          <a:xfrm>
            <a:off x="2039112" y="2075688"/>
            <a:ext cx="0" cy="256032"/>
          </a:xfrm>
          <a:prstGeom prst="line">
            <a:avLst/>
          </a:prstGeom>
          <a:noFill/>
          <a:ln w="12700">
            <a:solidFill>
              <a:srgbClr val="E6E6E6"/>
            </a:solidFill>
            <a:prstDash val="solid"/>
          </a:ln>
        </p:spPr>
      </p:sp>
      <p:sp>
        <p:nvSpPr>
          <p:cNvPr id="13" name="Text 11"/>
          <p:cNvSpPr txBox="1"/>
          <p:nvPr/>
        </p:nvSpPr>
        <p:spPr>
          <a:xfrm>
            <a:off x="2194560" y="2075688"/>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将来CFを割り引いた合計－投資額。プラスなら投資価値あり</a:t>
            </a:r>
            <a:endParaRPr lang="en-US" sz="110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投資額600万円、年間CF200万円→回収期間＝600÷200＝3年。4年目以降の利益や割引率は考慮されない。</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「回収期間が短い投資ほど必ず優れている」とは限らない。より厳密にはNPV法（B-26参照）を使う。</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関連：財務・会計B-24〜B-26（NPV法・IRR法の詳細）。</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D-18 ／ 資材管理（資材計画、常備品）</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常備品は在庫管理、非常備品は都度手配</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生産に必要な資材を、必要な時に必要な量だけ調達・管理する活動。</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常備品</a:t>
            </a:r>
            <a:endParaRPr lang="en-US" sz="110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多くの製品に共通し継続的に使う資材（ネジ等）。発注点方式で管理</a:t>
            </a:r>
            <a:endParaRPr lang="en-US" sz="1100" dirty="0"/>
          </a:p>
        </p:txBody>
      </p:sp>
      <p:sp>
        <p:nvSpPr>
          <p:cNvPr id="11" name="Text 9"/>
          <p:cNvSpPr txBox="1"/>
          <p:nvPr/>
        </p:nvSpPr>
        <p:spPr>
          <a:xfrm>
            <a:off x="502920" y="2075688"/>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非常備品</a:t>
            </a:r>
            <a:endParaRPr lang="en-US" sz="1100" dirty="0"/>
          </a:p>
        </p:txBody>
      </p:sp>
      <p:sp>
        <p:nvSpPr>
          <p:cNvPr id="12" name="Shape 10"/>
          <p:cNvSpPr/>
          <p:nvPr/>
        </p:nvSpPr>
        <p:spPr>
          <a:xfrm>
            <a:off x="2039112" y="2075688"/>
            <a:ext cx="0" cy="256032"/>
          </a:xfrm>
          <a:prstGeom prst="line">
            <a:avLst/>
          </a:prstGeom>
          <a:noFill/>
          <a:ln w="12700">
            <a:solidFill>
              <a:srgbClr val="E6E6E6"/>
            </a:solidFill>
            <a:prstDash val="solid"/>
          </a:ln>
        </p:spPr>
      </p:sp>
      <p:sp>
        <p:nvSpPr>
          <p:cNvPr id="13" name="Text 11"/>
          <p:cNvSpPr txBox="1"/>
          <p:nvPr/>
        </p:nvSpPr>
        <p:spPr>
          <a:xfrm>
            <a:off x="2194560" y="2075688"/>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特定注文にのみ使う資材（特注部品）。都度手配</a:t>
            </a:r>
            <a:endParaRPr lang="en-US" sz="1100" dirty="0"/>
          </a:p>
        </p:txBody>
      </p:sp>
      <p:sp>
        <p:nvSpPr>
          <p:cNvPr id="14" name="Shape 12"/>
          <p:cNvSpPr/>
          <p:nvPr/>
        </p:nvSpPr>
        <p:spPr>
          <a:xfrm>
            <a:off x="502920" y="2551176"/>
            <a:ext cx="11201400" cy="0"/>
          </a:xfrm>
          <a:prstGeom prst="line">
            <a:avLst/>
          </a:prstGeom>
          <a:noFill/>
          <a:ln w="12700">
            <a:solidFill>
              <a:srgbClr val="E6E6E6"/>
            </a:solidFill>
            <a:prstDash val="solid"/>
          </a:ln>
        </p:spPr>
      </p:sp>
      <p:sp>
        <p:nvSpPr>
          <p:cNvPr id="15" name="Text 13"/>
          <p:cNvSpPr txBox="1"/>
          <p:nvPr/>
        </p:nvSpPr>
        <p:spPr>
          <a:xfrm>
            <a:off x="502920" y="262432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常備品は在庫を持って継続管理、非常備品は注文ごとに個別手配、という対応を正確に覚える。</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直近10年で1回出題</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関連：D-20 在庫管理（常備品の発注方式・EOQへつながる）。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D-19 ／ 調達・外注管理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外注は単なるコスト削減策ではない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自社に無い技術の活用、生産能力の変動吸収など多様な目的で行われる。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外注のメリット</a:t>
            </a:r>
            <a:endParaRPr lang="en-US" sz="110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技術・設備の活用、生産能力の変動吸収、固定費の変動費化</a:t>
            </a:r>
            <a:endParaRPr lang="en-US" sz="1100" dirty="0"/>
          </a:p>
        </p:txBody>
      </p:sp>
      <p:sp>
        <p:nvSpPr>
          <p:cNvPr id="11" name="Text 9"/>
          <p:cNvSpPr txBox="1"/>
          <p:nvPr/>
        </p:nvSpPr>
        <p:spPr>
          <a:xfrm>
            <a:off x="502920" y="2075688"/>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外注のデメリット</a:t>
            </a:r>
            <a:endParaRPr lang="en-US" sz="1100" dirty="0"/>
          </a:p>
        </p:txBody>
      </p:sp>
      <p:sp>
        <p:nvSpPr>
          <p:cNvPr id="12" name="Shape 10"/>
          <p:cNvSpPr/>
          <p:nvPr/>
        </p:nvSpPr>
        <p:spPr>
          <a:xfrm>
            <a:off x="2221992" y="2075688"/>
            <a:ext cx="0" cy="256032"/>
          </a:xfrm>
          <a:prstGeom prst="line">
            <a:avLst/>
          </a:prstGeom>
          <a:noFill/>
          <a:ln w="12700">
            <a:solidFill>
              <a:srgbClr val="E6E6E6"/>
            </a:solidFill>
            <a:prstDash val="solid"/>
          </a:ln>
        </p:spPr>
      </p:sp>
      <p:sp>
        <p:nvSpPr>
          <p:cNvPr id="13" name="Text 11"/>
          <p:cNvSpPr txBox="1"/>
          <p:nvPr/>
        </p:nvSpPr>
        <p:spPr>
          <a:xfrm>
            <a:off x="2377440" y="2075688"/>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技術・ノウハウ流出リスク、品質管理の難しさ、依存度上昇リスク</a:t>
            </a:r>
            <a:endParaRPr lang="en-US" sz="110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繁忙期にだけ生産量が急増する部品加工を近隣の協力会社に外注し、自社で新規設備投資・人員採用をせずに需要変動へ対応する。</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外注比率を高めすぎると自社の技術力・ノウハウの空洞化リスクにつながる点も出題対象。</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関連：D-18 資材管理（非常備品の都度手配・外部調達との接点）。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運営管理</dc:title>
  <dc:subject>PptxGenJS Presentation</dc:subject>
  <dc:creator>SMEC</dc:creator>
  <cp:lastModifiedBy>SMEC</cp:lastModifiedBy>
  <cp:revision>1</cp:revision>
  <dcterms:created xsi:type="dcterms:W3CDTF">2026-09-13T10:21:44Z</dcterms:created>
  <dcterms:modified xsi:type="dcterms:W3CDTF">2026-09-13T10:21:44Z</dcterms:modified>
</cp:coreProperties>
</file>