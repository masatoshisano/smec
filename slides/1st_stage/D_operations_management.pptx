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表紙スライド。運営管理の全体像を示す。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生産管理概論／生産計画パートの区切りスライド。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生産統制／作業・設備・物の管理パートの区切りスライド。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在庫・品質管理／店舗・商業集積パートの区切りスライド。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価格・販促／商品補充・物流／流通情報システムパートの区切りスライド。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717"/>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320040"/>
          </a:xfrm>
          <a:prstGeom prst="rect">
            <a:avLst/>
          </a:prstGeom>
          <a:noFill/>
          <a:ln/>
        </p:spPr>
        <p:txBody>
          <a:bodyPr wrap="square" lIns="0" tIns="0" rIns="0" bIns="0" rtlCol="0" anchor="ctr"/>
          <a:lstStyle/>
          <a:p>
            <a:pPr indent="0" marL="0">
              <a:buNone/>
            </a:pPr>
            <a:r>
              <a:rPr lang="en-US" sz="1200" dirty="0">
                <a:solidFill>
                  <a:srgbClr val="FFFFFF"/>
                </a:solidFill>
                <a:latin typeface="Consolas" pitchFamily="34" charset="0"/>
                <a:ea typeface="Consolas" pitchFamily="34" charset="-122"/>
                <a:cs typeface="Consolas" pitchFamily="34" charset="-120"/>
              </a:rPr>
              <a:t>中小企業診断士 第1次試験</a:t>
            </a:r>
            <a:endParaRPr lang="en-US" sz="1200" dirty="0"/>
          </a:p>
        </p:txBody>
      </p:sp>
      <p:sp>
        <p:nvSpPr>
          <p:cNvPr id="3" name="Text 1"/>
          <p:cNvSpPr txBox="1"/>
          <p:nvPr/>
        </p:nvSpPr>
        <p:spPr>
          <a:xfrm>
            <a:off x="8686800" y="502920"/>
            <a:ext cx="2834640" cy="320040"/>
          </a:xfrm>
          <a:prstGeom prst="rect">
            <a:avLst/>
          </a:prstGeom>
          <a:noFill/>
          <a:ln/>
        </p:spPr>
        <p:txBody>
          <a:bodyPr wrap="square" lIns="0" tIns="0" rIns="0" bIns="0" rtlCol="0" anchor="ctr"/>
          <a:lstStyle/>
          <a:p>
            <a:pPr algn="r" indent="0" marL="0">
              <a:buNone/>
            </a:pPr>
            <a:r>
              <a:rPr lang="en-US" sz="1200" dirty="0">
                <a:solidFill>
                  <a:srgbClr val="FF3B1F"/>
                </a:solidFill>
                <a:latin typeface="Consolas" pitchFamily="34" charset="0"/>
                <a:ea typeface="Consolas" pitchFamily="34" charset="-122"/>
                <a:cs typeface="Consolas" pitchFamily="34" charset="-120"/>
              </a:rPr>
              <a:t>SUBJECT 04 / 07</a:t>
            </a:r>
            <a:endParaRPr lang="en-US" sz="1200" dirty="0"/>
          </a:p>
        </p:txBody>
      </p:sp>
      <p:sp>
        <p:nvSpPr>
          <p:cNvPr id="4" name="Text 2"/>
          <p:cNvSpPr txBox="1"/>
          <p:nvPr/>
        </p:nvSpPr>
        <p:spPr>
          <a:xfrm>
            <a:off x="594360" y="2103120"/>
            <a:ext cx="10058400" cy="1371600"/>
          </a:xfrm>
          <a:prstGeom prst="rect">
            <a:avLst/>
          </a:prstGeom>
          <a:noFill/>
          <a:ln/>
        </p:spPr>
        <p:txBody>
          <a:bodyPr wrap="square" lIns="0" tIns="0" rIns="0" bIns="0" rtlCol="0" anchor="ctr"/>
          <a:lstStyle/>
          <a:p>
            <a:pPr indent="0" marL="0">
              <a:buNone/>
            </a:pPr>
            <a:r>
              <a:rPr lang="en-US" sz="6600" b="1" dirty="0">
                <a:solidFill>
                  <a:srgbClr val="FFFFFF"/>
                </a:solidFill>
                <a:latin typeface="Yu Gothic" pitchFamily="34" charset="0"/>
                <a:ea typeface="Yu Gothic" pitchFamily="34" charset="-122"/>
                <a:cs typeface="Yu Gothic" pitchFamily="34" charset="-120"/>
              </a:rPr>
              <a:t>運営管理</a:t>
            </a:r>
            <a:pPr indent="0" marL="0">
              <a:buNone/>
            </a:pPr>
            <a:r>
              <a:rPr lang="en-US" sz="6600" b="1" dirty="0">
                <a:solidFill>
                  <a:srgbClr val="FF3B1F"/>
                </a:solidFill>
                <a:latin typeface="Yu Gothic" pitchFamily="34" charset="0"/>
                <a:ea typeface="Yu Gothic" pitchFamily="34" charset="-122"/>
                <a:cs typeface="Yu Gothic" pitchFamily="34" charset="-120"/>
              </a:rPr>
              <a:t>。</a:t>
            </a:r>
            <a:endParaRPr lang="en-US" sz="6600" dirty="0"/>
          </a:p>
        </p:txBody>
      </p:sp>
      <p:sp>
        <p:nvSpPr>
          <p:cNvPr id="5" name="Text 3"/>
          <p:cNvSpPr txBox="1"/>
          <p:nvPr/>
        </p:nvSpPr>
        <p:spPr>
          <a:xfrm>
            <a:off x="640080" y="3429000"/>
            <a:ext cx="7680960" cy="914400"/>
          </a:xfrm>
          <a:prstGeom prst="rect">
            <a:avLst/>
          </a:prstGeom>
          <a:noFill/>
          <a:ln/>
        </p:spPr>
        <p:txBody>
          <a:bodyPr wrap="square" lIns="0" tIns="0" rIns="0" bIns="0" rtlCol="0" anchor="ctr"/>
          <a:lstStyle/>
          <a:p>
            <a:pPr indent="0" marL="0">
              <a:lnSpc>
                <a:spcPct val="150000"/>
              </a:lnSpc>
              <a:buNone/>
            </a:pPr>
            <a:r>
              <a:rPr lang="en-US" sz="1500" dirty="0">
                <a:solidFill>
                  <a:srgbClr val="C5C5C5"/>
                </a:solidFill>
                <a:latin typeface="Yu Gothic" pitchFamily="34" charset="0"/>
                <a:ea typeface="Yu Gothic" pitchFamily="34" charset="-122"/>
                <a:cs typeface="Yu Gothic" pitchFamily="34" charset="-120"/>
              </a:rPr>
              <a:t>生産管理（工場でどう作るか）と店舗・販売管理（店でどう売るか）の2分野、35論点。暗記事項と計算問題（タクトタイム、EOQ、ライリーの法則等）の両方が出題される。</a:t>
            </a:r>
            <a:endParaRPr lang="en-US" sz="1500" dirty="0"/>
          </a:p>
        </p:txBody>
      </p:sp>
      <p:sp>
        <p:nvSpPr>
          <p:cNvPr id="6" name="Shape 4"/>
          <p:cNvSpPr/>
          <p:nvPr/>
        </p:nvSpPr>
        <p:spPr>
          <a:xfrm>
            <a:off x="640080" y="5806440"/>
            <a:ext cx="10881360" cy="0"/>
          </a:xfrm>
          <a:prstGeom prst="line">
            <a:avLst/>
          </a:prstGeom>
          <a:noFill/>
          <a:ln w="9525">
            <a:solidFill>
              <a:srgbClr val="515151"/>
            </a:solidFill>
            <a:prstDash val="solid"/>
          </a:ln>
        </p:spPr>
      </p:sp>
      <p:sp>
        <p:nvSpPr>
          <p:cNvPr id="7" name="Text 5"/>
          <p:cNvSpPr txBox="1"/>
          <p:nvPr/>
        </p:nvSpPr>
        <p:spPr>
          <a:xfrm>
            <a:off x="640080" y="5989320"/>
            <a:ext cx="1737360" cy="457200"/>
          </a:xfrm>
          <a:prstGeom prst="rect">
            <a:avLst/>
          </a:prstGeom>
          <a:noFill/>
          <a:ln/>
        </p:spPr>
        <p:txBody>
          <a:bodyPr wrap="square" lIns="0" tIns="0" rIns="0" bIns="0" rtlCol="0" anchor="ctr"/>
          <a:lstStyle/>
          <a:p>
            <a:pPr indent="0" marL="0">
              <a:buNone/>
            </a:pPr>
            <a:r>
              <a:rPr lang="en-US" sz="2400" b="1" dirty="0">
                <a:solidFill>
                  <a:srgbClr val="FF3B1F"/>
                </a:solidFill>
                <a:latin typeface="Consolas" pitchFamily="34" charset="0"/>
                <a:ea typeface="Consolas" pitchFamily="34" charset="-122"/>
                <a:cs typeface="Consolas" pitchFamily="34" charset="-120"/>
              </a:rPr>
              <a:t>35</a:t>
            </a:r>
            <a:endParaRPr lang="en-US" sz="2400" dirty="0"/>
          </a:p>
        </p:txBody>
      </p:sp>
      <p:sp>
        <p:nvSpPr>
          <p:cNvPr id="8" name="Text 6"/>
          <p:cNvSpPr txBox="1"/>
          <p:nvPr/>
        </p:nvSpPr>
        <p:spPr>
          <a:xfrm>
            <a:off x="640080" y="6446520"/>
            <a:ext cx="1737360" cy="274320"/>
          </a:xfrm>
          <a:prstGeom prst="rect">
            <a:avLst/>
          </a:prstGeom>
          <a:noFill/>
          <a:ln/>
        </p:spPr>
        <p:txBody>
          <a:bodyPr wrap="square" lIns="0" tIns="0" rIns="0" bIns="0" rtlCol="0" anchor="ctr"/>
          <a:lstStyle/>
          <a:p>
            <a:pPr indent="0" marL="0">
              <a:buNone/>
            </a:pPr>
            <a:r>
              <a:rPr lang="en-US" sz="1000" dirty="0">
                <a:solidFill>
                  <a:srgbClr val="C5C5C5"/>
                </a:solidFill>
                <a:latin typeface="Yu Gothic" pitchFamily="34" charset="0"/>
                <a:ea typeface="Yu Gothic" pitchFamily="34" charset="-122"/>
                <a:cs typeface="Yu Gothic" pitchFamily="34" charset="-120"/>
              </a:rPr>
              <a:t>収録論点数</a:t>
            </a:r>
            <a:endParaRPr lang="en-US" sz="1000" dirty="0"/>
          </a:p>
        </p:txBody>
      </p:sp>
      <p:sp>
        <p:nvSpPr>
          <p:cNvPr id="9" name="Text 7"/>
          <p:cNvSpPr txBox="1"/>
          <p:nvPr/>
        </p:nvSpPr>
        <p:spPr>
          <a:xfrm>
            <a:off x="2560320" y="5989320"/>
            <a:ext cx="1737360" cy="457200"/>
          </a:xfrm>
          <a:prstGeom prst="rect">
            <a:avLst/>
          </a:prstGeom>
          <a:noFill/>
          <a:ln/>
        </p:spPr>
        <p:txBody>
          <a:bodyPr wrap="square" lIns="0" tIns="0" rIns="0" bIns="0" rtlCol="0" anchor="ctr"/>
          <a:lstStyle/>
          <a:p>
            <a:pPr indent="0" marL="0">
              <a:buNone/>
            </a:pPr>
            <a:r>
              <a:rPr lang="en-US" sz="2400" b="1" dirty="0">
                <a:solidFill>
                  <a:srgbClr val="FF3B1F"/>
                </a:solidFill>
                <a:latin typeface="Consolas" pitchFamily="34" charset="0"/>
                <a:ea typeface="Consolas" pitchFamily="34" charset="-122"/>
                <a:cs typeface="Consolas" pitchFamily="34" charset="-120"/>
              </a:rPr>
              <a:t>2</a:t>
            </a:r>
            <a:endParaRPr lang="en-US" sz="2400" dirty="0"/>
          </a:p>
        </p:txBody>
      </p:sp>
      <p:sp>
        <p:nvSpPr>
          <p:cNvPr id="10" name="Text 8"/>
          <p:cNvSpPr txBox="1"/>
          <p:nvPr/>
        </p:nvSpPr>
        <p:spPr>
          <a:xfrm>
            <a:off x="2560320" y="6446520"/>
            <a:ext cx="1737360" cy="274320"/>
          </a:xfrm>
          <a:prstGeom prst="rect">
            <a:avLst/>
          </a:prstGeom>
          <a:noFill/>
          <a:ln/>
        </p:spPr>
        <p:txBody>
          <a:bodyPr wrap="square" lIns="0" tIns="0" rIns="0" bIns="0" rtlCol="0" anchor="ctr"/>
          <a:lstStyle/>
          <a:p>
            <a:pPr indent="0" marL="0">
              <a:buNone/>
            </a:pPr>
            <a:r>
              <a:rPr lang="en-US" sz="1000" dirty="0">
                <a:solidFill>
                  <a:srgbClr val="C5C5C5"/>
                </a:solidFill>
                <a:latin typeface="Yu Gothic" pitchFamily="34" charset="0"/>
                <a:ea typeface="Yu Gothic" pitchFamily="34" charset="-122"/>
                <a:cs typeface="Yu Gothic" pitchFamily="34" charset="-120"/>
              </a:rPr>
              <a:t>分野</a:t>
            </a:r>
            <a:endParaRPr lang="en-US" sz="1000" dirty="0"/>
          </a:p>
        </p:txBody>
      </p:sp>
      <p:sp>
        <p:nvSpPr>
          <p:cNvPr id="11" name="Text 9"/>
          <p:cNvSpPr txBox="1"/>
          <p:nvPr/>
        </p:nvSpPr>
        <p:spPr>
          <a:xfrm>
            <a:off x="4480560" y="5989320"/>
            <a:ext cx="1737360" cy="457200"/>
          </a:xfrm>
          <a:prstGeom prst="rect">
            <a:avLst/>
          </a:prstGeom>
          <a:noFill/>
          <a:ln/>
        </p:spPr>
        <p:txBody>
          <a:bodyPr wrap="square" lIns="0" tIns="0" rIns="0" bIns="0" rtlCol="0" anchor="ctr"/>
          <a:lstStyle/>
          <a:p>
            <a:pPr indent="0" marL="0">
              <a:buNone/>
            </a:pPr>
            <a:r>
              <a:rPr lang="en-US" sz="2400" b="1" dirty="0">
                <a:solidFill>
                  <a:srgbClr val="FF3B1F"/>
                </a:solidFill>
                <a:latin typeface="Consolas" pitchFamily="34" charset="0"/>
                <a:ea typeface="Consolas" pitchFamily="34" charset="-122"/>
                <a:cs typeface="Consolas" pitchFamily="34" charset="-120"/>
              </a:rPr>
              <a:t>32/35</a:t>
            </a:r>
            <a:endParaRPr lang="en-US" sz="2400" dirty="0"/>
          </a:p>
        </p:txBody>
      </p:sp>
      <p:sp>
        <p:nvSpPr>
          <p:cNvPr id="12" name="Text 10"/>
          <p:cNvSpPr txBox="1"/>
          <p:nvPr/>
        </p:nvSpPr>
        <p:spPr>
          <a:xfrm>
            <a:off x="4480560" y="6446520"/>
            <a:ext cx="1737360" cy="274320"/>
          </a:xfrm>
          <a:prstGeom prst="rect">
            <a:avLst/>
          </a:prstGeom>
          <a:noFill/>
          <a:ln/>
        </p:spPr>
        <p:txBody>
          <a:bodyPr wrap="square" lIns="0" tIns="0" rIns="0" bIns="0" rtlCol="0" anchor="ctr"/>
          <a:lstStyle/>
          <a:p>
            <a:pPr indent="0" marL="0">
              <a:buNone/>
            </a:pPr>
            <a:r>
              <a:rPr lang="en-US" sz="1000" dirty="0">
                <a:solidFill>
                  <a:srgbClr val="C5C5C5"/>
                </a:solidFill>
                <a:latin typeface="Yu Gothic" pitchFamily="34" charset="0"/>
                <a:ea typeface="Yu Gothic" pitchFamily="34" charset="-122"/>
                <a:cs typeface="Yu Gothic" pitchFamily="34" charset="-120"/>
              </a:rPr>
              <a:t>頻出ランクA</a:t>
            </a:r>
            <a:endParaRPr lang="en-US" sz="1000" dirty="0"/>
          </a:p>
        </p:txBody>
      </p:sp>
      <p:sp>
        <p:nvSpPr>
          <p:cNvPr id="13" name="Shape 11"/>
          <p:cNvSpPr/>
          <p:nvPr/>
        </p:nvSpPr>
        <p:spPr>
          <a:xfrm>
            <a:off x="7863840" y="6172200"/>
            <a:ext cx="3657600" cy="384048"/>
          </a:xfrm>
          <a:prstGeom prst="rect">
            <a:avLst/>
          </a:prstGeom>
          <a:ln w="9525">
            <a:solidFill>
              <a:srgbClr val="7F7F7F"/>
            </a:solidFill>
            <a:prstDash val="solid"/>
          </a:ln>
        </p:spPr>
      </p:sp>
      <p:sp>
        <p:nvSpPr>
          <p:cNvPr id="14" name="Text 12"/>
          <p:cNvSpPr txBox="1"/>
          <p:nvPr/>
        </p:nvSpPr>
        <p:spPr>
          <a:xfrm>
            <a:off x="7863840" y="6172200"/>
            <a:ext cx="3657600" cy="384048"/>
          </a:xfrm>
          <a:prstGeom prst="rect">
            <a:avLst/>
          </a:prstGeom>
          <a:noFill/>
          <a:ln/>
        </p:spPr>
        <p:txBody>
          <a:bodyPr wrap="square" lIns="0" tIns="0" rIns="0" bIns="0" rtlCol="0" anchor="ctr"/>
          <a:lstStyle/>
          <a:p>
            <a:pPr algn="ctr" indent="0" marL="0">
              <a:buNone/>
            </a:pPr>
            <a:r>
              <a:rPr lang="en-US" sz="850" dirty="0">
                <a:solidFill>
                  <a:srgbClr val="FFFFFF"/>
                </a:solidFill>
                <a:latin typeface="Consolas" pitchFamily="34" charset="0"/>
                <a:ea typeface="Consolas" pitchFamily="34" charset="-122"/>
                <a:cs typeface="Consolas" pitchFamily="34" charset="-120"/>
              </a:rPr>
              <a:t>docs/textbook/D_operations_management_textbook.md</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71717"/>
        </a:solidFill>
      </p:bgPr>
    </p:bg>
    <p:spTree>
      <p:nvGrpSpPr>
        <p:cNvPr id="1" name=""/>
        <p:cNvGrpSpPr/>
        <p:nvPr/>
      </p:nvGrpSpPr>
      <p:grpSpPr>
        <a:xfrm>
          <a:off x="0" y="0"/>
          <a:ext cx="0" cy="0"/>
          <a:chOff x="0" y="0"/>
          <a:chExt cx="0" cy="0"/>
        </a:xfrm>
      </p:grpSpPr>
      <p:sp>
        <p:nvSpPr>
          <p:cNvPr id="2" name="Text 0"/>
          <p:cNvSpPr txBox="1"/>
          <p:nvPr/>
        </p:nvSpPr>
        <p:spPr>
          <a:xfrm>
            <a:off x="8046720" y="1463040"/>
            <a:ext cx="3931920" cy="4114800"/>
          </a:xfrm>
          <a:prstGeom prst="rect">
            <a:avLst/>
          </a:prstGeom>
          <a:noFill/>
          <a:ln/>
        </p:spPr>
        <p:txBody>
          <a:bodyPr wrap="square" lIns="0" tIns="0" rIns="0" bIns="0" rtlCol="0" anchor="ctr"/>
          <a:lstStyle/>
          <a:p>
            <a:pPr algn="r" indent="0" marL="0">
              <a:buNone/>
            </a:pPr>
            <a:r>
              <a:rPr lang="en-US" sz="22000" b="1" dirty="0">
                <a:solidFill>
                  <a:srgbClr val="252525"/>
                </a:solidFill>
                <a:latin typeface="Consolas" pitchFamily="34" charset="0"/>
                <a:ea typeface="Consolas" pitchFamily="34" charset="-122"/>
                <a:cs typeface="Consolas" pitchFamily="34" charset="-120"/>
              </a:rPr>
              <a:t>01</a:t>
            </a:r>
            <a:endParaRPr lang="en-US" sz="22000" dirty="0"/>
          </a:p>
        </p:txBody>
      </p:sp>
      <p:sp>
        <p:nvSpPr>
          <p:cNvPr id="3" name="Text 1"/>
          <p:cNvSpPr txBox="1"/>
          <p:nvPr/>
        </p:nvSpPr>
        <p:spPr>
          <a:xfrm>
            <a:off x="640080" y="1920240"/>
            <a:ext cx="8229600" cy="365760"/>
          </a:xfrm>
          <a:prstGeom prst="rect">
            <a:avLst/>
          </a:prstGeom>
          <a:noFill/>
          <a:ln/>
        </p:spPr>
        <p:txBody>
          <a:bodyPr wrap="square" lIns="0" tIns="0" rIns="0" bIns="0" rtlCol="0" anchor="ctr"/>
          <a:lstStyle/>
          <a:p>
            <a:pPr indent="0" marL="0">
              <a:buNone/>
            </a:pPr>
            <a:r>
              <a:rPr lang="en-US" sz="1300" b="1" dirty="0">
                <a:solidFill>
                  <a:srgbClr val="FF3B1F"/>
                </a:solidFill>
                <a:latin typeface="Consolas" pitchFamily="34" charset="0"/>
                <a:ea typeface="Consolas" pitchFamily="34" charset="-122"/>
                <a:cs typeface="Consolas" pitchFamily="34" charset="-120"/>
              </a:rPr>
              <a:t>PART 01</a:t>
            </a:r>
            <a:pPr indent="0" marL="0">
              <a:buNone/>
            </a:pPr>
            <a:r>
              <a:rPr lang="en-US" sz="1300" dirty="0">
                <a:solidFill>
                  <a:srgbClr val="A2A2A2"/>
                </a:solidFill>
                <a:latin typeface="Consolas" pitchFamily="34" charset="0"/>
                <a:ea typeface="Consolas" pitchFamily="34" charset="-122"/>
                <a:cs typeface="Consolas" pitchFamily="34" charset="-120"/>
              </a:rPr>
              <a:t>   運営管理 ／ D-1〜D-9</a:t>
            </a:r>
            <a:endParaRPr lang="en-US" sz="1300" dirty="0"/>
          </a:p>
        </p:txBody>
      </p:sp>
      <p:sp>
        <p:nvSpPr>
          <p:cNvPr id="4" name="Text 2"/>
          <p:cNvSpPr txBox="1"/>
          <p:nvPr/>
        </p:nvSpPr>
        <p:spPr>
          <a:xfrm>
            <a:off x="594360" y="2331720"/>
            <a:ext cx="8229600" cy="1005840"/>
          </a:xfrm>
          <a:prstGeom prst="rect">
            <a:avLst/>
          </a:prstGeom>
          <a:noFill/>
          <a:ln/>
        </p:spPr>
        <p:txBody>
          <a:bodyPr wrap="square" lIns="0" tIns="0" rIns="0" bIns="0" rtlCol="0" anchor="ctr"/>
          <a:lstStyle/>
          <a:p>
            <a:pPr indent="0" marL="0">
              <a:buNone/>
            </a:pPr>
            <a:r>
              <a:rPr lang="en-US" sz="4600" b="1" dirty="0">
                <a:solidFill>
                  <a:srgbClr val="FFFFFF"/>
                </a:solidFill>
                <a:latin typeface="Yu Gothic" pitchFamily="34" charset="0"/>
                <a:ea typeface="Yu Gothic" pitchFamily="34" charset="-122"/>
                <a:cs typeface="Yu Gothic" pitchFamily="34" charset="-120"/>
              </a:rPr>
              <a:t>生産管理概論／生産計画</a:t>
            </a:r>
            <a:endParaRPr lang="en-US" sz="4600" dirty="0"/>
          </a:p>
        </p:txBody>
      </p:sp>
      <p:sp>
        <p:nvSpPr>
          <p:cNvPr id="5" name="Text 3"/>
          <p:cNvSpPr txBox="1"/>
          <p:nvPr/>
        </p:nvSpPr>
        <p:spPr>
          <a:xfrm>
            <a:off x="640080" y="3429000"/>
            <a:ext cx="7498080" cy="1188720"/>
          </a:xfrm>
          <a:prstGeom prst="rect">
            <a:avLst/>
          </a:prstGeom>
          <a:noFill/>
          <a:ln/>
        </p:spPr>
        <p:txBody>
          <a:bodyPr wrap="square" lIns="0" tIns="0" rIns="0" bIns="0" rtlCol="0" anchor="ctr"/>
          <a:lstStyle/>
          <a:p>
            <a:pPr indent="0" marL="0">
              <a:lnSpc>
                <a:spcPct val="160000"/>
              </a:lnSpc>
              <a:buNone/>
            </a:pPr>
            <a:r>
              <a:rPr lang="en-US" sz="1400" dirty="0">
                <a:solidFill>
                  <a:srgbClr val="D1D1D1"/>
                </a:solidFill>
                <a:latin typeface="Yu Gothic" pitchFamily="34" charset="0"/>
                <a:ea typeface="Yu Gothic" pitchFamily="34" charset="-122"/>
                <a:cs typeface="Yu Gothic" pitchFamily="34" charset="-120"/>
              </a:rPr>
              <a:t>工場管理の目標（PQCDSME）から、生産方式・ライン編成・需要予測・需給計画・スケジューリングまで。町工場をイメージしながら読み進める。</a:t>
            </a:r>
            <a:endParaRPr lang="en-US" sz="1400" dirty="0"/>
          </a:p>
        </p:txBody>
      </p:sp>
      <p:sp>
        <p:nvSpPr>
          <p:cNvPr id="6" name="Shape 4"/>
          <p:cNvSpPr/>
          <p:nvPr/>
        </p:nvSpPr>
        <p:spPr>
          <a:xfrm>
            <a:off x="640080" y="4800600"/>
            <a:ext cx="1801368" cy="384048"/>
          </a:xfrm>
          <a:prstGeom prst="rect">
            <a:avLst/>
          </a:prstGeom>
          <a:ln w="9525">
            <a:solidFill>
              <a:srgbClr val="7F7F7F"/>
            </a:solidFill>
            <a:prstDash val="solid"/>
          </a:ln>
        </p:spPr>
      </p:sp>
      <p:sp>
        <p:nvSpPr>
          <p:cNvPr id="7" name="Text 5"/>
          <p:cNvSpPr txBox="1"/>
          <p:nvPr/>
        </p:nvSpPr>
        <p:spPr>
          <a:xfrm>
            <a:off x="640080" y="4800600"/>
            <a:ext cx="1801368"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D-2 JIT・かんばん</a:t>
            </a:r>
            <a:endParaRPr lang="en-US" sz="1000" dirty="0"/>
          </a:p>
        </p:txBody>
      </p:sp>
      <p:sp>
        <p:nvSpPr>
          <p:cNvPr id="8" name="Shape 6"/>
          <p:cNvSpPr/>
          <p:nvPr/>
        </p:nvSpPr>
        <p:spPr>
          <a:xfrm>
            <a:off x="2670048" y="4800600"/>
            <a:ext cx="1924812" cy="384048"/>
          </a:xfrm>
          <a:prstGeom prst="rect">
            <a:avLst/>
          </a:prstGeom>
          <a:ln w="9525">
            <a:solidFill>
              <a:srgbClr val="7F7F7F"/>
            </a:solidFill>
            <a:prstDash val="solid"/>
          </a:ln>
        </p:spPr>
      </p:sp>
      <p:sp>
        <p:nvSpPr>
          <p:cNvPr id="9" name="Text 7"/>
          <p:cNvSpPr txBox="1"/>
          <p:nvPr/>
        </p:nvSpPr>
        <p:spPr>
          <a:xfrm>
            <a:off x="2670048" y="4800600"/>
            <a:ext cx="1924812"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D-6 ラインバランシング</a:t>
            </a:r>
            <a:endParaRPr lang="en-US" sz="1000" dirty="0"/>
          </a:p>
        </p:txBody>
      </p:sp>
      <p:sp>
        <p:nvSpPr>
          <p:cNvPr id="10" name="Shape 8"/>
          <p:cNvSpPr/>
          <p:nvPr/>
        </p:nvSpPr>
        <p:spPr>
          <a:xfrm>
            <a:off x="4823460" y="4800600"/>
            <a:ext cx="1801368" cy="384048"/>
          </a:xfrm>
          <a:prstGeom prst="rect">
            <a:avLst/>
          </a:prstGeom>
          <a:ln w="9525">
            <a:solidFill>
              <a:srgbClr val="7F7F7F"/>
            </a:solidFill>
            <a:prstDash val="solid"/>
          </a:ln>
        </p:spPr>
      </p:sp>
      <p:sp>
        <p:nvSpPr>
          <p:cNvPr id="11" name="Text 9"/>
          <p:cNvSpPr txBox="1"/>
          <p:nvPr/>
        </p:nvSpPr>
        <p:spPr>
          <a:xfrm>
            <a:off x="4823460" y="4800600"/>
            <a:ext cx="1801368"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D-9 ジョンソンの規則</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D-1 ／ 生産管理概論（PQCDSME）</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7つの目標はトレードオフの関係</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工場管理者が同時に追う7つの目標。一方を追求すると他方が犠牲になりやすい。</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55448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P：生産性</a:t>
            </a:r>
            <a:endParaRPr lang="en-US" sz="1050" dirty="0"/>
          </a:p>
        </p:txBody>
      </p:sp>
      <p:sp>
        <p:nvSpPr>
          <p:cNvPr id="9" name="Shape 7"/>
          <p:cNvSpPr/>
          <p:nvPr/>
        </p:nvSpPr>
        <p:spPr>
          <a:xfrm>
            <a:off x="2039112" y="1691640"/>
            <a:ext cx="0" cy="256032"/>
          </a:xfrm>
          <a:prstGeom prst="line">
            <a:avLst/>
          </a:prstGeom>
          <a:noFill/>
          <a:ln w="12700">
            <a:solidFill>
              <a:srgbClr val="E6E6E6"/>
            </a:solidFill>
            <a:prstDash val="solid"/>
          </a:ln>
        </p:spPr>
      </p:sp>
      <p:sp>
        <p:nvSpPr>
          <p:cNvPr id="10" name="Text 8"/>
          <p:cNvSpPr txBox="1"/>
          <p:nvPr/>
        </p:nvSpPr>
        <p:spPr>
          <a:xfrm>
            <a:off x="2194560" y="1691640"/>
            <a:ext cx="950976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少ない人・設備・時間でどれだけ多く作れるか</a:t>
            </a:r>
            <a:endParaRPr lang="en-US" sz="1050" dirty="0"/>
          </a:p>
        </p:txBody>
      </p:sp>
      <p:sp>
        <p:nvSpPr>
          <p:cNvPr id="11" name="Text 9"/>
          <p:cNvSpPr txBox="1"/>
          <p:nvPr/>
        </p:nvSpPr>
        <p:spPr>
          <a:xfrm>
            <a:off x="502920" y="2020824"/>
            <a:ext cx="155448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Q：品質</a:t>
            </a:r>
            <a:endParaRPr lang="en-US" sz="1050" dirty="0"/>
          </a:p>
        </p:txBody>
      </p:sp>
      <p:sp>
        <p:nvSpPr>
          <p:cNvPr id="12" name="Shape 10"/>
          <p:cNvSpPr/>
          <p:nvPr/>
        </p:nvSpPr>
        <p:spPr>
          <a:xfrm>
            <a:off x="2039112" y="2020824"/>
            <a:ext cx="0" cy="256032"/>
          </a:xfrm>
          <a:prstGeom prst="line">
            <a:avLst/>
          </a:prstGeom>
          <a:noFill/>
          <a:ln w="12700">
            <a:solidFill>
              <a:srgbClr val="E6E6E6"/>
            </a:solidFill>
            <a:prstDash val="solid"/>
          </a:ln>
        </p:spPr>
      </p:sp>
      <p:sp>
        <p:nvSpPr>
          <p:cNvPr id="13" name="Text 11"/>
          <p:cNvSpPr txBox="1"/>
          <p:nvPr/>
        </p:nvSpPr>
        <p:spPr>
          <a:xfrm>
            <a:off x="2194560" y="2020824"/>
            <a:ext cx="950976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不良品を出さず要求品質を満たすか</a:t>
            </a:r>
            <a:endParaRPr lang="en-US" sz="1050" dirty="0"/>
          </a:p>
        </p:txBody>
      </p:sp>
      <p:sp>
        <p:nvSpPr>
          <p:cNvPr id="14" name="Text 12"/>
          <p:cNvSpPr txBox="1"/>
          <p:nvPr/>
        </p:nvSpPr>
        <p:spPr>
          <a:xfrm>
            <a:off x="502920" y="2350008"/>
            <a:ext cx="155448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C：コスト</a:t>
            </a:r>
            <a:endParaRPr lang="en-US" sz="1050" dirty="0"/>
          </a:p>
        </p:txBody>
      </p:sp>
      <p:sp>
        <p:nvSpPr>
          <p:cNvPr id="15" name="Shape 13"/>
          <p:cNvSpPr/>
          <p:nvPr/>
        </p:nvSpPr>
        <p:spPr>
          <a:xfrm>
            <a:off x="2039112" y="2350008"/>
            <a:ext cx="0" cy="256032"/>
          </a:xfrm>
          <a:prstGeom prst="line">
            <a:avLst/>
          </a:prstGeom>
          <a:noFill/>
          <a:ln w="12700">
            <a:solidFill>
              <a:srgbClr val="E6E6E6"/>
            </a:solidFill>
            <a:prstDash val="solid"/>
          </a:ln>
        </p:spPr>
      </p:sp>
      <p:sp>
        <p:nvSpPr>
          <p:cNvPr id="16" name="Text 14"/>
          <p:cNvSpPr txBox="1"/>
          <p:nvPr/>
        </p:nvSpPr>
        <p:spPr>
          <a:xfrm>
            <a:off x="2194560" y="2350008"/>
            <a:ext cx="950976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材料費・労務費・経費をどれだけ抑えられるか</a:t>
            </a:r>
            <a:endParaRPr lang="en-US" sz="1050" dirty="0"/>
          </a:p>
        </p:txBody>
      </p:sp>
      <p:sp>
        <p:nvSpPr>
          <p:cNvPr id="17" name="Text 15"/>
          <p:cNvSpPr txBox="1"/>
          <p:nvPr/>
        </p:nvSpPr>
        <p:spPr>
          <a:xfrm>
            <a:off x="502920" y="2679192"/>
            <a:ext cx="155448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D：納期</a:t>
            </a:r>
            <a:endParaRPr lang="en-US" sz="1050" dirty="0"/>
          </a:p>
        </p:txBody>
      </p:sp>
      <p:sp>
        <p:nvSpPr>
          <p:cNvPr id="18" name="Shape 16"/>
          <p:cNvSpPr/>
          <p:nvPr/>
        </p:nvSpPr>
        <p:spPr>
          <a:xfrm>
            <a:off x="2039112" y="2679192"/>
            <a:ext cx="0" cy="256032"/>
          </a:xfrm>
          <a:prstGeom prst="line">
            <a:avLst/>
          </a:prstGeom>
          <a:noFill/>
          <a:ln w="12700">
            <a:solidFill>
              <a:srgbClr val="E6E6E6"/>
            </a:solidFill>
            <a:prstDash val="solid"/>
          </a:ln>
        </p:spPr>
      </p:sp>
      <p:sp>
        <p:nvSpPr>
          <p:cNvPr id="19" name="Text 17"/>
          <p:cNvSpPr txBox="1"/>
          <p:nvPr/>
        </p:nvSpPr>
        <p:spPr>
          <a:xfrm>
            <a:off x="2194560" y="2679192"/>
            <a:ext cx="950976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決められた期日までに決められた量を届けられるか</a:t>
            </a:r>
            <a:endParaRPr lang="en-US" sz="1050" dirty="0"/>
          </a:p>
        </p:txBody>
      </p:sp>
      <p:sp>
        <p:nvSpPr>
          <p:cNvPr id="20" name="Text 18"/>
          <p:cNvSpPr txBox="1"/>
          <p:nvPr/>
        </p:nvSpPr>
        <p:spPr>
          <a:xfrm>
            <a:off x="502920" y="3008376"/>
            <a:ext cx="1554480" cy="310896"/>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S・M・E</a:t>
            </a:r>
            <a:endParaRPr lang="en-US" sz="1050" dirty="0"/>
          </a:p>
        </p:txBody>
      </p:sp>
      <p:sp>
        <p:nvSpPr>
          <p:cNvPr id="21" name="Shape 19"/>
          <p:cNvSpPr/>
          <p:nvPr/>
        </p:nvSpPr>
        <p:spPr>
          <a:xfrm>
            <a:off x="2039112" y="3008376"/>
            <a:ext cx="0" cy="256032"/>
          </a:xfrm>
          <a:prstGeom prst="line">
            <a:avLst/>
          </a:prstGeom>
          <a:noFill/>
          <a:ln w="12700">
            <a:solidFill>
              <a:srgbClr val="E6E6E6"/>
            </a:solidFill>
            <a:prstDash val="solid"/>
          </a:ln>
        </p:spPr>
      </p:sp>
      <p:sp>
        <p:nvSpPr>
          <p:cNvPr id="22" name="Text 20"/>
          <p:cNvSpPr txBox="1"/>
          <p:nvPr/>
        </p:nvSpPr>
        <p:spPr>
          <a:xfrm>
            <a:off x="2194560" y="3008376"/>
            <a:ext cx="9509760" cy="310896"/>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Safety（安全）・Morale（士気）・Environment（環境）</a:t>
            </a:r>
            <a:endParaRPr lang="en-US" sz="1050" dirty="0"/>
          </a:p>
        </p:txBody>
      </p:sp>
      <p:sp>
        <p:nvSpPr>
          <p:cNvPr id="23" name="Shape 21"/>
          <p:cNvSpPr/>
          <p:nvPr/>
        </p:nvSpPr>
        <p:spPr>
          <a:xfrm>
            <a:off x="502920" y="3410712"/>
            <a:ext cx="11201400" cy="0"/>
          </a:xfrm>
          <a:prstGeom prst="line">
            <a:avLst/>
          </a:prstGeom>
          <a:noFill/>
          <a:ln w="12700">
            <a:solidFill>
              <a:srgbClr val="E6E6E6"/>
            </a:solidFill>
            <a:prstDash val="solid"/>
          </a:ln>
        </p:spPr>
      </p:sp>
      <p:sp>
        <p:nvSpPr>
          <p:cNvPr id="24" name="Text 22"/>
          <p:cNvSpPr txBox="1"/>
          <p:nvPr/>
        </p:nvSpPr>
        <p:spPr>
          <a:xfrm>
            <a:off x="502920" y="3483864"/>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SはSales（販売）ではなくSafety（安全）、EはEfficiency（効率）ではなくEnvironment（環境）。並び順より互いにトレードオフになりうる理解が問われる。</a:t>
            </a:r>
            <a:endParaRPr lang="en-US" sz="950" dirty="0"/>
          </a:p>
        </p:txBody>
      </p:sp>
      <p:sp>
        <p:nvSpPr>
          <p:cNvPr id="25" name="Shape 23"/>
          <p:cNvSpPr/>
          <p:nvPr/>
        </p:nvSpPr>
        <p:spPr>
          <a:xfrm>
            <a:off x="502920" y="5989320"/>
            <a:ext cx="11201400" cy="0"/>
          </a:xfrm>
          <a:prstGeom prst="line">
            <a:avLst/>
          </a:prstGeom>
          <a:noFill/>
          <a:ln w="9525">
            <a:solidFill>
              <a:srgbClr val="171717"/>
            </a:solidFill>
            <a:prstDash val="solid"/>
          </a:ln>
        </p:spPr>
      </p:sp>
      <p:sp>
        <p:nvSpPr>
          <p:cNvPr id="26" name="Shape 24"/>
          <p:cNvSpPr/>
          <p:nvPr/>
        </p:nvSpPr>
        <p:spPr>
          <a:xfrm>
            <a:off x="502920" y="6062472"/>
            <a:ext cx="329184" cy="329184"/>
          </a:xfrm>
          <a:prstGeom prst="ellipse">
            <a:avLst/>
          </a:prstGeom>
          <a:solidFill>
            <a:srgbClr val="FF3B1F"/>
          </a:solidFill>
          <a:ln/>
        </p:spPr>
      </p:sp>
      <p:sp>
        <p:nvSpPr>
          <p:cNvPr id="27" name="Text 25"/>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8" name="Text 26"/>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9" name="Shape 27"/>
          <p:cNvSpPr/>
          <p:nvPr/>
        </p:nvSpPr>
        <p:spPr>
          <a:xfrm>
            <a:off x="2331720" y="6062472"/>
            <a:ext cx="0" cy="329184"/>
          </a:xfrm>
          <a:prstGeom prst="line">
            <a:avLst/>
          </a:prstGeom>
          <a:noFill/>
          <a:ln w="12700">
            <a:solidFill>
              <a:srgbClr val="E6E6E6"/>
            </a:solidFill>
            <a:prstDash val="solid"/>
          </a:ln>
        </p:spPr>
      </p:sp>
      <p:sp>
        <p:nvSpPr>
          <p:cNvPr id="30" name="Text 28"/>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関連：D-10 生産統制（PQCDSMEを実際に管理する活動）。</a:t>
            </a:r>
            <a:endParaRPr lang="en-US" sz="1000" dirty="0"/>
          </a:p>
        </p:txBody>
      </p:sp>
      <p:sp>
        <p:nvSpPr>
          <p:cNvPr id="31" name="Text 29"/>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2" name="Shape 30"/>
          <p:cNvSpPr/>
          <p:nvPr/>
        </p:nvSpPr>
        <p:spPr>
          <a:xfrm>
            <a:off x="2466594"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4" name="Shape 32"/>
          <p:cNvSpPr/>
          <p:nvPr/>
        </p:nvSpPr>
        <p:spPr>
          <a:xfrm>
            <a:off x="3431286"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6" name="Shape 34"/>
          <p:cNvSpPr/>
          <p:nvPr/>
        </p:nvSpPr>
        <p:spPr>
          <a:xfrm>
            <a:off x="4395978"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8" name="Shape 36"/>
          <p:cNvSpPr/>
          <p:nvPr/>
        </p:nvSpPr>
        <p:spPr>
          <a:xfrm>
            <a:off x="5360670"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40" name="Shape 38"/>
          <p:cNvSpPr/>
          <p:nvPr/>
        </p:nvSpPr>
        <p:spPr>
          <a:xfrm>
            <a:off x="6325362"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2" name="Shape 40"/>
          <p:cNvSpPr/>
          <p:nvPr/>
        </p:nvSpPr>
        <p:spPr>
          <a:xfrm>
            <a:off x="7290054"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4" name="Shape 42"/>
          <p:cNvSpPr/>
          <p:nvPr/>
        </p:nvSpPr>
        <p:spPr>
          <a:xfrm>
            <a:off x="8254746"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6" name="Shape 44"/>
          <p:cNvSpPr/>
          <p:nvPr/>
        </p:nvSpPr>
        <p:spPr>
          <a:xfrm>
            <a:off x="9219438"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8" name="Shape 46"/>
          <p:cNvSpPr/>
          <p:nvPr/>
        </p:nvSpPr>
        <p:spPr>
          <a:xfrm>
            <a:off x="10184130" y="6464808"/>
            <a:ext cx="146304" cy="146304"/>
          </a:xfrm>
          <a:prstGeom prst="ellipse">
            <a:avLst/>
          </a:prstGeom>
          <a:solidFill>
            <a:srgbClr val="FFFFFF"/>
          </a:solidFill>
          <a:ln w="12700">
            <a:solidFill>
              <a:srgbClr val="E6E6E6"/>
            </a:solidFill>
            <a:prstDash val="solid"/>
          </a:ln>
        </p:spPr>
      </p:sp>
      <p:sp>
        <p:nvSpPr>
          <p:cNvPr id="49" name="Text 47"/>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50" name="Shape 48"/>
          <p:cNvSpPr/>
          <p:nvPr/>
        </p:nvSpPr>
        <p:spPr>
          <a:xfrm>
            <a:off x="11148822" y="6464808"/>
            <a:ext cx="146304" cy="146304"/>
          </a:xfrm>
          <a:prstGeom prst="ellipse">
            <a:avLst/>
          </a:prstGeom>
          <a:solidFill>
            <a:srgbClr val="FF3B1F"/>
          </a:solidFill>
          <a:ln w="12700">
            <a:solidFill>
              <a:srgbClr val="FF3B1F"/>
            </a:solidFill>
            <a:prstDash val="solid"/>
          </a:ln>
        </p:spPr>
      </p:sp>
      <p:sp>
        <p:nvSpPr>
          <p:cNvPr id="51" name="Text 49"/>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D-2 ／ 生産システム（JIT、かんばん方式、ERP、SCM）</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かんばんはJITを実現する道具</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必要な物を必要な時に必要な量だけ作るJIT。後工程引取りの仕組みがかんばん。</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64592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JIT</a:t>
            </a:r>
            <a:endParaRPr lang="en-US" sz="1100" dirty="0"/>
          </a:p>
        </p:txBody>
      </p:sp>
      <p:sp>
        <p:nvSpPr>
          <p:cNvPr id="9" name="Shape 7"/>
          <p:cNvSpPr/>
          <p:nvPr/>
        </p:nvSpPr>
        <p:spPr>
          <a:xfrm>
            <a:off x="2130552" y="1691640"/>
            <a:ext cx="0" cy="256032"/>
          </a:xfrm>
          <a:prstGeom prst="line">
            <a:avLst/>
          </a:prstGeom>
          <a:noFill/>
          <a:ln w="12700">
            <a:solidFill>
              <a:srgbClr val="E6E6E6"/>
            </a:solidFill>
            <a:prstDash val="solid"/>
          </a:ln>
        </p:spPr>
      </p:sp>
      <p:sp>
        <p:nvSpPr>
          <p:cNvPr id="10" name="Text 8"/>
          <p:cNvSpPr txBox="1"/>
          <p:nvPr/>
        </p:nvSpPr>
        <p:spPr>
          <a:xfrm>
            <a:off x="2286000" y="1691640"/>
            <a:ext cx="941832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必要な物を必要な時に必要な量だけ作る・運ぶ（トヨタ生産方式）</a:t>
            </a:r>
            <a:endParaRPr lang="en-US" sz="1100" dirty="0"/>
          </a:p>
        </p:txBody>
      </p:sp>
      <p:sp>
        <p:nvSpPr>
          <p:cNvPr id="11" name="Text 9"/>
          <p:cNvSpPr txBox="1"/>
          <p:nvPr/>
        </p:nvSpPr>
        <p:spPr>
          <a:xfrm>
            <a:off x="502920" y="2075688"/>
            <a:ext cx="164592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かんばん方式</a:t>
            </a:r>
            <a:endParaRPr lang="en-US" sz="1100" dirty="0"/>
          </a:p>
        </p:txBody>
      </p:sp>
      <p:sp>
        <p:nvSpPr>
          <p:cNvPr id="12" name="Shape 10"/>
          <p:cNvSpPr/>
          <p:nvPr/>
        </p:nvSpPr>
        <p:spPr>
          <a:xfrm>
            <a:off x="2130552" y="2075688"/>
            <a:ext cx="0" cy="256032"/>
          </a:xfrm>
          <a:prstGeom prst="line">
            <a:avLst/>
          </a:prstGeom>
          <a:noFill/>
          <a:ln w="12700">
            <a:solidFill>
              <a:srgbClr val="E6E6E6"/>
            </a:solidFill>
            <a:prstDash val="solid"/>
          </a:ln>
        </p:spPr>
      </p:sp>
      <p:sp>
        <p:nvSpPr>
          <p:cNvPr id="13" name="Text 11"/>
          <p:cNvSpPr txBox="1"/>
          <p:nvPr/>
        </p:nvSpPr>
        <p:spPr>
          <a:xfrm>
            <a:off x="2286000" y="2075688"/>
            <a:ext cx="941832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後工程が使った分だけ前工程に指示する情報伝達の道具（プル型）</a:t>
            </a:r>
            <a:endParaRPr lang="en-US" sz="1100" dirty="0"/>
          </a:p>
        </p:txBody>
      </p:sp>
      <p:sp>
        <p:nvSpPr>
          <p:cNvPr id="14" name="Text 12"/>
          <p:cNvSpPr txBox="1"/>
          <p:nvPr/>
        </p:nvSpPr>
        <p:spPr>
          <a:xfrm>
            <a:off x="502920" y="2459736"/>
            <a:ext cx="164592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ERP</a:t>
            </a:r>
            <a:endParaRPr lang="en-US" sz="1100" dirty="0"/>
          </a:p>
        </p:txBody>
      </p:sp>
      <p:sp>
        <p:nvSpPr>
          <p:cNvPr id="15" name="Shape 13"/>
          <p:cNvSpPr/>
          <p:nvPr/>
        </p:nvSpPr>
        <p:spPr>
          <a:xfrm>
            <a:off x="2130552" y="2459736"/>
            <a:ext cx="0" cy="256032"/>
          </a:xfrm>
          <a:prstGeom prst="line">
            <a:avLst/>
          </a:prstGeom>
          <a:noFill/>
          <a:ln w="12700">
            <a:solidFill>
              <a:srgbClr val="E6E6E6"/>
            </a:solidFill>
            <a:prstDash val="solid"/>
          </a:ln>
        </p:spPr>
      </p:sp>
      <p:sp>
        <p:nvSpPr>
          <p:cNvPr id="16" name="Text 14"/>
          <p:cNvSpPr txBox="1"/>
          <p:nvPr/>
        </p:nvSpPr>
        <p:spPr>
          <a:xfrm>
            <a:off x="2286000" y="2459736"/>
            <a:ext cx="941832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会計・人事・生産・販売を1システムで統合管理</a:t>
            </a:r>
            <a:endParaRPr lang="en-US" sz="1100" dirty="0"/>
          </a:p>
        </p:txBody>
      </p:sp>
      <p:sp>
        <p:nvSpPr>
          <p:cNvPr id="17" name="Text 15"/>
          <p:cNvSpPr txBox="1"/>
          <p:nvPr/>
        </p:nvSpPr>
        <p:spPr>
          <a:xfrm>
            <a:off x="502920" y="2843784"/>
            <a:ext cx="164592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SCM</a:t>
            </a:r>
            <a:endParaRPr lang="en-US" sz="1100" dirty="0"/>
          </a:p>
        </p:txBody>
      </p:sp>
      <p:sp>
        <p:nvSpPr>
          <p:cNvPr id="18" name="Shape 16"/>
          <p:cNvSpPr/>
          <p:nvPr/>
        </p:nvSpPr>
        <p:spPr>
          <a:xfrm>
            <a:off x="2130552" y="2843784"/>
            <a:ext cx="0" cy="256032"/>
          </a:xfrm>
          <a:prstGeom prst="line">
            <a:avLst/>
          </a:prstGeom>
          <a:noFill/>
          <a:ln w="12700">
            <a:solidFill>
              <a:srgbClr val="E6E6E6"/>
            </a:solidFill>
            <a:prstDash val="solid"/>
          </a:ln>
        </p:spPr>
      </p:sp>
      <p:sp>
        <p:nvSpPr>
          <p:cNvPr id="19" name="Text 17"/>
          <p:cNvSpPr txBox="1"/>
          <p:nvPr/>
        </p:nvSpPr>
        <p:spPr>
          <a:xfrm>
            <a:off x="2286000" y="2843784"/>
            <a:ext cx="941832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複数の会社をまたぐ調達〜販売の供給連鎖全体を最適化</a:t>
            </a:r>
            <a:endParaRPr lang="en-US" sz="1100" dirty="0"/>
          </a:p>
        </p:txBody>
      </p:sp>
      <p:sp>
        <p:nvSpPr>
          <p:cNvPr id="20" name="Text 18"/>
          <p:cNvSpPr txBox="1"/>
          <p:nvPr/>
        </p:nvSpPr>
        <p:spPr>
          <a:xfrm>
            <a:off x="502920" y="3300984"/>
            <a:ext cx="11201400" cy="59436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自動車部品メーカーA社は、組立ラインの部品置き場が減った分だけ「かんばん」を使って前工程の加工ラインに生産指示を出し、必要な部品を必要な量だけ供給させることで、工程間に仕掛品の山を作らずに済んでいる。</a:t>
            </a:r>
            <a:endParaRPr lang="en-US" sz="850" dirty="0"/>
          </a:p>
        </p:txBody>
      </p:sp>
      <p:sp>
        <p:nvSpPr>
          <p:cNvPr id="21" name="Shape 19"/>
          <p:cNvSpPr/>
          <p:nvPr/>
        </p:nvSpPr>
        <p:spPr>
          <a:xfrm>
            <a:off x="502920" y="3968496"/>
            <a:ext cx="11201400" cy="0"/>
          </a:xfrm>
          <a:prstGeom prst="line">
            <a:avLst/>
          </a:prstGeom>
          <a:noFill/>
          <a:ln w="12700">
            <a:solidFill>
              <a:srgbClr val="E6E6E6"/>
            </a:solidFill>
            <a:prstDash val="solid"/>
          </a:ln>
        </p:spPr>
      </p:sp>
      <p:sp>
        <p:nvSpPr>
          <p:cNvPr id="22" name="Text 20"/>
          <p:cNvSpPr txBox="1"/>
          <p:nvPr/>
        </p:nvSpPr>
        <p:spPr>
          <a:xfrm>
            <a:off x="502920" y="4041648"/>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かんばん方式はJITを実現する道具であり、JITそのものではない。JIT（プル型）とMRP（D-8、プッシュ型）は対照的な考え方で混同しない。</a:t>
            </a:r>
            <a:endParaRPr lang="en-US" sz="950" dirty="0"/>
          </a:p>
        </p:txBody>
      </p:sp>
      <p:sp>
        <p:nvSpPr>
          <p:cNvPr id="23" name="Shape 21"/>
          <p:cNvSpPr/>
          <p:nvPr/>
        </p:nvSpPr>
        <p:spPr>
          <a:xfrm>
            <a:off x="502920" y="5989320"/>
            <a:ext cx="11201400" cy="0"/>
          </a:xfrm>
          <a:prstGeom prst="line">
            <a:avLst/>
          </a:prstGeom>
          <a:noFill/>
          <a:ln w="9525">
            <a:solidFill>
              <a:srgbClr val="171717"/>
            </a:solidFill>
            <a:prstDash val="solid"/>
          </a:ln>
        </p:spPr>
      </p:sp>
      <p:sp>
        <p:nvSpPr>
          <p:cNvPr id="24" name="Shape 22"/>
          <p:cNvSpPr/>
          <p:nvPr/>
        </p:nvSpPr>
        <p:spPr>
          <a:xfrm>
            <a:off x="502920" y="6062472"/>
            <a:ext cx="329184" cy="329184"/>
          </a:xfrm>
          <a:prstGeom prst="ellipse">
            <a:avLst/>
          </a:prstGeom>
          <a:solidFill>
            <a:srgbClr val="FF3B1F"/>
          </a:solidFill>
          <a:ln/>
        </p:spPr>
      </p:sp>
      <p:sp>
        <p:nvSpPr>
          <p:cNvPr id="25" name="Text 2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6" name="Text 2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7" name="Shape 25"/>
          <p:cNvSpPr/>
          <p:nvPr/>
        </p:nvSpPr>
        <p:spPr>
          <a:xfrm>
            <a:off x="2331720" y="6062472"/>
            <a:ext cx="0" cy="329184"/>
          </a:xfrm>
          <a:prstGeom prst="line">
            <a:avLst/>
          </a:prstGeom>
          <a:noFill/>
          <a:ln w="12700">
            <a:solidFill>
              <a:srgbClr val="E6E6E6"/>
            </a:solidFill>
            <a:prstDash val="solid"/>
          </a:ln>
        </p:spPr>
      </p:sp>
      <p:sp>
        <p:nvSpPr>
          <p:cNvPr id="28" name="Text 2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関連：D-8 需給計画（MRP、プッシュ型との対比）。</a:t>
            </a:r>
            <a:endParaRPr lang="en-US" sz="1000" dirty="0"/>
          </a:p>
        </p:txBody>
      </p:sp>
      <p:sp>
        <p:nvSpPr>
          <p:cNvPr id="29" name="Text 2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0" name="Shape 28"/>
          <p:cNvSpPr/>
          <p:nvPr/>
        </p:nvSpPr>
        <p:spPr>
          <a:xfrm>
            <a:off x="2466594"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2" name="Shape 30"/>
          <p:cNvSpPr/>
          <p:nvPr/>
        </p:nvSpPr>
        <p:spPr>
          <a:xfrm>
            <a:off x="3431286"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4" name="Shape 32"/>
          <p:cNvSpPr/>
          <p:nvPr/>
        </p:nvSpPr>
        <p:spPr>
          <a:xfrm>
            <a:off x="4395978"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6" name="Shape 34"/>
          <p:cNvSpPr/>
          <p:nvPr/>
        </p:nvSpPr>
        <p:spPr>
          <a:xfrm>
            <a:off x="5360670"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8" name="Shape 36"/>
          <p:cNvSpPr/>
          <p:nvPr/>
        </p:nvSpPr>
        <p:spPr>
          <a:xfrm>
            <a:off x="6325362"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0" name="Shape 38"/>
          <p:cNvSpPr/>
          <p:nvPr/>
        </p:nvSpPr>
        <p:spPr>
          <a:xfrm>
            <a:off x="7290054"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2" name="Shape 40"/>
          <p:cNvSpPr/>
          <p:nvPr/>
        </p:nvSpPr>
        <p:spPr>
          <a:xfrm>
            <a:off x="8254746"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4" name="Shape 42"/>
          <p:cNvSpPr/>
          <p:nvPr/>
        </p:nvSpPr>
        <p:spPr>
          <a:xfrm>
            <a:off x="9219438"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6" name="Shape 44"/>
          <p:cNvSpPr/>
          <p:nvPr/>
        </p:nvSpPr>
        <p:spPr>
          <a:xfrm>
            <a:off x="10184130" y="6464808"/>
            <a:ext cx="146304" cy="146304"/>
          </a:xfrm>
          <a:prstGeom prst="ellipse">
            <a:avLst/>
          </a:prstGeom>
          <a:solidFill>
            <a:srgbClr val="FFFFFF"/>
          </a:solidFill>
          <a:ln w="12700">
            <a:solidFill>
              <a:srgbClr val="E6E6E6"/>
            </a:solidFill>
            <a:prstDash val="solid"/>
          </a:ln>
        </p:spPr>
      </p:sp>
      <p:sp>
        <p:nvSpPr>
          <p:cNvPr id="47" name="Text 4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8" name="Shape 46"/>
          <p:cNvSpPr/>
          <p:nvPr/>
        </p:nvSpPr>
        <p:spPr>
          <a:xfrm>
            <a:off x="11148822"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D-3 ／ 環境配慮型生産（3R、LCA）</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優先順位はリデュース＞リユース＞リサイクル</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3Rの優先順位と、製品の一生涯を評価するLCA。</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6766560" cy="868680"/>
          </a:xfrm>
          <a:prstGeom prst="rect">
            <a:avLst/>
          </a:prstGeom>
          <a:noFill/>
          <a:ln/>
        </p:spPr>
        <p:txBody>
          <a:bodyPr wrap="square" lIns="0" tIns="0" rIns="0" bIns="0" rtlCol="0" anchor="ctr"/>
          <a:lstStyle/>
          <a:p>
            <a:pPr indent="0" marL="0">
              <a:lnSpc>
                <a:spcPct val="130000"/>
              </a:lnSpc>
              <a:buNone/>
            </a:pPr>
            <a:r>
              <a:rPr lang="en-US" sz="1050" dirty="0">
                <a:solidFill>
                  <a:srgbClr val="8A8A8A"/>
                </a:solidFill>
                <a:latin typeface="Yu Gothic" pitchFamily="34" charset="0"/>
                <a:ea typeface="Yu Gothic" pitchFamily="34" charset="-122"/>
                <a:cs typeface="Yu Gothic" pitchFamily="34" charset="-120"/>
              </a:rPr>
              <a:t>3Rは「まず発生源を減らす」ことを最優先とする優先順位が決まっており、この順序を無視した対策は評価されない。LCAは3Rの効果も含め、製品の一生涯を通じた環境負荷を定量的に評価する枠組み。</a:t>
            </a:r>
            <a:endParaRPr lang="en-US" sz="1050" dirty="0"/>
          </a:p>
        </p:txBody>
      </p:sp>
      <p:sp>
        <p:nvSpPr>
          <p:cNvPr id="9" name="Text 7"/>
          <p:cNvSpPr txBox="1"/>
          <p:nvPr/>
        </p:nvSpPr>
        <p:spPr>
          <a:xfrm>
            <a:off x="502920" y="2651760"/>
            <a:ext cx="1188720" cy="484632"/>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LCA</a:t>
            </a:r>
            <a:endParaRPr lang="en-US" sz="1050" dirty="0"/>
          </a:p>
        </p:txBody>
      </p:sp>
      <p:sp>
        <p:nvSpPr>
          <p:cNvPr id="10" name="Shape 8"/>
          <p:cNvSpPr/>
          <p:nvPr/>
        </p:nvSpPr>
        <p:spPr>
          <a:xfrm>
            <a:off x="1673352" y="2651760"/>
            <a:ext cx="0" cy="256032"/>
          </a:xfrm>
          <a:prstGeom prst="line">
            <a:avLst/>
          </a:prstGeom>
          <a:noFill/>
          <a:ln w="12700">
            <a:solidFill>
              <a:srgbClr val="E6E6E6"/>
            </a:solidFill>
            <a:prstDash val="solid"/>
          </a:ln>
        </p:spPr>
      </p:sp>
      <p:sp>
        <p:nvSpPr>
          <p:cNvPr id="11" name="Text 9"/>
          <p:cNvSpPr txBox="1"/>
          <p:nvPr/>
        </p:nvSpPr>
        <p:spPr>
          <a:xfrm>
            <a:off x="1828800" y="2651760"/>
            <a:ext cx="5440680" cy="484632"/>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原材料採取→製造→輸送→使用→廃棄まで一生涯の環境負荷を定量評価</a:t>
            </a:r>
            <a:endParaRPr lang="en-US" sz="1050" dirty="0"/>
          </a:p>
        </p:txBody>
      </p:sp>
      <p:sp>
        <p:nvSpPr>
          <p:cNvPr id="12" name="Shape 10"/>
          <p:cNvSpPr/>
          <p:nvPr/>
        </p:nvSpPr>
        <p:spPr>
          <a:xfrm>
            <a:off x="502920" y="3246120"/>
            <a:ext cx="6766560" cy="0"/>
          </a:xfrm>
          <a:prstGeom prst="line">
            <a:avLst/>
          </a:prstGeom>
          <a:noFill/>
          <a:ln w="12700">
            <a:solidFill>
              <a:srgbClr val="E6E6E6"/>
            </a:solidFill>
            <a:prstDash val="solid"/>
          </a:ln>
        </p:spPr>
      </p:sp>
      <p:sp>
        <p:nvSpPr>
          <p:cNvPr id="13" name="Text 11"/>
          <p:cNvSpPr txBox="1"/>
          <p:nvPr/>
        </p:nvSpPr>
        <p:spPr>
          <a:xfrm>
            <a:off x="502920" y="3319272"/>
            <a:ext cx="6766560" cy="54864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LCAは「製造工程だけ」を評価するのではなく、原材料調達から廃棄までの全過程の環境負荷を定量評価する点に注意。</a:t>
            </a:r>
            <a:endParaRPr lang="en-US" sz="950" dirty="0"/>
          </a:p>
        </p:txBody>
      </p:sp>
      <p:sp>
        <p:nvSpPr>
          <p:cNvPr id="14" name="Shape 12"/>
          <p:cNvSpPr/>
          <p:nvPr/>
        </p:nvSpPr>
        <p:spPr>
          <a:xfrm>
            <a:off x="7543800" y="1737360"/>
            <a:ext cx="3703320" cy="1085088"/>
          </a:xfrm>
          <a:prstGeom prst="rect">
            <a:avLst/>
          </a:prstGeom>
          <a:solidFill>
            <a:srgbClr val="F4F4F4"/>
          </a:solidFill>
          <a:ln w="12700">
            <a:solidFill>
              <a:srgbClr val="E6E6E6"/>
            </a:solidFill>
            <a:prstDash val="solid"/>
          </a:ln>
        </p:spPr>
      </p:sp>
      <p:sp>
        <p:nvSpPr>
          <p:cNvPr id="15" name="Text 13"/>
          <p:cNvSpPr txBox="1"/>
          <p:nvPr/>
        </p:nvSpPr>
        <p:spPr>
          <a:xfrm>
            <a:off x="7543800" y="1737360"/>
            <a:ext cx="3703320" cy="1085088"/>
          </a:xfrm>
          <a:prstGeom prst="rect">
            <a:avLst/>
          </a:prstGeom>
          <a:noFill/>
          <a:ln/>
        </p:spPr>
        <p:txBody>
          <a:bodyPr wrap="square" lIns="0" tIns="0" rIns="0" bIns="0" rtlCol="0" anchor="ctr"/>
          <a:lstStyle/>
          <a:p>
            <a:pPr algn="ctr" indent="0" marL="0">
              <a:lnSpc>
                <a:spcPct val="115000"/>
              </a:lnSpc>
              <a:buNone/>
            </a:pPr>
            <a:r>
              <a:rPr lang="en-US" sz="900" b="1" dirty="0">
                <a:solidFill>
                  <a:srgbClr val="FF3B1F"/>
                </a:solidFill>
                <a:latin typeface="Consolas" pitchFamily="34" charset="0"/>
                <a:ea typeface="Consolas" pitchFamily="34" charset="-122"/>
                <a:cs typeface="Consolas" pitchFamily="34" charset="-120"/>
              </a:rPr>
              <a:t>①
</a:t>
            </a:r>
            <a:endParaRPr lang="en-US" sz="900" dirty="0"/>
          </a:p>
          <a:p>
            <a:pPr algn="ctr" indent="0" marL="0">
              <a:lnSpc>
                <a:spcPct val="115000"/>
              </a:lnSpc>
              <a:buNone/>
            </a:pPr>
            <a:r>
              <a:rPr lang="en-US" sz="1600" b="1" dirty="0">
                <a:solidFill>
                  <a:srgbClr val="171717"/>
                </a:solidFill>
                <a:latin typeface="Yu Gothic" pitchFamily="34" charset="0"/>
                <a:ea typeface="Yu Gothic" pitchFamily="34" charset="-122"/>
                <a:cs typeface="Yu Gothic" pitchFamily="34" charset="-120"/>
              </a:rPr>
              <a:t>リデュース</a:t>
            </a:r>
            <a:pPr algn="ctr" indent="0" marL="0">
              <a:lnSpc>
                <a:spcPct val="115000"/>
              </a:lnSpc>
              <a:buNone/>
            </a:pPr>
            <a:endParaRPr lang="en-US" sz="900" dirty="0"/>
          </a:p>
          <a:p>
            <a:pPr algn="ctr" indent="0" marL="0">
              <a:lnSpc>
                <a:spcPct val="115000"/>
              </a:lnSpc>
              <a:buNone/>
            </a:pPr>
            <a:r>
              <a:rPr lang="en-US" sz="1000" b="1" dirty="0">
                <a:solidFill>
                  <a:srgbClr val="FF3B1F"/>
                </a:solidFill>
                <a:latin typeface="Yu Gothic" pitchFamily="34" charset="0"/>
                <a:ea typeface="Yu Gothic" pitchFamily="34" charset="-122"/>
                <a:cs typeface="Yu Gothic" pitchFamily="34" charset="-120"/>
              </a:rPr>
              <a:t>発生量そのものを減らす（最優先）</a:t>
            </a:r>
            <a:endParaRPr lang="en-US" sz="900" dirty="0"/>
          </a:p>
        </p:txBody>
      </p:sp>
      <p:sp>
        <p:nvSpPr>
          <p:cNvPr id="16" name="Text 14"/>
          <p:cNvSpPr txBox="1"/>
          <p:nvPr/>
        </p:nvSpPr>
        <p:spPr>
          <a:xfrm>
            <a:off x="7543800" y="2822448"/>
            <a:ext cx="3703320" cy="201168"/>
          </a:xfrm>
          <a:prstGeom prst="rect">
            <a:avLst/>
          </a:prstGeom>
          <a:noFill/>
          <a:ln/>
        </p:spPr>
        <p:txBody>
          <a:bodyPr wrap="square" lIns="0" tIns="0" rIns="0" bIns="0" rtlCol="0" anchor="ctr"/>
          <a:lstStyle/>
          <a:p>
            <a:pPr algn="ctr" indent="0" marL="0">
              <a:buNone/>
            </a:pPr>
            <a:r>
              <a:rPr lang="en-US" sz="1300" dirty="0">
                <a:solidFill>
                  <a:srgbClr val="8A8A8A"/>
                </a:solidFill>
                <a:latin typeface="Yu Gothic" pitchFamily="34" charset="0"/>
                <a:ea typeface="Yu Gothic" pitchFamily="34" charset="-122"/>
                <a:cs typeface="Yu Gothic" pitchFamily="34" charset="-120"/>
              </a:rPr>
              <a:t>↓</a:t>
            </a:r>
            <a:endParaRPr lang="en-US" sz="1300" dirty="0"/>
          </a:p>
        </p:txBody>
      </p:sp>
      <p:sp>
        <p:nvSpPr>
          <p:cNvPr id="17" name="Shape 15"/>
          <p:cNvSpPr/>
          <p:nvPr/>
        </p:nvSpPr>
        <p:spPr>
          <a:xfrm>
            <a:off x="7543800" y="3023616"/>
            <a:ext cx="3703320" cy="1085088"/>
          </a:xfrm>
          <a:prstGeom prst="rect">
            <a:avLst/>
          </a:prstGeom>
          <a:solidFill>
            <a:srgbClr val="F4F4F4"/>
          </a:solidFill>
          <a:ln w="12700">
            <a:solidFill>
              <a:srgbClr val="E6E6E6"/>
            </a:solidFill>
            <a:prstDash val="solid"/>
          </a:ln>
        </p:spPr>
      </p:sp>
      <p:sp>
        <p:nvSpPr>
          <p:cNvPr id="18" name="Text 16"/>
          <p:cNvSpPr txBox="1"/>
          <p:nvPr/>
        </p:nvSpPr>
        <p:spPr>
          <a:xfrm>
            <a:off x="7543800" y="3023616"/>
            <a:ext cx="3703320" cy="1085088"/>
          </a:xfrm>
          <a:prstGeom prst="rect">
            <a:avLst/>
          </a:prstGeom>
          <a:noFill/>
          <a:ln/>
        </p:spPr>
        <p:txBody>
          <a:bodyPr wrap="square" lIns="0" tIns="0" rIns="0" bIns="0" rtlCol="0" anchor="ctr"/>
          <a:lstStyle/>
          <a:p>
            <a:pPr algn="ctr" indent="0" marL="0">
              <a:lnSpc>
                <a:spcPct val="115000"/>
              </a:lnSpc>
              <a:buNone/>
            </a:pPr>
            <a:r>
              <a:rPr lang="en-US" sz="900" b="1" dirty="0">
                <a:solidFill>
                  <a:srgbClr val="FF3B1F"/>
                </a:solidFill>
                <a:latin typeface="Consolas" pitchFamily="34" charset="0"/>
                <a:ea typeface="Consolas" pitchFamily="34" charset="-122"/>
                <a:cs typeface="Consolas" pitchFamily="34" charset="-120"/>
              </a:rPr>
              <a:t>②
</a:t>
            </a:r>
            <a:endParaRPr lang="en-US" sz="900" dirty="0"/>
          </a:p>
          <a:p>
            <a:pPr algn="ctr" indent="0" marL="0">
              <a:lnSpc>
                <a:spcPct val="115000"/>
              </a:lnSpc>
              <a:buNone/>
            </a:pPr>
            <a:r>
              <a:rPr lang="en-US" sz="1600" b="1" dirty="0">
                <a:solidFill>
                  <a:srgbClr val="171717"/>
                </a:solidFill>
                <a:latin typeface="Yu Gothic" pitchFamily="34" charset="0"/>
                <a:ea typeface="Yu Gothic" pitchFamily="34" charset="-122"/>
                <a:cs typeface="Yu Gothic" pitchFamily="34" charset="-120"/>
              </a:rPr>
              <a:t>リユース</a:t>
            </a:r>
            <a:pPr algn="ctr" indent="0" marL="0">
              <a:lnSpc>
                <a:spcPct val="115000"/>
              </a:lnSpc>
              <a:buNone/>
            </a:pPr>
            <a:endParaRPr lang="en-US" sz="900" dirty="0"/>
          </a:p>
          <a:p>
            <a:pPr algn="ctr" indent="0" marL="0">
              <a:lnSpc>
                <a:spcPct val="115000"/>
              </a:lnSpc>
              <a:buNone/>
            </a:pPr>
            <a:r>
              <a:rPr lang="en-US" sz="1000" b="1" dirty="0">
                <a:solidFill>
                  <a:srgbClr val="FF3B1F"/>
                </a:solidFill>
                <a:latin typeface="Yu Gothic" pitchFamily="34" charset="0"/>
                <a:ea typeface="Yu Gothic" pitchFamily="34" charset="-122"/>
                <a:cs typeface="Yu Gothic" pitchFamily="34" charset="-120"/>
              </a:rPr>
              <a:t>そのまま繰り返し使う</a:t>
            </a:r>
            <a:endParaRPr lang="en-US" sz="900" dirty="0"/>
          </a:p>
        </p:txBody>
      </p:sp>
      <p:sp>
        <p:nvSpPr>
          <p:cNvPr id="19" name="Text 17"/>
          <p:cNvSpPr txBox="1"/>
          <p:nvPr/>
        </p:nvSpPr>
        <p:spPr>
          <a:xfrm>
            <a:off x="7543800" y="4108704"/>
            <a:ext cx="3703320" cy="201168"/>
          </a:xfrm>
          <a:prstGeom prst="rect">
            <a:avLst/>
          </a:prstGeom>
          <a:noFill/>
          <a:ln/>
        </p:spPr>
        <p:txBody>
          <a:bodyPr wrap="square" lIns="0" tIns="0" rIns="0" bIns="0" rtlCol="0" anchor="ctr"/>
          <a:lstStyle/>
          <a:p>
            <a:pPr algn="ctr" indent="0" marL="0">
              <a:buNone/>
            </a:pPr>
            <a:r>
              <a:rPr lang="en-US" sz="1300" dirty="0">
                <a:solidFill>
                  <a:srgbClr val="8A8A8A"/>
                </a:solidFill>
                <a:latin typeface="Yu Gothic" pitchFamily="34" charset="0"/>
                <a:ea typeface="Yu Gothic" pitchFamily="34" charset="-122"/>
                <a:cs typeface="Yu Gothic" pitchFamily="34" charset="-120"/>
              </a:rPr>
              <a:t>↓</a:t>
            </a:r>
            <a:endParaRPr lang="en-US" sz="1300" dirty="0"/>
          </a:p>
        </p:txBody>
      </p:sp>
      <p:sp>
        <p:nvSpPr>
          <p:cNvPr id="20" name="Shape 18"/>
          <p:cNvSpPr/>
          <p:nvPr/>
        </p:nvSpPr>
        <p:spPr>
          <a:xfrm>
            <a:off x="7543800" y="4309872"/>
            <a:ext cx="3703320" cy="1085088"/>
          </a:xfrm>
          <a:prstGeom prst="rect">
            <a:avLst/>
          </a:prstGeom>
          <a:solidFill>
            <a:srgbClr val="F4F4F4"/>
          </a:solidFill>
          <a:ln w="12700">
            <a:solidFill>
              <a:srgbClr val="E6E6E6"/>
            </a:solidFill>
            <a:prstDash val="solid"/>
          </a:ln>
        </p:spPr>
      </p:sp>
      <p:sp>
        <p:nvSpPr>
          <p:cNvPr id="21" name="Text 19"/>
          <p:cNvSpPr txBox="1"/>
          <p:nvPr/>
        </p:nvSpPr>
        <p:spPr>
          <a:xfrm>
            <a:off x="7543800" y="4309872"/>
            <a:ext cx="3703320" cy="1085088"/>
          </a:xfrm>
          <a:prstGeom prst="rect">
            <a:avLst/>
          </a:prstGeom>
          <a:noFill/>
          <a:ln/>
        </p:spPr>
        <p:txBody>
          <a:bodyPr wrap="square" lIns="0" tIns="0" rIns="0" bIns="0" rtlCol="0" anchor="ctr"/>
          <a:lstStyle/>
          <a:p>
            <a:pPr algn="ctr" indent="0" marL="0">
              <a:lnSpc>
                <a:spcPct val="115000"/>
              </a:lnSpc>
              <a:buNone/>
            </a:pPr>
            <a:r>
              <a:rPr lang="en-US" sz="900" b="1" dirty="0">
                <a:solidFill>
                  <a:srgbClr val="FF3B1F"/>
                </a:solidFill>
                <a:latin typeface="Consolas" pitchFamily="34" charset="0"/>
                <a:ea typeface="Consolas" pitchFamily="34" charset="-122"/>
                <a:cs typeface="Consolas" pitchFamily="34" charset="-120"/>
              </a:rPr>
              <a:t>③
</a:t>
            </a:r>
            <a:endParaRPr lang="en-US" sz="900" dirty="0"/>
          </a:p>
          <a:p>
            <a:pPr algn="ctr" indent="0" marL="0">
              <a:lnSpc>
                <a:spcPct val="115000"/>
              </a:lnSpc>
              <a:buNone/>
            </a:pPr>
            <a:r>
              <a:rPr lang="en-US" sz="1600" b="1" dirty="0">
                <a:solidFill>
                  <a:srgbClr val="171717"/>
                </a:solidFill>
                <a:latin typeface="Yu Gothic" pitchFamily="34" charset="0"/>
                <a:ea typeface="Yu Gothic" pitchFamily="34" charset="-122"/>
                <a:cs typeface="Yu Gothic" pitchFamily="34" charset="-120"/>
              </a:rPr>
              <a:t>リサイクル</a:t>
            </a:r>
            <a:pPr algn="ctr" indent="0" marL="0">
              <a:lnSpc>
                <a:spcPct val="115000"/>
              </a:lnSpc>
              <a:buNone/>
            </a:pPr>
            <a:endParaRPr lang="en-US" sz="900" dirty="0"/>
          </a:p>
          <a:p>
            <a:pPr algn="ctr" indent="0" marL="0">
              <a:lnSpc>
                <a:spcPct val="115000"/>
              </a:lnSpc>
              <a:buNone/>
            </a:pPr>
            <a:r>
              <a:rPr lang="en-US" sz="1000" b="1" dirty="0">
                <a:solidFill>
                  <a:srgbClr val="FF3B1F"/>
                </a:solidFill>
                <a:latin typeface="Yu Gothic" pitchFamily="34" charset="0"/>
                <a:ea typeface="Yu Gothic" pitchFamily="34" charset="-122"/>
                <a:cs typeface="Yu Gothic" pitchFamily="34" charset="-120"/>
              </a:rPr>
              <a:t>資源として再生利用（最後）</a:t>
            </a:r>
            <a:endParaRPr lang="en-US" sz="900" dirty="0"/>
          </a:p>
        </p:txBody>
      </p:sp>
      <p:sp>
        <p:nvSpPr>
          <p:cNvPr id="22" name="Shape 20"/>
          <p:cNvSpPr/>
          <p:nvPr/>
        </p:nvSpPr>
        <p:spPr>
          <a:xfrm>
            <a:off x="502920" y="5989320"/>
            <a:ext cx="11201400" cy="0"/>
          </a:xfrm>
          <a:prstGeom prst="line">
            <a:avLst/>
          </a:prstGeom>
          <a:noFill/>
          <a:ln w="9525">
            <a:solidFill>
              <a:srgbClr val="171717"/>
            </a:solidFill>
            <a:prstDash val="solid"/>
          </a:ln>
        </p:spPr>
      </p:sp>
      <p:sp>
        <p:nvSpPr>
          <p:cNvPr id="23" name="Shape 21"/>
          <p:cNvSpPr/>
          <p:nvPr/>
        </p:nvSpPr>
        <p:spPr>
          <a:xfrm>
            <a:off x="502920" y="6062472"/>
            <a:ext cx="329184" cy="329184"/>
          </a:xfrm>
          <a:prstGeom prst="ellipse">
            <a:avLst/>
          </a:prstGeom>
          <a:solidFill>
            <a:srgbClr val="FF3B1F"/>
          </a:solidFill>
          <a:ln/>
        </p:spPr>
      </p:sp>
      <p:sp>
        <p:nvSpPr>
          <p:cNvPr id="24" name="Text 22"/>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5" name="Text 23"/>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6" name="Shape 24"/>
          <p:cNvSpPr/>
          <p:nvPr/>
        </p:nvSpPr>
        <p:spPr>
          <a:xfrm>
            <a:off x="2331720" y="6062472"/>
            <a:ext cx="0" cy="329184"/>
          </a:xfrm>
          <a:prstGeom prst="line">
            <a:avLst/>
          </a:prstGeom>
          <a:noFill/>
          <a:ln w="12700">
            <a:solidFill>
              <a:srgbClr val="E6E6E6"/>
            </a:solidFill>
            <a:prstDash val="solid"/>
          </a:ln>
        </p:spPr>
      </p:sp>
      <p:sp>
        <p:nvSpPr>
          <p:cNvPr id="27" name="Text 25"/>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ひっかけ：LCAは製造工程だけでなく調達〜廃棄までの全体を対象とする。</a:t>
            </a:r>
            <a:endParaRPr lang="en-US" sz="1000" dirty="0"/>
          </a:p>
        </p:txBody>
      </p:sp>
      <p:sp>
        <p:nvSpPr>
          <p:cNvPr id="28" name="Text 26"/>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9" name="Shape 27"/>
          <p:cNvSpPr/>
          <p:nvPr/>
        </p:nvSpPr>
        <p:spPr>
          <a:xfrm>
            <a:off x="2466594" y="6464808"/>
            <a:ext cx="146304" cy="146304"/>
          </a:xfrm>
          <a:prstGeom prst="ellipse">
            <a:avLst/>
          </a:prstGeom>
          <a:solidFill>
            <a:srgbClr val="FFFFFF"/>
          </a:solidFill>
          <a:ln w="12700">
            <a:solidFill>
              <a:srgbClr val="E6E6E6"/>
            </a:solidFill>
            <a:prstDash val="solid"/>
          </a:ln>
        </p:spPr>
      </p:sp>
      <p:sp>
        <p:nvSpPr>
          <p:cNvPr id="30" name="Text 28"/>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1" name="Shape 29"/>
          <p:cNvSpPr/>
          <p:nvPr/>
        </p:nvSpPr>
        <p:spPr>
          <a:xfrm>
            <a:off x="3431286"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3" name="Shape 31"/>
          <p:cNvSpPr/>
          <p:nvPr/>
        </p:nvSpPr>
        <p:spPr>
          <a:xfrm>
            <a:off x="4395978"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5" name="Shape 33"/>
          <p:cNvSpPr/>
          <p:nvPr/>
        </p:nvSpPr>
        <p:spPr>
          <a:xfrm>
            <a:off x="5360670" y="6464808"/>
            <a:ext cx="146304" cy="146304"/>
          </a:xfrm>
          <a:prstGeom prst="ellipse">
            <a:avLst/>
          </a:prstGeom>
          <a:solidFill>
            <a:srgbClr val="FFFFFF"/>
          </a:solidFill>
          <a:ln w="12700">
            <a:solidFill>
              <a:srgbClr val="E6E6E6"/>
            </a:solidFill>
            <a:prstDash val="solid"/>
          </a:ln>
        </p:spPr>
      </p:sp>
      <p:sp>
        <p:nvSpPr>
          <p:cNvPr id="36" name="Text 34"/>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7" name="Shape 35"/>
          <p:cNvSpPr/>
          <p:nvPr/>
        </p:nvSpPr>
        <p:spPr>
          <a:xfrm>
            <a:off x="6325362"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9" name="Shape 37"/>
          <p:cNvSpPr/>
          <p:nvPr/>
        </p:nvSpPr>
        <p:spPr>
          <a:xfrm>
            <a:off x="7290054"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1" name="Shape 39"/>
          <p:cNvSpPr/>
          <p:nvPr/>
        </p:nvSpPr>
        <p:spPr>
          <a:xfrm>
            <a:off x="8254746"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3" name="Shape 41"/>
          <p:cNvSpPr/>
          <p:nvPr/>
        </p:nvSpPr>
        <p:spPr>
          <a:xfrm>
            <a:off x="9219438"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5" name="Shape 43"/>
          <p:cNvSpPr/>
          <p:nvPr/>
        </p:nvSpPr>
        <p:spPr>
          <a:xfrm>
            <a:off x="10184130"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7" name="Shape 45"/>
          <p:cNvSpPr/>
          <p:nvPr/>
        </p:nvSpPr>
        <p:spPr>
          <a:xfrm>
            <a:off x="11148822" y="6464808"/>
            <a:ext cx="146304" cy="146304"/>
          </a:xfrm>
          <a:prstGeom prst="ellipse">
            <a:avLst/>
          </a:prstGeom>
          <a:solidFill>
            <a:srgbClr val="FF3B1F"/>
          </a:solidFill>
          <a:ln w="12700">
            <a:solidFill>
              <a:srgbClr val="FF3B1F"/>
            </a:solidFill>
            <a:prstDash val="solid"/>
          </a:ln>
        </p:spPr>
      </p:sp>
      <p:sp>
        <p:nvSpPr>
          <p:cNvPr id="48" name="Text 46"/>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D-4 ／ 生産計画：製品開発・製品設計</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価値＝機能÷コスト</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VA/VEは機能を維持・向上しながら価値を高める活動。コスト削減だけが目的ではない。</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65176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VA/VE</a:t>
            </a:r>
            <a:endParaRPr lang="en-US" sz="1100" dirty="0"/>
          </a:p>
        </p:txBody>
      </p:sp>
      <p:sp>
        <p:nvSpPr>
          <p:cNvPr id="9" name="Shape 7"/>
          <p:cNvSpPr/>
          <p:nvPr/>
        </p:nvSpPr>
        <p:spPr>
          <a:xfrm>
            <a:off x="3136392" y="1691640"/>
            <a:ext cx="0" cy="256032"/>
          </a:xfrm>
          <a:prstGeom prst="line">
            <a:avLst/>
          </a:prstGeom>
          <a:noFill/>
          <a:ln w="12700">
            <a:solidFill>
              <a:srgbClr val="E6E6E6"/>
            </a:solidFill>
            <a:prstDash val="solid"/>
          </a:ln>
        </p:spPr>
      </p:sp>
      <p:sp>
        <p:nvSpPr>
          <p:cNvPr id="10" name="Text 8"/>
          <p:cNvSpPr txBox="1"/>
          <p:nvPr/>
        </p:nvSpPr>
        <p:spPr>
          <a:xfrm>
            <a:off x="3291840" y="1691640"/>
            <a:ext cx="841248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価値（V）＝機能（F）÷コスト（C）を高める体系的活動</a:t>
            </a:r>
            <a:endParaRPr lang="en-US" sz="1100" dirty="0"/>
          </a:p>
        </p:txBody>
      </p:sp>
      <p:sp>
        <p:nvSpPr>
          <p:cNvPr id="11" name="Text 9"/>
          <p:cNvSpPr txBox="1"/>
          <p:nvPr/>
        </p:nvSpPr>
        <p:spPr>
          <a:xfrm>
            <a:off x="502920" y="2075688"/>
            <a:ext cx="265176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コンカレントエンジニアリング</a:t>
            </a:r>
            <a:endParaRPr lang="en-US" sz="1100" dirty="0"/>
          </a:p>
        </p:txBody>
      </p:sp>
      <p:sp>
        <p:nvSpPr>
          <p:cNvPr id="12" name="Shape 10"/>
          <p:cNvSpPr/>
          <p:nvPr/>
        </p:nvSpPr>
        <p:spPr>
          <a:xfrm>
            <a:off x="3136392" y="2075688"/>
            <a:ext cx="0" cy="256032"/>
          </a:xfrm>
          <a:prstGeom prst="line">
            <a:avLst/>
          </a:prstGeom>
          <a:noFill/>
          <a:ln w="12700">
            <a:solidFill>
              <a:srgbClr val="E6E6E6"/>
            </a:solidFill>
            <a:prstDash val="solid"/>
          </a:ln>
        </p:spPr>
      </p:sp>
      <p:sp>
        <p:nvSpPr>
          <p:cNvPr id="13" name="Text 11"/>
          <p:cNvSpPr txBox="1"/>
          <p:nvPr/>
        </p:nvSpPr>
        <p:spPr>
          <a:xfrm>
            <a:off x="3291840" y="2075688"/>
            <a:ext cx="841248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設計・生産技術・調達・販売が同時並行で検討し開発期間を短縮</a:t>
            </a:r>
            <a:endParaRPr lang="en-US" sz="1100" dirty="0"/>
          </a:p>
        </p:txBody>
      </p:sp>
      <p:sp>
        <p:nvSpPr>
          <p:cNvPr id="14" name="Text 12"/>
          <p:cNvSpPr txBox="1"/>
          <p:nvPr/>
        </p:nvSpPr>
        <p:spPr>
          <a:xfrm>
            <a:off x="502920" y="2551176"/>
            <a:ext cx="11201400" cy="713232"/>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家電メーカーが企画段階から設計者・生産技術者・調達担当者が一緒に検討し、「金型が高額」「量産時に調達しにくい」等の懸念を早期に反映するのがコンカレントエンジニアリング。</a:t>
            </a:r>
            <a:endParaRPr lang="en-US" sz="850" dirty="0"/>
          </a:p>
        </p:txBody>
      </p:sp>
      <p:sp>
        <p:nvSpPr>
          <p:cNvPr id="15" name="Shape 13"/>
          <p:cNvSpPr/>
          <p:nvPr/>
        </p:nvSpPr>
        <p:spPr>
          <a:xfrm>
            <a:off x="502920" y="3337560"/>
            <a:ext cx="11201400" cy="0"/>
          </a:xfrm>
          <a:prstGeom prst="line">
            <a:avLst/>
          </a:prstGeom>
          <a:noFill/>
          <a:ln w="12700">
            <a:solidFill>
              <a:srgbClr val="E6E6E6"/>
            </a:solidFill>
            <a:prstDash val="solid"/>
          </a:ln>
        </p:spPr>
      </p:sp>
      <p:sp>
        <p:nvSpPr>
          <p:cNvPr id="16" name="Text 14"/>
          <p:cNvSpPr txBox="1"/>
          <p:nvPr/>
        </p:nvSpPr>
        <p:spPr>
          <a:xfrm>
            <a:off x="502920" y="3410712"/>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「機能を下げてコストを下げれば必ず価値が上がる」は誤り。コンカレントエンジニアリングは「同時並行で情報共有」であり「独立して同時に別設計」ではない。</a:t>
            </a:r>
            <a:endParaRPr lang="en-US" sz="950" dirty="0"/>
          </a:p>
        </p:txBody>
      </p:sp>
      <p:sp>
        <p:nvSpPr>
          <p:cNvPr id="17" name="Shape 15"/>
          <p:cNvSpPr/>
          <p:nvPr/>
        </p:nvSpPr>
        <p:spPr>
          <a:xfrm>
            <a:off x="502920" y="5989320"/>
            <a:ext cx="11201400" cy="0"/>
          </a:xfrm>
          <a:prstGeom prst="line">
            <a:avLst/>
          </a:prstGeom>
          <a:noFill/>
          <a:ln w="9525">
            <a:solidFill>
              <a:srgbClr val="171717"/>
            </a:solidFill>
            <a:prstDash val="solid"/>
          </a:ln>
        </p:spPr>
      </p:sp>
      <p:sp>
        <p:nvSpPr>
          <p:cNvPr id="18" name="Shape 16"/>
          <p:cNvSpPr/>
          <p:nvPr/>
        </p:nvSpPr>
        <p:spPr>
          <a:xfrm>
            <a:off x="502920" y="6062472"/>
            <a:ext cx="329184" cy="329184"/>
          </a:xfrm>
          <a:prstGeom prst="ellipse">
            <a:avLst/>
          </a:prstGeom>
          <a:solidFill>
            <a:srgbClr val="FF3B1F"/>
          </a:solidFill>
          <a:ln/>
        </p:spPr>
      </p:sp>
      <p:sp>
        <p:nvSpPr>
          <p:cNvPr id="19" name="Text 17"/>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0" name="Text 18"/>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1" name="Shape 19"/>
          <p:cNvSpPr/>
          <p:nvPr/>
        </p:nvSpPr>
        <p:spPr>
          <a:xfrm>
            <a:off x="2331720" y="6062472"/>
            <a:ext cx="0" cy="329184"/>
          </a:xfrm>
          <a:prstGeom prst="line">
            <a:avLst/>
          </a:prstGeom>
          <a:noFill/>
          <a:ln w="12700">
            <a:solidFill>
              <a:srgbClr val="E6E6E6"/>
            </a:solidFill>
            <a:prstDash val="solid"/>
          </a:ln>
        </p:spPr>
      </p:sp>
      <p:sp>
        <p:nvSpPr>
          <p:cNvPr id="22" name="Text 20"/>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関連：D-16 工場計画（SLP、設計後のレイアウト検討にもつながる）。</a:t>
            </a:r>
            <a:endParaRPr lang="en-US" sz="1000" dirty="0"/>
          </a:p>
        </p:txBody>
      </p:sp>
      <p:sp>
        <p:nvSpPr>
          <p:cNvPr id="23" name="Text 21"/>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4" name="Shape 22"/>
          <p:cNvSpPr/>
          <p:nvPr/>
        </p:nvSpPr>
        <p:spPr>
          <a:xfrm>
            <a:off x="2466594" y="6464808"/>
            <a:ext cx="146304" cy="146304"/>
          </a:xfrm>
          <a:prstGeom prst="ellipse">
            <a:avLst/>
          </a:prstGeom>
          <a:solidFill>
            <a:srgbClr val="FF3B1F"/>
          </a:solidFill>
          <a:ln w="12700">
            <a:solidFill>
              <a:srgbClr val="FF3B1F"/>
            </a:solidFill>
            <a:prstDash val="solid"/>
          </a:ln>
        </p:spPr>
      </p:sp>
      <p:sp>
        <p:nvSpPr>
          <p:cNvPr id="25" name="Text 23"/>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6" name="Shape 24"/>
          <p:cNvSpPr/>
          <p:nvPr/>
        </p:nvSpPr>
        <p:spPr>
          <a:xfrm>
            <a:off x="3431286" y="6464808"/>
            <a:ext cx="146304" cy="146304"/>
          </a:xfrm>
          <a:prstGeom prst="ellipse">
            <a:avLst/>
          </a:prstGeom>
          <a:solidFill>
            <a:srgbClr val="FF3B1F"/>
          </a:solidFill>
          <a:ln w="12700">
            <a:solidFill>
              <a:srgbClr val="FF3B1F"/>
            </a:solidFill>
            <a:prstDash val="solid"/>
          </a:ln>
        </p:spPr>
      </p:sp>
      <p:sp>
        <p:nvSpPr>
          <p:cNvPr id="27" name="Text 25"/>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28" name="Shape 26"/>
          <p:cNvSpPr/>
          <p:nvPr/>
        </p:nvSpPr>
        <p:spPr>
          <a:xfrm>
            <a:off x="4395978"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0" name="Shape 28"/>
          <p:cNvSpPr/>
          <p:nvPr/>
        </p:nvSpPr>
        <p:spPr>
          <a:xfrm>
            <a:off x="5360670"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2" name="Shape 30"/>
          <p:cNvSpPr/>
          <p:nvPr/>
        </p:nvSpPr>
        <p:spPr>
          <a:xfrm>
            <a:off x="6325362"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4" name="Shape 32"/>
          <p:cNvSpPr/>
          <p:nvPr/>
        </p:nvSpPr>
        <p:spPr>
          <a:xfrm>
            <a:off x="7290054"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6" name="Shape 34"/>
          <p:cNvSpPr/>
          <p:nvPr/>
        </p:nvSpPr>
        <p:spPr>
          <a:xfrm>
            <a:off x="8254746"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38" name="Shape 36"/>
          <p:cNvSpPr/>
          <p:nvPr/>
        </p:nvSpPr>
        <p:spPr>
          <a:xfrm>
            <a:off x="9219438"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0" name="Shape 38"/>
          <p:cNvSpPr/>
          <p:nvPr/>
        </p:nvSpPr>
        <p:spPr>
          <a:xfrm>
            <a:off x="10184130"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2" name="Shape 40"/>
          <p:cNvSpPr/>
          <p:nvPr/>
        </p:nvSpPr>
        <p:spPr>
          <a:xfrm>
            <a:off x="11148822"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D-5 ／ 生産計画：生産方式</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3つの分類軸で生産方式を整理する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「いつ作るか」「どれだけまとめて作るか」「どう配置するか」の3軸。</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92808"/>
            <a:ext cx="23774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見込／受注生産</a:t>
            </a:r>
            <a:endParaRPr lang="en-US" sz="1500" dirty="0"/>
          </a:p>
        </p:txBody>
      </p:sp>
      <p:sp>
        <p:nvSpPr>
          <p:cNvPr id="9" name="Text 7"/>
          <p:cNvSpPr txBox="1"/>
          <p:nvPr/>
        </p:nvSpPr>
        <p:spPr>
          <a:xfrm>
            <a:off x="2971800" y="1856232"/>
            <a:ext cx="873252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需要予測で先に作る（欠品・過剰在庫リスク）／注文後に作る（リードタイム長い）</a:t>
            </a:r>
            <a:endParaRPr lang="en-US" sz="1100" dirty="0"/>
          </a:p>
        </p:txBody>
      </p:sp>
      <p:sp>
        <p:nvSpPr>
          <p:cNvPr id="10" name="Shape 8"/>
          <p:cNvSpPr/>
          <p:nvPr/>
        </p:nvSpPr>
        <p:spPr>
          <a:xfrm>
            <a:off x="502920" y="2880360"/>
            <a:ext cx="11201400" cy="0"/>
          </a:xfrm>
          <a:prstGeom prst="line">
            <a:avLst/>
          </a:prstGeom>
          <a:noFill/>
          <a:ln w="12700">
            <a:solidFill>
              <a:srgbClr val="E6E6E6"/>
            </a:solidFill>
            <a:prstDash val="solid"/>
          </a:ln>
        </p:spPr>
      </p:sp>
      <p:sp>
        <p:nvSpPr>
          <p:cNvPr id="11" name="Text 9"/>
          <p:cNvSpPr txBox="1"/>
          <p:nvPr/>
        </p:nvSpPr>
        <p:spPr>
          <a:xfrm>
            <a:off x="502920" y="2990088"/>
            <a:ext cx="23774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個別／ロット／連続生産</a:t>
            </a:r>
            <a:endParaRPr lang="en-US" sz="1500" dirty="0"/>
          </a:p>
        </p:txBody>
      </p:sp>
      <p:sp>
        <p:nvSpPr>
          <p:cNvPr id="12" name="Text 10"/>
          <p:cNvSpPr txBox="1"/>
          <p:nvPr/>
        </p:nvSpPr>
        <p:spPr>
          <a:xfrm>
            <a:off x="2971800" y="2953512"/>
            <a:ext cx="873252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1個ずつ専用計画／まとまった数量で段取替え／同一製品を継続生産</a:t>
            </a:r>
            <a:endParaRPr lang="en-US" sz="1100" dirty="0"/>
          </a:p>
        </p:txBody>
      </p:sp>
      <p:sp>
        <p:nvSpPr>
          <p:cNvPr id="13" name="Shape 11"/>
          <p:cNvSpPr/>
          <p:nvPr/>
        </p:nvSpPr>
        <p:spPr>
          <a:xfrm>
            <a:off x="502920" y="3977640"/>
            <a:ext cx="11201400" cy="0"/>
          </a:xfrm>
          <a:prstGeom prst="line">
            <a:avLst/>
          </a:prstGeom>
          <a:noFill/>
          <a:ln w="12700">
            <a:solidFill>
              <a:srgbClr val="E6E6E6"/>
            </a:solidFill>
            <a:prstDash val="solid"/>
          </a:ln>
        </p:spPr>
      </p:sp>
      <p:sp>
        <p:nvSpPr>
          <p:cNvPr id="14" name="Text 12"/>
          <p:cNvSpPr txBox="1"/>
          <p:nvPr/>
        </p:nvSpPr>
        <p:spPr>
          <a:xfrm>
            <a:off x="502920" y="4087368"/>
            <a:ext cx="23774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ライン／セル生産</a:t>
            </a:r>
            <a:endParaRPr lang="en-US" sz="1500" dirty="0"/>
          </a:p>
        </p:txBody>
      </p:sp>
      <p:sp>
        <p:nvSpPr>
          <p:cNvPr id="15" name="Text 13"/>
          <p:cNvSpPr txBox="1"/>
          <p:nvPr/>
        </p:nvSpPr>
        <p:spPr>
          <a:xfrm>
            <a:off x="2971800" y="4050792"/>
            <a:ext cx="873252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大量生産向き・柔軟性低い／多能工が一連工程を担当し多品種少量に強い</a:t>
            </a:r>
            <a:endParaRPr lang="en-US" sz="1100" dirty="0"/>
          </a:p>
        </p:txBody>
      </p:sp>
      <p:sp>
        <p:nvSpPr>
          <p:cNvPr id="16" name="Text 14"/>
          <p:cNvSpPr txBox="1"/>
          <p:nvPr/>
        </p:nvSpPr>
        <p:spPr>
          <a:xfrm>
            <a:off x="502920" y="5184648"/>
            <a:ext cx="11201400" cy="59436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デジタル機器を組み立てる電子機器メーカーB社は、需要変動が大きく機種も多い主力製品の生産をコンベアラインからセル生産方式に切り替え、繁忙期は稼働セル数を増やし閑散期は減らす（少人化）ことで需要変動に柔軟に対応している。</a:t>
            </a:r>
            <a:endParaRPr lang="en-US" sz="850" dirty="0"/>
          </a:p>
        </p:txBody>
      </p:sp>
      <p:sp>
        <p:nvSpPr>
          <p:cNvPr id="17" name="Shape 15"/>
          <p:cNvSpPr/>
          <p:nvPr/>
        </p:nvSpPr>
        <p:spPr>
          <a:xfrm>
            <a:off x="502920" y="5989320"/>
            <a:ext cx="11201400" cy="0"/>
          </a:xfrm>
          <a:prstGeom prst="line">
            <a:avLst/>
          </a:prstGeom>
          <a:noFill/>
          <a:ln w="9525">
            <a:solidFill>
              <a:srgbClr val="171717"/>
            </a:solidFill>
            <a:prstDash val="solid"/>
          </a:ln>
        </p:spPr>
      </p:sp>
      <p:sp>
        <p:nvSpPr>
          <p:cNvPr id="18" name="Shape 16"/>
          <p:cNvSpPr/>
          <p:nvPr/>
        </p:nvSpPr>
        <p:spPr>
          <a:xfrm>
            <a:off x="502920" y="6062472"/>
            <a:ext cx="329184" cy="329184"/>
          </a:xfrm>
          <a:prstGeom prst="ellipse">
            <a:avLst/>
          </a:prstGeom>
          <a:solidFill>
            <a:srgbClr val="FF3B1F"/>
          </a:solidFill>
          <a:ln/>
        </p:spPr>
      </p:sp>
      <p:sp>
        <p:nvSpPr>
          <p:cNvPr id="19" name="Text 17"/>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0" name="Text 18"/>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1" name="Shape 19"/>
          <p:cNvSpPr/>
          <p:nvPr/>
        </p:nvSpPr>
        <p:spPr>
          <a:xfrm>
            <a:off x="2331720" y="6062472"/>
            <a:ext cx="0" cy="329184"/>
          </a:xfrm>
          <a:prstGeom prst="line">
            <a:avLst/>
          </a:prstGeom>
          <a:noFill/>
          <a:ln w="12700">
            <a:solidFill>
              <a:srgbClr val="E6E6E6"/>
            </a:solidFill>
            <a:prstDash val="solid"/>
          </a:ln>
        </p:spPr>
      </p:sp>
      <p:sp>
        <p:nvSpPr>
          <p:cNvPr id="22" name="Text 20"/>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ひっかけ：セル生産は多能工化（D-11）が前提。「少人化」と「省人化」は別概念。</a:t>
            </a:r>
            <a:endParaRPr lang="en-US" sz="1000" dirty="0"/>
          </a:p>
        </p:txBody>
      </p:sp>
      <p:sp>
        <p:nvSpPr>
          <p:cNvPr id="23" name="Text 21"/>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4" name="Shape 22"/>
          <p:cNvSpPr/>
          <p:nvPr/>
        </p:nvSpPr>
        <p:spPr>
          <a:xfrm>
            <a:off x="2466594" y="6464808"/>
            <a:ext cx="146304" cy="146304"/>
          </a:xfrm>
          <a:prstGeom prst="ellipse">
            <a:avLst/>
          </a:prstGeom>
          <a:solidFill>
            <a:srgbClr val="FF3B1F"/>
          </a:solidFill>
          <a:ln w="12700">
            <a:solidFill>
              <a:srgbClr val="FF3B1F"/>
            </a:solidFill>
            <a:prstDash val="solid"/>
          </a:ln>
        </p:spPr>
      </p:sp>
      <p:sp>
        <p:nvSpPr>
          <p:cNvPr id="25" name="Text 23"/>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6" name="Shape 24"/>
          <p:cNvSpPr/>
          <p:nvPr/>
        </p:nvSpPr>
        <p:spPr>
          <a:xfrm>
            <a:off x="3431286" y="6464808"/>
            <a:ext cx="146304" cy="146304"/>
          </a:xfrm>
          <a:prstGeom prst="ellipse">
            <a:avLst/>
          </a:prstGeom>
          <a:solidFill>
            <a:srgbClr val="FF3B1F"/>
          </a:solidFill>
          <a:ln w="12700">
            <a:solidFill>
              <a:srgbClr val="FF3B1F"/>
            </a:solidFill>
            <a:prstDash val="solid"/>
          </a:ln>
        </p:spPr>
      </p:sp>
      <p:sp>
        <p:nvSpPr>
          <p:cNvPr id="27" name="Text 25"/>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28" name="Shape 26"/>
          <p:cNvSpPr/>
          <p:nvPr/>
        </p:nvSpPr>
        <p:spPr>
          <a:xfrm>
            <a:off x="4395978" y="6464808"/>
            <a:ext cx="146304" cy="146304"/>
          </a:xfrm>
          <a:prstGeom prst="ellipse">
            <a:avLst/>
          </a:prstGeom>
          <a:solidFill>
            <a:srgbClr val="FF3B1F"/>
          </a:solidFill>
          <a:ln w="12700">
            <a:solidFill>
              <a:srgbClr val="FF3B1F"/>
            </a:solidFill>
            <a:prstDash val="solid"/>
          </a:ln>
        </p:spPr>
      </p:sp>
      <p:sp>
        <p:nvSpPr>
          <p:cNvPr id="29" name="Text 27"/>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0" name="Shape 28"/>
          <p:cNvSpPr/>
          <p:nvPr/>
        </p:nvSpPr>
        <p:spPr>
          <a:xfrm>
            <a:off x="5360670"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2" name="Shape 30"/>
          <p:cNvSpPr/>
          <p:nvPr/>
        </p:nvSpPr>
        <p:spPr>
          <a:xfrm>
            <a:off x="6325362"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4" name="Shape 32"/>
          <p:cNvSpPr/>
          <p:nvPr/>
        </p:nvSpPr>
        <p:spPr>
          <a:xfrm>
            <a:off x="7290054"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6" name="Shape 34"/>
          <p:cNvSpPr/>
          <p:nvPr/>
        </p:nvSpPr>
        <p:spPr>
          <a:xfrm>
            <a:off x="8254746"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38" name="Shape 36"/>
          <p:cNvSpPr/>
          <p:nvPr/>
        </p:nvSpPr>
        <p:spPr>
          <a:xfrm>
            <a:off x="9219438"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0" name="Shape 38"/>
          <p:cNvSpPr/>
          <p:nvPr/>
        </p:nvSpPr>
        <p:spPr>
          <a:xfrm>
            <a:off x="10184130"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2" name="Shape 40"/>
          <p:cNvSpPr/>
          <p:nvPr/>
        </p:nvSpPr>
        <p:spPr>
          <a:xfrm>
            <a:off x="11148822"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D-6 ／ 生産計画：ライン編成（ラインバランシング）</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ネック工程がサイクルタイムを決める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タクトタイムは目標値、サイクルタイムは実績値（最も遅い工程の時間）。</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6949440" cy="777240"/>
          </a:xfrm>
          <a:prstGeom prst="rect">
            <a:avLst/>
          </a:prstGeom>
          <a:noFill/>
          <a:ln/>
        </p:spPr>
        <p:txBody>
          <a:bodyPr wrap="square" lIns="0" tIns="0" rIns="0" bIns="0" rtlCol="0" anchor="ctr"/>
          <a:lstStyle/>
          <a:p>
            <a:pPr indent="0" marL="0">
              <a:lnSpc>
                <a:spcPct val="125000"/>
              </a:lnSpc>
              <a:buNone/>
            </a:pPr>
            <a:r>
              <a:rPr lang="en-US" sz="950" dirty="0">
                <a:solidFill>
                  <a:srgbClr val="8A8A8A"/>
                </a:solidFill>
                <a:latin typeface="Yu Gothic" pitchFamily="34" charset="0"/>
                <a:ea typeface="Yu Gothic" pitchFamily="34" charset="-122"/>
                <a:cs typeface="Yu Gothic" pitchFamily="34" charset="-120"/>
              </a:rPr>
              <a:t>タクトタイムは「これだけの時間で1個作らなければならない」という目標値であるのに対し、サイクルタイムは実際に最も時間のかかる工程（ネック工程）で決まる実績値。両者の違いを区別したうえで、ネック工程をどう見つけるかが計算問題の鍵になる。</a:t>
            </a:r>
            <a:endParaRPr lang="en-US" sz="950" dirty="0"/>
          </a:p>
        </p:txBody>
      </p:sp>
      <p:sp>
        <p:nvSpPr>
          <p:cNvPr id="9" name="Text 7"/>
          <p:cNvSpPr txBox="1"/>
          <p:nvPr/>
        </p:nvSpPr>
        <p:spPr>
          <a:xfrm>
            <a:off x="502920" y="2560320"/>
            <a:ext cx="2286000" cy="484632"/>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タクトタイム</a:t>
            </a:r>
            <a:endParaRPr lang="en-US" sz="1000" dirty="0"/>
          </a:p>
        </p:txBody>
      </p:sp>
      <p:sp>
        <p:nvSpPr>
          <p:cNvPr id="10" name="Shape 8"/>
          <p:cNvSpPr/>
          <p:nvPr/>
        </p:nvSpPr>
        <p:spPr>
          <a:xfrm>
            <a:off x="2770632" y="2560320"/>
            <a:ext cx="0" cy="256032"/>
          </a:xfrm>
          <a:prstGeom prst="line">
            <a:avLst/>
          </a:prstGeom>
          <a:noFill/>
          <a:ln w="12700">
            <a:solidFill>
              <a:srgbClr val="E6E6E6"/>
            </a:solidFill>
            <a:prstDash val="solid"/>
          </a:ln>
        </p:spPr>
      </p:sp>
      <p:sp>
        <p:nvSpPr>
          <p:cNvPr id="11" name="Text 9"/>
          <p:cNvSpPr txBox="1"/>
          <p:nvPr/>
        </p:nvSpPr>
        <p:spPr>
          <a:xfrm>
            <a:off x="2926080" y="2560320"/>
            <a:ext cx="4526280" cy="484632"/>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実稼働時間 ÷ 必要生産数（目標値）</a:t>
            </a:r>
            <a:endParaRPr lang="en-US" sz="1000" dirty="0"/>
          </a:p>
        </p:txBody>
      </p:sp>
      <p:sp>
        <p:nvSpPr>
          <p:cNvPr id="12" name="Text 10"/>
          <p:cNvSpPr txBox="1"/>
          <p:nvPr/>
        </p:nvSpPr>
        <p:spPr>
          <a:xfrm>
            <a:off x="502920" y="3063240"/>
            <a:ext cx="2286000" cy="484632"/>
          </a:xfrm>
          <a:prstGeom prst="rect">
            <a:avLst/>
          </a:prstGeom>
          <a:noFill/>
          <a:ln/>
        </p:spPr>
        <p:txBody>
          <a:bodyPr wrap="square" lIns="0" tIns="0" rIns="0" bIns="0" rtlCol="0" anchor="t"/>
          <a:lstStyle/>
          <a:p>
            <a:pPr indent="0" marL="0">
              <a:buNone/>
            </a:pPr>
            <a:r>
              <a:rPr lang="en-US" sz="1000" b="1" dirty="0">
                <a:solidFill>
                  <a:srgbClr val="171717"/>
                </a:solidFill>
                <a:latin typeface="Yu Gothic" pitchFamily="34" charset="0"/>
                <a:ea typeface="Yu Gothic" pitchFamily="34" charset="-122"/>
                <a:cs typeface="Yu Gothic" pitchFamily="34" charset="-120"/>
              </a:rPr>
              <a:t>ラインバランシング効率</a:t>
            </a:r>
            <a:endParaRPr lang="en-US" sz="1000" dirty="0"/>
          </a:p>
        </p:txBody>
      </p:sp>
      <p:sp>
        <p:nvSpPr>
          <p:cNvPr id="13" name="Shape 11"/>
          <p:cNvSpPr/>
          <p:nvPr/>
        </p:nvSpPr>
        <p:spPr>
          <a:xfrm>
            <a:off x="2770632" y="3063240"/>
            <a:ext cx="0" cy="256032"/>
          </a:xfrm>
          <a:prstGeom prst="line">
            <a:avLst/>
          </a:prstGeom>
          <a:noFill/>
          <a:ln w="12700">
            <a:solidFill>
              <a:srgbClr val="E6E6E6"/>
            </a:solidFill>
            <a:prstDash val="solid"/>
          </a:ln>
        </p:spPr>
      </p:sp>
      <p:sp>
        <p:nvSpPr>
          <p:cNvPr id="14" name="Text 12"/>
          <p:cNvSpPr txBox="1"/>
          <p:nvPr/>
        </p:nvSpPr>
        <p:spPr>
          <a:xfrm>
            <a:off x="2926080" y="3063240"/>
            <a:ext cx="4526280" cy="484632"/>
          </a:xfrm>
          <a:prstGeom prst="rect">
            <a:avLst/>
          </a:prstGeom>
          <a:noFill/>
          <a:ln/>
        </p:spPr>
        <p:txBody>
          <a:bodyPr wrap="square" lIns="0" tIns="0" rIns="0" bIns="0" rtlCol="0" anchor="t"/>
          <a:lstStyle/>
          <a:p>
            <a:pPr indent="0" marL="0">
              <a:buNone/>
            </a:pPr>
            <a:r>
              <a:rPr lang="en-US" sz="1000" dirty="0">
                <a:solidFill>
                  <a:srgbClr val="8A8A8A"/>
                </a:solidFill>
                <a:latin typeface="Yu Gothic" pitchFamily="34" charset="0"/>
                <a:ea typeface="Yu Gothic" pitchFamily="34" charset="-122"/>
                <a:cs typeface="Yu Gothic" pitchFamily="34" charset="-120"/>
              </a:rPr>
              <a:t>各工程作業時間合計 ÷ (工程数×サイクルタイム) × 100</a:t>
            </a:r>
            <a:endParaRPr lang="en-US" sz="1000" dirty="0"/>
          </a:p>
        </p:txBody>
      </p:sp>
      <p:sp>
        <p:nvSpPr>
          <p:cNvPr id="15" name="Shape 13"/>
          <p:cNvSpPr/>
          <p:nvPr/>
        </p:nvSpPr>
        <p:spPr>
          <a:xfrm>
            <a:off x="502920" y="3657600"/>
            <a:ext cx="6949440" cy="0"/>
          </a:xfrm>
          <a:prstGeom prst="line">
            <a:avLst/>
          </a:prstGeom>
          <a:noFill/>
          <a:ln w="12700">
            <a:solidFill>
              <a:srgbClr val="E6E6E6"/>
            </a:solidFill>
            <a:prstDash val="solid"/>
          </a:ln>
        </p:spPr>
      </p:sp>
      <p:sp>
        <p:nvSpPr>
          <p:cNvPr id="16" name="Text 14"/>
          <p:cNvSpPr txBox="1"/>
          <p:nvPr/>
        </p:nvSpPr>
        <p:spPr>
          <a:xfrm>
            <a:off x="502920" y="3730752"/>
            <a:ext cx="6949440" cy="50292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分母のサイクルタイムには「平均」ではなく「最大（ネック工程）」の時間を使う。</a:t>
            </a:r>
            <a:endParaRPr lang="en-US" sz="950" dirty="0"/>
          </a:p>
        </p:txBody>
      </p:sp>
      <p:sp>
        <p:nvSpPr>
          <p:cNvPr id="17" name="Shape 15"/>
          <p:cNvSpPr/>
          <p:nvPr/>
        </p:nvSpPr>
        <p:spPr>
          <a:xfrm>
            <a:off x="7818120" y="4983480"/>
            <a:ext cx="3703320" cy="0"/>
          </a:xfrm>
          <a:prstGeom prst="line">
            <a:avLst/>
          </a:prstGeom>
          <a:noFill/>
          <a:ln w="19050">
            <a:solidFill>
              <a:srgbClr val="171717"/>
            </a:solidFill>
            <a:prstDash val="solid"/>
          </a:ln>
        </p:spPr>
      </p:sp>
      <p:sp>
        <p:nvSpPr>
          <p:cNvPr id="18" name="Shape 16"/>
          <p:cNvSpPr/>
          <p:nvPr/>
        </p:nvSpPr>
        <p:spPr>
          <a:xfrm>
            <a:off x="7818120" y="2733766"/>
            <a:ext cx="759181" cy="2249714"/>
          </a:xfrm>
          <a:prstGeom prst="rect">
            <a:avLst/>
          </a:prstGeom>
          <a:solidFill>
            <a:srgbClr val="F4F4F4"/>
          </a:solidFill>
          <a:ln w="12700">
            <a:solidFill>
              <a:srgbClr val="171717"/>
            </a:solidFill>
            <a:prstDash val="solid"/>
          </a:ln>
        </p:spPr>
      </p:sp>
      <p:sp>
        <p:nvSpPr>
          <p:cNvPr id="19" name="Text 17"/>
          <p:cNvSpPr txBox="1"/>
          <p:nvPr/>
        </p:nvSpPr>
        <p:spPr>
          <a:xfrm>
            <a:off x="7790688" y="2441158"/>
            <a:ext cx="814045" cy="256032"/>
          </a:xfrm>
          <a:prstGeom prst="rect">
            <a:avLst/>
          </a:prstGeom>
          <a:noFill/>
          <a:ln/>
        </p:spPr>
        <p:txBody>
          <a:bodyPr wrap="square" lIns="0" tIns="0" rIns="0" bIns="0" rtlCol="0" anchor="ctr"/>
          <a:lstStyle/>
          <a:p>
            <a:pPr algn="ctr" indent="0" marL="0">
              <a:buNone/>
            </a:pPr>
            <a:r>
              <a:rPr lang="en-US" sz="1050" dirty="0">
                <a:solidFill>
                  <a:srgbClr val="171717"/>
                </a:solidFill>
                <a:latin typeface="Consolas" pitchFamily="34" charset="0"/>
                <a:ea typeface="Consolas" pitchFamily="34" charset="-122"/>
                <a:cs typeface="Consolas" pitchFamily="34" charset="-120"/>
              </a:rPr>
              <a:t>200</a:t>
            </a:r>
            <a:endParaRPr lang="en-US" sz="1050" dirty="0"/>
          </a:p>
        </p:txBody>
      </p:sp>
      <p:sp>
        <p:nvSpPr>
          <p:cNvPr id="20" name="Text 18"/>
          <p:cNvSpPr txBox="1"/>
          <p:nvPr/>
        </p:nvSpPr>
        <p:spPr>
          <a:xfrm>
            <a:off x="7790688" y="5038344"/>
            <a:ext cx="814045" cy="274320"/>
          </a:xfrm>
          <a:prstGeom prst="rect">
            <a:avLst/>
          </a:prstGeom>
          <a:noFill/>
          <a:ln/>
        </p:spPr>
        <p:txBody>
          <a:bodyPr wrap="square" lIns="0" tIns="0" rIns="0" bIns="0" rtlCol="0" anchor="ctr"/>
          <a:lstStyle/>
          <a:p>
            <a:pPr algn="ctr" indent="0" marL="0">
              <a:buNone/>
            </a:pPr>
            <a:r>
              <a:rPr lang="en-US" sz="900" dirty="0">
                <a:solidFill>
                  <a:srgbClr val="171717"/>
                </a:solidFill>
                <a:latin typeface="Yu Gothic" pitchFamily="34" charset="0"/>
                <a:ea typeface="Yu Gothic" pitchFamily="34" charset="-122"/>
                <a:cs typeface="Yu Gothic" pitchFamily="34" charset="-120"/>
              </a:rPr>
              <a:t>第1工程</a:t>
            </a:r>
            <a:endParaRPr lang="en-US" sz="900" dirty="0"/>
          </a:p>
        </p:txBody>
      </p:sp>
      <p:sp>
        <p:nvSpPr>
          <p:cNvPr id="21" name="Shape 19"/>
          <p:cNvSpPr/>
          <p:nvPr/>
        </p:nvSpPr>
        <p:spPr>
          <a:xfrm>
            <a:off x="8799500" y="2148840"/>
            <a:ext cx="759181" cy="2834640"/>
          </a:xfrm>
          <a:prstGeom prst="rect">
            <a:avLst/>
          </a:prstGeom>
          <a:solidFill>
            <a:srgbClr val="FF3B1F"/>
          </a:solidFill>
          <a:ln w="12700">
            <a:solidFill>
              <a:srgbClr val="FF3B1F"/>
            </a:solidFill>
            <a:prstDash val="solid"/>
          </a:ln>
        </p:spPr>
      </p:sp>
      <p:sp>
        <p:nvSpPr>
          <p:cNvPr id="22" name="Text 20"/>
          <p:cNvSpPr txBox="1"/>
          <p:nvPr/>
        </p:nvSpPr>
        <p:spPr>
          <a:xfrm>
            <a:off x="8772068" y="1856232"/>
            <a:ext cx="814045" cy="256032"/>
          </a:xfrm>
          <a:prstGeom prst="rect">
            <a:avLst/>
          </a:prstGeom>
          <a:noFill/>
          <a:ln/>
        </p:spPr>
        <p:txBody>
          <a:bodyPr wrap="square" lIns="0" tIns="0" rIns="0" bIns="0" rtlCol="0" anchor="ctr"/>
          <a:lstStyle/>
          <a:p>
            <a:pPr algn="ctr" indent="0" marL="0">
              <a:buNone/>
            </a:pPr>
            <a:r>
              <a:rPr lang="en-US" sz="1300" b="1" dirty="0">
                <a:solidFill>
                  <a:srgbClr val="FF3B1F"/>
                </a:solidFill>
                <a:latin typeface="Consolas" pitchFamily="34" charset="0"/>
                <a:ea typeface="Consolas" pitchFamily="34" charset="-122"/>
                <a:cs typeface="Consolas" pitchFamily="34" charset="-120"/>
              </a:rPr>
              <a:t>252</a:t>
            </a:r>
            <a:endParaRPr lang="en-US" sz="1300" dirty="0"/>
          </a:p>
        </p:txBody>
      </p:sp>
      <p:sp>
        <p:nvSpPr>
          <p:cNvPr id="23" name="Text 21"/>
          <p:cNvSpPr txBox="1"/>
          <p:nvPr/>
        </p:nvSpPr>
        <p:spPr>
          <a:xfrm>
            <a:off x="8772068" y="5038344"/>
            <a:ext cx="814045" cy="274320"/>
          </a:xfrm>
          <a:prstGeom prst="rect">
            <a:avLst/>
          </a:prstGeom>
          <a:noFill/>
          <a:ln/>
        </p:spPr>
        <p:txBody>
          <a:bodyPr wrap="square" lIns="0" tIns="0" rIns="0" bIns="0" rtlCol="0" anchor="ctr"/>
          <a:lstStyle/>
          <a:p>
            <a:pPr algn="ctr" indent="0" marL="0">
              <a:buNone/>
            </a:pPr>
            <a:r>
              <a:rPr lang="en-US" sz="900" dirty="0">
                <a:solidFill>
                  <a:srgbClr val="171717"/>
                </a:solidFill>
                <a:latin typeface="Yu Gothic" pitchFamily="34" charset="0"/>
                <a:ea typeface="Yu Gothic" pitchFamily="34" charset="-122"/>
                <a:cs typeface="Yu Gothic" pitchFamily="34" charset="-120"/>
              </a:rPr>
              <a:t>第2工程</a:t>
            </a:r>
            <a:endParaRPr lang="en-US" sz="900" dirty="0"/>
          </a:p>
        </p:txBody>
      </p:sp>
      <p:sp>
        <p:nvSpPr>
          <p:cNvPr id="24" name="Shape 22"/>
          <p:cNvSpPr/>
          <p:nvPr/>
        </p:nvSpPr>
        <p:spPr>
          <a:xfrm>
            <a:off x="9780880" y="2958737"/>
            <a:ext cx="759181" cy="2024743"/>
          </a:xfrm>
          <a:prstGeom prst="rect">
            <a:avLst/>
          </a:prstGeom>
          <a:solidFill>
            <a:srgbClr val="F4F4F4"/>
          </a:solidFill>
          <a:ln w="12700">
            <a:solidFill>
              <a:srgbClr val="171717"/>
            </a:solidFill>
            <a:prstDash val="solid"/>
          </a:ln>
        </p:spPr>
      </p:sp>
      <p:sp>
        <p:nvSpPr>
          <p:cNvPr id="25" name="Text 23"/>
          <p:cNvSpPr txBox="1"/>
          <p:nvPr/>
        </p:nvSpPr>
        <p:spPr>
          <a:xfrm>
            <a:off x="9753448" y="2666129"/>
            <a:ext cx="814045" cy="256032"/>
          </a:xfrm>
          <a:prstGeom prst="rect">
            <a:avLst/>
          </a:prstGeom>
          <a:noFill/>
          <a:ln/>
        </p:spPr>
        <p:txBody>
          <a:bodyPr wrap="square" lIns="0" tIns="0" rIns="0" bIns="0" rtlCol="0" anchor="ctr"/>
          <a:lstStyle/>
          <a:p>
            <a:pPr algn="ctr" indent="0" marL="0">
              <a:buNone/>
            </a:pPr>
            <a:r>
              <a:rPr lang="en-US" sz="1050" dirty="0">
                <a:solidFill>
                  <a:srgbClr val="171717"/>
                </a:solidFill>
                <a:latin typeface="Consolas" pitchFamily="34" charset="0"/>
                <a:ea typeface="Consolas" pitchFamily="34" charset="-122"/>
                <a:cs typeface="Consolas" pitchFamily="34" charset="-120"/>
              </a:rPr>
              <a:t>180</a:t>
            </a:r>
            <a:endParaRPr lang="en-US" sz="1050" dirty="0"/>
          </a:p>
        </p:txBody>
      </p:sp>
      <p:sp>
        <p:nvSpPr>
          <p:cNvPr id="26" name="Text 24"/>
          <p:cNvSpPr txBox="1"/>
          <p:nvPr/>
        </p:nvSpPr>
        <p:spPr>
          <a:xfrm>
            <a:off x="9753448" y="5038344"/>
            <a:ext cx="814045" cy="274320"/>
          </a:xfrm>
          <a:prstGeom prst="rect">
            <a:avLst/>
          </a:prstGeom>
          <a:noFill/>
          <a:ln/>
        </p:spPr>
        <p:txBody>
          <a:bodyPr wrap="square" lIns="0" tIns="0" rIns="0" bIns="0" rtlCol="0" anchor="ctr"/>
          <a:lstStyle/>
          <a:p>
            <a:pPr algn="ctr" indent="0" marL="0">
              <a:buNone/>
            </a:pPr>
            <a:r>
              <a:rPr lang="en-US" sz="900" dirty="0">
                <a:solidFill>
                  <a:srgbClr val="171717"/>
                </a:solidFill>
                <a:latin typeface="Yu Gothic" pitchFamily="34" charset="0"/>
                <a:ea typeface="Yu Gothic" pitchFamily="34" charset="-122"/>
                <a:cs typeface="Yu Gothic" pitchFamily="34" charset="-120"/>
              </a:rPr>
              <a:t>第3工程</a:t>
            </a:r>
            <a:endParaRPr lang="en-US" sz="900" dirty="0"/>
          </a:p>
        </p:txBody>
      </p:sp>
      <p:sp>
        <p:nvSpPr>
          <p:cNvPr id="27" name="Shape 25"/>
          <p:cNvSpPr/>
          <p:nvPr/>
        </p:nvSpPr>
        <p:spPr>
          <a:xfrm>
            <a:off x="10762259" y="2508794"/>
            <a:ext cx="759181" cy="2474686"/>
          </a:xfrm>
          <a:prstGeom prst="rect">
            <a:avLst/>
          </a:prstGeom>
          <a:solidFill>
            <a:srgbClr val="F4F4F4"/>
          </a:solidFill>
          <a:ln w="12700">
            <a:solidFill>
              <a:srgbClr val="171717"/>
            </a:solidFill>
            <a:prstDash val="solid"/>
          </a:ln>
        </p:spPr>
      </p:sp>
      <p:sp>
        <p:nvSpPr>
          <p:cNvPr id="28" name="Text 26"/>
          <p:cNvSpPr txBox="1"/>
          <p:nvPr/>
        </p:nvSpPr>
        <p:spPr>
          <a:xfrm>
            <a:off x="10734827" y="2216186"/>
            <a:ext cx="814045" cy="256032"/>
          </a:xfrm>
          <a:prstGeom prst="rect">
            <a:avLst/>
          </a:prstGeom>
          <a:noFill/>
          <a:ln/>
        </p:spPr>
        <p:txBody>
          <a:bodyPr wrap="square" lIns="0" tIns="0" rIns="0" bIns="0" rtlCol="0" anchor="ctr"/>
          <a:lstStyle/>
          <a:p>
            <a:pPr algn="ctr" indent="0" marL="0">
              <a:buNone/>
            </a:pPr>
            <a:r>
              <a:rPr lang="en-US" sz="1050" dirty="0">
                <a:solidFill>
                  <a:srgbClr val="171717"/>
                </a:solidFill>
                <a:latin typeface="Consolas" pitchFamily="34" charset="0"/>
                <a:ea typeface="Consolas" pitchFamily="34" charset="-122"/>
                <a:cs typeface="Consolas" pitchFamily="34" charset="-120"/>
              </a:rPr>
              <a:t>220</a:t>
            </a:r>
            <a:endParaRPr lang="en-US" sz="1050" dirty="0"/>
          </a:p>
        </p:txBody>
      </p:sp>
      <p:sp>
        <p:nvSpPr>
          <p:cNvPr id="29" name="Text 27"/>
          <p:cNvSpPr txBox="1"/>
          <p:nvPr/>
        </p:nvSpPr>
        <p:spPr>
          <a:xfrm>
            <a:off x="10734827" y="5038344"/>
            <a:ext cx="814045" cy="274320"/>
          </a:xfrm>
          <a:prstGeom prst="rect">
            <a:avLst/>
          </a:prstGeom>
          <a:noFill/>
          <a:ln/>
        </p:spPr>
        <p:txBody>
          <a:bodyPr wrap="square" lIns="0" tIns="0" rIns="0" bIns="0" rtlCol="0" anchor="ctr"/>
          <a:lstStyle/>
          <a:p>
            <a:pPr algn="ctr" indent="0" marL="0">
              <a:buNone/>
            </a:pPr>
            <a:r>
              <a:rPr lang="en-US" sz="900" dirty="0">
                <a:solidFill>
                  <a:srgbClr val="171717"/>
                </a:solidFill>
                <a:latin typeface="Yu Gothic" pitchFamily="34" charset="0"/>
                <a:ea typeface="Yu Gothic" pitchFamily="34" charset="-122"/>
                <a:cs typeface="Yu Gothic" pitchFamily="34" charset="-120"/>
              </a:rPr>
              <a:t>第4工程</a:t>
            </a:r>
            <a:endParaRPr lang="en-US" sz="900" dirty="0"/>
          </a:p>
        </p:txBody>
      </p:sp>
      <p:sp>
        <p:nvSpPr>
          <p:cNvPr id="30" name="Text 28"/>
          <p:cNvSpPr txBox="1"/>
          <p:nvPr/>
        </p:nvSpPr>
        <p:spPr>
          <a:xfrm>
            <a:off x="7543800" y="5394960"/>
            <a:ext cx="4251960" cy="274320"/>
          </a:xfrm>
          <a:prstGeom prst="rect">
            <a:avLst/>
          </a:prstGeom>
          <a:noFill/>
          <a:ln/>
        </p:spPr>
        <p:txBody>
          <a:bodyPr wrap="square" lIns="0" tIns="0" rIns="0" bIns="0" rtlCol="0" anchor="ctr"/>
          <a:lstStyle/>
          <a:p>
            <a:pPr algn="ctr" indent="0" marL="0">
              <a:buNone/>
            </a:pPr>
            <a:r>
              <a:rPr lang="en-US" sz="900" dirty="0">
                <a:solidFill>
                  <a:srgbClr val="8A8A8A"/>
                </a:solidFill>
                <a:latin typeface="Yu Gothic" pitchFamily="34" charset="0"/>
                <a:ea typeface="Yu Gothic" pitchFamily="34" charset="-122"/>
                <a:cs typeface="Yu Gothic" pitchFamily="34" charset="-120"/>
              </a:rPr>
              <a:t>第2工程（赤）がネック＝サイクルタイム252秒</a:t>
            </a:r>
            <a:endParaRPr lang="en-US" sz="900" dirty="0"/>
          </a:p>
        </p:txBody>
      </p:sp>
      <p:sp>
        <p:nvSpPr>
          <p:cNvPr id="31" name="Shape 29"/>
          <p:cNvSpPr/>
          <p:nvPr/>
        </p:nvSpPr>
        <p:spPr>
          <a:xfrm>
            <a:off x="502920" y="5989320"/>
            <a:ext cx="11201400" cy="0"/>
          </a:xfrm>
          <a:prstGeom prst="line">
            <a:avLst/>
          </a:prstGeom>
          <a:noFill/>
          <a:ln w="9525">
            <a:solidFill>
              <a:srgbClr val="171717"/>
            </a:solidFill>
            <a:prstDash val="solid"/>
          </a:ln>
        </p:spPr>
      </p:sp>
      <p:sp>
        <p:nvSpPr>
          <p:cNvPr id="32" name="Shape 30"/>
          <p:cNvSpPr/>
          <p:nvPr/>
        </p:nvSpPr>
        <p:spPr>
          <a:xfrm>
            <a:off x="502920" y="6062472"/>
            <a:ext cx="329184" cy="329184"/>
          </a:xfrm>
          <a:prstGeom prst="ellipse">
            <a:avLst/>
          </a:prstGeom>
          <a:solidFill>
            <a:srgbClr val="FF3B1F"/>
          </a:solidFill>
          <a:ln/>
        </p:spPr>
      </p:sp>
      <p:sp>
        <p:nvSpPr>
          <p:cNvPr id="33" name="Text 31"/>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4" name="Text 32"/>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35" name="Shape 33"/>
          <p:cNvSpPr/>
          <p:nvPr/>
        </p:nvSpPr>
        <p:spPr>
          <a:xfrm>
            <a:off x="2331720" y="6062472"/>
            <a:ext cx="0" cy="329184"/>
          </a:xfrm>
          <a:prstGeom prst="line">
            <a:avLst/>
          </a:prstGeom>
          <a:noFill/>
          <a:ln w="12700">
            <a:solidFill>
              <a:srgbClr val="E6E6E6"/>
            </a:solidFill>
            <a:prstDash val="solid"/>
          </a:ln>
        </p:spPr>
      </p:sp>
      <p:sp>
        <p:nvSpPr>
          <p:cNvPr id="36" name="Text 34"/>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具体例：852秒÷(4×252秒)×100＝約84.5％、バランスロス率約15.5％。</a:t>
            </a:r>
            <a:endParaRPr lang="en-US" sz="1000" dirty="0"/>
          </a:p>
        </p:txBody>
      </p:sp>
      <p:sp>
        <p:nvSpPr>
          <p:cNvPr id="37" name="Text 35"/>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8" name="Shape 36"/>
          <p:cNvSpPr/>
          <p:nvPr/>
        </p:nvSpPr>
        <p:spPr>
          <a:xfrm>
            <a:off x="2466594"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40" name="Shape 38"/>
          <p:cNvSpPr/>
          <p:nvPr/>
        </p:nvSpPr>
        <p:spPr>
          <a:xfrm>
            <a:off x="3431286"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42" name="Shape 40"/>
          <p:cNvSpPr/>
          <p:nvPr/>
        </p:nvSpPr>
        <p:spPr>
          <a:xfrm>
            <a:off x="4395978"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44" name="Shape 42"/>
          <p:cNvSpPr/>
          <p:nvPr/>
        </p:nvSpPr>
        <p:spPr>
          <a:xfrm>
            <a:off x="5360670"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46" name="Shape 44"/>
          <p:cNvSpPr/>
          <p:nvPr/>
        </p:nvSpPr>
        <p:spPr>
          <a:xfrm>
            <a:off x="6325362"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8" name="Shape 46"/>
          <p:cNvSpPr/>
          <p:nvPr/>
        </p:nvSpPr>
        <p:spPr>
          <a:xfrm>
            <a:off x="7290054"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50" name="Shape 48"/>
          <p:cNvSpPr/>
          <p:nvPr/>
        </p:nvSpPr>
        <p:spPr>
          <a:xfrm>
            <a:off x="8254746" y="6464808"/>
            <a:ext cx="146304" cy="146304"/>
          </a:xfrm>
          <a:prstGeom prst="ellipse">
            <a:avLst/>
          </a:prstGeom>
          <a:solidFill>
            <a:srgbClr val="FF3B1F"/>
          </a:solidFill>
          <a:ln w="12700">
            <a:solidFill>
              <a:srgbClr val="FF3B1F"/>
            </a:solidFill>
            <a:prstDash val="solid"/>
          </a:ln>
        </p:spPr>
      </p:sp>
      <p:sp>
        <p:nvSpPr>
          <p:cNvPr id="51" name="Text 49"/>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52" name="Shape 50"/>
          <p:cNvSpPr/>
          <p:nvPr/>
        </p:nvSpPr>
        <p:spPr>
          <a:xfrm>
            <a:off x="9219438" y="6464808"/>
            <a:ext cx="146304" cy="146304"/>
          </a:xfrm>
          <a:prstGeom prst="ellipse">
            <a:avLst/>
          </a:prstGeom>
          <a:solidFill>
            <a:srgbClr val="FF3B1F"/>
          </a:solidFill>
          <a:ln w="12700">
            <a:solidFill>
              <a:srgbClr val="FF3B1F"/>
            </a:solidFill>
            <a:prstDash val="solid"/>
          </a:ln>
        </p:spPr>
      </p:sp>
      <p:sp>
        <p:nvSpPr>
          <p:cNvPr id="53" name="Text 51"/>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54" name="Shape 52"/>
          <p:cNvSpPr/>
          <p:nvPr/>
        </p:nvSpPr>
        <p:spPr>
          <a:xfrm>
            <a:off x="10184130" y="6464808"/>
            <a:ext cx="146304" cy="146304"/>
          </a:xfrm>
          <a:prstGeom prst="ellipse">
            <a:avLst/>
          </a:prstGeom>
          <a:solidFill>
            <a:srgbClr val="FF3B1F"/>
          </a:solidFill>
          <a:ln w="12700">
            <a:solidFill>
              <a:srgbClr val="FF3B1F"/>
            </a:solidFill>
            <a:prstDash val="solid"/>
          </a:ln>
        </p:spPr>
      </p:sp>
      <p:sp>
        <p:nvSpPr>
          <p:cNvPr id="55" name="Text 53"/>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56" name="Shape 54"/>
          <p:cNvSpPr/>
          <p:nvPr/>
        </p:nvSpPr>
        <p:spPr>
          <a:xfrm>
            <a:off x="11148822" y="6464808"/>
            <a:ext cx="146304" cy="146304"/>
          </a:xfrm>
          <a:prstGeom prst="ellipse">
            <a:avLst/>
          </a:prstGeom>
          <a:solidFill>
            <a:srgbClr val="FF3B1F"/>
          </a:solidFill>
          <a:ln w="12700">
            <a:solidFill>
              <a:srgbClr val="FF3B1F"/>
            </a:solidFill>
            <a:prstDash val="solid"/>
          </a:ln>
        </p:spPr>
      </p:sp>
      <p:sp>
        <p:nvSpPr>
          <p:cNvPr id="57" name="Text 55"/>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D-6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第21問）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計算問題。前のスライドの公式で自分の手で計算してみる。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64008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ある工場では、1種類の製品をライン生産方式で生産することを計画している。1カ月の製品の必要生産数は2,000個、稼働日は20日である。1日の実稼働時間は7時間である。この生産ラインのタクトタイムが含まれる範囲として、最も適切なものはどれか。</a:t>
            </a:r>
            <a:endParaRPr lang="en-US" sz="1250" dirty="0"/>
          </a:p>
        </p:txBody>
      </p:sp>
      <p:sp>
        <p:nvSpPr>
          <p:cNvPr id="9" name="Text 7"/>
          <p:cNvSpPr txBox="1"/>
          <p:nvPr/>
        </p:nvSpPr>
        <p:spPr>
          <a:xfrm>
            <a:off x="731520" y="242316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100秒未満</a:t>
            </a:r>
            <a:endParaRPr lang="en-US" sz="1150" dirty="0"/>
          </a:p>
        </p:txBody>
      </p:sp>
      <p:sp>
        <p:nvSpPr>
          <p:cNvPr id="10" name="Text 8"/>
          <p:cNvSpPr txBox="1"/>
          <p:nvPr/>
        </p:nvSpPr>
        <p:spPr>
          <a:xfrm>
            <a:off x="731520" y="289864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100秒以上、200秒未満</a:t>
            </a:r>
            <a:endParaRPr lang="en-US" sz="1150" dirty="0"/>
          </a:p>
        </p:txBody>
      </p:sp>
      <p:sp>
        <p:nvSpPr>
          <p:cNvPr id="11" name="Text 9"/>
          <p:cNvSpPr txBox="1"/>
          <p:nvPr/>
        </p:nvSpPr>
        <p:spPr>
          <a:xfrm>
            <a:off x="731520" y="337413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200秒以上、300秒未満</a:t>
            </a:r>
            <a:endParaRPr lang="en-US" sz="1150" dirty="0"/>
          </a:p>
        </p:txBody>
      </p:sp>
      <p:sp>
        <p:nvSpPr>
          <p:cNvPr id="12" name="Text 10"/>
          <p:cNvSpPr txBox="1"/>
          <p:nvPr/>
        </p:nvSpPr>
        <p:spPr>
          <a:xfrm>
            <a:off x="731520" y="384962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300秒以上、400秒未満</a:t>
            </a:r>
            <a:endParaRPr lang="en-US" sz="1150" dirty="0"/>
          </a:p>
        </p:txBody>
      </p:sp>
      <p:sp>
        <p:nvSpPr>
          <p:cNvPr id="13" name="Text 11"/>
          <p:cNvSpPr txBox="1"/>
          <p:nvPr/>
        </p:nvSpPr>
        <p:spPr>
          <a:xfrm>
            <a:off x="731520" y="432511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400秒以上</a:t>
            </a:r>
            <a:endParaRPr lang="en-US" sz="1150" dirty="0"/>
          </a:p>
        </p:txBody>
      </p:sp>
      <p:sp>
        <p:nvSpPr>
          <p:cNvPr id="14" name="Text 12"/>
          <p:cNvSpPr txBox="1"/>
          <p:nvPr/>
        </p:nvSpPr>
        <p:spPr>
          <a:xfrm>
            <a:off x="502920" y="493776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出典：past_exams/1st_stage/1ji2025/D1JI2025.pdf（令和7年度第1次試験）第21問</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D-6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第21問）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正解はウ。タクトタイム＝25,200秒÷100個＝252秒/個。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100秒未満</a:t>
            </a:r>
            <a:endParaRPr lang="en-US" sz="1150" dirty="0"/>
          </a:p>
        </p:txBody>
      </p:sp>
      <p:sp>
        <p:nvSpPr>
          <p:cNvPr id="9" name="Text 7"/>
          <p:cNvSpPr txBox="1"/>
          <p:nvPr/>
        </p:nvSpPr>
        <p:spPr>
          <a:xfrm>
            <a:off x="731520" y="221284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100秒以上、200秒未満</a:t>
            </a:r>
            <a:endParaRPr lang="en-US" sz="1150" dirty="0"/>
          </a:p>
        </p:txBody>
      </p:sp>
      <p:sp>
        <p:nvSpPr>
          <p:cNvPr id="10" name="Shape 8"/>
          <p:cNvSpPr/>
          <p:nvPr/>
        </p:nvSpPr>
        <p:spPr>
          <a:xfrm>
            <a:off x="502920" y="2660904"/>
            <a:ext cx="11201400" cy="475488"/>
          </a:xfrm>
          <a:prstGeom prst="rect">
            <a:avLst/>
          </a:prstGeom>
          <a:solidFill>
            <a:srgbClr val="F4F4F4"/>
          </a:solidFill>
          <a:ln/>
        </p:spPr>
      </p:sp>
      <p:sp>
        <p:nvSpPr>
          <p:cNvPr id="11" name="Shape 9"/>
          <p:cNvSpPr/>
          <p:nvPr/>
        </p:nvSpPr>
        <p:spPr>
          <a:xfrm>
            <a:off x="502920" y="2660904"/>
            <a:ext cx="0" cy="475488"/>
          </a:xfrm>
          <a:prstGeom prst="line">
            <a:avLst/>
          </a:prstGeom>
          <a:noFill/>
          <a:ln w="38100">
            <a:solidFill>
              <a:srgbClr val="FF3B1F"/>
            </a:solidFill>
            <a:prstDash val="solid"/>
          </a:ln>
        </p:spPr>
      </p:sp>
      <p:sp>
        <p:nvSpPr>
          <p:cNvPr id="12" name="Text 10"/>
          <p:cNvSpPr txBox="1"/>
          <p:nvPr/>
        </p:nvSpPr>
        <p:spPr>
          <a:xfrm>
            <a:off x="731520" y="268833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200秒以上、300秒未満</a:t>
            </a:r>
            <a:endParaRPr lang="en-US" sz="1150" dirty="0"/>
          </a:p>
        </p:txBody>
      </p:sp>
      <p:sp>
        <p:nvSpPr>
          <p:cNvPr id="13" name="Text 11"/>
          <p:cNvSpPr txBox="1"/>
          <p:nvPr/>
        </p:nvSpPr>
        <p:spPr>
          <a:xfrm>
            <a:off x="731520" y="316382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300秒以上、400秒未満</a:t>
            </a:r>
            <a:endParaRPr lang="en-US" sz="1150" dirty="0"/>
          </a:p>
        </p:txBody>
      </p:sp>
      <p:sp>
        <p:nvSpPr>
          <p:cNvPr id="14" name="Text 12"/>
          <p:cNvSpPr txBox="1"/>
          <p:nvPr/>
        </p:nvSpPr>
        <p:spPr>
          <a:xfrm>
            <a:off x="731520" y="363931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400秒以上</a:t>
            </a:r>
            <a:endParaRPr lang="en-US" sz="1150" dirty="0"/>
          </a:p>
        </p:txBody>
      </p:sp>
      <p:sp>
        <p:nvSpPr>
          <p:cNvPr id="15" name="Shape 13"/>
          <p:cNvSpPr/>
          <p:nvPr/>
        </p:nvSpPr>
        <p:spPr>
          <a:xfrm>
            <a:off x="502920" y="4187952"/>
            <a:ext cx="11201400" cy="0"/>
          </a:xfrm>
          <a:prstGeom prst="line">
            <a:avLst/>
          </a:prstGeom>
          <a:noFill/>
          <a:ln w="12700">
            <a:solidFill>
              <a:srgbClr val="171717"/>
            </a:solidFill>
            <a:prstDash val="solid"/>
          </a:ln>
        </p:spPr>
      </p:sp>
      <p:sp>
        <p:nvSpPr>
          <p:cNvPr id="16" name="Text 14"/>
          <p:cNvSpPr txBox="1"/>
          <p:nvPr/>
        </p:nvSpPr>
        <p:spPr>
          <a:xfrm>
            <a:off x="502920" y="4279392"/>
            <a:ext cx="11201400" cy="640080"/>
          </a:xfrm>
          <a:prstGeom prst="rect">
            <a:avLst/>
          </a:prstGeom>
          <a:noFill/>
          <a:ln/>
        </p:spPr>
        <p:txBody>
          <a:bodyPr wrap="square" lIns="0" tIns="0" rIns="0" bIns="0" rtlCol="0" anchor="ctr"/>
          <a:lstStyle/>
          <a:p>
            <a:pPr indent="0" marL="0">
              <a:lnSpc>
                <a:spcPct val="120000"/>
              </a:lnSpc>
              <a:buNone/>
            </a:pPr>
            <a:r>
              <a:rPr lang="en-US" sz="1050" b="1" dirty="0">
                <a:solidFill>
                  <a:srgbClr val="FF3B1F"/>
                </a:solidFill>
                <a:latin typeface="Yu Gothic" pitchFamily="34" charset="0"/>
                <a:ea typeface="Yu Gothic" pitchFamily="34" charset="-122"/>
                <a:cs typeface="Yu Gothic" pitchFamily="34" charset="-120"/>
              </a:rPr>
              <a:t>正解：ウ</a:t>
            </a:r>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。①1日あたりの必要生産数＝2,000個÷20日＝100個/日。②1日の実稼働時間＝7時間＝25,200秒。③タクトタイム＝25,200秒÷100個＝</a:t>
            </a:r>
            <a:pPr indent="0" marL="0">
              <a:lnSpc>
                <a:spcPct val="120000"/>
              </a:lnSpc>
              <a:buNone/>
            </a:pPr>
            <a:r>
              <a:rPr lang="en-US" sz="1050" b="1" dirty="0">
                <a:solidFill>
                  <a:srgbClr val="171717"/>
                </a:solidFill>
                <a:latin typeface="Yu Gothic" pitchFamily="34" charset="0"/>
                <a:ea typeface="Yu Gothic" pitchFamily="34" charset="-122"/>
                <a:cs typeface="Yu Gothic" pitchFamily="34" charset="-120"/>
              </a:rPr>
              <a:t>252秒/個</a:t>
            </a:r>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。252秒は「200秒以上、300秒未満」に含まれる。</a:t>
            </a:r>
            <a:endParaRPr lang="en-US" sz="1050" dirty="0"/>
          </a:p>
        </p:txBody>
      </p:sp>
      <p:sp>
        <p:nvSpPr>
          <p:cNvPr id="17" name="Text 15"/>
          <p:cNvSpPr txBox="1"/>
          <p:nvPr/>
        </p:nvSpPr>
        <p:spPr>
          <a:xfrm>
            <a:off x="502920" y="4992624"/>
            <a:ext cx="11201400" cy="4572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タクトタイムは「必要な生産量を稼働時間内に満たすには1個あたり何秒で生産すればよいか」を表す目標値で、ラインバランシングの前提となる基準時間として使われる。</a:t>
            </a:r>
            <a:endParaRPr lang="en-US" sz="850" dirty="0"/>
          </a:p>
        </p:txBody>
      </p:sp>
      <p:sp>
        <p:nvSpPr>
          <p:cNvPr id="18" name="Text 16"/>
          <p:cNvSpPr txBox="1"/>
          <p:nvPr/>
        </p:nvSpPr>
        <p:spPr>
          <a:xfrm>
            <a:off x="502920" y="5522976"/>
            <a:ext cx="11201400" cy="27432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関連知識：docs/07_key_formulas_and_frameworks.mdのラインバランシング効率の分母にこのタクトタイムを使う。</a:t>
            </a:r>
            <a:endParaRPr lang="en-US" sz="1000" dirty="0"/>
          </a:p>
        </p:txBody>
      </p:sp>
      <p:sp>
        <p:nvSpPr>
          <p:cNvPr id="19" name="Text 17"/>
          <p:cNvSpPr txBox="1"/>
          <p:nvPr/>
        </p:nvSpPr>
        <p:spPr>
          <a:xfrm>
            <a:off x="502920" y="5870448"/>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出典：past_exams/1st_stage/1ji2025/D1JI2025.pdf（令和7年度第1次試験）第21問／正解：past_exams/1st_stage_answers/r07/d_v2_20250902.pdf</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D-7 ／ 生産計画：需要予測</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αが大きいほど直近実績を重視</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移動平均法は均等ウェイト、指数平滑法は直近ほど大きなウェイト。</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82880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移動平均法</a:t>
            </a:r>
            <a:endParaRPr lang="en-US" sz="1100" dirty="0"/>
          </a:p>
        </p:txBody>
      </p:sp>
      <p:sp>
        <p:nvSpPr>
          <p:cNvPr id="9" name="Shape 7"/>
          <p:cNvSpPr/>
          <p:nvPr/>
        </p:nvSpPr>
        <p:spPr>
          <a:xfrm>
            <a:off x="2313432" y="1691640"/>
            <a:ext cx="0" cy="256032"/>
          </a:xfrm>
          <a:prstGeom prst="line">
            <a:avLst/>
          </a:prstGeom>
          <a:noFill/>
          <a:ln w="12700">
            <a:solidFill>
              <a:srgbClr val="E6E6E6"/>
            </a:solidFill>
            <a:prstDash val="solid"/>
          </a:ln>
        </p:spPr>
      </p:sp>
      <p:sp>
        <p:nvSpPr>
          <p:cNvPr id="10" name="Text 8"/>
          <p:cNvSpPr txBox="1"/>
          <p:nvPr/>
        </p:nvSpPr>
        <p:spPr>
          <a:xfrm>
            <a:off x="2468880" y="1691640"/>
            <a:ext cx="923544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直近n期間の実績値の単純平均。各期に均等なウェイト</a:t>
            </a:r>
            <a:endParaRPr lang="en-US" sz="1100" dirty="0"/>
          </a:p>
        </p:txBody>
      </p:sp>
      <p:sp>
        <p:nvSpPr>
          <p:cNvPr id="11" name="Text 9"/>
          <p:cNvSpPr txBox="1"/>
          <p:nvPr/>
        </p:nvSpPr>
        <p:spPr>
          <a:xfrm>
            <a:off x="502920" y="2075688"/>
            <a:ext cx="182880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指数平滑法</a:t>
            </a:r>
            <a:endParaRPr lang="en-US" sz="1100" dirty="0"/>
          </a:p>
        </p:txBody>
      </p:sp>
      <p:sp>
        <p:nvSpPr>
          <p:cNvPr id="12" name="Shape 10"/>
          <p:cNvSpPr/>
          <p:nvPr/>
        </p:nvSpPr>
        <p:spPr>
          <a:xfrm>
            <a:off x="2313432" y="2075688"/>
            <a:ext cx="0" cy="256032"/>
          </a:xfrm>
          <a:prstGeom prst="line">
            <a:avLst/>
          </a:prstGeom>
          <a:noFill/>
          <a:ln w="12700">
            <a:solidFill>
              <a:srgbClr val="E6E6E6"/>
            </a:solidFill>
            <a:prstDash val="solid"/>
          </a:ln>
        </p:spPr>
      </p:sp>
      <p:sp>
        <p:nvSpPr>
          <p:cNvPr id="13" name="Text 11"/>
          <p:cNvSpPr txBox="1"/>
          <p:nvPr/>
        </p:nvSpPr>
        <p:spPr>
          <a:xfrm>
            <a:off x="2468880" y="2075688"/>
            <a:ext cx="923544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次期予測値＝α×当期実績値＋(1－α)×当期予測値</a:t>
            </a:r>
            <a:endParaRPr lang="en-US" sz="1100" dirty="0"/>
          </a:p>
        </p:txBody>
      </p:sp>
      <p:sp>
        <p:nvSpPr>
          <p:cNvPr id="14" name="Text 12"/>
          <p:cNvSpPr txBox="1"/>
          <p:nvPr/>
        </p:nvSpPr>
        <p:spPr>
          <a:xfrm>
            <a:off x="502920" y="2551176"/>
            <a:ext cx="11201400" cy="50292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先月実績100個・予測90個。α＝0.3→次期予測93個。α＝0.6→次期予測96個。αが大きいほど直近実績（100個）に近づく。</a:t>
            </a:r>
            <a:endParaRPr lang="en-US" sz="850" dirty="0"/>
          </a:p>
        </p:txBody>
      </p:sp>
      <p:sp>
        <p:nvSpPr>
          <p:cNvPr id="15" name="Shape 13"/>
          <p:cNvSpPr/>
          <p:nvPr/>
        </p:nvSpPr>
        <p:spPr>
          <a:xfrm>
            <a:off x="502920" y="3127248"/>
            <a:ext cx="11201400" cy="0"/>
          </a:xfrm>
          <a:prstGeom prst="line">
            <a:avLst/>
          </a:prstGeom>
          <a:noFill/>
          <a:ln w="12700">
            <a:solidFill>
              <a:srgbClr val="E6E6E6"/>
            </a:solidFill>
            <a:prstDash val="solid"/>
          </a:ln>
        </p:spPr>
      </p:sp>
      <p:sp>
        <p:nvSpPr>
          <p:cNvPr id="16" name="Text 14"/>
          <p:cNvSpPr txBox="1"/>
          <p:nvPr/>
        </p:nvSpPr>
        <p:spPr>
          <a:xfrm>
            <a:off x="502920" y="3200400"/>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「αが大きいほど予測が安定する」は誤り。αが大きいほど直近実績への反応が敏感になり予測は振れやすくなる。</a:t>
            </a:r>
            <a:endParaRPr lang="en-US" sz="950" dirty="0"/>
          </a:p>
        </p:txBody>
      </p:sp>
      <p:sp>
        <p:nvSpPr>
          <p:cNvPr id="17" name="Shape 15"/>
          <p:cNvSpPr/>
          <p:nvPr/>
        </p:nvSpPr>
        <p:spPr>
          <a:xfrm>
            <a:off x="502920" y="5989320"/>
            <a:ext cx="11201400" cy="0"/>
          </a:xfrm>
          <a:prstGeom prst="line">
            <a:avLst/>
          </a:prstGeom>
          <a:noFill/>
          <a:ln w="9525">
            <a:solidFill>
              <a:srgbClr val="171717"/>
            </a:solidFill>
            <a:prstDash val="solid"/>
          </a:ln>
        </p:spPr>
      </p:sp>
      <p:sp>
        <p:nvSpPr>
          <p:cNvPr id="18" name="Shape 16"/>
          <p:cNvSpPr/>
          <p:nvPr/>
        </p:nvSpPr>
        <p:spPr>
          <a:xfrm>
            <a:off x="502920" y="6062472"/>
            <a:ext cx="329184" cy="329184"/>
          </a:xfrm>
          <a:prstGeom prst="ellipse">
            <a:avLst/>
          </a:prstGeom>
          <a:solidFill>
            <a:srgbClr val="FF3B1F"/>
          </a:solidFill>
          <a:ln/>
        </p:spPr>
      </p:sp>
      <p:sp>
        <p:nvSpPr>
          <p:cNvPr id="19" name="Text 17"/>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0" name="Text 18"/>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1" name="Shape 19"/>
          <p:cNvSpPr/>
          <p:nvPr/>
        </p:nvSpPr>
        <p:spPr>
          <a:xfrm>
            <a:off x="2331720" y="6062472"/>
            <a:ext cx="0" cy="329184"/>
          </a:xfrm>
          <a:prstGeom prst="line">
            <a:avLst/>
          </a:prstGeom>
          <a:noFill/>
          <a:ln w="12700">
            <a:solidFill>
              <a:srgbClr val="E6E6E6"/>
            </a:solidFill>
            <a:prstDash val="solid"/>
          </a:ln>
        </p:spPr>
      </p:sp>
      <p:sp>
        <p:nvSpPr>
          <p:cNvPr id="22" name="Text 20"/>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関連：D-31 商品在庫管理・需要予測（店舗版でも同じ考え方を使う）。</a:t>
            </a:r>
            <a:endParaRPr lang="en-US" sz="1000" dirty="0"/>
          </a:p>
        </p:txBody>
      </p:sp>
      <p:sp>
        <p:nvSpPr>
          <p:cNvPr id="23" name="Text 21"/>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4" name="Shape 22"/>
          <p:cNvSpPr/>
          <p:nvPr/>
        </p:nvSpPr>
        <p:spPr>
          <a:xfrm>
            <a:off x="2466594" y="6464808"/>
            <a:ext cx="146304" cy="146304"/>
          </a:xfrm>
          <a:prstGeom prst="ellipse">
            <a:avLst/>
          </a:prstGeom>
          <a:solidFill>
            <a:srgbClr val="FFFFFF"/>
          </a:solidFill>
          <a:ln w="12700">
            <a:solidFill>
              <a:srgbClr val="E6E6E6"/>
            </a:solidFill>
            <a:prstDash val="solid"/>
          </a:ln>
        </p:spPr>
      </p:sp>
      <p:sp>
        <p:nvSpPr>
          <p:cNvPr id="25" name="Text 23"/>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6" name="Shape 24"/>
          <p:cNvSpPr/>
          <p:nvPr/>
        </p:nvSpPr>
        <p:spPr>
          <a:xfrm>
            <a:off x="3431286" y="6464808"/>
            <a:ext cx="146304" cy="146304"/>
          </a:xfrm>
          <a:prstGeom prst="ellipse">
            <a:avLst/>
          </a:prstGeom>
          <a:solidFill>
            <a:srgbClr val="FFFFFF"/>
          </a:solidFill>
          <a:ln w="12700">
            <a:solidFill>
              <a:srgbClr val="E6E6E6"/>
            </a:solidFill>
            <a:prstDash val="solid"/>
          </a:ln>
        </p:spPr>
      </p:sp>
      <p:sp>
        <p:nvSpPr>
          <p:cNvPr id="27" name="Text 25"/>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28" name="Shape 26"/>
          <p:cNvSpPr/>
          <p:nvPr/>
        </p:nvSpPr>
        <p:spPr>
          <a:xfrm>
            <a:off x="4395978" y="6464808"/>
            <a:ext cx="146304" cy="146304"/>
          </a:xfrm>
          <a:prstGeom prst="ellipse">
            <a:avLst/>
          </a:prstGeom>
          <a:solidFill>
            <a:srgbClr val="FF3B1F"/>
          </a:solidFill>
          <a:ln w="12700">
            <a:solidFill>
              <a:srgbClr val="FF3B1F"/>
            </a:solidFill>
            <a:prstDash val="solid"/>
          </a:ln>
        </p:spPr>
      </p:sp>
      <p:sp>
        <p:nvSpPr>
          <p:cNvPr id="29" name="Text 27"/>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0" name="Shape 28"/>
          <p:cNvSpPr/>
          <p:nvPr/>
        </p:nvSpPr>
        <p:spPr>
          <a:xfrm>
            <a:off x="5360670"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2" name="Shape 30"/>
          <p:cNvSpPr/>
          <p:nvPr/>
        </p:nvSpPr>
        <p:spPr>
          <a:xfrm>
            <a:off x="6325362"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4" name="Shape 32"/>
          <p:cNvSpPr/>
          <p:nvPr/>
        </p:nvSpPr>
        <p:spPr>
          <a:xfrm>
            <a:off x="7290054"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6" name="Shape 34"/>
          <p:cNvSpPr/>
          <p:nvPr/>
        </p:nvSpPr>
        <p:spPr>
          <a:xfrm>
            <a:off x="8254746"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38" name="Shape 36"/>
          <p:cNvSpPr/>
          <p:nvPr/>
        </p:nvSpPr>
        <p:spPr>
          <a:xfrm>
            <a:off x="9219438"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0" name="Shape 38"/>
          <p:cNvSpPr/>
          <p:nvPr/>
        </p:nvSpPr>
        <p:spPr>
          <a:xfrm>
            <a:off x="10184130"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2" name="Shape 40"/>
          <p:cNvSpPr/>
          <p:nvPr/>
        </p:nvSpPr>
        <p:spPr>
          <a:xfrm>
            <a:off x="11148822"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D-8 ／ 生産計画：需給計画（MRP、MPS、BOM）</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総所要量から在庫・入庫予定を引く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MPS（生産計画）とBOM（部品表）から必要部品を展開し、正味所要量を計算する。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55448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MPS</a:t>
            </a:r>
            <a:endParaRPr lang="en-US" sz="1100" dirty="0"/>
          </a:p>
        </p:txBody>
      </p:sp>
      <p:sp>
        <p:nvSpPr>
          <p:cNvPr id="9" name="Shape 7"/>
          <p:cNvSpPr/>
          <p:nvPr/>
        </p:nvSpPr>
        <p:spPr>
          <a:xfrm>
            <a:off x="2039112" y="1691640"/>
            <a:ext cx="0" cy="256032"/>
          </a:xfrm>
          <a:prstGeom prst="line">
            <a:avLst/>
          </a:prstGeom>
          <a:noFill/>
          <a:ln w="12700">
            <a:solidFill>
              <a:srgbClr val="E6E6E6"/>
            </a:solidFill>
            <a:prstDash val="solid"/>
          </a:ln>
        </p:spPr>
      </p:sp>
      <p:sp>
        <p:nvSpPr>
          <p:cNvPr id="10" name="Text 8"/>
          <p:cNvSpPr txBox="1"/>
          <p:nvPr/>
        </p:nvSpPr>
        <p:spPr>
          <a:xfrm>
            <a:off x="2194560" y="1691640"/>
            <a:ext cx="950976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最終製品を「いつ・いくつ作るか」定めた基準生産計画</a:t>
            </a:r>
            <a:endParaRPr lang="en-US" sz="1100" dirty="0"/>
          </a:p>
        </p:txBody>
      </p:sp>
      <p:sp>
        <p:nvSpPr>
          <p:cNvPr id="11" name="Text 9"/>
          <p:cNvSpPr txBox="1"/>
          <p:nvPr/>
        </p:nvSpPr>
        <p:spPr>
          <a:xfrm>
            <a:off x="502920" y="2075688"/>
            <a:ext cx="155448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BOM</a:t>
            </a:r>
            <a:endParaRPr lang="en-US" sz="1100" dirty="0"/>
          </a:p>
        </p:txBody>
      </p:sp>
      <p:sp>
        <p:nvSpPr>
          <p:cNvPr id="12" name="Shape 10"/>
          <p:cNvSpPr/>
          <p:nvPr/>
        </p:nvSpPr>
        <p:spPr>
          <a:xfrm>
            <a:off x="2039112" y="2075688"/>
            <a:ext cx="0" cy="256032"/>
          </a:xfrm>
          <a:prstGeom prst="line">
            <a:avLst/>
          </a:prstGeom>
          <a:noFill/>
          <a:ln w="12700">
            <a:solidFill>
              <a:srgbClr val="E6E6E6"/>
            </a:solidFill>
            <a:prstDash val="solid"/>
          </a:ln>
        </p:spPr>
      </p:sp>
      <p:sp>
        <p:nvSpPr>
          <p:cNvPr id="13" name="Text 11"/>
          <p:cNvSpPr txBox="1"/>
          <p:nvPr/>
        </p:nvSpPr>
        <p:spPr>
          <a:xfrm>
            <a:off x="2194560" y="2075688"/>
            <a:ext cx="950976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製品1個に必要な部品・員数を示す部品表</a:t>
            </a:r>
            <a:endParaRPr lang="en-US" sz="1100" dirty="0"/>
          </a:p>
        </p:txBody>
      </p:sp>
      <p:sp>
        <p:nvSpPr>
          <p:cNvPr id="14" name="Text 12"/>
          <p:cNvSpPr txBox="1"/>
          <p:nvPr/>
        </p:nvSpPr>
        <p:spPr>
          <a:xfrm>
            <a:off x="502920" y="2459736"/>
            <a:ext cx="155448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正味所要量</a:t>
            </a:r>
            <a:endParaRPr lang="en-US" sz="1100" dirty="0"/>
          </a:p>
        </p:txBody>
      </p:sp>
      <p:sp>
        <p:nvSpPr>
          <p:cNvPr id="15" name="Shape 13"/>
          <p:cNvSpPr/>
          <p:nvPr/>
        </p:nvSpPr>
        <p:spPr>
          <a:xfrm>
            <a:off x="2039112" y="2459736"/>
            <a:ext cx="0" cy="256032"/>
          </a:xfrm>
          <a:prstGeom prst="line">
            <a:avLst/>
          </a:prstGeom>
          <a:noFill/>
          <a:ln w="12700">
            <a:solidFill>
              <a:srgbClr val="E6E6E6"/>
            </a:solidFill>
            <a:prstDash val="solid"/>
          </a:ln>
        </p:spPr>
      </p:sp>
      <p:sp>
        <p:nvSpPr>
          <p:cNvPr id="16" name="Text 14"/>
          <p:cNvSpPr txBox="1"/>
          <p:nvPr/>
        </p:nvSpPr>
        <p:spPr>
          <a:xfrm>
            <a:off x="2194560" y="2459736"/>
            <a:ext cx="950976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総所要量－（現在庫＋入庫予定）</a:t>
            </a:r>
            <a:endParaRPr lang="en-US" sz="1100" dirty="0"/>
          </a:p>
        </p:txBody>
      </p:sp>
      <p:sp>
        <p:nvSpPr>
          <p:cNvPr id="17" name="Text 15"/>
          <p:cNvSpPr txBox="1"/>
          <p:nvPr/>
        </p:nvSpPr>
        <p:spPr>
          <a:xfrm>
            <a:off x="502920" y="2935224"/>
            <a:ext cx="11201400" cy="50292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自転車1台＝車輪2個。来月50台生産→総所要量100個。在庫15個・入荷予定10個→正味所要量＝100－25＝75個をリードタイム分前倒しで発注。</a:t>
            </a:r>
            <a:endParaRPr lang="en-US" sz="850" dirty="0"/>
          </a:p>
        </p:txBody>
      </p:sp>
      <p:sp>
        <p:nvSpPr>
          <p:cNvPr id="18" name="Shape 16"/>
          <p:cNvSpPr/>
          <p:nvPr/>
        </p:nvSpPr>
        <p:spPr>
          <a:xfrm>
            <a:off x="502920" y="3511296"/>
            <a:ext cx="11201400" cy="0"/>
          </a:xfrm>
          <a:prstGeom prst="line">
            <a:avLst/>
          </a:prstGeom>
          <a:noFill/>
          <a:ln w="12700">
            <a:solidFill>
              <a:srgbClr val="E6E6E6"/>
            </a:solidFill>
            <a:prstDash val="solid"/>
          </a:ln>
        </p:spPr>
      </p:sp>
      <p:sp>
        <p:nvSpPr>
          <p:cNvPr id="19" name="Text 17"/>
          <p:cNvSpPr txBox="1"/>
          <p:nvPr/>
        </p:nvSpPr>
        <p:spPr>
          <a:xfrm>
            <a:off x="502920" y="3584448"/>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員数（自転車1台＝車輪2個）の掛け忘れに注意。MRPは計画に基づき部品を押し出すプッシュ型で、かんばん（プル型、D-2）とは対照的。</a:t>
            </a:r>
            <a:endParaRPr lang="en-US" sz="950" dirty="0"/>
          </a:p>
        </p:txBody>
      </p:sp>
      <p:sp>
        <p:nvSpPr>
          <p:cNvPr id="20" name="Shape 18"/>
          <p:cNvSpPr/>
          <p:nvPr/>
        </p:nvSpPr>
        <p:spPr>
          <a:xfrm>
            <a:off x="502920" y="5989320"/>
            <a:ext cx="11201400" cy="0"/>
          </a:xfrm>
          <a:prstGeom prst="line">
            <a:avLst/>
          </a:prstGeom>
          <a:noFill/>
          <a:ln w="9525">
            <a:solidFill>
              <a:srgbClr val="171717"/>
            </a:solidFill>
            <a:prstDash val="solid"/>
          </a:ln>
        </p:spPr>
      </p:sp>
      <p:sp>
        <p:nvSpPr>
          <p:cNvPr id="21" name="Shape 19"/>
          <p:cNvSpPr/>
          <p:nvPr/>
        </p:nvSpPr>
        <p:spPr>
          <a:xfrm>
            <a:off x="502920" y="6062472"/>
            <a:ext cx="329184" cy="329184"/>
          </a:xfrm>
          <a:prstGeom prst="ellipse">
            <a:avLst/>
          </a:prstGeom>
          <a:solidFill>
            <a:srgbClr val="FF3B1F"/>
          </a:solidFill>
          <a:ln/>
        </p:spPr>
      </p:sp>
      <p:sp>
        <p:nvSpPr>
          <p:cNvPr id="22" name="Text 20"/>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3" name="Text 21"/>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4" name="Shape 22"/>
          <p:cNvSpPr/>
          <p:nvPr/>
        </p:nvSpPr>
        <p:spPr>
          <a:xfrm>
            <a:off x="2331720" y="6062472"/>
            <a:ext cx="0" cy="329184"/>
          </a:xfrm>
          <a:prstGeom prst="line">
            <a:avLst/>
          </a:prstGeom>
          <a:noFill/>
          <a:ln w="12700">
            <a:solidFill>
              <a:srgbClr val="E6E6E6"/>
            </a:solidFill>
            <a:prstDash val="solid"/>
          </a:ln>
        </p:spPr>
      </p:sp>
      <p:sp>
        <p:nvSpPr>
          <p:cNvPr id="25" name="Text 23"/>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関連：D-2 生産システム（JIT・かんばん＝プル型との対比）。</a:t>
            </a:r>
            <a:endParaRPr lang="en-US" sz="1000" dirty="0"/>
          </a:p>
        </p:txBody>
      </p:sp>
      <p:sp>
        <p:nvSpPr>
          <p:cNvPr id="26" name="Text 24"/>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7" name="Shape 25"/>
          <p:cNvSpPr/>
          <p:nvPr/>
        </p:nvSpPr>
        <p:spPr>
          <a:xfrm>
            <a:off x="2466594"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9" name="Shape 27"/>
          <p:cNvSpPr/>
          <p:nvPr/>
        </p:nvSpPr>
        <p:spPr>
          <a:xfrm>
            <a:off x="3431286" y="6464808"/>
            <a:ext cx="146304" cy="146304"/>
          </a:xfrm>
          <a:prstGeom prst="ellipse">
            <a:avLst/>
          </a:prstGeom>
          <a:solidFill>
            <a:srgbClr val="FFFFFF"/>
          </a:solidFill>
          <a:ln w="12700">
            <a:solidFill>
              <a:srgbClr val="E6E6E6"/>
            </a:solidFill>
            <a:prstDash val="solid"/>
          </a:ln>
        </p:spPr>
      </p:sp>
      <p:sp>
        <p:nvSpPr>
          <p:cNvPr id="30" name="Text 28"/>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1" name="Shape 29"/>
          <p:cNvSpPr/>
          <p:nvPr/>
        </p:nvSpPr>
        <p:spPr>
          <a:xfrm>
            <a:off x="4395978"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3" name="Shape 31"/>
          <p:cNvSpPr/>
          <p:nvPr/>
        </p:nvSpPr>
        <p:spPr>
          <a:xfrm>
            <a:off x="5360670"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5" name="Shape 33"/>
          <p:cNvSpPr/>
          <p:nvPr/>
        </p:nvSpPr>
        <p:spPr>
          <a:xfrm>
            <a:off x="6325362"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7" name="Shape 35"/>
          <p:cNvSpPr/>
          <p:nvPr/>
        </p:nvSpPr>
        <p:spPr>
          <a:xfrm>
            <a:off x="7290054"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9" name="Shape 37"/>
          <p:cNvSpPr/>
          <p:nvPr/>
        </p:nvSpPr>
        <p:spPr>
          <a:xfrm>
            <a:off x="8254746"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1" name="Shape 39"/>
          <p:cNvSpPr/>
          <p:nvPr/>
        </p:nvSpPr>
        <p:spPr>
          <a:xfrm>
            <a:off x="9219438"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3" name="Shape 41"/>
          <p:cNvSpPr/>
          <p:nvPr/>
        </p:nvSpPr>
        <p:spPr>
          <a:xfrm>
            <a:off x="10184130"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5" name="Shape 43"/>
          <p:cNvSpPr/>
          <p:nvPr/>
        </p:nvSpPr>
        <p:spPr>
          <a:xfrm>
            <a:off x="11148822" y="6464808"/>
            <a:ext cx="146304" cy="146304"/>
          </a:xfrm>
          <a:prstGeom prst="ellipse">
            <a:avLst/>
          </a:prstGeom>
          <a:solidFill>
            <a:srgbClr val="FFFFFF"/>
          </a:solidFill>
          <a:ln w="12700">
            <a:solidFill>
              <a:srgbClr val="E6E6E6"/>
            </a:solidFill>
            <a:prstDash val="solid"/>
          </a:ln>
        </p:spPr>
      </p:sp>
      <p:sp>
        <p:nvSpPr>
          <p:cNvPr id="46" name="Text 44"/>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D-9 ／ 生産計画：スケジューリング</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短い工程に着目して投入順序を決める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PERTのクリティカルパスと、2機械フローショップのジョンソンの規則。</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01168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クリティカルパス</a:t>
            </a:r>
            <a:endParaRPr lang="en-US" sz="1100" dirty="0"/>
          </a:p>
        </p:txBody>
      </p:sp>
      <p:sp>
        <p:nvSpPr>
          <p:cNvPr id="9" name="Shape 7"/>
          <p:cNvSpPr/>
          <p:nvPr/>
        </p:nvSpPr>
        <p:spPr>
          <a:xfrm>
            <a:off x="2496312" y="1691640"/>
            <a:ext cx="0" cy="256032"/>
          </a:xfrm>
          <a:prstGeom prst="line">
            <a:avLst/>
          </a:prstGeom>
          <a:noFill/>
          <a:ln w="12700">
            <a:solidFill>
              <a:srgbClr val="E6E6E6"/>
            </a:solidFill>
            <a:prstDash val="solid"/>
          </a:ln>
        </p:spPr>
      </p:sp>
      <p:sp>
        <p:nvSpPr>
          <p:cNvPr id="10" name="Text 8"/>
          <p:cNvSpPr txBox="1"/>
          <p:nvPr/>
        </p:nvSpPr>
        <p:spPr>
          <a:xfrm>
            <a:off x="2651760" y="1691640"/>
            <a:ext cx="905256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PERT図で最も時間のかかる経路。余裕時間ゼロで遅れが全体に直結</a:t>
            </a:r>
            <a:endParaRPr lang="en-US" sz="1100" dirty="0"/>
          </a:p>
        </p:txBody>
      </p:sp>
      <p:sp>
        <p:nvSpPr>
          <p:cNvPr id="11" name="Text 9"/>
          <p:cNvSpPr txBox="1"/>
          <p:nvPr/>
        </p:nvSpPr>
        <p:spPr>
          <a:xfrm>
            <a:off x="502920" y="2075688"/>
            <a:ext cx="201168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ジョンソンの規則</a:t>
            </a:r>
            <a:endParaRPr lang="en-US" sz="1100" dirty="0"/>
          </a:p>
        </p:txBody>
      </p:sp>
      <p:sp>
        <p:nvSpPr>
          <p:cNvPr id="12" name="Shape 10"/>
          <p:cNvSpPr/>
          <p:nvPr/>
        </p:nvSpPr>
        <p:spPr>
          <a:xfrm>
            <a:off x="2496312" y="2075688"/>
            <a:ext cx="0" cy="256032"/>
          </a:xfrm>
          <a:prstGeom prst="line">
            <a:avLst/>
          </a:prstGeom>
          <a:noFill/>
          <a:ln w="12700">
            <a:solidFill>
              <a:srgbClr val="E6E6E6"/>
            </a:solidFill>
            <a:prstDash val="solid"/>
          </a:ln>
        </p:spPr>
      </p:sp>
      <p:sp>
        <p:nvSpPr>
          <p:cNvPr id="13" name="Text 11"/>
          <p:cNvSpPr txBox="1"/>
          <p:nvPr/>
        </p:nvSpPr>
        <p:spPr>
          <a:xfrm>
            <a:off x="2651760" y="2075688"/>
            <a:ext cx="905256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第1工程が短いジョブは前方へ昇順、第2工程が短いジョブは後方へ降順</a:t>
            </a:r>
            <a:endParaRPr lang="en-US" sz="1100" dirty="0"/>
          </a:p>
        </p:txBody>
      </p:sp>
      <p:sp>
        <p:nvSpPr>
          <p:cNvPr id="14" name="Text 12"/>
          <p:cNvSpPr txBox="1"/>
          <p:nvPr/>
        </p:nvSpPr>
        <p:spPr>
          <a:xfrm>
            <a:off x="502920" y="2551176"/>
            <a:ext cx="11201400" cy="530352"/>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4ジョブa,b,c,dの投入順序＝a→c→d→b（前方は第1工程時間昇順、後方は第2工程時間降順）。</a:t>
            </a:r>
            <a:endParaRPr lang="en-US" sz="850" dirty="0"/>
          </a:p>
        </p:txBody>
      </p:sp>
      <p:sp>
        <p:nvSpPr>
          <p:cNvPr id="15" name="Shape 13"/>
          <p:cNvSpPr/>
          <p:nvPr/>
        </p:nvSpPr>
        <p:spPr>
          <a:xfrm>
            <a:off x="502920" y="3154680"/>
            <a:ext cx="11201400" cy="0"/>
          </a:xfrm>
          <a:prstGeom prst="line">
            <a:avLst/>
          </a:prstGeom>
          <a:noFill/>
          <a:ln w="12700">
            <a:solidFill>
              <a:srgbClr val="E6E6E6"/>
            </a:solidFill>
            <a:prstDash val="solid"/>
          </a:ln>
        </p:spPr>
      </p:sp>
      <p:sp>
        <p:nvSpPr>
          <p:cNvPr id="16" name="Text 14"/>
          <p:cNvSpPr txBox="1"/>
          <p:nvPr/>
        </p:nvSpPr>
        <p:spPr>
          <a:xfrm>
            <a:off x="502920" y="3227832"/>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「第1工程が長いジョブを先に」ではなく「短い工程に着目」。ジョンソンの規則は2台機械・同一工程順序のフローショップ限定。</a:t>
            </a:r>
            <a:endParaRPr lang="en-US" sz="950" dirty="0"/>
          </a:p>
        </p:txBody>
      </p:sp>
      <p:sp>
        <p:nvSpPr>
          <p:cNvPr id="17" name="Shape 15"/>
          <p:cNvSpPr/>
          <p:nvPr/>
        </p:nvSpPr>
        <p:spPr>
          <a:xfrm>
            <a:off x="502920" y="5989320"/>
            <a:ext cx="11201400" cy="0"/>
          </a:xfrm>
          <a:prstGeom prst="line">
            <a:avLst/>
          </a:prstGeom>
          <a:noFill/>
          <a:ln w="9525">
            <a:solidFill>
              <a:srgbClr val="171717"/>
            </a:solidFill>
            <a:prstDash val="solid"/>
          </a:ln>
        </p:spPr>
      </p:sp>
      <p:sp>
        <p:nvSpPr>
          <p:cNvPr id="18" name="Shape 16"/>
          <p:cNvSpPr/>
          <p:nvPr/>
        </p:nvSpPr>
        <p:spPr>
          <a:xfrm>
            <a:off x="502920" y="6062472"/>
            <a:ext cx="329184" cy="329184"/>
          </a:xfrm>
          <a:prstGeom prst="ellipse">
            <a:avLst/>
          </a:prstGeom>
          <a:solidFill>
            <a:srgbClr val="FF3B1F"/>
          </a:solidFill>
          <a:ln/>
        </p:spPr>
      </p:sp>
      <p:sp>
        <p:nvSpPr>
          <p:cNvPr id="19" name="Text 17"/>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0" name="Text 18"/>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1" name="Shape 19"/>
          <p:cNvSpPr/>
          <p:nvPr/>
        </p:nvSpPr>
        <p:spPr>
          <a:xfrm>
            <a:off x="2331720" y="6062472"/>
            <a:ext cx="0" cy="329184"/>
          </a:xfrm>
          <a:prstGeom prst="line">
            <a:avLst/>
          </a:prstGeom>
          <a:noFill/>
          <a:ln w="12700">
            <a:solidFill>
              <a:srgbClr val="E6E6E6"/>
            </a:solidFill>
            <a:prstDash val="solid"/>
          </a:ln>
        </p:spPr>
      </p:sp>
      <p:sp>
        <p:nvSpPr>
          <p:cNvPr id="22" name="Text 20"/>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関連：D-10 生産統制（進捗管理でスケジュール通りかを日々チェック）。</a:t>
            </a:r>
            <a:endParaRPr lang="en-US" sz="1000" dirty="0"/>
          </a:p>
        </p:txBody>
      </p:sp>
      <p:sp>
        <p:nvSpPr>
          <p:cNvPr id="23" name="Text 21"/>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4" name="Shape 22"/>
          <p:cNvSpPr/>
          <p:nvPr/>
        </p:nvSpPr>
        <p:spPr>
          <a:xfrm>
            <a:off x="2466594" y="6464808"/>
            <a:ext cx="146304" cy="146304"/>
          </a:xfrm>
          <a:prstGeom prst="ellipse">
            <a:avLst/>
          </a:prstGeom>
          <a:solidFill>
            <a:srgbClr val="FF3B1F"/>
          </a:solidFill>
          <a:ln w="12700">
            <a:solidFill>
              <a:srgbClr val="FF3B1F"/>
            </a:solidFill>
            <a:prstDash val="solid"/>
          </a:ln>
        </p:spPr>
      </p:sp>
      <p:sp>
        <p:nvSpPr>
          <p:cNvPr id="25" name="Text 23"/>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6" name="Shape 24"/>
          <p:cNvSpPr/>
          <p:nvPr/>
        </p:nvSpPr>
        <p:spPr>
          <a:xfrm>
            <a:off x="3431286" y="6464808"/>
            <a:ext cx="146304" cy="146304"/>
          </a:xfrm>
          <a:prstGeom prst="ellipse">
            <a:avLst/>
          </a:prstGeom>
          <a:solidFill>
            <a:srgbClr val="FFFFFF"/>
          </a:solidFill>
          <a:ln w="12700">
            <a:solidFill>
              <a:srgbClr val="E6E6E6"/>
            </a:solidFill>
            <a:prstDash val="solid"/>
          </a:ln>
        </p:spPr>
      </p:sp>
      <p:sp>
        <p:nvSpPr>
          <p:cNvPr id="27" name="Text 25"/>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28" name="Shape 26"/>
          <p:cNvSpPr/>
          <p:nvPr/>
        </p:nvSpPr>
        <p:spPr>
          <a:xfrm>
            <a:off x="4395978" y="6464808"/>
            <a:ext cx="146304" cy="146304"/>
          </a:xfrm>
          <a:prstGeom prst="ellipse">
            <a:avLst/>
          </a:prstGeom>
          <a:solidFill>
            <a:srgbClr val="FF3B1F"/>
          </a:solidFill>
          <a:ln w="12700">
            <a:solidFill>
              <a:srgbClr val="FF3B1F"/>
            </a:solidFill>
            <a:prstDash val="solid"/>
          </a:ln>
        </p:spPr>
      </p:sp>
      <p:sp>
        <p:nvSpPr>
          <p:cNvPr id="29" name="Text 27"/>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0" name="Shape 28"/>
          <p:cNvSpPr/>
          <p:nvPr/>
        </p:nvSpPr>
        <p:spPr>
          <a:xfrm>
            <a:off x="5360670"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2" name="Shape 30"/>
          <p:cNvSpPr/>
          <p:nvPr/>
        </p:nvSpPr>
        <p:spPr>
          <a:xfrm>
            <a:off x="6325362"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4" name="Shape 32"/>
          <p:cNvSpPr/>
          <p:nvPr/>
        </p:nvSpPr>
        <p:spPr>
          <a:xfrm>
            <a:off x="7290054"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6" name="Shape 34"/>
          <p:cNvSpPr/>
          <p:nvPr/>
        </p:nvSpPr>
        <p:spPr>
          <a:xfrm>
            <a:off x="8254746"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38" name="Shape 36"/>
          <p:cNvSpPr/>
          <p:nvPr/>
        </p:nvSpPr>
        <p:spPr>
          <a:xfrm>
            <a:off x="9219438"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0" name="Shape 38"/>
          <p:cNvSpPr/>
          <p:nvPr/>
        </p:nvSpPr>
        <p:spPr>
          <a:xfrm>
            <a:off x="10184130"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2" name="Shape 40"/>
          <p:cNvSpPr/>
          <p:nvPr/>
        </p:nvSpPr>
        <p:spPr>
          <a:xfrm>
            <a:off x="11148822"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D-9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第6問）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計算問題。前のスライドの公式で自分の手で計算してみる。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100584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2台の機械を用いて、第1工程、第2工程の順で作業するフローショップにおいて、各ジョブの作業時間が下表に与えられている（ジョブa：第1工程3・第2工程4／ジョブb：第1工程4・第2工程1／ジョブc：第1工程5・第2工程7／ジョブd：第1工程6・第2工程2）。メイクスパンが最小になるように各ジョブがフローショップに投入された場合、メイクスパンにおける2台の機械の非稼働時間の合計として、最も適切なものを下記の解答群から選べ。</a:t>
            </a:r>
            <a:endParaRPr lang="en-US" sz="1250" dirty="0"/>
          </a:p>
        </p:txBody>
      </p:sp>
      <p:sp>
        <p:nvSpPr>
          <p:cNvPr id="9" name="Text 7"/>
          <p:cNvSpPr txBox="1"/>
          <p:nvPr/>
        </p:nvSpPr>
        <p:spPr>
          <a:xfrm>
            <a:off x="731520" y="278892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3</a:t>
            </a:r>
            <a:endParaRPr lang="en-US" sz="1150" dirty="0"/>
          </a:p>
        </p:txBody>
      </p:sp>
      <p:sp>
        <p:nvSpPr>
          <p:cNvPr id="10" name="Text 8"/>
          <p:cNvSpPr txBox="1"/>
          <p:nvPr/>
        </p:nvSpPr>
        <p:spPr>
          <a:xfrm>
            <a:off x="731520" y="326440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4</a:t>
            </a:r>
            <a:endParaRPr lang="en-US" sz="1150" dirty="0"/>
          </a:p>
        </p:txBody>
      </p:sp>
      <p:sp>
        <p:nvSpPr>
          <p:cNvPr id="11" name="Text 9"/>
          <p:cNvSpPr txBox="1"/>
          <p:nvPr/>
        </p:nvSpPr>
        <p:spPr>
          <a:xfrm>
            <a:off x="731520" y="373989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5</a:t>
            </a:r>
            <a:endParaRPr lang="en-US" sz="1150" dirty="0"/>
          </a:p>
        </p:txBody>
      </p:sp>
      <p:sp>
        <p:nvSpPr>
          <p:cNvPr id="12" name="Text 10"/>
          <p:cNvSpPr txBox="1"/>
          <p:nvPr/>
        </p:nvSpPr>
        <p:spPr>
          <a:xfrm>
            <a:off x="731520" y="421538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6</a:t>
            </a:r>
            <a:endParaRPr lang="en-US" sz="1150" dirty="0"/>
          </a:p>
        </p:txBody>
      </p:sp>
      <p:sp>
        <p:nvSpPr>
          <p:cNvPr id="13" name="Text 11"/>
          <p:cNvSpPr txBox="1"/>
          <p:nvPr/>
        </p:nvSpPr>
        <p:spPr>
          <a:xfrm>
            <a:off x="731520" y="469087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7</a:t>
            </a:r>
            <a:endParaRPr lang="en-US" sz="1150" dirty="0"/>
          </a:p>
        </p:txBody>
      </p:sp>
      <p:sp>
        <p:nvSpPr>
          <p:cNvPr id="14" name="Text 12"/>
          <p:cNvSpPr txBox="1"/>
          <p:nvPr/>
        </p:nvSpPr>
        <p:spPr>
          <a:xfrm>
            <a:off x="502920" y="530352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出典：past_exams/1st_stage/1ji2025/D1JI2025.pdf（令和7年度第1次試験）第6問</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D-9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第6問）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正解はエ（6）。投入順序a→c→d→bでメイクスパン19、非稼働時間合計6。</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3</a:t>
            </a:r>
            <a:endParaRPr lang="en-US" sz="1150" dirty="0"/>
          </a:p>
        </p:txBody>
      </p:sp>
      <p:sp>
        <p:nvSpPr>
          <p:cNvPr id="9" name="Text 7"/>
          <p:cNvSpPr txBox="1"/>
          <p:nvPr/>
        </p:nvSpPr>
        <p:spPr>
          <a:xfrm>
            <a:off x="731520" y="221284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4</a:t>
            </a:r>
            <a:endParaRPr lang="en-US" sz="1150" dirty="0"/>
          </a:p>
        </p:txBody>
      </p:sp>
      <p:sp>
        <p:nvSpPr>
          <p:cNvPr id="10" name="Text 8"/>
          <p:cNvSpPr txBox="1"/>
          <p:nvPr/>
        </p:nvSpPr>
        <p:spPr>
          <a:xfrm>
            <a:off x="731520" y="268833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5</a:t>
            </a:r>
            <a:endParaRPr lang="en-US" sz="1150" dirty="0"/>
          </a:p>
        </p:txBody>
      </p:sp>
      <p:sp>
        <p:nvSpPr>
          <p:cNvPr id="11" name="Shape 9"/>
          <p:cNvSpPr/>
          <p:nvPr/>
        </p:nvSpPr>
        <p:spPr>
          <a:xfrm>
            <a:off x="502920" y="3136392"/>
            <a:ext cx="11201400" cy="475488"/>
          </a:xfrm>
          <a:prstGeom prst="rect">
            <a:avLst/>
          </a:prstGeom>
          <a:solidFill>
            <a:srgbClr val="F4F4F4"/>
          </a:solidFill>
          <a:ln/>
        </p:spPr>
      </p:sp>
      <p:sp>
        <p:nvSpPr>
          <p:cNvPr id="12" name="Shape 10"/>
          <p:cNvSpPr/>
          <p:nvPr/>
        </p:nvSpPr>
        <p:spPr>
          <a:xfrm>
            <a:off x="502920" y="3136392"/>
            <a:ext cx="0" cy="475488"/>
          </a:xfrm>
          <a:prstGeom prst="line">
            <a:avLst/>
          </a:prstGeom>
          <a:noFill/>
          <a:ln w="38100">
            <a:solidFill>
              <a:srgbClr val="FF3B1F"/>
            </a:solidFill>
            <a:prstDash val="solid"/>
          </a:ln>
        </p:spPr>
      </p:sp>
      <p:sp>
        <p:nvSpPr>
          <p:cNvPr id="13" name="Text 11"/>
          <p:cNvSpPr txBox="1"/>
          <p:nvPr/>
        </p:nvSpPr>
        <p:spPr>
          <a:xfrm>
            <a:off x="731520" y="316382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6</a:t>
            </a:r>
            <a:endParaRPr lang="en-US" sz="1150" dirty="0"/>
          </a:p>
        </p:txBody>
      </p:sp>
      <p:sp>
        <p:nvSpPr>
          <p:cNvPr id="14" name="Text 12"/>
          <p:cNvSpPr txBox="1"/>
          <p:nvPr/>
        </p:nvSpPr>
        <p:spPr>
          <a:xfrm>
            <a:off x="731520" y="363931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7</a:t>
            </a:r>
            <a:endParaRPr lang="en-US" sz="1150" dirty="0"/>
          </a:p>
        </p:txBody>
      </p:sp>
      <p:sp>
        <p:nvSpPr>
          <p:cNvPr id="15" name="Shape 13"/>
          <p:cNvSpPr/>
          <p:nvPr/>
        </p:nvSpPr>
        <p:spPr>
          <a:xfrm>
            <a:off x="502920" y="4187952"/>
            <a:ext cx="11201400" cy="0"/>
          </a:xfrm>
          <a:prstGeom prst="line">
            <a:avLst/>
          </a:prstGeom>
          <a:noFill/>
          <a:ln w="12700">
            <a:solidFill>
              <a:srgbClr val="171717"/>
            </a:solidFill>
            <a:prstDash val="solid"/>
          </a:ln>
        </p:spPr>
      </p:sp>
      <p:sp>
        <p:nvSpPr>
          <p:cNvPr id="16" name="Text 14"/>
          <p:cNvSpPr txBox="1"/>
          <p:nvPr/>
        </p:nvSpPr>
        <p:spPr>
          <a:xfrm>
            <a:off x="502920" y="4279392"/>
            <a:ext cx="11201400" cy="914400"/>
          </a:xfrm>
          <a:prstGeom prst="rect">
            <a:avLst/>
          </a:prstGeom>
          <a:noFill/>
          <a:ln/>
        </p:spPr>
        <p:txBody>
          <a:bodyPr wrap="square" lIns="0" tIns="0" rIns="0" bIns="0" rtlCol="0" anchor="ctr"/>
          <a:lstStyle/>
          <a:p>
            <a:pPr indent="0" marL="0">
              <a:lnSpc>
                <a:spcPct val="120000"/>
              </a:lnSpc>
              <a:buNone/>
            </a:pPr>
            <a:r>
              <a:rPr lang="en-US" sz="1050" b="1" dirty="0">
                <a:solidFill>
                  <a:srgbClr val="FF3B1F"/>
                </a:solidFill>
                <a:latin typeface="Yu Gothic" pitchFamily="34" charset="0"/>
                <a:ea typeface="Yu Gothic" pitchFamily="34" charset="-122"/>
                <a:cs typeface="Yu Gothic" pitchFamily="34" charset="-120"/>
              </a:rPr>
              <a:t>正解：エ（6）</a:t>
            </a:r>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ジョンソンの規則より投入順序＝a→c→d→b。第1工程：0-3-8-14-18（合計18稼働、非稼働1）。第2工程：a(3-7)→c(8-15)→d(15-17)→b(18-19)。メイクスパン＝19。第2工程の非稼働＝開始前3＋a後の待ち1＋d後の待ち1＝5。2台合計＝1＋5＝</a:t>
            </a:r>
            <a:pPr indent="0" marL="0">
              <a:lnSpc>
                <a:spcPct val="120000"/>
              </a:lnSpc>
              <a:buNone/>
            </a:pPr>
            <a:r>
              <a:rPr lang="en-US" sz="1050" b="1" dirty="0">
                <a:solidFill>
                  <a:srgbClr val="171717"/>
                </a:solidFill>
                <a:latin typeface="Yu Gothic" pitchFamily="34" charset="0"/>
                <a:ea typeface="Yu Gothic" pitchFamily="34" charset="-122"/>
                <a:cs typeface="Yu Gothic" pitchFamily="34" charset="-120"/>
              </a:rPr>
              <a:t>6</a:t>
            </a:r>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a:t>
            </a:r>
            <a:endParaRPr lang="en-US" sz="1050" dirty="0"/>
          </a:p>
        </p:txBody>
      </p:sp>
      <p:sp>
        <p:nvSpPr>
          <p:cNvPr id="17" name="Text 15"/>
          <p:cNvSpPr txBox="1"/>
          <p:nvPr/>
        </p:nvSpPr>
        <p:spPr>
          <a:xfrm>
            <a:off x="502920" y="5266944"/>
            <a:ext cx="11201400" cy="4572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a：min(3,4)=3→前方、b：min(4,1)=1→後方、c：min(5,7)=5→前方、d：min(6,2)=2→後方。前方は第1工程時間昇順（a→c）、後方は第2工程時間降順（d→b）。</a:t>
            </a:r>
            <a:endParaRPr lang="en-US" sz="850" dirty="0"/>
          </a:p>
        </p:txBody>
      </p:sp>
      <p:sp>
        <p:nvSpPr>
          <p:cNvPr id="18" name="Text 16"/>
          <p:cNvSpPr txBox="1"/>
          <p:nvPr/>
        </p:nvSpPr>
        <p:spPr>
          <a:xfrm>
            <a:off x="502920" y="5797296"/>
            <a:ext cx="11201400" cy="27432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関連知識：ジョンソンの規則は2機械n個ジョブのフローショップでメイクスパンを最小化する代表的手法。</a:t>
            </a:r>
            <a:endParaRPr lang="en-US" sz="1000" dirty="0"/>
          </a:p>
        </p:txBody>
      </p:sp>
      <p:sp>
        <p:nvSpPr>
          <p:cNvPr id="19" name="Text 17"/>
          <p:cNvSpPr txBox="1"/>
          <p:nvPr/>
        </p:nvSpPr>
        <p:spPr>
          <a:xfrm>
            <a:off x="502920" y="6144768"/>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出典：past_exams/1st_stage/1ji2025/D1JI2025.pdf（令和7年度第1次試験）第6問／正解：past_exams/1st_stage_answers/r07/d_v2_20250902.pdf</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71717"/>
        </a:solidFill>
      </p:bgPr>
    </p:bg>
    <p:spTree>
      <p:nvGrpSpPr>
        <p:cNvPr id="1" name=""/>
        <p:cNvGrpSpPr/>
        <p:nvPr/>
      </p:nvGrpSpPr>
      <p:grpSpPr>
        <a:xfrm>
          <a:off x="0" y="0"/>
          <a:ext cx="0" cy="0"/>
          <a:chOff x="0" y="0"/>
          <a:chExt cx="0" cy="0"/>
        </a:xfrm>
      </p:grpSpPr>
      <p:sp>
        <p:nvSpPr>
          <p:cNvPr id="2" name="Text 0"/>
          <p:cNvSpPr txBox="1"/>
          <p:nvPr/>
        </p:nvSpPr>
        <p:spPr>
          <a:xfrm>
            <a:off x="8046720" y="1463040"/>
            <a:ext cx="3931920" cy="4114800"/>
          </a:xfrm>
          <a:prstGeom prst="rect">
            <a:avLst/>
          </a:prstGeom>
          <a:noFill/>
          <a:ln/>
        </p:spPr>
        <p:txBody>
          <a:bodyPr wrap="square" lIns="0" tIns="0" rIns="0" bIns="0" rtlCol="0" anchor="ctr"/>
          <a:lstStyle/>
          <a:p>
            <a:pPr algn="r" indent="0" marL="0">
              <a:buNone/>
            </a:pPr>
            <a:r>
              <a:rPr lang="en-US" sz="22000" b="1" dirty="0">
                <a:solidFill>
                  <a:srgbClr val="252525"/>
                </a:solidFill>
                <a:latin typeface="Consolas" pitchFamily="34" charset="0"/>
                <a:ea typeface="Consolas" pitchFamily="34" charset="-122"/>
                <a:cs typeface="Consolas" pitchFamily="34" charset="-120"/>
              </a:rPr>
              <a:t>02</a:t>
            </a:r>
            <a:endParaRPr lang="en-US" sz="22000" dirty="0"/>
          </a:p>
        </p:txBody>
      </p:sp>
      <p:sp>
        <p:nvSpPr>
          <p:cNvPr id="3" name="Text 1"/>
          <p:cNvSpPr txBox="1"/>
          <p:nvPr/>
        </p:nvSpPr>
        <p:spPr>
          <a:xfrm>
            <a:off x="640080" y="1920240"/>
            <a:ext cx="8229600" cy="365760"/>
          </a:xfrm>
          <a:prstGeom prst="rect">
            <a:avLst/>
          </a:prstGeom>
          <a:noFill/>
          <a:ln/>
        </p:spPr>
        <p:txBody>
          <a:bodyPr wrap="square" lIns="0" tIns="0" rIns="0" bIns="0" rtlCol="0" anchor="ctr"/>
          <a:lstStyle/>
          <a:p>
            <a:pPr indent="0" marL="0">
              <a:buNone/>
            </a:pPr>
            <a:r>
              <a:rPr lang="en-US" sz="1300" b="1" dirty="0">
                <a:solidFill>
                  <a:srgbClr val="FF3B1F"/>
                </a:solidFill>
                <a:latin typeface="Consolas" pitchFamily="34" charset="0"/>
                <a:ea typeface="Consolas" pitchFamily="34" charset="-122"/>
                <a:cs typeface="Consolas" pitchFamily="34" charset="-120"/>
              </a:rPr>
              <a:t>PART 02</a:t>
            </a:r>
            <a:pPr indent="0" marL="0">
              <a:buNone/>
            </a:pPr>
            <a:r>
              <a:rPr lang="en-US" sz="1300" dirty="0">
                <a:solidFill>
                  <a:srgbClr val="A2A2A2"/>
                </a:solidFill>
                <a:latin typeface="Consolas" pitchFamily="34" charset="0"/>
                <a:ea typeface="Consolas" pitchFamily="34" charset="-122"/>
                <a:cs typeface="Consolas" pitchFamily="34" charset="-120"/>
              </a:rPr>
              <a:t>   運営管理 ／ D-10〜D-19</a:t>
            </a:r>
            <a:endParaRPr lang="en-US" sz="1300" dirty="0"/>
          </a:p>
        </p:txBody>
      </p:sp>
      <p:sp>
        <p:nvSpPr>
          <p:cNvPr id="4" name="Text 2"/>
          <p:cNvSpPr txBox="1"/>
          <p:nvPr/>
        </p:nvSpPr>
        <p:spPr>
          <a:xfrm>
            <a:off x="594360" y="2331720"/>
            <a:ext cx="8229600" cy="1005840"/>
          </a:xfrm>
          <a:prstGeom prst="rect">
            <a:avLst/>
          </a:prstGeom>
          <a:noFill/>
          <a:ln/>
        </p:spPr>
        <p:txBody>
          <a:bodyPr wrap="square" lIns="0" tIns="0" rIns="0" bIns="0" rtlCol="0" anchor="ctr"/>
          <a:lstStyle/>
          <a:p>
            <a:pPr indent="0" marL="0">
              <a:buNone/>
            </a:pPr>
            <a:r>
              <a:rPr lang="en-US" sz="4600" b="1" dirty="0">
                <a:solidFill>
                  <a:srgbClr val="FFFFFF"/>
                </a:solidFill>
                <a:latin typeface="Yu Gothic" pitchFamily="34" charset="0"/>
                <a:ea typeface="Yu Gothic" pitchFamily="34" charset="-122"/>
                <a:cs typeface="Yu Gothic" pitchFamily="34" charset="-120"/>
              </a:rPr>
              <a:t>生産統制と作業・設備管理</a:t>
            </a:r>
            <a:endParaRPr lang="en-US" sz="4600" dirty="0"/>
          </a:p>
        </p:txBody>
      </p:sp>
      <p:sp>
        <p:nvSpPr>
          <p:cNvPr id="5" name="Text 3"/>
          <p:cNvSpPr txBox="1"/>
          <p:nvPr/>
        </p:nvSpPr>
        <p:spPr>
          <a:xfrm>
            <a:off x="640080" y="3429000"/>
            <a:ext cx="7498080" cy="1188720"/>
          </a:xfrm>
          <a:prstGeom prst="rect">
            <a:avLst/>
          </a:prstGeom>
          <a:noFill/>
          <a:ln/>
        </p:spPr>
        <p:txBody>
          <a:bodyPr wrap="square" lIns="0" tIns="0" rIns="0" bIns="0" rtlCol="0" anchor="ctr"/>
          <a:lstStyle/>
          <a:p>
            <a:pPr indent="0" marL="0">
              <a:lnSpc>
                <a:spcPct val="160000"/>
              </a:lnSpc>
              <a:buNone/>
            </a:pPr>
            <a:r>
              <a:rPr lang="en-US" sz="1400" dirty="0">
                <a:solidFill>
                  <a:srgbClr val="D1D1D1"/>
                </a:solidFill>
                <a:latin typeface="Yu Gothic" pitchFamily="34" charset="0"/>
                <a:ea typeface="Yu Gothic" pitchFamily="34" charset="-122"/>
                <a:cs typeface="Yu Gothic" pitchFamily="34" charset="-120"/>
              </a:rPr>
              <a:t>計画通りに実行できているかをチェックする生産統制から、標準時間・作業改善、5S・TPMによる設備管理、工場レイアウト、資材・外注管理まで。</a:t>
            </a:r>
            <a:endParaRPr lang="en-US" sz="1400" dirty="0"/>
          </a:p>
        </p:txBody>
      </p:sp>
      <p:sp>
        <p:nvSpPr>
          <p:cNvPr id="6" name="Shape 4"/>
          <p:cNvSpPr/>
          <p:nvPr/>
        </p:nvSpPr>
        <p:spPr>
          <a:xfrm>
            <a:off x="640080" y="4800600"/>
            <a:ext cx="1801368" cy="384048"/>
          </a:xfrm>
          <a:prstGeom prst="rect">
            <a:avLst/>
          </a:prstGeom>
          <a:ln w="9525">
            <a:solidFill>
              <a:srgbClr val="7F7F7F"/>
            </a:solidFill>
            <a:prstDash val="solid"/>
          </a:ln>
        </p:spPr>
      </p:sp>
      <p:sp>
        <p:nvSpPr>
          <p:cNvPr id="7" name="Text 5"/>
          <p:cNvSpPr txBox="1"/>
          <p:nvPr/>
        </p:nvSpPr>
        <p:spPr>
          <a:xfrm>
            <a:off x="640080" y="4800600"/>
            <a:ext cx="1801368"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D-13 ECRSの原則</a:t>
            </a:r>
            <a:endParaRPr lang="en-US" sz="1000" dirty="0"/>
          </a:p>
        </p:txBody>
      </p:sp>
      <p:sp>
        <p:nvSpPr>
          <p:cNvPr id="8" name="Shape 6"/>
          <p:cNvSpPr/>
          <p:nvPr/>
        </p:nvSpPr>
        <p:spPr>
          <a:xfrm>
            <a:off x="2670048" y="4800600"/>
            <a:ext cx="1677924" cy="384048"/>
          </a:xfrm>
          <a:prstGeom prst="rect">
            <a:avLst/>
          </a:prstGeom>
          <a:ln w="9525">
            <a:solidFill>
              <a:srgbClr val="7F7F7F"/>
            </a:solidFill>
            <a:prstDash val="solid"/>
          </a:ln>
        </p:spPr>
      </p:sp>
      <p:sp>
        <p:nvSpPr>
          <p:cNvPr id="9" name="Text 7"/>
          <p:cNvSpPr txBox="1"/>
          <p:nvPr/>
        </p:nvSpPr>
        <p:spPr>
          <a:xfrm>
            <a:off x="2670048" y="4800600"/>
            <a:ext cx="1677924"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D-14 5S・TPM</a:t>
            </a:r>
            <a:endParaRPr lang="en-US" sz="1000" dirty="0"/>
          </a:p>
        </p:txBody>
      </p:sp>
      <p:sp>
        <p:nvSpPr>
          <p:cNvPr id="10" name="Shape 8"/>
          <p:cNvSpPr/>
          <p:nvPr/>
        </p:nvSpPr>
        <p:spPr>
          <a:xfrm>
            <a:off x="4576572" y="4800600"/>
            <a:ext cx="1307592" cy="384048"/>
          </a:xfrm>
          <a:prstGeom prst="rect">
            <a:avLst/>
          </a:prstGeom>
          <a:ln w="9525">
            <a:solidFill>
              <a:srgbClr val="7F7F7F"/>
            </a:solidFill>
            <a:prstDash val="solid"/>
          </a:ln>
        </p:spPr>
      </p:sp>
      <p:sp>
        <p:nvSpPr>
          <p:cNvPr id="11" name="Text 9"/>
          <p:cNvSpPr txBox="1"/>
          <p:nvPr/>
        </p:nvSpPr>
        <p:spPr>
          <a:xfrm>
            <a:off x="4576572" y="4800600"/>
            <a:ext cx="1307592"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D-16 SLP</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D-10 ／ 生産統制</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「モノ」「能力」「スケジュール」を管理する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計画通りに実行できているかを日々チェック・調整する3つの管理。</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92808"/>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現品管理</a:t>
            </a:r>
            <a:endParaRPr lang="en-US" sz="1500" dirty="0"/>
          </a:p>
        </p:txBody>
      </p:sp>
      <p:sp>
        <p:nvSpPr>
          <p:cNvPr id="9" name="Text 7"/>
          <p:cNvSpPr txBox="1"/>
          <p:nvPr/>
        </p:nvSpPr>
        <p:spPr>
          <a:xfrm>
            <a:off x="2423160" y="1911096"/>
            <a:ext cx="14630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モノ</a:t>
            </a:r>
            <a:endParaRPr lang="en-US" sz="1100" dirty="0"/>
          </a:p>
        </p:txBody>
      </p:sp>
      <p:sp>
        <p:nvSpPr>
          <p:cNvPr id="10" name="Text 8"/>
          <p:cNvSpPr txBox="1"/>
          <p:nvPr/>
        </p:nvSpPr>
        <p:spPr>
          <a:xfrm>
            <a:off x="3977640" y="1856232"/>
            <a:ext cx="772668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仕掛品・材料・製品が今どこに・どれだけあるかを把握し紛失・取り違えを防ぐ</a:t>
            </a:r>
            <a:endParaRPr lang="en-US" sz="1100" dirty="0"/>
          </a:p>
        </p:txBody>
      </p:sp>
      <p:sp>
        <p:nvSpPr>
          <p:cNvPr id="11" name="Shape 9"/>
          <p:cNvSpPr/>
          <p:nvPr/>
        </p:nvSpPr>
        <p:spPr>
          <a:xfrm>
            <a:off x="502920" y="2880360"/>
            <a:ext cx="11201400" cy="0"/>
          </a:xfrm>
          <a:prstGeom prst="line">
            <a:avLst/>
          </a:prstGeom>
          <a:noFill/>
          <a:ln w="12700">
            <a:solidFill>
              <a:srgbClr val="E6E6E6"/>
            </a:solidFill>
            <a:prstDash val="solid"/>
          </a:ln>
        </p:spPr>
      </p:sp>
      <p:sp>
        <p:nvSpPr>
          <p:cNvPr id="12" name="Text 10"/>
          <p:cNvSpPr txBox="1"/>
          <p:nvPr/>
        </p:nvSpPr>
        <p:spPr>
          <a:xfrm>
            <a:off x="502920" y="2990088"/>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余力管理</a:t>
            </a:r>
            <a:endParaRPr lang="en-US" sz="1500" dirty="0"/>
          </a:p>
        </p:txBody>
      </p:sp>
      <p:sp>
        <p:nvSpPr>
          <p:cNvPr id="13" name="Text 11"/>
          <p:cNvSpPr txBox="1"/>
          <p:nvPr/>
        </p:nvSpPr>
        <p:spPr>
          <a:xfrm>
            <a:off x="2423160" y="3008376"/>
            <a:ext cx="14630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能力</a:t>
            </a:r>
            <a:endParaRPr lang="en-US" sz="1100" dirty="0"/>
          </a:p>
        </p:txBody>
      </p:sp>
      <p:sp>
        <p:nvSpPr>
          <p:cNvPr id="14" name="Text 12"/>
          <p:cNvSpPr txBox="1"/>
          <p:nvPr/>
        </p:nvSpPr>
        <p:spPr>
          <a:xfrm>
            <a:off x="3977640" y="2953512"/>
            <a:ext cx="772668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職場・設備の保有能力と実際の負荷を比較し過負荷・手待ちを調整する</a:t>
            </a:r>
            <a:endParaRPr lang="en-US" sz="1100" dirty="0"/>
          </a:p>
        </p:txBody>
      </p:sp>
      <p:sp>
        <p:nvSpPr>
          <p:cNvPr id="15" name="Shape 13"/>
          <p:cNvSpPr/>
          <p:nvPr/>
        </p:nvSpPr>
        <p:spPr>
          <a:xfrm>
            <a:off x="502920" y="3977640"/>
            <a:ext cx="11201400" cy="0"/>
          </a:xfrm>
          <a:prstGeom prst="line">
            <a:avLst/>
          </a:prstGeom>
          <a:noFill/>
          <a:ln w="12700">
            <a:solidFill>
              <a:srgbClr val="E6E6E6"/>
            </a:solidFill>
            <a:prstDash val="solid"/>
          </a:ln>
        </p:spPr>
      </p:sp>
      <p:sp>
        <p:nvSpPr>
          <p:cNvPr id="16" name="Text 14"/>
          <p:cNvSpPr txBox="1"/>
          <p:nvPr/>
        </p:nvSpPr>
        <p:spPr>
          <a:xfrm>
            <a:off x="502920" y="4087368"/>
            <a:ext cx="18288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進捗管理</a:t>
            </a:r>
            <a:endParaRPr lang="en-US" sz="1500" dirty="0"/>
          </a:p>
        </p:txBody>
      </p:sp>
      <p:sp>
        <p:nvSpPr>
          <p:cNvPr id="17" name="Text 15"/>
          <p:cNvSpPr txBox="1"/>
          <p:nvPr/>
        </p:nvSpPr>
        <p:spPr>
          <a:xfrm>
            <a:off x="2423160" y="4105656"/>
            <a:ext cx="146304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スケジュール</a:t>
            </a:r>
            <a:endParaRPr lang="en-US" sz="1100" dirty="0"/>
          </a:p>
        </p:txBody>
      </p:sp>
      <p:sp>
        <p:nvSpPr>
          <p:cNvPr id="18" name="Text 16"/>
          <p:cNvSpPr txBox="1"/>
          <p:nvPr/>
        </p:nvSpPr>
        <p:spPr>
          <a:xfrm>
            <a:off x="3977640" y="4050792"/>
            <a:ext cx="772668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計画に対する実際の進み具合を把握し、遅れていれば挽回策を打つ</a:t>
            </a:r>
            <a:endParaRPr lang="en-US" sz="1100" dirty="0"/>
          </a:p>
        </p:txBody>
      </p:sp>
      <p:sp>
        <p:nvSpPr>
          <p:cNvPr id="19" name="Text 17"/>
          <p:cNvSpPr txBox="1"/>
          <p:nvPr/>
        </p:nvSpPr>
        <p:spPr>
          <a:xfrm>
            <a:off x="502920" y="5184648"/>
            <a:ext cx="11201400" cy="59436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部品加工を行う工場C社では、ある注文の納期遅れが心配なとき、仕掛品が今どの工程にどれだけあるかを確認するのが現品管理、他の職場に応援を頼めないか確認するのが余力管理、予定に対し実際に何％進んでいるかを確認するのが進捗管理にあたる。</a:t>
            </a:r>
            <a:endParaRPr lang="en-US" sz="850" dirty="0"/>
          </a:p>
        </p:txBody>
      </p:sp>
      <p:sp>
        <p:nvSpPr>
          <p:cNvPr id="20" name="Shape 18"/>
          <p:cNvSpPr/>
          <p:nvPr/>
        </p:nvSpPr>
        <p:spPr>
          <a:xfrm>
            <a:off x="502920" y="5989320"/>
            <a:ext cx="11201400" cy="0"/>
          </a:xfrm>
          <a:prstGeom prst="line">
            <a:avLst/>
          </a:prstGeom>
          <a:noFill/>
          <a:ln w="9525">
            <a:solidFill>
              <a:srgbClr val="171717"/>
            </a:solidFill>
            <a:prstDash val="solid"/>
          </a:ln>
        </p:spPr>
      </p:sp>
      <p:sp>
        <p:nvSpPr>
          <p:cNvPr id="21" name="Shape 19"/>
          <p:cNvSpPr/>
          <p:nvPr/>
        </p:nvSpPr>
        <p:spPr>
          <a:xfrm>
            <a:off x="502920" y="6062472"/>
            <a:ext cx="329184" cy="329184"/>
          </a:xfrm>
          <a:prstGeom prst="ellipse">
            <a:avLst/>
          </a:prstGeom>
          <a:solidFill>
            <a:srgbClr val="FF3B1F"/>
          </a:solidFill>
          <a:ln/>
        </p:spPr>
      </p:sp>
      <p:sp>
        <p:nvSpPr>
          <p:cNvPr id="22" name="Text 20"/>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3" name="Text 21"/>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4" name="Shape 22"/>
          <p:cNvSpPr/>
          <p:nvPr/>
        </p:nvSpPr>
        <p:spPr>
          <a:xfrm>
            <a:off x="2331720" y="6062472"/>
            <a:ext cx="0" cy="329184"/>
          </a:xfrm>
          <a:prstGeom prst="line">
            <a:avLst/>
          </a:prstGeom>
          <a:noFill/>
          <a:ln w="12700">
            <a:solidFill>
              <a:srgbClr val="E6E6E6"/>
            </a:solidFill>
            <a:prstDash val="solid"/>
          </a:ln>
        </p:spPr>
      </p:sp>
      <p:sp>
        <p:nvSpPr>
          <p:cNvPr id="25" name="Text 23"/>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ひっかけ：3つの管理対象を入れ替えた誤答が定番。名称と対象を正確に対応させる。</a:t>
            </a:r>
            <a:endParaRPr lang="en-US" sz="1000" dirty="0"/>
          </a:p>
        </p:txBody>
      </p:sp>
      <p:sp>
        <p:nvSpPr>
          <p:cNvPr id="26" name="Text 24"/>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7" name="Shape 25"/>
          <p:cNvSpPr/>
          <p:nvPr/>
        </p:nvSpPr>
        <p:spPr>
          <a:xfrm>
            <a:off x="2466594"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9" name="Shape 27"/>
          <p:cNvSpPr/>
          <p:nvPr/>
        </p:nvSpPr>
        <p:spPr>
          <a:xfrm>
            <a:off x="3431286" y="6464808"/>
            <a:ext cx="146304" cy="146304"/>
          </a:xfrm>
          <a:prstGeom prst="ellipse">
            <a:avLst/>
          </a:prstGeom>
          <a:solidFill>
            <a:srgbClr val="FFFFFF"/>
          </a:solidFill>
          <a:ln w="12700">
            <a:solidFill>
              <a:srgbClr val="E6E6E6"/>
            </a:solidFill>
            <a:prstDash val="solid"/>
          </a:ln>
        </p:spPr>
      </p:sp>
      <p:sp>
        <p:nvSpPr>
          <p:cNvPr id="30" name="Text 28"/>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1" name="Shape 29"/>
          <p:cNvSpPr/>
          <p:nvPr/>
        </p:nvSpPr>
        <p:spPr>
          <a:xfrm>
            <a:off x="4395978"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3" name="Shape 31"/>
          <p:cNvSpPr/>
          <p:nvPr/>
        </p:nvSpPr>
        <p:spPr>
          <a:xfrm>
            <a:off x="5360670"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5" name="Shape 33"/>
          <p:cNvSpPr/>
          <p:nvPr/>
        </p:nvSpPr>
        <p:spPr>
          <a:xfrm>
            <a:off x="6325362"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7" name="Shape 35"/>
          <p:cNvSpPr/>
          <p:nvPr/>
        </p:nvSpPr>
        <p:spPr>
          <a:xfrm>
            <a:off x="7290054"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9" name="Shape 37"/>
          <p:cNvSpPr/>
          <p:nvPr/>
        </p:nvSpPr>
        <p:spPr>
          <a:xfrm>
            <a:off x="8254746"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1" name="Shape 39"/>
          <p:cNvSpPr/>
          <p:nvPr/>
        </p:nvSpPr>
        <p:spPr>
          <a:xfrm>
            <a:off x="9219438"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3" name="Shape 41"/>
          <p:cNvSpPr/>
          <p:nvPr/>
        </p:nvSpPr>
        <p:spPr>
          <a:xfrm>
            <a:off x="10184130"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5" name="Shape 43"/>
          <p:cNvSpPr/>
          <p:nvPr/>
        </p:nvSpPr>
        <p:spPr>
          <a:xfrm>
            <a:off x="11148822"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D-11 ／ 作業管理</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標準時間＝正味時間＋余裕時間</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熟練者が正常なペースで作業するのに必要な時間。外掛け法と内掛け法で余裕率の定義が違う。</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737360" cy="329184"/>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正味時間</a:t>
            </a:r>
            <a:endParaRPr lang="en-US" sz="1050" dirty="0"/>
          </a:p>
        </p:txBody>
      </p:sp>
      <p:sp>
        <p:nvSpPr>
          <p:cNvPr id="9" name="Shape 7"/>
          <p:cNvSpPr/>
          <p:nvPr/>
        </p:nvSpPr>
        <p:spPr>
          <a:xfrm>
            <a:off x="2221992" y="1691640"/>
            <a:ext cx="0" cy="256032"/>
          </a:xfrm>
          <a:prstGeom prst="line">
            <a:avLst/>
          </a:prstGeom>
          <a:noFill/>
          <a:ln w="12700">
            <a:solidFill>
              <a:srgbClr val="E6E6E6"/>
            </a:solidFill>
            <a:prstDash val="solid"/>
          </a:ln>
        </p:spPr>
      </p:sp>
      <p:sp>
        <p:nvSpPr>
          <p:cNvPr id="10" name="Text 8"/>
          <p:cNvSpPr txBox="1"/>
          <p:nvPr/>
        </p:nvSpPr>
        <p:spPr>
          <a:xfrm>
            <a:off x="2377440" y="1691640"/>
            <a:ext cx="9326880" cy="329184"/>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観測時間の代表値×レイティング係数</a:t>
            </a:r>
            <a:endParaRPr lang="en-US" sz="1050" dirty="0"/>
          </a:p>
        </p:txBody>
      </p:sp>
      <p:sp>
        <p:nvSpPr>
          <p:cNvPr id="11" name="Text 9"/>
          <p:cNvSpPr txBox="1"/>
          <p:nvPr/>
        </p:nvSpPr>
        <p:spPr>
          <a:xfrm>
            <a:off x="502920" y="2039112"/>
            <a:ext cx="1737360" cy="329184"/>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外掛け法</a:t>
            </a:r>
            <a:endParaRPr lang="en-US" sz="1050" dirty="0"/>
          </a:p>
        </p:txBody>
      </p:sp>
      <p:sp>
        <p:nvSpPr>
          <p:cNvPr id="12" name="Shape 10"/>
          <p:cNvSpPr/>
          <p:nvPr/>
        </p:nvSpPr>
        <p:spPr>
          <a:xfrm>
            <a:off x="2221992" y="2039112"/>
            <a:ext cx="0" cy="256032"/>
          </a:xfrm>
          <a:prstGeom prst="line">
            <a:avLst/>
          </a:prstGeom>
          <a:noFill/>
          <a:ln w="12700">
            <a:solidFill>
              <a:srgbClr val="E6E6E6"/>
            </a:solidFill>
            <a:prstDash val="solid"/>
          </a:ln>
        </p:spPr>
      </p:sp>
      <p:sp>
        <p:nvSpPr>
          <p:cNvPr id="13" name="Text 11"/>
          <p:cNvSpPr txBox="1"/>
          <p:nvPr/>
        </p:nvSpPr>
        <p:spPr>
          <a:xfrm>
            <a:off x="2377440" y="2039112"/>
            <a:ext cx="9326880" cy="329184"/>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標準時間＝正味時間×（1＋余裕率）</a:t>
            </a:r>
            <a:endParaRPr lang="en-US" sz="1050" dirty="0"/>
          </a:p>
        </p:txBody>
      </p:sp>
      <p:sp>
        <p:nvSpPr>
          <p:cNvPr id="14" name="Text 12"/>
          <p:cNvSpPr txBox="1"/>
          <p:nvPr/>
        </p:nvSpPr>
        <p:spPr>
          <a:xfrm>
            <a:off x="502920" y="2386584"/>
            <a:ext cx="1737360" cy="329184"/>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内掛け法</a:t>
            </a:r>
            <a:endParaRPr lang="en-US" sz="1050" dirty="0"/>
          </a:p>
        </p:txBody>
      </p:sp>
      <p:sp>
        <p:nvSpPr>
          <p:cNvPr id="15" name="Shape 13"/>
          <p:cNvSpPr/>
          <p:nvPr/>
        </p:nvSpPr>
        <p:spPr>
          <a:xfrm>
            <a:off x="2221992" y="2386584"/>
            <a:ext cx="0" cy="256032"/>
          </a:xfrm>
          <a:prstGeom prst="line">
            <a:avLst/>
          </a:prstGeom>
          <a:noFill/>
          <a:ln w="12700">
            <a:solidFill>
              <a:srgbClr val="E6E6E6"/>
            </a:solidFill>
            <a:prstDash val="solid"/>
          </a:ln>
        </p:spPr>
      </p:sp>
      <p:sp>
        <p:nvSpPr>
          <p:cNvPr id="16" name="Text 14"/>
          <p:cNvSpPr txBox="1"/>
          <p:nvPr/>
        </p:nvSpPr>
        <p:spPr>
          <a:xfrm>
            <a:off x="2377440" y="2386584"/>
            <a:ext cx="9326880" cy="329184"/>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標準時間＝正味時間÷（1－余裕率）</a:t>
            </a:r>
            <a:endParaRPr lang="en-US" sz="1050" dirty="0"/>
          </a:p>
        </p:txBody>
      </p:sp>
      <p:sp>
        <p:nvSpPr>
          <p:cNvPr id="17" name="Text 15"/>
          <p:cNvSpPr txBox="1"/>
          <p:nvPr/>
        </p:nvSpPr>
        <p:spPr>
          <a:xfrm>
            <a:off x="502920" y="2734056"/>
            <a:ext cx="1737360" cy="329184"/>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標準作業</a:t>
            </a:r>
            <a:endParaRPr lang="en-US" sz="1050" dirty="0"/>
          </a:p>
        </p:txBody>
      </p:sp>
      <p:sp>
        <p:nvSpPr>
          <p:cNvPr id="18" name="Shape 16"/>
          <p:cNvSpPr/>
          <p:nvPr/>
        </p:nvSpPr>
        <p:spPr>
          <a:xfrm>
            <a:off x="2221992" y="2734056"/>
            <a:ext cx="0" cy="256032"/>
          </a:xfrm>
          <a:prstGeom prst="line">
            <a:avLst/>
          </a:prstGeom>
          <a:noFill/>
          <a:ln w="12700">
            <a:solidFill>
              <a:srgbClr val="E6E6E6"/>
            </a:solidFill>
            <a:prstDash val="solid"/>
          </a:ln>
        </p:spPr>
      </p:sp>
      <p:sp>
        <p:nvSpPr>
          <p:cNvPr id="19" name="Text 17"/>
          <p:cNvSpPr txBox="1"/>
          <p:nvPr/>
        </p:nvSpPr>
        <p:spPr>
          <a:xfrm>
            <a:off x="2377440" y="2734056"/>
            <a:ext cx="9326880" cy="329184"/>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サイクルタイム・作業順序・標準手持ちの3要素（トヨタ生産方式）</a:t>
            </a:r>
            <a:endParaRPr lang="en-US" sz="1050" dirty="0"/>
          </a:p>
        </p:txBody>
      </p:sp>
      <p:sp>
        <p:nvSpPr>
          <p:cNvPr id="20" name="Text 18"/>
          <p:cNvSpPr txBox="1"/>
          <p:nvPr/>
        </p:nvSpPr>
        <p:spPr>
          <a:xfrm>
            <a:off x="502920" y="3154680"/>
            <a:ext cx="11201400" cy="530352"/>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観測時間48秒、レイティング110％→正味時間52.8秒。外掛け余裕率20％→標準時間＝52.8×1.2＝63.36秒。</a:t>
            </a:r>
            <a:endParaRPr lang="en-US" sz="850" dirty="0"/>
          </a:p>
        </p:txBody>
      </p:sp>
      <p:sp>
        <p:nvSpPr>
          <p:cNvPr id="21" name="Shape 19"/>
          <p:cNvSpPr/>
          <p:nvPr/>
        </p:nvSpPr>
        <p:spPr>
          <a:xfrm>
            <a:off x="502920" y="3758184"/>
            <a:ext cx="11201400" cy="0"/>
          </a:xfrm>
          <a:prstGeom prst="line">
            <a:avLst/>
          </a:prstGeom>
          <a:noFill/>
          <a:ln w="12700">
            <a:solidFill>
              <a:srgbClr val="E6E6E6"/>
            </a:solidFill>
            <a:prstDash val="solid"/>
          </a:ln>
        </p:spPr>
      </p:sp>
      <p:sp>
        <p:nvSpPr>
          <p:cNvPr id="22" name="Text 20"/>
          <p:cNvSpPr txBox="1"/>
          <p:nvPr/>
        </p:nvSpPr>
        <p:spPr>
          <a:xfrm>
            <a:off x="502920" y="3831336"/>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外掛け法・内掛け法は割る対象が違うため余裕率の数値自体が変わる。標準作業の3要素と標準時間の構成要素を混同しない。</a:t>
            </a:r>
            <a:endParaRPr lang="en-US" sz="950" dirty="0"/>
          </a:p>
        </p:txBody>
      </p:sp>
      <p:sp>
        <p:nvSpPr>
          <p:cNvPr id="23" name="Shape 21"/>
          <p:cNvSpPr/>
          <p:nvPr/>
        </p:nvSpPr>
        <p:spPr>
          <a:xfrm>
            <a:off x="502920" y="5989320"/>
            <a:ext cx="11201400" cy="0"/>
          </a:xfrm>
          <a:prstGeom prst="line">
            <a:avLst/>
          </a:prstGeom>
          <a:noFill/>
          <a:ln w="9525">
            <a:solidFill>
              <a:srgbClr val="171717"/>
            </a:solidFill>
            <a:prstDash val="solid"/>
          </a:ln>
        </p:spPr>
      </p:sp>
      <p:sp>
        <p:nvSpPr>
          <p:cNvPr id="24" name="Shape 22"/>
          <p:cNvSpPr/>
          <p:nvPr/>
        </p:nvSpPr>
        <p:spPr>
          <a:xfrm>
            <a:off x="502920" y="6062472"/>
            <a:ext cx="329184" cy="329184"/>
          </a:xfrm>
          <a:prstGeom prst="ellipse">
            <a:avLst/>
          </a:prstGeom>
          <a:solidFill>
            <a:srgbClr val="FF3B1F"/>
          </a:solidFill>
          <a:ln/>
        </p:spPr>
      </p:sp>
      <p:sp>
        <p:nvSpPr>
          <p:cNvPr id="25" name="Text 2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6" name="Text 2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7" name="Shape 25"/>
          <p:cNvSpPr/>
          <p:nvPr/>
        </p:nvSpPr>
        <p:spPr>
          <a:xfrm>
            <a:off x="2331720" y="6062472"/>
            <a:ext cx="0" cy="329184"/>
          </a:xfrm>
          <a:prstGeom prst="line">
            <a:avLst/>
          </a:prstGeom>
          <a:noFill/>
          <a:ln w="12700">
            <a:solidFill>
              <a:srgbClr val="E6E6E6"/>
            </a:solidFill>
            <a:prstDash val="solid"/>
          </a:ln>
        </p:spPr>
      </p:sp>
      <p:sp>
        <p:nvSpPr>
          <p:cNvPr id="28" name="Text 2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関連：D-5 セル生産方式（多能工化が前提条件）。</a:t>
            </a:r>
            <a:endParaRPr lang="en-US" sz="1000" dirty="0"/>
          </a:p>
        </p:txBody>
      </p:sp>
      <p:sp>
        <p:nvSpPr>
          <p:cNvPr id="29" name="Text 2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0" name="Shape 28"/>
          <p:cNvSpPr/>
          <p:nvPr/>
        </p:nvSpPr>
        <p:spPr>
          <a:xfrm>
            <a:off x="2466594"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2" name="Shape 30"/>
          <p:cNvSpPr/>
          <p:nvPr/>
        </p:nvSpPr>
        <p:spPr>
          <a:xfrm>
            <a:off x="3431286"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4" name="Shape 32"/>
          <p:cNvSpPr/>
          <p:nvPr/>
        </p:nvSpPr>
        <p:spPr>
          <a:xfrm>
            <a:off x="4395978"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6" name="Shape 34"/>
          <p:cNvSpPr/>
          <p:nvPr/>
        </p:nvSpPr>
        <p:spPr>
          <a:xfrm>
            <a:off x="5360670"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8" name="Shape 36"/>
          <p:cNvSpPr/>
          <p:nvPr/>
        </p:nvSpPr>
        <p:spPr>
          <a:xfrm>
            <a:off x="6325362"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0" name="Shape 38"/>
          <p:cNvSpPr/>
          <p:nvPr/>
        </p:nvSpPr>
        <p:spPr>
          <a:xfrm>
            <a:off x="7290054"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2" name="Shape 40"/>
          <p:cNvSpPr/>
          <p:nvPr/>
        </p:nvSpPr>
        <p:spPr>
          <a:xfrm>
            <a:off x="8254746"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4" name="Shape 42"/>
          <p:cNvSpPr/>
          <p:nvPr/>
        </p:nvSpPr>
        <p:spPr>
          <a:xfrm>
            <a:off x="9219438"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6" name="Shape 44"/>
          <p:cNvSpPr/>
          <p:nvPr/>
        </p:nvSpPr>
        <p:spPr>
          <a:xfrm>
            <a:off x="10184130"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8" name="Shape 46"/>
          <p:cNvSpPr/>
          <p:nvPr/>
        </p:nvSpPr>
        <p:spPr>
          <a:xfrm>
            <a:off x="11148822" y="6464808"/>
            <a:ext cx="146304" cy="146304"/>
          </a:xfrm>
          <a:prstGeom prst="ellipse">
            <a:avLst/>
          </a:prstGeom>
          <a:solidFill>
            <a:srgbClr val="FFFFFF"/>
          </a:solidFill>
          <a:ln w="12700">
            <a:solidFill>
              <a:srgbClr val="E6E6E6"/>
            </a:solidFill>
            <a:prstDash val="solid"/>
          </a:ln>
        </p:spPr>
      </p:sp>
      <p:sp>
        <p:nvSpPr>
          <p:cNvPr id="49" name="Text 4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D-12 ／ 作業の分析手法</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工程図記号で「見える化」する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貯蔵（計画的）と滞留（計画外）の違いが頻出のひっかけ。</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92808"/>
            <a:ext cx="22860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 加工</a:t>
            </a:r>
            <a:endParaRPr lang="en-US" sz="1500" dirty="0"/>
          </a:p>
        </p:txBody>
      </p:sp>
      <p:sp>
        <p:nvSpPr>
          <p:cNvPr id="9" name="Text 7"/>
          <p:cNvSpPr txBox="1"/>
          <p:nvPr/>
        </p:nvSpPr>
        <p:spPr>
          <a:xfrm>
            <a:off x="2880360" y="1856232"/>
            <a:ext cx="882396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形状・性質を変える作業</a:t>
            </a:r>
            <a:endParaRPr lang="en-US" sz="1100" dirty="0"/>
          </a:p>
        </p:txBody>
      </p:sp>
      <p:sp>
        <p:nvSpPr>
          <p:cNvPr id="10" name="Shape 8"/>
          <p:cNvSpPr/>
          <p:nvPr/>
        </p:nvSpPr>
        <p:spPr>
          <a:xfrm>
            <a:off x="502920" y="2606040"/>
            <a:ext cx="11201400" cy="0"/>
          </a:xfrm>
          <a:prstGeom prst="line">
            <a:avLst/>
          </a:prstGeom>
          <a:noFill/>
          <a:ln w="12700">
            <a:solidFill>
              <a:srgbClr val="E6E6E6"/>
            </a:solidFill>
            <a:prstDash val="solid"/>
          </a:ln>
        </p:spPr>
      </p:sp>
      <p:sp>
        <p:nvSpPr>
          <p:cNvPr id="11" name="Text 9"/>
          <p:cNvSpPr txBox="1"/>
          <p:nvPr/>
        </p:nvSpPr>
        <p:spPr>
          <a:xfrm>
            <a:off x="502920" y="2715768"/>
            <a:ext cx="22860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 運搬</a:t>
            </a:r>
            <a:endParaRPr lang="en-US" sz="1500" dirty="0"/>
          </a:p>
        </p:txBody>
      </p:sp>
      <p:sp>
        <p:nvSpPr>
          <p:cNvPr id="12" name="Text 10"/>
          <p:cNvSpPr txBox="1"/>
          <p:nvPr/>
        </p:nvSpPr>
        <p:spPr>
          <a:xfrm>
            <a:off x="2880360" y="2679192"/>
            <a:ext cx="882396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位置を移動させる</a:t>
            </a:r>
            <a:endParaRPr lang="en-US" sz="1100" dirty="0"/>
          </a:p>
        </p:txBody>
      </p:sp>
      <p:sp>
        <p:nvSpPr>
          <p:cNvPr id="13" name="Shape 11"/>
          <p:cNvSpPr/>
          <p:nvPr/>
        </p:nvSpPr>
        <p:spPr>
          <a:xfrm>
            <a:off x="502920" y="3429000"/>
            <a:ext cx="11201400" cy="0"/>
          </a:xfrm>
          <a:prstGeom prst="line">
            <a:avLst/>
          </a:prstGeom>
          <a:noFill/>
          <a:ln w="12700">
            <a:solidFill>
              <a:srgbClr val="E6E6E6"/>
            </a:solidFill>
            <a:prstDash val="solid"/>
          </a:ln>
        </p:spPr>
      </p:sp>
      <p:sp>
        <p:nvSpPr>
          <p:cNvPr id="14" name="Text 12"/>
          <p:cNvSpPr txBox="1"/>
          <p:nvPr/>
        </p:nvSpPr>
        <p:spPr>
          <a:xfrm>
            <a:off x="502920" y="3538728"/>
            <a:ext cx="22860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 検査</a:t>
            </a:r>
            <a:endParaRPr lang="en-US" sz="1500" dirty="0"/>
          </a:p>
        </p:txBody>
      </p:sp>
      <p:sp>
        <p:nvSpPr>
          <p:cNvPr id="15" name="Text 13"/>
          <p:cNvSpPr txBox="1"/>
          <p:nvPr/>
        </p:nvSpPr>
        <p:spPr>
          <a:xfrm>
            <a:off x="2880360" y="3502152"/>
            <a:ext cx="882396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□数量検査（個数・重量）／◇品質検査（規格適合）</a:t>
            </a:r>
            <a:endParaRPr lang="en-US" sz="1100" dirty="0"/>
          </a:p>
        </p:txBody>
      </p:sp>
      <p:sp>
        <p:nvSpPr>
          <p:cNvPr id="16" name="Shape 14"/>
          <p:cNvSpPr/>
          <p:nvPr/>
        </p:nvSpPr>
        <p:spPr>
          <a:xfrm>
            <a:off x="502920" y="4251960"/>
            <a:ext cx="11201400" cy="0"/>
          </a:xfrm>
          <a:prstGeom prst="line">
            <a:avLst/>
          </a:prstGeom>
          <a:noFill/>
          <a:ln w="12700">
            <a:solidFill>
              <a:srgbClr val="E6E6E6"/>
            </a:solidFill>
            <a:prstDash val="solid"/>
          </a:ln>
        </p:spPr>
      </p:sp>
      <p:sp>
        <p:nvSpPr>
          <p:cNvPr id="17" name="Text 15"/>
          <p:cNvSpPr txBox="1"/>
          <p:nvPr/>
        </p:nvSpPr>
        <p:spPr>
          <a:xfrm>
            <a:off x="502920" y="4361688"/>
            <a:ext cx="228600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▽／D 貯蔵・滞留</a:t>
            </a:r>
            <a:endParaRPr lang="en-US" sz="1500" dirty="0"/>
          </a:p>
        </p:txBody>
      </p:sp>
      <p:sp>
        <p:nvSpPr>
          <p:cNvPr id="18" name="Text 16"/>
          <p:cNvSpPr txBox="1"/>
          <p:nvPr/>
        </p:nvSpPr>
        <p:spPr>
          <a:xfrm>
            <a:off x="2880360" y="4325112"/>
            <a:ext cx="882396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▽計画的にためる／D計画外のやむを得ない足止め</a:t>
            </a:r>
            <a:endParaRPr lang="en-US" sz="1100" dirty="0"/>
          </a:p>
        </p:txBody>
      </p:sp>
      <p:sp>
        <p:nvSpPr>
          <p:cNvPr id="19" name="Text 17"/>
          <p:cNvSpPr txBox="1"/>
          <p:nvPr/>
        </p:nvSpPr>
        <p:spPr>
          <a:xfrm>
            <a:off x="502920" y="5184648"/>
            <a:ext cx="11201400" cy="59436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部品加工工場D社が工程分析表を作成したところ、形状を変える「加工」の時間は全体のわずか2割で、残り8割は運搬と在庫としての貯蔵だったことが判明し、運搬経路の短縮とレイアウト見直し（D-16のSLP）による改善に着手した。</a:t>
            </a:r>
            <a:endParaRPr lang="en-US" sz="850" dirty="0"/>
          </a:p>
        </p:txBody>
      </p:sp>
      <p:sp>
        <p:nvSpPr>
          <p:cNvPr id="20" name="Shape 18"/>
          <p:cNvSpPr/>
          <p:nvPr/>
        </p:nvSpPr>
        <p:spPr>
          <a:xfrm>
            <a:off x="502920" y="5989320"/>
            <a:ext cx="11201400" cy="0"/>
          </a:xfrm>
          <a:prstGeom prst="line">
            <a:avLst/>
          </a:prstGeom>
          <a:noFill/>
          <a:ln w="9525">
            <a:solidFill>
              <a:srgbClr val="171717"/>
            </a:solidFill>
            <a:prstDash val="solid"/>
          </a:ln>
        </p:spPr>
      </p:sp>
      <p:sp>
        <p:nvSpPr>
          <p:cNvPr id="21" name="Shape 19"/>
          <p:cNvSpPr/>
          <p:nvPr/>
        </p:nvSpPr>
        <p:spPr>
          <a:xfrm>
            <a:off x="502920" y="6062472"/>
            <a:ext cx="329184" cy="329184"/>
          </a:xfrm>
          <a:prstGeom prst="ellipse">
            <a:avLst/>
          </a:prstGeom>
          <a:solidFill>
            <a:srgbClr val="FF3B1F"/>
          </a:solidFill>
          <a:ln/>
        </p:spPr>
      </p:sp>
      <p:sp>
        <p:nvSpPr>
          <p:cNvPr id="22" name="Text 20"/>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3" name="Text 21"/>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4" name="Shape 22"/>
          <p:cNvSpPr/>
          <p:nvPr/>
        </p:nvSpPr>
        <p:spPr>
          <a:xfrm>
            <a:off x="2331720" y="6062472"/>
            <a:ext cx="0" cy="329184"/>
          </a:xfrm>
          <a:prstGeom prst="line">
            <a:avLst/>
          </a:prstGeom>
          <a:noFill/>
          <a:ln w="12700">
            <a:solidFill>
              <a:srgbClr val="E6E6E6"/>
            </a:solidFill>
            <a:prstDash val="solid"/>
          </a:ln>
        </p:spPr>
      </p:sp>
      <p:sp>
        <p:nvSpPr>
          <p:cNvPr id="25" name="Text 23"/>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動作分析：ギルブレス夫妻のサーブリッグ分析（つかむ・運ぶ・探す等に分解）。D-13につながる。</a:t>
            </a:r>
            <a:endParaRPr lang="en-US" sz="1000" dirty="0"/>
          </a:p>
        </p:txBody>
      </p:sp>
      <p:sp>
        <p:nvSpPr>
          <p:cNvPr id="26" name="Text 24"/>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7" name="Shape 25"/>
          <p:cNvSpPr/>
          <p:nvPr/>
        </p:nvSpPr>
        <p:spPr>
          <a:xfrm>
            <a:off x="2466594"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9" name="Shape 27"/>
          <p:cNvSpPr/>
          <p:nvPr/>
        </p:nvSpPr>
        <p:spPr>
          <a:xfrm>
            <a:off x="3431286"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1" name="Shape 29"/>
          <p:cNvSpPr/>
          <p:nvPr/>
        </p:nvSpPr>
        <p:spPr>
          <a:xfrm>
            <a:off x="4395978"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3" name="Shape 31"/>
          <p:cNvSpPr/>
          <p:nvPr/>
        </p:nvSpPr>
        <p:spPr>
          <a:xfrm>
            <a:off x="5360670"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5" name="Shape 33"/>
          <p:cNvSpPr/>
          <p:nvPr/>
        </p:nvSpPr>
        <p:spPr>
          <a:xfrm>
            <a:off x="6325362"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7" name="Shape 35"/>
          <p:cNvSpPr/>
          <p:nvPr/>
        </p:nvSpPr>
        <p:spPr>
          <a:xfrm>
            <a:off x="7290054"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9" name="Shape 37"/>
          <p:cNvSpPr/>
          <p:nvPr/>
        </p:nvSpPr>
        <p:spPr>
          <a:xfrm>
            <a:off x="8254746"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1" name="Shape 39"/>
          <p:cNvSpPr/>
          <p:nvPr/>
        </p:nvSpPr>
        <p:spPr>
          <a:xfrm>
            <a:off x="9219438"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3" name="Shape 41"/>
          <p:cNvSpPr/>
          <p:nvPr/>
        </p:nvSpPr>
        <p:spPr>
          <a:xfrm>
            <a:off x="10184130"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5" name="Shape 43"/>
          <p:cNvSpPr/>
          <p:nvPr/>
        </p:nvSpPr>
        <p:spPr>
          <a:xfrm>
            <a:off x="11148822" y="6464808"/>
            <a:ext cx="146304" cy="146304"/>
          </a:xfrm>
          <a:prstGeom prst="ellipse">
            <a:avLst/>
          </a:prstGeom>
          <a:solidFill>
            <a:srgbClr val="FFFFFF"/>
          </a:solidFill>
          <a:ln w="12700">
            <a:solidFill>
              <a:srgbClr val="E6E6E6"/>
            </a:solidFill>
            <a:prstDash val="solid"/>
          </a:ln>
        </p:spPr>
      </p:sp>
      <p:sp>
        <p:nvSpPr>
          <p:cNvPr id="46" name="Text 44"/>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D-13 ／ 作業の改善</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まず「なくせないか」から考える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ECRSはE→C→R→Sの順で検討する。順番自体が頻出の出題ポイント。</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463040" cy="329184"/>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E：排除</a:t>
            </a:r>
            <a:endParaRPr lang="en-US" sz="1100" dirty="0"/>
          </a:p>
        </p:txBody>
      </p:sp>
      <p:sp>
        <p:nvSpPr>
          <p:cNvPr id="9" name="Shape 7"/>
          <p:cNvSpPr/>
          <p:nvPr/>
        </p:nvSpPr>
        <p:spPr>
          <a:xfrm>
            <a:off x="1947672" y="1691640"/>
            <a:ext cx="0" cy="256032"/>
          </a:xfrm>
          <a:prstGeom prst="line">
            <a:avLst/>
          </a:prstGeom>
          <a:noFill/>
          <a:ln w="12700">
            <a:solidFill>
              <a:srgbClr val="E6E6E6"/>
            </a:solidFill>
            <a:prstDash val="solid"/>
          </a:ln>
        </p:spPr>
      </p:sp>
      <p:sp>
        <p:nvSpPr>
          <p:cNvPr id="10" name="Text 8"/>
          <p:cNvSpPr txBox="1"/>
          <p:nvPr/>
        </p:nvSpPr>
        <p:spPr>
          <a:xfrm>
            <a:off x="2103120" y="1691640"/>
            <a:ext cx="9601200" cy="329184"/>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その作業自体をなくせないか（最初に検討）</a:t>
            </a:r>
            <a:endParaRPr lang="en-US" sz="1100" dirty="0"/>
          </a:p>
        </p:txBody>
      </p:sp>
      <p:sp>
        <p:nvSpPr>
          <p:cNvPr id="11" name="Text 9"/>
          <p:cNvSpPr txBox="1"/>
          <p:nvPr/>
        </p:nvSpPr>
        <p:spPr>
          <a:xfrm>
            <a:off x="502920" y="2039112"/>
            <a:ext cx="1463040" cy="329184"/>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C：結合</a:t>
            </a:r>
            <a:endParaRPr lang="en-US" sz="1100" dirty="0"/>
          </a:p>
        </p:txBody>
      </p:sp>
      <p:sp>
        <p:nvSpPr>
          <p:cNvPr id="12" name="Shape 10"/>
          <p:cNvSpPr/>
          <p:nvPr/>
        </p:nvSpPr>
        <p:spPr>
          <a:xfrm>
            <a:off x="1947672" y="2039112"/>
            <a:ext cx="0" cy="256032"/>
          </a:xfrm>
          <a:prstGeom prst="line">
            <a:avLst/>
          </a:prstGeom>
          <a:noFill/>
          <a:ln w="12700">
            <a:solidFill>
              <a:srgbClr val="E6E6E6"/>
            </a:solidFill>
            <a:prstDash val="solid"/>
          </a:ln>
        </p:spPr>
      </p:sp>
      <p:sp>
        <p:nvSpPr>
          <p:cNvPr id="13" name="Text 11"/>
          <p:cNvSpPr txBox="1"/>
          <p:nvPr/>
        </p:nvSpPr>
        <p:spPr>
          <a:xfrm>
            <a:off x="2103120" y="2039112"/>
            <a:ext cx="9601200" cy="329184"/>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複数の作業を1つにまとめられないか</a:t>
            </a:r>
            <a:endParaRPr lang="en-US" sz="1100" dirty="0"/>
          </a:p>
        </p:txBody>
      </p:sp>
      <p:sp>
        <p:nvSpPr>
          <p:cNvPr id="14" name="Text 12"/>
          <p:cNvSpPr txBox="1"/>
          <p:nvPr/>
        </p:nvSpPr>
        <p:spPr>
          <a:xfrm>
            <a:off x="502920" y="2386584"/>
            <a:ext cx="1463040" cy="329184"/>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R：交換</a:t>
            </a:r>
            <a:endParaRPr lang="en-US" sz="1100" dirty="0"/>
          </a:p>
        </p:txBody>
      </p:sp>
      <p:sp>
        <p:nvSpPr>
          <p:cNvPr id="15" name="Shape 13"/>
          <p:cNvSpPr/>
          <p:nvPr/>
        </p:nvSpPr>
        <p:spPr>
          <a:xfrm>
            <a:off x="1947672" y="2386584"/>
            <a:ext cx="0" cy="256032"/>
          </a:xfrm>
          <a:prstGeom prst="line">
            <a:avLst/>
          </a:prstGeom>
          <a:noFill/>
          <a:ln w="12700">
            <a:solidFill>
              <a:srgbClr val="E6E6E6"/>
            </a:solidFill>
            <a:prstDash val="solid"/>
          </a:ln>
        </p:spPr>
      </p:sp>
      <p:sp>
        <p:nvSpPr>
          <p:cNvPr id="16" name="Text 14"/>
          <p:cNvSpPr txBox="1"/>
          <p:nvPr/>
        </p:nvSpPr>
        <p:spPr>
          <a:xfrm>
            <a:off x="2103120" y="2386584"/>
            <a:ext cx="9601200" cy="329184"/>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作業の順序・場所を入れ替えられないか</a:t>
            </a:r>
            <a:endParaRPr lang="en-US" sz="1100" dirty="0"/>
          </a:p>
        </p:txBody>
      </p:sp>
      <p:sp>
        <p:nvSpPr>
          <p:cNvPr id="17" name="Text 15"/>
          <p:cNvSpPr txBox="1"/>
          <p:nvPr/>
        </p:nvSpPr>
        <p:spPr>
          <a:xfrm>
            <a:off x="502920" y="2734056"/>
            <a:ext cx="1463040" cy="329184"/>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S：簡素化</a:t>
            </a:r>
            <a:endParaRPr lang="en-US" sz="1100" dirty="0"/>
          </a:p>
        </p:txBody>
      </p:sp>
      <p:sp>
        <p:nvSpPr>
          <p:cNvPr id="18" name="Shape 16"/>
          <p:cNvSpPr/>
          <p:nvPr/>
        </p:nvSpPr>
        <p:spPr>
          <a:xfrm>
            <a:off x="1947672" y="2734056"/>
            <a:ext cx="0" cy="256032"/>
          </a:xfrm>
          <a:prstGeom prst="line">
            <a:avLst/>
          </a:prstGeom>
          <a:noFill/>
          <a:ln w="12700">
            <a:solidFill>
              <a:srgbClr val="E6E6E6"/>
            </a:solidFill>
            <a:prstDash val="solid"/>
          </a:ln>
        </p:spPr>
      </p:sp>
      <p:sp>
        <p:nvSpPr>
          <p:cNvPr id="19" name="Text 17"/>
          <p:cNvSpPr txBox="1"/>
          <p:nvPr/>
        </p:nvSpPr>
        <p:spPr>
          <a:xfrm>
            <a:off x="2103120" y="2734056"/>
            <a:ext cx="9601200" cy="329184"/>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より簡単な方法にできないか</a:t>
            </a:r>
            <a:endParaRPr lang="en-US" sz="1100" dirty="0"/>
          </a:p>
        </p:txBody>
      </p:sp>
      <p:sp>
        <p:nvSpPr>
          <p:cNvPr id="20" name="Text 18"/>
          <p:cNvSpPr txBox="1"/>
          <p:nvPr/>
        </p:nvSpPr>
        <p:spPr>
          <a:xfrm>
            <a:off x="502920" y="3154680"/>
            <a:ext cx="11201400" cy="365760"/>
          </a:xfrm>
          <a:prstGeom prst="rect">
            <a:avLst/>
          </a:prstGeom>
          <a:noFill/>
          <a:ln/>
        </p:spPr>
        <p:txBody>
          <a:bodyPr wrap="square" lIns="0" tIns="0" rIns="0" bIns="0" rtlCol="0" anchor="ctr"/>
          <a:lstStyle/>
          <a:p>
            <a:pPr indent="0" marL="0">
              <a:lnSpc>
                <a:spcPct val="120000"/>
              </a:lnSpc>
              <a:buNone/>
            </a:pPr>
            <a:r>
              <a:rPr lang="en-US" sz="1050" b="1" dirty="0">
                <a:solidFill>
                  <a:srgbClr val="171717"/>
                </a:solidFill>
                <a:latin typeface="Yu Gothic" pitchFamily="34" charset="0"/>
                <a:ea typeface="Yu Gothic" pitchFamily="34" charset="-122"/>
                <a:cs typeface="Yu Gothic" pitchFamily="34" charset="-120"/>
              </a:rPr>
              <a:t>動作経済の原則：</a:t>
            </a:r>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身体の使用／作業場の配置／工具・設備の設計、の3分類でムダのない動き方・環境を作る。</a:t>
            </a:r>
            <a:endParaRPr lang="en-US" sz="1050" dirty="0"/>
          </a:p>
        </p:txBody>
      </p:sp>
      <p:sp>
        <p:nvSpPr>
          <p:cNvPr id="21" name="Text 19"/>
          <p:cNvSpPr txBox="1"/>
          <p:nvPr/>
        </p:nvSpPr>
        <p:spPr>
          <a:xfrm>
            <a:off x="502920" y="3593592"/>
            <a:ext cx="11201400" cy="59436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ある組立ラインでは、部品を離れた棚まで毎回取りに歩いていたが、作業台のすぐ手の届く位置に部品を再配置（動作経済の原則「作業場の配置」）した結果、そもそも歩いて取りに行くという動作自体をなくす（ECRSの「E：排除」）ことができた。</a:t>
            </a:r>
            <a:endParaRPr lang="en-US" sz="850" dirty="0"/>
          </a:p>
        </p:txBody>
      </p:sp>
      <p:sp>
        <p:nvSpPr>
          <p:cNvPr id="22" name="Shape 20"/>
          <p:cNvSpPr/>
          <p:nvPr/>
        </p:nvSpPr>
        <p:spPr>
          <a:xfrm>
            <a:off x="502920" y="4261104"/>
            <a:ext cx="11201400" cy="0"/>
          </a:xfrm>
          <a:prstGeom prst="line">
            <a:avLst/>
          </a:prstGeom>
          <a:noFill/>
          <a:ln w="12700">
            <a:solidFill>
              <a:srgbClr val="E6E6E6"/>
            </a:solidFill>
            <a:prstDash val="solid"/>
          </a:ln>
        </p:spPr>
      </p:sp>
      <p:sp>
        <p:nvSpPr>
          <p:cNvPr id="23" name="Text 21"/>
          <p:cNvSpPr txBox="1"/>
          <p:nvPr/>
        </p:nvSpPr>
        <p:spPr>
          <a:xfrm>
            <a:off x="502920" y="4334256"/>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「まず簡素化を検討し、それでも難しければ排除を検討する」のように順序を入れ替えた記述は誤り。</a:t>
            </a:r>
            <a:endParaRPr lang="en-US" sz="950" dirty="0"/>
          </a:p>
        </p:txBody>
      </p:sp>
      <p:sp>
        <p:nvSpPr>
          <p:cNvPr id="24" name="Shape 22"/>
          <p:cNvSpPr/>
          <p:nvPr/>
        </p:nvSpPr>
        <p:spPr>
          <a:xfrm>
            <a:off x="502920" y="5989320"/>
            <a:ext cx="11201400" cy="0"/>
          </a:xfrm>
          <a:prstGeom prst="line">
            <a:avLst/>
          </a:prstGeom>
          <a:noFill/>
          <a:ln w="9525">
            <a:solidFill>
              <a:srgbClr val="171717"/>
            </a:solidFill>
            <a:prstDash val="solid"/>
          </a:ln>
        </p:spPr>
      </p:sp>
      <p:sp>
        <p:nvSpPr>
          <p:cNvPr id="25" name="Shape 23"/>
          <p:cNvSpPr/>
          <p:nvPr/>
        </p:nvSpPr>
        <p:spPr>
          <a:xfrm>
            <a:off x="502920" y="6062472"/>
            <a:ext cx="329184" cy="329184"/>
          </a:xfrm>
          <a:prstGeom prst="ellipse">
            <a:avLst/>
          </a:prstGeom>
          <a:solidFill>
            <a:srgbClr val="FF3B1F"/>
          </a:solidFill>
          <a:ln/>
        </p:spPr>
      </p:sp>
      <p:sp>
        <p:nvSpPr>
          <p:cNvPr id="26" name="Text 24"/>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7" name="Text 25"/>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8" name="Shape 26"/>
          <p:cNvSpPr/>
          <p:nvPr/>
        </p:nvSpPr>
        <p:spPr>
          <a:xfrm>
            <a:off x="2331720" y="6062472"/>
            <a:ext cx="0" cy="329184"/>
          </a:xfrm>
          <a:prstGeom prst="line">
            <a:avLst/>
          </a:prstGeom>
          <a:noFill/>
          <a:ln w="12700">
            <a:solidFill>
              <a:srgbClr val="E6E6E6"/>
            </a:solidFill>
            <a:prstDash val="solid"/>
          </a:ln>
        </p:spPr>
      </p:sp>
      <p:sp>
        <p:nvSpPr>
          <p:cNvPr id="29" name="Text 27"/>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関連：D-12 動作分析（サーブリッグ分析の結果がここでの改善につながる）。</a:t>
            </a:r>
            <a:endParaRPr lang="en-US" sz="1000" dirty="0"/>
          </a:p>
        </p:txBody>
      </p:sp>
      <p:sp>
        <p:nvSpPr>
          <p:cNvPr id="30" name="Text 28"/>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1" name="Shape 29"/>
          <p:cNvSpPr/>
          <p:nvPr/>
        </p:nvSpPr>
        <p:spPr>
          <a:xfrm>
            <a:off x="2466594"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3" name="Shape 31"/>
          <p:cNvSpPr/>
          <p:nvPr/>
        </p:nvSpPr>
        <p:spPr>
          <a:xfrm>
            <a:off x="3431286"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5" name="Shape 33"/>
          <p:cNvSpPr/>
          <p:nvPr/>
        </p:nvSpPr>
        <p:spPr>
          <a:xfrm>
            <a:off x="4395978" y="6464808"/>
            <a:ext cx="146304" cy="146304"/>
          </a:xfrm>
          <a:prstGeom prst="ellipse">
            <a:avLst/>
          </a:prstGeom>
          <a:solidFill>
            <a:srgbClr val="FFFFFF"/>
          </a:solidFill>
          <a:ln w="12700">
            <a:solidFill>
              <a:srgbClr val="E6E6E6"/>
            </a:solidFill>
            <a:prstDash val="solid"/>
          </a:ln>
        </p:spPr>
      </p:sp>
      <p:sp>
        <p:nvSpPr>
          <p:cNvPr id="36" name="Text 34"/>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7" name="Shape 35"/>
          <p:cNvSpPr/>
          <p:nvPr/>
        </p:nvSpPr>
        <p:spPr>
          <a:xfrm>
            <a:off x="5360670"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9" name="Shape 37"/>
          <p:cNvSpPr/>
          <p:nvPr/>
        </p:nvSpPr>
        <p:spPr>
          <a:xfrm>
            <a:off x="6325362"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1" name="Shape 39"/>
          <p:cNvSpPr/>
          <p:nvPr/>
        </p:nvSpPr>
        <p:spPr>
          <a:xfrm>
            <a:off x="7290054" y="6464808"/>
            <a:ext cx="146304" cy="146304"/>
          </a:xfrm>
          <a:prstGeom prst="ellipse">
            <a:avLst/>
          </a:prstGeom>
          <a:solidFill>
            <a:srgbClr val="FFFFFF"/>
          </a:solidFill>
          <a:ln w="12700">
            <a:solidFill>
              <a:srgbClr val="E6E6E6"/>
            </a:solidFill>
            <a:prstDash val="solid"/>
          </a:ln>
        </p:spPr>
      </p:sp>
      <p:sp>
        <p:nvSpPr>
          <p:cNvPr id="42" name="Text 40"/>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43" name="Shape 41"/>
          <p:cNvSpPr/>
          <p:nvPr/>
        </p:nvSpPr>
        <p:spPr>
          <a:xfrm>
            <a:off x="8254746"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5" name="Shape 43"/>
          <p:cNvSpPr/>
          <p:nvPr/>
        </p:nvSpPr>
        <p:spPr>
          <a:xfrm>
            <a:off x="9219438"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7" name="Shape 45"/>
          <p:cNvSpPr/>
          <p:nvPr/>
        </p:nvSpPr>
        <p:spPr>
          <a:xfrm>
            <a:off x="10184130" y="6464808"/>
            <a:ext cx="146304" cy="146304"/>
          </a:xfrm>
          <a:prstGeom prst="ellipse">
            <a:avLst/>
          </a:prstGeom>
          <a:solidFill>
            <a:srgbClr val="FFFFFF"/>
          </a:solidFill>
          <a:ln w="12700">
            <a:solidFill>
              <a:srgbClr val="E6E6E6"/>
            </a:solidFill>
            <a:prstDash val="solid"/>
          </a:ln>
        </p:spPr>
      </p:sp>
      <p:sp>
        <p:nvSpPr>
          <p:cNvPr id="48" name="Text 46"/>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9" name="Shape 47"/>
          <p:cNvSpPr/>
          <p:nvPr/>
        </p:nvSpPr>
        <p:spPr>
          <a:xfrm>
            <a:off x="11148822" y="6464808"/>
            <a:ext cx="146304" cy="146304"/>
          </a:xfrm>
          <a:prstGeom prst="ellipse">
            <a:avLst/>
          </a:prstGeom>
          <a:solidFill>
            <a:srgbClr val="FF3B1F"/>
          </a:solidFill>
          <a:ln w="12700">
            <a:solidFill>
              <a:srgbClr val="FF3B1F"/>
            </a:solidFill>
            <a:prstDash val="solid"/>
          </a:ln>
        </p:spPr>
      </p:sp>
      <p:sp>
        <p:nvSpPr>
          <p:cNvPr id="50" name="Text 48"/>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D-14 ／ 設備管理（5S、TPM）</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自主保全が現場のオペレーターの手で行われる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5Sは職場環境の基本活動。TPMは全員参加の設備保全活動。</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103120" cy="329184"/>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整理／整頓</a:t>
            </a:r>
            <a:endParaRPr lang="en-US" sz="1050" dirty="0"/>
          </a:p>
        </p:txBody>
      </p:sp>
      <p:sp>
        <p:nvSpPr>
          <p:cNvPr id="9" name="Shape 7"/>
          <p:cNvSpPr/>
          <p:nvPr/>
        </p:nvSpPr>
        <p:spPr>
          <a:xfrm>
            <a:off x="2587752" y="1691640"/>
            <a:ext cx="0" cy="256032"/>
          </a:xfrm>
          <a:prstGeom prst="line">
            <a:avLst/>
          </a:prstGeom>
          <a:noFill/>
          <a:ln w="12700">
            <a:solidFill>
              <a:srgbClr val="E6E6E6"/>
            </a:solidFill>
            <a:prstDash val="solid"/>
          </a:ln>
        </p:spPr>
      </p:sp>
      <p:sp>
        <p:nvSpPr>
          <p:cNvPr id="10" name="Text 8"/>
          <p:cNvSpPr txBox="1"/>
          <p:nvPr/>
        </p:nvSpPr>
        <p:spPr>
          <a:xfrm>
            <a:off x="2743200" y="1691640"/>
            <a:ext cx="8961120" cy="329184"/>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不要品を捨てる／必要な物をすぐ取り出せる状態に置く</a:t>
            </a:r>
            <a:endParaRPr lang="en-US" sz="1050" dirty="0"/>
          </a:p>
        </p:txBody>
      </p:sp>
      <p:sp>
        <p:nvSpPr>
          <p:cNvPr id="11" name="Text 9"/>
          <p:cNvSpPr txBox="1"/>
          <p:nvPr/>
        </p:nvSpPr>
        <p:spPr>
          <a:xfrm>
            <a:off x="502920" y="2039112"/>
            <a:ext cx="2103120" cy="329184"/>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清掃・清潔・躾</a:t>
            </a:r>
            <a:endParaRPr lang="en-US" sz="1050" dirty="0"/>
          </a:p>
        </p:txBody>
      </p:sp>
      <p:sp>
        <p:nvSpPr>
          <p:cNvPr id="12" name="Shape 10"/>
          <p:cNvSpPr/>
          <p:nvPr/>
        </p:nvSpPr>
        <p:spPr>
          <a:xfrm>
            <a:off x="2587752" y="2039112"/>
            <a:ext cx="0" cy="256032"/>
          </a:xfrm>
          <a:prstGeom prst="line">
            <a:avLst/>
          </a:prstGeom>
          <a:noFill/>
          <a:ln w="12700">
            <a:solidFill>
              <a:srgbClr val="E6E6E6"/>
            </a:solidFill>
            <a:prstDash val="solid"/>
          </a:ln>
        </p:spPr>
      </p:sp>
      <p:sp>
        <p:nvSpPr>
          <p:cNvPr id="13" name="Text 11"/>
          <p:cNvSpPr txBox="1"/>
          <p:nvPr/>
        </p:nvSpPr>
        <p:spPr>
          <a:xfrm>
            <a:off x="2743200" y="2039112"/>
            <a:ext cx="8961120" cy="329184"/>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掃除しながら点検／維持する／ルールを守る習慣</a:t>
            </a:r>
            <a:endParaRPr lang="en-US" sz="1050" dirty="0"/>
          </a:p>
        </p:txBody>
      </p:sp>
      <p:sp>
        <p:nvSpPr>
          <p:cNvPr id="14" name="Text 12"/>
          <p:cNvSpPr txBox="1"/>
          <p:nvPr/>
        </p:nvSpPr>
        <p:spPr>
          <a:xfrm>
            <a:off x="502920" y="2386584"/>
            <a:ext cx="2103120" cy="329184"/>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TPM・自主保全</a:t>
            </a:r>
            <a:endParaRPr lang="en-US" sz="1050" dirty="0"/>
          </a:p>
        </p:txBody>
      </p:sp>
      <p:sp>
        <p:nvSpPr>
          <p:cNvPr id="15" name="Shape 13"/>
          <p:cNvSpPr/>
          <p:nvPr/>
        </p:nvSpPr>
        <p:spPr>
          <a:xfrm>
            <a:off x="2587752" y="2386584"/>
            <a:ext cx="0" cy="256032"/>
          </a:xfrm>
          <a:prstGeom prst="line">
            <a:avLst/>
          </a:prstGeom>
          <a:noFill/>
          <a:ln w="12700">
            <a:solidFill>
              <a:srgbClr val="E6E6E6"/>
            </a:solidFill>
            <a:prstDash val="solid"/>
          </a:ln>
        </p:spPr>
      </p:sp>
      <p:sp>
        <p:nvSpPr>
          <p:cNvPr id="16" name="Text 14"/>
          <p:cNvSpPr txBox="1"/>
          <p:nvPr/>
        </p:nvSpPr>
        <p:spPr>
          <a:xfrm>
            <a:off x="2743200" y="2386584"/>
            <a:ext cx="8961120" cy="329184"/>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現場オペレーター自身が日常点検・簡単な保全を行う</a:t>
            </a:r>
            <a:endParaRPr lang="en-US" sz="1050" dirty="0"/>
          </a:p>
        </p:txBody>
      </p:sp>
      <p:sp>
        <p:nvSpPr>
          <p:cNvPr id="17" name="Text 15"/>
          <p:cNvSpPr txBox="1"/>
          <p:nvPr/>
        </p:nvSpPr>
        <p:spPr>
          <a:xfrm>
            <a:off x="502920" y="2734056"/>
            <a:ext cx="2103120" cy="329184"/>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設備総合効率（OEE）</a:t>
            </a:r>
            <a:endParaRPr lang="en-US" sz="1050" dirty="0"/>
          </a:p>
        </p:txBody>
      </p:sp>
      <p:sp>
        <p:nvSpPr>
          <p:cNvPr id="18" name="Shape 16"/>
          <p:cNvSpPr/>
          <p:nvPr/>
        </p:nvSpPr>
        <p:spPr>
          <a:xfrm>
            <a:off x="2587752" y="2734056"/>
            <a:ext cx="0" cy="256032"/>
          </a:xfrm>
          <a:prstGeom prst="line">
            <a:avLst/>
          </a:prstGeom>
          <a:noFill/>
          <a:ln w="12700">
            <a:solidFill>
              <a:srgbClr val="E6E6E6"/>
            </a:solidFill>
            <a:prstDash val="solid"/>
          </a:ln>
        </p:spPr>
      </p:sp>
      <p:sp>
        <p:nvSpPr>
          <p:cNvPr id="19" name="Text 17"/>
          <p:cNvSpPr txBox="1"/>
          <p:nvPr/>
        </p:nvSpPr>
        <p:spPr>
          <a:xfrm>
            <a:off x="2743200" y="2734056"/>
            <a:ext cx="8961120" cy="329184"/>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時間稼働率×性能稼働率×良品率</a:t>
            </a:r>
            <a:endParaRPr lang="en-US" sz="1050" dirty="0"/>
          </a:p>
        </p:txBody>
      </p:sp>
      <p:sp>
        <p:nvSpPr>
          <p:cNvPr id="20" name="Text 18"/>
          <p:cNvSpPr txBox="1"/>
          <p:nvPr/>
        </p:nvSpPr>
        <p:spPr>
          <a:xfrm>
            <a:off x="502920" y="3154680"/>
            <a:ext cx="11201400" cy="530352"/>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時間稼働率90％×性能稼働率約92.6％×良品率95％＝設備総合効率約79.2％。</a:t>
            </a:r>
            <a:endParaRPr lang="en-US" sz="850" dirty="0"/>
          </a:p>
        </p:txBody>
      </p:sp>
      <p:sp>
        <p:nvSpPr>
          <p:cNvPr id="21" name="Shape 19"/>
          <p:cNvSpPr/>
          <p:nvPr/>
        </p:nvSpPr>
        <p:spPr>
          <a:xfrm>
            <a:off x="502920" y="3758184"/>
            <a:ext cx="11201400" cy="0"/>
          </a:xfrm>
          <a:prstGeom prst="line">
            <a:avLst/>
          </a:prstGeom>
          <a:noFill/>
          <a:ln w="12700">
            <a:solidFill>
              <a:srgbClr val="E6E6E6"/>
            </a:solidFill>
            <a:prstDash val="solid"/>
          </a:ln>
        </p:spPr>
      </p:sp>
      <p:sp>
        <p:nvSpPr>
          <p:cNvPr id="22" name="Text 20"/>
          <p:cNvSpPr txBox="1"/>
          <p:nvPr/>
        </p:nvSpPr>
        <p:spPr>
          <a:xfrm>
            <a:off x="502920" y="3831336"/>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「整理」と「整頓」の意味を入れ替えた選択肢が頻出。自主保全は保全担当者だけでなく現場オペレーターも行う。</a:t>
            </a:r>
            <a:endParaRPr lang="en-US" sz="950" dirty="0"/>
          </a:p>
        </p:txBody>
      </p:sp>
      <p:sp>
        <p:nvSpPr>
          <p:cNvPr id="23" name="Shape 21"/>
          <p:cNvSpPr/>
          <p:nvPr/>
        </p:nvSpPr>
        <p:spPr>
          <a:xfrm>
            <a:off x="502920" y="5989320"/>
            <a:ext cx="11201400" cy="0"/>
          </a:xfrm>
          <a:prstGeom prst="line">
            <a:avLst/>
          </a:prstGeom>
          <a:noFill/>
          <a:ln w="9525">
            <a:solidFill>
              <a:srgbClr val="171717"/>
            </a:solidFill>
            <a:prstDash val="solid"/>
          </a:ln>
        </p:spPr>
      </p:sp>
      <p:sp>
        <p:nvSpPr>
          <p:cNvPr id="24" name="Shape 22"/>
          <p:cNvSpPr/>
          <p:nvPr/>
        </p:nvSpPr>
        <p:spPr>
          <a:xfrm>
            <a:off x="502920" y="6062472"/>
            <a:ext cx="329184" cy="329184"/>
          </a:xfrm>
          <a:prstGeom prst="ellipse">
            <a:avLst/>
          </a:prstGeom>
          <a:solidFill>
            <a:srgbClr val="FF3B1F"/>
          </a:solidFill>
          <a:ln/>
        </p:spPr>
      </p:sp>
      <p:sp>
        <p:nvSpPr>
          <p:cNvPr id="25" name="Text 2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6" name="Text 2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7" name="Shape 25"/>
          <p:cNvSpPr/>
          <p:nvPr/>
        </p:nvSpPr>
        <p:spPr>
          <a:xfrm>
            <a:off x="2331720" y="6062472"/>
            <a:ext cx="0" cy="329184"/>
          </a:xfrm>
          <a:prstGeom prst="line">
            <a:avLst/>
          </a:prstGeom>
          <a:noFill/>
          <a:ln w="12700">
            <a:solidFill>
              <a:srgbClr val="E6E6E6"/>
            </a:solidFill>
            <a:prstDash val="solid"/>
          </a:ln>
        </p:spPr>
      </p:sp>
      <p:sp>
        <p:nvSpPr>
          <p:cNvPr id="28" name="Text 2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関連：D-17 設備投資の経済性分析（設備の更新判断につながる）。</a:t>
            </a:r>
            <a:endParaRPr lang="en-US" sz="1000" dirty="0"/>
          </a:p>
        </p:txBody>
      </p:sp>
      <p:sp>
        <p:nvSpPr>
          <p:cNvPr id="29" name="Text 2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0" name="Shape 28"/>
          <p:cNvSpPr/>
          <p:nvPr/>
        </p:nvSpPr>
        <p:spPr>
          <a:xfrm>
            <a:off x="2466594"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2" name="Shape 30"/>
          <p:cNvSpPr/>
          <p:nvPr/>
        </p:nvSpPr>
        <p:spPr>
          <a:xfrm>
            <a:off x="3431286"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4" name="Shape 32"/>
          <p:cNvSpPr/>
          <p:nvPr/>
        </p:nvSpPr>
        <p:spPr>
          <a:xfrm>
            <a:off x="4395978"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6" name="Shape 34"/>
          <p:cNvSpPr/>
          <p:nvPr/>
        </p:nvSpPr>
        <p:spPr>
          <a:xfrm>
            <a:off x="5360670"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8" name="Shape 36"/>
          <p:cNvSpPr/>
          <p:nvPr/>
        </p:nvSpPr>
        <p:spPr>
          <a:xfrm>
            <a:off x="6325362"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0" name="Shape 38"/>
          <p:cNvSpPr/>
          <p:nvPr/>
        </p:nvSpPr>
        <p:spPr>
          <a:xfrm>
            <a:off x="7290054"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2" name="Shape 40"/>
          <p:cNvSpPr/>
          <p:nvPr/>
        </p:nvSpPr>
        <p:spPr>
          <a:xfrm>
            <a:off x="8254746"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4" name="Shape 42"/>
          <p:cNvSpPr/>
          <p:nvPr/>
        </p:nvSpPr>
        <p:spPr>
          <a:xfrm>
            <a:off x="9219438"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6" name="Shape 44"/>
          <p:cNvSpPr/>
          <p:nvPr/>
        </p:nvSpPr>
        <p:spPr>
          <a:xfrm>
            <a:off x="10184130"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8" name="Shape 46"/>
          <p:cNvSpPr/>
          <p:nvPr/>
        </p:nvSpPr>
        <p:spPr>
          <a:xfrm>
            <a:off x="11148822"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D-15 ／ 設備の評価と更新</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耐用年数は税法上の目安であって物理的限界ではない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稼働率・減価償却・耐用年数を踏まえて設備更新を判断する。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46304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稼働率</a:t>
            </a:r>
            <a:endParaRPr lang="en-US" sz="1100" dirty="0"/>
          </a:p>
        </p:txBody>
      </p:sp>
      <p:sp>
        <p:nvSpPr>
          <p:cNvPr id="9" name="Shape 7"/>
          <p:cNvSpPr/>
          <p:nvPr/>
        </p:nvSpPr>
        <p:spPr>
          <a:xfrm>
            <a:off x="1947672" y="1691640"/>
            <a:ext cx="0" cy="256032"/>
          </a:xfrm>
          <a:prstGeom prst="line">
            <a:avLst/>
          </a:prstGeom>
          <a:noFill/>
          <a:ln w="12700">
            <a:solidFill>
              <a:srgbClr val="E6E6E6"/>
            </a:solidFill>
            <a:prstDash val="solid"/>
          </a:ln>
        </p:spPr>
      </p:sp>
      <p:sp>
        <p:nvSpPr>
          <p:cNvPr id="10" name="Text 8"/>
          <p:cNvSpPr txBox="1"/>
          <p:nvPr/>
        </p:nvSpPr>
        <p:spPr>
          <a:xfrm>
            <a:off x="2103120" y="1691640"/>
            <a:ext cx="960120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実際生産量 ÷ 標準（基準）生産量 × 100</a:t>
            </a:r>
            <a:endParaRPr lang="en-US" sz="1100" dirty="0"/>
          </a:p>
        </p:txBody>
      </p:sp>
      <p:sp>
        <p:nvSpPr>
          <p:cNvPr id="11" name="Text 9"/>
          <p:cNvSpPr txBox="1"/>
          <p:nvPr/>
        </p:nvSpPr>
        <p:spPr>
          <a:xfrm>
            <a:off x="502920" y="2075688"/>
            <a:ext cx="146304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減価償却</a:t>
            </a:r>
            <a:endParaRPr lang="en-US" sz="1100" dirty="0"/>
          </a:p>
        </p:txBody>
      </p:sp>
      <p:sp>
        <p:nvSpPr>
          <p:cNvPr id="12" name="Shape 10"/>
          <p:cNvSpPr/>
          <p:nvPr/>
        </p:nvSpPr>
        <p:spPr>
          <a:xfrm>
            <a:off x="1947672" y="2075688"/>
            <a:ext cx="0" cy="256032"/>
          </a:xfrm>
          <a:prstGeom prst="line">
            <a:avLst/>
          </a:prstGeom>
          <a:noFill/>
          <a:ln w="12700">
            <a:solidFill>
              <a:srgbClr val="E6E6E6"/>
            </a:solidFill>
            <a:prstDash val="solid"/>
          </a:ln>
        </p:spPr>
      </p:sp>
      <p:sp>
        <p:nvSpPr>
          <p:cNvPr id="13" name="Text 11"/>
          <p:cNvSpPr txBox="1"/>
          <p:nvPr/>
        </p:nvSpPr>
        <p:spPr>
          <a:xfrm>
            <a:off x="2103120" y="2075688"/>
            <a:ext cx="960120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取得原価を耐用年数にわたり費用配分（定額法／定率法）</a:t>
            </a:r>
            <a:endParaRPr lang="en-US" sz="1100" dirty="0"/>
          </a:p>
        </p:txBody>
      </p:sp>
      <p:sp>
        <p:nvSpPr>
          <p:cNvPr id="14" name="Text 12"/>
          <p:cNvSpPr txBox="1"/>
          <p:nvPr/>
        </p:nvSpPr>
        <p:spPr>
          <a:xfrm>
            <a:off x="502920" y="2459736"/>
            <a:ext cx="146304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耐用年数</a:t>
            </a:r>
            <a:endParaRPr lang="en-US" sz="1100" dirty="0"/>
          </a:p>
        </p:txBody>
      </p:sp>
      <p:sp>
        <p:nvSpPr>
          <p:cNvPr id="15" name="Shape 13"/>
          <p:cNvSpPr/>
          <p:nvPr/>
        </p:nvSpPr>
        <p:spPr>
          <a:xfrm>
            <a:off x="1947672" y="2459736"/>
            <a:ext cx="0" cy="256032"/>
          </a:xfrm>
          <a:prstGeom prst="line">
            <a:avLst/>
          </a:prstGeom>
          <a:noFill/>
          <a:ln w="12700">
            <a:solidFill>
              <a:srgbClr val="E6E6E6"/>
            </a:solidFill>
            <a:prstDash val="solid"/>
          </a:ln>
        </p:spPr>
      </p:sp>
      <p:sp>
        <p:nvSpPr>
          <p:cNvPr id="16" name="Text 14"/>
          <p:cNvSpPr txBox="1"/>
          <p:nvPr/>
        </p:nvSpPr>
        <p:spPr>
          <a:xfrm>
            <a:off x="2103120" y="2459736"/>
            <a:ext cx="960120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税法上定められた使用可能期間の目安（物理的限界とは別）</a:t>
            </a:r>
            <a:endParaRPr lang="en-US" sz="1100" dirty="0"/>
          </a:p>
        </p:txBody>
      </p:sp>
      <p:sp>
        <p:nvSpPr>
          <p:cNvPr id="17" name="Text 15"/>
          <p:cNvSpPr txBox="1"/>
          <p:nvPr/>
        </p:nvSpPr>
        <p:spPr>
          <a:xfrm>
            <a:off x="502920" y="2916936"/>
            <a:ext cx="11201400" cy="59436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金属加工工業E社は、税法上の耐用年数がまだ残る旧型設備で故障が頻発し稼働率が低下していたため、未償却残高にとらわれず、新型設備への更新で得られる稼働率・良品率の改善効果と投資額を比較して更新の可否を判断した。</a:t>
            </a:r>
            <a:endParaRPr lang="en-US" sz="850" dirty="0"/>
          </a:p>
        </p:txBody>
      </p:sp>
      <p:sp>
        <p:nvSpPr>
          <p:cNvPr id="18" name="Shape 16"/>
          <p:cNvSpPr/>
          <p:nvPr/>
        </p:nvSpPr>
        <p:spPr>
          <a:xfrm>
            <a:off x="502920" y="3584448"/>
            <a:ext cx="11201400" cy="0"/>
          </a:xfrm>
          <a:prstGeom prst="line">
            <a:avLst/>
          </a:prstGeom>
          <a:noFill/>
          <a:ln w="12700">
            <a:solidFill>
              <a:srgbClr val="E6E6E6"/>
            </a:solidFill>
            <a:prstDash val="solid"/>
          </a:ln>
        </p:spPr>
      </p:sp>
      <p:sp>
        <p:nvSpPr>
          <p:cNvPr id="19" name="Text 17"/>
          <p:cNvSpPr txBox="1"/>
          <p:nvPr/>
        </p:nvSpPr>
        <p:spPr>
          <a:xfrm>
            <a:off x="502920" y="3657600"/>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「耐用年数＝実際に使用できる物理的限界」は誤り。老朽化による稼働率・良品率低下、修理費増加も総合的に考慮して更新判断する。</a:t>
            </a:r>
            <a:endParaRPr lang="en-US" sz="950" dirty="0"/>
          </a:p>
        </p:txBody>
      </p:sp>
      <p:sp>
        <p:nvSpPr>
          <p:cNvPr id="20" name="Shape 18"/>
          <p:cNvSpPr/>
          <p:nvPr/>
        </p:nvSpPr>
        <p:spPr>
          <a:xfrm>
            <a:off x="502920" y="5989320"/>
            <a:ext cx="11201400" cy="0"/>
          </a:xfrm>
          <a:prstGeom prst="line">
            <a:avLst/>
          </a:prstGeom>
          <a:noFill/>
          <a:ln w="9525">
            <a:solidFill>
              <a:srgbClr val="171717"/>
            </a:solidFill>
            <a:prstDash val="solid"/>
          </a:ln>
        </p:spPr>
      </p:sp>
      <p:sp>
        <p:nvSpPr>
          <p:cNvPr id="21" name="Shape 19"/>
          <p:cNvSpPr/>
          <p:nvPr/>
        </p:nvSpPr>
        <p:spPr>
          <a:xfrm>
            <a:off x="502920" y="6062472"/>
            <a:ext cx="329184" cy="329184"/>
          </a:xfrm>
          <a:prstGeom prst="ellipse">
            <a:avLst/>
          </a:prstGeom>
          <a:solidFill>
            <a:srgbClr val="8A8A8A"/>
          </a:solidFill>
          <a:ln/>
        </p:spPr>
      </p:sp>
      <p:sp>
        <p:nvSpPr>
          <p:cNvPr id="22" name="Text 20"/>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t>
            </a:r>
            <a:endParaRPr lang="en-US" sz="1300" dirty="0"/>
          </a:p>
        </p:txBody>
      </p:sp>
      <p:sp>
        <p:nvSpPr>
          <p:cNvPr id="23" name="Text 21"/>
          <p:cNvSpPr txBox="1"/>
          <p:nvPr/>
        </p:nvSpPr>
        <p:spPr>
          <a:xfrm>
            <a:off x="914400" y="6062472"/>
            <a:ext cx="10515600" cy="329184"/>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集計データなし　／　関連：D-17 設備投資の経済性分析（更新すべきかの投資判断）。</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D-16 ／ 工場計画（SLP、DI分析、プラントレイアウト）</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勘や経験ではなく体系的にレイアウトを決める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SLPは物の流れ分析→近接性評価→レイアウト案作成の手順で進める。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6766560" cy="868680"/>
          </a:xfrm>
          <a:prstGeom prst="rect">
            <a:avLst/>
          </a:prstGeom>
          <a:noFill/>
          <a:ln/>
        </p:spPr>
        <p:txBody>
          <a:bodyPr wrap="square" lIns="0" tIns="0" rIns="0" bIns="0" rtlCol="0" anchor="ctr"/>
          <a:lstStyle/>
          <a:p>
            <a:pPr indent="0" marL="0">
              <a:lnSpc>
                <a:spcPct val="130000"/>
              </a:lnSpc>
              <a:buNone/>
            </a:pPr>
            <a:r>
              <a:rPr lang="en-US" sz="1000" dirty="0">
                <a:solidFill>
                  <a:srgbClr val="8A8A8A"/>
                </a:solidFill>
                <a:latin typeface="Yu Gothic" pitchFamily="34" charset="0"/>
                <a:ea typeface="Yu Gothic" pitchFamily="34" charset="-122"/>
                <a:cs typeface="Yu Gothic" pitchFamily="34" charset="-120"/>
              </a:rPr>
              <a:t>SLPは勘や経験に頼らず、物の流れの分析結果を定量的な近接性評価につなげ、レイアウト案へ落とし込む体系的な手順。右図の3段階を順に踏むことで、担当者の主観に左右されにくい配置が決まる。</a:t>
            </a:r>
            <a:endParaRPr lang="en-US" sz="1000" dirty="0"/>
          </a:p>
        </p:txBody>
      </p:sp>
      <p:sp>
        <p:nvSpPr>
          <p:cNvPr id="9" name="Text 7"/>
          <p:cNvSpPr txBox="1"/>
          <p:nvPr/>
        </p:nvSpPr>
        <p:spPr>
          <a:xfrm>
            <a:off x="502920" y="2651760"/>
            <a:ext cx="2286000" cy="484632"/>
          </a:xfrm>
          <a:prstGeom prst="rect">
            <a:avLst/>
          </a:prstGeom>
          <a:noFill/>
          <a:ln/>
        </p:spPr>
        <p:txBody>
          <a:bodyPr wrap="square" lIns="0" tIns="0" rIns="0" bIns="0" rtlCol="0" anchor="t"/>
          <a:lstStyle/>
          <a:p>
            <a:pPr indent="0" marL="0">
              <a:buNone/>
            </a:pPr>
            <a:r>
              <a:rPr lang="en-US" sz="950" b="1" dirty="0">
                <a:solidFill>
                  <a:srgbClr val="171717"/>
                </a:solidFill>
                <a:latin typeface="Yu Gothic" pitchFamily="34" charset="0"/>
                <a:ea typeface="Yu Gothic" pitchFamily="34" charset="-122"/>
                <a:cs typeface="Yu Gothic" pitchFamily="34" charset="-120"/>
              </a:rPr>
              <a:t>DI分析</a:t>
            </a:r>
            <a:endParaRPr lang="en-US" sz="950" dirty="0"/>
          </a:p>
        </p:txBody>
      </p:sp>
      <p:sp>
        <p:nvSpPr>
          <p:cNvPr id="10" name="Shape 8"/>
          <p:cNvSpPr/>
          <p:nvPr/>
        </p:nvSpPr>
        <p:spPr>
          <a:xfrm>
            <a:off x="2770632" y="2651760"/>
            <a:ext cx="0" cy="256032"/>
          </a:xfrm>
          <a:prstGeom prst="line">
            <a:avLst/>
          </a:prstGeom>
          <a:noFill/>
          <a:ln w="12700">
            <a:solidFill>
              <a:srgbClr val="E6E6E6"/>
            </a:solidFill>
            <a:prstDash val="solid"/>
          </a:ln>
        </p:spPr>
      </p:sp>
      <p:sp>
        <p:nvSpPr>
          <p:cNvPr id="11" name="Text 9"/>
          <p:cNvSpPr txBox="1"/>
          <p:nvPr/>
        </p:nvSpPr>
        <p:spPr>
          <a:xfrm>
            <a:off x="2926080" y="2651760"/>
            <a:ext cx="4343400" cy="484632"/>
          </a:xfrm>
          <a:prstGeom prst="rect">
            <a:avLst/>
          </a:prstGeom>
          <a:noFill/>
          <a:ln/>
        </p:spPr>
        <p:txBody>
          <a:bodyPr wrap="square" lIns="0" tIns="0" rIns="0" bIns="0" rtlCol="0" anchor="t"/>
          <a:lstStyle/>
          <a:p>
            <a:pPr indent="0" marL="0">
              <a:buNone/>
            </a:pPr>
            <a:r>
              <a:rPr lang="en-US" sz="950" dirty="0">
                <a:solidFill>
                  <a:srgbClr val="8A8A8A"/>
                </a:solidFill>
                <a:latin typeface="Yu Gothic" pitchFamily="34" charset="0"/>
                <a:ea typeface="Yu Gothic" pitchFamily="34" charset="-122"/>
                <a:cs typeface="Yu Gothic" pitchFamily="34" charset="-120"/>
              </a:rPr>
              <a:t>方向（Direction）と関係の強さ（Intensity）から工程間の結びつきを検討</a:t>
            </a:r>
            <a:endParaRPr lang="en-US" sz="950" dirty="0"/>
          </a:p>
        </p:txBody>
      </p:sp>
      <p:sp>
        <p:nvSpPr>
          <p:cNvPr id="12" name="Text 10"/>
          <p:cNvSpPr txBox="1"/>
          <p:nvPr/>
        </p:nvSpPr>
        <p:spPr>
          <a:xfrm>
            <a:off x="502920" y="3154680"/>
            <a:ext cx="2286000" cy="484632"/>
          </a:xfrm>
          <a:prstGeom prst="rect">
            <a:avLst/>
          </a:prstGeom>
          <a:noFill/>
          <a:ln/>
        </p:spPr>
        <p:txBody>
          <a:bodyPr wrap="square" lIns="0" tIns="0" rIns="0" bIns="0" rtlCol="0" anchor="t"/>
          <a:lstStyle/>
          <a:p>
            <a:pPr indent="0" marL="0">
              <a:buNone/>
            </a:pPr>
            <a:r>
              <a:rPr lang="en-US" sz="950" b="1" dirty="0">
                <a:solidFill>
                  <a:srgbClr val="171717"/>
                </a:solidFill>
                <a:latin typeface="Yu Gothic" pitchFamily="34" charset="0"/>
                <a:ea typeface="Yu Gothic" pitchFamily="34" charset="-122"/>
                <a:cs typeface="Yu Gothic" pitchFamily="34" charset="-120"/>
              </a:rPr>
              <a:t>機能別／製品別／固定型</a:t>
            </a:r>
            <a:endParaRPr lang="en-US" sz="950" dirty="0"/>
          </a:p>
        </p:txBody>
      </p:sp>
      <p:sp>
        <p:nvSpPr>
          <p:cNvPr id="13" name="Shape 11"/>
          <p:cNvSpPr/>
          <p:nvPr/>
        </p:nvSpPr>
        <p:spPr>
          <a:xfrm>
            <a:off x="2770632" y="3154680"/>
            <a:ext cx="0" cy="256032"/>
          </a:xfrm>
          <a:prstGeom prst="line">
            <a:avLst/>
          </a:prstGeom>
          <a:noFill/>
          <a:ln w="12700">
            <a:solidFill>
              <a:srgbClr val="E6E6E6"/>
            </a:solidFill>
            <a:prstDash val="solid"/>
          </a:ln>
        </p:spPr>
      </p:sp>
      <p:sp>
        <p:nvSpPr>
          <p:cNvPr id="14" name="Text 12"/>
          <p:cNvSpPr txBox="1"/>
          <p:nvPr/>
        </p:nvSpPr>
        <p:spPr>
          <a:xfrm>
            <a:off x="2926080" y="3154680"/>
            <a:ext cx="4343400" cy="484632"/>
          </a:xfrm>
          <a:prstGeom prst="rect">
            <a:avLst/>
          </a:prstGeom>
          <a:noFill/>
          <a:ln/>
        </p:spPr>
        <p:txBody>
          <a:bodyPr wrap="square" lIns="0" tIns="0" rIns="0" bIns="0" rtlCol="0" anchor="t"/>
          <a:lstStyle/>
          <a:p>
            <a:pPr indent="0" marL="0">
              <a:buNone/>
            </a:pPr>
            <a:r>
              <a:rPr lang="en-US" sz="950" dirty="0">
                <a:solidFill>
                  <a:srgbClr val="8A8A8A"/>
                </a:solidFill>
                <a:latin typeface="Yu Gothic" pitchFamily="34" charset="0"/>
                <a:ea typeface="Yu Gothic" pitchFamily="34" charset="-122"/>
                <a:cs typeface="Yu Gothic" pitchFamily="34" charset="-120"/>
              </a:rPr>
              <a:t>工程ごとにまとめる／加工順に並べる／大型製品の周りに配置</a:t>
            </a:r>
            <a:endParaRPr lang="en-US" sz="950" dirty="0"/>
          </a:p>
        </p:txBody>
      </p:sp>
      <p:sp>
        <p:nvSpPr>
          <p:cNvPr id="15" name="Shape 13"/>
          <p:cNvSpPr/>
          <p:nvPr/>
        </p:nvSpPr>
        <p:spPr>
          <a:xfrm>
            <a:off x="502920" y="3730752"/>
            <a:ext cx="6766560" cy="0"/>
          </a:xfrm>
          <a:prstGeom prst="line">
            <a:avLst/>
          </a:prstGeom>
          <a:noFill/>
          <a:ln w="12700">
            <a:solidFill>
              <a:srgbClr val="E6E6E6"/>
            </a:solidFill>
            <a:prstDash val="solid"/>
          </a:ln>
        </p:spPr>
      </p:sp>
      <p:sp>
        <p:nvSpPr>
          <p:cNvPr id="16" name="Text 14"/>
          <p:cNvSpPr txBox="1"/>
          <p:nvPr/>
        </p:nvSpPr>
        <p:spPr>
          <a:xfrm>
            <a:off x="502920" y="3803904"/>
            <a:ext cx="6766560" cy="548640"/>
          </a:xfrm>
          <a:prstGeom prst="rect">
            <a:avLst/>
          </a:prstGeom>
          <a:noFill/>
          <a:ln/>
        </p:spPr>
        <p:txBody>
          <a:bodyPr wrap="square" lIns="0" tIns="0" rIns="0" bIns="0" rtlCol="0" anchor="ctr"/>
          <a:lstStyle/>
          <a:p>
            <a:pPr indent="0" marL="0">
              <a:lnSpc>
                <a:spcPct val="120000"/>
              </a:lnSpc>
              <a:buNone/>
            </a:pPr>
            <a:r>
              <a:rPr lang="en-US" sz="90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00" dirty="0">
                <a:solidFill>
                  <a:srgbClr val="FF3B1F"/>
                </a:solidFill>
                <a:latin typeface="Yu Gothic" pitchFamily="34" charset="0"/>
                <a:ea typeface="Yu Gothic" pitchFamily="34" charset="-122"/>
                <a:cs typeface="Yu Gothic" pitchFamily="34" charset="-120"/>
              </a:rPr>
              <a:t>DI分析は「距離の近さだけ」ではなく方向＋強さの2視点で工程間の結びつきを評価する。</a:t>
            </a:r>
            <a:endParaRPr lang="en-US" sz="900" dirty="0"/>
          </a:p>
        </p:txBody>
      </p:sp>
      <p:sp>
        <p:nvSpPr>
          <p:cNvPr id="17" name="Shape 15"/>
          <p:cNvSpPr/>
          <p:nvPr/>
        </p:nvSpPr>
        <p:spPr>
          <a:xfrm>
            <a:off x="7543800" y="1737360"/>
            <a:ext cx="3703320" cy="1085088"/>
          </a:xfrm>
          <a:prstGeom prst="rect">
            <a:avLst/>
          </a:prstGeom>
          <a:solidFill>
            <a:srgbClr val="F4F4F4"/>
          </a:solidFill>
          <a:ln w="12700">
            <a:solidFill>
              <a:srgbClr val="E6E6E6"/>
            </a:solidFill>
            <a:prstDash val="solid"/>
          </a:ln>
        </p:spPr>
      </p:sp>
      <p:sp>
        <p:nvSpPr>
          <p:cNvPr id="18" name="Text 16"/>
          <p:cNvSpPr txBox="1"/>
          <p:nvPr/>
        </p:nvSpPr>
        <p:spPr>
          <a:xfrm>
            <a:off x="7543800" y="1737360"/>
            <a:ext cx="3703320" cy="1085088"/>
          </a:xfrm>
          <a:prstGeom prst="rect">
            <a:avLst/>
          </a:prstGeom>
          <a:noFill/>
          <a:ln/>
        </p:spPr>
        <p:txBody>
          <a:bodyPr wrap="square" lIns="0" tIns="0" rIns="0" bIns="0" rtlCol="0" anchor="ctr"/>
          <a:lstStyle/>
          <a:p>
            <a:pPr algn="ctr" indent="0" marL="0">
              <a:lnSpc>
                <a:spcPct val="115000"/>
              </a:lnSpc>
              <a:buNone/>
            </a:pPr>
            <a:r>
              <a:rPr lang="en-US" sz="900" b="1" dirty="0">
                <a:solidFill>
                  <a:srgbClr val="FF3B1F"/>
                </a:solidFill>
                <a:latin typeface="Consolas" pitchFamily="34" charset="0"/>
                <a:ea typeface="Consolas" pitchFamily="34" charset="-122"/>
                <a:cs typeface="Consolas" pitchFamily="34" charset="-120"/>
              </a:rPr>
              <a:t>①
</a:t>
            </a:r>
            <a:endParaRPr lang="en-US" sz="900" dirty="0"/>
          </a:p>
          <a:p>
            <a:pPr algn="ctr" indent="0" marL="0">
              <a:lnSpc>
                <a:spcPct val="115000"/>
              </a:lnSpc>
              <a:buNone/>
            </a:pPr>
            <a:r>
              <a:rPr lang="en-US" sz="1600" b="1" dirty="0">
                <a:solidFill>
                  <a:srgbClr val="171717"/>
                </a:solidFill>
                <a:latin typeface="Yu Gothic" pitchFamily="34" charset="0"/>
                <a:ea typeface="Yu Gothic" pitchFamily="34" charset="-122"/>
                <a:cs typeface="Yu Gothic" pitchFamily="34" charset="-120"/>
              </a:rPr>
              <a:t>P-Q分析</a:t>
            </a:r>
            <a:pPr algn="ctr" indent="0" marL="0">
              <a:lnSpc>
                <a:spcPct val="115000"/>
              </a:lnSpc>
              <a:buNone/>
            </a:pPr>
            <a:endParaRPr lang="en-US" sz="900" dirty="0"/>
          </a:p>
          <a:p>
            <a:pPr algn="ctr" indent="0" marL="0">
              <a:lnSpc>
                <a:spcPct val="115000"/>
              </a:lnSpc>
              <a:buNone/>
            </a:pPr>
            <a:r>
              <a:rPr lang="en-US" sz="1000" b="1" dirty="0">
                <a:solidFill>
                  <a:srgbClr val="FF3B1F"/>
                </a:solidFill>
                <a:latin typeface="Yu Gothic" pitchFamily="34" charset="0"/>
                <a:ea typeface="Yu Gothic" pitchFamily="34" charset="-122"/>
                <a:cs typeface="Yu Gothic" pitchFamily="34" charset="-120"/>
              </a:rPr>
              <a:t>物の流れを数値で把握</a:t>
            </a:r>
            <a:endParaRPr lang="en-US" sz="900" dirty="0"/>
          </a:p>
        </p:txBody>
      </p:sp>
      <p:sp>
        <p:nvSpPr>
          <p:cNvPr id="19" name="Text 17"/>
          <p:cNvSpPr txBox="1"/>
          <p:nvPr/>
        </p:nvSpPr>
        <p:spPr>
          <a:xfrm>
            <a:off x="7543800" y="2822448"/>
            <a:ext cx="3703320" cy="201168"/>
          </a:xfrm>
          <a:prstGeom prst="rect">
            <a:avLst/>
          </a:prstGeom>
          <a:noFill/>
          <a:ln/>
        </p:spPr>
        <p:txBody>
          <a:bodyPr wrap="square" lIns="0" tIns="0" rIns="0" bIns="0" rtlCol="0" anchor="ctr"/>
          <a:lstStyle/>
          <a:p>
            <a:pPr algn="ctr" indent="0" marL="0">
              <a:buNone/>
            </a:pPr>
            <a:r>
              <a:rPr lang="en-US" sz="1300" dirty="0">
                <a:solidFill>
                  <a:srgbClr val="8A8A8A"/>
                </a:solidFill>
                <a:latin typeface="Yu Gothic" pitchFamily="34" charset="0"/>
                <a:ea typeface="Yu Gothic" pitchFamily="34" charset="-122"/>
                <a:cs typeface="Yu Gothic" pitchFamily="34" charset="-120"/>
              </a:rPr>
              <a:t>↓</a:t>
            </a:r>
            <a:endParaRPr lang="en-US" sz="1300" dirty="0"/>
          </a:p>
        </p:txBody>
      </p:sp>
      <p:sp>
        <p:nvSpPr>
          <p:cNvPr id="20" name="Shape 18"/>
          <p:cNvSpPr/>
          <p:nvPr/>
        </p:nvSpPr>
        <p:spPr>
          <a:xfrm>
            <a:off x="7543800" y="3023616"/>
            <a:ext cx="3703320" cy="1085088"/>
          </a:xfrm>
          <a:prstGeom prst="rect">
            <a:avLst/>
          </a:prstGeom>
          <a:solidFill>
            <a:srgbClr val="F4F4F4"/>
          </a:solidFill>
          <a:ln w="12700">
            <a:solidFill>
              <a:srgbClr val="E6E6E6"/>
            </a:solidFill>
            <a:prstDash val="solid"/>
          </a:ln>
        </p:spPr>
      </p:sp>
      <p:sp>
        <p:nvSpPr>
          <p:cNvPr id="21" name="Text 19"/>
          <p:cNvSpPr txBox="1"/>
          <p:nvPr/>
        </p:nvSpPr>
        <p:spPr>
          <a:xfrm>
            <a:off x="7543800" y="3023616"/>
            <a:ext cx="3703320" cy="1085088"/>
          </a:xfrm>
          <a:prstGeom prst="rect">
            <a:avLst/>
          </a:prstGeom>
          <a:noFill/>
          <a:ln/>
        </p:spPr>
        <p:txBody>
          <a:bodyPr wrap="square" lIns="0" tIns="0" rIns="0" bIns="0" rtlCol="0" anchor="ctr"/>
          <a:lstStyle/>
          <a:p>
            <a:pPr algn="ctr" indent="0" marL="0">
              <a:lnSpc>
                <a:spcPct val="115000"/>
              </a:lnSpc>
              <a:buNone/>
            </a:pPr>
            <a:r>
              <a:rPr lang="en-US" sz="900" b="1" dirty="0">
                <a:solidFill>
                  <a:srgbClr val="FF3B1F"/>
                </a:solidFill>
                <a:latin typeface="Consolas" pitchFamily="34" charset="0"/>
                <a:ea typeface="Consolas" pitchFamily="34" charset="-122"/>
                <a:cs typeface="Consolas" pitchFamily="34" charset="-120"/>
              </a:rPr>
              <a:t>②
</a:t>
            </a:r>
            <a:endParaRPr lang="en-US" sz="900" dirty="0"/>
          </a:p>
          <a:p>
            <a:pPr algn="ctr" indent="0" marL="0">
              <a:lnSpc>
                <a:spcPct val="115000"/>
              </a:lnSpc>
              <a:buNone/>
            </a:pPr>
            <a:r>
              <a:rPr lang="en-US" sz="1600" b="1" dirty="0">
                <a:solidFill>
                  <a:srgbClr val="171717"/>
                </a:solidFill>
                <a:latin typeface="Yu Gothic" pitchFamily="34" charset="0"/>
                <a:ea typeface="Yu Gothic" pitchFamily="34" charset="-122"/>
                <a:cs typeface="Yu Gothic" pitchFamily="34" charset="-120"/>
              </a:rPr>
              <a:t>アクティビティ相関図</a:t>
            </a:r>
            <a:pPr algn="ctr" indent="0" marL="0">
              <a:lnSpc>
                <a:spcPct val="115000"/>
              </a:lnSpc>
              <a:buNone/>
            </a:pPr>
            <a:endParaRPr lang="en-US" sz="900" dirty="0"/>
          </a:p>
          <a:p>
            <a:pPr algn="ctr" indent="0" marL="0">
              <a:lnSpc>
                <a:spcPct val="115000"/>
              </a:lnSpc>
              <a:buNone/>
            </a:pPr>
            <a:r>
              <a:rPr lang="en-US" sz="1000" b="1" dirty="0">
                <a:solidFill>
                  <a:srgbClr val="FF3B1F"/>
                </a:solidFill>
                <a:latin typeface="Yu Gothic" pitchFamily="34" charset="0"/>
                <a:ea typeface="Yu Gothic" pitchFamily="34" charset="-122"/>
                <a:cs typeface="Yu Gothic" pitchFamily="34" charset="-120"/>
              </a:rPr>
              <a:t>A・E・I・O・U・Xで近接性評価</a:t>
            </a:r>
            <a:endParaRPr lang="en-US" sz="900" dirty="0"/>
          </a:p>
        </p:txBody>
      </p:sp>
      <p:sp>
        <p:nvSpPr>
          <p:cNvPr id="22" name="Text 20"/>
          <p:cNvSpPr txBox="1"/>
          <p:nvPr/>
        </p:nvSpPr>
        <p:spPr>
          <a:xfrm>
            <a:off x="7543800" y="4108704"/>
            <a:ext cx="3703320" cy="201168"/>
          </a:xfrm>
          <a:prstGeom prst="rect">
            <a:avLst/>
          </a:prstGeom>
          <a:noFill/>
          <a:ln/>
        </p:spPr>
        <p:txBody>
          <a:bodyPr wrap="square" lIns="0" tIns="0" rIns="0" bIns="0" rtlCol="0" anchor="ctr"/>
          <a:lstStyle/>
          <a:p>
            <a:pPr algn="ctr" indent="0" marL="0">
              <a:buNone/>
            </a:pPr>
            <a:r>
              <a:rPr lang="en-US" sz="1300" dirty="0">
                <a:solidFill>
                  <a:srgbClr val="8A8A8A"/>
                </a:solidFill>
                <a:latin typeface="Yu Gothic" pitchFamily="34" charset="0"/>
                <a:ea typeface="Yu Gothic" pitchFamily="34" charset="-122"/>
                <a:cs typeface="Yu Gothic" pitchFamily="34" charset="-120"/>
              </a:rPr>
              <a:t>↓</a:t>
            </a:r>
            <a:endParaRPr lang="en-US" sz="1300" dirty="0"/>
          </a:p>
        </p:txBody>
      </p:sp>
      <p:sp>
        <p:nvSpPr>
          <p:cNvPr id="23" name="Shape 21"/>
          <p:cNvSpPr/>
          <p:nvPr/>
        </p:nvSpPr>
        <p:spPr>
          <a:xfrm>
            <a:off x="7543800" y="4309872"/>
            <a:ext cx="3703320" cy="1085088"/>
          </a:xfrm>
          <a:prstGeom prst="rect">
            <a:avLst/>
          </a:prstGeom>
          <a:solidFill>
            <a:srgbClr val="F4F4F4"/>
          </a:solidFill>
          <a:ln w="12700">
            <a:solidFill>
              <a:srgbClr val="E6E6E6"/>
            </a:solidFill>
            <a:prstDash val="solid"/>
          </a:ln>
        </p:spPr>
      </p:sp>
      <p:sp>
        <p:nvSpPr>
          <p:cNvPr id="24" name="Text 22"/>
          <p:cNvSpPr txBox="1"/>
          <p:nvPr/>
        </p:nvSpPr>
        <p:spPr>
          <a:xfrm>
            <a:off x="7543800" y="4309872"/>
            <a:ext cx="3703320" cy="1085088"/>
          </a:xfrm>
          <a:prstGeom prst="rect">
            <a:avLst/>
          </a:prstGeom>
          <a:noFill/>
          <a:ln/>
        </p:spPr>
        <p:txBody>
          <a:bodyPr wrap="square" lIns="0" tIns="0" rIns="0" bIns="0" rtlCol="0" anchor="ctr"/>
          <a:lstStyle/>
          <a:p>
            <a:pPr algn="ctr" indent="0" marL="0">
              <a:lnSpc>
                <a:spcPct val="115000"/>
              </a:lnSpc>
              <a:buNone/>
            </a:pPr>
            <a:r>
              <a:rPr lang="en-US" sz="900" b="1" dirty="0">
                <a:solidFill>
                  <a:srgbClr val="FF3B1F"/>
                </a:solidFill>
                <a:latin typeface="Consolas" pitchFamily="34" charset="0"/>
                <a:ea typeface="Consolas" pitchFamily="34" charset="-122"/>
                <a:cs typeface="Consolas" pitchFamily="34" charset="-120"/>
              </a:rPr>
              <a:t>③
</a:t>
            </a:r>
            <a:endParaRPr lang="en-US" sz="900" dirty="0"/>
          </a:p>
          <a:p>
            <a:pPr algn="ctr" indent="0" marL="0">
              <a:lnSpc>
                <a:spcPct val="115000"/>
              </a:lnSpc>
              <a:buNone/>
            </a:pPr>
            <a:r>
              <a:rPr lang="en-US" sz="1600" b="1" dirty="0">
                <a:solidFill>
                  <a:srgbClr val="171717"/>
                </a:solidFill>
                <a:latin typeface="Yu Gothic" pitchFamily="34" charset="0"/>
                <a:ea typeface="Yu Gothic" pitchFamily="34" charset="-122"/>
                <a:cs typeface="Yu Gothic" pitchFamily="34" charset="-120"/>
              </a:rPr>
              <a:t>レイアウト案</a:t>
            </a:r>
            <a:pPr algn="ctr" indent="0" marL="0">
              <a:lnSpc>
                <a:spcPct val="115000"/>
              </a:lnSpc>
              <a:buNone/>
            </a:pPr>
            <a:endParaRPr lang="en-US" sz="900" dirty="0"/>
          </a:p>
          <a:p>
            <a:pPr algn="ctr" indent="0" marL="0">
              <a:lnSpc>
                <a:spcPct val="115000"/>
              </a:lnSpc>
              <a:buNone/>
            </a:pPr>
            <a:r>
              <a:rPr lang="en-US" sz="1000" b="1" dirty="0">
                <a:solidFill>
                  <a:srgbClr val="FF3B1F"/>
                </a:solidFill>
                <a:latin typeface="Yu Gothic" pitchFamily="34" charset="0"/>
                <a:ea typeface="Yu Gothic" pitchFamily="34" charset="-122"/>
                <a:cs typeface="Yu Gothic" pitchFamily="34" charset="-120"/>
              </a:rPr>
              <a:t>具体的な配置を決定</a:t>
            </a:r>
            <a:endParaRPr lang="en-US" sz="900" dirty="0"/>
          </a:p>
        </p:txBody>
      </p:sp>
      <p:sp>
        <p:nvSpPr>
          <p:cNvPr id="25" name="Shape 23"/>
          <p:cNvSpPr/>
          <p:nvPr/>
        </p:nvSpPr>
        <p:spPr>
          <a:xfrm>
            <a:off x="502920" y="5989320"/>
            <a:ext cx="11201400" cy="0"/>
          </a:xfrm>
          <a:prstGeom prst="line">
            <a:avLst/>
          </a:prstGeom>
          <a:noFill/>
          <a:ln w="9525">
            <a:solidFill>
              <a:srgbClr val="171717"/>
            </a:solidFill>
            <a:prstDash val="solid"/>
          </a:ln>
        </p:spPr>
      </p:sp>
      <p:sp>
        <p:nvSpPr>
          <p:cNvPr id="26" name="Shape 24"/>
          <p:cNvSpPr/>
          <p:nvPr/>
        </p:nvSpPr>
        <p:spPr>
          <a:xfrm>
            <a:off x="502920" y="6062472"/>
            <a:ext cx="329184" cy="329184"/>
          </a:xfrm>
          <a:prstGeom prst="ellipse">
            <a:avLst/>
          </a:prstGeom>
          <a:solidFill>
            <a:srgbClr val="FF3B1F"/>
          </a:solidFill>
          <a:ln/>
        </p:spPr>
      </p:sp>
      <p:sp>
        <p:nvSpPr>
          <p:cNvPr id="27" name="Text 25"/>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8" name="Text 26"/>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9" name="Shape 27"/>
          <p:cNvSpPr/>
          <p:nvPr/>
        </p:nvSpPr>
        <p:spPr>
          <a:xfrm>
            <a:off x="2331720" y="6062472"/>
            <a:ext cx="0" cy="329184"/>
          </a:xfrm>
          <a:prstGeom prst="line">
            <a:avLst/>
          </a:prstGeom>
          <a:noFill/>
          <a:ln w="12700">
            <a:solidFill>
              <a:srgbClr val="E6E6E6"/>
            </a:solidFill>
            <a:prstDash val="solid"/>
          </a:ln>
        </p:spPr>
      </p:sp>
      <p:sp>
        <p:nvSpPr>
          <p:cNvPr id="30" name="Text 28"/>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ひっかけ：SLPは体系的・定量的な手順。DI分析は「距離の近さだけ」ではなく方向＋強さの2視点。</a:t>
            </a:r>
            <a:endParaRPr lang="en-US" sz="1000" dirty="0"/>
          </a:p>
        </p:txBody>
      </p:sp>
      <p:sp>
        <p:nvSpPr>
          <p:cNvPr id="31" name="Text 29"/>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2" name="Shape 30"/>
          <p:cNvSpPr/>
          <p:nvPr/>
        </p:nvSpPr>
        <p:spPr>
          <a:xfrm>
            <a:off x="2466594"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4" name="Shape 32"/>
          <p:cNvSpPr/>
          <p:nvPr/>
        </p:nvSpPr>
        <p:spPr>
          <a:xfrm>
            <a:off x="3431286"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6" name="Shape 34"/>
          <p:cNvSpPr/>
          <p:nvPr/>
        </p:nvSpPr>
        <p:spPr>
          <a:xfrm>
            <a:off x="4395978"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8" name="Shape 36"/>
          <p:cNvSpPr/>
          <p:nvPr/>
        </p:nvSpPr>
        <p:spPr>
          <a:xfrm>
            <a:off x="5360670"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40" name="Shape 38"/>
          <p:cNvSpPr/>
          <p:nvPr/>
        </p:nvSpPr>
        <p:spPr>
          <a:xfrm>
            <a:off x="6325362"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2" name="Shape 40"/>
          <p:cNvSpPr/>
          <p:nvPr/>
        </p:nvSpPr>
        <p:spPr>
          <a:xfrm>
            <a:off x="7290054"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4" name="Shape 42"/>
          <p:cNvSpPr/>
          <p:nvPr/>
        </p:nvSpPr>
        <p:spPr>
          <a:xfrm>
            <a:off x="8254746" y="6464808"/>
            <a:ext cx="146304" cy="146304"/>
          </a:xfrm>
          <a:prstGeom prst="ellipse">
            <a:avLst/>
          </a:prstGeom>
          <a:solidFill>
            <a:srgbClr val="FFFFFF"/>
          </a:solidFill>
          <a:ln w="12700">
            <a:solidFill>
              <a:srgbClr val="E6E6E6"/>
            </a:solidFill>
            <a:prstDash val="solid"/>
          </a:ln>
        </p:spPr>
      </p:sp>
      <p:sp>
        <p:nvSpPr>
          <p:cNvPr id="45" name="Text 43"/>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6" name="Shape 44"/>
          <p:cNvSpPr/>
          <p:nvPr/>
        </p:nvSpPr>
        <p:spPr>
          <a:xfrm>
            <a:off x="9219438"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8" name="Shape 46"/>
          <p:cNvSpPr/>
          <p:nvPr/>
        </p:nvSpPr>
        <p:spPr>
          <a:xfrm>
            <a:off x="10184130"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50" name="Shape 48"/>
          <p:cNvSpPr/>
          <p:nvPr/>
        </p:nvSpPr>
        <p:spPr>
          <a:xfrm>
            <a:off x="11148822" y="6464808"/>
            <a:ext cx="146304" cy="146304"/>
          </a:xfrm>
          <a:prstGeom prst="ellipse">
            <a:avLst/>
          </a:prstGeom>
          <a:solidFill>
            <a:srgbClr val="FF3B1F"/>
          </a:solidFill>
          <a:ln w="12700">
            <a:solidFill>
              <a:srgbClr val="FF3B1F"/>
            </a:solidFill>
            <a:prstDash val="solid"/>
          </a:ln>
        </p:spPr>
      </p:sp>
      <p:sp>
        <p:nvSpPr>
          <p:cNvPr id="51" name="Text 49"/>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D-17 ／ 設備投資の経済性分析</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回収期間法は時間的価値を考慮しない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設備更新の判断は「変化する部分（差額）」に着目する差額原価収益分析の考え方。</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55448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回収期間法</a:t>
            </a:r>
            <a:endParaRPr lang="en-US" sz="1100" dirty="0"/>
          </a:p>
        </p:txBody>
      </p:sp>
      <p:sp>
        <p:nvSpPr>
          <p:cNvPr id="9" name="Shape 7"/>
          <p:cNvSpPr/>
          <p:nvPr/>
        </p:nvSpPr>
        <p:spPr>
          <a:xfrm>
            <a:off x="2039112" y="1691640"/>
            <a:ext cx="0" cy="256032"/>
          </a:xfrm>
          <a:prstGeom prst="line">
            <a:avLst/>
          </a:prstGeom>
          <a:noFill/>
          <a:ln w="12700">
            <a:solidFill>
              <a:srgbClr val="E6E6E6"/>
            </a:solidFill>
            <a:prstDash val="solid"/>
          </a:ln>
        </p:spPr>
      </p:sp>
      <p:sp>
        <p:nvSpPr>
          <p:cNvPr id="10" name="Text 8"/>
          <p:cNvSpPr txBox="1"/>
          <p:nvPr/>
        </p:nvSpPr>
        <p:spPr>
          <a:xfrm>
            <a:off x="2194560" y="1691640"/>
            <a:ext cx="950976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投資額 ÷ 年間キャッシュフロー（簡便だが時間的価値を考慮しない）</a:t>
            </a:r>
            <a:endParaRPr lang="en-US" sz="1100" dirty="0"/>
          </a:p>
        </p:txBody>
      </p:sp>
      <p:sp>
        <p:nvSpPr>
          <p:cNvPr id="11" name="Text 9"/>
          <p:cNvSpPr txBox="1"/>
          <p:nvPr/>
        </p:nvSpPr>
        <p:spPr>
          <a:xfrm>
            <a:off x="502920" y="2075688"/>
            <a:ext cx="155448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NPV法</a:t>
            </a:r>
            <a:endParaRPr lang="en-US" sz="1100" dirty="0"/>
          </a:p>
        </p:txBody>
      </p:sp>
      <p:sp>
        <p:nvSpPr>
          <p:cNvPr id="12" name="Shape 10"/>
          <p:cNvSpPr/>
          <p:nvPr/>
        </p:nvSpPr>
        <p:spPr>
          <a:xfrm>
            <a:off x="2039112" y="2075688"/>
            <a:ext cx="0" cy="256032"/>
          </a:xfrm>
          <a:prstGeom prst="line">
            <a:avLst/>
          </a:prstGeom>
          <a:noFill/>
          <a:ln w="12700">
            <a:solidFill>
              <a:srgbClr val="E6E6E6"/>
            </a:solidFill>
            <a:prstDash val="solid"/>
          </a:ln>
        </p:spPr>
      </p:sp>
      <p:sp>
        <p:nvSpPr>
          <p:cNvPr id="13" name="Text 11"/>
          <p:cNvSpPr txBox="1"/>
          <p:nvPr/>
        </p:nvSpPr>
        <p:spPr>
          <a:xfrm>
            <a:off x="2194560" y="2075688"/>
            <a:ext cx="950976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将来CFを割り引いた合計－投資額。プラスなら投資価値あり</a:t>
            </a:r>
            <a:endParaRPr lang="en-US" sz="1100" dirty="0"/>
          </a:p>
        </p:txBody>
      </p:sp>
      <p:sp>
        <p:nvSpPr>
          <p:cNvPr id="14" name="Text 12"/>
          <p:cNvSpPr txBox="1"/>
          <p:nvPr/>
        </p:nvSpPr>
        <p:spPr>
          <a:xfrm>
            <a:off x="502920" y="2551176"/>
            <a:ext cx="11201400" cy="50292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投資額600万円、年間CF200万円→回収期間＝600÷200＝3年。4年目以降の利益や割引率は考慮されない。</a:t>
            </a:r>
            <a:endParaRPr lang="en-US" sz="850" dirty="0"/>
          </a:p>
        </p:txBody>
      </p:sp>
      <p:sp>
        <p:nvSpPr>
          <p:cNvPr id="15" name="Shape 13"/>
          <p:cNvSpPr/>
          <p:nvPr/>
        </p:nvSpPr>
        <p:spPr>
          <a:xfrm>
            <a:off x="502920" y="3127248"/>
            <a:ext cx="11201400" cy="0"/>
          </a:xfrm>
          <a:prstGeom prst="line">
            <a:avLst/>
          </a:prstGeom>
          <a:noFill/>
          <a:ln w="12700">
            <a:solidFill>
              <a:srgbClr val="E6E6E6"/>
            </a:solidFill>
            <a:prstDash val="solid"/>
          </a:ln>
        </p:spPr>
      </p:sp>
      <p:sp>
        <p:nvSpPr>
          <p:cNvPr id="16" name="Text 14"/>
          <p:cNvSpPr txBox="1"/>
          <p:nvPr/>
        </p:nvSpPr>
        <p:spPr>
          <a:xfrm>
            <a:off x="502920" y="3200400"/>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「回収期間が短い投資ほど必ず優れている」とは限らない。より厳密にはNPV法（B-26参照）を使う。</a:t>
            </a:r>
            <a:endParaRPr lang="en-US" sz="950" dirty="0"/>
          </a:p>
        </p:txBody>
      </p:sp>
      <p:sp>
        <p:nvSpPr>
          <p:cNvPr id="17" name="Shape 15"/>
          <p:cNvSpPr/>
          <p:nvPr/>
        </p:nvSpPr>
        <p:spPr>
          <a:xfrm>
            <a:off x="502920" y="5989320"/>
            <a:ext cx="11201400" cy="0"/>
          </a:xfrm>
          <a:prstGeom prst="line">
            <a:avLst/>
          </a:prstGeom>
          <a:noFill/>
          <a:ln w="9525">
            <a:solidFill>
              <a:srgbClr val="171717"/>
            </a:solidFill>
            <a:prstDash val="solid"/>
          </a:ln>
        </p:spPr>
      </p:sp>
      <p:sp>
        <p:nvSpPr>
          <p:cNvPr id="18" name="Shape 16"/>
          <p:cNvSpPr/>
          <p:nvPr/>
        </p:nvSpPr>
        <p:spPr>
          <a:xfrm>
            <a:off x="502920" y="6062472"/>
            <a:ext cx="329184" cy="329184"/>
          </a:xfrm>
          <a:prstGeom prst="ellipse">
            <a:avLst/>
          </a:prstGeom>
          <a:solidFill>
            <a:srgbClr val="FF3B1F"/>
          </a:solidFill>
          <a:ln/>
        </p:spPr>
      </p:sp>
      <p:sp>
        <p:nvSpPr>
          <p:cNvPr id="19" name="Text 17"/>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0" name="Text 18"/>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1" name="Shape 19"/>
          <p:cNvSpPr/>
          <p:nvPr/>
        </p:nvSpPr>
        <p:spPr>
          <a:xfrm>
            <a:off x="2331720" y="6062472"/>
            <a:ext cx="0" cy="329184"/>
          </a:xfrm>
          <a:prstGeom prst="line">
            <a:avLst/>
          </a:prstGeom>
          <a:noFill/>
          <a:ln w="12700">
            <a:solidFill>
              <a:srgbClr val="E6E6E6"/>
            </a:solidFill>
            <a:prstDash val="solid"/>
          </a:ln>
        </p:spPr>
      </p:sp>
      <p:sp>
        <p:nvSpPr>
          <p:cNvPr id="22" name="Text 20"/>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関連：財務・会計B-24〜B-26（NPV法・IRR法の詳細）。</a:t>
            </a:r>
            <a:endParaRPr lang="en-US" sz="1000" dirty="0"/>
          </a:p>
        </p:txBody>
      </p:sp>
      <p:sp>
        <p:nvSpPr>
          <p:cNvPr id="23" name="Text 21"/>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4" name="Shape 22"/>
          <p:cNvSpPr/>
          <p:nvPr/>
        </p:nvSpPr>
        <p:spPr>
          <a:xfrm>
            <a:off x="2466594" y="6464808"/>
            <a:ext cx="146304" cy="146304"/>
          </a:xfrm>
          <a:prstGeom prst="ellipse">
            <a:avLst/>
          </a:prstGeom>
          <a:solidFill>
            <a:srgbClr val="FF3B1F"/>
          </a:solidFill>
          <a:ln w="12700">
            <a:solidFill>
              <a:srgbClr val="FF3B1F"/>
            </a:solidFill>
            <a:prstDash val="solid"/>
          </a:ln>
        </p:spPr>
      </p:sp>
      <p:sp>
        <p:nvSpPr>
          <p:cNvPr id="25" name="Text 23"/>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6" name="Shape 24"/>
          <p:cNvSpPr/>
          <p:nvPr/>
        </p:nvSpPr>
        <p:spPr>
          <a:xfrm>
            <a:off x="3431286" y="6464808"/>
            <a:ext cx="146304" cy="146304"/>
          </a:xfrm>
          <a:prstGeom prst="ellipse">
            <a:avLst/>
          </a:prstGeom>
          <a:solidFill>
            <a:srgbClr val="FFFFFF"/>
          </a:solidFill>
          <a:ln w="12700">
            <a:solidFill>
              <a:srgbClr val="E6E6E6"/>
            </a:solidFill>
            <a:prstDash val="solid"/>
          </a:ln>
        </p:spPr>
      </p:sp>
      <p:sp>
        <p:nvSpPr>
          <p:cNvPr id="27" name="Text 25"/>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28" name="Shape 26"/>
          <p:cNvSpPr/>
          <p:nvPr/>
        </p:nvSpPr>
        <p:spPr>
          <a:xfrm>
            <a:off x="4395978"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0" name="Shape 28"/>
          <p:cNvSpPr/>
          <p:nvPr/>
        </p:nvSpPr>
        <p:spPr>
          <a:xfrm>
            <a:off x="5360670"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2" name="Shape 30"/>
          <p:cNvSpPr/>
          <p:nvPr/>
        </p:nvSpPr>
        <p:spPr>
          <a:xfrm>
            <a:off x="6325362"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4" name="Shape 32"/>
          <p:cNvSpPr/>
          <p:nvPr/>
        </p:nvSpPr>
        <p:spPr>
          <a:xfrm>
            <a:off x="7290054"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6" name="Shape 34"/>
          <p:cNvSpPr/>
          <p:nvPr/>
        </p:nvSpPr>
        <p:spPr>
          <a:xfrm>
            <a:off x="8254746"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38" name="Shape 36"/>
          <p:cNvSpPr/>
          <p:nvPr/>
        </p:nvSpPr>
        <p:spPr>
          <a:xfrm>
            <a:off x="9219438"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0" name="Shape 38"/>
          <p:cNvSpPr/>
          <p:nvPr/>
        </p:nvSpPr>
        <p:spPr>
          <a:xfrm>
            <a:off x="10184130"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2" name="Shape 40"/>
          <p:cNvSpPr/>
          <p:nvPr/>
        </p:nvSpPr>
        <p:spPr>
          <a:xfrm>
            <a:off x="11148822"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D-18 ／ 資材管理（資材計画、常備品）</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常備品は在庫管理、非常備品は都度手配</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生産に必要な資材を、必要な時に必要な量だけ調達・管理する活動。</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55448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常備品</a:t>
            </a:r>
            <a:endParaRPr lang="en-US" sz="1100" dirty="0"/>
          </a:p>
        </p:txBody>
      </p:sp>
      <p:sp>
        <p:nvSpPr>
          <p:cNvPr id="9" name="Shape 7"/>
          <p:cNvSpPr/>
          <p:nvPr/>
        </p:nvSpPr>
        <p:spPr>
          <a:xfrm>
            <a:off x="2039112" y="1691640"/>
            <a:ext cx="0" cy="256032"/>
          </a:xfrm>
          <a:prstGeom prst="line">
            <a:avLst/>
          </a:prstGeom>
          <a:noFill/>
          <a:ln w="12700">
            <a:solidFill>
              <a:srgbClr val="E6E6E6"/>
            </a:solidFill>
            <a:prstDash val="solid"/>
          </a:ln>
        </p:spPr>
      </p:sp>
      <p:sp>
        <p:nvSpPr>
          <p:cNvPr id="10" name="Text 8"/>
          <p:cNvSpPr txBox="1"/>
          <p:nvPr/>
        </p:nvSpPr>
        <p:spPr>
          <a:xfrm>
            <a:off x="2194560" y="1691640"/>
            <a:ext cx="950976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多くの製品に共通し継続的に使う資材（ネジ等）。発注点方式で管理</a:t>
            </a:r>
            <a:endParaRPr lang="en-US" sz="1100" dirty="0"/>
          </a:p>
        </p:txBody>
      </p:sp>
      <p:sp>
        <p:nvSpPr>
          <p:cNvPr id="11" name="Text 9"/>
          <p:cNvSpPr txBox="1"/>
          <p:nvPr/>
        </p:nvSpPr>
        <p:spPr>
          <a:xfrm>
            <a:off x="502920" y="2075688"/>
            <a:ext cx="155448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非常備品</a:t>
            </a:r>
            <a:endParaRPr lang="en-US" sz="1100" dirty="0"/>
          </a:p>
        </p:txBody>
      </p:sp>
      <p:sp>
        <p:nvSpPr>
          <p:cNvPr id="12" name="Shape 10"/>
          <p:cNvSpPr/>
          <p:nvPr/>
        </p:nvSpPr>
        <p:spPr>
          <a:xfrm>
            <a:off x="2039112" y="2075688"/>
            <a:ext cx="0" cy="256032"/>
          </a:xfrm>
          <a:prstGeom prst="line">
            <a:avLst/>
          </a:prstGeom>
          <a:noFill/>
          <a:ln w="12700">
            <a:solidFill>
              <a:srgbClr val="E6E6E6"/>
            </a:solidFill>
            <a:prstDash val="solid"/>
          </a:ln>
        </p:spPr>
      </p:sp>
      <p:sp>
        <p:nvSpPr>
          <p:cNvPr id="13" name="Text 11"/>
          <p:cNvSpPr txBox="1"/>
          <p:nvPr/>
        </p:nvSpPr>
        <p:spPr>
          <a:xfrm>
            <a:off x="2194560" y="2075688"/>
            <a:ext cx="950976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特定注文にのみ使う資材（特注部品）。都度手配</a:t>
            </a:r>
            <a:endParaRPr lang="en-US" sz="1100" dirty="0"/>
          </a:p>
        </p:txBody>
      </p:sp>
      <p:sp>
        <p:nvSpPr>
          <p:cNvPr id="14" name="Text 12"/>
          <p:cNvSpPr txBox="1"/>
          <p:nvPr/>
        </p:nvSpPr>
        <p:spPr>
          <a:xfrm>
            <a:off x="502920" y="2532888"/>
            <a:ext cx="11201400" cy="59436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精密機器メーカーF社は、多くの製品で共通して使うネジや潤滑油を常備品として在庫を持ち発注点方式で自動発注する一方、特定の大口顧客向けのカスタム部品は非常備品として注文が入った都度だけ手配している。</a:t>
            </a:r>
            <a:endParaRPr lang="en-US" sz="850" dirty="0"/>
          </a:p>
        </p:txBody>
      </p:sp>
      <p:sp>
        <p:nvSpPr>
          <p:cNvPr id="15" name="Shape 13"/>
          <p:cNvSpPr/>
          <p:nvPr/>
        </p:nvSpPr>
        <p:spPr>
          <a:xfrm>
            <a:off x="502920" y="3200400"/>
            <a:ext cx="11201400" cy="0"/>
          </a:xfrm>
          <a:prstGeom prst="line">
            <a:avLst/>
          </a:prstGeom>
          <a:noFill/>
          <a:ln w="12700">
            <a:solidFill>
              <a:srgbClr val="E6E6E6"/>
            </a:solidFill>
            <a:prstDash val="solid"/>
          </a:ln>
        </p:spPr>
      </p:sp>
      <p:sp>
        <p:nvSpPr>
          <p:cNvPr id="16" name="Text 14"/>
          <p:cNvSpPr txBox="1"/>
          <p:nvPr/>
        </p:nvSpPr>
        <p:spPr>
          <a:xfrm>
            <a:off x="502920" y="3273552"/>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常備品は在庫を持って継続管理、非常備品は注文ごとに個別手配、という対応を正確に覚える。</a:t>
            </a:r>
            <a:endParaRPr lang="en-US" sz="950" dirty="0"/>
          </a:p>
        </p:txBody>
      </p:sp>
      <p:sp>
        <p:nvSpPr>
          <p:cNvPr id="17" name="Shape 15"/>
          <p:cNvSpPr/>
          <p:nvPr/>
        </p:nvSpPr>
        <p:spPr>
          <a:xfrm>
            <a:off x="502920" y="5989320"/>
            <a:ext cx="11201400" cy="0"/>
          </a:xfrm>
          <a:prstGeom prst="line">
            <a:avLst/>
          </a:prstGeom>
          <a:noFill/>
          <a:ln w="9525">
            <a:solidFill>
              <a:srgbClr val="171717"/>
            </a:solidFill>
            <a:prstDash val="solid"/>
          </a:ln>
        </p:spPr>
      </p:sp>
      <p:sp>
        <p:nvSpPr>
          <p:cNvPr id="18" name="Shape 16"/>
          <p:cNvSpPr/>
          <p:nvPr/>
        </p:nvSpPr>
        <p:spPr>
          <a:xfrm>
            <a:off x="502920" y="6062472"/>
            <a:ext cx="329184" cy="329184"/>
          </a:xfrm>
          <a:prstGeom prst="ellipse">
            <a:avLst/>
          </a:prstGeom>
          <a:solidFill>
            <a:srgbClr val="FF3B1F"/>
          </a:solidFill>
          <a:ln/>
        </p:spPr>
      </p:sp>
      <p:sp>
        <p:nvSpPr>
          <p:cNvPr id="19" name="Text 17"/>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a:t>
            </a:r>
            <a:endParaRPr lang="en-US" sz="1300" dirty="0"/>
          </a:p>
        </p:txBody>
      </p:sp>
      <p:sp>
        <p:nvSpPr>
          <p:cNvPr id="20" name="Text 18"/>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直近10年で1回出題</a:t>
            </a:r>
            <a:endParaRPr lang="en-US" sz="1050" dirty="0"/>
          </a:p>
        </p:txBody>
      </p:sp>
      <p:sp>
        <p:nvSpPr>
          <p:cNvPr id="21" name="Shape 19"/>
          <p:cNvSpPr/>
          <p:nvPr/>
        </p:nvSpPr>
        <p:spPr>
          <a:xfrm>
            <a:off x="2331720" y="6062472"/>
            <a:ext cx="0" cy="329184"/>
          </a:xfrm>
          <a:prstGeom prst="line">
            <a:avLst/>
          </a:prstGeom>
          <a:noFill/>
          <a:ln w="12700">
            <a:solidFill>
              <a:srgbClr val="E6E6E6"/>
            </a:solidFill>
            <a:prstDash val="solid"/>
          </a:ln>
        </p:spPr>
      </p:sp>
      <p:sp>
        <p:nvSpPr>
          <p:cNvPr id="22" name="Text 20"/>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関連：D-20 在庫管理（常備品の発注方式・EOQへつながる）。</a:t>
            </a:r>
            <a:endParaRPr lang="en-US" sz="1000" dirty="0"/>
          </a:p>
        </p:txBody>
      </p:sp>
      <p:sp>
        <p:nvSpPr>
          <p:cNvPr id="23" name="Text 21"/>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4" name="Shape 22"/>
          <p:cNvSpPr/>
          <p:nvPr/>
        </p:nvSpPr>
        <p:spPr>
          <a:xfrm>
            <a:off x="2466594" y="6464808"/>
            <a:ext cx="146304" cy="146304"/>
          </a:xfrm>
          <a:prstGeom prst="ellipse">
            <a:avLst/>
          </a:prstGeom>
          <a:solidFill>
            <a:srgbClr val="FFFFFF"/>
          </a:solidFill>
          <a:ln w="12700">
            <a:solidFill>
              <a:srgbClr val="E6E6E6"/>
            </a:solidFill>
            <a:prstDash val="solid"/>
          </a:ln>
        </p:spPr>
      </p:sp>
      <p:sp>
        <p:nvSpPr>
          <p:cNvPr id="25" name="Text 23"/>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6" name="Shape 24"/>
          <p:cNvSpPr/>
          <p:nvPr/>
        </p:nvSpPr>
        <p:spPr>
          <a:xfrm>
            <a:off x="3431286" y="6464808"/>
            <a:ext cx="146304" cy="146304"/>
          </a:xfrm>
          <a:prstGeom prst="ellipse">
            <a:avLst/>
          </a:prstGeom>
          <a:solidFill>
            <a:srgbClr val="FFFFFF"/>
          </a:solidFill>
          <a:ln w="12700">
            <a:solidFill>
              <a:srgbClr val="E6E6E6"/>
            </a:solidFill>
            <a:prstDash val="solid"/>
          </a:ln>
        </p:spPr>
      </p:sp>
      <p:sp>
        <p:nvSpPr>
          <p:cNvPr id="27" name="Text 25"/>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28" name="Shape 26"/>
          <p:cNvSpPr/>
          <p:nvPr/>
        </p:nvSpPr>
        <p:spPr>
          <a:xfrm>
            <a:off x="4395978"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0" name="Shape 28"/>
          <p:cNvSpPr/>
          <p:nvPr/>
        </p:nvSpPr>
        <p:spPr>
          <a:xfrm>
            <a:off x="5360670"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2" name="Shape 30"/>
          <p:cNvSpPr/>
          <p:nvPr/>
        </p:nvSpPr>
        <p:spPr>
          <a:xfrm>
            <a:off x="6325362"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4" name="Shape 32"/>
          <p:cNvSpPr/>
          <p:nvPr/>
        </p:nvSpPr>
        <p:spPr>
          <a:xfrm>
            <a:off x="7290054"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6" name="Shape 34"/>
          <p:cNvSpPr/>
          <p:nvPr/>
        </p:nvSpPr>
        <p:spPr>
          <a:xfrm>
            <a:off x="8254746"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38" name="Shape 36"/>
          <p:cNvSpPr/>
          <p:nvPr/>
        </p:nvSpPr>
        <p:spPr>
          <a:xfrm>
            <a:off x="9219438"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0" name="Shape 38"/>
          <p:cNvSpPr/>
          <p:nvPr/>
        </p:nvSpPr>
        <p:spPr>
          <a:xfrm>
            <a:off x="10184130"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2" name="Shape 40"/>
          <p:cNvSpPr/>
          <p:nvPr/>
        </p:nvSpPr>
        <p:spPr>
          <a:xfrm>
            <a:off x="11148822"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D-19 ／ 調達・外注管理</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外注は単なるコスト削減策ではない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自社に無い技術の活用、生産能力の変動吸収など多様な目的で行われる。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73736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外注のメリット</a:t>
            </a:r>
            <a:endParaRPr lang="en-US" sz="1100" dirty="0"/>
          </a:p>
        </p:txBody>
      </p:sp>
      <p:sp>
        <p:nvSpPr>
          <p:cNvPr id="9" name="Shape 7"/>
          <p:cNvSpPr/>
          <p:nvPr/>
        </p:nvSpPr>
        <p:spPr>
          <a:xfrm>
            <a:off x="2221992" y="1691640"/>
            <a:ext cx="0" cy="256032"/>
          </a:xfrm>
          <a:prstGeom prst="line">
            <a:avLst/>
          </a:prstGeom>
          <a:noFill/>
          <a:ln w="12700">
            <a:solidFill>
              <a:srgbClr val="E6E6E6"/>
            </a:solidFill>
            <a:prstDash val="solid"/>
          </a:ln>
        </p:spPr>
      </p:sp>
      <p:sp>
        <p:nvSpPr>
          <p:cNvPr id="10" name="Text 8"/>
          <p:cNvSpPr txBox="1"/>
          <p:nvPr/>
        </p:nvSpPr>
        <p:spPr>
          <a:xfrm>
            <a:off x="2377440" y="1691640"/>
            <a:ext cx="932688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技術・設備の活用、生産能力の変動吸収、固定費の変動費化</a:t>
            </a:r>
            <a:endParaRPr lang="en-US" sz="1100" dirty="0"/>
          </a:p>
        </p:txBody>
      </p:sp>
      <p:sp>
        <p:nvSpPr>
          <p:cNvPr id="11" name="Text 9"/>
          <p:cNvSpPr txBox="1"/>
          <p:nvPr/>
        </p:nvSpPr>
        <p:spPr>
          <a:xfrm>
            <a:off x="502920" y="2075688"/>
            <a:ext cx="173736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外注のデメリット</a:t>
            </a:r>
            <a:endParaRPr lang="en-US" sz="1100" dirty="0"/>
          </a:p>
        </p:txBody>
      </p:sp>
      <p:sp>
        <p:nvSpPr>
          <p:cNvPr id="12" name="Shape 10"/>
          <p:cNvSpPr/>
          <p:nvPr/>
        </p:nvSpPr>
        <p:spPr>
          <a:xfrm>
            <a:off x="2221992" y="2075688"/>
            <a:ext cx="0" cy="256032"/>
          </a:xfrm>
          <a:prstGeom prst="line">
            <a:avLst/>
          </a:prstGeom>
          <a:noFill/>
          <a:ln w="12700">
            <a:solidFill>
              <a:srgbClr val="E6E6E6"/>
            </a:solidFill>
            <a:prstDash val="solid"/>
          </a:ln>
        </p:spPr>
      </p:sp>
      <p:sp>
        <p:nvSpPr>
          <p:cNvPr id="13" name="Text 11"/>
          <p:cNvSpPr txBox="1"/>
          <p:nvPr/>
        </p:nvSpPr>
        <p:spPr>
          <a:xfrm>
            <a:off x="2377440" y="2075688"/>
            <a:ext cx="932688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技術・ノウハウ流出リスク、品質管理の難しさ、依存度上昇リスク</a:t>
            </a:r>
            <a:endParaRPr lang="en-US" sz="1100" dirty="0"/>
          </a:p>
        </p:txBody>
      </p:sp>
      <p:sp>
        <p:nvSpPr>
          <p:cNvPr id="14" name="Text 12"/>
          <p:cNvSpPr txBox="1"/>
          <p:nvPr/>
        </p:nvSpPr>
        <p:spPr>
          <a:xfrm>
            <a:off x="502920" y="2551176"/>
            <a:ext cx="11201400" cy="50292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繁忙期にだけ生産量が急増する部品加工を近隣の協力会社に外注し、自社で新規設備投資・人員採用をせずに需要変動へ対応する。</a:t>
            </a:r>
            <a:endParaRPr lang="en-US" sz="850" dirty="0"/>
          </a:p>
        </p:txBody>
      </p:sp>
      <p:sp>
        <p:nvSpPr>
          <p:cNvPr id="15" name="Shape 13"/>
          <p:cNvSpPr/>
          <p:nvPr/>
        </p:nvSpPr>
        <p:spPr>
          <a:xfrm>
            <a:off x="502920" y="3127248"/>
            <a:ext cx="11201400" cy="0"/>
          </a:xfrm>
          <a:prstGeom prst="line">
            <a:avLst/>
          </a:prstGeom>
          <a:noFill/>
          <a:ln w="12700">
            <a:solidFill>
              <a:srgbClr val="E6E6E6"/>
            </a:solidFill>
            <a:prstDash val="solid"/>
          </a:ln>
        </p:spPr>
      </p:sp>
      <p:sp>
        <p:nvSpPr>
          <p:cNvPr id="16" name="Text 14"/>
          <p:cNvSpPr txBox="1"/>
          <p:nvPr/>
        </p:nvSpPr>
        <p:spPr>
          <a:xfrm>
            <a:off x="502920" y="3200400"/>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外注比率を高めすぎると自社の技術力・ノウハウの空洞化リスクにつながる点も出題対象。</a:t>
            </a:r>
            <a:endParaRPr lang="en-US" sz="950" dirty="0"/>
          </a:p>
        </p:txBody>
      </p:sp>
      <p:sp>
        <p:nvSpPr>
          <p:cNvPr id="17" name="Shape 15"/>
          <p:cNvSpPr/>
          <p:nvPr/>
        </p:nvSpPr>
        <p:spPr>
          <a:xfrm>
            <a:off x="502920" y="5989320"/>
            <a:ext cx="11201400" cy="0"/>
          </a:xfrm>
          <a:prstGeom prst="line">
            <a:avLst/>
          </a:prstGeom>
          <a:noFill/>
          <a:ln w="9525">
            <a:solidFill>
              <a:srgbClr val="171717"/>
            </a:solidFill>
            <a:prstDash val="solid"/>
          </a:ln>
        </p:spPr>
      </p:sp>
      <p:sp>
        <p:nvSpPr>
          <p:cNvPr id="18" name="Shape 16"/>
          <p:cNvSpPr/>
          <p:nvPr/>
        </p:nvSpPr>
        <p:spPr>
          <a:xfrm>
            <a:off x="502920" y="6062472"/>
            <a:ext cx="329184" cy="329184"/>
          </a:xfrm>
          <a:prstGeom prst="ellipse">
            <a:avLst/>
          </a:prstGeom>
          <a:solidFill>
            <a:srgbClr val="FF3B1F"/>
          </a:solidFill>
          <a:ln/>
        </p:spPr>
      </p:sp>
      <p:sp>
        <p:nvSpPr>
          <p:cNvPr id="19" name="Text 17"/>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0" name="Text 18"/>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1" name="Shape 19"/>
          <p:cNvSpPr/>
          <p:nvPr/>
        </p:nvSpPr>
        <p:spPr>
          <a:xfrm>
            <a:off x="2331720" y="6062472"/>
            <a:ext cx="0" cy="329184"/>
          </a:xfrm>
          <a:prstGeom prst="line">
            <a:avLst/>
          </a:prstGeom>
          <a:noFill/>
          <a:ln w="12700">
            <a:solidFill>
              <a:srgbClr val="E6E6E6"/>
            </a:solidFill>
            <a:prstDash val="solid"/>
          </a:ln>
        </p:spPr>
      </p:sp>
      <p:sp>
        <p:nvSpPr>
          <p:cNvPr id="22" name="Text 20"/>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関連：D-18 資材管理（非常備品の都度手配・外部調達との接点）。</a:t>
            </a:r>
            <a:endParaRPr lang="en-US" sz="1000" dirty="0"/>
          </a:p>
        </p:txBody>
      </p:sp>
      <p:sp>
        <p:nvSpPr>
          <p:cNvPr id="23" name="Text 21"/>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4" name="Shape 22"/>
          <p:cNvSpPr/>
          <p:nvPr/>
        </p:nvSpPr>
        <p:spPr>
          <a:xfrm>
            <a:off x="2466594" y="6464808"/>
            <a:ext cx="146304" cy="146304"/>
          </a:xfrm>
          <a:prstGeom prst="ellipse">
            <a:avLst/>
          </a:prstGeom>
          <a:solidFill>
            <a:srgbClr val="FF3B1F"/>
          </a:solidFill>
          <a:ln w="12700">
            <a:solidFill>
              <a:srgbClr val="FF3B1F"/>
            </a:solidFill>
            <a:prstDash val="solid"/>
          </a:ln>
        </p:spPr>
      </p:sp>
      <p:sp>
        <p:nvSpPr>
          <p:cNvPr id="25" name="Text 23"/>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6" name="Shape 24"/>
          <p:cNvSpPr/>
          <p:nvPr/>
        </p:nvSpPr>
        <p:spPr>
          <a:xfrm>
            <a:off x="3431286" y="6464808"/>
            <a:ext cx="146304" cy="146304"/>
          </a:xfrm>
          <a:prstGeom prst="ellipse">
            <a:avLst/>
          </a:prstGeom>
          <a:solidFill>
            <a:srgbClr val="FF3B1F"/>
          </a:solidFill>
          <a:ln w="12700">
            <a:solidFill>
              <a:srgbClr val="FF3B1F"/>
            </a:solidFill>
            <a:prstDash val="solid"/>
          </a:ln>
        </p:spPr>
      </p:sp>
      <p:sp>
        <p:nvSpPr>
          <p:cNvPr id="27" name="Text 25"/>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28" name="Shape 26"/>
          <p:cNvSpPr/>
          <p:nvPr/>
        </p:nvSpPr>
        <p:spPr>
          <a:xfrm>
            <a:off x="4395978"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0" name="Shape 28"/>
          <p:cNvSpPr/>
          <p:nvPr/>
        </p:nvSpPr>
        <p:spPr>
          <a:xfrm>
            <a:off x="5360670"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2" name="Shape 30"/>
          <p:cNvSpPr/>
          <p:nvPr/>
        </p:nvSpPr>
        <p:spPr>
          <a:xfrm>
            <a:off x="6325362"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4" name="Shape 32"/>
          <p:cNvSpPr/>
          <p:nvPr/>
        </p:nvSpPr>
        <p:spPr>
          <a:xfrm>
            <a:off x="7290054"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6" name="Shape 34"/>
          <p:cNvSpPr/>
          <p:nvPr/>
        </p:nvSpPr>
        <p:spPr>
          <a:xfrm>
            <a:off x="8254746"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38" name="Shape 36"/>
          <p:cNvSpPr/>
          <p:nvPr/>
        </p:nvSpPr>
        <p:spPr>
          <a:xfrm>
            <a:off x="9219438"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0" name="Shape 38"/>
          <p:cNvSpPr/>
          <p:nvPr/>
        </p:nvSpPr>
        <p:spPr>
          <a:xfrm>
            <a:off x="10184130"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2" name="Shape 40"/>
          <p:cNvSpPr/>
          <p:nvPr/>
        </p:nvSpPr>
        <p:spPr>
          <a:xfrm>
            <a:off x="11148822"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71717"/>
        </a:solidFill>
      </p:bgPr>
    </p:bg>
    <p:spTree>
      <p:nvGrpSpPr>
        <p:cNvPr id="1" name=""/>
        <p:cNvGrpSpPr/>
        <p:nvPr/>
      </p:nvGrpSpPr>
      <p:grpSpPr>
        <a:xfrm>
          <a:off x="0" y="0"/>
          <a:ext cx="0" cy="0"/>
          <a:chOff x="0" y="0"/>
          <a:chExt cx="0" cy="0"/>
        </a:xfrm>
      </p:grpSpPr>
      <p:sp>
        <p:nvSpPr>
          <p:cNvPr id="2" name="Text 0"/>
          <p:cNvSpPr txBox="1"/>
          <p:nvPr/>
        </p:nvSpPr>
        <p:spPr>
          <a:xfrm>
            <a:off x="8046720" y="1463040"/>
            <a:ext cx="3931920" cy="4114800"/>
          </a:xfrm>
          <a:prstGeom prst="rect">
            <a:avLst/>
          </a:prstGeom>
          <a:noFill/>
          <a:ln/>
        </p:spPr>
        <p:txBody>
          <a:bodyPr wrap="square" lIns="0" tIns="0" rIns="0" bIns="0" rtlCol="0" anchor="ctr"/>
          <a:lstStyle/>
          <a:p>
            <a:pPr algn="r" indent="0" marL="0">
              <a:buNone/>
            </a:pPr>
            <a:r>
              <a:rPr lang="en-US" sz="22000" b="1" dirty="0">
                <a:solidFill>
                  <a:srgbClr val="252525"/>
                </a:solidFill>
                <a:latin typeface="Consolas" pitchFamily="34" charset="0"/>
                <a:ea typeface="Consolas" pitchFamily="34" charset="-122"/>
                <a:cs typeface="Consolas" pitchFamily="34" charset="-120"/>
              </a:rPr>
              <a:t>03</a:t>
            </a:r>
            <a:endParaRPr lang="en-US" sz="22000" dirty="0"/>
          </a:p>
        </p:txBody>
      </p:sp>
      <p:sp>
        <p:nvSpPr>
          <p:cNvPr id="3" name="Text 1"/>
          <p:cNvSpPr txBox="1"/>
          <p:nvPr/>
        </p:nvSpPr>
        <p:spPr>
          <a:xfrm>
            <a:off x="640080" y="1920240"/>
            <a:ext cx="8229600" cy="365760"/>
          </a:xfrm>
          <a:prstGeom prst="rect">
            <a:avLst/>
          </a:prstGeom>
          <a:noFill/>
          <a:ln/>
        </p:spPr>
        <p:txBody>
          <a:bodyPr wrap="square" lIns="0" tIns="0" rIns="0" bIns="0" rtlCol="0" anchor="ctr"/>
          <a:lstStyle/>
          <a:p>
            <a:pPr indent="0" marL="0">
              <a:buNone/>
            </a:pPr>
            <a:r>
              <a:rPr lang="en-US" sz="1300" b="1" dirty="0">
                <a:solidFill>
                  <a:srgbClr val="FF3B1F"/>
                </a:solidFill>
                <a:latin typeface="Consolas" pitchFamily="34" charset="0"/>
                <a:ea typeface="Consolas" pitchFamily="34" charset="-122"/>
                <a:cs typeface="Consolas" pitchFamily="34" charset="-120"/>
              </a:rPr>
              <a:t>PART 03</a:t>
            </a:r>
            <a:pPr indent="0" marL="0">
              <a:buNone/>
            </a:pPr>
            <a:r>
              <a:rPr lang="en-US" sz="1300" dirty="0">
                <a:solidFill>
                  <a:srgbClr val="A2A2A2"/>
                </a:solidFill>
                <a:latin typeface="Consolas" pitchFamily="34" charset="0"/>
                <a:ea typeface="Consolas" pitchFamily="34" charset="-122"/>
                <a:cs typeface="Consolas" pitchFamily="34" charset="-120"/>
              </a:rPr>
              <a:t>   運営管理 ／ D-20〜D-28</a:t>
            </a:r>
            <a:endParaRPr lang="en-US" sz="1300" dirty="0"/>
          </a:p>
        </p:txBody>
      </p:sp>
      <p:sp>
        <p:nvSpPr>
          <p:cNvPr id="4" name="Text 2"/>
          <p:cNvSpPr txBox="1"/>
          <p:nvPr/>
        </p:nvSpPr>
        <p:spPr>
          <a:xfrm>
            <a:off x="594360" y="2331720"/>
            <a:ext cx="8229600" cy="1005840"/>
          </a:xfrm>
          <a:prstGeom prst="rect">
            <a:avLst/>
          </a:prstGeom>
          <a:noFill/>
          <a:ln/>
        </p:spPr>
        <p:txBody>
          <a:bodyPr wrap="square" lIns="0" tIns="0" rIns="0" bIns="0" rtlCol="0" anchor="ctr"/>
          <a:lstStyle/>
          <a:p>
            <a:pPr indent="0" marL="0">
              <a:buNone/>
            </a:pPr>
            <a:r>
              <a:rPr lang="en-US" sz="4600" b="1" dirty="0">
                <a:solidFill>
                  <a:srgbClr val="FFFFFF"/>
                </a:solidFill>
                <a:latin typeface="Yu Gothic" pitchFamily="34" charset="0"/>
                <a:ea typeface="Yu Gothic" pitchFamily="34" charset="-122"/>
                <a:cs typeface="Yu Gothic" pitchFamily="34" charset="-120"/>
              </a:rPr>
              <a:t>在庫・品質管理／店舗集積</a:t>
            </a:r>
            <a:endParaRPr lang="en-US" sz="4600" dirty="0"/>
          </a:p>
        </p:txBody>
      </p:sp>
      <p:sp>
        <p:nvSpPr>
          <p:cNvPr id="5" name="Text 3"/>
          <p:cNvSpPr txBox="1"/>
          <p:nvPr/>
        </p:nvSpPr>
        <p:spPr>
          <a:xfrm>
            <a:off x="640080" y="3429000"/>
            <a:ext cx="7498080" cy="1188720"/>
          </a:xfrm>
          <a:prstGeom prst="rect">
            <a:avLst/>
          </a:prstGeom>
          <a:noFill/>
          <a:ln/>
        </p:spPr>
        <p:txBody>
          <a:bodyPr wrap="square" lIns="0" tIns="0" rIns="0" bIns="0" rtlCol="0" anchor="ctr"/>
          <a:lstStyle/>
          <a:p>
            <a:pPr indent="0" marL="0">
              <a:lnSpc>
                <a:spcPct val="160000"/>
              </a:lnSpc>
              <a:buNone/>
            </a:pPr>
            <a:r>
              <a:rPr lang="en-US" sz="1400" dirty="0">
                <a:solidFill>
                  <a:srgbClr val="D1D1D1"/>
                </a:solidFill>
                <a:latin typeface="Yu Gothic" pitchFamily="34" charset="0"/>
                <a:ea typeface="Yu Gothic" pitchFamily="34" charset="-122"/>
                <a:cs typeface="Yu Gothic" pitchFamily="34" charset="-120"/>
              </a:rPr>
              <a:t>在庫管理（ABC分析、EOQ）・品質管理（QC7つ道具）・廃棄物管理で第1部を締めくくり、視点を店舗に移して出店法規・商圏分析・業態・商品計画・仕入・陳列まで。</a:t>
            </a:r>
            <a:endParaRPr lang="en-US" sz="1400" dirty="0"/>
          </a:p>
        </p:txBody>
      </p:sp>
      <p:sp>
        <p:nvSpPr>
          <p:cNvPr id="6" name="Shape 4"/>
          <p:cNvSpPr/>
          <p:nvPr/>
        </p:nvSpPr>
        <p:spPr>
          <a:xfrm>
            <a:off x="640080" y="4800600"/>
            <a:ext cx="1924812" cy="384048"/>
          </a:xfrm>
          <a:prstGeom prst="rect">
            <a:avLst/>
          </a:prstGeom>
          <a:ln w="9525">
            <a:solidFill>
              <a:srgbClr val="7F7F7F"/>
            </a:solidFill>
            <a:prstDash val="solid"/>
          </a:ln>
        </p:spPr>
      </p:sp>
      <p:sp>
        <p:nvSpPr>
          <p:cNvPr id="7" name="Text 5"/>
          <p:cNvSpPr txBox="1"/>
          <p:nvPr/>
        </p:nvSpPr>
        <p:spPr>
          <a:xfrm>
            <a:off x="640080" y="4800600"/>
            <a:ext cx="1924812"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D-20 EOQ・発注方式</a:t>
            </a:r>
            <a:endParaRPr lang="en-US" sz="1000" dirty="0"/>
          </a:p>
        </p:txBody>
      </p:sp>
      <p:sp>
        <p:nvSpPr>
          <p:cNvPr id="8" name="Shape 6"/>
          <p:cNvSpPr/>
          <p:nvPr/>
        </p:nvSpPr>
        <p:spPr>
          <a:xfrm>
            <a:off x="2793492" y="4800600"/>
            <a:ext cx="1677924" cy="384048"/>
          </a:xfrm>
          <a:prstGeom prst="rect">
            <a:avLst/>
          </a:prstGeom>
          <a:ln w="9525">
            <a:solidFill>
              <a:srgbClr val="7F7F7F"/>
            </a:solidFill>
            <a:prstDash val="solid"/>
          </a:ln>
        </p:spPr>
      </p:sp>
      <p:sp>
        <p:nvSpPr>
          <p:cNvPr id="9" name="Text 7"/>
          <p:cNvSpPr txBox="1"/>
          <p:nvPr/>
        </p:nvSpPr>
        <p:spPr>
          <a:xfrm>
            <a:off x="2793492" y="4800600"/>
            <a:ext cx="1677924"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D-21 QC7つ道具</a:t>
            </a:r>
            <a:endParaRPr lang="en-US" sz="1000" dirty="0"/>
          </a:p>
        </p:txBody>
      </p:sp>
      <p:sp>
        <p:nvSpPr>
          <p:cNvPr id="10" name="Shape 8"/>
          <p:cNvSpPr/>
          <p:nvPr/>
        </p:nvSpPr>
        <p:spPr>
          <a:xfrm>
            <a:off x="4700016" y="4800600"/>
            <a:ext cx="1801368" cy="384048"/>
          </a:xfrm>
          <a:prstGeom prst="rect">
            <a:avLst/>
          </a:prstGeom>
          <a:ln w="9525">
            <a:solidFill>
              <a:srgbClr val="7F7F7F"/>
            </a:solidFill>
            <a:prstDash val="solid"/>
          </a:ln>
        </p:spPr>
      </p:sp>
      <p:sp>
        <p:nvSpPr>
          <p:cNvPr id="11" name="Text 9"/>
          <p:cNvSpPr txBox="1"/>
          <p:nvPr/>
        </p:nvSpPr>
        <p:spPr>
          <a:xfrm>
            <a:off x="4700016" y="4800600"/>
            <a:ext cx="1801368"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D-24 ライリーの法則</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D-20 ／ 在庫管理（ABC分析、発注方式、EOQ）</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定量発注は発注量固定、定期発注は発注時期固定</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ABC分析で重要度にメリハリをつけ、EOQで最適な発注量を求める。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92808"/>
            <a:ext cx="21031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ABC分析</a:t>
            </a:r>
            <a:endParaRPr lang="en-US" sz="1500" dirty="0"/>
          </a:p>
        </p:txBody>
      </p:sp>
      <p:sp>
        <p:nvSpPr>
          <p:cNvPr id="9" name="Text 7"/>
          <p:cNvSpPr txBox="1"/>
          <p:nvPr/>
        </p:nvSpPr>
        <p:spPr>
          <a:xfrm>
            <a:off x="2697480" y="1856232"/>
            <a:ext cx="900684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金額順に並べ累積構成比でA・B・Cにランク分け（パレートの法則）</a:t>
            </a:r>
            <a:endParaRPr lang="en-US" sz="1100" dirty="0"/>
          </a:p>
        </p:txBody>
      </p:sp>
      <p:sp>
        <p:nvSpPr>
          <p:cNvPr id="10" name="Shape 8"/>
          <p:cNvSpPr/>
          <p:nvPr/>
        </p:nvSpPr>
        <p:spPr>
          <a:xfrm>
            <a:off x="502920" y="2606040"/>
            <a:ext cx="11201400" cy="0"/>
          </a:xfrm>
          <a:prstGeom prst="line">
            <a:avLst/>
          </a:prstGeom>
          <a:noFill/>
          <a:ln w="12700">
            <a:solidFill>
              <a:srgbClr val="E6E6E6"/>
            </a:solidFill>
            <a:prstDash val="solid"/>
          </a:ln>
        </p:spPr>
      </p:sp>
      <p:sp>
        <p:nvSpPr>
          <p:cNvPr id="11" name="Text 9"/>
          <p:cNvSpPr txBox="1"/>
          <p:nvPr/>
        </p:nvSpPr>
        <p:spPr>
          <a:xfrm>
            <a:off x="502920" y="2715768"/>
            <a:ext cx="21031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定量発注方式</a:t>
            </a:r>
            <a:endParaRPr lang="en-US" sz="1500" dirty="0"/>
          </a:p>
        </p:txBody>
      </p:sp>
      <p:sp>
        <p:nvSpPr>
          <p:cNvPr id="12" name="Text 10"/>
          <p:cNvSpPr txBox="1"/>
          <p:nvPr/>
        </p:nvSpPr>
        <p:spPr>
          <a:xfrm>
            <a:off x="2697480" y="2734056"/>
            <a:ext cx="182880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発注量固定</a:t>
            </a:r>
            <a:endParaRPr lang="en-US" sz="1100" dirty="0"/>
          </a:p>
        </p:txBody>
      </p:sp>
      <p:sp>
        <p:nvSpPr>
          <p:cNvPr id="13" name="Text 11"/>
          <p:cNvSpPr txBox="1"/>
          <p:nvPr/>
        </p:nvSpPr>
        <p:spPr>
          <a:xfrm>
            <a:off x="4617720" y="2679192"/>
            <a:ext cx="708660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発注点で発注、発注間隔は需要により変動。Cランク向き</a:t>
            </a:r>
            <a:endParaRPr lang="en-US" sz="1100" dirty="0"/>
          </a:p>
        </p:txBody>
      </p:sp>
      <p:sp>
        <p:nvSpPr>
          <p:cNvPr id="14" name="Shape 12"/>
          <p:cNvSpPr/>
          <p:nvPr/>
        </p:nvSpPr>
        <p:spPr>
          <a:xfrm>
            <a:off x="502920" y="3429000"/>
            <a:ext cx="11201400" cy="0"/>
          </a:xfrm>
          <a:prstGeom prst="line">
            <a:avLst/>
          </a:prstGeom>
          <a:noFill/>
          <a:ln w="12700">
            <a:solidFill>
              <a:srgbClr val="E6E6E6"/>
            </a:solidFill>
            <a:prstDash val="solid"/>
          </a:ln>
        </p:spPr>
      </p:sp>
      <p:sp>
        <p:nvSpPr>
          <p:cNvPr id="15" name="Text 13"/>
          <p:cNvSpPr txBox="1"/>
          <p:nvPr/>
        </p:nvSpPr>
        <p:spPr>
          <a:xfrm>
            <a:off x="502920" y="3538728"/>
            <a:ext cx="21031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定期発注方式</a:t>
            </a:r>
            <a:endParaRPr lang="en-US" sz="1500" dirty="0"/>
          </a:p>
        </p:txBody>
      </p:sp>
      <p:sp>
        <p:nvSpPr>
          <p:cNvPr id="16" name="Text 14"/>
          <p:cNvSpPr txBox="1"/>
          <p:nvPr/>
        </p:nvSpPr>
        <p:spPr>
          <a:xfrm>
            <a:off x="2697480" y="3557016"/>
            <a:ext cx="182880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発注時期固定</a:t>
            </a:r>
            <a:endParaRPr lang="en-US" sz="1100" dirty="0"/>
          </a:p>
        </p:txBody>
      </p:sp>
      <p:sp>
        <p:nvSpPr>
          <p:cNvPr id="17" name="Text 15"/>
          <p:cNvSpPr txBox="1"/>
          <p:nvPr/>
        </p:nvSpPr>
        <p:spPr>
          <a:xfrm>
            <a:off x="4617720" y="3502152"/>
            <a:ext cx="708660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一定間隔で需要予測に基づき発注量を変動。Aランク向き</a:t>
            </a:r>
            <a:endParaRPr lang="en-US" sz="1100" dirty="0"/>
          </a:p>
        </p:txBody>
      </p:sp>
      <p:sp>
        <p:nvSpPr>
          <p:cNvPr id="18" name="Shape 16"/>
          <p:cNvSpPr/>
          <p:nvPr/>
        </p:nvSpPr>
        <p:spPr>
          <a:xfrm>
            <a:off x="502920" y="4251960"/>
            <a:ext cx="11201400" cy="0"/>
          </a:xfrm>
          <a:prstGeom prst="line">
            <a:avLst/>
          </a:prstGeom>
          <a:noFill/>
          <a:ln w="12700">
            <a:solidFill>
              <a:srgbClr val="E6E6E6"/>
            </a:solidFill>
            <a:prstDash val="solid"/>
          </a:ln>
        </p:spPr>
      </p:sp>
      <p:sp>
        <p:nvSpPr>
          <p:cNvPr id="19" name="Text 17"/>
          <p:cNvSpPr txBox="1"/>
          <p:nvPr/>
        </p:nvSpPr>
        <p:spPr>
          <a:xfrm>
            <a:off x="502920" y="4361688"/>
            <a:ext cx="21031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EOQ</a:t>
            </a:r>
            <a:endParaRPr lang="en-US" sz="1500" dirty="0"/>
          </a:p>
        </p:txBody>
      </p:sp>
      <p:sp>
        <p:nvSpPr>
          <p:cNvPr id="20" name="Text 18"/>
          <p:cNvSpPr txBox="1"/>
          <p:nvPr/>
        </p:nvSpPr>
        <p:spPr>
          <a:xfrm>
            <a:off x="2697480" y="4379976"/>
            <a:ext cx="182880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経済的発注量</a:t>
            </a:r>
            <a:endParaRPr lang="en-US" sz="1100" dirty="0"/>
          </a:p>
        </p:txBody>
      </p:sp>
      <p:sp>
        <p:nvSpPr>
          <p:cNvPr id="21" name="Text 19"/>
          <p:cNvSpPr txBox="1"/>
          <p:nvPr/>
        </p:nvSpPr>
        <p:spPr>
          <a:xfrm>
            <a:off x="4617720" y="4325112"/>
            <a:ext cx="7086600" cy="6675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√(2×年間需要量×発注コスト÷単位あたり保管コスト)</a:t>
            </a:r>
            <a:endParaRPr lang="en-US" sz="1100" dirty="0"/>
          </a:p>
        </p:txBody>
      </p:sp>
      <p:sp>
        <p:nvSpPr>
          <p:cNvPr id="22" name="Text 20"/>
          <p:cNvSpPr txBox="1"/>
          <p:nvPr/>
        </p:nvSpPr>
        <p:spPr>
          <a:xfrm>
            <a:off x="502920" y="5184648"/>
            <a:ext cx="11201400" cy="59436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小売業G社は取扱商品を金額の大きい順にABC分析し、売上の大半を占めるAランク品目は定期発注方式でこまめに需要予測・発注を行う一方、重要度の低いCランク品目は定量発注方式（発注点到達で自動発注）で管理の手間を抑えている。</a:t>
            </a:r>
            <a:endParaRPr lang="en-US" sz="850" dirty="0"/>
          </a:p>
        </p:txBody>
      </p:sp>
      <p:sp>
        <p:nvSpPr>
          <p:cNvPr id="23" name="Shape 21"/>
          <p:cNvSpPr/>
          <p:nvPr/>
        </p:nvSpPr>
        <p:spPr>
          <a:xfrm>
            <a:off x="502920" y="5989320"/>
            <a:ext cx="11201400" cy="0"/>
          </a:xfrm>
          <a:prstGeom prst="line">
            <a:avLst/>
          </a:prstGeom>
          <a:noFill/>
          <a:ln w="9525">
            <a:solidFill>
              <a:srgbClr val="171717"/>
            </a:solidFill>
            <a:prstDash val="solid"/>
          </a:ln>
        </p:spPr>
      </p:sp>
      <p:sp>
        <p:nvSpPr>
          <p:cNvPr id="24" name="Shape 22"/>
          <p:cNvSpPr/>
          <p:nvPr/>
        </p:nvSpPr>
        <p:spPr>
          <a:xfrm>
            <a:off x="502920" y="6062472"/>
            <a:ext cx="329184" cy="329184"/>
          </a:xfrm>
          <a:prstGeom prst="ellipse">
            <a:avLst/>
          </a:prstGeom>
          <a:solidFill>
            <a:srgbClr val="FF3B1F"/>
          </a:solidFill>
          <a:ln/>
        </p:spPr>
      </p:sp>
      <p:sp>
        <p:nvSpPr>
          <p:cNvPr id="25" name="Text 2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6" name="Text 2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7" name="Shape 25"/>
          <p:cNvSpPr/>
          <p:nvPr/>
        </p:nvSpPr>
        <p:spPr>
          <a:xfrm>
            <a:off x="2331720" y="6062472"/>
            <a:ext cx="0" cy="329184"/>
          </a:xfrm>
          <a:prstGeom prst="line">
            <a:avLst/>
          </a:prstGeom>
          <a:noFill/>
          <a:ln w="12700">
            <a:solidFill>
              <a:srgbClr val="E6E6E6"/>
            </a:solidFill>
            <a:prstDash val="solid"/>
          </a:ln>
        </p:spPr>
      </p:sp>
      <p:sp>
        <p:nvSpPr>
          <p:cNvPr id="28" name="Text 2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ひっかけ：安全係数は高くするほど欠品リスクが減る。ダブルビン方式の発注量は補充点相当量。</a:t>
            </a:r>
            <a:endParaRPr lang="en-US" sz="1000" dirty="0"/>
          </a:p>
        </p:txBody>
      </p:sp>
      <p:sp>
        <p:nvSpPr>
          <p:cNvPr id="29" name="Text 2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0" name="Shape 28"/>
          <p:cNvSpPr/>
          <p:nvPr/>
        </p:nvSpPr>
        <p:spPr>
          <a:xfrm>
            <a:off x="2466594" y="6464808"/>
            <a:ext cx="146304" cy="146304"/>
          </a:xfrm>
          <a:prstGeom prst="ellipse">
            <a:avLst/>
          </a:prstGeom>
          <a:solidFill>
            <a:srgbClr val="FFFFFF"/>
          </a:solidFill>
          <a:ln w="12700">
            <a:solidFill>
              <a:srgbClr val="E6E6E6"/>
            </a:solidFill>
            <a:prstDash val="solid"/>
          </a:ln>
        </p:spPr>
      </p:sp>
      <p:sp>
        <p:nvSpPr>
          <p:cNvPr id="31" name="Text 2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2" name="Shape 30"/>
          <p:cNvSpPr/>
          <p:nvPr/>
        </p:nvSpPr>
        <p:spPr>
          <a:xfrm>
            <a:off x="3431286"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4" name="Shape 32"/>
          <p:cNvSpPr/>
          <p:nvPr/>
        </p:nvSpPr>
        <p:spPr>
          <a:xfrm>
            <a:off x="4395978"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6" name="Shape 34"/>
          <p:cNvSpPr/>
          <p:nvPr/>
        </p:nvSpPr>
        <p:spPr>
          <a:xfrm>
            <a:off x="5360670"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8" name="Shape 36"/>
          <p:cNvSpPr/>
          <p:nvPr/>
        </p:nvSpPr>
        <p:spPr>
          <a:xfrm>
            <a:off x="6325362"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0" name="Shape 38"/>
          <p:cNvSpPr/>
          <p:nvPr/>
        </p:nvSpPr>
        <p:spPr>
          <a:xfrm>
            <a:off x="7290054"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2" name="Shape 40"/>
          <p:cNvSpPr/>
          <p:nvPr/>
        </p:nvSpPr>
        <p:spPr>
          <a:xfrm>
            <a:off x="8254746"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4" name="Shape 42"/>
          <p:cNvSpPr/>
          <p:nvPr/>
        </p:nvSpPr>
        <p:spPr>
          <a:xfrm>
            <a:off x="9219438"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6" name="Shape 44"/>
          <p:cNvSpPr/>
          <p:nvPr/>
        </p:nvSpPr>
        <p:spPr>
          <a:xfrm>
            <a:off x="10184130"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8" name="Shape 46"/>
          <p:cNvSpPr/>
          <p:nvPr/>
        </p:nvSpPr>
        <p:spPr>
          <a:xfrm>
            <a:off x="11148822" y="6464808"/>
            <a:ext cx="146304" cy="146304"/>
          </a:xfrm>
          <a:prstGeom prst="ellipse">
            <a:avLst/>
          </a:prstGeom>
          <a:solidFill>
            <a:srgbClr val="FFFFFF"/>
          </a:solidFill>
          <a:ln w="12700">
            <a:solidFill>
              <a:srgbClr val="E6E6E6"/>
            </a:solidFill>
            <a:prstDash val="solid"/>
          </a:ln>
        </p:spPr>
      </p:sp>
      <p:sp>
        <p:nvSpPr>
          <p:cNvPr id="49" name="Text 4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D-20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第32問）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前のスライドの内容で答えられるか、解答を見る前に考えてみる。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45720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小売店舗における在庫管理に関する記述として、最も適切なものはどれか。</a:t>
            </a:r>
            <a:endParaRPr lang="en-US" sz="1250" dirty="0"/>
          </a:p>
        </p:txBody>
      </p:sp>
      <p:sp>
        <p:nvSpPr>
          <p:cNvPr id="9" name="Text 7"/>
          <p:cNvSpPr txBox="1"/>
          <p:nvPr/>
        </p:nvSpPr>
        <p:spPr>
          <a:xfrm>
            <a:off x="731520" y="224028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安全在庫を設定する場合、欠品のリスクを小さくするためには、安全係数を低く設定する必要がある。</a:t>
            </a:r>
            <a:endParaRPr lang="en-US" sz="1150" dirty="0"/>
          </a:p>
        </p:txBody>
      </p:sp>
      <p:sp>
        <p:nvSpPr>
          <p:cNvPr id="10" name="Text 8"/>
          <p:cNvSpPr txBox="1"/>
          <p:nvPr/>
        </p:nvSpPr>
        <p:spPr>
          <a:xfrm>
            <a:off x="731520" y="278892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ダブルビン方式を採用している場合、発注量は補充点の2倍に相当する量である。</a:t>
            </a:r>
            <a:endParaRPr lang="en-US" sz="1150" dirty="0"/>
          </a:p>
        </p:txBody>
      </p:sp>
      <p:sp>
        <p:nvSpPr>
          <p:cNvPr id="11" name="Text 9"/>
          <p:cNvSpPr txBox="1"/>
          <p:nvPr/>
        </p:nvSpPr>
        <p:spPr>
          <a:xfrm>
            <a:off x="731520" y="333756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定期発注方式を採用している場合、発注から納品までの調達期間を長くすると、発注のための需要予測量は多くなる。</a:t>
            </a:r>
            <a:endParaRPr lang="en-US" sz="1150" dirty="0"/>
          </a:p>
        </p:txBody>
      </p:sp>
      <p:sp>
        <p:nvSpPr>
          <p:cNvPr id="12" name="Text 10"/>
          <p:cNvSpPr txBox="1"/>
          <p:nvPr/>
        </p:nvSpPr>
        <p:spPr>
          <a:xfrm>
            <a:off x="731520" y="388620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定期発注方式を採用している場合、発注間隔を長くすると、発注1回当たりの発注量は少なくなる。</a:t>
            </a:r>
            <a:endParaRPr lang="en-US" sz="1150" dirty="0"/>
          </a:p>
        </p:txBody>
      </p:sp>
      <p:sp>
        <p:nvSpPr>
          <p:cNvPr id="13" name="Text 11"/>
          <p:cNvSpPr txBox="1"/>
          <p:nvPr/>
        </p:nvSpPr>
        <p:spPr>
          <a:xfrm>
            <a:off x="731520" y="443484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定量発注方式を採用している場合、発注点に基づいて発注すれば、販売量の増減にかかわらず、発注間隔は一定になる。</a:t>
            </a:r>
            <a:endParaRPr lang="en-US" sz="1150" dirty="0"/>
          </a:p>
        </p:txBody>
      </p:sp>
      <p:sp>
        <p:nvSpPr>
          <p:cNvPr id="14" name="Text 12"/>
          <p:cNvSpPr txBox="1"/>
          <p:nvPr/>
        </p:nvSpPr>
        <p:spPr>
          <a:xfrm>
            <a:off x="502920" y="512064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出典：past_exams/1st_stage/1ji2025/D1JI2025.pdf（令和7年度第1次試験）第32問</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D-20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第32問）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正解はウ。調達期間が長いほど見積もるべき需要期間が延びる。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安全在庫を設定する場合、欠品のリスクを小さくするためには、安全係数を低く設定する必要がある。</a:t>
            </a:r>
            <a:endParaRPr lang="en-US" sz="1150" dirty="0"/>
          </a:p>
        </p:txBody>
      </p:sp>
      <p:sp>
        <p:nvSpPr>
          <p:cNvPr id="9" name="Text 7"/>
          <p:cNvSpPr txBox="1"/>
          <p:nvPr/>
        </p:nvSpPr>
        <p:spPr>
          <a:xfrm>
            <a:off x="731520" y="228600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ダブルビン方式を採用している場合、発注量は補充点の2倍に相当する量である。</a:t>
            </a:r>
            <a:endParaRPr lang="en-US" sz="1150" dirty="0"/>
          </a:p>
        </p:txBody>
      </p:sp>
      <p:sp>
        <p:nvSpPr>
          <p:cNvPr id="10" name="Shape 8"/>
          <p:cNvSpPr/>
          <p:nvPr/>
        </p:nvSpPr>
        <p:spPr>
          <a:xfrm>
            <a:off x="502920" y="2807208"/>
            <a:ext cx="11201400" cy="548640"/>
          </a:xfrm>
          <a:prstGeom prst="rect">
            <a:avLst/>
          </a:prstGeom>
          <a:solidFill>
            <a:srgbClr val="F4F4F4"/>
          </a:solidFill>
          <a:ln/>
        </p:spPr>
      </p:sp>
      <p:sp>
        <p:nvSpPr>
          <p:cNvPr id="11" name="Shape 9"/>
          <p:cNvSpPr/>
          <p:nvPr/>
        </p:nvSpPr>
        <p:spPr>
          <a:xfrm>
            <a:off x="502920" y="2807208"/>
            <a:ext cx="0" cy="548640"/>
          </a:xfrm>
          <a:prstGeom prst="line">
            <a:avLst/>
          </a:prstGeom>
          <a:noFill/>
          <a:ln w="38100">
            <a:solidFill>
              <a:srgbClr val="FF3B1F"/>
            </a:solidFill>
            <a:prstDash val="solid"/>
          </a:ln>
        </p:spPr>
      </p:sp>
      <p:sp>
        <p:nvSpPr>
          <p:cNvPr id="12" name="Text 10"/>
          <p:cNvSpPr txBox="1"/>
          <p:nvPr/>
        </p:nvSpPr>
        <p:spPr>
          <a:xfrm>
            <a:off x="731520" y="283464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定期発注方式を採用している場合、発注から納品までの調達期間を長くすると、発注のための需要予測量は多くなる。</a:t>
            </a:r>
            <a:endParaRPr lang="en-US" sz="1150" dirty="0"/>
          </a:p>
        </p:txBody>
      </p:sp>
      <p:sp>
        <p:nvSpPr>
          <p:cNvPr id="13" name="Text 11"/>
          <p:cNvSpPr txBox="1"/>
          <p:nvPr/>
        </p:nvSpPr>
        <p:spPr>
          <a:xfrm>
            <a:off x="731520" y="338328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定期発注方式を採用している場合、発注間隔を長くすると、発注1回当たりの発注量は少なくなる。</a:t>
            </a:r>
            <a:endParaRPr lang="en-US" sz="1150" dirty="0"/>
          </a:p>
        </p:txBody>
      </p:sp>
      <p:sp>
        <p:nvSpPr>
          <p:cNvPr id="14" name="Text 12"/>
          <p:cNvSpPr txBox="1"/>
          <p:nvPr/>
        </p:nvSpPr>
        <p:spPr>
          <a:xfrm>
            <a:off x="731520" y="3931920"/>
            <a:ext cx="10789920" cy="502920"/>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定量発注方式を採用している場合、発注点に基づいて発注すれば、販売量の増減にかかわらず、発注間隔は一定になる。</a:t>
            </a:r>
            <a:endParaRPr lang="en-US" sz="1150" dirty="0"/>
          </a:p>
        </p:txBody>
      </p:sp>
      <p:sp>
        <p:nvSpPr>
          <p:cNvPr id="15" name="Shape 13"/>
          <p:cNvSpPr/>
          <p:nvPr/>
        </p:nvSpPr>
        <p:spPr>
          <a:xfrm>
            <a:off x="502920" y="4553712"/>
            <a:ext cx="11201400" cy="0"/>
          </a:xfrm>
          <a:prstGeom prst="line">
            <a:avLst/>
          </a:prstGeom>
          <a:noFill/>
          <a:ln w="12700">
            <a:solidFill>
              <a:srgbClr val="171717"/>
            </a:solidFill>
            <a:prstDash val="solid"/>
          </a:ln>
        </p:spPr>
      </p:sp>
      <p:sp>
        <p:nvSpPr>
          <p:cNvPr id="16" name="Text 14"/>
          <p:cNvSpPr txBox="1"/>
          <p:nvPr/>
        </p:nvSpPr>
        <p:spPr>
          <a:xfrm>
            <a:off x="502920" y="4645152"/>
            <a:ext cx="11201400" cy="914400"/>
          </a:xfrm>
          <a:prstGeom prst="rect">
            <a:avLst/>
          </a:prstGeom>
          <a:noFill/>
          <a:ln/>
        </p:spPr>
        <p:txBody>
          <a:bodyPr wrap="square" lIns="0" tIns="0" rIns="0" bIns="0" rtlCol="0" anchor="ctr"/>
          <a:lstStyle/>
          <a:p>
            <a:pPr indent="0" marL="0">
              <a:lnSpc>
                <a:spcPct val="118000"/>
              </a:lnSpc>
              <a:buNone/>
            </a:pPr>
            <a:r>
              <a:rPr lang="en-US" sz="1000" b="1" dirty="0">
                <a:solidFill>
                  <a:srgbClr val="FF3B1F"/>
                </a:solidFill>
                <a:latin typeface="Yu Gothic" pitchFamily="34" charset="0"/>
                <a:ea typeface="Yu Gothic" pitchFamily="34" charset="-122"/>
                <a:cs typeface="Yu Gothic" pitchFamily="34" charset="-120"/>
              </a:rPr>
              <a:t>正解：ウ</a:t>
            </a:r>
            <a:pPr indent="0" marL="0">
              <a:lnSpc>
                <a:spcPct val="118000"/>
              </a:lnSpc>
              <a:buNone/>
            </a:pPr>
            <a:r>
              <a:rPr lang="en-US" sz="1000" dirty="0">
                <a:solidFill>
                  <a:srgbClr val="171717"/>
                </a:solidFill>
                <a:latin typeface="Yu Gothic" pitchFamily="34" charset="0"/>
                <a:ea typeface="Yu Gothic" pitchFamily="34" charset="-122"/>
                <a:cs typeface="Yu Gothic" pitchFamily="34" charset="-120"/>
              </a:rPr>
              <a:t>。定期発注方式では発注のたびに「調達期間＋発注サイクル」分の需要を予測して発注量を決める。調達期間を長くすると需要予測量は</a:t>
            </a:r>
            <a:pPr indent="0" marL="0">
              <a:lnSpc>
                <a:spcPct val="118000"/>
              </a:lnSpc>
              <a:buNone/>
            </a:pPr>
            <a:r>
              <a:rPr lang="en-US" sz="1000" b="1" dirty="0">
                <a:solidFill>
                  <a:srgbClr val="171717"/>
                </a:solidFill>
                <a:latin typeface="Yu Gothic" pitchFamily="34" charset="0"/>
                <a:ea typeface="Yu Gothic" pitchFamily="34" charset="-122"/>
                <a:cs typeface="Yu Gothic" pitchFamily="34" charset="-120"/>
              </a:rPr>
              <a:t>多くなる</a:t>
            </a:r>
            <a:pPr indent="0" marL="0">
              <a:lnSpc>
                <a:spcPct val="118000"/>
              </a:lnSpc>
              <a:buNone/>
            </a:pPr>
            <a:r>
              <a:rPr lang="en-US" sz="1000" dirty="0">
                <a:solidFill>
                  <a:srgbClr val="171717"/>
                </a:solidFill>
                <a:latin typeface="Yu Gothic" pitchFamily="34" charset="0"/>
                <a:ea typeface="Yu Gothic" pitchFamily="34" charset="-122"/>
                <a:cs typeface="Yu Gothic" pitchFamily="34" charset="-120"/>
              </a:rPr>
              <a:t>。ア：欠品リスクを下げるには安全係数を</a:t>
            </a:r>
            <a:pPr indent="0" marL="0">
              <a:lnSpc>
                <a:spcPct val="118000"/>
              </a:lnSpc>
              <a:buNone/>
            </a:pPr>
            <a:r>
              <a:rPr lang="en-US" sz="1000" b="1" dirty="0">
                <a:solidFill>
                  <a:srgbClr val="171717"/>
                </a:solidFill>
                <a:latin typeface="Yu Gothic" pitchFamily="34" charset="0"/>
                <a:ea typeface="Yu Gothic" pitchFamily="34" charset="-122"/>
                <a:cs typeface="Yu Gothic" pitchFamily="34" charset="-120"/>
              </a:rPr>
              <a:t>高く</a:t>
            </a:r>
            <a:pPr indent="0" marL="0">
              <a:lnSpc>
                <a:spcPct val="118000"/>
              </a:lnSpc>
              <a:buNone/>
            </a:pPr>
            <a:r>
              <a:rPr lang="en-US" sz="1000" dirty="0">
                <a:solidFill>
                  <a:srgbClr val="171717"/>
                </a:solidFill>
                <a:latin typeface="Yu Gothic" pitchFamily="34" charset="0"/>
                <a:ea typeface="Yu Gothic" pitchFamily="34" charset="-122"/>
                <a:cs typeface="Yu Gothic" pitchFamily="34" charset="-120"/>
              </a:rPr>
              <a:t>設定する必要がある。イ：ダブルビン方式の発注量はビン1つ分＝</a:t>
            </a:r>
            <a:pPr indent="0" marL="0">
              <a:lnSpc>
                <a:spcPct val="118000"/>
              </a:lnSpc>
              <a:buNone/>
            </a:pPr>
            <a:r>
              <a:rPr lang="en-US" sz="1000" b="1" dirty="0">
                <a:solidFill>
                  <a:srgbClr val="171717"/>
                </a:solidFill>
                <a:latin typeface="Yu Gothic" pitchFamily="34" charset="0"/>
                <a:ea typeface="Yu Gothic" pitchFamily="34" charset="-122"/>
                <a:cs typeface="Yu Gothic" pitchFamily="34" charset="-120"/>
              </a:rPr>
              <a:t>補充点相当量</a:t>
            </a:r>
            <a:pPr indent="0" marL="0">
              <a:lnSpc>
                <a:spcPct val="118000"/>
              </a:lnSpc>
              <a:buNone/>
            </a:pPr>
            <a:r>
              <a:rPr lang="en-US" sz="1000" dirty="0">
                <a:solidFill>
                  <a:srgbClr val="171717"/>
                </a:solidFill>
                <a:latin typeface="Yu Gothic" pitchFamily="34" charset="0"/>
                <a:ea typeface="Yu Gothic" pitchFamily="34" charset="-122"/>
                <a:cs typeface="Yu Gothic" pitchFamily="34" charset="-120"/>
              </a:rPr>
              <a:t>。エ：発注間隔を長くすると発注量はむしろ多くなる。オ：定量発注方式は発注量が一定で発注間隔は</a:t>
            </a:r>
            <a:pPr indent="0" marL="0">
              <a:lnSpc>
                <a:spcPct val="118000"/>
              </a:lnSpc>
              <a:buNone/>
            </a:pPr>
            <a:r>
              <a:rPr lang="en-US" sz="1000" b="1" dirty="0">
                <a:solidFill>
                  <a:srgbClr val="171717"/>
                </a:solidFill>
                <a:latin typeface="Yu Gothic" pitchFamily="34" charset="0"/>
                <a:ea typeface="Yu Gothic" pitchFamily="34" charset="-122"/>
                <a:cs typeface="Yu Gothic" pitchFamily="34" charset="-120"/>
              </a:rPr>
              <a:t>変動</a:t>
            </a:r>
            <a:pPr indent="0" marL="0">
              <a:lnSpc>
                <a:spcPct val="118000"/>
              </a:lnSpc>
              <a:buNone/>
            </a:pPr>
            <a:r>
              <a:rPr lang="en-US" sz="1000" dirty="0">
                <a:solidFill>
                  <a:srgbClr val="171717"/>
                </a:solidFill>
                <a:latin typeface="Yu Gothic" pitchFamily="34" charset="0"/>
                <a:ea typeface="Yu Gothic" pitchFamily="34" charset="-122"/>
                <a:cs typeface="Yu Gothic" pitchFamily="34" charset="-120"/>
              </a:rPr>
              <a:t>する。</a:t>
            </a:r>
            <a:endParaRPr lang="en-US" sz="1000" dirty="0"/>
          </a:p>
        </p:txBody>
      </p:sp>
      <p:sp>
        <p:nvSpPr>
          <p:cNvPr id="17" name="Text 15"/>
          <p:cNvSpPr txBox="1"/>
          <p:nvPr/>
        </p:nvSpPr>
        <p:spPr>
          <a:xfrm>
            <a:off x="502920" y="5632704"/>
            <a:ext cx="11201400" cy="4572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安全在庫＝安全係数×需要のばらつき（標準偏差）×√調達期間、で計算される。欠品率を下げたい場合は安全係数を高く設定する。</a:t>
            </a:r>
            <a:endParaRPr lang="en-US" sz="850" dirty="0"/>
          </a:p>
        </p:txBody>
      </p:sp>
      <p:sp>
        <p:nvSpPr>
          <p:cNvPr id="18" name="Text 16"/>
          <p:cNvSpPr txBox="1"/>
          <p:nvPr/>
        </p:nvSpPr>
        <p:spPr>
          <a:xfrm>
            <a:off x="502920" y="6163056"/>
            <a:ext cx="11201400" cy="27432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関連知識：定量発注方式は「発注量固定・発注時期変動」、定期発注方式は「発注時期固定・発注量変動」で整理する。</a:t>
            </a:r>
            <a:endParaRPr lang="en-US" sz="1000" dirty="0"/>
          </a:p>
        </p:txBody>
      </p:sp>
      <p:sp>
        <p:nvSpPr>
          <p:cNvPr id="19" name="Text 17"/>
          <p:cNvSpPr txBox="1"/>
          <p:nvPr/>
        </p:nvSpPr>
        <p:spPr>
          <a:xfrm>
            <a:off x="502920" y="6510528"/>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出典：past_exams/1st_stage/1ji2025/D1JI2025.pdf（令和7年度第1次試験）第32問／正解：past_exams/1st_stage_answers/r07/d_v2_20250902.pdf</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D-21 ／ 品質管理</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数値データはQC7つ道具、言語データは新QC7つ道具</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扱うデータの種類で2つの道具群を使い分ける。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92808"/>
            <a:ext cx="21031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QC7つ道具</a:t>
            </a:r>
            <a:endParaRPr lang="en-US" sz="1500" dirty="0"/>
          </a:p>
        </p:txBody>
      </p:sp>
      <p:sp>
        <p:nvSpPr>
          <p:cNvPr id="9" name="Text 7"/>
          <p:cNvSpPr txBox="1"/>
          <p:nvPr/>
        </p:nvSpPr>
        <p:spPr>
          <a:xfrm>
            <a:off x="2697480" y="1911096"/>
            <a:ext cx="173736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数値データ</a:t>
            </a:r>
            <a:endParaRPr lang="en-US" sz="1100" dirty="0"/>
          </a:p>
        </p:txBody>
      </p:sp>
      <p:sp>
        <p:nvSpPr>
          <p:cNvPr id="10" name="Text 8"/>
          <p:cNvSpPr txBox="1"/>
          <p:nvPr/>
        </p:nvSpPr>
        <p:spPr>
          <a:xfrm>
            <a:off x="4526280" y="1856232"/>
            <a:ext cx="7178040" cy="103327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パレート図・特性要因図・ヒストグラム・チェックシート・散布図・層別・管理図</a:t>
            </a:r>
            <a:endParaRPr lang="en-US" sz="1100" dirty="0"/>
          </a:p>
        </p:txBody>
      </p:sp>
      <p:sp>
        <p:nvSpPr>
          <p:cNvPr id="11" name="Shape 9"/>
          <p:cNvSpPr/>
          <p:nvPr/>
        </p:nvSpPr>
        <p:spPr>
          <a:xfrm>
            <a:off x="502920" y="2971800"/>
            <a:ext cx="11201400" cy="0"/>
          </a:xfrm>
          <a:prstGeom prst="line">
            <a:avLst/>
          </a:prstGeom>
          <a:noFill/>
          <a:ln w="12700">
            <a:solidFill>
              <a:srgbClr val="E6E6E6"/>
            </a:solidFill>
            <a:prstDash val="solid"/>
          </a:ln>
        </p:spPr>
      </p:sp>
      <p:sp>
        <p:nvSpPr>
          <p:cNvPr id="12" name="Text 10"/>
          <p:cNvSpPr txBox="1"/>
          <p:nvPr/>
        </p:nvSpPr>
        <p:spPr>
          <a:xfrm>
            <a:off x="502920" y="3081528"/>
            <a:ext cx="21031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新QC7つ道具</a:t>
            </a:r>
            <a:endParaRPr lang="en-US" sz="1500" dirty="0"/>
          </a:p>
        </p:txBody>
      </p:sp>
      <p:sp>
        <p:nvSpPr>
          <p:cNvPr id="13" name="Text 11"/>
          <p:cNvSpPr txBox="1"/>
          <p:nvPr/>
        </p:nvSpPr>
        <p:spPr>
          <a:xfrm>
            <a:off x="2697480" y="3099816"/>
            <a:ext cx="173736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言語データ</a:t>
            </a:r>
            <a:endParaRPr lang="en-US" sz="1100" dirty="0"/>
          </a:p>
        </p:txBody>
      </p:sp>
      <p:sp>
        <p:nvSpPr>
          <p:cNvPr id="14" name="Text 12"/>
          <p:cNvSpPr txBox="1"/>
          <p:nvPr/>
        </p:nvSpPr>
        <p:spPr>
          <a:xfrm>
            <a:off x="4526280" y="3044952"/>
            <a:ext cx="7178040" cy="103327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連関図法・親和図法・系統図法・マトリックス図法・PDPC法・アロー図法</a:t>
            </a:r>
            <a:endParaRPr lang="en-US" sz="1100" dirty="0"/>
          </a:p>
        </p:txBody>
      </p:sp>
      <p:sp>
        <p:nvSpPr>
          <p:cNvPr id="15" name="Text 13"/>
          <p:cNvSpPr txBox="1"/>
          <p:nvPr/>
        </p:nvSpPr>
        <p:spPr>
          <a:xfrm>
            <a:off x="502920" y="4297680"/>
            <a:ext cx="11201400" cy="59436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食品工場H社は、不良発生状況を数値データとしてパレート図やヒストグラムで分析する一方、現場作業員の気づき（言語データ）は連関図法・親和図法で整理し、原因の絞り込みから改善の優先順位付けまでの2つの道具群を使い分けて進めている。</a:t>
            </a:r>
            <a:endParaRPr lang="en-US" sz="850" dirty="0"/>
          </a:p>
        </p:txBody>
      </p:sp>
      <p:sp>
        <p:nvSpPr>
          <p:cNvPr id="16" name="Shape 14"/>
          <p:cNvSpPr/>
          <p:nvPr/>
        </p:nvSpPr>
        <p:spPr>
          <a:xfrm>
            <a:off x="502920" y="5989320"/>
            <a:ext cx="11201400" cy="0"/>
          </a:xfrm>
          <a:prstGeom prst="line">
            <a:avLst/>
          </a:prstGeom>
          <a:noFill/>
          <a:ln w="9525">
            <a:solidFill>
              <a:srgbClr val="171717"/>
            </a:solidFill>
            <a:prstDash val="solid"/>
          </a:ln>
        </p:spPr>
      </p:sp>
      <p:sp>
        <p:nvSpPr>
          <p:cNvPr id="17" name="Shape 15"/>
          <p:cNvSpPr/>
          <p:nvPr/>
        </p:nvSpPr>
        <p:spPr>
          <a:xfrm>
            <a:off x="502920" y="6062472"/>
            <a:ext cx="329184" cy="329184"/>
          </a:xfrm>
          <a:prstGeom prst="ellipse">
            <a:avLst/>
          </a:prstGeom>
          <a:solidFill>
            <a:srgbClr val="FF3B1F"/>
          </a:solidFill>
          <a:ln/>
        </p:spPr>
      </p:sp>
      <p:sp>
        <p:nvSpPr>
          <p:cNvPr id="18" name="Text 16"/>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19" name="Text 17"/>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0" name="Shape 18"/>
          <p:cNvSpPr/>
          <p:nvPr/>
        </p:nvSpPr>
        <p:spPr>
          <a:xfrm>
            <a:off x="2331720" y="6062472"/>
            <a:ext cx="0" cy="329184"/>
          </a:xfrm>
          <a:prstGeom prst="line">
            <a:avLst/>
          </a:prstGeom>
          <a:noFill/>
          <a:ln w="12700">
            <a:solidFill>
              <a:srgbClr val="E6E6E6"/>
            </a:solidFill>
            <a:prstDash val="solid"/>
          </a:ln>
        </p:spPr>
      </p:sp>
      <p:sp>
        <p:nvSpPr>
          <p:cNvPr id="21" name="Text 19"/>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ひっかけ：名称と特徴の組み合わせ入替が頻出。TQM＝全社的品質管理、ISO9000＝品質国際規格。</a:t>
            </a:r>
            <a:endParaRPr lang="en-US" sz="1000" dirty="0"/>
          </a:p>
        </p:txBody>
      </p:sp>
      <p:sp>
        <p:nvSpPr>
          <p:cNvPr id="22" name="Text 20"/>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3" name="Shape 21"/>
          <p:cNvSpPr/>
          <p:nvPr/>
        </p:nvSpPr>
        <p:spPr>
          <a:xfrm>
            <a:off x="2466594" y="6464808"/>
            <a:ext cx="146304" cy="146304"/>
          </a:xfrm>
          <a:prstGeom prst="ellipse">
            <a:avLst/>
          </a:prstGeom>
          <a:solidFill>
            <a:srgbClr val="FF3B1F"/>
          </a:solidFill>
          <a:ln w="12700">
            <a:solidFill>
              <a:srgbClr val="FF3B1F"/>
            </a:solidFill>
            <a:prstDash val="solid"/>
          </a:ln>
        </p:spPr>
      </p:sp>
      <p:sp>
        <p:nvSpPr>
          <p:cNvPr id="24" name="Text 22"/>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5" name="Shape 23"/>
          <p:cNvSpPr/>
          <p:nvPr/>
        </p:nvSpPr>
        <p:spPr>
          <a:xfrm>
            <a:off x="3431286" y="6464808"/>
            <a:ext cx="146304" cy="146304"/>
          </a:xfrm>
          <a:prstGeom prst="ellipse">
            <a:avLst/>
          </a:prstGeom>
          <a:solidFill>
            <a:srgbClr val="FF3B1F"/>
          </a:solidFill>
          <a:ln w="12700">
            <a:solidFill>
              <a:srgbClr val="FF3B1F"/>
            </a:solidFill>
            <a:prstDash val="solid"/>
          </a:ln>
        </p:spPr>
      </p:sp>
      <p:sp>
        <p:nvSpPr>
          <p:cNvPr id="26" name="Text 24"/>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27" name="Shape 25"/>
          <p:cNvSpPr/>
          <p:nvPr/>
        </p:nvSpPr>
        <p:spPr>
          <a:xfrm>
            <a:off x="4395978"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29" name="Shape 27"/>
          <p:cNvSpPr/>
          <p:nvPr/>
        </p:nvSpPr>
        <p:spPr>
          <a:xfrm>
            <a:off x="5360670"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1" name="Shape 29"/>
          <p:cNvSpPr/>
          <p:nvPr/>
        </p:nvSpPr>
        <p:spPr>
          <a:xfrm>
            <a:off x="6325362"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3" name="Shape 31"/>
          <p:cNvSpPr/>
          <p:nvPr/>
        </p:nvSpPr>
        <p:spPr>
          <a:xfrm>
            <a:off x="7290054"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5" name="Shape 33"/>
          <p:cNvSpPr/>
          <p:nvPr/>
        </p:nvSpPr>
        <p:spPr>
          <a:xfrm>
            <a:off x="8254746"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37" name="Shape 35"/>
          <p:cNvSpPr/>
          <p:nvPr/>
        </p:nvSpPr>
        <p:spPr>
          <a:xfrm>
            <a:off x="9219438"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39" name="Shape 37"/>
          <p:cNvSpPr/>
          <p:nvPr/>
        </p:nvSpPr>
        <p:spPr>
          <a:xfrm>
            <a:off x="10184130"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1" name="Shape 39"/>
          <p:cNvSpPr/>
          <p:nvPr/>
        </p:nvSpPr>
        <p:spPr>
          <a:xfrm>
            <a:off x="11148822"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D-21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第5問）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組み合わせ問題。前のスライドの内容で答えられるか考えてみる。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118872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以下に示すQC七つ道具、新QC七つ道具の名称と、その特徴に関する記述の組み合わせとして、最も適切なものを下記の解答群から選べ。</a:t>
            </a:r>
            <a:endParaRPr lang="en-US" sz="1250" dirty="0"/>
          </a:p>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【名称】ａ：マトリックス図法／ｂ：ヒストグラム／ｃ：連関図法／ｄ：チェックシート</a:t>
            </a:r>
            <a:endParaRPr lang="en-US" sz="1250" dirty="0"/>
          </a:p>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特徴】①不良原因の中から対になる要素を見つけ解決手段の優先順位付けの重みを求める／②結果と要因の関係を分析し因果関係を明らかにする／③品質管理データを簡単に記録し現状を数値化する／④計量値の「ずれ」や「ばらつき」を視覚的に表し工程の実力をつかむ</a:t>
            </a:r>
            <a:endParaRPr lang="en-US" sz="1250" dirty="0"/>
          </a:p>
        </p:txBody>
      </p:sp>
      <p:sp>
        <p:nvSpPr>
          <p:cNvPr id="9" name="Text 7"/>
          <p:cNvSpPr txBox="1"/>
          <p:nvPr/>
        </p:nvSpPr>
        <p:spPr>
          <a:xfrm>
            <a:off x="731520" y="297180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a：① b：② c：③ d：④</a:t>
            </a:r>
            <a:endParaRPr lang="en-US" sz="1150" dirty="0"/>
          </a:p>
        </p:txBody>
      </p:sp>
      <p:sp>
        <p:nvSpPr>
          <p:cNvPr id="10" name="Text 8"/>
          <p:cNvSpPr txBox="1"/>
          <p:nvPr/>
        </p:nvSpPr>
        <p:spPr>
          <a:xfrm>
            <a:off x="731520" y="344728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a：① b：④ c：② d：③</a:t>
            </a:r>
            <a:endParaRPr lang="en-US" sz="1150" dirty="0"/>
          </a:p>
        </p:txBody>
      </p:sp>
      <p:sp>
        <p:nvSpPr>
          <p:cNvPr id="11" name="Text 9"/>
          <p:cNvSpPr txBox="1"/>
          <p:nvPr/>
        </p:nvSpPr>
        <p:spPr>
          <a:xfrm>
            <a:off x="731520" y="392277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a：② b：① c：④ d：③</a:t>
            </a:r>
            <a:endParaRPr lang="en-US" sz="1150" dirty="0"/>
          </a:p>
        </p:txBody>
      </p:sp>
      <p:sp>
        <p:nvSpPr>
          <p:cNvPr id="12" name="Text 10"/>
          <p:cNvSpPr txBox="1"/>
          <p:nvPr/>
        </p:nvSpPr>
        <p:spPr>
          <a:xfrm>
            <a:off x="731520" y="439826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a：③ b：① c：④ d：②</a:t>
            </a:r>
            <a:endParaRPr lang="en-US" sz="1150" dirty="0"/>
          </a:p>
        </p:txBody>
      </p:sp>
      <p:sp>
        <p:nvSpPr>
          <p:cNvPr id="13" name="Text 11"/>
          <p:cNvSpPr txBox="1"/>
          <p:nvPr/>
        </p:nvSpPr>
        <p:spPr>
          <a:xfrm>
            <a:off x="731520" y="487375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a：③ b：④ c：② d：①</a:t>
            </a:r>
            <a:endParaRPr lang="en-US" sz="1150" dirty="0"/>
          </a:p>
        </p:txBody>
      </p:sp>
      <p:sp>
        <p:nvSpPr>
          <p:cNvPr id="14" name="Text 12"/>
          <p:cNvSpPr txBox="1"/>
          <p:nvPr/>
        </p:nvSpPr>
        <p:spPr>
          <a:xfrm>
            <a:off x="502920" y="548640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出典：past_exams/1st_stage/1ji2025/D1JI2025.pdf（令和7年度第1次試験）第5問</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D-21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第5問）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正解はイ。a：①、b：④、c：②、d：③が正しい対応。</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a：① b：② c：③ d：④</a:t>
            </a:r>
            <a:endParaRPr lang="en-US" sz="1150" dirty="0"/>
          </a:p>
        </p:txBody>
      </p:sp>
      <p:sp>
        <p:nvSpPr>
          <p:cNvPr id="9" name="Shape 7"/>
          <p:cNvSpPr/>
          <p:nvPr/>
        </p:nvSpPr>
        <p:spPr>
          <a:xfrm>
            <a:off x="502920" y="2185416"/>
            <a:ext cx="11201400" cy="475488"/>
          </a:xfrm>
          <a:prstGeom prst="rect">
            <a:avLst/>
          </a:prstGeom>
          <a:solidFill>
            <a:srgbClr val="F4F4F4"/>
          </a:solidFill>
          <a:ln/>
        </p:spPr>
      </p:sp>
      <p:sp>
        <p:nvSpPr>
          <p:cNvPr id="10" name="Shape 8"/>
          <p:cNvSpPr/>
          <p:nvPr/>
        </p:nvSpPr>
        <p:spPr>
          <a:xfrm>
            <a:off x="502920" y="2185416"/>
            <a:ext cx="0" cy="475488"/>
          </a:xfrm>
          <a:prstGeom prst="line">
            <a:avLst/>
          </a:prstGeom>
          <a:noFill/>
          <a:ln w="38100">
            <a:solidFill>
              <a:srgbClr val="FF3B1F"/>
            </a:solidFill>
            <a:prstDash val="solid"/>
          </a:ln>
        </p:spPr>
      </p:sp>
      <p:sp>
        <p:nvSpPr>
          <p:cNvPr id="11" name="Text 9"/>
          <p:cNvSpPr txBox="1"/>
          <p:nvPr/>
        </p:nvSpPr>
        <p:spPr>
          <a:xfrm>
            <a:off x="731520" y="221284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a：① b：④ c：② d：③</a:t>
            </a:r>
            <a:endParaRPr lang="en-US" sz="1150" dirty="0"/>
          </a:p>
        </p:txBody>
      </p:sp>
      <p:sp>
        <p:nvSpPr>
          <p:cNvPr id="12" name="Text 10"/>
          <p:cNvSpPr txBox="1"/>
          <p:nvPr/>
        </p:nvSpPr>
        <p:spPr>
          <a:xfrm>
            <a:off x="731520" y="268833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a：② b：① c：④ d：③</a:t>
            </a:r>
            <a:endParaRPr lang="en-US" sz="1150" dirty="0"/>
          </a:p>
        </p:txBody>
      </p:sp>
      <p:sp>
        <p:nvSpPr>
          <p:cNvPr id="13" name="Text 11"/>
          <p:cNvSpPr txBox="1"/>
          <p:nvPr/>
        </p:nvSpPr>
        <p:spPr>
          <a:xfrm>
            <a:off x="731520" y="316382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a：③ b：① c：④ d：②</a:t>
            </a:r>
            <a:endParaRPr lang="en-US" sz="1150" dirty="0"/>
          </a:p>
        </p:txBody>
      </p:sp>
      <p:sp>
        <p:nvSpPr>
          <p:cNvPr id="14" name="Text 12"/>
          <p:cNvSpPr txBox="1"/>
          <p:nvPr/>
        </p:nvSpPr>
        <p:spPr>
          <a:xfrm>
            <a:off x="731520" y="363931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a：③ b：④ c：② d：①</a:t>
            </a:r>
            <a:endParaRPr lang="en-US" sz="1150" dirty="0"/>
          </a:p>
        </p:txBody>
      </p:sp>
      <p:sp>
        <p:nvSpPr>
          <p:cNvPr id="15" name="Shape 13"/>
          <p:cNvSpPr/>
          <p:nvPr/>
        </p:nvSpPr>
        <p:spPr>
          <a:xfrm>
            <a:off x="502920" y="4187952"/>
            <a:ext cx="11201400" cy="0"/>
          </a:xfrm>
          <a:prstGeom prst="line">
            <a:avLst/>
          </a:prstGeom>
          <a:noFill/>
          <a:ln w="12700">
            <a:solidFill>
              <a:srgbClr val="171717"/>
            </a:solidFill>
            <a:prstDash val="solid"/>
          </a:ln>
        </p:spPr>
      </p:sp>
      <p:sp>
        <p:nvSpPr>
          <p:cNvPr id="16" name="Text 14"/>
          <p:cNvSpPr txBox="1"/>
          <p:nvPr/>
        </p:nvSpPr>
        <p:spPr>
          <a:xfrm>
            <a:off x="502920" y="4279392"/>
            <a:ext cx="11201400" cy="914400"/>
          </a:xfrm>
          <a:prstGeom prst="rect">
            <a:avLst/>
          </a:prstGeom>
          <a:noFill/>
          <a:ln/>
        </p:spPr>
        <p:txBody>
          <a:bodyPr wrap="square" lIns="0" tIns="0" rIns="0" bIns="0" rtlCol="0" anchor="ctr"/>
          <a:lstStyle/>
          <a:p>
            <a:pPr indent="0" marL="0">
              <a:lnSpc>
                <a:spcPct val="120000"/>
              </a:lnSpc>
              <a:buNone/>
            </a:pPr>
            <a:r>
              <a:rPr lang="en-US" sz="1050" b="1" dirty="0">
                <a:solidFill>
                  <a:srgbClr val="FF3B1F"/>
                </a:solidFill>
                <a:latin typeface="Yu Gothic" pitchFamily="34" charset="0"/>
                <a:ea typeface="Yu Gothic" pitchFamily="34" charset="-122"/>
                <a:cs typeface="Yu Gothic" pitchFamily="34" charset="-120"/>
              </a:rPr>
              <a:t>正解：イ</a:t>
            </a:r>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ａ：マトリックス図法＝①（行と列に要素を配置し関連の強さから優先順位の重みを求める）。ｂ：ヒストグラム＝④（計量値データのばらつきを柱状図で表す）。ｃ：連関図法＝②（結果と要因を矢印で結び因果関係を整理）。ｄ：チェックシート＝③（点検項目にデータを記録し現状を数値化）。他の選択肢はいずれかの組み合わせで手法名と特徴がずれている。</a:t>
            </a:r>
            <a:endParaRPr lang="en-US" sz="1050" dirty="0"/>
          </a:p>
        </p:txBody>
      </p:sp>
      <p:sp>
        <p:nvSpPr>
          <p:cNvPr id="17" name="Text 15"/>
          <p:cNvSpPr txBox="1"/>
          <p:nvPr/>
        </p:nvSpPr>
        <p:spPr>
          <a:xfrm>
            <a:off x="502920" y="5266944"/>
            <a:ext cx="11201400" cy="4572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「数値データ→QC7つ道具」「言語データ・構造の整理→新QC7つ道具」という大枠で覚えたうえで、各手法の定義を1つずつ正確に区別する。</a:t>
            </a:r>
            <a:endParaRPr lang="en-US" sz="850" dirty="0"/>
          </a:p>
        </p:txBody>
      </p:sp>
      <p:sp>
        <p:nvSpPr>
          <p:cNvPr id="18" name="Text 16"/>
          <p:cNvSpPr txBox="1"/>
          <p:nvPr/>
        </p:nvSpPr>
        <p:spPr>
          <a:xfrm>
            <a:off x="502920" y="5797296"/>
            <a:ext cx="11201400" cy="27432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関連知識：マトリックス・データ解析法だけが新QC7つ道具の中で唯一数値データを扱う点は要注意。</a:t>
            </a:r>
            <a:endParaRPr lang="en-US" sz="1000" dirty="0"/>
          </a:p>
        </p:txBody>
      </p:sp>
      <p:sp>
        <p:nvSpPr>
          <p:cNvPr id="19" name="Text 17"/>
          <p:cNvSpPr txBox="1"/>
          <p:nvPr/>
        </p:nvSpPr>
        <p:spPr>
          <a:xfrm>
            <a:off x="502920" y="6144768"/>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出典：past_exams/1st_stage/1ji2025/D1JI2025.pdf（令和7年度第1次試験）第5問／正解：past_exams/1st_stage_answers/r07/d_v2_20250902.pdf</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D-22 ／ 廃棄物等の管理（環境保全法規、ISO14000）</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マニフェストで最終処分までを追跡する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委託しても排出事業者の責任は完全には終わらない。</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19456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廃棄物処理法</a:t>
            </a:r>
            <a:endParaRPr lang="en-US" sz="1100" dirty="0"/>
          </a:p>
        </p:txBody>
      </p:sp>
      <p:sp>
        <p:nvSpPr>
          <p:cNvPr id="9" name="Shape 7"/>
          <p:cNvSpPr/>
          <p:nvPr/>
        </p:nvSpPr>
        <p:spPr>
          <a:xfrm>
            <a:off x="2679192" y="1691640"/>
            <a:ext cx="0" cy="256032"/>
          </a:xfrm>
          <a:prstGeom prst="line">
            <a:avLst/>
          </a:prstGeom>
          <a:noFill/>
          <a:ln w="12700">
            <a:solidFill>
              <a:srgbClr val="E6E6E6"/>
            </a:solidFill>
            <a:prstDash val="solid"/>
          </a:ln>
        </p:spPr>
      </p:sp>
      <p:sp>
        <p:nvSpPr>
          <p:cNvPr id="10" name="Text 8"/>
          <p:cNvSpPr txBox="1"/>
          <p:nvPr/>
        </p:nvSpPr>
        <p:spPr>
          <a:xfrm>
            <a:off x="2834640" y="1691640"/>
            <a:ext cx="886968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適正処理を義務付け。産廃委託時はマニフェスト（管理票）交付・保管が必須</a:t>
            </a:r>
            <a:endParaRPr lang="en-US" sz="1100" dirty="0"/>
          </a:p>
        </p:txBody>
      </p:sp>
      <p:sp>
        <p:nvSpPr>
          <p:cNvPr id="11" name="Text 9"/>
          <p:cNvSpPr txBox="1"/>
          <p:nvPr/>
        </p:nvSpPr>
        <p:spPr>
          <a:xfrm>
            <a:off x="502920" y="2075688"/>
            <a:ext cx="219456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資源有効利用促進法</a:t>
            </a:r>
            <a:endParaRPr lang="en-US" sz="1100" dirty="0"/>
          </a:p>
        </p:txBody>
      </p:sp>
      <p:sp>
        <p:nvSpPr>
          <p:cNvPr id="12" name="Shape 10"/>
          <p:cNvSpPr/>
          <p:nvPr/>
        </p:nvSpPr>
        <p:spPr>
          <a:xfrm>
            <a:off x="2679192" y="2075688"/>
            <a:ext cx="0" cy="256032"/>
          </a:xfrm>
          <a:prstGeom prst="line">
            <a:avLst/>
          </a:prstGeom>
          <a:noFill/>
          <a:ln w="12700">
            <a:solidFill>
              <a:srgbClr val="E6E6E6"/>
            </a:solidFill>
            <a:prstDash val="solid"/>
          </a:ln>
        </p:spPr>
      </p:sp>
      <p:sp>
        <p:nvSpPr>
          <p:cNvPr id="13" name="Text 11"/>
          <p:cNvSpPr txBox="1"/>
          <p:nvPr/>
        </p:nvSpPr>
        <p:spPr>
          <a:xfrm>
            <a:off x="2834640" y="2075688"/>
            <a:ext cx="886968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3Rの考え方に基づき資源の有効利用・リサイクルを促す</a:t>
            </a:r>
            <a:endParaRPr lang="en-US" sz="1100" dirty="0"/>
          </a:p>
        </p:txBody>
      </p:sp>
      <p:sp>
        <p:nvSpPr>
          <p:cNvPr id="14" name="Text 12"/>
          <p:cNvSpPr txBox="1"/>
          <p:nvPr/>
        </p:nvSpPr>
        <p:spPr>
          <a:xfrm>
            <a:off x="502920" y="2459736"/>
            <a:ext cx="219456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ISO14000シリーズ</a:t>
            </a:r>
            <a:endParaRPr lang="en-US" sz="1100" dirty="0"/>
          </a:p>
        </p:txBody>
      </p:sp>
      <p:sp>
        <p:nvSpPr>
          <p:cNvPr id="15" name="Shape 13"/>
          <p:cNvSpPr/>
          <p:nvPr/>
        </p:nvSpPr>
        <p:spPr>
          <a:xfrm>
            <a:off x="2679192" y="2459736"/>
            <a:ext cx="0" cy="256032"/>
          </a:xfrm>
          <a:prstGeom prst="line">
            <a:avLst/>
          </a:prstGeom>
          <a:noFill/>
          <a:ln w="12700">
            <a:solidFill>
              <a:srgbClr val="E6E6E6"/>
            </a:solidFill>
            <a:prstDash val="solid"/>
          </a:ln>
        </p:spPr>
      </p:sp>
      <p:sp>
        <p:nvSpPr>
          <p:cNvPr id="16" name="Text 14"/>
          <p:cNvSpPr txBox="1"/>
          <p:nvPr/>
        </p:nvSpPr>
        <p:spPr>
          <a:xfrm>
            <a:off x="2834640" y="2459736"/>
            <a:ext cx="886968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環境マネジメントシステムの国際規格（ISO9000＝品質とは分野が異なる）</a:t>
            </a:r>
            <a:endParaRPr lang="en-US" sz="1100" dirty="0"/>
          </a:p>
        </p:txBody>
      </p:sp>
      <p:sp>
        <p:nvSpPr>
          <p:cNvPr id="17" name="Text 15"/>
          <p:cNvSpPr txBox="1"/>
          <p:nvPr/>
        </p:nvSpPr>
        <p:spPr>
          <a:xfrm>
            <a:off x="502920" y="2916936"/>
            <a:ext cx="11201400" cy="59436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印刷業I社は、工場から出る廃液や紙くずなどの産業廃棄物の処理を専門業者に委託する際、マニフェストを交付し、その廃棄物が最終処分まで適正に処理されたことを自ら確認・記録することで、排出事業者としての責任を果たしている。</a:t>
            </a:r>
            <a:endParaRPr lang="en-US" sz="850" dirty="0"/>
          </a:p>
        </p:txBody>
      </p:sp>
      <p:sp>
        <p:nvSpPr>
          <p:cNvPr id="18" name="Shape 16"/>
          <p:cNvSpPr/>
          <p:nvPr/>
        </p:nvSpPr>
        <p:spPr>
          <a:xfrm>
            <a:off x="502920" y="3584448"/>
            <a:ext cx="11201400" cy="0"/>
          </a:xfrm>
          <a:prstGeom prst="line">
            <a:avLst/>
          </a:prstGeom>
          <a:noFill/>
          <a:ln w="12700">
            <a:solidFill>
              <a:srgbClr val="E6E6E6"/>
            </a:solidFill>
            <a:prstDash val="solid"/>
          </a:ln>
        </p:spPr>
      </p:sp>
      <p:sp>
        <p:nvSpPr>
          <p:cNvPr id="19" name="Text 17"/>
          <p:cNvSpPr txBox="1"/>
          <p:nvPr/>
        </p:nvSpPr>
        <p:spPr>
          <a:xfrm>
            <a:off x="502920" y="3657600"/>
            <a:ext cx="11201400" cy="45720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「処理業者に委託すれば排出事業者の責任は完全に終わる」は誤り。最終処分までの適正処理を確認する責任は排出事業者に残る。</a:t>
            </a:r>
            <a:endParaRPr lang="en-US" sz="950" dirty="0"/>
          </a:p>
        </p:txBody>
      </p:sp>
      <p:sp>
        <p:nvSpPr>
          <p:cNvPr id="20" name="Shape 18"/>
          <p:cNvSpPr/>
          <p:nvPr/>
        </p:nvSpPr>
        <p:spPr>
          <a:xfrm>
            <a:off x="502920" y="5989320"/>
            <a:ext cx="11201400" cy="0"/>
          </a:xfrm>
          <a:prstGeom prst="line">
            <a:avLst/>
          </a:prstGeom>
          <a:noFill/>
          <a:ln w="9525">
            <a:solidFill>
              <a:srgbClr val="171717"/>
            </a:solidFill>
            <a:prstDash val="solid"/>
          </a:ln>
        </p:spPr>
      </p:sp>
      <p:sp>
        <p:nvSpPr>
          <p:cNvPr id="21" name="Shape 19"/>
          <p:cNvSpPr/>
          <p:nvPr/>
        </p:nvSpPr>
        <p:spPr>
          <a:xfrm>
            <a:off x="502920" y="6062472"/>
            <a:ext cx="329184" cy="329184"/>
          </a:xfrm>
          <a:prstGeom prst="ellipse">
            <a:avLst/>
          </a:prstGeom>
          <a:solidFill>
            <a:srgbClr val="FF3B1F"/>
          </a:solidFill>
          <a:ln/>
        </p:spPr>
      </p:sp>
      <p:sp>
        <p:nvSpPr>
          <p:cNvPr id="22" name="Text 20"/>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3" name="Text 21"/>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4" name="Shape 22"/>
          <p:cNvSpPr/>
          <p:nvPr/>
        </p:nvSpPr>
        <p:spPr>
          <a:xfrm>
            <a:off x="2331720" y="6062472"/>
            <a:ext cx="0" cy="329184"/>
          </a:xfrm>
          <a:prstGeom prst="line">
            <a:avLst/>
          </a:prstGeom>
          <a:noFill/>
          <a:ln w="12700">
            <a:solidFill>
              <a:srgbClr val="E6E6E6"/>
            </a:solidFill>
            <a:prstDash val="solid"/>
          </a:ln>
        </p:spPr>
      </p:sp>
      <p:sp>
        <p:nvSpPr>
          <p:cNvPr id="25" name="Text 23"/>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関連：D-3 環境配慮型生産（3R・LCAと同じ環境配慮の文脈）。</a:t>
            </a:r>
            <a:endParaRPr lang="en-US" sz="1000" dirty="0"/>
          </a:p>
        </p:txBody>
      </p:sp>
      <p:sp>
        <p:nvSpPr>
          <p:cNvPr id="26" name="Text 24"/>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7" name="Shape 25"/>
          <p:cNvSpPr/>
          <p:nvPr/>
        </p:nvSpPr>
        <p:spPr>
          <a:xfrm>
            <a:off x="2466594" y="6464808"/>
            <a:ext cx="146304" cy="146304"/>
          </a:xfrm>
          <a:prstGeom prst="ellipse">
            <a:avLst/>
          </a:prstGeom>
          <a:solidFill>
            <a:srgbClr val="FFFFFF"/>
          </a:solidFill>
          <a:ln w="12700">
            <a:solidFill>
              <a:srgbClr val="E6E6E6"/>
            </a:solidFill>
            <a:prstDash val="solid"/>
          </a:ln>
        </p:spPr>
      </p:sp>
      <p:sp>
        <p:nvSpPr>
          <p:cNvPr id="28" name="Text 26"/>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9" name="Shape 27"/>
          <p:cNvSpPr/>
          <p:nvPr/>
        </p:nvSpPr>
        <p:spPr>
          <a:xfrm>
            <a:off x="3431286" y="6464808"/>
            <a:ext cx="146304" cy="146304"/>
          </a:xfrm>
          <a:prstGeom prst="ellipse">
            <a:avLst/>
          </a:prstGeom>
          <a:solidFill>
            <a:srgbClr val="FFFFFF"/>
          </a:solidFill>
          <a:ln w="12700">
            <a:solidFill>
              <a:srgbClr val="E6E6E6"/>
            </a:solidFill>
            <a:prstDash val="solid"/>
          </a:ln>
        </p:spPr>
      </p:sp>
      <p:sp>
        <p:nvSpPr>
          <p:cNvPr id="30" name="Text 28"/>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1" name="Shape 29"/>
          <p:cNvSpPr/>
          <p:nvPr/>
        </p:nvSpPr>
        <p:spPr>
          <a:xfrm>
            <a:off x="4395978" y="6464808"/>
            <a:ext cx="146304" cy="146304"/>
          </a:xfrm>
          <a:prstGeom prst="ellipse">
            <a:avLst/>
          </a:prstGeom>
          <a:solidFill>
            <a:srgbClr val="FFFFFF"/>
          </a:solidFill>
          <a:ln w="12700">
            <a:solidFill>
              <a:srgbClr val="E6E6E6"/>
            </a:solidFill>
            <a:prstDash val="solid"/>
          </a:ln>
        </p:spPr>
      </p:sp>
      <p:sp>
        <p:nvSpPr>
          <p:cNvPr id="32" name="Text 30"/>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3" name="Shape 31"/>
          <p:cNvSpPr/>
          <p:nvPr/>
        </p:nvSpPr>
        <p:spPr>
          <a:xfrm>
            <a:off x="5360670"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5" name="Shape 33"/>
          <p:cNvSpPr/>
          <p:nvPr/>
        </p:nvSpPr>
        <p:spPr>
          <a:xfrm>
            <a:off x="6325362"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7" name="Shape 35"/>
          <p:cNvSpPr/>
          <p:nvPr/>
        </p:nvSpPr>
        <p:spPr>
          <a:xfrm>
            <a:off x="7290054"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9" name="Shape 37"/>
          <p:cNvSpPr/>
          <p:nvPr/>
        </p:nvSpPr>
        <p:spPr>
          <a:xfrm>
            <a:off x="8254746" y="6464808"/>
            <a:ext cx="146304" cy="146304"/>
          </a:xfrm>
          <a:prstGeom prst="ellipse">
            <a:avLst/>
          </a:prstGeom>
          <a:solidFill>
            <a:srgbClr val="FFFFFF"/>
          </a:solidFill>
          <a:ln w="12700">
            <a:solidFill>
              <a:srgbClr val="E6E6E6"/>
            </a:solidFill>
            <a:prstDash val="solid"/>
          </a:ln>
        </p:spPr>
      </p:sp>
      <p:sp>
        <p:nvSpPr>
          <p:cNvPr id="40" name="Text 38"/>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1" name="Shape 39"/>
          <p:cNvSpPr/>
          <p:nvPr/>
        </p:nvSpPr>
        <p:spPr>
          <a:xfrm>
            <a:off x="9219438"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3" name="Shape 41"/>
          <p:cNvSpPr/>
          <p:nvPr/>
        </p:nvSpPr>
        <p:spPr>
          <a:xfrm>
            <a:off x="10184130"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5" name="Shape 43"/>
          <p:cNvSpPr/>
          <p:nvPr/>
        </p:nvSpPr>
        <p:spPr>
          <a:xfrm>
            <a:off x="11148822" y="6464808"/>
            <a:ext cx="146304" cy="146304"/>
          </a:xfrm>
          <a:prstGeom prst="ellipse">
            <a:avLst/>
          </a:prstGeom>
          <a:solidFill>
            <a:srgbClr val="FFFFFF"/>
          </a:solidFill>
          <a:ln w="12700">
            <a:solidFill>
              <a:srgbClr val="E6E6E6"/>
            </a:solidFill>
            <a:prstDash val="solid"/>
          </a:ln>
        </p:spPr>
      </p:sp>
      <p:sp>
        <p:nvSpPr>
          <p:cNvPr id="46" name="Text 44"/>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D-23 ／ 店舗施設に関する法律知識</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大店立地法の目的は「生活環境の保持」</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まちづくり三法。大店立地法は中小小売業の保護が目的ではない。</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92808"/>
            <a:ext cx="23774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大店立地法</a:t>
            </a:r>
            <a:endParaRPr lang="en-US" sz="1500" dirty="0"/>
          </a:p>
        </p:txBody>
      </p:sp>
      <p:sp>
        <p:nvSpPr>
          <p:cNvPr id="9" name="Text 7"/>
          <p:cNvSpPr txBox="1"/>
          <p:nvPr/>
        </p:nvSpPr>
        <p:spPr>
          <a:xfrm>
            <a:off x="2971800" y="1856232"/>
            <a:ext cx="873252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1,000㎡超の店舗新設時、周辺の生活環境（交通・騒音・廃棄物）への配慮を義務付け</a:t>
            </a:r>
            <a:endParaRPr lang="en-US" sz="1100" dirty="0"/>
          </a:p>
        </p:txBody>
      </p:sp>
      <p:sp>
        <p:nvSpPr>
          <p:cNvPr id="10" name="Shape 8"/>
          <p:cNvSpPr/>
          <p:nvPr/>
        </p:nvSpPr>
        <p:spPr>
          <a:xfrm>
            <a:off x="502920" y="2880360"/>
            <a:ext cx="11201400" cy="0"/>
          </a:xfrm>
          <a:prstGeom prst="line">
            <a:avLst/>
          </a:prstGeom>
          <a:noFill/>
          <a:ln w="12700">
            <a:solidFill>
              <a:srgbClr val="E6E6E6"/>
            </a:solidFill>
            <a:prstDash val="solid"/>
          </a:ln>
        </p:spPr>
      </p:sp>
      <p:sp>
        <p:nvSpPr>
          <p:cNvPr id="11" name="Text 9"/>
          <p:cNvSpPr txBox="1"/>
          <p:nvPr/>
        </p:nvSpPr>
        <p:spPr>
          <a:xfrm>
            <a:off x="502920" y="2990088"/>
            <a:ext cx="23774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都市計画法</a:t>
            </a:r>
            <a:endParaRPr lang="en-US" sz="1500" dirty="0"/>
          </a:p>
        </p:txBody>
      </p:sp>
      <p:sp>
        <p:nvSpPr>
          <p:cNvPr id="12" name="Text 10"/>
          <p:cNvSpPr txBox="1"/>
          <p:nvPr/>
        </p:nvSpPr>
        <p:spPr>
          <a:xfrm>
            <a:off x="2971800" y="2953512"/>
            <a:ext cx="873252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用途地域ごとに建てられる建物の用途を規制</a:t>
            </a:r>
            <a:endParaRPr lang="en-US" sz="1100" dirty="0"/>
          </a:p>
        </p:txBody>
      </p:sp>
      <p:sp>
        <p:nvSpPr>
          <p:cNvPr id="13" name="Shape 11"/>
          <p:cNvSpPr/>
          <p:nvPr/>
        </p:nvSpPr>
        <p:spPr>
          <a:xfrm>
            <a:off x="502920" y="3977640"/>
            <a:ext cx="11201400" cy="0"/>
          </a:xfrm>
          <a:prstGeom prst="line">
            <a:avLst/>
          </a:prstGeom>
          <a:noFill/>
          <a:ln w="12700">
            <a:solidFill>
              <a:srgbClr val="E6E6E6"/>
            </a:solidFill>
            <a:prstDash val="solid"/>
          </a:ln>
        </p:spPr>
      </p:sp>
      <p:sp>
        <p:nvSpPr>
          <p:cNvPr id="14" name="Text 12"/>
          <p:cNvSpPr txBox="1"/>
          <p:nvPr/>
        </p:nvSpPr>
        <p:spPr>
          <a:xfrm>
            <a:off x="502920" y="4087368"/>
            <a:ext cx="23774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中心市街地活性化法</a:t>
            </a:r>
            <a:endParaRPr lang="en-US" sz="1500" dirty="0"/>
          </a:p>
        </p:txBody>
      </p:sp>
      <p:sp>
        <p:nvSpPr>
          <p:cNvPr id="15" name="Text 13"/>
          <p:cNvSpPr txBox="1"/>
          <p:nvPr/>
        </p:nvSpPr>
        <p:spPr>
          <a:xfrm>
            <a:off x="2971800" y="4050792"/>
            <a:ext cx="873252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郊外大型店の出店等で衰退した中心市街地を活性化する支援策</a:t>
            </a:r>
            <a:endParaRPr lang="en-US" sz="1100" dirty="0"/>
          </a:p>
        </p:txBody>
      </p:sp>
      <p:sp>
        <p:nvSpPr>
          <p:cNvPr id="16" name="Text 14"/>
          <p:cNvSpPr txBox="1"/>
          <p:nvPr/>
        </p:nvSpPr>
        <p:spPr>
          <a:xfrm>
            <a:off x="502920" y="5184648"/>
            <a:ext cx="11201400" cy="64008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小売チェーンJ社が郊外に延床面積2,000㎡のショッピングセンターを出店する際は、まず都市計画法上その土地が店舗を建設できる用途地域かを確認し、次に大店立地法に基づき周辺の交通渋滞対策・騒音対策について自治体への届出と住民説明を行う。</a:t>
            </a:r>
            <a:endParaRPr lang="en-US" sz="850" dirty="0"/>
          </a:p>
        </p:txBody>
      </p:sp>
      <p:sp>
        <p:nvSpPr>
          <p:cNvPr id="17" name="Shape 15"/>
          <p:cNvSpPr/>
          <p:nvPr/>
        </p:nvSpPr>
        <p:spPr>
          <a:xfrm>
            <a:off x="502920" y="5989320"/>
            <a:ext cx="11201400" cy="0"/>
          </a:xfrm>
          <a:prstGeom prst="line">
            <a:avLst/>
          </a:prstGeom>
          <a:noFill/>
          <a:ln w="9525">
            <a:solidFill>
              <a:srgbClr val="171717"/>
            </a:solidFill>
            <a:prstDash val="solid"/>
          </a:ln>
        </p:spPr>
      </p:sp>
      <p:sp>
        <p:nvSpPr>
          <p:cNvPr id="18" name="Shape 16"/>
          <p:cNvSpPr/>
          <p:nvPr/>
        </p:nvSpPr>
        <p:spPr>
          <a:xfrm>
            <a:off x="502920" y="6062472"/>
            <a:ext cx="329184" cy="329184"/>
          </a:xfrm>
          <a:prstGeom prst="ellipse">
            <a:avLst/>
          </a:prstGeom>
          <a:solidFill>
            <a:srgbClr val="FF3B1F"/>
          </a:solidFill>
          <a:ln/>
        </p:spPr>
      </p:sp>
      <p:sp>
        <p:nvSpPr>
          <p:cNvPr id="19" name="Text 17"/>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0" name="Text 18"/>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1" name="Shape 19"/>
          <p:cNvSpPr/>
          <p:nvPr/>
        </p:nvSpPr>
        <p:spPr>
          <a:xfrm>
            <a:off x="2331720" y="6062472"/>
            <a:ext cx="0" cy="329184"/>
          </a:xfrm>
          <a:prstGeom prst="line">
            <a:avLst/>
          </a:prstGeom>
          <a:noFill/>
          <a:ln w="12700">
            <a:solidFill>
              <a:srgbClr val="E6E6E6"/>
            </a:solidFill>
            <a:prstDash val="solid"/>
          </a:ln>
        </p:spPr>
      </p:sp>
      <p:sp>
        <p:nvSpPr>
          <p:cNvPr id="22" name="Text 20"/>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ひっかけ：大店立地法の目的を「中小小売業者の保護」と誤解しない（旧大店法との違い）。</a:t>
            </a:r>
            <a:endParaRPr lang="en-US" sz="1000" dirty="0"/>
          </a:p>
        </p:txBody>
      </p:sp>
      <p:sp>
        <p:nvSpPr>
          <p:cNvPr id="23" name="Text 21"/>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4" name="Shape 22"/>
          <p:cNvSpPr/>
          <p:nvPr/>
        </p:nvSpPr>
        <p:spPr>
          <a:xfrm>
            <a:off x="2466594" y="6464808"/>
            <a:ext cx="146304" cy="146304"/>
          </a:xfrm>
          <a:prstGeom prst="ellipse">
            <a:avLst/>
          </a:prstGeom>
          <a:solidFill>
            <a:srgbClr val="FF3B1F"/>
          </a:solidFill>
          <a:ln w="12700">
            <a:solidFill>
              <a:srgbClr val="FF3B1F"/>
            </a:solidFill>
            <a:prstDash val="solid"/>
          </a:ln>
        </p:spPr>
      </p:sp>
      <p:sp>
        <p:nvSpPr>
          <p:cNvPr id="25" name="Text 23"/>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6" name="Shape 24"/>
          <p:cNvSpPr/>
          <p:nvPr/>
        </p:nvSpPr>
        <p:spPr>
          <a:xfrm>
            <a:off x="3431286" y="6464808"/>
            <a:ext cx="146304" cy="146304"/>
          </a:xfrm>
          <a:prstGeom prst="ellipse">
            <a:avLst/>
          </a:prstGeom>
          <a:solidFill>
            <a:srgbClr val="FF3B1F"/>
          </a:solidFill>
          <a:ln w="12700">
            <a:solidFill>
              <a:srgbClr val="FF3B1F"/>
            </a:solidFill>
            <a:prstDash val="solid"/>
          </a:ln>
        </p:spPr>
      </p:sp>
      <p:sp>
        <p:nvSpPr>
          <p:cNvPr id="27" name="Text 25"/>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28" name="Shape 26"/>
          <p:cNvSpPr/>
          <p:nvPr/>
        </p:nvSpPr>
        <p:spPr>
          <a:xfrm>
            <a:off x="4395978" y="6464808"/>
            <a:ext cx="146304" cy="146304"/>
          </a:xfrm>
          <a:prstGeom prst="ellipse">
            <a:avLst/>
          </a:prstGeom>
          <a:solidFill>
            <a:srgbClr val="FF3B1F"/>
          </a:solidFill>
          <a:ln w="12700">
            <a:solidFill>
              <a:srgbClr val="FF3B1F"/>
            </a:solidFill>
            <a:prstDash val="solid"/>
          </a:ln>
        </p:spPr>
      </p:sp>
      <p:sp>
        <p:nvSpPr>
          <p:cNvPr id="29" name="Text 27"/>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0" name="Shape 28"/>
          <p:cNvSpPr/>
          <p:nvPr/>
        </p:nvSpPr>
        <p:spPr>
          <a:xfrm>
            <a:off x="5360670"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2" name="Shape 30"/>
          <p:cNvSpPr/>
          <p:nvPr/>
        </p:nvSpPr>
        <p:spPr>
          <a:xfrm>
            <a:off x="6325362"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4" name="Shape 32"/>
          <p:cNvSpPr/>
          <p:nvPr/>
        </p:nvSpPr>
        <p:spPr>
          <a:xfrm>
            <a:off x="7290054"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6" name="Shape 34"/>
          <p:cNvSpPr/>
          <p:nvPr/>
        </p:nvSpPr>
        <p:spPr>
          <a:xfrm>
            <a:off x="8254746"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38" name="Shape 36"/>
          <p:cNvSpPr/>
          <p:nvPr/>
        </p:nvSpPr>
        <p:spPr>
          <a:xfrm>
            <a:off x="9219438"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0" name="Shape 38"/>
          <p:cNvSpPr/>
          <p:nvPr/>
        </p:nvSpPr>
        <p:spPr>
          <a:xfrm>
            <a:off x="10184130"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2" name="Shape 40"/>
          <p:cNvSpPr/>
          <p:nvPr/>
        </p:nvSpPr>
        <p:spPr>
          <a:xfrm>
            <a:off x="11148822"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D-24 ／ 店舗立地と出店（立地条件、商圏分析）</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人口に比例、距離の2乗に反比例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ライリーの法則とハフモデル。どちらも重力モデル的な考え方。</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6766560" cy="1005840"/>
          </a:xfrm>
          <a:prstGeom prst="rect">
            <a:avLst/>
          </a:prstGeom>
          <a:noFill/>
          <a:ln/>
        </p:spPr>
        <p:txBody>
          <a:bodyPr wrap="square" lIns="0" tIns="0" rIns="0" bIns="0" rtlCol="0" anchor="ctr"/>
          <a:lstStyle/>
          <a:p>
            <a:pPr indent="0" marL="0">
              <a:lnSpc>
                <a:spcPct val="130000"/>
              </a:lnSpc>
              <a:buNone/>
            </a:pPr>
            <a:r>
              <a:rPr lang="en-US" sz="1000" dirty="0">
                <a:solidFill>
                  <a:srgbClr val="8A8A8A"/>
                </a:solidFill>
                <a:latin typeface="Yu Gothic" pitchFamily="34" charset="0"/>
                <a:ea typeface="Yu Gothic" pitchFamily="34" charset="-122"/>
                <a:cs typeface="Yu Gothic" pitchFamily="34" charset="-120"/>
              </a:rPr>
              <a:t>人口が多い都市ほど、また距離が近い都市ほど、周辺の町からの購買力を強く吸引する。ライリーの法則はこの直感を「人口に比例、距離の2乗に反比例」という式で表したもので、人口で劣る都市でも距離が近ければ形勢が逆転しうる点が出題の核心。</a:t>
            </a:r>
            <a:endParaRPr lang="en-US" sz="1000" dirty="0"/>
          </a:p>
        </p:txBody>
      </p:sp>
      <p:sp>
        <p:nvSpPr>
          <p:cNvPr id="9" name="Text 7"/>
          <p:cNvSpPr txBox="1"/>
          <p:nvPr/>
        </p:nvSpPr>
        <p:spPr>
          <a:xfrm>
            <a:off x="502920" y="2788920"/>
            <a:ext cx="1737360" cy="438912"/>
          </a:xfrm>
          <a:prstGeom prst="rect">
            <a:avLst/>
          </a:prstGeom>
          <a:noFill/>
          <a:ln/>
        </p:spPr>
        <p:txBody>
          <a:bodyPr wrap="square" lIns="0" tIns="0" rIns="0" bIns="0" rtlCol="0" anchor="t"/>
          <a:lstStyle/>
          <a:p>
            <a:pPr indent="0" marL="0">
              <a:buNone/>
            </a:pPr>
            <a:r>
              <a:rPr lang="en-US" sz="950" b="1" dirty="0">
                <a:solidFill>
                  <a:srgbClr val="171717"/>
                </a:solidFill>
                <a:latin typeface="Yu Gothic" pitchFamily="34" charset="0"/>
                <a:ea typeface="Yu Gothic" pitchFamily="34" charset="-122"/>
                <a:cs typeface="Yu Gothic" pitchFamily="34" charset="-120"/>
              </a:rPr>
              <a:t>ライリーの法則</a:t>
            </a:r>
            <a:endParaRPr lang="en-US" sz="950" dirty="0"/>
          </a:p>
        </p:txBody>
      </p:sp>
      <p:sp>
        <p:nvSpPr>
          <p:cNvPr id="10" name="Shape 8"/>
          <p:cNvSpPr/>
          <p:nvPr/>
        </p:nvSpPr>
        <p:spPr>
          <a:xfrm>
            <a:off x="2221992" y="2788920"/>
            <a:ext cx="0" cy="256032"/>
          </a:xfrm>
          <a:prstGeom prst="line">
            <a:avLst/>
          </a:prstGeom>
          <a:noFill/>
          <a:ln w="12700">
            <a:solidFill>
              <a:srgbClr val="E6E6E6"/>
            </a:solidFill>
            <a:prstDash val="solid"/>
          </a:ln>
        </p:spPr>
      </p:sp>
      <p:sp>
        <p:nvSpPr>
          <p:cNvPr id="11" name="Text 9"/>
          <p:cNvSpPr txBox="1"/>
          <p:nvPr/>
        </p:nvSpPr>
        <p:spPr>
          <a:xfrm>
            <a:off x="2377440" y="2788920"/>
            <a:ext cx="4892040" cy="438912"/>
          </a:xfrm>
          <a:prstGeom prst="rect">
            <a:avLst/>
          </a:prstGeom>
          <a:noFill/>
          <a:ln/>
        </p:spPr>
        <p:txBody>
          <a:bodyPr wrap="square" lIns="0" tIns="0" rIns="0" bIns="0" rtlCol="0" anchor="t"/>
          <a:lstStyle/>
          <a:p>
            <a:pPr indent="0" marL="0">
              <a:buNone/>
            </a:pPr>
            <a:r>
              <a:rPr lang="en-US" sz="950" dirty="0">
                <a:solidFill>
                  <a:srgbClr val="8A8A8A"/>
                </a:solidFill>
                <a:latin typeface="Yu Gothic" pitchFamily="34" charset="0"/>
                <a:ea typeface="Yu Gothic" pitchFamily="34" charset="-122"/>
                <a:cs typeface="Yu Gothic" pitchFamily="34" charset="-120"/>
              </a:rPr>
              <a:t>吸引力比(A:B)＝(人口A÷人口B)×(距離B÷距離A)²</a:t>
            </a:r>
            <a:endParaRPr lang="en-US" sz="950" dirty="0"/>
          </a:p>
        </p:txBody>
      </p:sp>
      <p:sp>
        <p:nvSpPr>
          <p:cNvPr id="12" name="Text 10"/>
          <p:cNvSpPr txBox="1"/>
          <p:nvPr/>
        </p:nvSpPr>
        <p:spPr>
          <a:xfrm>
            <a:off x="502920" y="3246120"/>
            <a:ext cx="1737360" cy="438912"/>
          </a:xfrm>
          <a:prstGeom prst="rect">
            <a:avLst/>
          </a:prstGeom>
          <a:noFill/>
          <a:ln/>
        </p:spPr>
        <p:txBody>
          <a:bodyPr wrap="square" lIns="0" tIns="0" rIns="0" bIns="0" rtlCol="0" anchor="t"/>
          <a:lstStyle/>
          <a:p>
            <a:pPr indent="0" marL="0">
              <a:buNone/>
            </a:pPr>
            <a:r>
              <a:rPr lang="en-US" sz="950" b="1" dirty="0">
                <a:solidFill>
                  <a:srgbClr val="171717"/>
                </a:solidFill>
                <a:latin typeface="Yu Gothic" pitchFamily="34" charset="0"/>
                <a:ea typeface="Yu Gothic" pitchFamily="34" charset="-122"/>
                <a:cs typeface="Yu Gothic" pitchFamily="34" charset="-120"/>
              </a:rPr>
              <a:t>ハフモデル</a:t>
            </a:r>
            <a:endParaRPr lang="en-US" sz="950" dirty="0"/>
          </a:p>
        </p:txBody>
      </p:sp>
      <p:sp>
        <p:nvSpPr>
          <p:cNvPr id="13" name="Shape 11"/>
          <p:cNvSpPr/>
          <p:nvPr/>
        </p:nvSpPr>
        <p:spPr>
          <a:xfrm>
            <a:off x="2221992" y="3246120"/>
            <a:ext cx="0" cy="256032"/>
          </a:xfrm>
          <a:prstGeom prst="line">
            <a:avLst/>
          </a:prstGeom>
          <a:noFill/>
          <a:ln w="12700">
            <a:solidFill>
              <a:srgbClr val="E6E6E6"/>
            </a:solidFill>
            <a:prstDash val="solid"/>
          </a:ln>
        </p:spPr>
      </p:sp>
      <p:sp>
        <p:nvSpPr>
          <p:cNvPr id="14" name="Text 12"/>
          <p:cNvSpPr txBox="1"/>
          <p:nvPr/>
        </p:nvSpPr>
        <p:spPr>
          <a:xfrm>
            <a:off x="2377440" y="3246120"/>
            <a:ext cx="4892040" cy="438912"/>
          </a:xfrm>
          <a:prstGeom prst="rect">
            <a:avLst/>
          </a:prstGeom>
          <a:noFill/>
          <a:ln/>
        </p:spPr>
        <p:txBody>
          <a:bodyPr wrap="square" lIns="0" tIns="0" rIns="0" bIns="0" rtlCol="0" anchor="t"/>
          <a:lstStyle/>
          <a:p>
            <a:pPr indent="0" marL="0">
              <a:buNone/>
            </a:pPr>
            <a:r>
              <a:rPr lang="en-US" sz="950" dirty="0">
                <a:solidFill>
                  <a:srgbClr val="8A8A8A"/>
                </a:solidFill>
                <a:latin typeface="Yu Gothic" pitchFamily="34" charset="0"/>
                <a:ea typeface="Yu Gothic" pitchFamily="34" charset="-122"/>
                <a:cs typeface="Yu Gothic" pitchFamily="34" charset="-120"/>
              </a:rPr>
              <a:t>来店確率＝(売場面積÷距離ᵈ)÷Σ(各店の売場面積÷距離ᵈ)</a:t>
            </a:r>
            <a:endParaRPr lang="en-US" sz="950" dirty="0"/>
          </a:p>
        </p:txBody>
      </p:sp>
      <p:sp>
        <p:nvSpPr>
          <p:cNvPr id="15" name="Shape 13"/>
          <p:cNvSpPr/>
          <p:nvPr/>
        </p:nvSpPr>
        <p:spPr>
          <a:xfrm>
            <a:off x="502920" y="3776472"/>
            <a:ext cx="6766560" cy="0"/>
          </a:xfrm>
          <a:prstGeom prst="line">
            <a:avLst/>
          </a:prstGeom>
          <a:noFill/>
          <a:ln w="12700">
            <a:solidFill>
              <a:srgbClr val="E6E6E6"/>
            </a:solidFill>
            <a:prstDash val="solid"/>
          </a:ln>
        </p:spPr>
      </p:sp>
      <p:sp>
        <p:nvSpPr>
          <p:cNvPr id="16" name="Text 14"/>
          <p:cNvSpPr txBox="1"/>
          <p:nvPr/>
        </p:nvSpPr>
        <p:spPr>
          <a:xfrm>
            <a:off x="502920" y="3849624"/>
            <a:ext cx="6766560" cy="548640"/>
          </a:xfrm>
          <a:prstGeom prst="rect">
            <a:avLst/>
          </a:prstGeom>
          <a:noFill/>
          <a:ln/>
        </p:spPr>
        <p:txBody>
          <a:bodyPr wrap="square" lIns="0" tIns="0" rIns="0" bIns="0" rtlCol="0" anchor="ctr"/>
          <a:lstStyle/>
          <a:p>
            <a:pPr indent="0" marL="0">
              <a:lnSpc>
                <a:spcPct val="120000"/>
              </a:lnSpc>
              <a:buNone/>
            </a:pPr>
            <a:r>
              <a:rPr lang="en-US" sz="90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00" dirty="0">
                <a:solidFill>
                  <a:srgbClr val="FF3B1F"/>
                </a:solidFill>
                <a:latin typeface="Yu Gothic" pitchFamily="34" charset="0"/>
                <a:ea typeface="Yu Gothic" pitchFamily="34" charset="-122"/>
                <a:cs typeface="Yu Gothic" pitchFamily="34" charset="-120"/>
              </a:rPr>
              <a:t>距離の比を「2乗する」のを忘れる計算ミスに注意。公式の丸暗記だけでなく結果の意味も確認する。</a:t>
            </a:r>
            <a:endParaRPr lang="en-US" sz="900" dirty="0"/>
          </a:p>
        </p:txBody>
      </p:sp>
      <p:sp>
        <p:nvSpPr>
          <p:cNvPr id="17" name="Shape 15"/>
          <p:cNvSpPr/>
          <p:nvPr/>
        </p:nvSpPr>
        <p:spPr>
          <a:xfrm>
            <a:off x="8686800" y="3291840"/>
            <a:ext cx="914400" cy="0"/>
          </a:xfrm>
          <a:prstGeom prst="line">
            <a:avLst/>
          </a:prstGeom>
          <a:noFill/>
          <a:ln w="12700">
            <a:solidFill>
              <a:srgbClr val="171717"/>
            </a:solidFill>
            <a:prstDash val="solid"/>
          </a:ln>
        </p:spPr>
      </p:sp>
      <p:sp>
        <p:nvSpPr>
          <p:cNvPr id="18" name="Shape 16"/>
          <p:cNvSpPr/>
          <p:nvPr/>
        </p:nvSpPr>
        <p:spPr>
          <a:xfrm>
            <a:off x="7680960" y="2788920"/>
            <a:ext cx="1005840" cy="1005840"/>
          </a:xfrm>
          <a:prstGeom prst="ellipse">
            <a:avLst/>
          </a:prstGeom>
          <a:solidFill>
            <a:srgbClr val="F4F4F4"/>
          </a:solidFill>
          <a:ln w="12700">
            <a:solidFill>
              <a:srgbClr val="171717"/>
            </a:solidFill>
            <a:prstDash val="solid"/>
          </a:ln>
        </p:spPr>
      </p:sp>
      <p:sp>
        <p:nvSpPr>
          <p:cNvPr id="19" name="Text 17"/>
          <p:cNvSpPr txBox="1"/>
          <p:nvPr/>
        </p:nvSpPr>
        <p:spPr>
          <a:xfrm>
            <a:off x="7680960" y="2788920"/>
            <a:ext cx="1005840" cy="1005840"/>
          </a:xfrm>
          <a:prstGeom prst="rect">
            <a:avLst/>
          </a:prstGeom>
          <a:noFill/>
          <a:ln/>
        </p:spPr>
        <p:txBody>
          <a:bodyPr wrap="square" lIns="0" tIns="0" rIns="0" bIns="0" rtlCol="0" anchor="ctr"/>
          <a:lstStyle/>
          <a:p>
            <a:pPr algn="ctr" indent="0" marL="0">
              <a:lnSpc>
                <a:spcPct val="110000"/>
              </a:lnSpc>
              <a:buNone/>
            </a:pPr>
            <a:r>
              <a:rPr lang="en-US" sz="1100" b="1" dirty="0">
                <a:solidFill>
                  <a:srgbClr val="171717"/>
                </a:solidFill>
                <a:latin typeface="Yu Gothic" pitchFamily="34" charset="0"/>
                <a:ea typeface="Yu Gothic" pitchFamily="34" charset="-122"/>
                <a:cs typeface="Yu Gothic" pitchFamily="34" charset="-120"/>
              </a:rPr>
              <a:t>A市
</a:t>
            </a:r>
            <a:endParaRPr lang="en-US" sz="1100" dirty="0"/>
          </a:p>
          <a:p>
            <a:pPr algn="ctr" indent="0" marL="0">
              <a:lnSpc>
                <a:spcPct val="110000"/>
              </a:lnSpc>
              <a:buNone/>
            </a:pPr>
            <a:r>
              <a:rPr lang="en-US" sz="900" dirty="0">
                <a:solidFill>
                  <a:srgbClr val="8A8A8A"/>
                </a:solidFill>
                <a:latin typeface="Yu Gothic" pitchFamily="34" charset="0"/>
                <a:ea typeface="Yu Gothic" pitchFamily="34" charset="-122"/>
                <a:cs typeface="Yu Gothic" pitchFamily="34" charset="-120"/>
              </a:rPr>
              <a:t>人口3</a:t>
            </a:r>
            <a:endParaRPr lang="en-US" sz="1100" dirty="0"/>
          </a:p>
        </p:txBody>
      </p:sp>
      <p:sp>
        <p:nvSpPr>
          <p:cNvPr id="20" name="Shape 18"/>
          <p:cNvSpPr/>
          <p:nvPr/>
        </p:nvSpPr>
        <p:spPr>
          <a:xfrm>
            <a:off x="9601200" y="2537460"/>
            <a:ext cx="1508760" cy="1508760"/>
          </a:xfrm>
          <a:prstGeom prst="ellipse">
            <a:avLst/>
          </a:prstGeom>
          <a:solidFill>
            <a:srgbClr val="F4F4F4"/>
          </a:solidFill>
          <a:ln w="12700">
            <a:solidFill>
              <a:srgbClr val="171717"/>
            </a:solidFill>
            <a:prstDash val="solid"/>
          </a:ln>
        </p:spPr>
      </p:sp>
      <p:sp>
        <p:nvSpPr>
          <p:cNvPr id="21" name="Text 19"/>
          <p:cNvSpPr txBox="1"/>
          <p:nvPr/>
        </p:nvSpPr>
        <p:spPr>
          <a:xfrm>
            <a:off x="9601200" y="2537460"/>
            <a:ext cx="1508760" cy="1508760"/>
          </a:xfrm>
          <a:prstGeom prst="rect">
            <a:avLst/>
          </a:prstGeom>
          <a:noFill/>
          <a:ln/>
        </p:spPr>
        <p:txBody>
          <a:bodyPr wrap="square" lIns="0" tIns="0" rIns="0" bIns="0" rtlCol="0" anchor="ctr"/>
          <a:lstStyle/>
          <a:p>
            <a:pPr algn="ctr" indent="0" marL="0">
              <a:lnSpc>
                <a:spcPct val="110000"/>
              </a:lnSpc>
              <a:buNone/>
            </a:pPr>
            <a:r>
              <a:rPr lang="en-US" sz="1200" b="1" dirty="0">
                <a:solidFill>
                  <a:srgbClr val="171717"/>
                </a:solidFill>
                <a:latin typeface="Yu Gothic" pitchFamily="34" charset="0"/>
                <a:ea typeface="Yu Gothic" pitchFamily="34" charset="-122"/>
                <a:cs typeface="Yu Gothic" pitchFamily="34" charset="-120"/>
              </a:rPr>
              <a:t>B市
</a:t>
            </a:r>
            <a:endParaRPr lang="en-US" sz="1200" dirty="0"/>
          </a:p>
          <a:p>
            <a:pPr algn="ctr" indent="0" marL="0">
              <a:lnSpc>
                <a:spcPct val="110000"/>
              </a:lnSpc>
              <a:buNone/>
            </a:pPr>
            <a:r>
              <a:rPr lang="en-US" sz="950" dirty="0">
                <a:solidFill>
                  <a:srgbClr val="8A8A8A"/>
                </a:solidFill>
                <a:latin typeface="Yu Gothic" pitchFamily="34" charset="0"/>
                <a:ea typeface="Yu Gothic" pitchFamily="34" charset="-122"/>
                <a:cs typeface="Yu Gothic" pitchFamily="34" charset="-120"/>
              </a:rPr>
              <a:t>人口8</a:t>
            </a:r>
            <a:endParaRPr lang="en-US" sz="1200" dirty="0"/>
          </a:p>
        </p:txBody>
      </p:sp>
      <p:sp>
        <p:nvSpPr>
          <p:cNvPr id="22" name="Shape 20"/>
          <p:cNvSpPr/>
          <p:nvPr/>
        </p:nvSpPr>
        <p:spPr>
          <a:xfrm>
            <a:off x="8942832" y="3246120"/>
            <a:ext cx="91440" cy="91440"/>
          </a:xfrm>
          <a:prstGeom prst="ellipse">
            <a:avLst/>
          </a:prstGeom>
          <a:solidFill>
            <a:srgbClr val="FF3B1F"/>
          </a:solidFill>
          <a:ln/>
        </p:spPr>
      </p:sp>
      <p:sp>
        <p:nvSpPr>
          <p:cNvPr id="23" name="Text 21"/>
          <p:cNvSpPr txBox="1"/>
          <p:nvPr/>
        </p:nvSpPr>
        <p:spPr>
          <a:xfrm>
            <a:off x="8714232" y="2834640"/>
            <a:ext cx="548640" cy="274320"/>
          </a:xfrm>
          <a:prstGeom prst="rect">
            <a:avLst/>
          </a:prstGeom>
          <a:noFill/>
          <a:ln/>
        </p:spPr>
        <p:txBody>
          <a:bodyPr wrap="square" lIns="0" tIns="0" rIns="0" bIns="0" rtlCol="0" anchor="ctr"/>
          <a:lstStyle/>
          <a:p>
            <a:pPr algn="ctr" indent="0" marL="0">
              <a:buNone/>
            </a:pPr>
            <a:r>
              <a:rPr lang="en-US" sz="1000" b="1" dirty="0">
                <a:solidFill>
                  <a:srgbClr val="FF3B1F"/>
                </a:solidFill>
                <a:latin typeface="Yu Gothic" pitchFamily="34" charset="0"/>
                <a:ea typeface="Yu Gothic" pitchFamily="34" charset="-122"/>
                <a:cs typeface="Yu Gothic" pitchFamily="34" charset="-120"/>
              </a:rPr>
              <a:t>X町</a:t>
            </a:r>
            <a:endParaRPr lang="en-US" sz="1000" dirty="0"/>
          </a:p>
        </p:txBody>
      </p:sp>
      <p:sp>
        <p:nvSpPr>
          <p:cNvPr id="24" name="Text 22"/>
          <p:cNvSpPr txBox="1"/>
          <p:nvPr/>
        </p:nvSpPr>
        <p:spPr>
          <a:xfrm>
            <a:off x="8686800" y="3383280"/>
            <a:ext cx="301752" cy="274320"/>
          </a:xfrm>
          <a:prstGeom prst="rect">
            <a:avLst/>
          </a:prstGeom>
          <a:noFill/>
          <a:ln/>
        </p:spPr>
        <p:txBody>
          <a:bodyPr wrap="square" lIns="0" tIns="0" rIns="0" bIns="0" rtlCol="0" anchor="ctr"/>
          <a:lstStyle/>
          <a:p>
            <a:pPr algn="ctr" indent="0" marL="0">
              <a:buNone/>
            </a:pPr>
            <a:r>
              <a:rPr lang="en-US" sz="900" b="1" dirty="0">
                <a:solidFill>
                  <a:srgbClr val="FF3B1F"/>
                </a:solidFill>
                <a:latin typeface="Yu Gothic" pitchFamily="34" charset="0"/>
                <a:ea typeface="Yu Gothic" pitchFamily="34" charset="-122"/>
                <a:cs typeface="Yu Gothic" pitchFamily="34" charset="-120"/>
              </a:rPr>
              <a:t>距離1</a:t>
            </a:r>
            <a:endParaRPr lang="en-US" sz="900" dirty="0"/>
          </a:p>
        </p:txBody>
      </p:sp>
      <p:sp>
        <p:nvSpPr>
          <p:cNvPr id="25" name="Text 23"/>
          <p:cNvSpPr txBox="1"/>
          <p:nvPr/>
        </p:nvSpPr>
        <p:spPr>
          <a:xfrm>
            <a:off x="8988552" y="3383280"/>
            <a:ext cx="612648" cy="274320"/>
          </a:xfrm>
          <a:prstGeom prst="rect">
            <a:avLst/>
          </a:prstGeom>
          <a:noFill/>
          <a:ln/>
        </p:spPr>
        <p:txBody>
          <a:bodyPr wrap="square" lIns="0" tIns="0" rIns="0" bIns="0" rtlCol="0" anchor="ctr"/>
          <a:lstStyle/>
          <a:p>
            <a:pPr algn="ctr" indent="0" marL="0">
              <a:buNone/>
            </a:pPr>
            <a:r>
              <a:rPr lang="en-US" sz="900" dirty="0">
                <a:solidFill>
                  <a:srgbClr val="171717"/>
                </a:solidFill>
                <a:latin typeface="Yu Gothic" pitchFamily="34" charset="0"/>
                <a:ea typeface="Yu Gothic" pitchFamily="34" charset="-122"/>
                <a:cs typeface="Yu Gothic" pitchFamily="34" charset="-120"/>
              </a:rPr>
              <a:t>距離2</a:t>
            </a:r>
            <a:endParaRPr lang="en-US" sz="900" dirty="0"/>
          </a:p>
        </p:txBody>
      </p:sp>
      <p:sp>
        <p:nvSpPr>
          <p:cNvPr id="26" name="Text 24"/>
          <p:cNvSpPr txBox="1"/>
          <p:nvPr/>
        </p:nvSpPr>
        <p:spPr>
          <a:xfrm>
            <a:off x="7269480" y="4206240"/>
            <a:ext cx="4251960" cy="365760"/>
          </a:xfrm>
          <a:prstGeom prst="rect">
            <a:avLst/>
          </a:prstGeom>
          <a:noFill/>
          <a:ln/>
        </p:spPr>
        <p:txBody>
          <a:bodyPr wrap="square" lIns="0" tIns="0" rIns="0" bIns="0" rtlCol="0" anchor="ctr"/>
          <a:lstStyle/>
          <a:p>
            <a:pPr algn="ctr" indent="0" marL="0">
              <a:lnSpc>
                <a:spcPct val="120000"/>
              </a:lnSpc>
              <a:buNone/>
            </a:pPr>
            <a:r>
              <a:rPr lang="en-US" sz="900" dirty="0">
                <a:solidFill>
                  <a:srgbClr val="8A8A8A"/>
                </a:solidFill>
                <a:latin typeface="Yu Gothic" pitchFamily="34" charset="0"/>
                <a:ea typeface="Yu Gothic" pitchFamily="34" charset="-122"/>
                <a:cs typeface="Yu Gothic" pitchFamily="34" charset="-120"/>
              </a:rPr>
              <a:t>人口で劣るA市の方がX町に近い（距離比1：2）</a:t>
            </a:r>
            <a:endParaRPr lang="en-US" sz="900" dirty="0"/>
          </a:p>
        </p:txBody>
      </p:sp>
      <p:sp>
        <p:nvSpPr>
          <p:cNvPr id="27" name="Shape 25"/>
          <p:cNvSpPr/>
          <p:nvPr/>
        </p:nvSpPr>
        <p:spPr>
          <a:xfrm>
            <a:off x="502920" y="5989320"/>
            <a:ext cx="11201400" cy="0"/>
          </a:xfrm>
          <a:prstGeom prst="line">
            <a:avLst/>
          </a:prstGeom>
          <a:noFill/>
          <a:ln w="9525">
            <a:solidFill>
              <a:srgbClr val="171717"/>
            </a:solidFill>
            <a:prstDash val="solid"/>
          </a:ln>
        </p:spPr>
      </p:sp>
      <p:sp>
        <p:nvSpPr>
          <p:cNvPr id="28" name="Shape 26"/>
          <p:cNvSpPr/>
          <p:nvPr/>
        </p:nvSpPr>
        <p:spPr>
          <a:xfrm>
            <a:off x="502920" y="6062472"/>
            <a:ext cx="329184" cy="329184"/>
          </a:xfrm>
          <a:prstGeom prst="ellipse">
            <a:avLst/>
          </a:prstGeom>
          <a:solidFill>
            <a:srgbClr val="FF3B1F"/>
          </a:solidFill>
          <a:ln/>
        </p:spPr>
      </p:sp>
      <p:sp>
        <p:nvSpPr>
          <p:cNvPr id="29" name="Text 27"/>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30" name="Text 28"/>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31" name="Shape 29"/>
          <p:cNvSpPr/>
          <p:nvPr/>
        </p:nvSpPr>
        <p:spPr>
          <a:xfrm>
            <a:off x="2331720" y="6062472"/>
            <a:ext cx="0" cy="329184"/>
          </a:xfrm>
          <a:prstGeom prst="line">
            <a:avLst/>
          </a:prstGeom>
          <a:noFill/>
          <a:ln w="12700">
            <a:solidFill>
              <a:srgbClr val="E6E6E6"/>
            </a:solidFill>
            <a:prstDash val="solid"/>
          </a:ln>
        </p:spPr>
      </p:sp>
      <p:sp>
        <p:nvSpPr>
          <p:cNvPr id="32" name="Text 30"/>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関連：D-25 商業集積（出店先の業態選択にもつながる）。</a:t>
            </a:r>
            <a:endParaRPr lang="en-US" sz="1000" dirty="0"/>
          </a:p>
        </p:txBody>
      </p:sp>
      <p:sp>
        <p:nvSpPr>
          <p:cNvPr id="33" name="Text 31"/>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4" name="Shape 32"/>
          <p:cNvSpPr/>
          <p:nvPr/>
        </p:nvSpPr>
        <p:spPr>
          <a:xfrm>
            <a:off x="2466594"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36" name="Shape 34"/>
          <p:cNvSpPr/>
          <p:nvPr/>
        </p:nvSpPr>
        <p:spPr>
          <a:xfrm>
            <a:off x="3431286"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38" name="Shape 36"/>
          <p:cNvSpPr/>
          <p:nvPr/>
        </p:nvSpPr>
        <p:spPr>
          <a:xfrm>
            <a:off x="4395978"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40" name="Shape 38"/>
          <p:cNvSpPr/>
          <p:nvPr/>
        </p:nvSpPr>
        <p:spPr>
          <a:xfrm>
            <a:off x="5360670"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42" name="Shape 40"/>
          <p:cNvSpPr/>
          <p:nvPr/>
        </p:nvSpPr>
        <p:spPr>
          <a:xfrm>
            <a:off x="6325362"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4" name="Shape 42"/>
          <p:cNvSpPr/>
          <p:nvPr/>
        </p:nvSpPr>
        <p:spPr>
          <a:xfrm>
            <a:off x="7290054"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6" name="Shape 44"/>
          <p:cNvSpPr/>
          <p:nvPr/>
        </p:nvSpPr>
        <p:spPr>
          <a:xfrm>
            <a:off x="8254746"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8" name="Shape 46"/>
          <p:cNvSpPr/>
          <p:nvPr/>
        </p:nvSpPr>
        <p:spPr>
          <a:xfrm>
            <a:off x="9219438" y="6464808"/>
            <a:ext cx="146304" cy="146304"/>
          </a:xfrm>
          <a:prstGeom prst="ellipse">
            <a:avLst/>
          </a:prstGeom>
          <a:solidFill>
            <a:srgbClr val="FFFFFF"/>
          </a:solidFill>
          <a:ln w="12700">
            <a:solidFill>
              <a:srgbClr val="E6E6E6"/>
            </a:solidFill>
            <a:prstDash val="solid"/>
          </a:ln>
        </p:spPr>
      </p:sp>
      <p:sp>
        <p:nvSpPr>
          <p:cNvPr id="49" name="Text 47"/>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50" name="Shape 48"/>
          <p:cNvSpPr/>
          <p:nvPr/>
        </p:nvSpPr>
        <p:spPr>
          <a:xfrm>
            <a:off x="10184130" y="6464808"/>
            <a:ext cx="146304" cy="146304"/>
          </a:xfrm>
          <a:prstGeom prst="ellipse">
            <a:avLst/>
          </a:prstGeom>
          <a:solidFill>
            <a:srgbClr val="FFFFFF"/>
          </a:solidFill>
          <a:ln w="12700">
            <a:solidFill>
              <a:srgbClr val="E6E6E6"/>
            </a:solidFill>
            <a:prstDash val="solid"/>
          </a:ln>
        </p:spPr>
      </p:sp>
      <p:sp>
        <p:nvSpPr>
          <p:cNvPr id="51" name="Text 49"/>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52" name="Shape 50"/>
          <p:cNvSpPr/>
          <p:nvPr/>
        </p:nvSpPr>
        <p:spPr>
          <a:xfrm>
            <a:off x="11148822" y="6464808"/>
            <a:ext cx="146304" cy="146304"/>
          </a:xfrm>
          <a:prstGeom prst="ellipse">
            <a:avLst/>
          </a:prstGeom>
          <a:solidFill>
            <a:srgbClr val="FF3B1F"/>
          </a:solidFill>
          <a:ln w="12700">
            <a:solidFill>
              <a:srgbClr val="FF3B1F"/>
            </a:solidFill>
            <a:prstDash val="solid"/>
          </a:ln>
        </p:spPr>
      </p:sp>
      <p:sp>
        <p:nvSpPr>
          <p:cNvPr id="53" name="Text 51"/>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D-24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第24問）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計算問題。前のスライドの公式で自分の手で計算してみる。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685800"/>
          </a:xfrm>
          <a:prstGeom prst="rect">
            <a:avLst/>
          </a:prstGeom>
          <a:noFill/>
          <a:ln/>
        </p:spPr>
        <p:txBody>
          <a:bodyPr wrap="square" lIns="0" tIns="0" rIns="0" bIns="0" rtlCol="0" anchor="ctr"/>
          <a:lstStyle/>
          <a:p>
            <a:pPr indent="0" marL="0">
              <a:lnSpc>
                <a:spcPct val="130000"/>
              </a:lnSpc>
              <a:buNone/>
            </a:pPr>
            <a:r>
              <a:rPr lang="en-US" sz="1250" dirty="0">
                <a:solidFill>
                  <a:srgbClr val="171717"/>
                </a:solidFill>
                <a:latin typeface="Yu Gothic" pitchFamily="34" charset="0"/>
                <a:ea typeface="Yu Gothic" pitchFamily="34" charset="-122"/>
                <a:cs typeface="Yu Gothic" pitchFamily="34" charset="-120"/>
              </a:rPr>
              <a:t>A市とB市の人口比がA：B＝3：8である場合、それぞれの市がその中間にあるX町からどの程度の購買力を吸引できるか、ライリー・モデルを用いて計算した。計算した結果、A市とB市の吸引力の比がA：B＝3：2のとき、X町からA市までの距離XAとX町からB市までの距離XBの比として、最も適切なものはどれか。</a:t>
            </a:r>
            <a:endParaRPr lang="en-US" sz="1250" dirty="0"/>
          </a:p>
        </p:txBody>
      </p:sp>
      <p:sp>
        <p:nvSpPr>
          <p:cNvPr id="9" name="Text 7"/>
          <p:cNvSpPr txBox="1"/>
          <p:nvPr/>
        </p:nvSpPr>
        <p:spPr>
          <a:xfrm>
            <a:off x="731520" y="246888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XA：XB＝1：4</a:t>
            </a:r>
            <a:endParaRPr lang="en-US" sz="1150" dirty="0"/>
          </a:p>
        </p:txBody>
      </p:sp>
      <p:sp>
        <p:nvSpPr>
          <p:cNvPr id="10" name="Text 8"/>
          <p:cNvSpPr txBox="1"/>
          <p:nvPr/>
        </p:nvSpPr>
        <p:spPr>
          <a:xfrm>
            <a:off x="731520" y="294436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XA：XB＝1：2</a:t>
            </a:r>
            <a:endParaRPr lang="en-US" sz="1150" dirty="0"/>
          </a:p>
        </p:txBody>
      </p:sp>
      <p:sp>
        <p:nvSpPr>
          <p:cNvPr id="11" name="Text 9"/>
          <p:cNvSpPr txBox="1"/>
          <p:nvPr/>
        </p:nvSpPr>
        <p:spPr>
          <a:xfrm>
            <a:off x="731520" y="341985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XA：XB＝1：1</a:t>
            </a:r>
            <a:endParaRPr lang="en-US" sz="1150" dirty="0"/>
          </a:p>
        </p:txBody>
      </p:sp>
      <p:sp>
        <p:nvSpPr>
          <p:cNvPr id="12" name="Text 10"/>
          <p:cNvSpPr txBox="1"/>
          <p:nvPr/>
        </p:nvSpPr>
        <p:spPr>
          <a:xfrm>
            <a:off x="731520" y="389534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XA：XB＝2：1</a:t>
            </a:r>
            <a:endParaRPr lang="en-US" sz="1150" dirty="0"/>
          </a:p>
        </p:txBody>
      </p:sp>
      <p:sp>
        <p:nvSpPr>
          <p:cNvPr id="13" name="Text 11"/>
          <p:cNvSpPr txBox="1"/>
          <p:nvPr/>
        </p:nvSpPr>
        <p:spPr>
          <a:xfrm>
            <a:off x="731520" y="437083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XA：XB＝4：1</a:t>
            </a:r>
            <a:endParaRPr lang="en-US" sz="1150" dirty="0"/>
          </a:p>
        </p:txBody>
      </p:sp>
      <p:sp>
        <p:nvSpPr>
          <p:cNvPr id="14" name="Text 12"/>
          <p:cNvSpPr txBox="1"/>
          <p:nvPr/>
        </p:nvSpPr>
        <p:spPr>
          <a:xfrm>
            <a:off x="502920" y="498348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出典：past_exams/1st_stage/1ji2025/D1JI2025.pdf（令和7年度第1次試験）第24問</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D-24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第24問）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正解はイ（1：2）。人口で劣るA市の方がX町に近い。</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731520" y="1737360"/>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ア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XA：XB＝1：4</a:t>
            </a:r>
            <a:endParaRPr lang="en-US" sz="1150" dirty="0"/>
          </a:p>
        </p:txBody>
      </p:sp>
      <p:sp>
        <p:nvSpPr>
          <p:cNvPr id="9" name="Shape 7"/>
          <p:cNvSpPr/>
          <p:nvPr/>
        </p:nvSpPr>
        <p:spPr>
          <a:xfrm>
            <a:off x="502920" y="2185416"/>
            <a:ext cx="11201400" cy="475488"/>
          </a:xfrm>
          <a:prstGeom prst="rect">
            <a:avLst/>
          </a:prstGeom>
          <a:solidFill>
            <a:srgbClr val="F4F4F4"/>
          </a:solidFill>
          <a:ln/>
        </p:spPr>
      </p:sp>
      <p:sp>
        <p:nvSpPr>
          <p:cNvPr id="10" name="Shape 8"/>
          <p:cNvSpPr/>
          <p:nvPr/>
        </p:nvSpPr>
        <p:spPr>
          <a:xfrm>
            <a:off x="502920" y="2185416"/>
            <a:ext cx="0" cy="475488"/>
          </a:xfrm>
          <a:prstGeom prst="line">
            <a:avLst/>
          </a:prstGeom>
          <a:noFill/>
          <a:ln w="38100">
            <a:solidFill>
              <a:srgbClr val="FF3B1F"/>
            </a:solidFill>
            <a:prstDash val="solid"/>
          </a:ln>
        </p:spPr>
      </p:sp>
      <p:sp>
        <p:nvSpPr>
          <p:cNvPr id="11" name="Text 9"/>
          <p:cNvSpPr txBox="1"/>
          <p:nvPr/>
        </p:nvSpPr>
        <p:spPr>
          <a:xfrm>
            <a:off x="731520" y="2212848"/>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FF3B1F"/>
                </a:solidFill>
                <a:latin typeface="Yu Gothic" pitchFamily="34" charset="0"/>
                <a:ea typeface="Yu Gothic" pitchFamily="34" charset="-122"/>
                <a:cs typeface="Yu Gothic" pitchFamily="34" charset="-120"/>
              </a:rPr>
              <a:t>イ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XA：XB＝1：2</a:t>
            </a:r>
            <a:endParaRPr lang="en-US" sz="1150" dirty="0"/>
          </a:p>
        </p:txBody>
      </p:sp>
      <p:sp>
        <p:nvSpPr>
          <p:cNvPr id="12" name="Text 10"/>
          <p:cNvSpPr txBox="1"/>
          <p:nvPr/>
        </p:nvSpPr>
        <p:spPr>
          <a:xfrm>
            <a:off x="731520" y="2688336"/>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ウ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XA：XB＝1：1</a:t>
            </a:r>
            <a:endParaRPr lang="en-US" sz="1150" dirty="0"/>
          </a:p>
        </p:txBody>
      </p:sp>
      <p:sp>
        <p:nvSpPr>
          <p:cNvPr id="13" name="Text 11"/>
          <p:cNvSpPr txBox="1"/>
          <p:nvPr/>
        </p:nvSpPr>
        <p:spPr>
          <a:xfrm>
            <a:off x="731520" y="3163824"/>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エ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XA：XB＝2：1</a:t>
            </a:r>
            <a:endParaRPr lang="en-US" sz="1150" dirty="0"/>
          </a:p>
        </p:txBody>
      </p:sp>
      <p:sp>
        <p:nvSpPr>
          <p:cNvPr id="14" name="Text 12"/>
          <p:cNvSpPr txBox="1"/>
          <p:nvPr/>
        </p:nvSpPr>
        <p:spPr>
          <a:xfrm>
            <a:off x="731520" y="3639312"/>
            <a:ext cx="10789920" cy="429768"/>
          </a:xfrm>
          <a:prstGeom prst="rect">
            <a:avLst/>
          </a:prstGeom>
          <a:noFill/>
          <a:ln/>
        </p:spPr>
        <p:txBody>
          <a:bodyPr wrap="square" lIns="0" tIns="0" rIns="0" bIns="0" rtlCol="0" anchor="ctr"/>
          <a:lstStyle/>
          <a:p>
            <a:pPr indent="0" marL="0">
              <a:lnSpc>
                <a:spcPct val="115000"/>
              </a:lnSpc>
              <a:buNone/>
            </a:pPr>
            <a:r>
              <a:rPr lang="en-US" sz="1150" b="1" dirty="0">
                <a:solidFill>
                  <a:srgbClr val="8A8A8A"/>
                </a:solidFill>
                <a:latin typeface="Yu Gothic" pitchFamily="34" charset="0"/>
                <a:ea typeface="Yu Gothic" pitchFamily="34" charset="-122"/>
                <a:cs typeface="Yu Gothic" pitchFamily="34" charset="-120"/>
              </a:rPr>
              <a:t>オ  </a:t>
            </a:r>
            <a:pPr indent="0" marL="0">
              <a:lnSpc>
                <a:spcPct val="115000"/>
              </a:lnSpc>
              <a:buNone/>
            </a:pPr>
            <a:r>
              <a:rPr lang="en-US" sz="1150" dirty="0">
                <a:solidFill>
                  <a:srgbClr val="171717"/>
                </a:solidFill>
                <a:latin typeface="Yu Gothic" pitchFamily="34" charset="0"/>
                <a:ea typeface="Yu Gothic" pitchFamily="34" charset="-122"/>
                <a:cs typeface="Yu Gothic" pitchFamily="34" charset="-120"/>
              </a:rPr>
              <a:t>XA：XB＝4：1</a:t>
            </a:r>
            <a:endParaRPr lang="en-US" sz="1150" dirty="0"/>
          </a:p>
        </p:txBody>
      </p:sp>
      <p:sp>
        <p:nvSpPr>
          <p:cNvPr id="15" name="Shape 13"/>
          <p:cNvSpPr/>
          <p:nvPr/>
        </p:nvSpPr>
        <p:spPr>
          <a:xfrm>
            <a:off x="502920" y="4187952"/>
            <a:ext cx="11201400" cy="0"/>
          </a:xfrm>
          <a:prstGeom prst="line">
            <a:avLst/>
          </a:prstGeom>
          <a:noFill/>
          <a:ln w="12700">
            <a:solidFill>
              <a:srgbClr val="171717"/>
            </a:solidFill>
            <a:prstDash val="solid"/>
          </a:ln>
        </p:spPr>
      </p:sp>
      <p:sp>
        <p:nvSpPr>
          <p:cNvPr id="16" name="Text 14"/>
          <p:cNvSpPr txBox="1"/>
          <p:nvPr/>
        </p:nvSpPr>
        <p:spPr>
          <a:xfrm>
            <a:off x="502920" y="4279392"/>
            <a:ext cx="11201400" cy="777240"/>
          </a:xfrm>
          <a:prstGeom prst="rect">
            <a:avLst/>
          </a:prstGeom>
          <a:noFill/>
          <a:ln/>
        </p:spPr>
        <p:txBody>
          <a:bodyPr wrap="square" lIns="0" tIns="0" rIns="0" bIns="0" rtlCol="0" anchor="ctr"/>
          <a:lstStyle/>
          <a:p>
            <a:pPr indent="0" marL="0">
              <a:lnSpc>
                <a:spcPct val="120000"/>
              </a:lnSpc>
              <a:buNone/>
            </a:pPr>
            <a:r>
              <a:rPr lang="en-US" sz="1050" b="1" dirty="0">
                <a:solidFill>
                  <a:srgbClr val="FF3B1F"/>
                </a:solidFill>
                <a:latin typeface="Yu Gothic" pitchFamily="34" charset="0"/>
                <a:ea typeface="Yu Gothic" pitchFamily="34" charset="-122"/>
                <a:cs typeface="Yu Gothic" pitchFamily="34" charset="-120"/>
              </a:rPr>
              <a:t>正解：イ（1：2）</a:t>
            </a:r>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。吸引力の比＝(人口A÷人口B)×(距離XB÷距離XA)²。3／2＝(3／8)×(XB／XA)²より、(XB／XA)²＝(3/2)÷(3/8)＝4→XB／XA＝2。よってXA：XB＝</a:t>
            </a:r>
            <a:pPr indent="0" marL="0">
              <a:lnSpc>
                <a:spcPct val="120000"/>
              </a:lnSpc>
              <a:buNone/>
            </a:pPr>
            <a:r>
              <a:rPr lang="en-US" sz="1050" b="1" dirty="0">
                <a:solidFill>
                  <a:srgbClr val="171717"/>
                </a:solidFill>
                <a:latin typeface="Yu Gothic" pitchFamily="34" charset="0"/>
                <a:ea typeface="Yu Gothic" pitchFamily="34" charset="-122"/>
                <a:cs typeface="Yu Gothic" pitchFamily="34" charset="-120"/>
              </a:rPr>
              <a:t>1：2</a:t>
            </a:r>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a:t>
            </a:r>
            <a:endParaRPr lang="en-US" sz="1050" dirty="0"/>
          </a:p>
        </p:txBody>
      </p:sp>
      <p:sp>
        <p:nvSpPr>
          <p:cNvPr id="17" name="Text 15"/>
          <p:cNvSpPr txBox="1"/>
          <p:nvPr/>
        </p:nvSpPr>
        <p:spPr>
          <a:xfrm>
            <a:off x="502920" y="5129784"/>
            <a:ext cx="11201400" cy="4572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人口で劣るA市がB市より吸引力で善戦する（3：2）には、A市の方がX町に近い位置（XA＜XB）である必要があり、計算結果と整合する。</a:t>
            </a:r>
            <a:endParaRPr lang="en-US" sz="850" dirty="0"/>
          </a:p>
        </p:txBody>
      </p:sp>
      <p:sp>
        <p:nvSpPr>
          <p:cNvPr id="18" name="Text 16"/>
          <p:cNvSpPr txBox="1"/>
          <p:nvPr/>
        </p:nvSpPr>
        <p:spPr>
          <a:xfrm>
            <a:off x="502920" y="5660136"/>
            <a:ext cx="11201400" cy="27432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関連知識：2都市の吸引力が等しくなる商圏分岐点を求める「コンバースの法則」もあわせて押さえるとよい。</a:t>
            </a:r>
            <a:endParaRPr lang="en-US" sz="1000" dirty="0"/>
          </a:p>
        </p:txBody>
      </p:sp>
      <p:sp>
        <p:nvSpPr>
          <p:cNvPr id="19" name="Text 17"/>
          <p:cNvSpPr txBox="1"/>
          <p:nvPr/>
        </p:nvSpPr>
        <p:spPr>
          <a:xfrm>
            <a:off x="502920" y="6007608"/>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出典：past_exams/1st_stage/1ji2025/D1JI2025.pdf（令和7年度第1次試験）第24問／正解：past_exams/1st_stage_answers/r07/d_v2_20250902.pdf</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D-25 ／ 商業集積と業種・業態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業種は「何を売るか」、業態は「どう売るか」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近年の小売業の変化は多くが「業態」の多様化として説明される。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56032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ショッピングセンター（SC）</a:t>
            </a:r>
            <a:endParaRPr lang="en-US" sz="1100" dirty="0"/>
          </a:p>
        </p:txBody>
      </p:sp>
      <p:sp>
        <p:nvSpPr>
          <p:cNvPr id="9" name="Shape 7"/>
          <p:cNvSpPr/>
          <p:nvPr/>
        </p:nvSpPr>
        <p:spPr>
          <a:xfrm>
            <a:off x="3044952" y="1691640"/>
            <a:ext cx="0" cy="256032"/>
          </a:xfrm>
          <a:prstGeom prst="line">
            <a:avLst/>
          </a:prstGeom>
          <a:noFill/>
          <a:ln w="12700">
            <a:solidFill>
              <a:srgbClr val="E6E6E6"/>
            </a:solidFill>
            <a:prstDash val="solid"/>
          </a:ln>
        </p:spPr>
      </p:sp>
      <p:sp>
        <p:nvSpPr>
          <p:cNvPr id="10" name="Text 8"/>
          <p:cNvSpPr txBox="1"/>
          <p:nvPr/>
        </p:nvSpPr>
        <p:spPr>
          <a:xfrm>
            <a:off x="3200400" y="1691640"/>
            <a:ext cx="850392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デベロッパーが計画的に開発・運営する複数テナント施設</a:t>
            </a:r>
            <a:endParaRPr lang="en-US" sz="1100" dirty="0"/>
          </a:p>
        </p:txBody>
      </p:sp>
      <p:sp>
        <p:nvSpPr>
          <p:cNvPr id="11" name="Text 9"/>
          <p:cNvSpPr txBox="1"/>
          <p:nvPr/>
        </p:nvSpPr>
        <p:spPr>
          <a:xfrm>
            <a:off x="502920" y="2075688"/>
            <a:ext cx="256032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商店街</a:t>
            </a:r>
            <a:endParaRPr lang="en-US" sz="1100" dirty="0"/>
          </a:p>
        </p:txBody>
      </p:sp>
      <p:sp>
        <p:nvSpPr>
          <p:cNvPr id="12" name="Shape 10"/>
          <p:cNvSpPr/>
          <p:nvPr/>
        </p:nvSpPr>
        <p:spPr>
          <a:xfrm>
            <a:off x="3044952" y="2075688"/>
            <a:ext cx="0" cy="256032"/>
          </a:xfrm>
          <a:prstGeom prst="line">
            <a:avLst/>
          </a:prstGeom>
          <a:noFill/>
          <a:ln w="12700">
            <a:solidFill>
              <a:srgbClr val="E6E6E6"/>
            </a:solidFill>
            <a:prstDash val="solid"/>
          </a:ln>
        </p:spPr>
      </p:sp>
      <p:sp>
        <p:nvSpPr>
          <p:cNvPr id="13" name="Text 11"/>
          <p:cNvSpPr txBox="1"/>
          <p:nvPr/>
        </p:nvSpPr>
        <p:spPr>
          <a:xfrm>
            <a:off x="3200400" y="2075688"/>
            <a:ext cx="850392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特定地域に自然発生的に形成された独立店舗の集まり</a:t>
            </a:r>
            <a:endParaRPr lang="en-US" sz="1100" dirty="0"/>
          </a:p>
        </p:txBody>
      </p:sp>
      <p:sp>
        <p:nvSpPr>
          <p:cNvPr id="14" name="Text 12"/>
          <p:cNvSpPr txBox="1"/>
          <p:nvPr/>
        </p:nvSpPr>
        <p:spPr>
          <a:xfrm>
            <a:off x="502920" y="2459736"/>
            <a:ext cx="256032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業種／業態</a:t>
            </a:r>
            <a:endParaRPr lang="en-US" sz="1100" dirty="0"/>
          </a:p>
        </p:txBody>
      </p:sp>
      <p:sp>
        <p:nvSpPr>
          <p:cNvPr id="15" name="Shape 13"/>
          <p:cNvSpPr/>
          <p:nvPr/>
        </p:nvSpPr>
        <p:spPr>
          <a:xfrm>
            <a:off x="3044952" y="2459736"/>
            <a:ext cx="0" cy="256032"/>
          </a:xfrm>
          <a:prstGeom prst="line">
            <a:avLst/>
          </a:prstGeom>
          <a:noFill/>
          <a:ln w="12700">
            <a:solidFill>
              <a:srgbClr val="E6E6E6"/>
            </a:solidFill>
            <a:prstDash val="solid"/>
          </a:ln>
        </p:spPr>
      </p:sp>
      <p:sp>
        <p:nvSpPr>
          <p:cNvPr id="16" name="Text 14"/>
          <p:cNvSpPr txBox="1"/>
          <p:nvPr/>
        </p:nvSpPr>
        <p:spPr>
          <a:xfrm>
            <a:off x="3200400" y="2459736"/>
            <a:ext cx="850392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何を売るか（酒屋・米屋）／どう売るか（コンビニ・専門店）</a:t>
            </a:r>
            <a:endParaRPr lang="en-US" sz="1100" dirty="0"/>
          </a:p>
        </p:txBody>
      </p:sp>
      <p:sp>
        <p:nvSpPr>
          <p:cNvPr id="17" name="Text 15"/>
          <p:cNvSpPr txBox="1"/>
          <p:nvPr/>
        </p:nvSpPr>
        <p:spPr>
          <a:xfrm>
            <a:off x="502920" y="2916936"/>
            <a:ext cx="11201400" cy="64008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電化製品を扱う町の個人商店（業種でいう「電器店」）と、同じ電化製品を扱う郊外型の家電量販店では、同じ商品を扱っていても品揃えの幅・価格戦略・接客方法が大きく異なり、後者は「ディスカウントストア」という業態として区別される。</a:t>
            </a:r>
            <a:endParaRPr lang="en-US" sz="850" dirty="0"/>
          </a:p>
        </p:txBody>
      </p:sp>
      <p:sp>
        <p:nvSpPr>
          <p:cNvPr id="18" name="Shape 16"/>
          <p:cNvSpPr/>
          <p:nvPr/>
        </p:nvSpPr>
        <p:spPr>
          <a:xfrm>
            <a:off x="502920" y="3630168"/>
            <a:ext cx="11201400" cy="0"/>
          </a:xfrm>
          <a:prstGeom prst="line">
            <a:avLst/>
          </a:prstGeom>
          <a:noFill/>
          <a:ln w="12700">
            <a:solidFill>
              <a:srgbClr val="E6E6E6"/>
            </a:solidFill>
            <a:prstDash val="solid"/>
          </a:ln>
        </p:spPr>
      </p:sp>
      <p:sp>
        <p:nvSpPr>
          <p:cNvPr id="19" name="Text 17"/>
          <p:cNvSpPr txBox="1"/>
          <p:nvPr/>
        </p:nvSpPr>
        <p:spPr>
          <a:xfrm>
            <a:off x="502920" y="3703320"/>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「業種」と「業態」を逆に覚えない。コンビニ・ドラッグストア・ネットスーパーの台頭は「業態」の多様化。</a:t>
            </a:r>
            <a:endParaRPr lang="en-US" sz="950" dirty="0"/>
          </a:p>
        </p:txBody>
      </p:sp>
      <p:sp>
        <p:nvSpPr>
          <p:cNvPr id="20" name="Shape 18"/>
          <p:cNvSpPr/>
          <p:nvPr/>
        </p:nvSpPr>
        <p:spPr>
          <a:xfrm>
            <a:off x="502920" y="5989320"/>
            <a:ext cx="11201400" cy="0"/>
          </a:xfrm>
          <a:prstGeom prst="line">
            <a:avLst/>
          </a:prstGeom>
          <a:noFill/>
          <a:ln w="9525">
            <a:solidFill>
              <a:srgbClr val="171717"/>
            </a:solidFill>
            <a:prstDash val="solid"/>
          </a:ln>
        </p:spPr>
      </p:sp>
      <p:sp>
        <p:nvSpPr>
          <p:cNvPr id="21" name="Shape 19"/>
          <p:cNvSpPr/>
          <p:nvPr/>
        </p:nvSpPr>
        <p:spPr>
          <a:xfrm>
            <a:off x="502920" y="6062472"/>
            <a:ext cx="329184" cy="329184"/>
          </a:xfrm>
          <a:prstGeom prst="ellipse">
            <a:avLst/>
          </a:prstGeom>
          <a:solidFill>
            <a:srgbClr val="FF3B1F"/>
          </a:solidFill>
          <a:ln/>
        </p:spPr>
      </p:sp>
      <p:sp>
        <p:nvSpPr>
          <p:cNvPr id="22" name="Text 20"/>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3" name="Text 21"/>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4" name="Shape 22"/>
          <p:cNvSpPr/>
          <p:nvPr/>
        </p:nvSpPr>
        <p:spPr>
          <a:xfrm>
            <a:off x="2331720" y="6062472"/>
            <a:ext cx="0" cy="329184"/>
          </a:xfrm>
          <a:prstGeom prst="line">
            <a:avLst/>
          </a:prstGeom>
          <a:noFill/>
          <a:ln w="12700">
            <a:solidFill>
              <a:srgbClr val="E6E6E6"/>
            </a:solidFill>
            <a:prstDash val="solid"/>
          </a:ln>
        </p:spPr>
      </p:sp>
      <p:sp>
        <p:nvSpPr>
          <p:cNvPr id="25" name="Text 23"/>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関連：D-26 商品販売計画（業態ごとに品揃えの幅・奥行きが変わる）。</a:t>
            </a:r>
            <a:endParaRPr lang="en-US" sz="1000" dirty="0"/>
          </a:p>
        </p:txBody>
      </p:sp>
      <p:sp>
        <p:nvSpPr>
          <p:cNvPr id="26" name="Text 24"/>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7" name="Shape 25"/>
          <p:cNvSpPr/>
          <p:nvPr/>
        </p:nvSpPr>
        <p:spPr>
          <a:xfrm>
            <a:off x="2466594" y="6464808"/>
            <a:ext cx="146304" cy="146304"/>
          </a:xfrm>
          <a:prstGeom prst="ellipse">
            <a:avLst/>
          </a:prstGeom>
          <a:solidFill>
            <a:srgbClr val="FFFFFF"/>
          </a:solidFill>
          <a:ln w="12700">
            <a:solidFill>
              <a:srgbClr val="E6E6E6"/>
            </a:solidFill>
            <a:prstDash val="solid"/>
          </a:ln>
        </p:spPr>
      </p:sp>
      <p:sp>
        <p:nvSpPr>
          <p:cNvPr id="28" name="Text 26"/>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'16</a:t>
            </a:r>
            <a:endParaRPr lang="en-US" sz="800" dirty="0"/>
          </a:p>
        </p:txBody>
      </p:sp>
      <p:sp>
        <p:nvSpPr>
          <p:cNvPr id="29" name="Shape 27"/>
          <p:cNvSpPr/>
          <p:nvPr/>
        </p:nvSpPr>
        <p:spPr>
          <a:xfrm>
            <a:off x="3431286"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1" name="Shape 29"/>
          <p:cNvSpPr/>
          <p:nvPr/>
        </p:nvSpPr>
        <p:spPr>
          <a:xfrm>
            <a:off x="4395978"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3" name="Shape 31"/>
          <p:cNvSpPr/>
          <p:nvPr/>
        </p:nvSpPr>
        <p:spPr>
          <a:xfrm>
            <a:off x="5360670"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5" name="Shape 33"/>
          <p:cNvSpPr/>
          <p:nvPr/>
        </p:nvSpPr>
        <p:spPr>
          <a:xfrm>
            <a:off x="6325362"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7" name="Shape 35"/>
          <p:cNvSpPr/>
          <p:nvPr/>
        </p:nvSpPr>
        <p:spPr>
          <a:xfrm>
            <a:off x="7290054"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9" name="Shape 37"/>
          <p:cNvSpPr/>
          <p:nvPr/>
        </p:nvSpPr>
        <p:spPr>
          <a:xfrm>
            <a:off x="8254746"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1" name="Shape 39"/>
          <p:cNvSpPr/>
          <p:nvPr/>
        </p:nvSpPr>
        <p:spPr>
          <a:xfrm>
            <a:off x="9219438"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3" name="Shape 41"/>
          <p:cNvSpPr/>
          <p:nvPr/>
        </p:nvSpPr>
        <p:spPr>
          <a:xfrm>
            <a:off x="10184130"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5" name="Shape 43"/>
          <p:cNvSpPr/>
          <p:nvPr/>
        </p:nvSpPr>
        <p:spPr>
          <a:xfrm>
            <a:off x="11148822"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D-26 ／ 商品販売計画</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「幅」と「奥行き」は別の軸</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マーチャンダイジング＝何を・どれだけ・いつ・いくらで仕入れて売るかの計画。</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82880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幅</a:t>
            </a:r>
            <a:endParaRPr lang="en-US" sz="1100" dirty="0"/>
          </a:p>
        </p:txBody>
      </p:sp>
      <p:sp>
        <p:nvSpPr>
          <p:cNvPr id="9" name="Shape 7"/>
          <p:cNvSpPr/>
          <p:nvPr/>
        </p:nvSpPr>
        <p:spPr>
          <a:xfrm>
            <a:off x="2313432" y="1691640"/>
            <a:ext cx="0" cy="256032"/>
          </a:xfrm>
          <a:prstGeom prst="line">
            <a:avLst/>
          </a:prstGeom>
          <a:noFill/>
          <a:ln w="12700">
            <a:solidFill>
              <a:srgbClr val="E6E6E6"/>
            </a:solidFill>
            <a:prstDash val="solid"/>
          </a:ln>
        </p:spPr>
      </p:sp>
      <p:sp>
        <p:nvSpPr>
          <p:cNvPr id="10" name="Text 8"/>
          <p:cNvSpPr txBox="1"/>
          <p:nvPr/>
        </p:nvSpPr>
        <p:spPr>
          <a:xfrm>
            <a:off x="2468880" y="1691640"/>
            <a:ext cx="923544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取り扱う商品カテゴリーの多さ（例：コンビニは幅広い）</a:t>
            </a:r>
            <a:endParaRPr lang="en-US" sz="1100" dirty="0"/>
          </a:p>
        </p:txBody>
      </p:sp>
      <p:sp>
        <p:nvSpPr>
          <p:cNvPr id="11" name="Text 9"/>
          <p:cNvSpPr txBox="1"/>
          <p:nvPr/>
        </p:nvSpPr>
        <p:spPr>
          <a:xfrm>
            <a:off x="502920" y="2075688"/>
            <a:ext cx="182880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奥行き（深さ）</a:t>
            </a:r>
            <a:endParaRPr lang="en-US" sz="1100" dirty="0"/>
          </a:p>
        </p:txBody>
      </p:sp>
      <p:sp>
        <p:nvSpPr>
          <p:cNvPr id="12" name="Shape 10"/>
          <p:cNvSpPr/>
          <p:nvPr/>
        </p:nvSpPr>
        <p:spPr>
          <a:xfrm>
            <a:off x="2313432" y="2075688"/>
            <a:ext cx="0" cy="256032"/>
          </a:xfrm>
          <a:prstGeom prst="line">
            <a:avLst/>
          </a:prstGeom>
          <a:noFill/>
          <a:ln w="12700">
            <a:solidFill>
              <a:srgbClr val="E6E6E6"/>
            </a:solidFill>
            <a:prstDash val="solid"/>
          </a:ln>
        </p:spPr>
      </p:sp>
      <p:sp>
        <p:nvSpPr>
          <p:cNvPr id="13" name="Text 11"/>
          <p:cNvSpPr txBox="1"/>
          <p:nvPr/>
        </p:nvSpPr>
        <p:spPr>
          <a:xfrm>
            <a:off x="2468880" y="2075688"/>
            <a:ext cx="923544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1カテゴリー内のバリエーションの豊富さ（例：専門店は奥行きが深い）</a:t>
            </a:r>
            <a:endParaRPr lang="en-US" sz="1100" dirty="0"/>
          </a:p>
        </p:txBody>
      </p:sp>
      <p:sp>
        <p:nvSpPr>
          <p:cNvPr id="14" name="Text 12"/>
          <p:cNvSpPr txBox="1"/>
          <p:nvPr/>
        </p:nvSpPr>
        <p:spPr>
          <a:xfrm>
            <a:off x="502920" y="2551176"/>
            <a:ext cx="11201400" cy="713232"/>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コンビニは食品・日用品・雑誌など幅広く（幅が広い）、各カテゴリー内の品目数は絞る。スポーツ用品専門店は幅は狭いが、1競技用品のブランド・モデル数（奥行き）は豊富。</a:t>
            </a:r>
            <a:endParaRPr lang="en-US" sz="850" dirty="0"/>
          </a:p>
        </p:txBody>
      </p:sp>
      <p:sp>
        <p:nvSpPr>
          <p:cNvPr id="15" name="Shape 13"/>
          <p:cNvSpPr/>
          <p:nvPr/>
        </p:nvSpPr>
        <p:spPr>
          <a:xfrm>
            <a:off x="502920" y="3337560"/>
            <a:ext cx="11201400" cy="0"/>
          </a:xfrm>
          <a:prstGeom prst="line">
            <a:avLst/>
          </a:prstGeom>
          <a:noFill/>
          <a:ln w="12700">
            <a:solidFill>
              <a:srgbClr val="E6E6E6"/>
            </a:solidFill>
            <a:prstDash val="solid"/>
          </a:ln>
        </p:spPr>
      </p:sp>
      <p:sp>
        <p:nvSpPr>
          <p:cNvPr id="16" name="Text 14"/>
          <p:cNvSpPr txBox="1"/>
          <p:nvPr/>
        </p:nvSpPr>
        <p:spPr>
          <a:xfrm>
            <a:off x="502920" y="3410712"/>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「品揃えが多いか少ないか」の1軸で捉えない。幅と奥行きは別の軸で店舗の戦略的性格を表す。</a:t>
            </a:r>
            <a:endParaRPr lang="en-US" sz="950" dirty="0"/>
          </a:p>
        </p:txBody>
      </p:sp>
      <p:sp>
        <p:nvSpPr>
          <p:cNvPr id="17" name="Shape 15"/>
          <p:cNvSpPr/>
          <p:nvPr/>
        </p:nvSpPr>
        <p:spPr>
          <a:xfrm>
            <a:off x="502920" y="5989320"/>
            <a:ext cx="11201400" cy="0"/>
          </a:xfrm>
          <a:prstGeom prst="line">
            <a:avLst/>
          </a:prstGeom>
          <a:noFill/>
          <a:ln w="9525">
            <a:solidFill>
              <a:srgbClr val="171717"/>
            </a:solidFill>
            <a:prstDash val="solid"/>
          </a:ln>
        </p:spPr>
      </p:sp>
      <p:sp>
        <p:nvSpPr>
          <p:cNvPr id="18" name="Shape 16"/>
          <p:cNvSpPr/>
          <p:nvPr/>
        </p:nvSpPr>
        <p:spPr>
          <a:xfrm>
            <a:off x="502920" y="6062472"/>
            <a:ext cx="329184" cy="329184"/>
          </a:xfrm>
          <a:prstGeom prst="ellipse">
            <a:avLst/>
          </a:prstGeom>
          <a:solidFill>
            <a:srgbClr val="FF3B1F"/>
          </a:solidFill>
          <a:ln/>
        </p:spPr>
      </p:sp>
      <p:sp>
        <p:nvSpPr>
          <p:cNvPr id="19" name="Text 17"/>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0" name="Text 18"/>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1" name="Shape 19"/>
          <p:cNvSpPr/>
          <p:nvPr/>
        </p:nvSpPr>
        <p:spPr>
          <a:xfrm>
            <a:off x="2331720" y="6062472"/>
            <a:ext cx="0" cy="329184"/>
          </a:xfrm>
          <a:prstGeom prst="line">
            <a:avLst/>
          </a:prstGeom>
          <a:noFill/>
          <a:ln w="12700">
            <a:solidFill>
              <a:srgbClr val="E6E6E6"/>
            </a:solidFill>
            <a:prstDash val="solid"/>
          </a:ln>
        </p:spPr>
      </p:sp>
      <p:sp>
        <p:nvSpPr>
          <p:cNvPr id="22" name="Text 20"/>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関連：D-28 売場構成・陳列（VMDによる商品の見せ方）。</a:t>
            </a:r>
            <a:endParaRPr lang="en-US" sz="1000" dirty="0"/>
          </a:p>
        </p:txBody>
      </p:sp>
      <p:sp>
        <p:nvSpPr>
          <p:cNvPr id="23" name="Text 21"/>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4" name="Shape 22"/>
          <p:cNvSpPr/>
          <p:nvPr/>
        </p:nvSpPr>
        <p:spPr>
          <a:xfrm>
            <a:off x="2466594" y="6464808"/>
            <a:ext cx="146304" cy="146304"/>
          </a:xfrm>
          <a:prstGeom prst="ellipse">
            <a:avLst/>
          </a:prstGeom>
          <a:solidFill>
            <a:srgbClr val="FF3B1F"/>
          </a:solidFill>
          <a:ln w="12700">
            <a:solidFill>
              <a:srgbClr val="FF3B1F"/>
            </a:solidFill>
            <a:prstDash val="solid"/>
          </a:ln>
        </p:spPr>
      </p:sp>
      <p:sp>
        <p:nvSpPr>
          <p:cNvPr id="25" name="Text 23"/>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6" name="Shape 24"/>
          <p:cNvSpPr/>
          <p:nvPr/>
        </p:nvSpPr>
        <p:spPr>
          <a:xfrm>
            <a:off x="3431286" y="6464808"/>
            <a:ext cx="146304" cy="146304"/>
          </a:xfrm>
          <a:prstGeom prst="ellipse">
            <a:avLst/>
          </a:prstGeom>
          <a:solidFill>
            <a:srgbClr val="FF3B1F"/>
          </a:solidFill>
          <a:ln w="12700">
            <a:solidFill>
              <a:srgbClr val="FF3B1F"/>
            </a:solidFill>
            <a:prstDash val="solid"/>
          </a:ln>
        </p:spPr>
      </p:sp>
      <p:sp>
        <p:nvSpPr>
          <p:cNvPr id="27" name="Text 25"/>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28" name="Shape 26"/>
          <p:cNvSpPr/>
          <p:nvPr/>
        </p:nvSpPr>
        <p:spPr>
          <a:xfrm>
            <a:off x="4395978" y="6464808"/>
            <a:ext cx="146304" cy="146304"/>
          </a:xfrm>
          <a:prstGeom prst="ellipse">
            <a:avLst/>
          </a:prstGeom>
          <a:solidFill>
            <a:srgbClr val="FF3B1F"/>
          </a:solidFill>
          <a:ln w="12700">
            <a:solidFill>
              <a:srgbClr val="FF3B1F"/>
            </a:solidFill>
            <a:prstDash val="solid"/>
          </a:ln>
        </p:spPr>
      </p:sp>
      <p:sp>
        <p:nvSpPr>
          <p:cNvPr id="29" name="Text 27"/>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0" name="Shape 28"/>
          <p:cNvSpPr/>
          <p:nvPr/>
        </p:nvSpPr>
        <p:spPr>
          <a:xfrm>
            <a:off x="5360670"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2" name="Shape 30"/>
          <p:cNvSpPr/>
          <p:nvPr/>
        </p:nvSpPr>
        <p:spPr>
          <a:xfrm>
            <a:off x="6325362"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4" name="Shape 32"/>
          <p:cNvSpPr/>
          <p:nvPr/>
        </p:nvSpPr>
        <p:spPr>
          <a:xfrm>
            <a:off x="7290054"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6" name="Shape 34"/>
          <p:cNvSpPr/>
          <p:nvPr/>
        </p:nvSpPr>
        <p:spPr>
          <a:xfrm>
            <a:off x="8254746"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38" name="Shape 36"/>
          <p:cNvSpPr/>
          <p:nvPr/>
        </p:nvSpPr>
        <p:spPr>
          <a:xfrm>
            <a:off x="9219438"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0" name="Shape 38"/>
          <p:cNvSpPr/>
          <p:nvPr/>
        </p:nvSpPr>
        <p:spPr>
          <a:xfrm>
            <a:off x="10184130"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2" name="Shape 40"/>
          <p:cNvSpPr/>
          <p:nvPr/>
        </p:nvSpPr>
        <p:spPr>
          <a:xfrm>
            <a:off x="11148822"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D-27 ／ 商品調達・取引条件</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消化仕入は「売れた時点」で仕入が成立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在庫リスクを仕入先側が負う特殊な仕入形態。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92808"/>
            <a:ext cx="23774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随時仕入</a:t>
            </a:r>
            <a:endParaRPr lang="en-US" sz="1500" dirty="0"/>
          </a:p>
        </p:txBody>
      </p:sp>
      <p:sp>
        <p:nvSpPr>
          <p:cNvPr id="9" name="Text 7"/>
          <p:cNvSpPr txBox="1"/>
          <p:nvPr/>
        </p:nvSpPr>
        <p:spPr>
          <a:xfrm>
            <a:off x="2971800" y="1856232"/>
            <a:ext cx="873252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必要な都度、その時の状況に応じて仕入れる</a:t>
            </a:r>
            <a:endParaRPr lang="en-US" sz="1100" dirty="0"/>
          </a:p>
        </p:txBody>
      </p:sp>
      <p:sp>
        <p:nvSpPr>
          <p:cNvPr id="10" name="Shape 8"/>
          <p:cNvSpPr/>
          <p:nvPr/>
        </p:nvSpPr>
        <p:spPr>
          <a:xfrm>
            <a:off x="502920" y="2880360"/>
            <a:ext cx="11201400" cy="0"/>
          </a:xfrm>
          <a:prstGeom prst="line">
            <a:avLst/>
          </a:prstGeom>
          <a:noFill/>
          <a:ln w="12700">
            <a:solidFill>
              <a:srgbClr val="E6E6E6"/>
            </a:solidFill>
            <a:prstDash val="solid"/>
          </a:ln>
        </p:spPr>
      </p:sp>
      <p:sp>
        <p:nvSpPr>
          <p:cNvPr id="11" name="Text 9"/>
          <p:cNvSpPr txBox="1"/>
          <p:nvPr/>
        </p:nvSpPr>
        <p:spPr>
          <a:xfrm>
            <a:off x="502920" y="2990088"/>
            <a:ext cx="23774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一括大量仕入</a:t>
            </a:r>
            <a:endParaRPr lang="en-US" sz="1500" dirty="0"/>
          </a:p>
        </p:txBody>
      </p:sp>
      <p:sp>
        <p:nvSpPr>
          <p:cNvPr id="12" name="Text 10"/>
          <p:cNvSpPr txBox="1"/>
          <p:nvPr/>
        </p:nvSpPr>
        <p:spPr>
          <a:xfrm>
            <a:off x="2971800" y="2953512"/>
            <a:ext cx="873252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まとめて大量仕入で単価を下げる（在庫リスク増）</a:t>
            </a:r>
            <a:endParaRPr lang="en-US" sz="1100" dirty="0"/>
          </a:p>
        </p:txBody>
      </p:sp>
      <p:sp>
        <p:nvSpPr>
          <p:cNvPr id="13" name="Shape 11"/>
          <p:cNvSpPr/>
          <p:nvPr/>
        </p:nvSpPr>
        <p:spPr>
          <a:xfrm>
            <a:off x="502920" y="3977640"/>
            <a:ext cx="11201400" cy="0"/>
          </a:xfrm>
          <a:prstGeom prst="line">
            <a:avLst/>
          </a:prstGeom>
          <a:noFill/>
          <a:ln w="12700">
            <a:solidFill>
              <a:srgbClr val="E6E6E6"/>
            </a:solidFill>
            <a:prstDash val="solid"/>
          </a:ln>
        </p:spPr>
      </p:sp>
      <p:sp>
        <p:nvSpPr>
          <p:cNvPr id="14" name="Text 12"/>
          <p:cNvSpPr txBox="1"/>
          <p:nvPr/>
        </p:nvSpPr>
        <p:spPr>
          <a:xfrm>
            <a:off x="502920" y="4087368"/>
            <a:ext cx="237744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消化（売上）仕入</a:t>
            </a:r>
            <a:endParaRPr lang="en-US" sz="1500" dirty="0"/>
          </a:p>
        </p:txBody>
      </p:sp>
      <p:sp>
        <p:nvSpPr>
          <p:cNvPr id="15" name="Text 13"/>
          <p:cNvSpPr txBox="1"/>
          <p:nvPr/>
        </p:nvSpPr>
        <p:spPr>
          <a:xfrm>
            <a:off x="2971800" y="4050792"/>
            <a:ext cx="873252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店頭商品が実際に売れた時点で仕入が成立（百貨店等）</a:t>
            </a:r>
            <a:endParaRPr lang="en-US" sz="1100" dirty="0"/>
          </a:p>
        </p:txBody>
      </p:sp>
      <p:sp>
        <p:nvSpPr>
          <p:cNvPr id="16" name="Text 14"/>
          <p:cNvSpPr txBox="1"/>
          <p:nvPr/>
        </p:nvSpPr>
        <p:spPr>
          <a:xfrm>
            <a:off x="502920" y="5184648"/>
            <a:ext cx="11201400" cy="59436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百貨店K社のアパレル売場では、店頭に並べた商品の所有権を売れるまで仕入先に残す「消化仕入」を採用しており、商品が実際に売れた時点で初めて仕入が成立する。百貨店側は在庫リスクを負わずに幅広い品揃えを実現できる。</a:t>
            </a:r>
            <a:endParaRPr lang="en-US" sz="850" dirty="0"/>
          </a:p>
        </p:txBody>
      </p:sp>
      <p:sp>
        <p:nvSpPr>
          <p:cNvPr id="17" name="Shape 15"/>
          <p:cNvSpPr/>
          <p:nvPr/>
        </p:nvSpPr>
        <p:spPr>
          <a:xfrm>
            <a:off x="502920" y="5989320"/>
            <a:ext cx="11201400" cy="0"/>
          </a:xfrm>
          <a:prstGeom prst="line">
            <a:avLst/>
          </a:prstGeom>
          <a:noFill/>
          <a:ln w="9525">
            <a:solidFill>
              <a:srgbClr val="171717"/>
            </a:solidFill>
            <a:prstDash val="solid"/>
          </a:ln>
        </p:spPr>
      </p:sp>
      <p:sp>
        <p:nvSpPr>
          <p:cNvPr id="18" name="Shape 16"/>
          <p:cNvSpPr/>
          <p:nvPr/>
        </p:nvSpPr>
        <p:spPr>
          <a:xfrm>
            <a:off x="502920" y="6062472"/>
            <a:ext cx="329184" cy="329184"/>
          </a:xfrm>
          <a:prstGeom prst="ellipse">
            <a:avLst/>
          </a:prstGeom>
          <a:solidFill>
            <a:srgbClr val="FF3B1F"/>
          </a:solidFill>
          <a:ln/>
        </p:spPr>
      </p:sp>
      <p:sp>
        <p:nvSpPr>
          <p:cNvPr id="19" name="Text 17"/>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B</a:t>
            </a:r>
            <a:endParaRPr lang="en-US" sz="1300" dirty="0"/>
          </a:p>
        </p:txBody>
      </p:sp>
      <p:sp>
        <p:nvSpPr>
          <p:cNvPr id="20" name="Text 18"/>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直近10年で2回出題</a:t>
            </a:r>
            <a:endParaRPr lang="en-US" sz="1050" dirty="0"/>
          </a:p>
        </p:txBody>
      </p:sp>
      <p:sp>
        <p:nvSpPr>
          <p:cNvPr id="21" name="Shape 19"/>
          <p:cNvSpPr/>
          <p:nvPr/>
        </p:nvSpPr>
        <p:spPr>
          <a:xfrm>
            <a:off x="2331720" y="6062472"/>
            <a:ext cx="0" cy="329184"/>
          </a:xfrm>
          <a:prstGeom prst="line">
            <a:avLst/>
          </a:prstGeom>
          <a:noFill/>
          <a:ln w="12700">
            <a:solidFill>
              <a:srgbClr val="E6E6E6"/>
            </a:solidFill>
            <a:prstDash val="solid"/>
          </a:ln>
        </p:spPr>
      </p:sp>
      <p:sp>
        <p:nvSpPr>
          <p:cNvPr id="22" name="Text 20"/>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ひっかけ：「店頭に並べた時点で仕入成立」は誤り。実際に販売された時点で成立する。</a:t>
            </a:r>
            <a:endParaRPr lang="en-US" sz="1000" dirty="0"/>
          </a:p>
        </p:txBody>
      </p:sp>
      <p:sp>
        <p:nvSpPr>
          <p:cNvPr id="23" name="Text 21"/>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4" name="Shape 22"/>
          <p:cNvSpPr/>
          <p:nvPr/>
        </p:nvSpPr>
        <p:spPr>
          <a:xfrm>
            <a:off x="2466594" y="6464808"/>
            <a:ext cx="146304" cy="146304"/>
          </a:xfrm>
          <a:prstGeom prst="ellipse">
            <a:avLst/>
          </a:prstGeom>
          <a:solidFill>
            <a:srgbClr val="FF3B1F"/>
          </a:solidFill>
          <a:ln w="12700">
            <a:solidFill>
              <a:srgbClr val="FF3B1F"/>
            </a:solidFill>
            <a:prstDash val="solid"/>
          </a:ln>
        </p:spPr>
      </p:sp>
      <p:sp>
        <p:nvSpPr>
          <p:cNvPr id="25" name="Text 23"/>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6" name="Shape 24"/>
          <p:cNvSpPr/>
          <p:nvPr/>
        </p:nvSpPr>
        <p:spPr>
          <a:xfrm>
            <a:off x="3431286" y="6464808"/>
            <a:ext cx="146304" cy="146304"/>
          </a:xfrm>
          <a:prstGeom prst="ellipse">
            <a:avLst/>
          </a:prstGeom>
          <a:solidFill>
            <a:srgbClr val="FFFFFF"/>
          </a:solidFill>
          <a:ln w="12700">
            <a:solidFill>
              <a:srgbClr val="E6E6E6"/>
            </a:solidFill>
            <a:prstDash val="solid"/>
          </a:ln>
        </p:spPr>
      </p:sp>
      <p:sp>
        <p:nvSpPr>
          <p:cNvPr id="27" name="Text 25"/>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'17</a:t>
            </a:r>
            <a:endParaRPr lang="en-US" sz="800" dirty="0"/>
          </a:p>
        </p:txBody>
      </p:sp>
      <p:sp>
        <p:nvSpPr>
          <p:cNvPr id="28" name="Shape 26"/>
          <p:cNvSpPr/>
          <p:nvPr/>
        </p:nvSpPr>
        <p:spPr>
          <a:xfrm>
            <a:off x="4395978" y="6464808"/>
            <a:ext cx="146304" cy="146304"/>
          </a:xfrm>
          <a:prstGeom prst="ellipse">
            <a:avLst/>
          </a:prstGeom>
          <a:solidFill>
            <a:srgbClr val="FFFFFF"/>
          </a:solidFill>
          <a:ln w="12700">
            <a:solidFill>
              <a:srgbClr val="E6E6E6"/>
            </a:solidFill>
            <a:prstDash val="solid"/>
          </a:ln>
        </p:spPr>
      </p:sp>
      <p:sp>
        <p:nvSpPr>
          <p:cNvPr id="29" name="Text 27"/>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'18</a:t>
            </a:r>
            <a:endParaRPr lang="en-US" sz="800" dirty="0"/>
          </a:p>
        </p:txBody>
      </p:sp>
      <p:sp>
        <p:nvSpPr>
          <p:cNvPr id="30" name="Shape 28"/>
          <p:cNvSpPr/>
          <p:nvPr/>
        </p:nvSpPr>
        <p:spPr>
          <a:xfrm>
            <a:off x="5360670"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2" name="Shape 30"/>
          <p:cNvSpPr/>
          <p:nvPr/>
        </p:nvSpPr>
        <p:spPr>
          <a:xfrm>
            <a:off x="6325362" y="6464808"/>
            <a:ext cx="146304" cy="146304"/>
          </a:xfrm>
          <a:prstGeom prst="ellipse">
            <a:avLst/>
          </a:prstGeom>
          <a:solidFill>
            <a:srgbClr val="FFFFFF"/>
          </a:solidFill>
          <a:ln w="12700">
            <a:solidFill>
              <a:srgbClr val="E6E6E6"/>
            </a:solidFill>
            <a:prstDash val="solid"/>
          </a:ln>
        </p:spPr>
      </p:sp>
      <p:sp>
        <p:nvSpPr>
          <p:cNvPr id="33" name="Text 31"/>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'20</a:t>
            </a:r>
            <a:endParaRPr lang="en-US" sz="800" dirty="0"/>
          </a:p>
        </p:txBody>
      </p:sp>
      <p:sp>
        <p:nvSpPr>
          <p:cNvPr id="34" name="Shape 32"/>
          <p:cNvSpPr/>
          <p:nvPr/>
        </p:nvSpPr>
        <p:spPr>
          <a:xfrm>
            <a:off x="7290054" y="6464808"/>
            <a:ext cx="146304" cy="146304"/>
          </a:xfrm>
          <a:prstGeom prst="ellipse">
            <a:avLst/>
          </a:prstGeom>
          <a:solidFill>
            <a:srgbClr val="FFFFFF"/>
          </a:solidFill>
          <a:ln w="12700">
            <a:solidFill>
              <a:srgbClr val="E6E6E6"/>
            </a:solidFill>
            <a:prstDash val="solid"/>
          </a:ln>
        </p:spPr>
      </p:sp>
      <p:sp>
        <p:nvSpPr>
          <p:cNvPr id="35" name="Text 33"/>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6" name="Shape 34"/>
          <p:cNvSpPr/>
          <p:nvPr/>
        </p:nvSpPr>
        <p:spPr>
          <a:xfrm>
            <a:off x="8254746" y="6464808"/>
            <a:ext cx="146304" cy="146304"/>
          </a:xfrm>
          <a:prstGeom prst="ellipse">
            <a:avLst/>
          </a:prstGeom>
          <a:solidFill>
            <a:srgbClr val="FFFFFF"/>
          </a:solidFill>
          <a:ln w="12700">
            <a:solidFill>
              <a:srgbClr val="E6E6E6"/>
            </a:solidFill>
            <a:prstDash val="solid"/>
          </a:ln>
        </p:spPr>
      </p:sp>
      <p:sp>
        <p:nvSpPr>
          <p:cNvPr id="37" name="Text 35"/>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38" name="Shape 36"/>
          <p:cNvSpPr/>
          <p:nvPr/>
        </p:nvSpPr>
        <p:spPr>
          <a:xfrm>
            <a:off x="9219438" y="6464808"/>
            <a:ext cx="146304" cy="146304"/>
          </a:xfrm>
          <a:prstGeom prst="ellipse">
            <a:avLst/>
          </a:prstGeom>
          <a:solidFill>
            <a:srgbClr val="FFFFFF"/>
          </a:solidFill>
          <a:ln w="12700">
            <a:solidFill>
              <a:srgbClr val="E6E6E6"/>
            </a:solidFill>
            <a:prstDash val="solid"/>
          </a:ln>
        </p:spPr>
      </p:sp>
      <p:sp>
        <p:nvSpPr>
          <p:cNvPr id="39" name="Text 37"/>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0" name="Shape 38"/>
          <p:cNvSpPr/>
          <p:nvPr/>
        </p:nvSpPr>
        <p:spPr>
          <a:xfrm>
            <a:off x="10184130" y="6464808"/>
            <a:ext cx="146304" cy="146304"/>
          </a:xfrm>
          <a:prstGeom prst="ellipse">
            <a:avLst/>
          </a:prstGeom>
          <a:solidFill>
            <a:srgbClr val="FFFFFF"/>
          </a:solidFill>
          <a:ln w="12700">
            <a:solidFill>
              <a:srgbClr val="E6E6E6"/>
            </a:solidFill>
            <a:prstDash val="solid"/>
          </a:ln>
        </p:spPr>
      </p:sp>
      <p:sp>
        <p:nvSpPr>
          <p:cNvPr id="41" name="Text 39"/>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'24</a:t>
            </a:r>
            <a:endParaRPr lang="en-US" sz="800" dirty="0"/>
          </a:p>
        </p:txBody>
      </p:sp>
      <p:sp>
        <p:nvSpPr>
          <p:cNvPr id="42" name="Shape 40"/>
          <p:cNvSpPr/>
          <p:nvPr/>
        </p:nvSpPr>
        <p:spPr>
          <a:xfrm>
            <a:off x="11148822" y="6464808"/>
            <a:ext cx="146304" cy="146304"/>
          </a:xfrm>
          <a:prstGeom prst="ellipse">
            <a:avLst/>
          </a:prstGeom>
          <a:solidFill>
            <a:srgbClr val="FFFFFF"/>
          </a:solidFill>
          <a:ln w="12700">
            <a:solidFill>
              <a:srgbClr val="E6E6E6"/>
            </a:solidFill>
            <a:prstDash val="solid"/>
          </a:ln>
        </p:spPr>
      </p:sp>
      <p:sp>
        <p:nvSpPr>
          <p:cNvPr id="43" name="Text 41"/>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D-28 ／ 売場構成・陳列（VMD、棚割り）</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VP→PP→IPで大きさが変わる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店舗全体・コーナー・個々の商品という3階層で視覚的に演出する。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92808"/>
            <a:ext cx="10972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VP</a:t>
            </a:r>
            <a:endParaRPr lang="en-US" sz="1500" dirty="0"/>
          </a:p>
        </p:txBody>
      </p:sp>
      <p:sp>
        <p:nvSpPr>
          <p:cNvPr id="9" name="Text 7"/>
          <p:cNvSpPr txBox="1"/>
          <p:nvPr/>
        </p:nvSpPr>
        <p:spPr>
          <a:xfrm>
            <a:off x="1691640" y="1911096"/>
            <a:ext cx="265176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Visual Presentation</a:t>
            </a:r>
            <a:endParaRPr lang="en-US" sz="1100" dirty="0"/>
          </a:p>
        </p:txBody>
      </p:sp>
      <p:sp>
        <p:nvSpPr>
          <p:cNvPr id="10" name="Text 8"/>
          <p:cNvSpPr txBox="1"/>
          <p:nvPr/>
        </p:nvSpPr>
        <p:spPr>
          <a:xfrm>
            <a:off x="4434840" y="1856232"/>
            <a:ext cx="726948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ストア全体・ウィンドウ等での提案演出</a:t>
            </a:r>
            <a:endParaRPr lang="en-US" sz="1100" dirty="0"/>
          </a:p>
        </p:txBody>
      </p:sp>
      <p:sp>
        <p:nvSpPr>
          <p:cNvPr id="11" name="Shape 9"/>
          <p:cNvSpPr/>
          <p:nvPr/>
        </p:nvSpPr>
        <p:spPr>
          <a:xfrm>
            <a:off x="502920" y="2880360"/>
            <a:ext cx="11201400" cy="0"/>
          </a:xfrm>
          <a:prstGeom prst="line">
            <a:avLst/>
          </a:prstGeom>
          <a:noFill/>
          <a:ln w="12700">
            <a:solidFill>
              <a:srgbClr val="E6E6E6"/>
            </a:solidFill>
            <a:prstDash val="solid"/>
          </a:ln>
        </p:spPr>
      </p:sp>
      <p:sp>
        <p:nvSpPr>
          <p:cNvPr id="12" name="Text 10"/>
          <p:cNvSpPr txBox="1"/>
          <p:nvPr/>
        </p:nvSpPr>
        <p:spPr>
          <a:xfrm>
            <a:off x="502920" y="2990088"/>
            <a:ext cx="10972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PP</a:t>
            </a:r>
            <a:endParaRPr lang="en-US" sz="1500" dirty="0"/>
          </a:p>
        </p:txBody>
      </p:sp>
      <p:sp>
        <p:nvSpPr>
          <p:cNvPr id="13" name="Text 11"/>
          <p:cNvSpPr txBox="1"/>
          <p:nvPr/>
        </p:nvSpPr>
        <p:spPr>
          <a:xfrm>
            <a:off x="1691640" y="3008376"/>
            <a:ext cx="265176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Point of Presentation</a:t>
            </a:r>
            <a:endParaRPr lang="en-US" sz="1100" dirty="0"/>
          </a:p>
        </p:txBody>
      </p:sp>
      <p:sp>
        <p:nvSpPr>
          <p:cNvPr id="14" name="Text 12"/>
          <p:cNvSpPr txBox="1"/>
          <p:nvPr/>
        </p:nvSpPr>
        <p:spPr>
          <a:xfrm>
            <a:off x="4434840" y="2953512"/>
            <a:ext cx="726948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コーナーの目立つ場所での訴求</a:t>
            </a:r>
            <a:endParaRPr lang="en-US" sz="1100" dirty="0"/>
          </a:p>
        </p:txBody>
      </p:sp>
      <p:sp>
        <p:nvSpPr>
          <p:cNvPr id="15" name="Shape 13"/>
          <p:cNvSpPr/>
          <p:nvPr/>
        </p:nvSpPr>
        <p:spPr>
          <a:xfrm>
            <a:off x="502920" y="3977640"/>
            <a:ext cx="11201400" cy="0"/>
          </a:xfrm>
          <a:prstGeom prst="line">
            <a:avLst/>
          </a:prstGeom>
          <a:noFill/>
          <a:ln w="12700">
            <a:solidFill>
              <a:srgbClr val="E6E6E6"/>
            </a:solidFill>
            <a:prstDash val="solid"/>
          </a:ln>
        </p:spPr>
      </p:sp>
      <p:sp>
        <p:nvSpPr>
          <p:cNvPr id="16" name="Text 14"/>
          <p:cNvSpPr txBox="1"/>
          <p:nvPr/>
        </p:nvSpPr>
        <p:spPr>
          <a:xfrm>
            <a:off x="502920" y="4087368"/>
            <a:ext cx="109728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IP</a:t>
            </a:r>
            <a:endParaRPr lang="en-US" sz="1500" dirty="0"/>
          </a:p>
        </p:txBody>
      </p:sp>
      <p:sp>
        <p:nvSpPr>
          <p:cNvPr id="17" name="Text 15"/>
          <p:cNvSpPr txBox="1"/>
          <p:nvPr/>
        </p:nvSpPr>
        <p:spPr>
          <a:xfrm>
            <a:off x="1691640" y="4105656"/>
            <a:ext cx="265176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Item Presentation</a:t>
            </a:r>
            <a:endParaRPr lang="en-US" sz="1100" dirty="0"/>
          </a:p>
        </p:txBody>
      </p:sp>
      <p:sp>
        <p:nvSpPr>
          <p:cNvPr id="18" name="Text 16"/>
          <p:cNvSpPr txBox="1"/>
          <p:nvPr/>
        </p:nvSpPr>
        <p:spPr>
          <a:xfrm>
            <a:off x="4434840" y="4050792"/>
            <a:ext cx="7269480" cy="94183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個々の商品の陳列（棚割り）</a:t>
            </a:r>
            <a:endParaRPr lang="en-US" sz="1100" dirty="0"/>
          </a:p>
        </p:txBody>
      </p:sp>
      <p:sp>
        <p:nvSpPr>
          <p:cNvPr id="19" name="Shape 17"/>
          <p:cNvSpPr/>
          <p:nvPr/>
        </p:nvSpPr>
        <p:spPr>
          <a:xfrm>
            <a:off x="502920" y="5989320"/>
            <a:ext cx="11201400" cy="0"/>
          </a:xfrm>
          <a:prstGeom prst="line">
            <a:avLst/>
          </a:prstGeom>
          <a:noFill/>
          <a:ln w="9525">
            <a:solidFill>
              <a:srgbClr val="171717"/>
            </a:solidFill>
            <a:prstDash val="solid"/>
          </a:ln>
        </p:spPr>
      </p:sp>
      <p:sp>
        <p:nvSpPr>
          <p:cNvPr id="20" name="Shape 18"/>
          <p:cNvSpPr/>
          <p:nvPr/>
        </p:nvSpPr>
        <p:spPr>
          <a:xfrm>
            <a:off x="502920" y="6062472"/>
            <a:ext cx="329184" cy="329184"/>
          </a:xfrm>
          <a:prstGeom prst="ellipse">
            <a:avLst/>
          </a:prstGeom>
          <a:solidFill>
            <a:srgbClr val="FF3B1F"/>
          </a:solidFill>
          <a:ln/>
        </p:spPr>
      </p:sp>
      <p:sp>
        <p:nvSpPr>
          <p:cNvPr id="21" name="Text 19"/>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2" name="Text 20"/>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3" name="Shape 21"/>
          <p:cNvSpPr/>
          <p:nvPr/>
        </p:nvSpPr>
        <p:spPr>
          <a:xfrm>
            <a:off x="2331720" y="6062472"/>
            <a:ext cx="0" cy="329184"/>
          </a:xfrm>
          <a:prstGeom prst="line">
            <a:avLst/>
          </a:prstGeom>
          <a:noFill/>
          <a:ln w="12700">
            <a:solidFill>
              <a:srgbClr val="E6E6E6"/>
            </a:solidFill>
            <a:prstDash val="solid"/>
          </a:ln>
        </p:spPr>
      </p:sp>
      <p:sp>
        <p:nvSpPr>
          <p:cNvPr id="24" name="Text 22"/>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具体例：売れ筋商品を目線の高さ（ゴールデンライン）に配置し、関連商品を近くに並べる（クロスMD）。</a:t>
            </a:r>
            <a:endParaRPr lang="en-US" sz="1000" dirty="0"/>
          </a:p>
        </p:txBody>
      </p:sp>
      <p:sp>
        <p:nvSpPr>
          <p:cNvPr id="25" name="Text 23"/>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6" name="Shape 24"/>
          <p:cNvSpPr/>
          <p:nvPr/>
        </p:nvSpPr>
        <p:spPr>
          <a:xfrm>
            <a:off x="2466594" y="6464808"/>
            <a:ext cx="146304" cy="146304"/>
          </a:xfrm>
          <a:prstGeom prst="ellipse">
            <a:avLst/>
          </a:prstGeom>
          <a:solidFill>
            <a:srgbClr val="FF3B1F"/>
          </a:solidFill>
          <a:ln w="12700">
            <a:solidFill>
              <a:srgbClr val="FF3B1F"/>
            </a:solidFill>
            <a:prstDash val="solid"/>
          </a:ln>
        </p:spPr>
      </p:sp>
      <p:sp>
        <p:nvSpPr>
          <p:cNvPr id="27" name="Text 25"/>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8" name="Shape 26"/>
          <p:cNvSpPr/>
          <p:nvPr/>
        </p:nvSpPr>
        <p:spPr>
          <a:xfrm>
            <a:off x="3431286" y="6464808"/>
            <a:ext cx="146304" cy="146304"/>
          </a:xfrm>
          <a:prstGeom prst="ellipse">
            <a:avLst/>
          </a:prstGeom>
          <a:solidFill>
            <a:srgbClr val="FF3B1F"/>
          </a:solidFill>
          <a:ln w="12700">
            <a:solidFill>
              <a:srgbClr val="FF3B1F"/>
            </a:solidFill>
            <a:prstDash val="solid"/>
          </a:ln>
        </p:spPr>
      </p:sp>
      <p:sp>
        <p:nvSpPr>
          <p:cNvPr id="29" name="Text 27"/>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0" name="Shape 28"/>
          <p:cNvSpPr/>
          <p:nvPr/>
        </p:nvSpPr>
        <p:spPr>
          <a:xfrm>
            <a:off x="4395978"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2" name="Shape 30"/>
          <p:cNvSpPr/>
          <p:nvPr/>
        </p:nvSpPr>
        <p:spPr>
          <a:xfrm>
            <a:off x="5360670"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4" name="Shape 32"/>
          <p:cNvSpPr/>
          <p:nvPr/>
        </p:nvSpPr>
        <p:spPr>
          <a:xfrm>
            <a:off x="6325362"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6" name="Shape 34"/>
          <p:cNvSpPr/>
          <p:nvPr/>
        </p:nvSpPr>
        <p:spPr>
          <a:xfrm>
            <a:off x="7290054"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8" name="Shape 36"/>
          <p:cNvSpPr/>
          <p:nvPr/>
        </p:nvSpPr>
        <p:spPr>
          <a:xfrm>
            <a:off x="8254746"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0" name="Shape 38"/>
          <p:cNvSpPr/>
          <p:nvPr/>
        </p:nvSpPr>
        <p:spPr>
          <a:xfrm>
            <a:off x="9219438"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2" name="Shape 40"/>
          <p:cNvSpPr/>
          <p:nvPr/>
        </p:nvSpPr>
        <p:spPr>
          <a:xfrm>
            <a:off x="10184130"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4" name="Shape 42"/>
          <p:cNvSpPr/>
          <p:nvPr/>
        </p:nvSpPr>
        <p:spPr>
          <a:xfrm>
            <a:off x="11148822"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71717"/>
        </a:solidFill>
      </p:bgPr>
    </p:bg>
    <p:spTree>
      <p:nvGrpSpPr>
        <p:cNvPr id="1" name=""/>
        <p:cNvGrpSpPr/>
        <p:nvPr/>
      </p:nvGrpSpPr>
      <p:grpSpPr>
        <a:xfrm>
          <a:off x="0" y="0"/>
          <a:ext cx="0" cy="0"/>
          <a:chOff x="0" y="0"/>
          <a:chExt cx="0" cy="0"/>
        </a:xfrm>
      </p:grpSpPr>
      <p:sp>
        <p:nvSpPr>
          <p:cNvPr id="2" name="Text 0"/>
          <p:cNvSpPr txBox="1"/>
          <p:nvPr/>
        </p:nvSpPr>
        <p:spPr>
          <a:xfrm>
            <a:off x="8046720" y="1463040"/>
            <a:ext cx="3931920" cy="4114800"/>
          </a:xfrm>
          <a:prstGeom prst="rect">
            <a:avLst/>
          </a:prstGeom>
          <a:noFill/>
          <a:ln/>
        </p:spPr>
        <p:txBody>
          <a:bodyPr wrap="square" lIns="0" tIns="0" rIns="0" bIns="0" rtlCol="0" anchor="ctr"/>
          <a:lstStyle/>
          <a:p>
            <a:pPr algn="r" indent="0" marL="0">
              <a:buNone/>
            </a:pPr>
            <a:r>
              <a:rPr lang="en-US" sz="22000" b="1" dirty="0">
                <a:solidFill>
                  <a:srgbClr val="252525"/>
                </a:solidFill>
                <a:latin typeface="Consolas" pitchFamily="34" charset="0"/>
                <a:ea typeface="Consolas" pitchFamily="34" charset="-122"/>
                <a:cs typeface="Consolas" pitchFamily="34" charset="-120"/>
              </a:rPr>
              <a:t>04</a:t>
            </a:r>
            <a:endParaRPr lang="en-US" sz="22000" dirty="0"/>
          </a:p>
        </p:txBody>
      </p:sp>
      <p:sp>
        <p:nvSpPr>
          <p:cNvPr id="3" name="Text 1"/>
          <p:cNvSpPr txBox="1"/>
          <p:nvPr/>
        </p:nvSpPr>
        <p:spPr>
          <a:xfrm>
            <a:off x="640080" y="1920240"/>
            <a:ext cx="8229600" cy="365760"/>
          </a:xfrm>
          <a:prstGeom prst="rect">
            <a:avLst/>
          </a:prstGeom>
          <a:noFill/>
          <a:ln/>
        </p:spPr>
        <p:txBody>
          <a:bodyPr wrap="square" lIns="0" tIns="0" rIns="0" bIns="0" rtlCol="0" anchor="ctr"/>
          <a:lstStyle/>
          <a:p>
            <a:pPr indent="0" marL="0">
              <a:buNone/>
            </a:pPr>
            <a:r>
              <a:rPr lang="en-US" sz="1300" b="1" dirty="0">
                <a:solidFill>
                  <a:srgbClr val="FF3B1F"/>
                </a:solidFill>
                <a:latin typeface="Consolas" pitchFamily="34" charset="0"/>
                <a:ea typeface="Consolas" pitchFamily="34" charset="-122"/>
                <a:cs typeface="Consolas" pitchFamily="34" charset="-120"/>
              </a:rPr>
              <a:t>PART 04</a:t>
            </a:r>
            <a:pPr indent="0" marL="0">
              <a:buNone/>
            </a:pPr>
            <a:r>
              <a:rPr lang="en-US" sz="1300" dirty="0">
                <a:solidFill>
                  <a:srgbClr val="A2A2A2"/>
                </a:solidFill>
                <a:latin typeface="Consolas" pitchFamily="34" charset="0"/>
                <a:ea typeface="Consolas" pitchFamily="34" charset="-122"/>
                <a:cs typeface="Consolas" pitchFamily="34" charset="-120"/>
              </a:rPr>
              <a:t>   運営管理 ／ D-29〜D-35</a:t>
            </a:r>
            <a:endParaRPr lang="en-US" sz="1300" dirty="0"/>
          </a:p>
        </p:txBody>
      </p:sp>
      <p:sp>
        <p:nvSpPr>
          <p:cNvPr id="4" name="Text 2"/>
          <p:cNvSpPr txBox="1"/>
          <p:nvPr/>
        </p:nvSpPr>
        <p:spPr>
          <a:xfrm>
            <a:off x="594360" y="2331720"/>
            <a:ext cx="8229600" cy="1005840"/>
          </a:xfrm>
          <a:prstGeom prst="rect">
            <a:avLst/>
          </a:prstGeom>
          <a:noFill/>
          <a:ln/>
        </p:spPr>
        <p:txBody>
          <a:bodyPr wrap="square" lIns="0" tIns="0" rIns="0" bIns="0" rtlCol="0" anchor="ctr"/>
          <a:lstStyle/>
          <a:p>
            <a:pPr indent="0" marL="0">
              <a:buNone/>
            </a:pPr>
            <a:r>
              <a:rPr lang="en-US" sz="4600" b="1" dirty="0">
                <a:solidFill>
                  <a:srgbClr val="FFFFFF"/>
                </a:solidFill>
                <a:latin typeface="Yu Gothic" pitchFamily="34" charset="0"/>
                <a:ea typeface="Yu Gothic" pitchFamily="34" charset="-122"/>
                <a:cs typeface="Yu Gothic" pitchFamily="34" charset="-120"/>
              </a:rPr>
              <a:t>価格・販促／物流・流通情報</a:t>
            </a:r>
            <a:endParaRPr lang="en-US" sz="4600" dirty="0"/>
          </a:p>
        </p:txBody>
      </p:sp>
      <p:sp>
        <p:nvSpPr>
          <p:cNvPr id="5" name="Text 3"/>
          <p:cNvSpPr txBox="1"/>
          <p:nvPr/>
        </p:nvSpPr>
        <p:spPr>
          <a:xfrm>
            <a:off x="640080" y="3429000"/>
            <a:ext cx="7498080" cy="1188720"/>
          </a:xfrm>
          <a:prstGeom prst="rect">
            <a:avLst/>
          </a:prstGeom>
          <a:noFill/>
          <a:ln/>
        </p:spPr>
        <p:txBody>
          <a:bodyPr wrap="square" lIns="0" tIns="0" rIns="0" bIns="0" rtlCol="0" anchor="ctr"/>
          <a:lstStyle/>
          <a:p>
            <a:pPr indent="0" marL="0">
              <a:lnSpc>
                <a:spcPct val="160000"/>
              </a:lnSpc>
              <a:buNone/>
            </a:pPr>
            <a:r>
              <a:rPr lang="en-US" sz="1400" dirty="0">
                <a:solidFill>
                  <a:srgbClr val="D1D1D1"/>
                </a:solidFill>
                <a:latin typeface="Yu Gothic" pitchFamily="34" charset="0"/>
                <a:ea typeface="Yu Gothic" pitchFamily="34" charset="-122"/>
                <a:cs typeface="Yu Gothic" pitchFamily="34" charset="-120"/>
              </a:rPr>
              <a:t>価格設定・販売促進で店舗の売り方を締めくくり、在庫・輸配送・物流センターという商品の流れ、そしてPOS・電子タグという情報システムまで。</a:t>
            </a:r>
            <a:endParaRPr lang="en-US" sz="1400" dirty="0"/>
          </a:p>
        </p:txBody>
      </p:sp>
      <p:sp>
        <p:nvSpPr>
          <p:cNvPr id="6" name="Shape 4"/>
          <p:cNvSpPr/>
          <p:nvPr/>
        </p:nvSpPr>
        <p:spPr>
          <a:xfrm>
            <a:off x="640080" y="4800600"/>
            <a:ext cx="1431036" cy="384048"/>
          </a:xfrm>
          <a:prstGeom prst="rect">
            <a:avLst/>
          </a:prstGeom>
          <a:ln w="9525">
            <a:solidFill>
              <a:srgbClr val="7F7F7F"/>
            </a:solidFill>
            <a:prstDash val="solid"/>
          </a:ln>
        </p:spPr>
      </p:sp>
      <p:sp>
        <p:nvSpPr>
          <p:cNvPr id="7" name="Text 5"/>
          <p:cNvSpPr txBox="1"/>
          <p:nvPr/>
        </p:nvSpPr>
        <p:spPr>
          <a:xfrm>
            <a:off x="640080" y="4800600"/>
            <a:ext cx="1431036"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D-29 交差比率</a:t>
            </a:r>
            <a:endParaRPr lang="en-US" sz="1000" dirty="0"/>
          </a:p>
        </p:txBody>
      </p:sp>
      <p:sp>
        <p:nvSpPr>
          <p:cNvPr id="8" name="Shape 6"/>
          <p:cNvSpPr/>
          <p:nvPr/>
        </p:nvSpPr>
        <p:spPr>
          <a:xfrm>
            <a:off x="2299716" y="4800600"/>
            <a:ext cx="1554480" cy="384048"/>
          </a:xfrm>
          <a:prstGeom prst="rect">
            <a:avLst/>
          </a:prstGeom>
          <a:ln w="9525">
            <a:solidFill>
              <a:srgbClr val="7F7F7F"/>
            </a:solidFill>
            <a:prstDash val="solid"/>
          </a:ln>
        </p:spPr>
      </p:sp>
      <p:sp>
        <p:nvSpPr>
          <p:cNvPr id="9" name="Text 7"/>
          <p:cNvSpPr txBox="1"/>
          <p:nvPr/>
        </p:nvSpPr>
        <p:spPr>
          <a:xfrm>
            <a:off x="2299716" y="4800600"/>
            <a:ext cx="1554480"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D-33 DC・TC</a:t>
            </a:r>
            <a:endParaRPr lang="en-US" sz="1000" dirty="0"/>
          </a:p>
        </p:txBody>
      </p:sp>
      <p:sp>
        <p:nvSpPr>
          <p:cNvPr id="10" name="Shape 8"/>
          <p:cNvSpPr/>
          <p:nvPr/>
        </p:nvSpPr>
        <p:spPr>
          <a:xfrm>
            <a:off x="4082796" y="4800600"/>
            <a:ext cx="2171700" cy="384048"/>
          </a:xfrm>
          <a:prstGeom prst="rect">
            <a:avLst/>
          </a:prstGeom>
          <a:ln w="9525">
            <a:solidFill>
              <a:srgbClr val="7F7F7F"/>
            </a:solidFill>
            <a:prstDash val="solid"/>
          </a:ln>
        </p:spPr>
      </p:sp>
      <p:sp>
        <p:nvSpPr>
          <p:cNvPr id="11" name="Text 9"/>
          <p:cNvSpPr txBox="1"/>
          <p:nvPr/>
        </p:nvSpPr>
        <p:spPr>
          <a:xfrm>
            <a:off x="4082796" y="4800600"/>
            <a:ext cx="2171700" cy="384048"/>
          </a:xfrm>
          <a:prstGeom prst="rect">
            <a:avLst/>
          </a:prstGeom>
          <a:noFill/>
          <a:ln/>
        </p:spPr>
        <p:txBody>
          <a:bodyPr wrap="square" lIns="0" tIns="0" rIns="0" bIns="0" rtlCol="0" anchor="ctr"/>
          <a:lstStyle/>
          <a:p>
            <a:pPr algn="ctr" indent="0" marL="0">
              <a:buNone/>
            </a:pPr>
            <a:r>
              <a:rPr lang="en-US" sz="1000" dirty="0">
                <a:solidFill>
                  <a:srgbClr val="E8E8E8"/>
                </a:solidFill>
                <a:latin typeface="Consolas" pitchFamily="34" charset="0"/>
                <a:ea typeface="Consolas" pitchFamily="34" charset="-122"/>
                <a:cs typeface="Consolas" pitchFamily="34" charset="-120"/>
              </a:rPr>
              <a:t>D-34 アソシエーション分析</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D-29 ／ 価格設定（価格政策、特売・値下げ）</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交差比率＝粗利益率×商品回転率</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粗利益率が低くても回転率が高ければ在庫効率は優れていると評価できる。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37744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EDLP</a:t>
            </a:r>
            <a:endParaRPr lang="en-US" sz="1100" dirty="0"/>
          </a:p>
        </p:txBody>
      </p:sp>
      <p:sp>
        <p:nvSpPr>
          <p:cNvPr id="9" name="Shape 7"/>
          <p:cNvSpPr/>
          <p:nvPr/>
        </p:nvSpPr>
        <p:spPr>
          <a:xfrm>
            <a:off x="2862072" y="1691640"/>
            <a:ext cx="0" cy="256032"/>
          </a:xfrm>
          <a:prstGeom prst="line">
            <a:avLst/>
          </a:prstGeom>
          <a:noFill/>
          <a:ln w="12700">
            <a:solidFill>
              <a:srgbClr val="E6E6E6"/>
            </a:solidFill>
            <a:prstDash val="solid"/>
          </a:ln>
        </p:spPr>
      </p:sp>
      <p:sp>
        <p:nvSpPr>
          <p:cNvPr id="10" name="Text 8"/>
          <p:cNvSpPr txBox="1"/>
          <p:nvPr/>
        </p:nvSpPr>
        <p:spPr>
          <a:xfrm>
            <a:off x="3017520" y="1691640"/>
            <a:ext cx="868680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特売せず常に低価格を維持（集客効果は生まれにくい）</a:t>
            </a:r>
            <a:endParaRPr lang="en-US" sz="1100" dirty="0"/>
          </a:p>
        </p:txBody>
      </p:sp>
      <p:sp>
        <p:nvSpPr>
          <p:cNvPr id="11" name="Text 9"/>
          <p:cNvSpPr txBox="1"/>
          <p:nvPr/>
        </p:nvSpPr>
        <p:spPr>
          <a:xfrm>
            <a:off x="502920" y="2075688"/>
            <a:ext cx="237744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ハイ・ロー・プライシング</a:t>
            </a:r>
            <a:endParaRPr lang="en-US" sz="1100" dirty="0"/>
          </a:p>
        </p:txBody>
      </p:sp>
      <p:sp>
        <p:nvSpPr>
          <p:cNvPr id="12" name="Shape 10"/>
          <p:cNvSpPr/>
          <p:nvPr/>
        </p:nvSpPr>
        <p:spPr>
          <a:xfrm>
            <a:off x="2862072" y="2075688"/>
            <a:ext cx="0" cy="256032"/>
          </a:xfrm>
          <a:prstGeom prst="line">
            <a:avLst/>
          </a:prstGeom>
          <a:noFill/>
          <a:ln w="12700">
            <a:solidFill>
              <a:srgbClr val="E6E6E6"/>
            </a:solidFill>
            <a:prstDash val="solid"/>
          </a:ln>
        </p:spPr>
      </p:sp>
      <p:sp>
        <p:nvSpPr>
          <p:cNvPr id="13" name="Text 11"/>
          <p:cNvSpPr txBox="1"/>
          <p:nvPr/>
        </p:nvSpPr>
        <p:spPr>
          <a:xfrm>
            <a:off x="3017520" y="2075688"/>
            <a:ext cx="868680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普段は通常価格、定期的に特売でメリハリをつける</a:t>
            </a:r>
            <a:endParaRPr lang="en-US" sz="1100" dirty="0"/>
          </a:p>
        </p:txBody>
      </p:sp>
      <p:sp>
        <p:nvSpPr>
          <p:cNvPr id="14" name="Text 12"/>
          <p:cNvSpPr txBox="1"/>
          <p:nvPr/>
        </p:nvSpPr>
        <p:spPr>
          <a:xfrm>
            <a:off x="502920" y="2459736"/>
            <a:ext cx="237744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交差比率</a:t>
            </a:r>
            <a:endParaRPr lang="en-US" sz="1100" dirty="0"/>
          </a:p>
        </p:txBody>
      </p:sp>
      <p:sp>
        <p:nvSpPr>
          <p:cNvPr id="15" name="Shape 13"/>
          <p:cNvSpPr/>
          <p:nvPr/>
        </p:nvSpPr>
        <p:spPr>
          <a:xfrm>
            <a:off x="2862072" y="2459736"/>
            <a:ext cx="0" cy="256032"/>
          </a:xfrm>
          <a:prstGeom prst="line">
            <a:avLst/>
          </a:prstGeom>
          <a:noFill/>
          <a:ln w="12700">
            <a:solidFill>
              <a:srgbClr val="E6E6E6"/>
            </a:solidFill>
            <a:prstDash val="solid"/>
          </a:ln>
        </p:spPr>
      </p:sp>
      <p:sp>
        <p:nvSpPr>
          <p:cNvPr id="16" name="Text 14"/>
          <p:cNvSpPr txBox="1"/>
          <p:nvPr/>
        </p:nvSpPr>
        <p:spPr>
          <a:xfrm>
            <a:off x="3017520" y="2459736"/>
            <a:ext cx="868680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粗利益率 × 商品回転率</a:t>
            </a:r>
            <a:endParaRPr lang="en-US" sz="1100" dirty="0"/>
          </a:p>
        </p:txBody>
      </p:sp>
      <p:sp>
        <p:nvSpPr>
          <p:cNvPr id="17" name="Text 15"/>
          <p:cNvSpPr txBox="1"/>
          <p:nvPr/>
        </p:nvSpPr>
        <p:spPr>
          <a:xfrm>
            <a:off x="502920" y="2935224"/>
            <a:ext cx="11201400" cy="50292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粗利益率20％・回転率10回→交差比率2.0。粗利益率40％・回転率3回→交差比率1.2。前者の方が在庫効率で優れる。</a:t>
            </a:r>
            <a:endParaRPr lang="en-US" sz="850" dirty="0"/>
          </a:p>
        </p:txBody>
      </p:sp>
      <p:sp>
        <p:nvSpPr>
          <p:cNvPr id="18" name="Shape 16"/>
          <p:cNvSpPr/>
          <p:nvPr/>
        </p:nvSpPr>
        <p:spPr>
          <a:xfrm>
            <a:off x="502920" y="3511296"/>
            <a:ext cx="11201400" cy="0"/>
          </a:xfrm>
          <a:prstGeom prst="line">
            <a:avLst/>
          </a:prstGeom>
          <a:noFill/>
          <a:ln w="12700">
            <a:solidFill>
              <a:srgbClr val="E6E6E6"/>
            </a:solidFill>
            <a:prstDash val="solid"/>
          </a:ln>
        </p:spPr>
      </p:sp>
      <p:sp>
        <p:nvSpPr>
          <p:cNvPr id="19" name="Text 17"/>
          <p:cNvSpPr txBox="1"/>
          <p:nvPr/>
        </p:nvSpPr>
        <p:spPr>
          <a:xfrm>
            <a:off x="502920" y="3584448"/>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「粗利益率が高いほど必ず優良」は誤り。在庫効率まで含めるなら交差比率で判断する。</a:t>
            </a:r>
            <a:endParaRPr lang="en-US" sz="950" dirty="0"/>
          </a:p>
        </p:txBody>
      </p:sp>
      <p:sp>
        <p:nvSpPr>
          <p:cNvPr id="20" name="Shape 18"/>
          <p:cNvSpPr/>
          <p:nvPr/>
        </p:nvSpPr>
        <p:spPr>
          <a:xfrm>
            <a:off x="502920" y="5989320"/>
            <a:ext cx="11201400" cy="0"/>
          </a:xfrm>
          <a:prstGeom prst="line">
            <a:avLst/>
          </a:prstGeom>
          <a:noFill/>
          <a:ln w="9525">
            <a:solidFill>
              <a:srgbClr val="171717"/>
            </a:solidFill>
            <a:prstDash val="solid"/>
          </a:ln>
        </p:spPr>
      </p:sp>
      <p:sp>
        <p:nvSpPr>
          <p:cNvPr id="21" name="Shape 19"/>
          <p:cNvSpPr/>
          <p:nvPr/>
        </p:nvSpPr>
        <p:spPr>
          <a:xfrm>
            <a:off x="502920" y="6062472"/>
            <a:ext cx="329184" cy="329184"/>
          </a:xfrm>
          <a:prstGeom prst="ellipse">
            <a:avLst/>
          </a:prstGeom>
          <a:solidFill>
            <a:srgbClr val="FF3B1F"/>
          </a:solidFill>
          <a:ln/>
        </p:spPr>
      </p:sp>
      <p:sp>
        <p:nvSpPr>
          <p:cNvPr id="22" name="Text 20"/>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3" name="Text 21"/>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4" name="Shape 22"/>
          <p:cNvSpPr/>
          <p:nvPr/>
        </p:nvSpPr>
        <p:spPr>
          <a:xfrm>
            <a:off x="2331720" y="6062472"/>
            <a:ext cx="0" cy="329184"/>
          </a:xfrm>
          <a:prstGeom prst="line">
            <a:avLst/>
          </a:prstGeom>
          <a:noFill/>
          <a:ln w="12700">
            <a:solidFill>
              <a:srgbClr val="E6E6E6"/>
            </a:solidFill>
            <a:prstDash val="solid"/>
          </a:ln>
        </p:spPr>
      </p:sp>
      <p:sp>
        <p:nvSpPr>
          <p:cNvPr id="25" name="Text 23"/>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関連：D-31 商品在庫管理（商品回転率の詳細）。</a:t>
            </a:r>
            <a:endParaRPr lang="en-US" sz="1000" dirty="0"/>
          </a:p>
        </p:txBody>
      </p:sp>
      <p:sp>
        <p:nvSpPr>
          <p:cNvPr id="26" name="Text 24"/>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7" name="Shape 25"/>
          <p:cNvSpPr/>
          <p:nvPr/>
        </p:nvSpPr>
        <p:spPr>
          <a:xfrm>
            <a:off x="2466594"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9" name="Shape 27"/>
          <p:cNvSpPr/>
          <p:nvPr/>
        </p:nvSpPr>
        <p:spPr>
          <a:xfrm>
            <a:off x="3431286"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1" name="Shape 29"/>
          <p:cNvSpPr/>
          <p:nvPr/>
        </p:nvSpPr>
        <p:spPr>
          <a:xfrm>
            <a:off x="4395978"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3" name="Shape 31"/>
          <p:cNvSpPr/>
          <p:nvPr/>
        </p:nvSpPr>
        <p:spPr>
          <a:xfrm>
            <a:off x="5360670"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5" name="Shape 33"/>
          <p:cNvSpPr/>
          <p:nvPr/>
        </p:nvSpPr>
        <p:spPr>
          <a:xfrm>
            <a:off x="6325362"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7" name="Shape 35"/>
          <p:cNvSpPr/>
          <p:nvPr/>
        </p:nvSpPr>
        <p:spPr>
          <a:xfrm>
            <a:off x="7290054"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9" name="Shape 37"/>
          <p:cNvSpPr/>
          <p:nvPr/>
        </p:nvSpPr>
        <p:spPr>
          <a:xfrm>
            <a:off x="8254746" y="6464808"/>
            <a:ext cx="146304" cy="146304"/>
          </a:xfrm>
          <a:prstGeom prst="ellipse">
            <a:avLst/>
          </a:prstGeom>
          <a:solidFill>
            <a:srgbClr val="FFFFFF"/>
          </a:solidFill>
          <a:ln w="12700">
            <a:solidFill>
              <a:srgbClr val="E6E6E6"/>
            </a:solidFill>
            <a:prstDash val="solid"/>
          </a:ln>
        </p:spPr>
      </p:sp>
      <p:sp>
        <p:nvSpPr>
          <p:cNvPr id="40" name="Text 38"/>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1" name="Shape 39"/>
          <p:cNvSpPr/>
          <p:nvPr/>
        </p:nvSpPr>
        <p:spPr>
          <a:xfrm>
            <a:off x="9219438" y="6464808"/>
            <a:ext cx="146304" cy="146304"/>
          </a:xfrm>
          <a:prstGeom prst="ellipse">
            <a:avLst/>
          </a:prstGeom>
          <a:solidFill>
            <a:srgbClr val="FFFFFF"/>
          </a:solidFill>
          <a:ln w="12700">
            <a:solidFill>
              <a:srgbClr val="E6E6E6"/>
            </a:solidFill>
            <a:prstDash val="solid"/>
          </a:ln>
        </p:spPr>
      </p:sp>
      <p:sp>
        <p:nvSpPr>
          <p:cNvPr id="42" name="Text 40"/>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3" name="Shape 41"/>
          <p:cNvSpPr/>
          <p:nvPr/>
        </p:nvSpPr>
        <p:spPr>
          <a:xfrm>
            <a:off x="10184130"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5" name="Shape 43"/>
          <p:cNvSpPr/>
          <p:nvPr/>
        </p:nvSpPr>
        <p:spPr>
          <a:xfrm>
            <a:off x="11148822" y="6464808"/>
            <a:ext cx="146304" cy="146304"/>
          </a:xfrm>
          <a:prstGeom prst="ellipse">
            <a:avLst/>
          </a:prstGeom>
          <a:solidFill>
            <a:srgbClr val="FFFFFF"/>
          </a:solidFill>
          <a:ln w="12700">
            <a:solidFill>
              <a:srgbClr val="E6E6E6"/>
            </a:solidFill>
            <a:prstDash val="solid"/>
          </a:ln>
        </p:spPr>
      </p:sp>
      <p:sp>
        <p:nvSpPr>
          <p:cNvPr id="46" name="Text 44"/>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D-30 ／ 販売促進計画</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来店促進と購買促進は別の段階</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プロモーションは実施場所によって店外・店内の2つに大別される。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10312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店外プロモーション</a:t>
            </a:r>
            <a:endParaRPr lang="en-US" sz="1100" dirty="0"/>
          </a:p>
        </p:txBody>
      </p:sp>
      <p:sp>
        <p:nvSpPr>
          <p:cNvPr id="9" name="Shape 7"/>
          <p:cNvSpPr/>
          <p:nvPr/>
        </p:nvSpPr>
        <p:spPr>
          <a:xfrm>
            <a:off x="2587752" y="1691640"/>
            <a:ext cx="0" cy="256032"/>
          </a:xfrm>
          <a:prstGeom prst="line">
            <a:avLst/>
          </a:prstGeom>
          <a:noFill/>
          <a:ln w="12700">
            <a:solidFill>
              <a:srgbClr val="E6E6E6"/>
            </a:solidFill>
            <a:prstDash val="solid"/>
          </a:ln>
        </p:spPr>
      </p:sp>
      <p:sp>
        <p:nvSpPr>
          <p:cNvPr id="10" name="Text 8"/>
          <p:cNvSpPr txBox="1"/>
          <p:nvPr/>
        </p:nvSpPr>
        <p:spPr>
          <a:xfrm>
            <a:off x="2743200" y="1691640"/>
            <a:ext cx="896112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チラシ・屋外広告・SNS広告など来店を促す活動</a:t>
            </a:r>
            <a:endParaRPr lang="en-US" sz="1100" dirty="0"/>
          </a:p>
        </p:txBody>
      </p:sp>
      <p:sp>
        <p:nvSpPr>
          <p:cNvPr id="11" name="Text 9"/>
          <p:cNvSpPr txBox="1"/>
          <p:nvPr/>
        </p:nvSpPr>
        <p:spPr>
          <a:xfrm>
            <a:off x="502920" y="2075688"/>
            <a:ext cx="210312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店内プロモーション</a:t>
            </a:r>
            <a:endParaRPr lang="en-US" sz="1100" dirty="0"/>
          </a:p>
        </p:txBody>
      </p:sp>
      <p:sp>
        <p:nvSpPr>
          <p:cNvPr id="12" name="Shape 10"/>
          <p:cNvSpPr/>
          <p:nvPr/>
        </p:nvSpPr>
        <p:spPr>
          <a:xfrm>
            <a:off x="2587752" y="2075688"/>
            <a:ext cx="0" cy="256032"/>
          </a:xfrm>
          <a:prstGeom prst="line">
            <a:avLst/>
          </a:prstGeom>
          <a:noFill/>
          <a:ln w="12700">
            <a:solidFill>
              <a:srgbClr val="E6E6E6"/>
            </a:solidFill>
            <a:prstDash val="solid"/>
          </a:ln>
        </p:spPr>
      </p:sp>
      <p:sp>
        <p:nvSpPr>
          <p:cNvPr id="13" name="Text 11"/>
          <p:cNvSpPr txBox="1"/>
          <p:nvPr/>
        </p:nvSpPr>
        <p:spPr>
          <a:xfrm>
            <a:off x="2743200" y="2075688"/>
            <a:ext cx="896112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POP広告・実演・試食など来店後の追加購買を促す活動</a:t>
            </a:r>
            <a:endParaRPr lang="en-US" sz="1100" dirty="0"/>
          </a:p>
        </p:txBody>
      </p:sp>
      <p:sp>
        <p:nvSpPr>
          <p:cNvPr id="14" name="Text 12"/>
          <p:cNvSpPr txBox="1"/>
          <p:nvPr/>
        </p:nvSpPr>
        <p:spPr>
          <a:xfrm>
            <a:off x="502920" y="2459736"/>
            <a:ext cx="210312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リベート・共同販促</a:t>
            </a:r>
            <a:endParaRPr lang="en-US" sz="1100" dirty="0"/>
          </a:p>
        </p:txBody>
      </p:sp>
      <p:sp>
        <p:nvSpPr>
          <p:cNvPr id="15" name="Shape 13"/>
          <p:cNvSpPr/>
          <p:nvPr/>
        </p:nvSpPr>
        <p:spPr>
          <a:xfrm>
            <a:off x="2587752" y="2459736"/>
            <a:ext cx="0" cy="256032"/>
          </a:xfrm>
          <a:prstGeom prst="line">
            <a:avLst/>
          </a:prstGeom>
          <a:noFill/>
          <a:ln w="12700">
            <a:solidFill>
              <a:srgbClr val="E6E6E6"/>
            </a:solidFill>
            <a:prstDash val="solid"/>
          </a:ln>
        </p:spPr>
      </p:sp>
      <p:sp>
        <p:nvSpPr>
          <p:cNvPr id="16" name="Text 14"/>
          <p:cNvSpPr txBox="1"/>
          <p:nvPr/>
        </p:nvSpPr>
        <p:spPr>
          <a:xfrm>
            <a:off x="2743200" y="2459736"/>
            <a:ext cx="896112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メーカーの販売奨励金、小売店とメーカーの共同キャンペーン</a:t>
            </a:r>
            <a:endParaRPr lang="en-US" sz="1100" dirty="0"/>
          </a:p>
        </p:txBody>
      </p:sp>
      <p:sp>
        <p:nvSpPr>
          <p:cNvPr id="17" name="Text 15"/>
          <p:cNvSpPr txBox="1"/>
          <p:nvPr/>
        </p:nvSpPr>
        <p:spPr>
          <a:xfrm>
            <a:off x="502920" y="2916936"/>
            <a:ext cx="11201400" cy="59436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小売店L社は、新商品のチラシを近隣住宅にポスティングして来店を促す店外プロモーションと、来店客に試食コーナーで商品の魅力を直接伝える店内プロモーションを組み合わせ、来店から購買までの流れを一貫して設計している。</a:t>
            </a:r>
            <a:endParaRPr lang="en-US" sz="850" dirty="0"/>
          </a:p>
        </p:txBody>
      </p:sp>
      <p:sp>
        <p:nvSpPr>
          <p:cNvPr id="18" name="Shape 16"/>
          <p:cNvSpPr/>
          <p:nvPr/>
        </p:nvSpPr>
        <p:spPr>
          <a:xfrm>
            <a:off x="502920" y="3584448"/>
            <a:ext cx="11201400" cy="0"/>
          </a:xfrm>
          <a:prstGeom prst="line">
            <a:avLst/>
          </a:prstGeom>
          <a:noFill/>
          <a:ln w="12700">
            <a:solidFill>
              <a:srgbClr val="E6E6E6"/>
            </a:solidFill>
            <a:prstDash val="solid"/>
          </a:ln>
        </p:spPr>
      </p:sp>
      <p:sp>
        <p:nvSpPr>
          <p:cNvPr id="19" name="Text 17"/>
          <p:cNvSpPr txBox="1"/>
          <p:nvPr/>
        </p:nvSpPr>
        <p:spPr>
          <a:xfrm>
            <a:off x="502920" y="3657600"/>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店外プロモーション（来店促進）と店内プロモーション（購買促進）は狙う効果の段階が異なる点を区別する。</a:t>
            </a:r>
            <a:endParaRPr lang="en-US" sz="950" dirty="0"/>
          </a:p>
        </p:txBody>
      </p:sp>
      <p:sp>
        <p:nvSpPr>
          <p:cNvPr id="20" name="Shape 18"/>
          <p:cNvSpPr/>
          <p:nvPr/>
        </p:nvSpPr>
        <p:spPr>
          <a:xfrm>
            <a:off x="502920" y="5989320"/>
            <a:ext cx="11201400" cy="0"/>
          </a:xfrm>
          <a:prstGeom prst="line">
            <a:avLst/>
          </a:prstGeom>
          <a:noFill/>
          <a:ln w="9525">
            <a:solidFill>
              <a:srgbClr val="171717"/>
            </a:solidFill>
            <a:prstDash val="solid"/>
          </a:ln>
        </p:spPr>
      </p:sp>
      <p:sp>
        <p:nvSpPr>
          <p:cNvPr id="21" name="Shape 19"/>
          <p:cNvSpPr/>
          <p:nvPr/>
        </p:nvSpPr>
        <p:spPr>
          <a:xfrm>
            <a:off x="502920" y="6062472"/>
            <a:ext cx="329184" cy="329184"/>
          </a:xfrm>
          <a:prstGeom prst="ellipse">
            <a:avLst/>
          </a:prstGeom>
          <a:solidFill>
            <a:srgbClr val="FF3B1F"/>
          </a:solidFill>
          <a:ln/>
        </p:spPr>
      </p:sp>
      <p:sp>
        <p:nvSpPr>
          <p:cNvPr id="22" name="Text 20"/>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3" name="Text 21"/>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4" name="Shape 22"/>
          <p:cNvSpPr/>
          <p:nvPr/>
        </p:nvSpPr>
        <p:spPr>
          <a:xfrm>
            <a:off x="2331720" y="6062472"/>
            <a:ext cx="0" cy="329184"/>
          </a:xfrm>
          <a:prstGeom prst="line">
            <a:avLst/>
          </a:prstGeom>
          <a:noFill/>
          <a:ln w="12700">
            <a:solidFill>
              <a:srgbClr val="E6E6E6"/>
            </a:solidFill>
            <a:prstDash val="solid"/>
          </a:ln>
        </p:spPr>
      </p:sp>
      <p:sp>
        <p:nvSpPr>
          <p:cNvPr id="25" name="Text 23"/>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関連：D-28 売場構成・陳列（店内プロモーションの一部はVMDと重なる）。</a:t>
            </a:r>
            <a:endParaRPr lang="en-US" sz="1000" dirty="0"/>
          </a:p>
        </p:txBody>
      </p:sp>
      <p:sp>
        <p:nvSpPr>
          <p:cNvPr id="26" name="Text 24"/>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7" name="Shape 25"/>
          <p:cNvSpPr/>
          <p:nvPr/>
        </p:nvSpPr>
        <p:spPr>
          <a:xfrm>
            <a:off x="2466594"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9" name="Shape 27"/>
          <p:cNvSpPr/>
          <p:nvPr/>
        </p:nvSpPr>
        <p:spPr>
          <a:xfrm>
            <a:off x="3431286"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1" name="Shape 29"/>
          <p:cNvSpPr/>
          <p:nvPr/>
        </p:nvSpPr>
        <p:spPr>
          <a:xfrm>
            <a:off x="4395978"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3" name="Shape 31"/>
          <p:cNvSpPr/>
          <p:nvPr/>
        </p:nvSpPr>
        <p:spPr>
          <a:xfrm>
            <a:off x="5360670" y="6464808"/>
            <a:ext cx="146304" cy="146304"/>
          </a:xfrm>
          <a:prstGeom prst="ellipse">
            <a:avLst/>
          </a:prstGeom>
          <a:solidFill>
            <a:srgbClr val="FFFFFF"/>
          </a:solidFill>
          <a:ln w="12700">
            <a:solidFill>
              <a:srgbClr val="E6E6E6"/>
            </a:solidFill>
            <a:prstDash val="solid"/>
          </a:ln>
        </p:spPr>
      </p:sp>
      <p:sp>
        <p:nvSpPr>
          <p:cNvPr id="34" name="Text 32"/>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'19</a:t>
            </a:r>
            <a:endParaRPr lang="en-US" sz="800" dirty="0"/>
          </a:p>
        </p:txBody>
      </p:sp>
      <p:sp>
        <p:nvSpPr>
          <p:cNvPr id="35" name="Shape 33"/>
          <p:cNvSpPr/>
          <p:nvPr/>
        </p:nvSpPr>
        <p:spPr>
          <a:xfrm>
            <a:off x="6325362"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7" name="Shape 35"/>
          <p:cNvSpPr/>
          <p:nvPr/>
        </p:nvSpPr>
        <p:spPr>
          <a:xfrm>
            <a:off x="7290054" y="6464808"/>
            <a:ext cx="146304" cy="146304"/>
          </a:xfrm>
          <a:prstGeom prst="ellipse">
            <a:avLst/>
          </a:prstGeom>
          <a:solidFill>
            <a:srgbClr val="FFFFFF"/>
          </a:solidFill>
          <a:ln w="12700">
            <a:solidFill>
              <a:srgbClr val="E6E6E6"/>
            </a:solidFill>
            <a:prstDash val="solid"/>
          </a:ln>
        </p:spPr>
      </p:sp>
      <p:sp>
        <p:nvSpPr>
          <p:cNvPr id="38" name="Text 36"/>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'21</a:t>
            </a:r>
            <a:endParaRPr lang="en-US" sz="800" dirty="0"/>
          </a:p>
        </p:txBody>
      </p:sp>
      <p:sp>
        <p:nvSpPr>
          <p:cNvPr id="39" name="Shape 37"/>
          <p:cNvSpPr/>
          <p:nvPr/>
        </p:nvSpPr>
        <p:spPr>
          <a:xfrm>
            <a:off x="8254746" y="6464808"/>
            <a:ext cx="146304" cy="146304"/>
          </a:xfrm>
          <a:prstGeom prst="ellipse">
            <a:avLst/>
          </a:prstGeom>
          <a:solidFill>
            <a:srgbClr val="FFFFFF"/>
          </a:solidFill>
          <a:ln w="12700">
            <a:solidFill>
              <a:srgbClr val="E6E6E6"/>
            </a:solidFill>
            <a:prstDash val="solid"/>
          </a:ln>
        </p:spPr>
      </p:sp>
      <p:sp>
        <p:nvSpPr>
          <p:cNvPr id="40" name="Text 38"/>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'22</a:t>
            </a:r>
            <a:endParaRPr lang="en-US" sz="800" dirty="0"/>
          </a:p>
        </p:txBody>
      </p:sp>
      <p:sp>
        <p:nvSpPr>
          <p:cNvPr id="41" name="Shape 39"/>
          <p:cNvSpPr/>
          <p:nvPr/>
        </p:nvSpPr>
        <p:spPr>
          <a:xfrm>
            <a:off x="9219438" y="6464808"/>
            <a:ext cx="146304" cy="146304"/>
          </a:xfrm>
          <a:prstGeom prst="ellipse">
            <a:avLst/>
          </a:prstGeom>
          <a:solidFill>
            <a:srgbClr val="FFFFFF"/>
          </a:solidFill>
          <a:ln w="12700">
            <a:solidFill>
              <a:srgbClr val="E6E6E6"/>
            </a:solidFill>
            <a:prstDash val="solid"/>
          </a:ln>
        </p:spPr>
      </p:sp>
      <p:sp>
        <p:nvSpPr>
          <p:cNvPr id="42" name="Text 40"/>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'23</a:t>
            </a:r>
            <a:endParaRPr lang="en-US" sz="800" dirty="0"/>
          </a:p>
        </p:txBody>
      </p:sp>
      <p:sp>
        <p:nvSpPr>
          <p:cNvPr id="43" name="Shape 41"/>
          <p:cNvSpPr/>
          <p:nvPr/>
        </p:nvSpPr>
        <p:spPr>
          <a:xfrm>
            <a:off x="10184130"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5" name="Shape 43"/>
          <p:cNvSpPr/>
          <p:nvPr/>
        </p:nvSpPr>
        <p:spPr>
          <a:xfrm>
            <a:off x="11148822" y="6464808"/>
            <a:ext cx="146304" cy="146304"/>
          </a:xfrm>
          <a:prstGeom prst="ellipse">
            <a:avLst/>
          </a:prstGeom>
          <a:solidFill>
            <a:srgbClr val="FFFFFF"/>
          </a:solidFill>
          <a:ln w="12700">
            <a:solidFill>
              <a:srgbClr val="E6E6E6"/>
            </a:solidFill>
            <a:prstDash val="solid"/>
          </a:ln>
        </p:spPr>
      </p:sp>
      <p:sp>
        <p:nvSpPr>
          <p:cNvPr id="46" name="Text 44"/>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dirty="0">
                <a:solidFill>
                  <a:srgbClr val="8A8A8A"/>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D-31 ／ 商品在庫管理・需要予測（店舗販売系）</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回転率は高ければ高いほど良いとは限らない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欠品が直接その場の販売機会損失につながる店舗特有の視点。</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55448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商品回転率</a:t>
            </a:r>
            <a:endParaRPr lang="en-US" sz="1100" dirty="0"/>
          </a:p>
        </p:txBody>
      </p:sp>
      <p:sp>
        <p:nvSpPr>
          <p:cNvPr id="9" name="Shape 7"/>
          <p:cNvSpPr/>
          <p:nvPr/>
        </p:nvSpPr>
        <p:spPr>
          <a:xfrm>
            <a:off x="2039112" y="1691640"/>
            <a:ext cx="0" cy="256032"/>
          </a:xfrm>
          <a:prstGeom prst="line">
            <a:avLst/>
          </a:prstGeom>
          <a:noFill/>
          <a:ln w="12700">
            <a:solidFill>
              <a:srgbClr val="E6E6E6"/>
            </a:solidFill>
            <a:prstDash val="solid"/>
          </a:ln>
        </p:spPr>
      </p:sp>
      <p:sp>
        <p:nvSpPr>
          <p:cNvPr id="10" name="Text 8"/>
          <p:cNvSpPr txBox="1"/>
          <p:nvPr/>
        </p:nvSpPr>
        <p:spPr>
          <a:xfrm>
            <a:off x="2194560" y="1691640"/>
            <a:ext cx="950976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売上高（または売上原価） ÷ 平均在庫高</a:t>
            </a:r>
            <a:endParaRPr lang="en-US" sz="1100" dirty="0"/>
          </a:p>
        </p:txBody>
      </p:sp>
      <p:sp>
        <p:nvSpPr>
          <p:cNvPr id="11" name="Text 9"/>
          <p:cNvSpPr txBox="1"/>
          <p:nvPr/>
        </p:nvSpPr>
        <p:spPr>
          <a:xfrm>
            <a:off x="502920" y="2167128"/>
            <a:ext cx="11201400" cy="50292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年間売上高1,200万円・平均在庫高200万円→商品回転率＝年6回。業界平均より低ければ過剰在庫・品揃え見直しの材料になる。</a:t>
            </a:r>
            <a:endParaRPr lang="en-US" sz="850" dirty="0"/>
          </a:p>
        </p:txBody>
      </p:sp>
      <p:sp>
        <p:nvSpPr>
          <p:cNvPr id="12" name="Shape 10"/>
          <p:cNvSpPr/>
          <p:nvPr/>
        </p:nvSpPr>
        <p:spPr>
          <a:xfrm>
            <a:off x="502920" y="2743200"/>
            <a:ext cx="11201400" cy="0"/>
          </a:xfrm>
          <a:prstGeom prst="line">
            <a:avLst/>
          </a:prstGeom>
          <a:noFill/>
          <a:ln w="12700">
            <a:solidFill>
              <a:srgbClr val="E6E6E6"/>
            </a:solidFill>
            <a:prstDash val="solid"/>
          </a:ln>
        </p:spPr>
      </p:sp>
      <p:sp>
        <p:nvSpPr>
          <p:cNvPr id="13" name="Text 11"/>
          <p:cNvSpPr txBox="1"/>
          <p:nvPr/>
        </p:nvSpPr>
        <p:spPr>
          <a:xfrm>
            <a:off x="502920" y="2816352"/>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回転率を上げすぎると発注頻度増による事務コスト増、欠品リスク増につながる。D-29の交差比率のように収益性とのバランスで評価する。</a:t>
            </a:r>
            <a:endParaRPr lang="en-US" sz="950" dirty="0"/>
          </a:p>
        </p:txBody>
      </p:sp>
      <p:sp>
        <p:nvSpPr>
          <p:cNvPr id="14" name="Shape 12"/>
          <p:cNvSpPr/>
          <p:nvPr/>
        </p:nvSpPr>
        <p:spPr>
          <a:xfrm>
            <a:off x="502920" y="5989320"/>
            <a:ext cx="11201400" cy="0"/>
          </a:xfrm>
          <a:prstGeom prst="line">
            <a:avLst/>
          </a:prstGeom>
          <a:noFill/>
          <a:ln w="9525">
            <a:solidFill>
              <a:srgbClr val="171717"/>
            </a:solidFill>
            <a:prstDash val="solid"/>
          </a:ln>
        </p:spPr>
      </p:sp>
      <p:sp>
        <p:nvSpPr>
          <p:cNvPr id="15" name="Shape 13"/>
          <p:cNvSpPr/>
          <p:nvPr/>
        </p:nvSpPr>
        <p:spPr>
          <a:xfrm>
            <a:off x="502920" y="6062472"/>
            <a:ext cx="329184" cy="329184"/>
          </a:xfrm>
          <a:prstGeom prst="ellipse">
            <a:avLst/>
          </a:prstGeom>
          <a:solidFill>
            <a:srgbClr val="FF3B1F"/>
          </a:solidFill>
          <a:ln/>
        </p:spPr>
      </p:sp>
      <p:sp>
        <p:nvSpPr>
          <p:cNvPr id="16" name="Text 14"/>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17" name="Text 15"/>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18" name="Shape 16"/>
          <p:cNvSpPr/>
          <p:nvPr/>
        </p:nvSpPr>
        <p:spPr>
          <a:xfrm>
            <a:off x="2331720" y="6062472"/>
            <a:ext cx="0" cy="329184"/>
          </a:xfrm>
          <a:prstGeom prst="line">
            <a:avLst/>
          </a:prstGeom>
          <a:noFill/>
          <a:ln w="12700">
            <a:solidFill>
              <a:srgbClr val="E6E6E6"/>
            </a:solidFill>
            <a:prstDash val="solid"/>
          </a:ln>
        </p:spPr>
      </p:sp>
      <p:sp>
        <p:nvSpPr>
          <p:cNvPr id="19" name="Text 17"/>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関連：D-20 在庫管理（ABC分析・EOQと同じ考え方の店舗版）。</a:t>
            </a:r>
            <a:endParaRPr lang="en-US" sz="1000" dirty="0"/>
          </a:p>
        </p:txBody>
      </p:sp>
      <p:sp>
        <p:nvSpPr>
          <p:cNvPr id="20" name="Text 18"/>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1" name="Shape 19"/>
          <p:cNvSpPr/>
          <p:nvPr/>
        </p:nvSpPr>
        <p:spPr>
          <a:xfrm>
            <a:off x="2466594" y="6464808"/>
            <a:ext cx="146304" cy="146304"/>
          </a:xfrm>
          <a:prstGeom prst="ellipse">
            <a:avLst/>
          </a:prstGeom>
          <a:solidFill>
            <a:srgbClr val="FF3B1F"/>
          </a:solidFill>
          <a:ln w="12700">
            <a:solidFill>
              <a:srgbClr val="FF3B1F"/>
            </a:solidFill>
            <a:prstDash val="solid"/>
          </a:ln>
        </p:spPr>
      </p:sp>
      <p:sp>
        <p:nvSpPr>
          <p:cNvPr id="22" name="Text 20"/>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3" name="Shape 21"/>
          <p:cNvSpPr/>
          <p:nvPr/>
        </p:nvSpPr>
        <p:spPr>
          <a:xfrm>
            <a:off x="3431286" y="6464808"/>
            <a:ext cx="146304" cy="146304"/>
          </a:xfrm>
          <a:prstGeom prst="ellipse">
            <a:avLst/>
          </a:prstGeom>
          <a:solidFill>
            <a:srgbClr val="FF3B1F"/>
          </a:solidFill>
          <a:ln w="12700">
            <a:solidFill>
              <a:srgbClr val="FF3B1F"/>
            </a:solidFill>
            <a:prstDash val="solid"/>
          </a:ln>
        </p:spPr>
      </p:sp>
      <p:sp>
        <p:nvSpPr>
          <p:cNvPr id="24" name="Text 22"/>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25" name="Shape 23"/>
          <p:cNvSpPr/>
          <p:nvPr/>
        </p:nvSpPr>
        <p:spPr>
          <a:xfrm>
            <a:off x="4395978" y="6464808"/>
            <a:ext cx="146304" cy="146304"/>
          </a:xfrm>
          <a:prstGeom prst="ellipse">
            <a:avLst/>
          </a:prstGeom>
          <a:solidFill>
            <a:srgbClr val="FF3B1F"/>
          </a:solidFill>
          <a:ln w="12700">
            <a:solidFill>
              <a:srgbClr val="FF3B1F"/>
            </a:solidFill>
            <a:prstDash val="solid"/>
          </a:ln>
        </p:spPr>
      </p:sp>
      <p:sp>
        <p:nvSpPr>
          <p:cNvPr id="26" name="Text 24"/>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27" name="Shape 25"/>
          <p:cNvSpPr/>
          <p:nvPr/>
        </p:nvSpPr>
        <p:spPr>
          <a:xfrm>
            <a:off x="5360670"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29" name="Shape 27"/>
          <p:cNvSpPr/>
          <p:nvPr/>
        </p:nvSpPr>
        <p:spPr>
          <a:xfrm>
            <a:off x="6325362"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1" name="Shape 29"/>
          <p:cNvSpPr/>
          <p:nvPr/>
        </p:nvSpPr>
        <p:spPr>
          <a:xfrm>
            <a:off x="7290054"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3" name="Shape 31"/>
          <p:cNvSpPr/>
          <p:nvPr/>
        </p:nvSpPr>
        <p:spPr>
          <a:xfrm>
            <a:off x="8254746"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35" name="Shape 33"/>
          <p:cNvSpPr/>
          <p:nvPr/>
        </p:nvSpPr>
        <p:spPr>
          <a:xfrm>
            <a:off x="9219438"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37" name="Shape 35"/>
          <p:cNvSpPr/>
          <p:nvPr/>
        </p:nvSpPr>
        <p:spPr>
          <a:xfrm>
            <a:off x="10184130"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39" name="Shape 37"/>
          <p:cNvSpPr/>
          <p:nvPr/>
        </p:nvSpPr>
        <p:spPr>
          <a:xfrm>
            <a:off x="11148822"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D-32 ／ 輸配送管理（輸送手段、共同輸配送）</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モーダルシフトは環境と労働力不足の両方に効く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トラック輸送の一部を鉄道・船舶に切り替え、CO2削減とドライバー不足対応を両立。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92024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モーダルシフト</a:t>
            </a:r>
            <a:endParaRPr lang="en-US" sz="1100" dirty="0"/>
          </a:p>
        </p:txBody>
      </p:sp>
      <p:sp>
        <p:nvSpPr>
          <p:cNvPr id="9" name="Shape 7"/>
          <p:cNvSpPr/>
          <p:nvPr/>
        </p:nvSpPr>
        <p:spPr>
          <a:xfrm>
            <a:off x="2404872" y="1691640"/>
            <a:ext cx="0" cy="256032"/>
          </a:xfrm>
          <a:prstGeom prst="line">
            <a:avLst/>
          </a:prstGeom>
          <a:noFill/>
          <a:ln w="12700">
            <a:solidFill>
              <a:srgbClr val="E6E6E6"/>
            </a:solidFill>
            <a:prstDash val="solid"/>
          </a:ln>
        </p:spPr>
      </p:sp>
      <p:sp>
        <p:nvSpPr>
          <p:cNvPr id="10" name="Text 8"/>
          <p:cNvSpPr txBox="1"/>
          <p:nvPr/>
        </p:nvSpPr>
        <p:spPr>
          <a:xfrm>
            <a:off x="2560320" y="1691640"/>
            <a:ext cx="914400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トラック輸送の一部を鉄道・船舶に切り替える取り組み</a:t>
            </a:r>
            <a:endParaRPr lang="en-US" sz="1100" dirty="0"/>
          </a:p>
        </p:txBody>
      </p:sp>
      <p:sp>
        <p:nvSpPr>
          <p:cNvPr id="11" name="Text 9"/>
          <p:cNvSpPr txBox="1"/>
          <p:nvPr/>
        </p:nvSpPr>
        <p:spPr>
          <a:xfrm>
            <a:off x="502920" y="2075688"/>
            <a:ext cx="192024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共同輸配送</a:t>
            </a:r>
            <a:endParaRPr lang="en-US" sz="1100" dirty="0"/>
          </a:p>
        </p:txBody>
      </p:sp>
      <p:sp>
        <p:nvSpPr>
          <p:cNvPr id="12" name="Shape 10"/>
          <p:cNvSpPr/>
          <p:nvPr/>
        </p:nvSpPr>
        <p:spPr>
          <a:xfrm>
            <a:off x="2404872" y="2075688"/>
            <a:ext cx="0" cy="256032"/>
          </a:xfrm>
          <a:prstGeom prst="line">
            <a:avLst/>
          </a:prstGeom>
          <a:noFill/>
          <a:ln w="12700">
            <a:solidFill>
              <a:srgbClr val="E6E6E6"/>
            </a:solidFill>
            <a:prstDash val="solid"/>
          </a:ln>
        </p:spPr>
      </p:sp>
      <p:sp>
        <p:nvSpPr>
          <p:cNvPr id="13" name="Text 11"/>
          <p:cNvSpPr txBox="1"/>
          <p:nvPr/>
        </p:nvSpPr>
        <p:spPr>
          <a:xfrm>
            <a:off x="2560320" y="2075688"/>
            <a:ext cx="914400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複数荷主が1台のトラックに積み合わせ、積載効率を高める</a:t>
            </a:r>
            <a:endParaRPr lang="en-US" sz="1100" dirty="0"/>
          </a:p>
        </p:txBody>
      </p:sp>
      <p:sp>
        <p:nvSpPr>
          <p:cNvPr id="14" name="Text 12"/>
          <p:cNvSpPr txBox="1"/>
          <p:nvPr/>
        </p:nvSpPr>
        <p:spPr>
          <a:xfrm>
            <a:off x="502920" y="2551176"/>
            <a:ext cx="11201400" cy="50292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食品メーカーA社・B社が別々に走らせていたトラックを1台に積み合わせ、台数・走行距離を減らしながら両社の商品を届ける。</a:t>
            </a:r>
            <a:endParaRPr lang="en-US" sz="850" dirty="0"/>
          </a:p>
        </p:txBody>
      </p:sp>
      <p:sp>
        <p:nvSpPr>
          <p:cNvPr id="15" name="Shape 13"/>
          <p:cNvSpPr/>
          <p:nvPr/>
        </p:nvSpPr>
        <p:spPr>
          <a:xfrm>
            <a:off x="502920" y="3127248"/>
            <a:ext cx="11201400" cy="0"/>
          </a:xfrm>
          <a:prstGeom prst="line">
            <a:avLst/>
          </a:prstGeom>
          <a:noFill/>
          <a:ln w="12700">
            <a:solidFill>
              <a:srgbClr val="E6E6E6"/>
            </a:solidFill>
            <a:prstDash val="solid"/>
          </a:ln>
        </p:spPr>
      </p:sp>
      <p:sp>
        <p:nvSpPr>
          <p:cNvPr id="16" name="Text 14"/>
          <p:cNvSpPr txBox="1"/>
          <p:nvPr/>
        </p:nvSpPr>
        <p:spPr>
          <a:xfrm>
            <a:off x="502920" y="3200400"/>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モーダルシフトは「コスト削減だけ」の施策ではなく、環境負荷低減と労働力不足対応の複数の目的を持つ。</a:t>
            </a:r>
            <a:endParaRPr lang="en-US" sz="950" dirty="0"/>
          </a:p>
        </p:txBody>
      </p:sp>
      <p:sp>
        <p:nvSpPr>
          <p:cNvPr id="17" name="Shape 15"/>
          <p:cNvSpPr/>
          <p:nvPr/>
        </p:nvSpPr>
        <p:spPr>
          <a:xfrm>
            <a:off x="502920" y="5989320"/>
            <a:ext cx="11201400" cy="0"/>
          </a:xfrm>
          <a:prstGeom prst="line">
            <a:avLst/>
          </a:prstGeom>
          <a:noFill/>
          <a:ln w="9525">
            <a:solidFill>
              <a:srgbClr val="171717"/>
            </a:solidFill>
            <a:prstDash val="solid"/>
          </a:ln>
        </p:spPr>
      </p:sp>
      <p:sp>
        <p:nvSpPr>
          <p:cNvPr id="18" name="Shape 16"/>
          <p:cNvSpPr/>
          <p:nvPr/>
        </p:nvSpPr>
        <p:spPr>
          <a:xfrm>
            <a:off x="502920" y="6062472"/>
            <a:ext cx="329184" cy="329184"/>
          </a:xfrm>
          <a:prstGeom prst="ellipse">
            <a:avLst/>
          </a:prstGeom>
          <a:solidFill>
            <a:srgbClr val="FF3B1F"/>
          </a:solidFill>
          <a:ln/>
        </p:spPr>
      </p:sp>
      <p:sp>
        <p:nvSpPr>
          <p:cNvPr id="19" name="Text 17"/>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0" name="Text 18"/>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1" name="Shape 19"/>
          <p:cNvSpPr/>
          <p:nvPr/>
        </p:nvSpPr>
        <p:spPr>
          <a:xfrm>
            <a:off x="2331720" y="6062472"/>
            <a:ext cx="0" cy="329184"/>
          </a:xfrm>
          <a:prstGeom prst="line">
            <a:avLst/>
          </a:prstGeom>
          <a:noFill/>
          <a:ln w="12700">
            <a:solidFill>
              <a:srgbClr val="E6E6E6"/>
            </a:solidFill>
            <a:prstDash val="solid"/>
          </a:ln>
        </p:spPr>
      </p:sp>
      <p:sp>
        <p:nvSpPr>
          <p:cNvPr id="22" name="Text 20"/>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関連：D-33 物流センター管理（輸配送の結節点となる物流拠点）。</a:t>
            </a:r>
            <a:endParaRPr lang="en-US" sz="1000" dirty="0"/>
          </a:p>
        </p:txBody>
      </p:sp>
      <p:sp>
        <p:nvSpPr>
          <p:cNvPr id="23" name="Text 21"/>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4" name="Shape 22"/>
          <p:cNvSpPr/>
          <p:nvPr/>
        </p:nvSpPr>
        <p:spPr>
          <a:xfrm>
            <a:off x="2466594" y="6464808"/>
            <a:ext cx="146304" cy="146304"/>
          </a:xfrm>
          <a:prstGeom prst="ellipse">
            <a:avLst/>
          </a:prstGeom>
          <a:solidFill>
            <a:srgbClr val="FF3B1F"/>
          </a:solidFill>
          <a:ln w="12700">
            <a:solidFill>
              <a:srgbClr val="FF3B1F"/>
            </a:solidFill>
            <a:prstDash val="solid"/>
          </a:ln>
        </p:spPr>
      </p:sp>
      <p:sp>
        <p:nvSpPr>
          <p:cNvPr id="25" name="Text 23"/>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6" name="Shape 24"/>
          <p:cNvSpPr/>
          <p:nvPr/>
        </p:nvSpPr>
        <p:spPr>
          <a:xfrm>
            <a:off x="3431286" y="6464808"/>
            <a:ext cx="146304" cy="146304"/>
          </a:xfrm>
          <a:prstGeom prst="ellipse">
            <a:avLst/>
          </a:prstGeom>
          <a:solidFill>
            <a:srgbClr val="FF3B1F"/>
          </a:solidFill>
          <a:ln w="12700">
            <a:solidFill>
              <a:srgbClr val="FF3B1F"/>
            </a:solidFill>
            <a:prstDash val="solid"/>
          </a:ln>
        </p:spPr>
      </p:sp>
      <p:sp>
        <p:nvSpPr>
          <p:cNvPr id="27" name="Text 25"/>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28" name="Shape 26"/>
          <p:cNvSpPr/>
          <p:nvPr/>
        </p:nvSpPr>
        <p:spPr>
          <a:xfrm>
            <a:off x="4395978" y="6464808"/>
            <a:ext cx="146304" cy="146304"/>
          </a:xfrm>
          <a:prstGeom prst="ellipse">
            <a:avLst/>
          </a:prstGeom>
          <a:solidFill>
            <a:srgbClr val="FF3B1F"/>
          </a:solidFill>
          <a:ln w="12700">
            <a:solidFill>
              <a:srgbClr val="FF3B1F"/>
            </a:solidFill>
            <a:prstDash val="solid"/>
          </a:ln>
        </p:spPr>
      </p:sp>
      <p:sp>
        <p:nvSpPr>
          <p:cNvPr id="29" name="Text 27"/>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0" name="Shape 28"/>
          <p:cNvSpPr/>
          <p:nvPr/>
        </p:nvSpPr>
        <p:spPr>
          <a:xfrm>
            <a:off x="5360670"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2" name="Shape 30"/>
          <p:cNvSpPr/>
          <p:nvPr/>
        </p:nvSpPr>
        <p:spPr>
          <a:xfrm>
            <a:off x="6325362"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4" name="Shape 32"/>
          <p:cNvSpPr/>
          <p:nvPr/>
        </p:nvSpPr>
        <p:spPr>
          <a:xfrm>
            <a:off x="7290054"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6" name="Shape 34"/>
          <p:cNvSpPr/>
          <p:nvPr/>
        </p:nvSpPr>
        <p:spPr>
          <a:xfrm>
            <a:off x="8254746"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38" name="Shape 36"/>
          <p:cNvSpPr/>
          <p:nvPr/>
        </p:nvSpPr>
        <p:spPr>
          <a:xfrm>
            <a:off x="9219438"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0" name="Shape 38"/>
          <p:cNvSpPr/>
          <p:nvPr/>
        </p:nvSpPr>
        <p:spPr>
          <a:xfrm>
            <a:off x="10184130"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2" name="Shape 40"/>
          <p:cNvSpPr/>
          <p:nvPr/>
        </p:nvSpPr>
        <p:spPr>
          <a:xfrm>
            <a:off x="11148822"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D-33 ／ 物流センター管理（機能・設計・運営）</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在庫を持つかどうかがDCとTCの決定的な違い</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DC（在庫型）とTCクロスドッキング（通過型）の2タイプ。</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892808"/>
            <a:ext cx="11887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DC</a:t>
            </a:r>
            <a:endParaRPr lang="en-US" sz="1500" dirty="0"/>
          </a:p>
        </p:txBody>
      </p:sp>
      <p:sp>
        <p:nvSpPr>
          <p:cNvPr id="9" name="Text 7"/>
          <p:cNvSpPr txBox="1"/>
          <p:nvPr/>
        </p:nvSpPr>
        <p:spPr>
          <a:xfrm>
            <a:off x="1783080" y="1911096"/>
            <a:ext cx="137160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在庫型</a:t>
            </a:r>
            <a:endParaRPr lang="en-US" sz="1100" dirty="0"/>
          </a:p>
        </p:txBody>
      </p:sp>
      <p:sp>
        <p:nvSpPr>
          <p:cNvPr id="10" name="Text 8"/>
          <p:cNvSpPr txBox="1"/>
          <p:nvPr/>
        </p:nvSpPr>
        <p:spPr>
          <a:xfrm>
            <a:off x="3246120" y="1856232"/>
            <a:ext cx="8458200" cy="11247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商品を一定期間在庫として保管し注文に応じ出荷。欠品対応力高いが保管コスト大</a:t>
            </a:r>
            <a:endParaRPr lang="en-US" sz="1100" dirty="0"/>
          </a:p>
        </p:txBody>
      </p:sp>
      <p:sp>
        <p:nvSpPr>
          <p:cNvPr id="11" name="Shape 9"/>
          <p:cNvSpPr/>
          <p:nvPr/>
        </p:nvSpPr>
        <p:spPr>
          <a:xfrm>
            <a:off x="502920" y="3063240"/>
            <a:ext cx="11201400" cy="0"/>
          </a:xfrm>
          <a:prstGeom prst="line">
            <a:avLst/>
          </a:prstGeom>
          <a:noFill/>
          <a:ln w="12700">
            <a:solidFill>
              <a:srgbClr val="E6E6E6"/>
            </a:solidFill>
            <a:prstDash val="solid"/>
          </a:ln>
        </p:spPr>
      </p:sp>
      <p:sp>
        <p:nvSpPr>
          <p:cNvPr id="12" name="Text 10"/>
          <p:cNvSpPr txBox="1"/>
          <p:nvPr/>
        </p:nvSpPr>
        <p:spPr>
          <a:xfrm>
            <a:off x="502920" y="3172968"/>
            <a:ext cx="1188720" cy="320040"/>
          </a:xfrm>
          <a:prstGeom prst="rect">
            <a:avLst/>
          </a:prstGeom>
          <a:noFill/>
          <a:ln/>
        </p:spPr>
        <p:txBody>
          <a:bodyPr wrap="square" lIns="0" tIns="0" rIns="0" bIns="0" rtlCol="0" anchor="ctr"/>
          <a:lstStyle/>
          <a:p>
            <a:pPr indent="0" marL="0">
              <a:buNone/>
            </a:pPr>
            <a:r>
              <a:rPr lang="en-US" sz="1500" b="1" dirty="0">
                <a:solidFill>
                  <a:srgbClr val="171717"/>
                </a:solidFill>
                <a:latin typeface="Yu Gothic" pitchFamily="34" charset="0"/>
                <a:ea typeface="Yu Gothic" pitchFamily="34" charset="-122"/>
                <a:cs typeface="Yu Gothic" pitchFamily="34" charset="-120"/>
              </a:rPr>
              <a:t>TC</a:t>
            </a:r>
            <a:endParaRPr lang="en-US" sz="1500" dirty="0"/>
          </a:p>
        </p:txBody>
      </p:sp>
      <p:sp>
        <p:nvSpPr>
          <p:cNvPr id="13" name="Text 11"/>
          <p:cNvSpPr txBox="1"/>
          <p:nvPr/>
        </p:nvSpPr>
        <p:spPr>
          <a:xfrm>
            <a:off x="1783080" y="3191256"/>
            <a:ext cx="1371600" cy="274320"/>
          </a:xfrm>
          <a:prstGeom prst="rect">
            <a:avLst/>
          </a:prstGeom>
          <a:noFill/>
          <a:ln/>
        </p:spPr>
        <p:txBody>
          <a:bodyPr wrap="square" lIns="0" tIns="0" rIns="0" bIns="0" rtlCol="0" anchor="ctr"/>
          <a:lstStyle/>
          <a:p>
            <a:pPr indent="0" marL="0">
              <a:buNone/>
            </a:pPr>
            <a:r>
              <a:rPr lang="en-US" sz="1100" dirty="0">
                <a:solidFill>
                  <a:srgbClr val="FF3B1F"/>
                </a:solidFill>
                <a:latin typeface="Consolas" pitchFamily="34" charset="0"/>
                <a:ea typeface="Consolas" pitchFamily="34" charset="-122"/>
                <a:cs typeface="Consolas" pitchFamily="34" charset="-120"/>
              </a:rPr>
              <a:t>通過型</a:t>
            </a:r>
            <a:endParaRPr lang="en-US" sz="1100" dirty="0"/>
          </a:p>
        </p:txBody>
      </p:sp>
      <p:sp>
        <p:nvSpPr>
          <p:cNvPr id="14" name="Text 12"/>
          <p:cNvSpPr txBox="1"/>
          <p:nvPr/>
        </p:nvSpPr>
        <p:spPr>
          <a:xfrm>
            <a:off x="3246120" y="3136392"/>
            <a:ext cx="8458200" cy="1124712"/>
          </a:xfrm>
          <a:prstGeom prst="rect">
            <a:avLst/>
          </a:prstGeom>
          <a:noFill/>
          <a:ln/>
        </p:spPr>
        <p:txBody>
          <a:bodyPr wrap="square" lIns="0" tIns="0" rIns="0" bIns="0" rtlCol="0" anchor="ctr"/>
          <a:lstStyle/>
          <a:p>
            <a:pPr indent="0" marL="0">
              <a:lnSpc>
                <a:spcPct val="120000"/>
              </a:lnSpc>
              <a:buNone/>
            </a:pPr>
            <a:r>
              <a:rPr lang="en-US" sz="1100" dirty="0">
                <a:solidFill>
                  <a:srgbClr val="8A8A8A"/>
                </a:solidFill>
                <a:latin typeface="Yu Gothic" pitchFamily="34" charset="0"/>
                <a:ea typeface="Yu Gothic" pitchFamily="34" charset="-122"/>
                <a:cs typeface="Yu Gothic" pitchFamily="34" charset="-120"/>
              </a:rPr>
              <a:t>在庫を持たず届いた荷物をすぐ仕分け出荷（クロスドッキング）。生鮮・日配品向き</a:t>
            </a:r>
            <a:endParaRPr lang="en-US" sz="1100" dirty="0"/>
          </a:p>
        </p:txBody>
      </p:sp>
      <p:sp>
        <p:nvSpPr>
          <p:cNvPr id="15" name="Text 13"/>
          <p:cNvSpPr txBox="1"/>
          <p:nvPr/>
        </p:nvSpPr>
        <p:spPr>
          <a:xfrm>
            <a:off x="502920" y="4480560"/>
            <a:ext cx="11201400" cy="64008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コンビニ向け食品卸M社は、鮮度が重要な弁当・惣菜は工場から届いた商品をすぐ仕分けて各店舗へ出荷するTC（クロスドッキング型）の物流拠点を使い、日持ちする加工食品・日用品は一定期間まとめて在庫するDC型の物流拠点で管理している。</a:t>
            </a:r>
            <a:endParaRPr lang="en-US" sz="850" dirty="0"/>
          </a:p>
        </p:txBody>
      </p:sp>
      <p:sp>
        <p:nvSpPr>
          <p:cNvPr id="16" name="Shape 14"/>
          <p:cNvSpPr/>
          <p:nvPr/>
        </p:nvSpPr>
        <p:spPr>
          <a:xfrm>
            <a:off x="502920" y="5989320"/>
            <a:ext cx="11201400" cy="0"/>
          </a:xfrm>
          <a:prstGeom prst="line">
            <a:avLst/>
          </a:prstGeom>
          <a:noFill/>
          <a:ln w="9525">
            <a:solidFill>
              <a:srgbClr val="171717"/>
            </a:solidFill>
            <a:prstDash val="solid"/>
          </a:ln>
        </p:spPr>
      </p:sp>
      <p:sp>
        <p:nvSpPr>
          <p:cNvPr id="17" name="Shape 15"/>
          <p:cNvSpPr/>
          <p:nvPr/>
        </p:nvSpPr>
        <p:spPr>
          <a:xfrm>
            <a:off x="502920" y="6062472"/>
            <a:ext cx="329184" cy="329184"/>
          </a:xfrm>
          <a:prstGeom prst="ellipse">
            <a:avLst/>
          </a:prstGeom>
          <a:solidFill>
            <a:srgbClr val="FF3B1F"/>
          </a:solidFill>
          <a:ln/>
        </p:spPr>
      </p:sp>
      <p:sp>
        <p:nvSpPr>
          <p:cNvPr id="18" name="Text 16"/>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19" name="Text 17"/>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0" name="Shape 18"/>
          <p:cNvSpPr/>
          <p:nvPr/>
        </p:nvSpPr>
        <p:spPr>
          <a:xfrm>
            <a:off x="2331720" y="6062472"/>
            <a:ext cx="0" cy="329184"/>
          </a:xfrm>
          <a:prstGeom prst="line">
            <a:avLst/>
          </a:prstGeom>
          <a:noFill/>
          <a:ln w="12700">
            <a:solidFill>
              <a:srgbClr val="E6E6E6"/>
            </a:solidFill>
            <a:prstDash val="solid"/>
          </a:ln>
        </p:spPr>
      </p:sp>
      <p:sp>
        <p:nvSpPr>
          <p:cNvPr id="21" name="Text 19"/>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ひっかけ：「TCは在庫スペースを大きく確保」は誤り。DC・TCは「在庫を持つか」を軸に区別する。</a:t>
            </a:r>
            <a:endParaRPr lang="en-US" sz="1000" dirty="0"/>
          </a:p>
        </p:txBody>
      </p:sp>
      <p:sp>
        <p:nvSpPr>
          <p:cNvPr id="22" name="Text 20"/>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3" name="Shape 21"/>
          <p:cNvSpPr/>
          <p:nvPr/>
        </p:nvSpPr>
        <p:spPr>
          <a:xfrm>
            <a:off x="2466594" y="6464808"/>
            <a:ext cx="146304" cy="146304"/>
          </a:xfrm>
          <a:prstGeom prst="ellipse">
            <a:avLst/>
          </a:prstGeom>
          <a:solidFill>
            <a:srgbClr val="FF3B1F"/>
          </a:solidFill>
          <a:ln w="12700">
            <a:solidFill>
              <a:srgbClr val="FF3B1F"/>
            </a:solidFill>
            <a:prstDash val="solid"/>
          </a:ln>
        </p:spPr>
      </p:sp>
      <p:sp>
        <p:nvSpPr>
          <p:cNvPr id="24" name="Text 22"/>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5" name="Shape 23"/>
          <p:cNvSpPr/>
          <p:nvPr/>
        </p:nvSpPr>
        <p:spPr>
          <a:xfrm>
            <a:off x="3431286" y="6464808"/>
            <a:ext cx="146304" cy="146304"/>
          </a:xfrm>
          <a:prstGeom prst="ellipse">
            <a:avLst/>
          </a:prstGeom>
          <a:solidFill>
            <a:srgbClr val="FF3B1F"/>
          </a:solidFill>
          <a:ln w="12700">
            <a:solidFill>
              <a:srgbClr val="FF3B1F"/>
            </a:solidFill>
            <a:prstDash val="solid"/>
          </a:ln>
        </p:spPr>
      </p:sp>
      <p:sp>
        <p:nvSpPr>
          <p:cNvPr id="26" name="Text 24"/>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27" name="Shape 25"/>
          <p:cNvSpPr/>
          <p:nvPr/>
        </p:nvSpPr>
        <p:spPr>
          <a:xfrm>
            <a:off x="4395978"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29" name="Shape 27"/>
          <p:cNvSpPr/>
          <p:nvPr/>
        </p:nvSpPr>
        <p:spPr>
          <a:xfrm>
            <a:off x="5360670"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1" name="Shape 29"/>
          <p:cNvSpPr/>
          <p:nvPr/>
        </p:nvSpPr>
        <p:spPr>
          <a:xfrm>
            <a:off x="6325362"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3" name="Shape 31"/>
          <p:cNvSpPr/>
          <p:nvPr/>
        </p:nvSpPr>
        <p:spPr>
          <a:xfrm>
            <a:off x="7290054"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5" name="Shape 33"/>
          <p:cNvSpPr/>
          <p:nvPr/>
        </p:nvSpPr>
        <p:spPr>
          <a:xfrm>
            <a:off x="8254746"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37" name="Shape 35"/>
          <p:cNvSpPr/>
          <p:nvPr/>
        </p:nvSpPr>
        <p:spPr>
          <a:xfrm>
            <a:off x="9219438"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39" name="Shape 37"/>
          <p:cNvSpPr/>
          <p:nvPr/>
        </p:nvSpPr>
        <p:spPr>
          <a:xfrm>
            <a:off x="10184130"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1" name="Shape 39"/>
          <p:cNvSpPr/>
          <p:nvPr/>
        </p:nvSpPr>
        <p:spPr>
          <a:xfrm>
            <a:off x="11148822"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D-34 ／ 流通情報システム（POS、顧客管理システム）</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リフト値は信頼度を支持度で正規化した指標</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POSデータのアソシエーション分析で使う3指標：支持度・信頼度・リフト値。</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146304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支持度</a:t>
            </a:r>
            <a:endParaRPr lang="en-US" sz="1100" dirty="0"/>
          </a:p>
        </p:txBody>
      </p:sp>
      <p:sp>
        <p:nvSpPr>
          <p:cNvPr id="9" name="Shape 7"/>
          <p:cNvSpPr/>
          <p:nvPr/>
        </p:nvSpPr>
        <p:spPr>
          <a:xfrm>
            <a:off x="1947672" y="1691640"/>
            <a:ext cx="0" cy="256032"/>
          </a:xfrm>
          <a:prstGeom prst="line">
            <a:avLst/>
          </a:prstGeom>
          <a:noFill/>
          <a:ln w="12700">
            <a:solidFill>
              <a:srgbClr val="E6E6E6"/>
            </a:solidFill>
            <a:prstDash val="solid"/>
          </a:ln>
        </p:spPr>
      </p:sp>
      <p:sp>
        <p:nvSpPr>
          <p:cNvPr id="10" name="Text 8"/>
          <p:cNvSpPr txBox="1"/>
          <p:nvPr/>
        </p:nvSpPr>
        <p:spPr>
          <a:xfrm>
            <a:off x="2103120" y="1691640"/>
            <a:ext cx="960120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該当組み合わせのレシート数 ÷ 全レシート数</a:t>
            </a:r>
            <a:endParaRPr lang="en-US" sz="1100" dirty="0"/>
          </a:p>
        </p:txBody>
      </p:sp>
      <p:sp>
        <p:nvSpPr>
          <p:cNvPr id="11" name="Text 9"/>
          <p:cNvSpPr txBox="1"/>
          <p:nvPr/>
        </p:nvSpPr>
        <p:spPr>
          <a:xfrm>
            <a:off x="502920" y="2075688"/>
            <a:ext cx="146304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信頼度</a:t>
            </a:r>
            <a:endParaRPr lang="en-US" sz="1100" dirty="0"/>
          </a:p>
        </p:txBody>
      </p:sp>
      <p:sp>
        <p:nvSpPr>
          <p:cNvPr id="12" name="Shape 10"/>
          <p:cNvSpPr/>
          <p:nvPr/>
        </p:nvSpPr>
        <p:spPr>
          <a:xfrm>
            <a:off x="1947672" y="2075688"/>
            <a:ext cx="0" cy="256032"/>
          </a:xfrm>
          <a:prstGeom prst="line">
            <a:avLst/>
          </a:prstGeom>
          <a:noFill/>
          <a:ln w="12700">
            <a:solidFill>
              <a:srgbClr val="E6E6E6"/>
            </a:solidFill>
            <a:prstDash val="solid"/>
          </a:ln>
        </p:spPr>
      </p:sp>
      <p:sp>
        <p:nvSpPr>
          <p:cNvPr id="13" name="Text 11"/>
          <p:cNvSpPr txBox="1"/>
          <p:nvPr/>
        </p:nvSpPr>
        <p:spPr>
          <a:xfrm>
            <a:off x="2103120" y="2075688"/>
            <a:ext cx="960120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A・B両方を含むレシート数 ÷ Aを含むレシート数</a:t>
            </a:r>
            <a:endParaRPr lang="en-US" sz="1100" dirty="0"/>
          </a:p>
        </p:txBody>
      </p:sp>
      <p:sp>
        <p:nvSpPr>
          <p:cNvPr id="14" name="Text 12"/>
          <p:cNvSpPr txBox="1"/>
          <p:nvPr/>
        </p:nvSpPr>
        <p:spPr>
          <a:xfrm>
            <a:off x="502920" y="2459736"/>
            <a:ext cx="1463040" cy="365760"/>
          </a:xfrm>
          <a:prstGeom prst="rect">
            <a:avLst/>
          </a:prstGeom>
          <a:noFill/>
          <a:ln/>
        </p:spPr>
        <p:txBody>
          <a:bodyPr wrap="square" lIns="0" tIns="0" rIns="0" bIns="0" rtlCol="0" anchor="t"/>
          <a:lstStyle/>
          <a:p>
            <a:pPr indent="0" marL="0">
              <a:buNone/>
            </a:pPr>
            <a:r>
              <a:rPr lang="en-US" sz="1100" b="1" dirty="0">
                <a:solidFill>
                  <a:srgbClr val="171717"/>
                </a:solidFill>
                <a:latin typeface="Yu Gothic" pitchFamily="34" charset="0"/>
                <a:ea typeface="Yu Gothic" pitchFamily="34" charset="-122"/>
                <a:cs typeface="Yu Gothic" pitchFamily="34" charset="-120"/>
              </a:rPr>
              <a:t>リフト値</a:t>
            </a:r>
            <a:endParaRPr lang="en-US" sz="1100" dirty="0"/>
          </a:p>
        </p:txBody>
      </p:sp>
      <p:sp>
        <p:nvSpPr>
          <p:cNvPr id="15" name="Shape 13"/>
          <p:cNvSpPr/>
          <p:nvPr/>
        </p:nvSpPr>
        <p:spPr>
          <a:xfrm>
            <a:off x="1947672" y="2459736"/>
            <a:ext cx="0" cy="256032"/>
          </a:xfrm>
          <a:prstGeom prst="line">
            <a:avLst/>
          </a:prstGeom>
          <a:noFill/>
          <a:ln w="12700">
            <a:solidFill>
              <a:srgbClr val="E6E6E6"/>
            </a:solidFill>
            <a:prstDash val="solid"/>
          </a:ln>
        </p:spPr>
      </p:sp>
      <p:sp>
        <p:nvSpPr>
          <p:cNvPr id="16" name="Text 14"/>
          <p:cNvSpPr txBox="1"/>
          <p:nvPr/>
        </p:nvSpPr>
        <p:spPr>
          <a:xfrm>
            <a:off x="2103120" y="2459736"/>
            <a:ext cx="9601200" cy="365760"/>
          </a:xfrm>
          <a:prstGeom prst="rect">
            <a:avLst/>
          </a:prstGeom>
          <a:noFill/>
          <a:ln/>
        </p:spPr>
        <p:txBody>
          <a:bodyPr wrap="square" lIns="0" tIns="0" rIns="0" bIns="0" rtlCol="0" anchor="t"/>
          <a:lstStyle/>
          <a:p>
            <a:pPr indent="0" marL="0">
              <a:buNone/>
            </a:pPr>
            <a:r>
              <a:rPr lang="en-US" sz="1100" dirty="0">
                <a:solidFill>
                  <a:srgbClr val="8A8A8A"/>
                </a:solidFill>
                <a:latin typeface="Yu Gothic" pitchFamily="34" charset="0"/>
                <a:ea typeface="Yu Gothic" pitchFamily="34" charset="-122"/>
                <a:cs typeface="Yu Gothic" pitchFamily="34" charset="-120"/>
              </a:rPr>
              <a:t>信頼度(A→B) ÷ Bの単独出現率。1超なら正の相関</a:t>
            </a:r>
            <a:endParaRPr lang="en-US" sz="1100" dirty="0"/>
          </a:p>
        </p:txBody>
      </p:sp>
      <p:sp>
        <p:nvSpPr>
          <p:cNvPr id="17" name="Text 15"/>
          <p:cNvSpPr txBox="1"/>
          <p:nvPr/>
        </p:nvSpPr>
        <p:spPr>
          <a:xfrm>
            <a:off x="502920" y="2935224"/>
            <a:ext cx="11201400" cy="50292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全6,000枚中A含む3,000枚・B含む3,000枚・AB両方1,800枚→信頼度＝1,800/3,000＝0.6、リフト値＝0.6÷0.5＝1.2（正の相関）。</a:t>
            </a:r>
            <a:endParaRPr lang="en-US" sz="850" dirty="0"/>
          </a:p>
        </p:txBody>
      </p:sp>
      <p:sp>
        <p:nvSpPr>
          <p:cNvPr id="18" name="Shape 16"/>
          <p:cNvSpPr/>
          <p:nvPr/>
        </p:nvSpPr>
        <p:spPr>
          <a:xfrm>
            <a:off x="502920" y="3511296"/>
            <a:ext cx="11201400" cy="0"/>
          </a:xfrm>
          <a:prstGeom prst="line">
            <a:avLst/>
          </a:prstGeom>
          <a:noFill/>
          <a:ln w="12700">
            <a:solidFill>
              <a:srgbClr val="E6E6E6"/>
            </a:solidFill>
            <a:prstDash val="solid"/>
          </a:ln>
        </p:spPr>
      </p:sp>
      <p:sp>
        <p:nvSpPr>
          <p:cNvPr id="19" name="Text 17"/>
          <p:cNvSpPr txBox="1"/>
          <p:nvPr/>
        </p:nvSpPr>
        <p:spPr>
          <a:xfrm>
            <a:off x="502920" y="3584448"/>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リフト値を信頼度のまま使う誤りに注意。相手側商品単独の出現率でさらに割って初めて求まる。</a:t>
            </a:r>
            <a:endParaRPr lang="en-US" sz="950" dirty="0"/>
          </a:p>
        </p:txBody>
      </p:sp>
      <p:sp>
        <p:nvSpPr>
          <p:cNvPr id="20" name="Shape 18"/>
          <p:cNvSpPr/>
          <p:nvPr/>
        </p:nvSpPr>
        <p:spPr>
          <a:xfrm>
            <a:off x="502920" y="5989320"/>
            <a:ext cx="11201400" cy="0"/>
          </a:xfrm>
          <a:prstGeom prst="line">
            <a:avLst/>
          </a:prstGeom>
          <a:noFill/>
          <a:ln w="9525">
            <a:solidFill>
              <a:srgbClr val="171717"/>
            </a:solidFill>
            <a:prstDash val="solid"/>
          </a:ln>
        </p:spPr>
      </p:sp>
      <p:sp>
        <p:nvSpPr>
          <p:cNvPr id="21" name="Shape 19"/>
          <p:cNvSpPr/>
          <p:nvPr/>
        </p:nvSpPr>
        <p:spPr>
          <a:xfrm>
            <a:off x="502920" y="6062472"/>
            <a:ext cx="329184" cy="329184"/>
          </a:xfrm>
          <a:prstGeom prst="ellipse">
            <a:avLst/>
          </a:prstGeom>
          <a:solidFill>
            <a:srgbClr val="FF3B1F"/>
          </a:solidFill>
          <a:ln/>
        </p:spPr>
      </p:sp>
      <p:sp>
        <p:nvSpPr>
          <p:cNvPr id="22" name="Text 20"/>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3" name="Text 21"/>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4" name="Shape 22"/>
          <p:cNvSpPr/>
          <p:nvPr/>
        </p:nvSpPr>
        <p:spPr>
          <a:xfrm>
            <a:off x="2331720" y="6062472"/>
            <a:ext cx="0" cy="329184"/>
          </a:xfrm>
          <a:prstGeom prst="line">
            <a:avLst/>
          </a:prstGeom>
          <a:noFill/>
          <a:ln w="12700">
            <a:solidFill>
              <a:srgbClr val="E6E6E6"/>
            </a:solidFill>
            <a:prstDash val="solid"/>
          </a:ln>
        </p:spPr>
      </p:sp>
      <p:sp>
        <p:nvSpPr>
          <p:cNvPr id="25" name="Text 23"/>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関連：D-35 流通情報システム（JANコード等、POSデータの入口となる識別技術）。</a:t>
            </a:r>
            <a:endParaRPr lang="en-US" sz="1000" dirty="0"/>
          </a:p>
        </p:txBody>
      </p:sp>
      <p:sp>
        <p:nvSpPr>
          <p:cNvPr id="26" name="Text 24"/>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27" name="Shape 25"/>
          <p:cNvSpPr/>
          <p:nvPr/>
        </p:nvSpPr>
        <p:spPr>
          <a:xfrm>
            <a:off x="2466594" y="6464808"/>
            <a:ext cx="146304" cy="146304"/>
          </a:xfrm>
          <a:prstGeom prst="ellipse">
            <a:avLst/>
          </a:prstGeom>
          <a:solidFill>
            <a:srgbClr val="FF3B1F"/>
          </a:solidFill>
          <a:ln w="12700">
            <a:solidFill>
              <a:srgbClr val="FF3B1F"/>
            </a:solidFill>
            <a:prstDash val="solid"/>
          </a:ln>
        </p:spPr>
      </p:sp>
      <p:sp>
        <p:nvSpPr>
          <p:cNvPr id="28" name="Text 26"/>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29" name="Shape 27"/>
          <p:cNvSpPr/>
          <p:nvPr/>
        </p:nvSpPr>
        <p:spPr>
          <a:xfrm>
            <a:off x="3431286" y="6464808"/>
            <a:ext cx="146304" cy="146304"/>
          </a:xfrm>
          <a:prstGeom prst="ellipse">
            <a:avLst/>
          </a:prstGeom>
          <a:solidFill>
            <a:srgbClr val="FF3B1F"/>
          </a:solidFill>
          <a:ln w="12700">
            <a:solidFill>
              <a:srgbClr val="FF3B1F"/>
            </a:solidFill>
            <a:prstDash val="solid"/>
          </a:ln>
        </p:spPr>
      </p:sp>
      <p:sp>
        <p:nvSpPr>
          <p:cNvPr id="30" name="Text 28"/>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1" name="Shape 29"/>
          <p:cNvSpPr/>
          <p:nvPr/>
        </p:nvSpPr>
        <p:spPr>
          <a:xfrm>
            <a:off x="4395978" y="6464808"/>
            <a:ext cx="146304" cy="146304"/>
          </a:xfrm>
          <a:prstGeom prst="ellipse">
            <a:avLst/>
          </a:prstGeom>
          <a:solidFill>
            <a:srgbClr val="FF3B1F"/>
          </a:solidFill>
          <a:ln w="12700">
            <a:solidFill>
              <a:srgbClr val="FF3B1F"/>
            </a:solidFill>
            <a:prstDash val="solid"/>
          </a:ln>
        </p:spPr>
      </p:sp>
      <p:sp>
        <p:nvSpPr>
          <p:cNvPr id="32" name="Text 30"/>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3" name="Shape 31"/>
          <p:cNvSpPr/>
          <p:nvPr/>
        </p:nvSpPr>
        <p:spPr>
          <a:xfrm>
            <a:off x="5360670" y="6464808"/>
            <a:ext cx="146304" cy="146304"/>
          </a:xfrm>
          <a:prstGeom prst="ellipse">
            <a:avLst/>
          </a:prstGeom>
          <a:solidFill>
            <a:srgbClr val="FF3B1F"/>
          </a:solidFill>
          <a:ln w="12700">
            <a:solidFill>
              <a:srgbClr val="FF3B1F"/>
            </a:solidFill>
            <a:prstDash val="solid"/>
          </a:ln>
        </p:spPr>
      </p:sp>
      <p:sp>
        <p:nvSpPr>
          <p:cNvPr id="34" name="Text 32"/>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5" name="Shape 33"/>
          <p:cNvSpPr/>
          <p:nvPr/>
        </p:nvSpPr>
        <p:spPr>
          <a:xfrm>
            <a:off x="6325362" y="6464808"/>
            <a:ext cx="146304" cy="146304"/>
          </a:xfrm>
          <a:prstGeom prst="ellipse">
            <a:avLst/>
          </a:prstGeom>
          <a:solidFill>
            <a:srgbClr val="FF3B1F"/>
          </a:solidFill>
          <a:ln w="12700">
            <a:solidFill>
              <a:srgbClr val="FF3B1F"/>
            </a:solidFill>
            <a:prstDash val="solid"/>
          </a:ln>
        </p:spPr>
      </p:sp>
      <p:sp>
        <p:nvSpPr>
          <p:cNvPr id="36" name="Text 34"/>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37" name="Shape 35"/>
          <p:cNvSpPr/>
          <p:nvPr/>
        </p:nvSpPr>
        <p:spPr>
          <a:xfrm>
            <a:off x="7290054" y="6464808"/>
            <a:ext cx="146304" cy="146304"/>
          </a:xfrm>
          <a:prstGeom prst="ellipse">
            <a:avLst/>
          </a:prstGeom>
          <a:solidFill>
            <a:srgbClr val="FF3B1F"/>
          </a:solidFill>
          <a:ln w="12700">
            <a:solidFill>
              <a:srgbClr val="FF3B1F"/>
            </a:solidFill>
            <a:prstDash val="solid"/>
          </a:ln>
        </p:spPr>
      </p:sp>
      <p:sp>
        <p:nvSpPr>
          <p:cNvPr id="38" name="Text 36"/>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39" name="Shape 37"/>
          <p:cNvSpPr/>
          <p:nvPr/>
        </p:nvSpPr>
        <p:spPr>
          <a:xfrm>
            <a:off x="8254746" y="6464808"/>
            <a:ext cx="146304" cy="146304"/>
          </a:xfrm>
          <a:prstGeom prst="ellipse">
            <a:avLst/>
          </a:prstGeom>
          <a:solidFill>
            <a:srgbClr val="FF3B1F"/>
          </a:solidFill>
          <a:ln w="12700">
            <a:solidFill>
              <a:srgbClr val="FF3B1F"/>
            </a:solidFill>
            <a:prstDash val="solid"/>
          </a:ln>
        </p:spPr>
      </p:sp>
      <p:sp>
        <p:nvSpPr>
          <p:cNvPr id="40" name="Text 38"/>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1" name="Shape 39"/>
          <p:cNvSpPr/>
          <p:nvPr/>
        </p:nvSpPr>
        <p:spPr>
          <a:xfrm>
            <a:off x="9219438" y="6464808"/>
            <a:ext cx="146304" cy="146304"/>
          </a:xfrm>
          <a:prstGeom prst="ellipse">
            <a:avLst/>
          </a:prstGeom>
          <a:solidFill>
            <a:srgbClr val="FF3B1F"/>
          </a:solidFill>
          <a:ln w="12700">
            <a:solidFill>
              <a:srgbClr val="FF3B1F"/>
            </a:solidFill>
            <a:prstDash val="solid"/>
          </a:ln>
        </p:spPr>
      </p:sp>
      <p:sp>
        <p:nvSpPr>
          <p:cNvPr id="42" name="Text 40"/>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3" name="Shape 41"/>
          <p:cNvSpPr/>
          <p:nvPr/>
        </p:nvSpPr>
        <p:spPr>
          <a:xfrm>
            <a:off x="10184130" y="6464808"/>
            <a:ext cx="146304" cy="146304"/>
          </a:xfrm>
          <a:prstGeom prst="ellipse">
            <a:avLst/>
          </a:prstGeom>
          <a:solidFill>
            <a:srgbClr val="FF3B1F"/>
          </a:solidFill>
          <a:ln w="12700">
            <a:solidFill>
              <a:srgbClr val="FF3B1F"/>
            </a:solidFill>
            <a:prstDash val="solid"/>
          </a:ln>
        </p:spPr>
      </p:sp>
      <p:sp>
        <p:nvSpPr>
          <p:cNvPr id="44" name="Text 42"/>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5" name="Shape 43"/>
          <p:cNvSpPr/>
          <p:nvPr/>
        </p:nvSpPr>
        <p:spPr>
          <a:xfrm>
            <a:off x="11148822" y="6464808"/>
            <a:ext cx="146304" cy="146304"/>
          </a:xfrm>
          <a:prstGeom prst="ellipse">
            <a:avLst/>
          </a:prstGeom>
          <a:solidFill>
            <a:srgbClr val="FF3B1F"/>
          </a:solidFill>
          <a:ln w="12700">
            <a:solidFill>
              <a:srgbClr val="FF3B1F"/>
            </a:solidFill>
            <a:prstDash val="solid"/>
          </a:ln>
        </p:spPr>
      </p:sp>
      <p:sp>
        <p:nvSpPr>
          <p:cNvPr id="46" name="Text 44"/>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D-34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こう出題される（令和7年度 第40問）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計算問題（2設問）。前のスライドの公式で自分の手で計算してみる。</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737360"/>
            <a:ext cx="11201400" cy="777240"/>
          </a:xfrm>
          <a:prstGeom prst="rect">
            <a:avLst/>
          </a:prstGeom>
          <a:noFill/>
          <a:ln/>
        </p:spPr>
        <p:txBody>
          <a:bodyPr wrap="square" lIns="0" tIns="0" rIns="0" bIns="0" rtlCol="0" anchor="ctr"/>
          <a:lstStyle/>
          <a:p>
            <a:pPr indent="0" marL="0">
              <a:lnSpc>
                <a:spcPct val="130000"/>
              </a:lnSpc>
              <a:buNone/>
            </a:pPr>
            <a:r>
              <a:rPr lang="en-US" sz="1200" dirty="0">
                <a:solidFill>
                  <a:srgbClr val="171717"/>
                </a:solidFill>
                <a:latin typeface="Yu Gothic" pitchFamily="34" charset="0"/>
                <a:ea typeface="Yu Gothic" pitchFamily="34" charset="-122"/>
                <a:cs typeface="Yu Gothic" pitchFamily="34" charset="-120"/>
              </a:rPr>
              <a:t>あるスーパーで対象商品A・B・Cのレシート枚数を集計：Aのみ400／Bのみ200／Cのみ600／A・Bのみ1,200／A・Cのみ800／B・Cのみ1,000／A・B・Cすべて600／いずれも無し1,200／合計6,000枚。</a:t>
            </a:r>
            <a:endParaRPr lang="en-US" sz="1200" dirty="0"/>
          </a:p>
        </p:txBody>
      </p:sp>
      <p:sp>
        <p:nvSpPr>
          <p:cNvPr id="9" name="Text 7"/>
          <p:cNvSpPr txBox="1"/>
          <p:nvPr/>
        </p:nvSpPr>
        <p:spPr>
          <a:xfrm>
            <a:off x="502920" y="2606040"/>
            <a:ext cx="11201400" cy="548640"/>
          </a:xfrm>
          <a:prstGeom prst="rect">
            <a:avLst/>
          </a:prstGeom>
          <a:noFill/>
          <a:ln/>
        </p:spPr>
        <p:txBody>
          <a:bodyPr wrap="square" lIns="0" tIns="0" rIns="0" bIns="0" rtlCol="0" anchor="ctr"/>
          <a:lstStyle/>
          <a:p>
            <a:pPr indent="0" marL="0">
              <a:lnSpc>
                <a:spcPct val="130000"/>
              </a:lnSpc>
              <a:buNone/>
            </a:pPr>
            <a:r>
              <a:rPr lang="en-US" sz="1150" b="1" dirty="0">
                <a:solidFill>
                  <a:srgbClr val="8A8A8A"/>
                </a:solidFill>
                <a:latin typeface="Yu Gothic" pitchFamily="34" charset="0"/>
                <a:ea typeface="Yu Gothic" pitchFamily="34" charset="-122"/>
                <a:cs typeface="Yu Gothic" pitchFamily="34" charset="-120"/>
              </a:rPr>
              <a:t>設問1　</a:t>
            </a:r>
            <a:pPr indent="0" marL="0">
              <a:lnSpc>
                <a:spcPct val="130000"/>
              </a:lnSpc>
              <a:buNone/>
            </a:pPr>
            <a:r>
              <a:rPr lang="en-US" sz="1150" dirty="0">
                <a:solidFill>
                  <a:srgbClr val="171717"/>
                </a:solidFill>
                <a:latin typeface="Yu Gothic" pitchFamily="34" charset="0"/>
                <a:ea typeface="Yu Gothic" pitchFamily="34" charset="-122"/>
                <a:cs typeface="Yu Gothic" pitchFamily="34" charset="-120"/>
              </a:rPr>
              <a:t>商品Aからみた商品Bの信頼度（コンフィデンス）として、最も適切なものはどれか。　ア 1/9　イ 1/6　ウ 7/15　エ 8/15　オ 3/5</a:t>
            </a:r>
            <a:endParaRPr lang="en-US" sz="1150" dirty="0"/>
          </a:p>
        </p:txBody>
      </p:sp>
      <p:sp>
        <p:nvSpPr>
          <p:cNvPr id="10" name="Text 8"/>
          <p:cNvSpPr txBox="1"/>
          <p:nvPr/>
        </p:nvSpPr>
        <p:spPr>
          <a:xfrm>
            <a:off x="502920" y="3246120"/>
            <a:ext cx="11201400" cy="548640"/>
          </a:xfrm>
          <a:prstGeom prst="rect">
            <a:avLst/>
          </a:prstGeom>
          <a:noFill/>
          <a:ln/>
        </p:spPr>
        <p:txBody>
          <a:bodyPr wrap="square" lIns="0" tIns="0" rIns="0" bIns="0" rtlCol="0" anchor="ctr"/>
          <a:lstStyle/>
          <a:p>
            <a:pPr indent="0" marL="0">
              <a:lnSpc>
                <a:spcPct val="130000"/>
              </a:lnSpc>
              <a:buNone/>
            </a:pPr>
            <a:r>
              <a:rPr lang="en-US" sz="1150" b="1" dirty="0">
                <a:solidFill>
                  <a:srgbClr val="8A8A8A"/>
                </a:solidFill>
                <a:latin typeface="Yu Gothic" pitchFamily="34" charset="0"/>
                <a:ea typeface="Yu Gothic" pitchFamily="34" charset="-122"/>
                <a:cs typeface="Yu Gothic" pitchFamily="34" charset="-120"/>
              </a:rPr>
              <a:t>設問2　</a:t>
            </a:r>
            <a:pPr indent="0" marL="0">
              <a:lnSpc>
                <a:spcPct val="130000"/>
              </a:lnSpc>
              <a:buNone/>
            </a:pPr>
            <a:r>
              <a:rPr lang="en-US" sz="1150" dirty="0">
                <a:solidFill>
                  <a:srgbClr val="171717"/>
                </a:solidFill>
                <a:latin typeface="Yu Gothic" pitchFamily="34" charset="0"/>
                <a:ea typeface="Yu Gothic" pitchFamily="34" charset="-122"/>
                <a:cs typeface="Yu Gothic" pitchFamily="34" charset="-120"/>
              </a:rPr>
              <a:t>商品Aと商品Bを併買した購買パターンのリフト値として、最も適切なものはどれか。　ア 3/5　イ 5/6　ウ 1　エ 16/15　オ 6/5</a:t>
            </a:r>
            <a:endParaRPr lang="en-US" sz="1150" dirty="0"/>
          </a:p>
        </p:txBody>
      </p:sp>
      <p:sp>
        <p:nvSpPr>
          <p:cNvPr id="11" name="Text 9"/>
          <p:cNvSpPr txBox="1"/>
          <p:nvPr/>
        </p:nvSpPr>
        <p:spPr>
          <a:xfrm>
            <a:off x="502920" y="6309360"/>
            <a:ext cx="11201400" cy="274320"/>
          </a:xfrm>
          <a:prstGeom prst="rect">
            <a:avLst/>
          </a:prstGeom>
          <a:noFill/>
          <a:ln/>
        </p:spPr>
        <p:txBody>
          <a:bodyPr wrap="square" lIns="0" tIns="0" rIns="0" bIns="0" rtlCol="0" anchor="ctr"/>
          <a:lstStyle/>
          <a:p>
            <a:pPr indent="0" marL="0">
              <a:buNone/>
            </a:pPr>
            <a:r>
              <a:rPr lang="en-US" sz="900" dirty="0">
                <a:solidFill>
                  <a:srgbClr val="8A8A8A"/>
                </a:solidFill>
                <a:latin typeface="Consolas" pitchFamily="34" charset="0"/>
                <a:ea typeface="Consolas" pitchFamily="34" charset="-122"/>
                <a:cs typeface="Consolas" pitchFamily="34" charset="-120"/>
              </a:rPr>
              <a:t>出典：past_exams/1st_stage/1ji2025/D1JI2025.pdf（令和7年度第1次試験）第40問</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D-34 ／ 過去問で確認する</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解答＆解説（令和7年度 第40問）</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設問1＝オ（3/5）、設問2＝オ（6/5）。</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Shape 6"/>
          <p:cNvSpPr/>
          <p:nvPr/>
        </p:nvSpPr>
        <p:spPr>
          <a:xfrm>
            <a:off x="502920" y="1737360"/>
            <a:ext cx="11201400" cy="457200"/>
          </a:xfrm>
          <a:prstGeom prst="rect">
            <a:avLst/>
          </a:prstGeom>
          <a:solidFill>
            <a:srgbClr val="F4F4F4"/>
          </a:solidFill>
          <a:ln/>
        </p:spPr>
      </p:sp>
      <p:sp>
        <p:nvSpPr>
          <p:cNvPr id="9" name="Shape 7"/>
          <p:cNvSpPr/>
          <p:nvPr/>
        </p:nvSpPr>
        <p:spPr>
          <a:xfrm>
            <a:off x="502920" y="1737360"/>
            <a:ext cx="0" cy="457200"/>
          </a:xfrm>
          <a:prstGeom prst="line">
            <a:avLst/>
          </a:prstGeom>
          <a:noFill/>
          <a:ln w="38100">
            <a:solidFill>
              <a:srgbClr val="FF3B1F"/>
            </a:solidFill>
            <a:prstDash val="solid"/>
          </a:ln>
        </p:spPr>
      </p:sp>
      <p:sp>
        <p:nvSpPr>
          <p:cNvPr id="10" name="Text 8"/>
          <p:cNvSpPr txBox="1"/>
          <p:nvPr/>
        </p:nvSpPr>
        <p:spPr>
          <a:xfrm>
            <a:off x="685800" y="1737360"/>
            <a:ext cx="10881360" cy="457200"/>
          </a:xfrm>
          <a:prstGeom prst="rect">
            <a:avLst/>
          </a:prstGeom>
          <a:noFill/>
          <a:ln/>
        </p:spPr>
        <p:txBody>
          <a:bodyPr wrap="square" lIns="0" tIns="0" rIns="0" bIns="0" rtlCol="0" anchor="ctr"/>
          <a:lstStyle/>
          <a:p>
            <a:pPr indent="0" marL="0">
              <a:buNone/>
            </a:pPr>
            <a:r>
              <a:rPr lang="en-US" sz="1100" b="1" dirty="0">
                <a:solidFill>
                  <a:srgbClr val="FF3B1F"/>
                </a:solidFill>
                <a:latin typeface="Yu Gothic" pitchFamily="34" charset="0"/>
                <a:ea typeface="Yu Gothic" pitchFamily="34" charset="-122"/>
                <a:cs typeface="Yu Gothic" pitchFamily="34" charset="-120"/>
              </a:rPr>
              <a:t>設問1：オ　</a:t>
            </a:r>
            <a:pPr indent="0" marL="0">
              <a:buNone/>
            </a:pPr>
            <a:r>
              <a:rPr lang="en-US" sz="1100" dirty="0">
                <a:solidFill>
                  <a:srgbClr val="171717"/>
                </a:solidFill>
                <a:latin typeface="Yu Gothic" pitchFamily="34" charset="0"/>
                <a:ea typeface="Yu Gothic" pitchFamily="34" charset="-122"/>
                <a:cs typeface="Yu Gothic" pitchFamily="34" charset="-120"/>
              </a:rPr>
              <a:t>信頼度(A→B)＝(AとB両方含むレシート数1,800)÷(Aを含むレシート数3,000)＝3/5</a:t>
            </a:r>
            <a:endParaRPr lang="en-US" sz="1100" dirty="0"/>
          </a:p>
        </p:txBody>
      </p:sp>
      <p:sp>
        <p:nvSpPr>
          <p:cNvPr id="11" name="Shape 9"/>
          <p:cNvSpPr/>
          <p:nvPr/>
        </p:nvSpPr>
        <p:spPr>
          <a:xfrm>
            <a:off x="502920" y="2286000"/>
            <a:ext cx="11201400" cy="457200"/>
          </a:xfrm>
          <a:prstGeom prst="rect">
            <a:avLst/>
          </a:prstGeom>
          <a:solidFill>
            <a:srgbClr val="F4F4F4"/>
          </a:solidFill>
          <a:ln/>
        </p:spPr>
      </p:sp>
      <p:sp>
        <p:nvSpPr>
          <p:cNvPr id="12" name="Shape 10"/>
          <p:cNvSpPr/>
          <p:nvPr/>
        </p:nvSpPr>
        <p:spPr>
          <a:xfrm>
            <a:off x="502920" y="2286000"/>
            <a:ext cx="0" cy="457200"/>
          </a:xfrm>
          <a:prstGeom prst="line">
            <a:avLst/>
          </a:prstGeom>
          <a:noFill/>
          <a:ln w="38100">
            <a:solidFill>
              <a:srgbClr val="FF3B1F"/>
            </a:solidFill>
            <a:prstDash val="solid"/>
          </a:ln>
        </p:spPr>
      </p:sp>
      <p:sp>
        <p:nvSpPr>
          <p:cNvPr id="13" name="Text 11"/>
          <p:cNvSpPr txBox="1"/>
          <p:nvPr/>
        </p:nvSpPr>
        <p:spPr>
          <a:xfrm>
            <a:off x="685800" y="2286000"/>
            <a:ext cx="10881360" cy="457200"/>
          </a:xfrm>
          <a:prstGeom prst="rect">
            <a:avLst/>
          </a:prstGeom>
          <a:noFill/>
          <a:ln/>
        </p:spPr>
        <p:txBody>
          <a:bodyPr wrap="square" lIns="0" tIns="0" rIns="0" bIns="0" rtlCol="0" anchor="ctr"/>
          <a:lstStyle/>
          <a:p>
            <a:pPr indent="0" marL="0">
              <a:buNone/>
            </a:pPr>
            <a:r>
              <a:rPr lang="en-US" sz="1100" b="1" dirty="0">
                <a:solidFill>
                  <a:srgbClr val="FF3B1F"/>
                </a:solidFill>
                <a:latin typeface="Yu Gothic" pitchFamily="34" charset="0"/>
                <a:ea typeface="Yu Gothic" pitchFamily="34" charset="-122"/>
                <a:cs typeface="Yu Gothic" pitchFamily="34" charset="-120"/>
              </a:rPr>
              <a:t>設問2：オ　</a:t>
            </a:r>
            <a:pPr indent="0" marL="0">
              <a:buNone/>
            </a:pPr>
            <a:r>
              <a:rPr lang="en-US" sz="1100" dirty="0">
                <a:solidFill>
                  <a:srgbClr val="171717"/>
                </a:solidFill>
                <a:latin typeface="Yu Gothic" pitchFamily="34" charset="0"/>
                <a:ea typeface="Yu Gothic" pitchFamily="34" charset="-122"/>
                <a:cs typeface="Yu Gothic" pitchFamily="34" charset="-120"/>
              </a:rPr>
              <a:t>リフト値＝信頼度(3/5)÷Bの単独出現率(3,000/6,000＝1/2)＝(3/5)×2＝6/5</a:t>
            </a:r>
            <a:endParaRPr lang="en-US" sz="1100" dirty="0"/>
          </a:p>
        </p:txBody>
      </p:sp>
      <p:sp>
        <p:nvSpPr>
          <p:cNvPr id="14" name="Shape 12"/>
          <p:cNvSpPr/>
          <p:nvPr/>
        </p:nvSpPr>
        <p:spPr>
          <a:xfrm>
            <a:off x="502920" y="2880360"/>
            <a:ext cx="11201400" cy="0"/>
          </a:xfrm>
          <a:prstGeom prst="line">
            <a:avLst/>
          </a:prstGeom>
          <a:noFill/>
          <a:ln w="12700">
            <a:solidFill>
              <a:srgbClr val="171717"/>
            </a:solidFill>
            <a:prstDash val="solid"/>
          </a:ln>
        </p:spPr>
      </p:sp>
      <p:sp>
        <p:nvSpPr>
          <p:cNvPr id="15" name="Text 13"/>
          <p:cNvSpPr txBox="1"/>
          <p:nvPr/>
        </p:nvSpPr>
        <p:spPr>
          <a:xfrm>
            <a:off x="502920" y="2953512"/>
            <a:ext cx="11201400" cy="548640"/>
          </a:xfrm>
          <a:prstGeom prst="rect">
            <a:avLst/>
          </a:prstGeom>
          <a:noFill/>
          <a:ln/>
        </p:spPr>
        <p:txBody>
          <a:bodyPr wrap="square" lIns="0" tIns="0" rIns="0" bIns="0" rtlCol="0" anchor="ctr"/>
          <a:lstStyle/>
          <a:p>
            <a:pPr indent="0" marL="0">
              <a:lnSpc>
                <a:spcPct val="120000"/>
              </a:lnSpc>
              <a:buNone/>
            </a:pPr>
            <a:r>
              <a:rPr lang="en-US" sz="1050" b="1" dirty="0">
                <a:solidFill>
                  <a:srgbClr val="FF3B1F"/>
                </a:solidFill>
                <a:latin typeface="Yu Gothic" pitchFamily="34" charset="0"/>
                <a:ea typeface="Yu Gothic" pitchFamily="34" charset="-122"/>
                <a:cs typeface="Yu Gothic" pitchFamily="34" charset="-120"/>
              </a:rPr>
              <a:t>準備：</a:t>
            </a:r>
            <a:pPr indent="0" marL="0">
              <a:lnSpc>
                <a:spcPct val="120000"/>
              </a:lnSpc>
              <a:buNone/>
            </a:pPr>
            <a:r>
              <a:rPr lang="en-US" sz="1050" dirty="0">
                <a:solidFill>
                  <a:srgbClr val="171717"/>
                </a:solidFill>
                <a:latin typeface="Yu Gothic" pitchFamily="34" charset="0"/>
                <a:ea typeface="Yu Gothic" pitchFamily="34" charset="-122"/>
                <a:cs typeface="Yu Gothic" pitchFamily="34" charset="-120"/>
              </a:rPr>
              <a:t>Aを含むレシート数＝400+1,200+800+600＝3,000枚。Bを含むレシート数＝200+1,200+1,000+600＝3,000枚。AとBを両方含むレシート数＝1,200+600＝1,800枚。</a:t>
            </a:r>
            <a:endParaRPr lang="en-US" sz="1050" dirty="0"/>
          </a:p>
        </p:txBody>
      </p:sp>
      <p:sp>
        <p:nvSpPr>
          <p:cNvPr id="16" name="Text 14"/>
          <p:cNvSpPr txBox="1"/>
          <p:nvPr/>
        </p:nvSpPr>
        <p:spPr>
          <a:xfrm>
            <a:off x="502920" y="3575304"/>
            <a:ext cx="11201400" cy="45720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リフト値6/5＞1のため、AとBは正の相関があり一緒に買われやすい＝クロスセルの対象として有望と判断できる。</a:t>
            </a:r>
            <a:endParaRPr lang="en-US" sz="850" dirty="0"/>
          </a:p>
        </p:txBody>
      </p:sp>
      <p:sp>
        <p:nvSpPr>
          <p:cNvPr id="17" name="Text 15"/>
          <p:cNvSpPr txBox="1"/>
          <p:nvPr/>
        </p:nvSpPr>
        <p:spPr>
          <a:xfrm>
            <a:off x="502920" y="4105656"/>
            <a:ext cx="11201400" cy="27432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関連知識：支持度・信頼度・リフト値はそれぞれ分母・分子が異なるため、1つずつ正確に区別すること。</a:t>
            </a:r>
            <a:endParaRPr lang="en-US" sz="1000" dirty="0"/>
          </a:p>
        </p:txBody>
      </p:sp>
      <p:sp>
        <p:nvSpPr>
          <p:cNvPr id="18" name="Text 16"/>
          <p:cNvSpPr txBox="1"/>
          <p:nvPr/>
        </p:nvSpPr>
        <p:spPr>
          <a:xfrm>
            <a:off x="502920" y="4453128"/>
            <a:ext cx="11201400" cy="274320"/>
          </a:xfrm>
          <a:prstGeom prst="rect">
            <a:avLst/>
          </a:prstGeom>
          <a:noFill/>
          <a:ln/>
        </p:spPr>
        <p:txBody>
          <a:bodyPr wrap="square" lIns="0" tIns="0" rIns="0" bIns="0" rtlCol="0" anchor="ctr"/>
          <a:lstStyle/>
          <a:p>
            <a:pPr indent="0" marL="0">
              <a:buNone/>
            </a:pPr>
            <a:r>
              <a:rPr lang="en-US" sz="850" dirty="0">
                <a:solidFill>
                  <a:srgbClr val="8A8A8A"/>
                </a:solidFill>
                <a:latin typeface="Consolas" pitchFamily="34" charset="0"/>
                <a:ea typeface="Consolas" pitchFamily="34" charset="-122"/>
                <a:cs typeface="Consolas" pitchFamily="34" charset="-120"/>
              </a:rPr>
              <a:t>出典：past_exams/1st_stage/1ji2025/D1JI2025.pdf（令和7年度第1次試験）第40問／正解：past_exams/1st_stage_answers/r07/d_v2_20250902.pdf</a:t>
            </a:r>
            <a:endParaRPr lang="en-US" sz="8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20040"/>
            <a:ext cx="8686800" cy="274320"/>
          </a:xfrm>
          <a:prstGeom prst="rect">
            <a:avLst/>
          </a:prstGeom>
          <a:noFill/>
          <a:ln/>
        </p:spPr>
        <p:txBody>
          <a:bodyPr wrap="square" lIns="0" tIns="0" rIns="0" bIns="0" rtlCol="0" anchor="ctr"/>
          <a:lstStyle/>
          <a:p>
            <a:pPr indent="0" marL="0">
              <a:buNone/>
            </a:pPr>
            <a:r>
              <a:rPr lang="en-US" sz="1100" dirty="0">
                <a:solidFill>
                  <a:srgbClr val="8A8A8A"/>
                </a:solidFill>
                <a:latin typeface="Consolas" pitchFamily="34" charset="0"/>
                <a:ea typeface="Consolas" pitchFamily="34" charset="-122"/>
                <a:cs typeface="Consolas" pitchFamily="34" charset="-120"/>
              </a:rPr>
              <a:t>D-35 ／ 流通情報システム（商品コード、電子タグ、トレーサビリティ）</a:t>
            </a:r>
            <a:endParaRPr lang="en-US" sz="1100" dirty="0"/>
          </a:p>
        </p:txBody>
      </p:sp>
      <p:sp>
        <p:nvSpPr>
          <p:cNvPr id="3" name="Text 1"/>
          <p:cNvSpPr txBox="1"/>
          <p:nvPr/>
        </p:nvSpPr>
        <p:spPr>
          <a:xfrm>
            <a:off x="484632" y="566928"/>
            <a:ext cx="8869680" cy="502920"/>
          </a:xfrm>
          <a:prstGeom prst="rect">
            <a:avLst/>
          </a:prstGeom>
          <a:noFill/>
          <a:ln/>
        </p:spPr>
        <p:txBody>
          <a:bodyPr wrap="square" lIns="0" tIns="0" rIns="0" bIns="0" rtlCol="0" anchor="ctr"/>
          <a:lstStyle/>
          <a:p>
            <a:pPr indent="0" marL="0">
              <a:buNone/>
            </a:pPr>
            <a:r>
              <a:rPr lang="en-US" sz="2500" b="1" dirty="0">
                <a:solidFill>
                  <a:srgbClr val="171717"/>
                </a:solidFill>
                <a:latin typeface="Yu Gothic" pitchFamily="34" charset="0"/>
                <a:ea typeface="Yu Gothic" pitchFamily="34" charset="-122"/>
                <a:cs typeface="Yu Gothic" pitchFamily="34" charset="-120"/>
              </a:rPr>
              <a:t>電子タグは複数を離れた場所から一括で読める</a:t>
            </a:r>
            <a:endParaRPr lang="en-US" sz="2500" dirty="0"/>
          </a:p>
        </p:txBody>
      </p:sp>
      <p:sp>
        <p:nvSpPr>
          <p:cNvPr id="4" name="Text 2"/>
          <p:cNvSpPr txBox="1"/>
          <p:nvPr/>
        </p:nvSpPr>
        <p:spPr>
          <a:xfrm>
            <a:off x="502920" y="1078992"/>
            <a:ext cx="10698480" cy="365760"/>
          </a:xfrm>
          <a:prstGeom prst="rect">
            <a:avLst/>
          </a:prstGeom>
          <a:noFill/>
          <a:ln/>
        </p:spPr>
        <p:txBody>
          <a:bodyPr wrap="square" lIns="0" tIns="0" rIns="0" bIns="0" rtlCol="0" anchor="ctr"/>
          <a:lstStyle/>
          <a:p>
            <a:pPr indent="0" marL="0">
              <a:buNone/>
            </a:pPr>
            <a:r>
              <a:rPr lang="en-US" sz="1300" dirty="0">
                <a:solidFill>
                  <a:srgbClr val="8A8A8A"/>
                </a:solidFill>
                <a:latin typeface="Yu Gothic" pitchFamily="34" charset="0"/>
                <a:ea typeface="Yu Gothic" pitchFamily="34" charset="-122"/>
                <a:cs typeface="Yu Gothic" pitchFamily="34" charset="-120"/>
              </a:rPr>
              <a:t>JANコード（13桁／8桁）と、無線通信で一括読取できる電子タグ（RFID）。</a:t>
            </a:r>
            <a:endParaRPr lang="en-US" sz="1300" dirty="0"/>
          </a:p>
        </p:txBody>
      </p:sp>
      <p:sp>
        <p:nvSpPr>
          <p:cNvPr id="5" name="Shape 3"/>
          <p:cNvSpPr/>
          <p:nvPr/>
        </p:nvSpPr>
        <p:spPr>
          <a:xfrm>
            <a:off x="9692640" y="365760"/>
            <a:ext cx="2057400" cy="329184"/>
          </a:xfrm>
          <a:prstGeom prst="rect">
            <a:avLst/>
          </a:prstGeom>
          <a:solidFill>
            <a:srgbClr val="171717"/>
          </a:solidFill>
          <a:ln/>
        </p:spPr>
      </p:sp>
      <p:sp>
        <p:nvSpPr>
          <p:cNvPr id="6" name="Text 4"/>
          <p:cNvSpPr txBox="1"/>
          <p:nvPr/>
        </p:nvSpPr>
        <p:spPr>
          <a:xfrm>
            <a:off x="9692640" y="365760"/>
            <a:ext cx="2057400" cy="329184"/>
          </a:xfrm>
          <a:prstGeom prst="rect">
            <a:avLst/>
          </a:prstGeom>
          <a:noFill/>
          <a:ln/>
        </p:spPr>
        <p:txBody>
          <a:bodyPr wrap="square" lIns="0" tIns="0" rIns="0" bIns="0" rtlCol="0" anchor="ctr"/>
          <a:lstStyle/>
          <a:p>
            <a:pPr algn="ctr" indent="0" marL="0">
              <a:buNone/>
            </a:pPr>
            <a:r>
              <a:rPr lang="en-US" sz="1050" dirty="0">
                <a:solidFill>
                  <a:srgbClr val="FFFFFF"/>
                </a:solidFill>
                <a:latin typeface="Consolas" pitchFamily="34" charset="0"/>
                <a:ea typeface="Consolas" pitchFamily="34" charset="-122"/>
                <a:cs typeface="Consolas" pitchFamily="34" charset="-120"/>
              </a:rPr>
              <a:t>運営管理</a:t>
            </a:r>
            <a:endParaRPr lang="en-US" sz="1050" dirty="0"/>
          </a:p>
        </p:txBody>
      </p:sp>
      <p:sp>
        <p:nvSpPr>
          <p:cNvPr id="7" name="Shape 5"/>
          <p:cNvSpPr/>
          <p:nvPr/>
        </p:nvSpPr>
        <p:spPr>
          <a:xfrm>
            <a:off x="484632" y="1481328"/>
            <a:ext cx="11219688" cy="0"/>
          </a:xfrm>
          <a:prstGeom prst="line">
            <a:avLst/>
          </a:prstGeom>
          <a:noFill/>
          <a:ln w="15875">
            <a:solidFill>
              <a:srgbClr val="171717"/>
            </a:solidFill>
            <a:prstDash val="solid"/>
          </a:ln>
        </p:spPr>
      </p:sp>
      <p:sp>
        <p:nvSpPr>
          <p:cNvPr id="8" name="Text 6"/>
          <p:cNvSpPr txBox="1"/>
          <p:nvPr/>
        </p:nvSpPr>
        <p:spPr>
          <a:xfrm>
            <a:off x="502920" y="1691640"/>
            <a:ext cx="2103120" cy="329184"/>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JANコード（GTIN）</a:t>
            </a:r>
            <a:endParaRPr lang="en-US" sz="1050" dirty="0"/>
          </a:p>
        </p:txBody>
      </p:sp>
      <p:sp>
        <p:nvSpPr>
          <p:cNvPr id="9" name="Shape 7"/>
          <p:cNvSpPr/>
          <p:nvPr/>
        </p:nvSpPr>
        <p:spPr>
          <a:xfrm>
            <a:off x="2587752" y="1691640"/>
            <a:ext cx="0" cy="256032"/>
          </a:xfrm>
          <a:prstGeom prst="line">
            <a:avLst/>
          </a:prstGeom>
          <a:noFill/>
          <a:ln w="12700">
            <a:solidFill>
              <a:srgbClr val="E6E6E6"/>
            </a:solidFill>
            <a:prstDash val="solid"/>
          </a:ln>
        </p:spPr>
      </p:sp>
      <p:sp>
        <p:nvSpPr>
          <p:cNvPr id="10" name="Text 8"/>
          <p:cNvSpPr txBox="1"/>
          <p:nvPr/>
        </p:nvSpPr>
        <p:spPr>
          <a:xfrm>
            <a:off x="2743200" y="1691640"/>
            <a:ext cx="8961120" cy="329184"/>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標準13桁／短縮8桁。GS1事業者コード＋商品コード＋チェックデジット</a:t>
            </a:r>
            <a:endParaRPr lang="en-US" sz="1050" dirty="0"/>
          </a:p>
        </p:txBody>
      </p:sp>
      <p:sp>
        <p:nvSpPr>
          <p:cNvPr id="11" name="Text 9"/>
          <p:cNvSpPr txBox="1"/>
          <p:nvPr/>
        </p:nvSpPr>
        <p:spPr>
          <a:xfrm>
            <a:off x="502920" y="2039112"/>
            <a:ext cx="2103120" cy="329184"/>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電子タグ（RFID）</a:t>
            </a:r>
            <a:endParaRPr lang="en-US" sz="1050" dirty="0"/>
          </a:p>
        </p:txBody>
      </p:sp>
      <p:sp>
        <p:nvSpPr>
          <p:cNvPr id="12" name="Shape 10"/>
          <p:cNvSpPr/>
          <p:nvPr/>
        </p:nvSpPr>
        <p:spPr>
          <a:xfrm>
            <a:off x="2587752" y="2039112"/>
            <a:ext cx="0" cy="256032"/>
          </a:xfrm>
          <a:prstGeom prst="line">
            <a:avLst/>
          </a:prstGeom>
          <a:noFill/>
          <a:ln w="12700">
            <a:solidFill>
              <a:srgbClr val="E6E6E6"/>
            </a:solidFill>
            <a:prstDash val="solid"/>
          </a:ln>
        </p:spPr>
      </p:sp>
      <p:sp>
        <p:nvSpPr>
          <p:cNvPr id="13" name="Text 11"/>
          <p:cNvSpPr txBox="1"/>
          <p:nvPr/>
        </p:nvSpPr>
        <p:spPr>
          <a:xfrm>
            <a:off x="2743200" y="2039112"/>
            <a:ext cx="8961120" cy="329184"/>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ICチップ＋アンテナ。複数タグを離れた場所から一括読取できる</a:t>
            </a:r>
            <a:endParaRPr lang="en-US" sz="1050" dirty="0"/>
          </a:p>
        </p:txBody>
      </p:sp>
      <p:sp>
        <p:nvSpPr>
          <p:cNvPr id="14" name="Text 12"/>
          <p:cNvSpPr txBox="1"/>
          <p:nvPr/>
        </p:nvSpPr>
        <p:spPr>
          <a:xfrm>
            <a:off x="502920" y="2386584"/>
            <a:ext cx="2103120" cy="329184"/>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EPC</a:t>
            </a:r>
            <a:endParaRPr lang="en-US" sz="1050" dirty="0"/>
          </a:p>
        </p:txBody>
      </p:sp>
      <p:sp>
        <p:nvSpPr>
          <p:cNvPr id="15" name="Shape 13"/>
          <p:cNvSpPr/>
          <p:nvPr/>
        </p:nvSpPr>
        <p:spPr>
          <a:xfrm>
            <a:off x="2587752" y="2386584"/>
            <a:ext cx="0" cy="256032"/>
          </a:xfrm>
          <a:prstGeom prst="line">
            <a:avLst/>
          </a:prstGeom>
          <a:noFill/>
          <a:ln w="12700">
            <a:solidFill>
              <a:srgbClr val="E6E6E6"/>
            </a:solidFill>
            <a:prstDash val="solid"/>
          </a:ln>
        </p:spPr>
      </p:sp>
      <p:sp>
        <p:nvSpPr>
          <p:cNvPr id="16" name="Text 14"/>
          <p:cNvSpPr txBox="1"/>
          <p:nvPr/>
        </p:nvSpPr>
        <p:spPr>
          <a:xfrm>
            <a:off x="2743200" y="2386584"/>
            <a:ext cx="8961120" cy="329184"/>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GS1識別コード＋個体別シリアル番号。同じ商品でも1点ずつ識別可能</a:t>
            </a:r>
            <a:endParaRPr lang="en-US" sz="1050" dirty="0"/>
          </a:p>
        </p:txBody>
      </p:sp>
      <p:sp>
        <p:nvSpPr>
          <p:cNvPr id="17" name="Text 15"/>
          <p:cNvSpPr txBox="1"/>
          <p:nvPr/>
        </p:nvSpPr>
        <p:spPr>
          <a:xfrm>
            <a:off x="502920" y="2734056"/>
            <a:ext cx="2103120" cy="329184"/>
          </a:xfrm>
          <a:prstGeom prst="rect">
            <a:avLst/>
          </a:prstGeom>
          <a:noFill/>
          <a:ln/>
        </p:spPr>
        <p:txBody>
          <a:bodyPr wrap="square" lIns="0" tIns="0" rIns="0" bIns="0" rtlCol="0" anchor="t"/>
          <a:lstStyle/>
          <a:p>
            <a:pPr indent="0" marL="0">
              <a:buNone/>
            </a:pPr>
            <a:r>
              <a:rPr lang="en-US" sz="1050" b="1" dirty="0">
                <a:solidFill>
                  <a:srgbClr val="171717"/>
                </a:solidFill>
                <a:latin typeface="Yu Gothic" pitchFamily="34" charset="0"/>
                <a:ea typeface="Yu Gothic" pitchFamily="34" charset="-122"/>
                <a:cs typeface="Yu Gothic" pitchFamily="34" charset="-120"/>
              </a:rPr>
              <a:t>トレーサビリティ</a:t>
            </a:r>
            <a:endParaRPr lang="en-US" sz="1050" dirty="0"/>
          </a:p>
        </p:txBody>
      </p:sp>
      <p:sp>
        <p:nvSpPr>
          <p:cNvPr id="18" name="Shape 16"/>
          <p:cNvSpPr/>
          <p:nvPr/>
        </p:nvSpPr>
        <p:spPr>
          <a:xfrm>
            <a:off x="2587752" y="2734056"/>
            <a:ext cx="0" cy="256032"/>
          </a:xfrm>
          <a:prstGeom prst="line">
            <a:avLst/>
          </a:prstGeom>
          <a:noFill/>
          <a:ln w="12700">
            <a:solidFill>
              <a:srgbClr val="E6E6E6"/>
            </a:solidFill>
            <a:prstDash val="solid"/>
          </a:ln>
        </p:spPr>
      </p:sp>
      <p:sp>
        <p:nvSpPr>
          <p:cNvPr id="19" name="Text 17"/>
          <p:cNvSpPr txBox="1"/>
          <p:nvPr/>
        </p:nvSpPr>
        <p:spPr>
          <a:xfrm>
            <a:off x="2743200" y="2734056"/>
            <a:ext cx="8961120" cy="329184"/>
          </a:xfrm>
          <a:prstGeom prst="rect">
            <a:avLst/>
          </a:prstGeom>
          <a:noFill/>
          <a:ln/>
        </p:spPr>
        <p:txBody>
          <a:bodyPr wrap="square" lIns="0" tIns="0" rIns="0" bIns="0" rtlCol="0" anchor="t"/>
          <a:lstStyle/>
          <a:p>
            <a:pPr indent="0" marL="0">
              <a:buNone/>
            </a:pPr>
            <a:r>
              <a:rPr lang="en-US" sz="1050" dirty="0">
                <a:solidFill>
                  <a:srgbClr val="8A8A8A"/>
                </a:solidFill>
                <a:latin typeface="Yu Gothic" pitchFamily="34" charset="0"/>
                <a:ea typeface="Yu Gothic" pitchFamily="34" charset="-122"/>
                <a:cs typeface="Yu Gothic" pitchFamily="34" charset="-120"/>
              </a:rPr>
              <a:t>生産〜加工〜流通〜販売までの経路を追跡できる仕組み</a:t>
            </a:r>
            <a:endParaRPr lang="en-US" sz="1050" dirty="0"/>
          </a:p>
        </p:txBody>
      </p:sp>
      <p:sp>
        <p:nvSpPr>
          <p:cNvPr id="20" name="Text 18"/>
          <p:cNvSpPr txBox="1"/>
          <p:nvPr/>
        </p:nvSpPr>
        <p:spPr>
          <a:xfrm>
            <a:off x="502920" y="3154680"/>
            <a:ext cx="11201400" cy="594360"/>
          </a:xfrm>
          <a:prstGeom prst="rect">
            <a:avLst/>
          </a:prstGeom>
          <a:noFill/>
          <a:ln/>
        </p:spPr>
        <p:txBody>
          <a:bodyPr wrap="square" lIns="0" tIns="0" rIns="0" bIns="0" rtlCol="0" anchor="ctr"/>
          <a:lstStyle/>
          <a:p>
            <a:pPr indent="0" marL="0">
              <a:lnSpc>
                <a:spcPct val="120000"/>
              </a:lnSpc>
              <a:buNone/>
            </a:pPr>
            <a:r>
              <a:rPr lang="en-US" sz="850" b="1" dirty="0">
                <a:solidFill>
                  <a:srgbClr val="8A8A8A"/>
                </a:solidFill>
                <a:latin typeface="Consolas" pitchFamily="34" charset="0"/>
                <a:ea typeface="Consolas" pitchFamily="34" charset="-122"/>
                <a:cs typeface="Consolas" pitchFamily="34" charset="-120"/>
              </a:rPr>
              <a:t>具体例
</a:t>
            </a:r>
            <a:endParaRPr lang="en-US" sz="850" dirty="0"/>
          </a:p>
          <a:p>
            <a:pPr indent="0" marL="0">
              <a:lnSpc>
                <a:spcPct val="120000"/>
              </a:lnSpc>
              <a:buNone/>
            </a:pPr>
            <a:r>
              <a:rPr lang="en-US" sz="1000" dirty="0">
                <a:solidFill>
                  <a:srgbClr val="171717"/>
                </a:solidFill>
                <a:latin typeface="Yu Gothic" pitchFamily="34" charset="0"/>
                <a:ea typeface="Yu Gothic" pitchFamily="34" charset="-122"/>
                <a:cs typeface="Yu Gothic" pitchFamily="34" charset="-120"/>
              </a:rPr>
              <a:t>食肉加工業N社は、パッケージのバーコードから、その肉がどの牧場で生産され、いつ加工され、どの経路で店頭に並んだかを消費者がたどれるトレーサビリティの仕組みを整備している。アパレル小売O社では商品1点ごとに電子タグを取り付け、レジで複数点を一括読取して会計を素早く済ませている。</a:t>
            </a:r>
            <a:endParaRPr lang="en-US" sz="850" dirty="0"/>
          </a:p>
        </p:txBody>
      </p:sp>
      <p:sp>
        <p:nvSpPr>
          <p:cNvPr id="21" name="Shape 19"/>
          <p:cNvSpPr/>
          <p:nvPr/>
        </p:nvSpPr>
        <p:spPr>
          <a:xfrm>
            <a:off x="502920" y="3822192"/>
            <a:ext cx="11201400" cy="0"/>
          </a:xfrm>
          <a:prstGeom prst="line">
            <a:avLst/>
          </a:prstGeom>
          <a:noFill/>
          <a:ln w="12700">
            <a:solidFill>
              <a:srgbClr val="E6E6E6"/>
            </a:solidFill>
            <a:prstDash val="solid"/>
          </a:ln>
        </p:spPr>
      </p:sp>
      <p:sp>
        <p:nvSpPr>
          <p:cNvPr id="22" name="Text 20"/>
          <p:cNvSpPr txBox="1"/>
          <p:nvPr/>
        </p:nvSpPr>
        <p:spPr>
          <a:xfrm>
            <a:off x="502920" y="3895344"/>
            <a:ext cx="11201400" cy="365760"/>
          </a:xfrm>
          <a:prstGeom prst="rect">
            <a:avLst/>
          </a:prstGeom>
          <a:noFill/>
          <a:ln/>
        </p:spPr>
        <p:txBody>
          <a:bodyPr wrap="square" lIns="0" tIns="0" rIns="0" bIns="0" rtlCol="0" anchor="ctr"/>
          <a:lstStyle/>
          <a:p>
            <a:pPr indent="0" marL="0">
              <a:lnSpc>
                <a:spcPct val="120000"/>
              </a:lnSpc>
              <a:buNone/>
            </a:pPr>
            <a:r>
              <a:rPr lang="en-US" sz="950" b="1" dirty="0">
                <a:solidFill>
                  <a:srgbClr val="FF3B1F"/>
                </a:solidFill>
                <a:latin typeface="Yu Gothic" pitchFamily="34" charset="0"/>
                <a:ea typeface="Yu Gothic" pitchFamily="34" charset="-122"/>
                <a:cs typeface="Yu Gothic" pitchFamily="34" charset="-120"/>
              </a:rPr>
              <a:t>ひっかけ：</a:t>
            </a:r>
            <a:pPr indent="0" marL="0">
              <a:lnSpc>
                <a:spcPct val="120000"/>
              </a:lnSpc>
              <a:buNone/>
            </a:pPr>
            <a:r>
              <a:rPr lang="en-US" sz="950" dirty="0">
                <a:solidFill>
                  <a:srgbClr val="FF3B1F"/>
                </a:solidFill>
                <a:latin typeface="Yu Gothic" pitchFamily="34" charset="0"/>
                <a:ea typeface="Yu Gothic" pitchFamily="34" charset="-122"/>
                <a:cs typeface="Yu Gothic" pitchFamily="34" charset="-120"/>
              </a:rPr>
              <a:t>「電子タグも1つずつ近づけて読み取る必要がある」は誤り。バーコードと違い複数タグを離れた場所から一括読取できる点が最大の利点。</a:t>
            </a:r>
            <a:endParaRPr lang="en-US" sz="950" dirty="0"/>
          </a:p>
        </p:txBody>
      </p:sp>
      <p:sp>
        <p:nvSpPr>
          <p:cNvPr id="23" name="Shape 21"/>
          <p:cNvSpPr/>
          <p:nvPr/>
        </p:nvSpPr>
        <p:spPr>
          <a:xfrm>
            <a:off x="502920" y="5989320"/>
            <a:ext cx="11201400" cy="0"/>
          </a:xfrm>
          <a:prstGeom prst="line">
            <a:avLst/>
          </a:prstGeom>
          <a:noFill/>
          <a:ln w="9525">
            <a:solidFill>
              <a:srgbClr val="171717"/>
            </a:solidFill>
            <a:prstDash val="solid"/>
          </a:ln>
        </p:spPr>
      </p:sp>
      <p:sp>
        <p:nvSpPr>
          <p:cNvPr id="24" name="Shape 22"/>
          <p:cNvSpPr/>
          <p:nvPr/>
        </p:nvSpPr>
        <p:spPr>
          <a:xfrm>
            <a:off x="502920" y="6062472"/>
            <a:ext cx="329184" cy="329184"/>
          </a:xfrm>
          <a:prstGeom prst="ellipse">
            <a:avLst/>
          </a:prstGeom>
          <a:solidFill>
            <a:srgbClr val="FF3B1F"/>
          </a:solidFill>
          <a:ln/>
        </p:spPr>
      </p:sp>
      <p:sp>
        <p:nvSpPr>
          <p:cNvPr id="25" name="Text 23"/>
          <p:cNvSpPr txBox="1"/>
          <p:nvPr/>
        </p:nvSpPr>
        <p:spPr>
          <a:xfrm>
            <a:off x="502920" y="6062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A</a:t>
            </a:r>
            <a:endParaRPr lang="en-US" sz="1300" dirty="0"/>
          </a:p>
        </p:txBody>
      </p:sp>
      <p:sp>
        <p:nvSpPr>
          <p:cNvPr id="26" name="Text 24"/>
          <p:cNvSpPr txBox="1"/>
          <p:nvPr/>
        </p:nvSpPr>
        <p:spPr>
          <a:xfrm>
            <a:off x="914400" y="6062472"/>
            <a:ext cx="1371600" cy="329184"/>
          </a:xfrm>
          <a:prstGeom prst="rect">
            <a:avLst/>
          </a:prstGeom>
          <a:noFill/>
          <a:ln/>
        </p:spPr>
        <p:txBody>
          <a:bodyPr wrap="square" lIns="0" tIns="0" rIns="0" bIns="0" rtlCol="0" anchor="ctr"/>
          <a:lstStyle/>
          <a:p>
            <a:pPr indent="0" marL="0">
              <a:buNone/>
            </a:pPr>
            <a:r>
              <a:rPr lang="en-US" sz="1050" b="1" dirty="0">
                <a:solidFill>
                  <a:srgbClr val="171717"/>
                </a:solidFill>
                <a:latin typeface="Yu Gothic" pitchFamily="34" charset="0"/>
                <a:ea typeface="Yu Gothic" pitchFamily="34" charset="-122"/>
                <a:cs typeface="Yu Gothic" pitchFamily="34" charset="-120"/>
              </a:rPr>
              <a:t>最頻出論点</a:t>
            </a:r>
            <a:endParaRPr lang="en-US" sz="1050" dirty="0"/>
          </a:p>
        </p:txBody>
      </p:sp>
      <p:sp>
        <p:nvSpPr>
          <p:cNvPr id="27" name="Shape 25"/>
          <p:cNvSpPr/>
          <p:nvPr/>
        </p:nvSpPr>
        <p:spPr>
          <a:xfrm>
            <a:off x="2331720" y="6062472"/>
            <a:ext cx="0" cy="329184"/>
          </a:xfrm>
          <a:prstGeom prst="line">
            <a:avLst/>
          </a:prstGeom>
          <a:noFill/>
          <a:ln w="12700">
            <a:solidFill>
              <a:srgbClr val="E6E6E6"/>
            </a:solidFill>
            <a:prstDash val="solid"/>
          </a:ln>
        </p:spPr>
      </p:sp>
      <p:sp>
        <p:nvSpPr>
          <p:cNvPr id="28" name="Text 26"/>
          <p:cNvSpPr txBox="1"/>
          <p:nvPr/>
        </p:nvSpPr>
        <p:spPr>
          <a:xfrm>
            <a:off x="2514600" y="6044184"/>
            <a:ext cx="9189720" cy="365760"/>
          </a:xfrm>
          <a:prstGeom prst="rect">
            <a:avLst/>
          </a:prstGeom>
          <a:noFill/>
          <a:ln/>
        </p:spPr>
        <p:txBody>
          <a:bodyPr wrap="square" lIns="0" tIns="0" rIns="0" bIns="0" rtlCol="0" anchor="ctr"/>
          <a:lstStyle/>
          <a:p>
            <a:pPr indent="0" marL="0">
              <a:buNone/>
            </a:pPr>
            <a:r>
              <a:rPr lang="en-US" sz="1000" dirty="0">
                <a:solidFill>
                  <a:srgbClr val="8A8A8A"/>
                </a:solidFill>
                <a:latin typeface="Yu Gothic" pitchFamily="34" charset="0"/>
                <a:ea typeface="Yu Gothic" pitchFamily="34" charset="-122"/>
                <a:cs typeface="Yu Gothic" pitchFamily="34" charset="-120"/>
              </a:rPr>
              <a:t>関連：D-34 流通情報システム（POSデータの入口となる識別技術）。</a:t>
            </a:r>
            <a:endParaRPr lang="en-US" sz="1000" dirty="0"/>
          </a:p>
        </p:txBody>
      </p:sp>
      <p:sp>
        <p:nvSpPr>
          <p:cNvPr id="29" name="Text 27"/>
          <p:cNvSpPr txBox="1"/>
          <p:nvPr/>
        </p:nvSpPr>
        <p:spPr>
          <a:xfrm>
            <a:off x="502920" y="6464808"/>
            <a:ext cx="1417320" cy="219456"/>
          </a:xfrm>
          <a:prstGeom prst="rect">
            <a:avLst/>
          </a:prstGeom>
          <a:noFill/>
          <a:ln/>
        </p:spPr>
        <p:txBody>
          <a:bodyPr wrap="square" lIns="0" tIns="0" rIns="0" bIns="0" rtlCol="0" anchor="ctr"/>
          <a:lstStyle/>
          <a:p>
            <a:pPr indent="0" marL="0">
              <a:buNone/>
            </a:pPr>
            <a:r>
              <a:rPr lang="en-US" sz="850" dirty="0">
                <a:solidFill>
                  <a:srgbClr val="8A8A8A"/>
                </a:solidFill>
                <a:latin typeface="Yu Gothic" pitchFamily="34" charset="0"/>
                <a:ea typeface="Yu Gothic" pitchFamily="34" charset="-122"/>
                <a:cs typeface="Yu Gothic" pitchFamily="34" charset="-120"/>
              </a:rPr>
              <a:t>出題年度（過去10年）</a:t>
            </a:r>
            <a:endParaRPr lang="en-US" sz="850" dirty="0"/>
          </a:p>
        </p:txBody>
      </p:sp>
      <p:sp>
        <p:nvSpPr>
          <p:cNvPr id="30" name="Shape 28"/>
          <p:cNvSpPr/>
          <p:nvPr/>
        </p:nvSpPr>
        <p:spPr>
          <a:xfrm>
            <a:off x="2466594" y="6464808"/>
            <a:ext cx="146304" cy="146304"/>
          </a:xfrm>
          <a:prstGeom prst="ellipse">
            <a:avLst/>
          </a:prstGeom>
          <a:solidFill>
            <a:srgbClr val="FF3B1F"/>
          </a:solidFill>
          <a:ln w="12700">
            <a:solidFill>
              <a:srgbClr val="FF3B1F"/>
            </a:solidFill>
            <a:prstDash val="solid"/>
          </a:ln>
        </p:spPr>
      </p:sp>
      <p:sp>
        <p:nvSpPr>
          <p:cNvPr id="31" name="Text 29"/>
          <p:cNvSpPr txBox="1"/>
          <p:nvPr/>
        </p:nvSpPr>
        <p:spPr>
          <a:xfrm>
            <a:off x="205740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'16</a:t>
            </a:r>
            <a:endParaRPr lang="en-US" sz="800" dirty="0"/>
          </a:p>
        </p:txBody>
      </p:sp>
      <p:sp>
        <p:nvSpPr>
          <p:cNvPr id="32" name="Shape 30"/>
          <p:cNvSpPr/>
          <p:nvPr/>
        </p:nvSpPr>
        <p:spPr>
          <a:xfrm>
            <a:off x="3431286" y="6464808"/>
            <a:ext cx="146304" cy="146304"/>
          </a:xfrm>
          <a:prstGeom prst="ellipse">
            <a:avLst/>
          </a:prstGeom>
          <a:solidFill>
            <a:srgbClr val="FF3B1F"/>
          </a:solidFill>
          <a:ln w="12700">
            <a:solidFill>
              <a:srgbClr val="FF3B1F"/>
            </a:solidFill>
            <a:prstDash val="solid"/>
          </a:ln>
        </p:spPr>
      </p:sp>
      <p:sp>
        <p:nvSpPr>
          <p:cNvPr id="33" name="Text 31"/>
          <p:cNvSpPr txBox="1"/>
          <p:nvPr/>
        </p:nvSpPr>
        <p:spPr>
          <a:xfrm>
            <a:off x="302209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'17</a:t>
            </a:r>
            <a:endParaRPr lang="en-US" sz="800" dirty="0"/>
          </a:p>
        </p:txBody>
      </p:sp>
      <p:sp>
        <p:nvSpPr>
          <p:cNvPr id="34" name="Shape 32"/>
          <p:cNvSpPr/>
          <p:nvPr/>
        </p:nvSpPr>
        <p:spPr>
          <a:xfrm>
            <a:off x="4395978" y="6464808"/>
            <a:ext cx="146304" cy="146304"/>
          </a:xfrm>
          <a:prstGeom prst="ellipse">
            <a:avLst/>
          </a:prstGeom>
          <a:solidFill>
            <a:srgbClr val="FF3B1F"/>
          </a:solidFill>
          <a:ln w="12700">
            <a:solidFill>
              <a:srgbClr val="FF3B1F"/>
            </a:solidFill>
            <a:prstDash val="solid"/>
          </a:ln>
        </p:spPr>
      </p:sp>
      <p:sp>
        <p:nvSpPr>
          <p:cNvPr id="35" name="Text 33"/>
          <p:cNvSpPr txBox="1"/>
          <p:nvPr/>
        </p:nvSpPr>
        <p:spPr>
          <a:xfrm>
            <a:off x="398678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'18</a:t>
            </a:r>
            <a:endParaRPr lang="en-US" sz="800" dirty="0"/>
          </a:p>
        </p:txBody>
      </p:sp>
      <p:sp>
        <p:nvSpPr>
          <p:cNvPr id="36" name="Shape 34"/>
          <p:cNvSpPr/>
          <p:nvPr/>
        </p:nvSpPr>
        <p:spPr>
          <a:xfrm>
            <a:off x="5360670" y="6464808"/>
            <a:ext cx="146304" cy="146304"/>
          </a:xfrm>
          <a:prstGeom prst="ellipse">
            <a:avLst/>
          </a:prstGeom>
          <a:solidFill>
            <a:srgbClr val="FF3B1F"/>
          </a:solidFill>
          <a:ln w="12700">
            <a:solidFill>
              <a:srgbClr val="FF3B1F"/>
            </a:solidFill>
            <a:prstDash val="solid"/>
          </a:ln>
        </p:spPr>
      </p:sp>
      <p:sp>
        <p:nvSpPr>
          <p:cNvPr id="37" name="Text 35"/>
          <p:cNvSpPr txBox="1"/>
          <p:nvPr/>
        </p:nvSpPr>
        <p:spPr>
          <a:xfrm>
            <a:off x="495147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'19</a:t>
            </a:r>
            <a:endParaRPr lang="en-US" sz="800" dirty="0"/>
          </a:p>
        </p:txBody>
      </p:sp>
      <p:sp>
        <p:nvSpPr>
          <p:cNvPr id="38" name="Shape 36"/>
          <p:cNvSpPr/>
          <p:nvPr/>
        </p:nvSpPr>
        <p:spPr>
          <a:xfrm>
            <a:off x="6325362" y="6464808"/>
            <a:ext cx="146304" cy="146304"/>
          </a:xfrm>
          <a:prstGeom prst="ellipse">
            <a:avLst/>
          </a:prstGeom>
          <a:solidFill>
            <a:srgbClr val="FF3B1F"/>
          </a:solidFill>
          <a:ln w="12700">
            <a:solidFill>
              <a:srgbClr val="FF3B1F"/>
            </a:solidFill>
            <a:prstDash val="solid"/>
          </a:ln>
        </p:spPr>
      </p:sp>
      <p:sp>
        <p:nvSpPr>
          <p:cNvPr id="39" name="Text 37"/>
          <p:cNvSpPr txBox="1"/>
          <p:nvPr/>
        </p:nvSpPr>
        <p:spPr>
          <a:xfrm>
            <a:off x="591616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'20</a:t>
            </a:r>
            <a:endParaRPr lang="en-US" sz="800" dirty="0"/>
          </a:p>
        </p:txBody>
      </p:sp>
      <p:sp>
        <p:nvSpPr>
          <p:cNvPr id="40" name="Shape 38"/>
          <p:cNvSpPr/>
          <p:nvPr/>
        </p:nvSpPr>
        <p:spPr>
          <a:xfrm>
            <a:off x="7290054" y="6464808"/>
            <a:ext cx="146304" cy="146304"/>
          </a:xfrm>
          <a:prstGeom prst="ellipse">
            <a:avLst/>
          </a:prstGeom>
          <a:solidFill>
            <a:srgbClr val="FF3B1F"/>
          </a:solidFill>
          <a:ln w="12700">
            <a:solidFill>
              <a:srgbClr val="FF3B1F"/>
            </a:solidFill>
            <a:prstDash val="solid"/>
          </a:ln>
        </p:spPr>
      </p:sp>
      <p:sp>
        <p:nvSpPr>
          <p:cNvPr id="41" name="Text 39"/>
          <p:cNvSpPr txBox="1"/>
          <p:nvPr/>
        </p:nvSpPr>
        <p:spPr>
          <a:xfrm>
            <a:off x="6880860"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'21</a:t>
            </a:r>
            <a:endParaRPr lang="en-US" sz="800" dirty="0"/>
          </a:p>
        </p:txBody>
      </p:sp>
      <p:sp>
        <p:nvSpPr>
          <p:cNvPr id="42" name="Shape 40"/>
          <p:cNvSpPr/>
          <p:nvPr/>
        </p:nvSpPr>
        <p:spPr>
          <a:xfrm>
            <a:off x="8254746" y="6464808"/>
            <a:ext cx="146304" cy="146304"/>
          </a:xfrm>
          <a:prstGeom prst="ellipse">
            <a:avLst/>
          </a:prstGeom>
          <a:solidFill>
            <a:srgbClr val="FF3B1F"/>
          </a:solidFill>
          <a:ln w="12700">
            <a:solidFill>
              <a:srgbClr val="FF3B1F"/>
            </a:solidFill>
            <a:prstDash val="solid"/>
          </a:ln>
        </p:spPr>
      </p:sp>
      <p:sp>
        <p:nvSpPr>
          <p:cNvPr id="43" name="Text 41"/>
          <p:cNvSpPr txBox="1"/>
          <p:nvPr/>
        </p:nvSpPr>
        <p:spPr>
          <a:xfrm>
            <a:off x="7845552"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'22</a:t>
            </a:r>
            <a:endParaRPr lang="en-US" sz="800" dirty="0"/>
          </a:p>
        </p:txBody>
      </p:sp>
      <p:sp>
        <p:nvSpPr>
          <p:cNvPr id="44" name="Shape 42"/>
          <p:cNvSpPr/>
          <p:nvPr/>
        </p:nvSpPr>
        <p:spPr>
          <a:xfrm>
            <a:off x="9219438" y="6464808"/>
            <a:ext cx="146304" cy="146304"/>
          </a:xfrm>
          <a:prstGeom prst="ellipse">
            <a:avLst/>
          </a:prstGeom>
          <a:solidFill>
            <a:srgbClr val="FF3B1F"/>
          </a:solidFill>
          <a:ln w="12700">
            <a:solidFill>
              <a:srgbClr val="FF3B1F"/>
            </a:solidFill>
            <a:prstDash val="solid"/>
          </a:ln>
        </p:spPr>
      </p:sp>
      <p:sp>
        <p:nvSpPr>
          <p:cNvPr id="45" name="Text 43"/>
          <p:cNvSpPr txBox="1"/>
          <p:nvPr/>
        </p:nvSpPr>
        <p:spPr>
          <a:xfrm>
            <a:off x="8810244"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'23</a:t>
            </a:r>
            <a:endParaRPr lang="en-US" sz="800" dirty="0"/>
          </a:p>
        </p:txBody>
      </p:sp>
      <p:sp>
        <p:nvSpPr>
          <p:cNvPr id="46" name="Shape 44"/>
          <p:cNvSpPr/>
          <p:nvPr/>
        </p:nvSpPr>
        <p:spPr>
          <a:xfrm>
            <a:off x="10184130" y="6464808"/>
            <a:ext cx="146304" cy="146304"/>
          </a:xfrm>
          <a:prstGeom prst="ellipse">
            <a:avLst/>
          </a:prstGeom>
          <a:solidFill>
            <a:srgbClr val="FF3B1F"/>
          </a:solidFill>
          <a:ln w="12700">
            <a:solidFill>
              <a:srgbClr val="FF3B1F"/>
            </a:solidFill>
            <a:prstDash val="solid"/>
          </a:ln>
        </p:spPr>
      </p:sp>
      <p:sp>
        <p:nvSpPr>
          <p:cNvPr id="47" name="Text 45"/>
          <p:cNvSpPr txBox="1"/>
          <p:nvPr/>
        </p:nvSpPr>
        <p:spPr>
          <a:xfrm>
            <a:off x="9774936"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'24</a:t>
            </a:r>
            <a:endParaRPr lang="en-US" sz="800" dirty="0"/>
          </a:p>
        </p:txBody>
      </p:sp>
      <p:sp>
        <p:nvSpPr>
          <p:cNvPr id="48" name="Shape 46"/>
          <p:cNvSpPr/>
          <p:nvPr/>
        </p:nvSpPr>
        <p:spPr>
          <a:xfrm>
            <a:off x="11148822" y="6464808"/>
            <a:ext cx="146304" cy="146304"/>
          </a:xfrm>
          <a:prstGeom prst="ellipse">
            <a:avLst/>
          </a:prstGeom>
          <a:solidFill>
            <a:srgbClr val="FF3B1F"/>
          </a:solidFill>
          <a:ln w="12700">
            <a:solidFill>
              <a:srgbClr val="FF3B1F"/>
            </a:solidFill>
            <a:prstDash val="solid"/>
          </a:ln>
        </p:spPr>
      </p:sp>
      <p:sp>
        <p:nvSpPr>
          <p:cNvPr id="49" name="Text 47"/>
          <p:cNvSpPr txBox="1"/>
          <p:nvPr/>
        </p:nvSpPr>
        <p:spPr>
          <a:xfrm>
            <a:off x="10739628" y="6620256"/>
            <a:ext cx="964692" cy="173736"/>
          </a:xfrm>
          <a:prstGeom prst="rect">
            <a:avLst/>
          </a:prstGeom>
          <a:noFill/>
          <a:ln/>
        </p:spPr>
        <p:txBody>
          <a:bodyPr wrap="square" lIns="0" tIns="0" rIns="0" bIns="0" rtlCol="0" anchor="ctr"/>
          <a:lstStyle/>
          <a:p>
            <a:pPr algn="ctr" indent="0" marL="0">
              <a:buNone/>
            </a:pPr>
            <a:r>
              <a:rPr lang="en-US" sz="800" b="1" dirty="0">
                <a:solidFill>
                  <a:srgbClr val="171717"/>
                </a:solidFill>
                <a:latin typeface="Consolas" pitchFamily="34" charset="0"/>
                <a:ea typeface="Consolas" pitchFamily="34" charset="-122"/>
                <a:cs typeface="Consolas" pitchFamily="34" charset="-120"/>
              </a:rPr>
              <a:t>'25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運営管理</dc:title>
  <dc:subject>PptxGenJS Presentation</dc:subject>
  <dc:creator>SMEC</dc:creator>
  <cp:lastModifiedBy>SMEC</cp:lastModifiedBy>
  <cp:revision>1</cp:revision>
  <dcterms:created xsi:type="dcterms:W3CDTF">2026-09-20T10:11:25Z</dcterms:created>
  <dcterms:modified xsi:type="dcterms:W3CDTF">2026-09-20T10:11:25Z</dcterms:modified>
</cp:coreProperties>
</file>