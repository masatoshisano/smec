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377440"/>
            <a:ext cx="12191695" cy="2103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88920"/>
            <a:ext cx="11094415" cy="914400"/>
          </a:xfrm>
          <a:prstGeom prst="rect">
            <a:avLst/>
          </a:prstGeom>
          <a:noFill/>
        </p:spPr>
        <p:txBody>
          <a:bodyPr wrap="square" anchor="t" lIns="0" rIns="0" tIns="0" bIns="0">
            <a:spAutoFit/>
          </a:bodyPr>
          <a:lstStyle/>
          <a:p>
            <a:pPr algn="l">
              <a:lnSpc>
                <a:spcPct val="115000"/>
              </a:lnSpc>
            </a:pPr>
            <a:r>
              <a:rPr sz="4000" b="1" i="0">
                <a:solidFill>
                  <a:srgbClr val="FFFFFF"/>
                </a:solidFill>
                <a:latin typeface="Yu Gothic"/>
                <a:ea typeface="Yu Gothic"/>
              </a:rPr>
              <a:t>企業経営理論</a:t>
            </a:r>
          </a:p>
        </p:txBody>
      </p:sp>
      <p:sp>
        <p:nvSpPr>
          <p:cNvPr id="4" name="TextBox 3"/>
          <p:cNvSpPr txBox="1"/>
          <p:nvPr/>
        </p:nvSpPr>
        <p:spPr>
          <a:xfrm>
            <a:off x="548640" y="3566160"/>
            <a:ext cx="11094415" cy="548640"/>
          </a:xfrm>
          <a:prstGeom prst="rect">
            <a:avLst/>
          </a:prstGeom>
          <a:noFill/>
        </p:spPr>
        <p:txBody>
          <a:bodyPr wrap="square" anchor="t" lIns="0" rIns="0" tIns="0" bIns="0">
            <a:spAutoFit/>
          </a:bodyPr>
          <a:lstStyle/>
          <a:p>
            <a:pPr algn="l">
              <a:lnSpc>
                <a:spcPct val="115000"/>
              </a:lnSpc>
            </a:pPr>
            <a:r>
              <a:rPr sz="1800" b="0" i="0">
                <a:solidFill>
                  <a:srgbClr val="D9E2F3"/>
                </a:solidFill>
                <a:latin typeface="Yu Gothic"/>
                <a:ea typeface="Yu Gothic"/>
              </a:rPr>
              <a:t>中小企業診断士 第1次試験 対策スライド（パイロット版）</a:t>
            </a:r>
          </a:p>
        </p:txBody>
      </p:sp>
      <p:sp>
        <p:nvSpPr>
          <p:cNvPr id="5" name="Rounded Rectangle 4"/>
          <p:cNvSpPr/>
          <p:nvPr/>
        </p:nvSpPr>
        <p:spPr>
          <a:xfrm>
            <a:off x="548640" y="4846320"/>
            <a:ext cx="2926080" cy="45720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400" b="1" i="0">
                <a:solidFill>
                  <a:srgbClr val="1F3864"/>
                </a:solidFill>
                <a:latin typeface="Yu Gothic"/>
                <a:ea typeface="Yu Gothic"/>
              </a:rPr>
              <a:t>C. 企業経営理論</a:t>
            </a:r>
          </a:p>
        </p:txBody>
      </p:sp>
      <p:sp>
        <p:nvSpPr>
          <p:cNvPr id="6" name="TextBox 5"/>
          <p:cNvSpPr txBox="1"/>
          <p:nvPr/>
        </p:nvSpPr>
        <p:spPr>
          <a:xfrm>
            <a:off x="548640" y="6309360"/>
            <a:ext cx="5486400" cy="274320"/>
          </a:xfrm>
          <a:prstGeom prst="rect">
            <a:avLst/>
          </a:prstGeom>
          <a:noFill/>
        </p:spPr>
        <p:txBody>
          <a:bodyPr wrap="square" anchor="t" lIns="0" rIns="0" tIns="0" bIns="0">
            <a:spAutoFit/>
          </a:bodyPr>
          <a:lstStyle/>
          <a:p>
            <a:pPr algn="l">
              <a:lnSpc>
                <a:spcPct val="115000"/>
              </a:lnSpc>
            </a:pPr>
            <a:r>
              <a:rPr sz="1000" b="0" i="0">
                <a:solidFill>
                  <a:srgbClr val="7F7F7F"/>
                </a:solidFill>
                <a:latin typeface="Yu Gothic"/>
                <a:ea typeface="Yu Gothic"/>
              </a:rPr>
              <a:t>SMEC - 中小企業診断士試験対策 スライド教材</a:t>
            </a:r>
          </a:p>
        </p:txBody>
      </p:sp>
      <p:sp>
        <p:nvSpPr>
          <p:cNvPr id="7" name="TextBox 6"/>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8" name="TextBox 7"/>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はじめに</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本デッキで扱う内容</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11094415" cy="4754880"/>
          </a:xfrm>
          <a:prstGeom prst="rect">
            <a:avLst/>
          </a:prstGeom>
          <a:noFill/>
        </p:spPr>
        <p:txBody>
          <a:bodyPr wrap="square" lIns="0" rIns="0" tIns="0" bIns="0">
            <a:spAutoFit/>
          </a:bodyPr>
          <a:lstStyle/>
          <a:p>
            <a:pPr>
              <a:lnSpc>
                <a:spcPct val="140000"/>
              </a:lnSpc>
              <a:spcAft>
                <a:spcPts val="1200"/>
              </a:spcAft>
            </a:pPr>
            <a:r>
              <a:rPr sz="1600" b="0" i="0">
                <a:solidFill>
                  <a:srgbClr val="404040"/>
                </a:solidFill>
                <a:latin typeface="Yu Gothic"/>
                <a:ea typeface="Yu Gothic"/>
              </a:rPr>
              <a:t>▪ 第1部：経営戦略論 — VRIO分析／PPM／5フォース分析／ひっかけポイント（VRIO）</a:t>
            </a:r>
          </a:p>
          <a:p>
            <a:pPr>
              <a:lnSpc>
                <a:spcPct val="140000"/>
              </a:lnSpc>
              <a:spcAft>
                <a:spcPts val="1200"/>
              </a:spcAft>
            </a:pPr>
            <a:r>
              <a:rPr sz="1600" b="0" i="0">
                <a:solidFill>
                  <a:srgbClr val="404040"/>
                </a:solidFill>
                <a:latin typeface="Yu Gothic"/>
                <a:ea typeface="Yu Gothic"/>
              </a:rPr>
              <a:t>▪ 第2部：組織論 — 組織構造の比較／組織のライフサイクル／モチベーション理論（マズロー）</a:t>
            </a:r>
          </a:p>
          <a:p>
            <a:pPr>
              <a:lnSpc>
                <a:spcPct val="140000"/>
              </a:lnSpc>
              <a:spcAft>
                <a:spcPts val="1200"/>
              </a:spcAft>
            </a:pPr>
            <a:r>
              <a:rPr sz="1600" b="0" i="0">
                <a:solidFill>
                  <a:srgbClr val="404040"/>
                </a:solidFill>
                <a:latin typeface="Yu Gothic"/>
                <a:ea typeface="Yu Gothic"/>
              </a:rPr>
              <a:t>▪ 第3部：マーケティング論 — STP／プロダクト・ライフサイクル（PLC）</a:t>
            </a:r>
          </a:p>
          <a:p>
            <a:pPr lvl="1">
              <a:lnSpc>
                <a:spcPct val="140000"/>
              </a:lnSpc>
              <a:spcAft>
                <a:spcPts val="1200"/>
              </a:spcAft>
            </a:pPr>
            <a:r>
              <a:rPr sz="1400" b="0" i="0">
                <a:solidFill>
                  <a:srgbClr val="404040"/>
                </a:solidFill>
                <a:latin typeface="Yu Gothic"/>
                <a:ea typeface="Yu Gothic"/>
              </a:rPr>
              <a:t>‒ 本デッキは全12種類の図解パターンをC科目の代表論点で試作したものです</a:t>
            </a:r>
          </a:p>
          <a:p>
            <a:pPr lvl="1">
              <a:lnSpc>
                <a:spcPct val="140000"/>
              </a:lnSpc>
              <a:spcAft>
                <a:spcPts val="1200"/>
              </a:spcAft>
            </a:pPr>
            <a:r>
              <a:rPr sz="1400" b="0" i="0">
                <a:solidFill>
                  <a:srgbClr val="404040"/>
                </a:solidFill>
                <a:latin typeface="Yu Gothic"/>
                <a:ea typeface="Yu Gothic"/>
              </a:rPr>
              <a:t>‒ 各論点の詳細解説は docs/textbook/C_business_administration_textbook.md を参照してください</a:t>
            </a:r>
          </a:p>
        </p:txBody>
      </p:sp>
      <p:sp>
        <p:nvSpPr>
          <p:cNvPr id="8" name="TextBox 7"/>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9" name="TextBox 8"/>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3657600" cy="914400"/>
          </a:xfrm>
          <a:prstGeom prst="rect">
            <a:avLst/>
          </a:prstGeom>
          <a:noFill/>
        </p:spPr>
        <p:txBody>
          <a:bodyPr wrap="square" anchor="t" lIns="0" rIns="0" tIns="0" bIns="0">
            <a:spAutoFit/>
          </a:bodyPr>
          <a:lstStyle/>
          <a:p>
            <a:pPr algn="l">
              <a:lnSpc>
                <a:spcPct val="115000"/>
              </a:lnSpc>
            </a:pPr>
            <a:r>
              <a:rPr sz="2200" b="1" i="0">
                <a:solidFill>
                  <a:srgbClr val="7F7F7F"/>
                </a:solidFill>
                <a:latin typeface="Yu Gothic"/>
                <a:ea typeface="Yu Gothic"/>
              </a:rPr>
              <a:t>第1部</a:t>
            </a:r>
          </a:p>
        </p:txBody>
      </p:sp>
      <p:sp>
        <p:nvSpPr>
          <p:cNvPr id="4" name="TextBox 3"/>
          <p:cNvSpPr txBox="1"/>
          <p:nvPr/>
        </p:nvSpPr>
        <p:spPr>
          <a:xfrm>
            <a:off x="914400" y="2926080"/>
            <a:ext cx="10058400" cy="1097280"/>
          </a:xfrm>
          <a:prstGeom prst="rect">
            <a:avLst/>
          </a:prstGeom>
          <a:noFill/>
        </p:spPr>
        <p:txBody>
          <a:bodyPr wrap="square" anchor="t" lIns="0" rIns="0" tIns="0" bIns="0">
            <a:spAutoFit/>
          </a:bodyPr>
          <a:lstStyle/>
          <a:p>
            <a:pPr algn="l">
              <a:lnSpc>
                <a:spcPct val="115000"/>
              </a:lnSpc>
            </a:pPr>
            <a:r>
              <a:rPr sz="3600" b="1" i="0">
                <a:solidFill>
                  <a:srgbClr val="1F3864"/>
                </a:solidFill>
                <a:latin typeface="Yu Gothic"/>
                <a:ea typeface="Yu Gothic"/>
              </a:rPr>
              <a:t>経営戦略論</a:t>
            </a:r>
          </a:p>
        </p:txBody>
      </p:sp>
      <p:sp>
        <p:nvSpPr>
          <p:cNvPr id="5" name="TextBox 4"/>
          <p:cNvSpPr txBox="1"/>
          <p:nvPr/>
        </p:nvSpPr>
        <p:spPr>
          <a:xfrm>
            <a:off x="914400" y="3931920"/>
            <a:ext cx="9601200" cy="1097280"/>
          </a:xfrm>
          <a:prstGeom prst="rect">
            <a:avLst/>
          </a:prstGeom>
          <a:noFill/>
        </p:spPr>
        <p:txBody>
          <a:bodyPr wrap="square" anchor="t" lIns="0" rIns="0" tIns="0" bIns="0">
            <a:spAutoFit/>
          </a:bodyPr>
          <a:lstStyle/>
          <a:p>
            <a:pPr algn="l">
              <a:lnSpc>
                <a:spcPct val="130000"/>
              </a:lnSpc>
            </a:pPr>
            <a:r>
              <a:rPr sz="1600" b="0" i="0">
                <a:solidFill>
                  <a:srgbClr val="404040"/>
                </a:solidFill>
                <a:latin typeface="Yu Gothic"/>
                <a:ea typeface="Yu Gothic"/>
              </a:rPr>
              <a:t>企業がどの事業に、どのように経営資源を配分し、競争に勝つかを考える分野。</a:t>
            </a:r>
          </a:p>
        </p:txBody>
      </p:sp>
      <p:sp>
        <p:nvSpPr>
          <p:cNvPr id="6" name="TextBox 5"/>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7" name="TextBox 6"/>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C-1：戦略の考え方・階層別戦略・VRIO</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VRIO分析</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371600"/>
            <a:ext cx="3108960" cy="420624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i="0">
                <a:solidFill>
                  <a:srgbClr val="FFFFFF"/>
                </a:solidFill>
                <a:latin typeface="Yu Gothic"/>
                <a:ea typeface="Yu Gothic"/>
              </a:rPr>
              <a:t>VRIO
分析</a:t>
            </a:r>
          </a:p>
        </p:txBody>
      </p:sp>
      <p:sp>
        <p:nvSpPr>
          <p:cNvPr id="8" name="Rectangle 7"/>
          <p:cNvSpPr/>
          <p:nvPr/>
        </p:nvSpPr>
        <p:spPr>
          <a:xfrm>
            <a:off x="3931920" y="1371600"/>
            <a:ext cx="1463040" cy="36576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r>
              <a:rPr sz="1300" b="1" i="0">
                <a:solidFill>
                  <a:srgbClr val="1F3864"/>
                </a:solidFill>
                <a:latin typeface="Yu Gothic"/>
                <a:ea typeface="Yu Gothic"/>
              </a:rPr>
              <a:t>定義</a:t>
            </a:r>
          </a:p>
        </p:txBody>
      </p:sp>
      <p:sp>
        <p:nvSpPr>
          <p:cNvPr id="9" name="TextBox 8"/>
          <p:cNvSpPr txBox="1"/>
          <p:nvPr/>
        </p:nvSpPr>
        <p:spPr>
          <a:xfrm>
            <a:off x="3931920" y="1874520"/>
            <a:ext cx="7711135" cy="1645920"/>
          </a:xfrm>
          <a:prstGeom prst="rect">
            <a:avLst/>
          </a:prstGeom>
          <a:noFill/>
        </p:spPr>
        <p:txBody>
          <a:bodyPr wrap="square" anchor="t" lIns="0" rIns="0" tIns="0" bIns="0">
            <a:spAutoFit/>
          </a:bodyPr>
          <a:lstStyle/>
          <a:p>
            <a:pPr algn="l">
              <a:lnSpc>
                <a:spcPct val="135000"/>
              </a:lnSpc>
            </a:pPr>
            <a:r>
              <a:rPr sz="1600" b="0" i="0">
                <a:solidFill>
                  <a:srgbClr val="404040"/>
                </a:solidFill>
                <a:latin typeface="Yu Gothic"/>
                <a:ea typeface="Yu Gothic"/>
              </a:rPr>
              <a:t>自社の経営資源が競争力の源泉になっているかを、V（価値）・R（希少性）・I（模倣困難性）・O（組織）の4つの視点でチェックする分析枠組み。4つすべてが揃って初めて「持続的な競争優位」が実現する。</a:t>
            </a:r>
          </a:p>
        </p:txBody>
      </p:sp>
      <p:sp>
        <p:nvSpPr>
          <p:cNvPr id="10" name="Rectangle 9"/>
          <p:cNvSpPr/>
          <p:nvPr/>
        </p:nvSpPr>
        <p:spPr>
          <a:xfrm>
            <a:off x="3931920" y="3657600"/>
            <a:ext cx="1463040" cy="36576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l"/>
            <a:r>
              <a:rPr sz="1300" b="1" i="0">
                <a:solidFill>
                  <a:srgbClr val="1F3864"/>
                </a:solidFill>
                <a:latin typeface="Yu Gothic"/>
                <a:ea typeface="Yu Gothic"/>
              </a:rPr>
              <a:t>具体例</a:t>
            </a:r>
          </a:p>
        </p:txBody>
      </p:sp>
      <p:sp>
        <p:nvSpPr>
          <p:cNvPr id="11" name="TextBox 10"/>
          <p:cNvSpPr txBox="1"/>
          <p:nvPr/>
        </p:nvSpPr>
        <p:spPr>
          <a:xfrm>
            <a:off x="3931920" y="4160520"/>
            <a:ext cx="7711135" cy="1645920"/>
          </a:xfrm>
          <a:prstGeom prst="rect">
            <a:avLst/>
          </a:prstGeom>
          <a:noFill/>
        </p:spPr>
        <p:txBody>
          <a:bodyPr wrap="square" anchor="t" lIns="0" rIns="0" tIns="0" bIns="0">
            <a:spAutoFit/>
          </a:bodyPr>
          <a:lstStyle/>
          <a:p>
            <a:pPr algn="l">
              <a:lnSpc>
                <a:spcPct val="135000"/>
              </a:lnSpc>
            </a:pPr>
            <a:r>
              <a:rPr sz="1600" b="0" i="0">
                <a:solidFill>
                  <a:srgbClr val="404040"/>
                </a:solidFill>
                <a:latin typeface="Yu Gothic"/>
                <a:ea typeface="Yu Gothic"/>
              </a:rPr>
              <a:t>三代続く和菓子屋の「職人の技」：おいしい和菓子が作れる（価値）、他店にはない技術（希少性）、何十年もかけないと習得できない（模倣困難性）、技を商品化・販売できる体制がある（組織）→ 4つすべて揃い、持続的な競争優位が実現している。</a:t>
            </a:r>
          </a:p>
        </p:txBody>
      </p:sp>
      <p:sp>
        <p:nvSpPr>
          <p:cNvPr id="12" name="TextBox 11"/>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3" name="TextBox 12"/>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C-1：戦略の考え方・階層別戦略・VRIO</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ひっかけポイント：模倣困難性を高める要因</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371600"/>
            <a:ext cx="11094415" cy="1554480"/>
          </a:xfrm>
          <a:prstGeom prst="roundRect">
            <a:avLst/>
          </a:prstGeom>
          <a:solidFill>
            <a:srgbClr val="FCE4E4"/>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203200"/>
          <a:lstStyle/>
          <a:p>
            <a:pPr algn="ctr"/>
            <a:r>
              <a:rPr sz="1400" b="1" i="0">
                <a:solidFill>
                  <a:srgbClr val="C00000"/>
                </a:solidFill>
                <a:latin typeface="Yu Gothic"/>
                <a:ea typeface="Yu Gothic"/>
              </a:rPr>
              <a:t>✗ よくある誤解</a:t>
            </a:r>
          </a:p>
          <a:p>
            <a:pPr>
              <a:spcBef>
                <a:spcPts val="400"/>
              </a:spcBef>
            </a:pPr>
            <a:r>
              <a:rPr sz="1500" b="0" i="0">
                <a:solidFill>
                  <a:srgbClr val="404040"/>
                </a:solidFill>
                <a:latin typeface="Yu Gothic"/>
                <a:ea typeface="Yu Gothic"/>
              </a:rPr>
              <a:t>「価値の源泉が業界に知れ渡っている」「代替できる資源が外部から容易に調達できる」状態は、模倣困難性を高める要因である。</a:t>
            </a:r>
          </a:p>
        </p:txBody>
      </p:sp>
      <p:sp>
        <p:nvSpPr>
          <p:cNvPr id="8" name="Rounded Rectangle 7"/>
          <p:cNvSpPr/>
          <p:nvPr/>
        </p:nvSpPr>
        <p:spPr>
          <a:xfrm>
            <a:off x="548640" y="3200400"/>
            <a:ext cx="11094415" cy="1554480"/>
          </a:xfrm>
          <a:prstGeom prst="roundRect">
            <a:avLst/>
          </a:prstGeom>
          <a:solidFill>
            <a:srgbClr val="D9E2F3"/>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127000" rIns="203200"/>
          <a:lstStyle/>
          <a:p>
            <a:pPr algn="ctr"/>
            <a:r>
              <a:rPr sz="1400" b="1" i="0">
                <a:solidFill>
                  <a:srgbClr val="1F3864"/>
                </a:solidFill>
                <a:latin typeface="Yu Gothic"/>
                <a:ea typeface="Yu Gothic"/>
              </a:rPr>
              <a:t>✓ 正しい理解</a:t>
            </a:r>
          </a:p>
          <a:p>
            <a:pPr>
              <a:spcBef>
                <a:spcPts val="400"/>
              </a:spcBef>
            </a:pPr>
            <a:r>
              <a:rPr sz="1500" b="0" i="0">
                <a:solidFill>
                  <a:srgbClr val="404040"/>
                </a:solidFill>
                <a:latin typeface="Yu Gothic"/>
                <a:ea typeface="Yu Gothic"/>
              </a:rPr>
              <a:t>上記2つはむしろ模倣困難性を弱める要因。模倣困難性を高める要因として問われるのは「長い歴史の積み重ね（経路依存性）」や「因果関係の曖昧さ（なぜ強いのか他社にはわからない）」。</a:t>
            </a:r>
          </a:p>
        </p:txBody>
      </p:sp>
      <p:sp>
        <p:nvSpPr>
          <p:cNvPr id="9" name="TextBox 8"/>
          <p:cNvSpPr txBox="1"/>
          <p:nvPr/>
        </p:nvSpPr>
        <p:spPr>
          <a:xfrm>
            <a:off x="548640" y="5029200"/>
            <a:ext cx="11094415" cy="914400"/>
          </a:xfrm>
          <a:prstGeom prst="rect">
            <a:avLst/>
          </a:prstGeom>
          <a:noFill/>
        </p:spPr>
        <p:txBody>
          <a:bodyPr wrap="square" anchor="t" lIns="0" rIns="0" tIns="0" bIns="0">
            <a:spAutoFit/>
          </a:bodyPr>
          <a:lstStyle/>
          <a:p>
            <a:pPr algn="l">
              <a:lnSpc>
                <a:spcPct val="130000"/>
              </a:lnSpc>
            </a:pPr>
            <a:r>
              <a:rPr sz="1200" b="0" i="0">
                <a:solidFill>
                  <a:srgbClr val="7F7F7F"/>
                </a:solidFill>
                <a:latin typeface="Yu Gothic"/>
                <a:ea typeface="Yu Gothic"/>
              </a:rPr>
              <a:t>過去問で確認する：problem_sets/1st_stage/exercises/C_business_administration_exercises.md「C-1：戦略の考え方・VRIO」</a:t>
            </a:r>
          </a:p>
        </p:txBody>
      </p:sp>
      <p:sp>
        <p:nvSpPr>
          <p:cNvPr id="10" name="TextBox 9"/>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1" name="TextBox 10"/>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C-4：企業戦略：PPM（プロダクト・ポートフォリオ・マネジメント）</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PPM：4つの事業ポジション</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554480"/>
            <a:ext cx="5044287" cy="2148840"/>
          </a:xfrm>
          <a:prstGeom prst="rect">
            <a:avLst/>
          </a:prstGeom>
          <a:solidFill>
            <a:srgbClr val="D9E2F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tIns="127000" rIns="127000"/>
          <a:lstStyle/>
          <a:p>
            <a:pPr algn="ctr"/>
            <a:r>
              <a:rPr sz="1600" b="1" i="0">
                <a:solidFill>
                  <a:srgbClr val="1F3864"/>
                </a:solidFill>
                <a:latin typeface="Yu Gothic"/>
                <a:ea typeface="Yu Gothic"/>
              </a:rPr>
              <a:t>花形（スター）</a:t>
            </a:r>
          </a:p>
          <a:p>
            <a:pPr>
              <a:spcBef>
                <a:spcPts val="400"/>
              </a:spcBef>
            </a:pPr>
            <a:r>
              <a:rPr sz="1200" b="0" i="0">
                <a:solidFill>
                  <a:srgbClr val="404040"/>
                </a:solidFill>
                <a:latin typeface="Yu Gothic"/>
                <a:ea typeface="Yu Gothic"/>
              </a:rPr>
              <a:t>稼ぐが投資も必要。将来の主力候補</a:t>
            </a:r>
          </a:p>
        </p:txBody>
      </p:sp>
      <p:sp>
        <p:nvSpPr>
          <p:cNvPr id="8" name="Rectangle 7"/>
          <p:cNvSpPr/>
          <p:nvPr/>
        </p:nvSpPr>
        <p:spPr>
          <a:xfrm>
            <a:off x="6415887" y="1554480"/>
            <a:ext cx="5044287" cy="2148840"/>
          </a:xfrm>
          <a:prstGeom prst="rect">
            <a:avLst/>
          </a:prstGeom>
          <a:solidFill>
            <a:srgbClr val="C7D8E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tIns="127000" rIns="127000"/>
          <a:lstStyle/>
          <a:p>
            <a:pPr algn="ctr"/>
            <a:r>
              <a:rPr sz="1600" b="1" i="0">
                <a:solidFill>
                  <a:srgbClr val="1F3864"/>
                </a:solidFill>
                <a:latin typeface="Yu Gothic"/>
                <a:ea typeface="Yu Gothic"/>
              </a:rPr>
              <a:t>問題児</a:t>
            </a:r>
          </a:p>
          <a:p>
            <a:pPr>
              <a:spcBef>
                <a:spcPts val="400"/>
              </a:spcBef>
            </a:pPr>
            <a:r>
              <a:rPr sz="1200" b="0" i="0">
                <a:solidFill>
                  <a:srgbClr val="404040"/>
                </a:solidFill>
                <a:latin typeface="Yu Gothic"/>
                <a:ea typeface="Yu Gothic"/>
              </a:rPr>
              <a:t>将来性はあるが今は稼げない。育てるか撤退か判断が必要</a:t>
            </a:r>
          </a:p>
        </p:txBody>
      </p:sp>
      <p:sp>
        <p:nvSpPr>
          <p:cNvPr id="9" name="Rectangle 8"/>
          <p:cNvSpPr/>
          <p:nvPr/>
        </p:nvSpPr>
        <p:spPr>
          <a:xfrm>
            <a:off x="1371600" y="3703320"/>
            <a:ext cx="5044287" cy="214884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tIns="127000" rIns="127000"/>
          <a:lstStyle/>
          <a:p>
            <a:pPr algn="ctr"/>
            <a:r>
              <a:rPr sz="1600" b="1" i="0">
                <a:solidFill>
                  <a:srgbClr val="1F3864"/>
                </a:solidFill>
                <a:latin typeface="Yu Gothic"/>
                <a:ea typeface="Yu Gothic"/>
              </a:rPr>
              <a:t>金のなる木（キャッシュカウ）</a:t>
            </a:r>
          </a:p>
          <a:p>
            <a:pPr>
              <a:spcBef>
                <a:spcPts val="400"/>
              </a:spcBef>
            </a:pPr>
            <a:r>
              <a:rPr sz="1200" b="0" i="0">
                <a:solidFill>
                  <a:srgbClr val="404040"/>
                </a:solidFill>
                <a:latin typeface="Yu Gothic"/>
                <a:ea typeface="Yu Gothic"/>
              </a:rPr>
              <a:t>あまり投資が要らず安定して稼ぐ。他事業の資金源</a:t>
            </a:r>
          </a:p>
        </p:txBody>
      </p:sp>
      <p:sp>
        <p:nvSpPr>
          <p:cNvPr id="10" name="Rectangle 9"/>
          <p:cNvSpPr/>
          <p:nvPr/>
        </p:nvSpPr>
        <p:spPr>
          <a:xfrm>
            <a:off x="6415887" y="3703320"/>
            <a:ext cx="5044287" cy="2148840"/>
          </a:xfrm>
          <a:prstGeom prst="rect">
            <a:avLst/>
          </a:prstGeom>
          <a:solidFill>
            <a:srgbClr val="E3EAF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tIns="127000" rIns="127000"/>
          <a:lstStyle/>
          <a:p>
            <a:pPr algn="ctr"/>
            <a:r>
              <a:rPr sz="1600" b="1" i="0">
                <a:solidFill>
                  <a:srgbClr val="1F3864"/>
                </a:solidFill>
                <a:latin typeface="Yu Gothic"/>
                <a:ea typeface="Yu Gothic"/>
              </a:rPr>
              <a:t>負け犬</a:t>
            </a:r>
          </a:p>
          <a:p>
            <a:pPr>
              <a:spcBef>
                <a:spcPts val="400"/>
              </a:spcBef>
            </a:pPr>
            <a:r>
              <a:rPr sz="1200" b="0" i="0">
                <a:solidFill>
                  <a:srgbClr val="404040"/>
                </a:solidFill>
                <a:latin typeface="Yu Gothic"/>
                <a:ea typeface="Yu Gothic"/>
              </a:rPr>
              <a:t>稼げず将来性も薄い。撤退候補</a:t>
            </a:r>
          </a:p>
        </p:txBody>
      </p:sp>
      <p:sp>
        <p:nvSpPr>
          <p:cNvPr id="11" name="TextBox 10"/>
          <p:cNvSpPr txBox="1"/>
          <p:nvPr/>
        </p:nvSpPr>
        <p:spPr>
          <a:xfrm>
            <a:off x="1371600" y="5943600"/>
            <a:ext cx="10088575" cy="320040"/>
          </a:xfrm>
          <a:prstGeom prst="rect">
            <a:avLst/>
          </a:prstGeom>
          <a:noFill/>
        </p:spPr>
        <p:txBody>
          <a:bodyPr wrap="square" anchor="t" lIns="0" rIns="0" tIns="0" bIns="0">
            <a:spAutoFit/>
          </a:bodyPr>
          <a:lstStyle/>
          <a:p>
            <a:pPr algn="ctr">
              <a:lnSpc>
                <a:spcPct val="115000"/>
              </a:lnSpc>
            </a:pPr>
            <a:r>
              <a:rPr sz="1300" b="1" i="0">
                <a:solidFill>
                  <a:srgbClr val="7F7F7F"/>
                </a:solidFill>
                <a:latin typeface="Yu Gothic"/>
                <a:ea typeface="Yu Gothic"/>
              </a:rPr>
              <a:t>→ 市場シェア（相対市場シェア）　高←　　　→低</a:t>
            </a:r>
          </a:p>
        </p:txBody>
      </p:sp>
      <p:sp>
        <p:nvSpPr>
          <p:cNvPr id="12" name="TextBox 11"/>
          <p:cNvSpPr txBox="1"/>
          <p:nvPr/>
        </p:nvSpPr>
        <p:spPr>
          <a:xfrm rot="16200000">
            <a:off x="411480" y="1554480"/>
            <a:ext cx="822960" cy="4297680"/>
          </a:xfrm>
          <a:prstGeom prst="rect">
            <a:avLst/>
          </a:prstGeom>
          <a:noFill/>
        </p:spPr>
        <p:txBody>
          <a:bodyPr wrap="square">
            <a:spAutoFit/>
          </a:bodyPr>
          <a:lstStyle/>
          <a:p>
            <a:pPr algn="ctr"/>
            <a:r>
              <a:rPr sz="1300" b="1" i="0">
                <a:solidFill>
                  <a:srgbClr val="7F7F7F"/>
                </a:solidFill>
                <a:latin typeface="Yu Gothic"/>
                <a:ea typeface="Yu Gothic"/>
              </a:rPr>
              <a:t>↑ 市場成長率　高←　　　→低</a:t>
            </a:r>
          </a:p>
        </p:txBody>
      </p:sp>
      <p:sp>
        <p:nvSpPr>
          <p:cNvPr id="13" name="TextBox 12"/>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4" name="TextBox 13"/>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C-6：競争戦略：業界の構造分析</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5フォース分析（M.ポーター）</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095847" y="1371599"/>
            <a:ext cx="0" cy="2377440"/>
          </a:xfrm>
          <a:prstGeom prst="line">
            <a:avLst/>
          </a:prstGeom>
          <a:ln w="285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5847" y="3014370"/>
            <a:ext cx="2261079" cy="734669"/>
          </a:xfrm>
          <a:prstGeom prst="line">
            <a:avLst/>
          </a:prstGeom>
          <a:ln w="285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5847" y="3749039"/>
            <a:ext cx="1397424" cy="1923389"/>
          </a:xfrm>
          <a:prstGeom prst="line">
            <a:avLst/>
          </a:prstGeom>
          <a:ln w="285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698423" y="3749039"/>
            <a:ext cx="1397424" cy="1923389"/>
          </a:xfrm>
          <a:prstGeom prst="line">
            <a:avLst/>
          </a:prstGeom>
          <a:ln w="285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834768" y="3014370"/>
            <a:ext cx="2261079" cy="734669"/>
          </a:xfrm>
          <a:prstGeom prst="line">
            <a:avLst/>
          </a:prstGeom>
          <a:ln w="285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090007" y="2743199"/>
            <a:ext cx="2011680" cy="2011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i="0">
                <a:solidFill>
                  <a:srgbClr val="FFFFFF"/>
                </a:solidFill>
                <a:latin typeface="Yu Gothic"/>
                <a:ea typeface="Yu Gothic"/>
              </a:rPr>
              <a:t>業界の
収益性</a:t>
            </a:r>
          </a:p>
        </p:txBody>
      </p:sp>
      <p:sp>
        <p:nvSpPr>
          <p:cNvPr id="13" name="Rounded Rectangle 12"/>
          <p:cNvSpPr/>
          <p:nvPr/>
        </p:nvSpPr>
        <p:spPr>
          <a:xfrm>
            <a:off x="5044287" y="1005839"/>
            <a:ext cx="2103120" cy="73152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i="0">
                <a:solidFill>
                  <a:srgbClr val="1F3864"/>
                </a:solidFill>
                <a:latin typeface="Yu Gothic"/>
                <a:ea typeface="Yu Gothic"/>
              </a:rPr>
              <a:t>既存競合の脅威
（同業他社との競争）</a:t>
            </a:r>
          </a:p>
        </p:txBody>
      </p:sp>
      <p:sp>
        <p:nvSpPr>
          <p:cNvPr id="14" name="Rounded Rectangle 13"/>
          <p:cNvSpPr/>
          <p:nvPr/>
        </p:nvSpPr>
        <p:spPr>
          <a:xfrm>
            <a:off x="7305367" y="2648610"/>
            <a:ext cx="2103120" cy="73152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i="0">
                <a:solidFill>
                  <a:srgbClr val="1F3864"/>
                </a:solidFill>
                <a:latin typeface="Yu Gothic"/>
                <a:ea typeface="Yu Gothic"/>
              </a:rPr>
              <a:t>新規参入の脅威
（参入障壁の高さ）</a:t>
            </a:r>
          </a:p>
        </p:txBody>
      </p:sp>
      <p:sp>
        <p:nvSpPr>
          <p:cNvPr id="15" name="Rounded Rectangle 14"/>
          <p:cNvSpPr/>
          <p:nvPr/>
        </p:nvSpPr>
        <p:spPr>
          <a:xfrm>
            <a:off x="6441711" y="5306669"/>
            <a:ext cx="2103120" cy="73152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i="0">
                <a:solidFill>
                  <a:srgbClr val="1F3864"/>
                </a:solidFill>
                <a:latin typeface="Yu Gothic"/>
                <a:ea typeface="Yu Gothic"/>
              </a:rPr>
              <a:t>代替品の脅威
（異業種の代替手段）</a:t>
            </a:r>
          </a:p>
        </p:txBody>
      </p:sp>
      <p:sp>
        <p:nvSpPr>
          <p:cNvPr id="16" name="Rounded Rectangle 15"/>
          <p:cNvSpPr/>
          <p:nvPr/>
        </p:nvSpPr>
        <p:spPr>
          <a:xfrm>
            <a:off x="3646863" y="5306669"/>
            <a:ext cx="2103120" cy="73152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i="0">
                <a:solidFill>
                  <a:srgbClr val="1F3864"/>
                </a:solidFill>
                <a:latin typeface="Yu Gothic"/>
                <a:ea typeface="Yu Gothic"/>
              </a:rPr>
              <a:t>売り手の交渉力
（仕入先の力）</a:t>
            </a:r>
          </a:p>
        </p:txBody>
      </p:sp>
      <p:sp>
        <p:nvSpPr>
          <p:cNvPr id="17" name="Rounded Rectangle 16"/>
          <p:cNvSpPr/>
          <p:nvPr/>
        </p:nvSpPr>
        <p:spPr>
          <a:xfrm>
            <a:off x="2783207" y="2648610"/>
            <a:ext cx="2103120" cy="73152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200" b="1" i="0">
                <a:solidFill>
                  <a:srgbClr val="1F3864"/>
                </a:solidFill>
                <a:latin typeface="Yu Gothic"/>
                <a:ea typeface="Yu Gothic"/>
              </a:rPr>
              <a:t>買い手の交渉力
（顧客の力）</a:t>
            </a:r>
          </a:p>
        </p:txBody>
      </p:sp>
      <p:sp>
        <p:nvSpPr>
          <p:cNvPr id="18" name="TextBox 17"/>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9" name="TextBox 18"/>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3657600" cy="914400"/>
          </a:xfrm>
          <a:prstGeom prst="rect">
            <a:avLst/>
          </a:prstGeom>
          <a:noFill/>
        </p:spPr>
        <p:txBody>
          <a:bodyPr wrap="square" anchor="t" lIns="0" rIns="0" tIns="0" bIns="0">
            <a:spAutoFit/>
          </a:bodyPr>
          <a:lstStyle/>
          <a:p>
            <a:pPr algn="l">
              <a:lnSpc>
                <a:spcPct val="115000"/>
              </a:lnSpc>
            </a:pPr>
            <a:r>
              <a:rPr sz="2200" b="1" i="0">
                <a:solidFill>
                  <a:srgbClr val="7F7F7F"/>
                </a:solidFill>
                <a:latin typeface="Yu Gothic"/>
                <a:ea typeface="Yu Gothic"/>
              </a:rPr>
              <a:t>第2部</a:t>
            </a:r>
          </a:p>
        </p:txBody>
      </p:sp>
      <p:sp>
        <p:nvSpPr>
          <p:cNvPr id="4" name="TextBox 3"/>
          <p:cNvSpPr txBox="1"/>
          <p:nvPr/>
        </p:nvSpPr>
        <p:spPr>
          <a:xfrm>
            <a:off x="914400" y="2926080"/>
            <a:ext cx="10058400" cy="1097280"/>
          </a:xfrm>
          <a:prstGeom prst="rect">
            <a:avLst/>
          </a:prstGeom>
          <a:noFill/>
        </p:spPr>
        <p:txBody>
          <a:bodyPr wrap="square" anchor="t" lIns="0" rIns="0" tIns="0" bIns="0">
            <a:spAutoFit/>
          </a:bodyPr>
          <a:lstStyle/>
          <a:p>
            <a:pPr algn="l">
              <a:lnSpc>
                <a:spcPct val="115000"/>
              </a:lnSpc>
            </a:pPr>
            <a:r>
              <a:rPr sz="3600" b="1" i="0">
                <a:solidFill>
                  <a:srgbClr val="1F3864"/>
                </a:solidFill>
                <a:latin typeface="Yu Gothic"/>
                <a:ea typeface="Yu Gothic"/>
              </a:rPr>
              <a:t>組織論</a:t>
            </a:r>
          </a:p>
        </p:txBody>
      </p:sp>
      <p:sp>
        <p:nvSpPr>
          <p:cNvPr id="5" name="TextBox 4"/>
          <p:cNvSpPr txBox="1"/>
          <p:nvPr/>
        </p:nvSpPr>
        <p:spPr>
          <a:xfrm>
            <a:off x="914400" y="3931920"/>
            <a:ext cx="9601200" cy="1097280"/>
          </a:xfrm>
          <a:prstGeom prst="rect">
            <a:avLst/>
          </a:prstGeom>
          <a:noFill/>
        </p:spPr>
        <p:txBody>
          <a:bodyPr wrap="square" anchor="t" lIns="0" rIns="0" tIns="0" bIns="0">
            <a:spAutoFit/>
          </a:bodyPr>
          <a:lstStyle/>
          <a:p>
            <a:pPr algn="l">
              <a:lnSpc>
                <a:spcPct val="130000"/>
              </a:lnSpc>
            </a:pPr>
            <a:r>
              <a:rPr sz="1600" b="0" i="0">
                <a:solidFill>
                  <a:srgbClr val="404040"/>
                </a:solidFill>
                <a:latin typeface="Yu Gothic"/>
                <a:ea typeface="Yu Gothic"/>
              </a:rPr>
              <a:t>会社をどのような構造・文化・人の動機づけで運営するかを考える分野。</a:t>
            </a:r>
          </a:p>
        </p:txBody>
      </p:sp>
      <p:sp>
        <p:nvSpPr>
          <p:cNvPr id="6" name="TextBox 5"/>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7" name="TextBox 6"/>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C-16：組織構造の形態</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職能別組織 vs 事業部制組織</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463040"/>
          <a:ext cx="11094414" cy="2560320"/>
        </p:xfrm>
        <a:graphic>
          <a:graphicData uri="http://schemas.openxmlformats.org/drawingml/2006/table">
            <a:tbl>
              <a:tblPr firstRow="1" bandRow="1">
                <a:tableStyleId>{5C22544A-7EE6-4342-B048-85BDC9FD1C3A}</a:tableStyleId>
              </a:tblPr>
              <a:tblGrid>
                <a:gridCol w="1645920"/>
                <a:gridCol w="4724247"/>
                <a:gridCol w="4724247"/>
              </a:tblGrid>
              <a:tr h="640080">
                <a:tc>
                  <a:txBody>
                    <a:bodyPr wrap="square"/>
                    <a:lstStyle/>
                    <a:p>
                      <a:pPr algn="ctr"/>
                      <a:r>
                        <a:rPr sz="1400" b="1" i="0">
                          <a:solidFill>
                            <a:srgbClr val="FFFFFF"/>
                          </a:solidFill>
                          <a:latin typeface="Yu Gothic"/>
                          <a:ea typeface="Yu Gothic"/>
                        </a:rPr>
                        <a:t/>
                      </a:r>
                    </a:p>
                  </a:txBody>
                  <a:tcPr marL="101600" marR="101600" marT="76200" marB="76200" anchor="ctr">
                    <a:solidFill>
                      <a:srgbClr val="1F3864"/>
                    </a:solidFill>
                  </a:tcPr>
                </a:tc>
                <a:tc>
                  <a:txBody>
                    <a:bodyPr wrap="square"/>
                    <a:lstStyle/>
                    <a:p>
                      <a:pPr algn="ctr"/>
                      <a:r>
                        <a:rPr sz="1400" b="1" i="0">
                          <a:solidFill>
                            <a:srgbClr val="FFFFFF"/>
                          </a:solidFill>
                          <a:latin typeface="Yu Gothic"/>
                          <a:ea typeface="Yu Gothic"/>
                        </a:rPr>
                        <a:t>職能別組織</a:t>
                      </a:r>
                    </a:p>
                  </a:txBody>
                  <a:tcPr marL="101600" marR="101600" marT="76200" marB="76200" anchor="ctr">
                    <a:solidFill>
                      <a:srgbClr val="1F3864"/>
                    </a:solidFill>
                  </a:tcPr>
                </a:tc>
                <a:tc>
                  <a:txBody>
                    <a:bodyPr wrap="square"/>
                    <a:lstStyle/>
                    <a:p>
                      <a:pPr algn="ctr"/>
                      <a:r>
                        <a:rPr sz="1400" b="1" i="0">
                          <a:solidFill>
                            <a:srgbClr val="FFFFFF"/>
                          </a:solidFill>
                          <a:latin typeface="Yu Gothic"/>
                          <a:ea typeface="Yu Gothic"/>
                        </a:rPr>
                        <a:t>事業部制組織</a:t>
                      </a:r>
                    </a:p>
                  </a:txBody>
                  <a:tcPr marL="101600" marR="101600" marT="76200" marB="76200" anchor="ctr">
                    <a:solidFill>
                      <a:srgbClr val="1F3864"/>
                    </a:solidFill>
                  </a:tcPr>
                </a:tc>
              </a:tr>
              <a:tr h="640080">
                <a:tc>
                  <a:txBody>
                    <a:bodyPr wrap="square"/>
                    <a:lstStyle/>
                    <a:p>
                      <a:pPr algn="l"/>
                      <a:r>
                        <a:rPr sz="1300" b="1" i="0">
                          <a:solidFill>
                            <a:srgbClr val="404040"/>
                          </a:solidFill>
                          <a:latin typeface="Yu Gothic"/>
                          <a:ea typeface="Yu Gothic"/>
                        </a:rPr>
                        <a:t>特徴</a:t>
                      </a:r>
                    </a:p>
                  </a:txBody>
                  <a:tcPr marL="101600" marR="101600" marT="76200" marB="76200" anchor="ctr">
                    <a:solidFill>
                      <a:srgbClr val="E7E6E6"/>
                    </a:solidFill>
                  </a:tcPr>
                </a:tc>
                <a:tc>
                  <a:txBody>
                    <a:bodyPr wrap="square"/>
                    <a:lstStyle/>
                    <a:p>
                      <a:pPr algn="l"/>
                      <a:r>
                        <a:rPr sz="1300" b="0" i="0">
                          <a:solidFill>
                            <a:srgbClr val="404040"/>
                          </a:solidFill>
                          <a:latin typeface="Yu Gothic"/>
                          <a:ea typeface="Yu Gothic"/>
                        </a:rPr>
                        <a:t>「営業部」「製造部」など機能ごとに部門化</a:t>
                      </a:r>
                    </a:p>
                  </a:txBody>
                  <a:tcPr marL="101600" marR="101600" marT="76200" marB="76200" anchor="ctr">
                    <a:solidFill>
                      <a:srgbClr val="FFFFFF"/>
                    </a:solidFill>
                  </a:tcPr>
                </a:tc>
                <a:tc>
                  <a:txBody>
                    <a:bodyPr wrap="square"/>
                    <a:lstStyle/>
                    <a:p>
                      <a:pPr algn="l"/>
                      <a:r>
                        <a:rPr sz="1300" b="0" i="0">
                          <a:solidFill>
                            <a:srgbClr val="404040"/>
                          </a:solidFill>
                          <a:latin typeface="Yu Gothic"/>
                          <a:ea typeface="Yu Gothic"/>
                        </a:rPr>
                        <a:t>「A事業部」「B事業部」など製品・地域ごとに部門化。各事業部が損益に責任を持つ</a:t>
                      </a:r>
                    </a:p>
                  </a:txBody>
                  <a:tcPr marL="101600" marR="101600" marT="76200" marB="76200" anchor="ctr">
                    <a:solidFill>
                      <a:srgbClr val="FFFFFF"/>
                    </a:solidFill>
                  </a:tcPr>
                </a:tc>
              </a:tr>
              <a:tr h="640080">
                <a:tc>
                  <a:txBody>
                    <a:bodyPr wrap="square"/>
                    <a:lstStyle/>
                    <a:p>
                      <a:pPr algn="l"/>
                      <a:r>
                        <a:rPr sz="1300" b="1" i="0">
                          <a:solidFill>
                            <a:srgbClr val="404040"/>
                          </a:solidFill>
                          <a:latin typeface="Yu Gothic"/>
                          <a:ea typeface="Yu Gothic"/>
                        </a:rPr>
                        <a:t>メリット</a:t>
                      </a:r>
                    </a:p>
                  </a:txBody>
                  <a:tcPr marL="101600" marR="101600" marT="76200" marB="76200" anchor="ctr">
                    <a:solidFill>
                      <a:srgbClr val="E7E6E6"/>
                    </a:solidFill>
                  </a:tcPr>
                </a:tc>
                <a:tc>
                  <a:txBody>
                    <a:bodyPr wrap="square"/>
                    <a:lstStyle/>
                    <a:p>
                      <a:pPr algn="l"/>
                      <a:r>
                        <a:rPr sz="1300" b="0" i="0">
                          <a:solidFill>
                            <a:srgbClr val="404040"/>
                          </a:solidFill>
                          <a:latin typeface="Yu Gothic"/>
                          <a:ea typeface="Yu Gothic"/>
                        </a:rPr>
                        <a:t>専門性が高まる、効率的</a:t>
                      </a:r>
                    </a:p>
                  </a:txBody>
                  <a:tcPr marL="101600" marR="101600" marT="76200" marB="76200" anchor="ctr">
                    <a:solidFill>
                      <a:srgbClr val="FFFFFF"/>
                    </a:solidFill>
                  </a:tcPr>
                </a:tc>
                <a:tc>
                  <a:txBody>
                    <a:bodyPr wrap="square"/>
                    <a:lstStyle/>
                    <a:p>
                      <a:pPr algn="l"/>
                      <a:r>
                        <a:rPr sz="1300" b="0" i="0">
                          <a:solidFill>
                            <a:srgbClr val="404040"/>
                          </a:solidFill>
                          <a:latin typeface="Yu Gothic"/>
                          <a:ea typeface="Yu Gothic"/>
                        </a:rPr>
                        <a:t>事業ごとの意思決定が速い、経営者的な人材が育ちやすい</a:t>
                      </a:r>
                    </a:p>
                  </a:txBody>
                  <a:tcPr marL="101600" marR="101600" marT="76200" marB="76200" anchor="ctr">
                    <a:solidFill>
                      <a:srgbClr val="FFFFFF"/>
                    </a:solidFill>
                  </a:tcPr>
                </a:tc>
              </a:tr>
              <a:tr h="640080">
                <a:tc>
                  <a:txBody>
                    <a:bodyPr wrap="square"/>
                    <a:lstStyle/>
                    <a:p>
                      <a:pPr algn="l"/>
                      <a:r>
                        <a:rPr sz="1300" b="1" i="0">
                          <a:solidFill>
                            <a:srgbClr val="404040"/>
                          </a:solidFill>
                          <a:latin typeface="Yu Gothic"/>
                          <a:ea typeface="Yu Gothic"/>
                        </a:rPr>
                        <a:t>デメリット</a:t>
                      </a:r>
                    </a:p>
                  </a:txBody>
                  <a:tcPr marL="101600" marR="101600" marT="76200" marB="76200" anchor="ctr">
                    <a:solidFill>
                      <a:srgbClr val="E7E6E6"/>
                    </a:solidFill>
                  </a:tcPr>
                </a:tc>
                <a:tc>
                  <a:txBody>
                    <a:bodyPr wrap="square"/>
                    <a:lstStyle/>
                    <a:p>
                      <a:pPr algn="l"/>
                      <a:r>
                        <a:rPr sz="1300" b="0" i="0">
                          <a:solidFill>
                            <a:srgbClr val="404040"/>
                          </a:solidFill>
                          <a:latin typeface="Yu Gothic"/>
                          <a:ea typeface="Yu Gothic"/>
                        </a:rPr>
                        <a:t>部門間の連携が悪くなりがち、全社的視点の人材が育ちにくい</a:t>
                      </a:r>
                    </a:p>
                  </a:txBody>
                  <a:tcPr marL="101600" marR="101600" marT="76200" marB="76200" anchor="ctr">
                    <a:solidFill>
                      <a:srgbClr val="FFFFFF"/>
                    </a:solidFill>
                  </a:tcPr>
                </a:tc>
                <a:tc>
                  <a:txBody>
                    <a:bodyPr wrap="square"/>
                    <a:lstStyle/>
                    <a:p>
                      <a:pPr algn="l"/>
                      <a:r>
                        <a:rPr sz="1300" b="0" i="0">
                          <a:solidFill>
                            <a:srgbClr val="404040"/>
                          </a:solidFill>
                          <a:latin typeface="Yu Gothic"/>
                          <a:ea typeface="Yu Gothic"/>
                        </a:rPr>
                        <a:t>機能の重複（各事業部にそれぞれ営業・経理）でコストがかさむ</a:t>
                      </a:r>
                    </a:p>
                  </a:txBody>
                  <a:tcPr marL="101600" marR="101600" marT="76200" marB="76200" anchor="ctr">
                    <a:solidFill>
                      <a:srgbClr val="FFFFFF"/>
                    </a:solidFill>
                  </a:tcPr>
                </a:tc>
              </a:tr>
            </a:tbl>
          </a:graphicData>
        </a:graphic>
      </p:graphicFrame>
      <p:sp>
        <p:nvSpPr>
          <p:cNvPr id="8" name="TextBox 7"/>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9" name="TextBox 8"/>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C-24：組織変革と組織成長</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組織のライフサイクル</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6451465" y="2092978"/>
            <a:ext cx="1209003" cy="1209003"/>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451466" y="4013218"/>
            <a:ext cx="1209003" cy="1209003"/>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4531226" y="4013218"/>
            <a:ext cx="1209003" cy="1209003"/>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531225" y="2092978"/>
            <a:ext cx="1209003" cy="1209003"/>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181447" y="1325880"/>
            <a:ext cx="1828800" cy="8229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FFFFFF"/>
                </a:solidFill>
                <a:latin typeface="Yu Gothic"/>
                <a:ea typeface="Yu Gothic"/>
              </a:rPr>
              <a:t>創業期
(資金調達が課題)</a:t>
            </a:r>
          </a:p>
        </p:txBody>
      </p:sp>
      <p:sp>
        <p:nvSpPr>
          <p:cNvPr id="12" name="Oval 11"/>
          <p:cNvSpPr/>
          <p:nvPr/>
        </p:nvSpPr>
        <p:spPr>
          <a:xfrm>
            <a:off x="7101687" y="3246120"/>
            <a:ext cx="1828800" cy="8229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FFFFFF"/>
                </a:solidFill>
                <a:latin typeface="Yu Gothic"/>
                <a:ea typeface="Yu Gothic"/>
              </a:rPr>
              <a:t>成長期
(仕組み化が課題)</a:t>
            </a:r>
          </a:p>
        </p:txBody>
      </p:sp>
      <p:sp>
        <p:nvSpPr>
          <p:cNvPr id="13" name="Oval 12"/>
          <p:cNvSpPr/>
          <p:nvPr/>
        </p:nvSpPr>
        <p:spPr>
          <a:xfrm>
            <a:off x="5181447" y="5166359"/>
            <a:ext cx="1828800" cy="8229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FFFFFF"/>
                </a:solidFill>
                <a:latin typeface="Yu Gothic"/>
                <a:ea typeface="Yu Gothic"/>
              </a:rPr>
              <a:t>成熟期
(硬直化への対応)</a:t>
            </a:r>
          </a:p>
        </p:txBody>
      </p:sp>
      <p:sp>
        <p:nvSpPr>
          <p:cNvPr id="14" name="Oval 13"/>
          <p:cNvSpPr/>
          <p:nvPr/>
        </p:nvSpPr>
        <p:spPr>
          <a:xfrm>
            <a:off x="3261207" y="3246120"/>
            <a:ext cx="1828800" cy="8229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FFFFFF"/>
                </a:solidFill>
                <a:latin typeface="Yu Gothic"/>
                <a:ea typeface="Yu Gothic"/>
              </a:rPr>
              <a:t>衰退・再生期
(再生か縮小か)</a:t>
            </a:r>
          </a:p>
        </p:txBody>
      </p:sp>
      <p:sp>
        <p:nvSpPr>
          <p:cNvPr id="15" name="TextBox 14"/>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6" name="TextBox 15"/>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C-19：組織における個人：モチベーション理論</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マズローの欲求段階説</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pezoid 6"/>
          <p:cNvSpPr/>
          <p:nvPr/>
        </p:nvSpPr>
        <p:spPr>
          <a:xfrm rot="10800000">
            <a:off x="2743200" y="1371600"/>
            <a:ext cx="1828800" cy="768096"/>
          </a:xfrm>
          <a:prstGeom prst="trapezoid">
            <a:avLst/>
          </a:prstGeom>
          <a:solidFill>
            <a:srgbClr val="1F386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Yu Gothic"/>
                <a:ea typeface="Yu Gothic"/>
              </a:rPr>
              <a:t>自己実現欲求</a:t>
            </a:r>
          </a:p>
        </p:txBody>
      </p:sp>
      <p:sp>
        <p:nvSpPr>
          <p:cNvPr id="8" name="TextBox 7"/>
          <p:cNvSpPr txBox="1"/>
          <p:nvPr/>
        </p:nvSpPr>
        <p:spPr>
          <a:xfrm>
            <a:off x="6903720" y="1371600"/>
            <a:ext cx="2743200" cy="768096"/>
          </a:xfrm>
          <a:prstGeom prst="rect">
            <a:avLst/>
          </a:prstGeom>
          <a:noFill/>
        </p:spPr>
        <p:txBody>
          <a:bodyPr wrap="square" anchor="ctr" lIns="0" rIns="0" tIns="0" bIns="0">
            <a:spAutoFit/>
          </a:bodyPr>
          <a:lstStyle/>
          <a:p>
            <a:pPr algn="l">
              <a:lnSpc>
                <a:spcPct val="120000"/>
              </a:lnSpc>
            </a:pPr>
            <a:r>
              <a:rPr sz="1100" b="0" i="0">
                <a:solidFill>
                  <a:srgbClr val="404040"/>
                </a:solidFill>
                <a:latin typeface="Yu Gothic"/>
                <a:ea typeface="Yu Gothic"/>
              </a:rPr>
              <a:t>自分の能力・可能性を最大限発揮したいという欲求</a:t>
            </a:r>
          </a:p>
        </p:txBody>
      </p:sp>
      <p:sp>
        <p:nvSpPr>
          <p:cNvPr id="9" name="Trapezoid 8"/>
          <p:cNvSpPr/>
          <p:nvPr/>
        </p:nvSpPr>
        <p:spPr>
          <a:xfrm rot="10800000">
            <a:off x="2228850" y="2212848"/>
            <a:ext cx="2857500" cy="768096"/>
          </a:xfrm>
          <a:prstGeom prst="trapezoid">
            <a:avLst/>
          </a:prstGeom>
          <a:solidFill>
            <a:srgbClr val="546E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Yu Gothic"/>
                <a:ea typeface="Yu Gothic"/>
              </a:rPr>
              <a:t>承認欲求</a:t>
            </a:r>
          </a:p>
        </p:txBody>
      </p:sp>
      <p:sp>
        <p:nvSpPr>
          <p:cNvPr id="10" name="TextBox 9"/>
          <p:cNvSpPr txBox="1"/>
          <p:nvPr/>
        </p:nvSpPr>
        <p:spPr>
          <a:xfrm>
            <a:off x="6903720" y="2212848"/>
            <a:ext cx="2743200" cy="768096"/>
          </a:xfrm>
          <a:prstGeom prst="rect">
            <a:avLst/>
          </a:prstGeom>
          <a:noFill/>
        </p:spPr>
        <p:txBody>
          <a:bodyPr wrap="square" anchor="ctr" lIns="0" rIns="0" tIns="0" bIns="0">
            <a:spAutoFit/>
          </a:bodyPr>
          <a:lstStyle/>
          <a:p>
            <a:pPr algn="l">
              <a:lnSpc>
                <a:spcPct val="120000"/>
              </a:lnSpc>
            </a:pPr>
            <a:r>
              <a:rPr sz="1100" b="0" i="0">
                <a:solidFill>
                  <a:srgbClr val="404040"/>
                </a:solidFill>
                <a:latin typeface="Yu Gothic"/>
                <a:ea typeface="Yu Gothic"/>
              </a:rPr>
              <a:t>他者から認められたい、尊敬されたいという欲求</a:t>
            </a:r>
          </a:p>
        </p:txBody>
      </p:sp>
      <p:sp>
        <p:nvSpPr>
          <p:cNvPr id="11" name="Trapezoid 10"/>
          <p:cNvSpPr/>
          <p:nvPr/>
        </p:nvSpPr>
        <p:spPr>
          <a:xfrm rot="10800000">
            <a:off x="1714500" y="3054096"/>
            <a:ext cx="3886200" cy="768096"/>
          </a:xfrm>
          <a:prstGeom prst="trapezoid">
            <a:avLst/>
          </a:prstGeom>
          <a:solidFill>
            <a:srgbClr val="8A9B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Yu Gothic"/>
                <a:ea typeface="Yu Gothic"/>
              </a:rPr>
              <a:t>社会的欲求</a:t>
            </a:r>
          </a:p>
        </p:txBody>
      </p:sp>
      <p:sp>
        <p:nvSpPr>
          <p:cNvPr id="12" name="TextBox 11"/>
          <p:cNvSpPr txBox="1"/>
          <p:nvPr/>
        </p:nvSpPr>
        <p:spPr>
          <a:xfrm>
            <a:off x="6903720" y="3054096"/>
            <a:ext cx="2743200" cy="768096"/>
          </a:xfrm>
          <a:prstGeom prst="rect">
            <a:avLst/>
          </a:prstGeom>
          <a:noFill/>
        </p:spPr>
        <p:txBody>
          <a:bodyPr wrap="square" anchor="ctr" lIns="0" rIns="0" tIns="0" bIns="0">
            <a:spAutoFit/>
          </a:bodyPr>
          <a:lstStyle/>
          <a:p>
            <a:pPr algn="l">
              <a:lnSpc>
                <a:spcPct val="120000"/>
              </a:lnSpc>
            </a:pPr>
            <a:r>
              <a:rPr sz="1100" b="0" i="0">
                <a:solidFill>
                  <a:srgbClr val="404040"/>
                </a:solidFill>
                <a:latin typeface="Yu Gothic"/>
                <a:ea typeface="Yu Gothic"/>
              </a:rPr>
              <a:t>集団に所属したい、愛情を得たいという欲求</a:t>
            </a:r>
          </a:p>
        </p:txBody>
      </p:sp>
      <p:sp>
        <p:nvSpPr>
          <p:cNvPr id="13" name="Trapezoid 12"/>
          <p:cNvSpPr/>
          <p:nvPr/>
        </p:nvSpPr>
        <p:spPr>
          <a:xfrm rot="10800000">
            <a:off x="1200150" y="3895344"/>
            <a:ext cx="4914900" cy="768096"/>
          </a:xfrm>
          <a:prstGeom prst="trapezoid">
            <a:avLst/>
          </a:prstGeom>
          <a:solidFill>
            <a:srgbClr val="B0C4D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Yu Gothic"/>
                <a:ea typeface="Yu Gothic"/>
              </a:rPr>
              <a:t>安全欲求</a:t>
            </a:r>
          </a:p>
        </p:txBody>
      </p:sp>
      <p:sp>
        <p:nvSpPr>
          <p:cNvPr id="14" name="TextBox 13"/>
          <p:cNvSpPr txBox="1"/>
          <p:nvPr/>
        </p:nvSpPr>
        <p:spPr>
          <a:xfrm>
            <a:off x="6903720" y="3895344"/>
            <a:ext cx="2743200" cy="768096"/>
          </a:xfrm>
          <a:prstGeom prst="rect">
            <a:avLst/>
          </a:prstGeom>
          <a:noFill/>
        </p:spPr>
        <p:txBody>
          <a:bodyPr wrap="square" anchor="ctr" lIns="0" rIns="0" tIns="0" bIns="0">
            <a:spAutoFit/>
          </a:bodyPr>
          <a:lstStyle/>
          <a:p>
            <a:pPr algn="l">
              <a:lnSpc>
                <a:spcPct val="120000"/>
              </a:lnSpc>
            </a:pPr>
            <a:r>
              <a:rPr sz="1100" b="0" i="0">
                <a:solidFill>
                  <a:srgbClr val="404040"/>
                </a:solidFill>
                <a:latin typeface="Yu Gothic"/>
                <a:ea typeface="Yu Gothic"/>
              </a:rPr>
              <a:t>身体的・経済的な安全を確保したいという欲求</a:t>
            </a:r>
          </a:p>
        </p:txBody>
      </p:sp>
      <p:sp>
        <p:nvSpPr>
          <p:cNvPr id="15" name="Trapezoid 14"/>
          <p:cNvSpPr/>
          <p:nvPr/>
        </p:nvSpPr>
        <p:spPr>
          <a:xfrm rot="10800000">
            <a:off x="685800" y="4736592"/>
            <a:ext cx="5943600" cy="768096"/>
          </a:xfrm>
          <a:prstGeom prst="trapezoid">
            <a:avLst/>
          </a:prstGeom>
          <a:solidFill>
            <a:srgbClr val="B0C4D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Yu Gothic"/>
                <a:ea typeface="Yu Gothic"/>
              </a:rPr>
              <a:t>生理的欲求</a:t>
            </a:r>
          </a:p>
        </p:txBody>
      </p:sp>
      <p:sp>
        <p:nvSpPr>
          <p:cNvPr id="16" name="TextBox 15"/>
          <p:cNvSpPr txBox="1"/>
          <p:nvPr/>
        </p:nvSpPr>
        <p:spPr>
          <a:xfrm>
            <a:off x="6903720" y="4736592"/>
            <a:ext cx="2743200" cy="768096"/>
          </a:xfrm>
          <a:prstGeom prst="rect">
            <a:avLst/>
          </a:prstGeom>
          <a:noFill/>
        </p:spPr>
        <p:txBody>
          <a:bodyPr wrap="square" anchor="ctr" lIns="0" rIns="0" tIns="0" bIns="0">
            <a:spAutoFit/>
          </a:bodyPr>
          <a:lstStyle/>
          <a:p>
            <a:pPr algn="l">
              <a:lnSpc>
                <a:spcPct val="120000"/>
              </a:lnSpc>
            </a:pPr>
            <a:r>
              <a:rPr sz="1100" b="0" i="0">
                <a:solidFill>
                  <a:srgbClr val="404040"/>
                </a:solidFill>
                <a:latin typeface="Yu Gothic"/>
                <a:ea typeface="Yu Gothic"/>
              </a:rPr>
              <a:t>食欲・睡眠など生命維持に必要な基本的欲求</a:t>
            </a:r>
          </a:p>
        </p:txBody>
      </p:sp>
      <p:sp>
        <p:nvSpPr>
          <p:cNvPr id="17" name="TextBox 16"/>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8" name="TextBox 17"/>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3657600" cy="914400"/>
          </a:xfrm>
          <a:prstGeom prst="rect">
            <a:avLst/>
          </a:prstGeom>
          <a:noFill/>
        </p:spPr>
        <p:txBody>
          <a:bodyPr wrap="square" anchor="t" lIns="0" rIns="0" tIns="0" bIns="0">
            <a:spAutoFit/>
          </a:bodyPr>
          <a:lstStyle/>
          <a:p>
            <a:pPr algn="l">
              <a:lnSpc>
                <a:spcPct val="115000"/>
              </a:lnSpc>
            </a:pPr>
            <a:r>
              <a:rPr sz="2200" b="1" i="0">
                <a:solidFill>
                  <a:srgbClr val="7F7F7F"/>
                </a:solidFill>
                <a:latin typeface="Yu Gothic"/>
                <a:ea typeface="Yu Gothic"/>
              </a:rPr>
              <a:t>第3部</a:t>
            </a:r>
          </a:p>
        </p:txBody>
      </p:sp>
      <p:sp>
        <p:nvSpPr>
          <p:cNvPr id="4" name="TextBox 3"/>
          <p:cNvSpPr txBox="1"/>
          <p:nvPr/>
        </p:nvSpPr>
        <p:spPr>
          <a:xfrm>
            <a:off x="914400" y="2926080"/>
            <a:ext cx="10058400" cy="1097280"/>
          </a:xfrm>
          <a:prstGeom prst="rect">
            <a:avLst/>
          </a:prstGeom>
          <a:noFill/>
        </p:spPr>
        <p:txBody>
          <a:bodyPr wrap="square" anchor="t" lIns="0" rIns="0" tIns="0" bIns="0">
            <a:spAutoFit/>
          </a:bodyPr>
          <a:lstStyle/>
          <a:p>
            <a:pPr algn="l">
              <a:lnSpc>
                <a:spcPct val="115000"/>
              </a:lnSpc>
            </a:pPr>
            <a:r>
              <a:rPr sz="3600" b="1" i="0">
                <a:solidFill>
                  <a:srgbClr val="1F3864"/>
                </a:solidFill>
                <a:latin typeface="Yu Gothic"/>
                <a:ea typeface="Yu Gothic"/>
              </a:rPr>
              <a:t>マーケティング論</a:t>
            </a:r>
          </a:p>
        </p:txBody>
      </p:sp>
      <p:sp>
        <p:nvSpPr>
          <p:cNvPr id="5" name="TextBox 4"/>
          <p:cNvSpPr txBox="1"/>
          <p:nvPr/>
        </p:nvSpPr>
        <p:spPr>
          <a:xfrm>
            <a:off x="914400" y="3931920"/>
            <a:ext cx="9601200" cy="1097280"/>
          </a:xfrm>
          <a:prstGeom prst="rect">
            <a:avLst/>
          </a:prstGeom>
          <a:noFill/>
        </p:spPr>
        <p:txBody>
          <a:bodyPr wrap="square" anchor="t" lIns="0" rIns="0" tIns="0" bIns="0">
            <a:spAutoFit/>
          </a:bodyPr>
          <a:lstStyle/>
          <a:p>
            <a:pPr algn="l">
              <a:lnSpc>
                <a:spcPct val="130000"/>
              </a:lnSpc>
            </a:pPr>
            <a:r>
              <a:rPr sz="1600" b="0" i="0">
                <a:solidFill>
                  <a:srgbClr val="404040"/>
                </a:solidFill>
                <a:latin typeface="Yu Gothic"/>
                <a:ea typeface="Yu Gothic"/>
              </a:rPr>
              <a:t>誰に・何を・どう売るかを考える分野。STPと4Pが基本フレームワーク。</a:t>
            </a:r>
          </a:p>
        </p:txBody>
      </p:sp>
      <p:sp>
        <p:nvSpPr>
          <p:cNvPr id="6" name="TextBox 5"/>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7" name="TextBox 6"/>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C-31：マーケティング計画と戦略</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STP：誰に売るかを決めるプロセス</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691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600" b="1" i="0">
                <a:solidFill>
                  <a:srgbClr val="FFFFFF"/>
                </a:solidFill>
                <a:latin typeface="Yu Gothic"/>
                <a:ea typeface="Yu Gothic"/>
              </a:rPr>
              <a:t>1</a:t>
            </a:r>
          </a:p>
        </p:txBody>
      </p:sp>
      <p:sp>
        <p:nvSpPr>
          <p:cNvPr id="8" name="Rounded Rectangle 7"/>
          <p:cNvSpPr/>
          <p:nvPr/>
        </p:nvSpPr>
        <p:spPr>
          <a:xfrm>
            <a:off x="548640" y="2468880"/>
            <a:ext cx="3484778" cy="14630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i="0">
                <a:solidFill>
                  <a:srgbClr val="1F3864"/>
                </a:solidFill>
                <a:latin typeface="Yu Gothic"/>
                <a:ea typeface="Yu Gothic"/>
              </a:rPr>
              <a:t>セグメンテーション</a:t>
            </a:r>
          </a:p>
        </p:txBody>
      </p:sp>
      <p:sp>
        <p:nvSpPr>
          <p:cNvPr id="9" name="TextBox 8"/>
          <p:cNvSpPr txBox="1"/>
          <p:nvPr/>
        </p:nvSpPr>
        <p:spPr>
          <a:xfrm>
            <a:off x="548640" y="4069080"/>
            <a:ext cx="3484778" cy="1188720"/>
          </a:xfrm>
          <a:prstGeom prst="rect">
            <a:avLst/>
          </a:prstGeom>
          <a:noFill/>
        </p:spPr>
        <p:txBody>
          <a:bodyPr wrap="square" anchor="t" lIns="0" rIns="0" tIns="0" bIns="0">
            <a:spAutoFit/>
          </a:bodyPr>
          <a:lstStyle/>
          <a:p>
            <a:pPr algn="l">
              <a:lnSpc>
                <a:spcPct val="120000"/>
              </a:lnSpc>
            </a:pPr>
            <a:r>
              <a:rPr sz="1200" b="0" i="0">
                <a:solidFill>
                  <a:srgbClr val="404040"/>
                </a:solidFill>
                <a:latin typeface="Yu Gothic"/>
                <a:ea typeface="Yu Gothic"/>
              </a:rPr>
              <a:t>市場を年齢・地域・ライフスタイル等の基準で細分化する</a:t>
            </a:r>
          </a:p>
        </p:txBody>
      </p:sp>
      <p:cxnSp>
        <p:nvCxnSpPr>
          <p:cNvPr id="10" name="Connector 9"/>
          <p:cNvCxnSpPr/>
          <p:nvPr/>
        </p:nvCxnSpPr>
        <p:spPr>
          <a:xfrm>
            <a:off x="4033418.3333333335" y="3200400.0"/>
            <a:ext cx="320040.00000000047" cy="0.0"/>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353458" y="1691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600" b="1" i="0">
                <a:solidFill>
                  <a:srgbClr val="FFFFFF"/>
                </a:solidFill>
                <a:latin typeface="Yu Gothic"/>
                <a:ea typeface="Yu Gothic"/>
              </a:rPr>
              <a:t>2</a:t>
            </a:r>
          </a:p>
        </p:txBody>
      </p:sp>
      <p:sp>
        <p:nvSpPr>
          <p:cNvPr id="12" name="Rounded Rectangle 11"/>
          <p:cNvSpPr/>
          <p:nvPr/>
        </p:nvSpPr>
        <p:spPr>
          <a:xfrm>
            <a:off x="4353458" y="2468880"/>
            <a:ext cx="3484778" cy="14630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i="0">
                <a:solidFill>
                  <a:srgbClr val="1F3864"/>
                </a:solidFill>
                <a:latin typeface="Yu Gothic"/>
                <a:ea typeface="Yu Gothic"/>
              </a:rPr>
              <a:t>ターゲティング</a:t>
            </a:r>
          </a:p>
        </p:txBody>
      </p:sp>
      <p:sp>
        <p:nvSpPr>
          <p:cNvPr id="13" name="TextBox 12"/>
          <p:cNvSpPr txBox="1"/>
          <p:nvPr/>
        </p:nvSpPr>
        <p:spPr>
          <a:xfrm>
            <a:off x="4353458" y="4069080"/>
            <a:ext cx="3484778" cy="1188720"/>
          </a:xfrm>
          <a:prstGeom prst="rect">
            <a:avLst/>
          </a:prstGeom>
          <a:noFill/>
        </p:spPr>
        <p:txBody>
          <a:bodyPr wrap="square" anchor="t" lIns="0" rIns="0" tIns="0" bIns="0">
            <a:spAutoFit/>
          </a:bodyPr>
          <a:lstStyle/>
          <a:p>
            <a:pPr algn="l">
              <a:lnSpc>
                <a:spcPct val="120000"/>
              </a:lnSpc>
            </a:pPr>
            <a:r>
              <a:rPr sz="1200" b="0" i="0">
                <a:solidFill>
                  <a:srgbClr val="404040"/>
                </a:solidFill>
                <a:latin typeface="Yu Gothic"/>
                <a:ea typeface="Yu Gothic"/>
              </a:rPr>
              <a:t>細分化した市場（セグメント）の中から狙う市場を選ぶ</a:t>
            </a:r>
          </a:p>
        </p:txBody>
      </p:sp>
      <p:cxnSp>
        <p:nvCxnSpPr>
          <p:cNvPr id="14" name="Connector 13"/>
          <p:cNvCxnSpPr/>
          <p:nvPr/>
        </p:nvCxnSpPr>
        <p:spPr>
          <a:xfrm>
            <a:off x="7838236.666666668" y="3200400.0"/>
            <a:ext cx="320040.0" cy="0.0"/>
          </a:xfrm>
          <a:prstGeom prst="line">
            <a:avLst/>
          </a:prstGeom>
          <a:ln w="28575">
            <a:solidFill>
              <a:srgbClr val="1F386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158276" y="1691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600" b="1" i="0">
                <a:solidFill>
                  <a:srgbClr val="FFFFFF"/>
                </a:solidFill>
                <a:latin typeface="Yu Gothic"/>
                <a:ea typeface="Yu Gothic"/>
              </a:rPr>
              <a:t>3</a:t>
            </a:r>
          </a:p>
        </p:txBody>
      </p:sp>
      <p:sp>
        <p:nvSpPr>
          <p:cNvPr id="16" name="Rounded Rectangle 15"/>
          <p:cNvSpPr/>
          <p:nvPr/>
        </p:nvSpPr>
        <p:spPr>
          <a:xfrm>
            <a:off x="8158276" y="2468880"/>
            <a:ext cx="3484778" cy="14630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500" b="1" i="0">
                <a:solidFill>
                  <a:srgbClr val="1F3864"/>
                </a:solidFill>
                <a:latin typeface="Yu Gothic"/>
                <a:ea typeface="Yu Gothic"/>
              </a:rPr>
              <a:t>ポジショニング</a:t>
            </a:r>
          </a:p>
        </p:txBody>
      </p:sp>
      <p:sp>
        <p:nvSpPr>
          <p:cNvPr id="17" name="TextBox 16"/>
          <p:cNvSpPr txBox="1"/>
          <p:nvPr/>
        </p:nvSpPr>
        <p:spPr>
          <a:xfrm>
            <a:off x="8158276" y="4069080"/>
            <a:ext cx="3484778" cy="1188720"/>
          </a:xfrm>
          <a:prstGeom prst="rect">
            <a:avLst/>
          </a:prstGeom>
          <a:noFill/>
        </p:spPr>
        <p:txBody>
          <a:bodyPr wrap="square" anchor="t" lIns="0" rIns="0" tIns="0" bIns="0">
            <a:spAutoFit/>
          </a:bodyPr>
          <a:lstStyle/>
          <a:p>
            <a:pPr algn="l">
              <a:lnSpc>
                <a:spcPct val="120000"/>
              </a:lnSpc>
            </a:pPr>
            <a:r>
              <a:rPr sz="1200" b="0" i="0">
                <a:solidFill>
                  <a:srgbClr val="404040"/>
                </a:solidFill>
                <a:latin typeface="Yu Gothic"/>
                <a:ea typeface="Yu Gothic"/>
              </a:rPr>
              <a:t>選んだ市場で競合と比べた自社商品の独自の位置づけを明確にする</a:t>
            </a:r>
          </a:p>
        </p:txBody>
      </p:sp>
      <p:sp>
        <p:nvSpPr>
          <p:cNvPr id="18" name="TextBox 17"/>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19" name="TextBox 18"/>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274320"/>
          </a:xfrm>
          <a:prstGeom prst="rect">
            <a:avLst/>
          </a:prstGeom>
          <a:noFill/>
        </p:spPr>
        <p:txBody>
          <a:bodyPr wrap="square" anchor="t" lIns="0" rIns="0" tIns="0" bIns="0">
            <a:spAutoFit/>
          </a:bodyPr>
          <a:lstStyle/>
          <a:p>
            <a:pPr algn="l">
              <a:lnSpc>
                <a:spcPct val="115000"/>
              </a:lnSpc>
            </a:pPr>
            <a:r>
              <a:rPr sz="1400" b="1" i="0">
                <a:solidFill>
                  <a:srgbClr val="7F7F7F"/>
                </a:solidFill>
                <a:latin typeface="Yu Gothic"/>
                <a:ea typeface="Yu Gothic"/>
              </a:rPr>
              <a:t>C-36：プロダクト・マネジメント：PLC、新製品開発</a:t>
            </a:r>
          </a:p>
        </p:txBody>
      </p:sp>
      <p:sp>
        <p:nvSpPr>
          <p:cNvPr id="4" name="TextBox 3"/>
          <p:cNvSpPr txBox="1"/>
          <p:nvPr/>
        </p:nvSpPr>
        <p:spPr>
          <a:xfrm>
            <a:off x="548640" y="502920"/>
            <a:ext cx="8686800" cy="640080"/>
          </a:xfrm>
          <a:prstGeom prst="rect">
            <a:avLst/>
          </a:prstGeom>
          <a:noFill/>
        </p:spPr>
        <p:txBody>
          <a:bodyPr wrap="square" anchor="t" lIns="0" rIns="0" tIns="0" bIns="0">
            <a:spAutoFit/>
          </a:bodyPr>
          <a:lstStyle/>
          <a:p>
            <a:pPr algn="l">
              <a:lnSpc>
                <a:spcPct val="115000"/>
              </a:lnSpc>
            </a:pPr>
            <a:r>
              <a:rPr sz="2600" b="1" i="0">
                <a:solidFill>
                  <a:srgbClr val="1F3864"/>
                </a:solidFill>
                <a:latin typeface="Yu Gothic"/>
                <a:ea typeface="Yu Gothic"/>
              </a:rPr>
              <a:t>プロダクト・ライフサイクル（PLC）</a:t>
            </a:r>
          </a:p>
        </p:txBody>
      </p:sp>
      <p:sp>
        <p:nvSpPr>
          <p:cNvPr id="5" name="Rounded Rectangle 4"/>
          <p:cNvSpPr/>
          <p:nvPr/>
        </p:nvSpPr>
        <p:spPr>
          <a:xfrm>
            <a:off x="9418320" y="320040"/>
            <a:ext cx="2194560" cy="384048"/>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a:lstStyle/>
          <a:p>
            <a:pPr algn="ctr"/>
            <a:r>
              <a:rPr sz="1200" b="1" i="0">
                <a:solidFill>
                  <a:srgbClr val="1F3864"/>
                </a:solidFill>
                <a:latin typeface="Yu Gothic"/>
                <a:ea typeface="Yu Gothic"/>
              </a:rPr>
              <a:t>C. 企業経営理論</a:t>
            </a:r>
          </a:p>
        </p:txBody>
      </p:sp>
      <p:sp>
        <p:nvSpPr>
          <p:cNvPr id="6" name="Rectangle 5"/>
          <p:cNvSpPr/>
          <p:nvPr/>
        </p:nvSpPr>
        <p:spPr>
          <a:xfrm>
            <a:off x="548640" y="1207008"/>
            <a:ext cx="11094415" cy="19050"/>
          </a:xfrm>
          <a:prstGeom prst="rect">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200400"/>
            <a:ext cx="11094415" cy="381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5713" y="3118104"/>
            <a:ext cx="219456" cy="21945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828800"/>
            <a:ext cx="2590723" cy="41148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1F3864"/>
                </a:solidFill>
                <a:latin typeface="Yu Gothic"/>
                <a:ea typeface="Yu Gothic"/>
              </a:rPr>
              <a:t>導入期</a:t>
            </a:r>
          </a:p>
        </p:txBody>
      </p:sp>
      <p:sp>
        <p:nvSpPr>
          <p:cNvPr id="10" name="TextBox 9"/>
          <p:cNvSpPr txBox="1"/>
          <p:nvPr/>
        </p:nvSpPr>
        <p:spPr>
          <a:xfrm>
            <a:off x="640080" y="1463040"/>
            <a:ext cx="2590723" cy="914400"/>
          </a:xfrm>
          <a:prstGeom prst="rect">
            <a:avLst/>
          </a:prstGeom>
          <a:noFill/>
        </p:spPr>
        <p:txBody>
          <a:bodyPr wrap="square" anchor="t" lIns="0" rIns="0" tIns="0" bIns="0">
            <a:spAutoFit/>
          </a:bodyPr>
          <a:lstStyle/>
          <a:p>
            <a:pPr algn="ctr">
              <a:lnSpc>
                <a:spcPct val="115000"/>
              </a:lnSpc>
            </a:pPr>
            <a:r>
              <a:rPr sz="1100" b="0" i="0">
                <a:solidFill>
                  <a:srgbClr val="404040"/>
                </a:solidFill>
                <a:latin typeface="Yu Gothic"/>
                <a:ea typeface="Yu Gothic"/>
              </a:rPr>
              <a:t>販売量少、認知度が低い→製品の認知拡大に注力</a:t>
            </a:r>
          </a:p>
        </p:txBody>
      </p:sp>
      <p:sp>
        <p:nvSpPr>
          <p:cNvPr id="11" name="Oval 10"/>
          <p:cNvSpPr/>
          <p:nvPr/>
        </p:nvSpPr>
        <p:spPr>
          <a:xfrm>
            <a:off x="4599317" y="3118104"/>
            <a:ext cx="219456" cy="21945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3566160"/>
            <a:ext cx="2590723" cy="41148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1F3864"/>
                </a:solidFill>
                <a:latin typeface="Yu Gothic"/>
                <a:ea typeface="Yu Gothic"/>
              </a:rPr>
              <a:t>成長期</a:t>
            </a:r>
          </a:p>
        </p:txBody>
      </p:sp>
      <p:sp>
        <p:nvSpPr>
          <p:cNvPr id="13" name="TextBox 12"/>
          <p:cNvSpPr txBox="1"/>
          <p:nvPr/>
        </p:nvSpPr>
        <p:spPr>
          <a:xfrm>
            <a:off x="3413683" y="3977640"/>
            <a:ext cx="2590723" cy="914400"/>
          </a:xfrm>
          <a:prstGeom prst="rect">
            <a:avLst/>
          </a:prstGeom>
          <a:noFill/>
        </p:spPr>
        <p:txBody>
          <a:bodyPr wrap="square" anchor="t" lIns="0" rIns="0" tIns="0" bIns="0">
            <a:spAutoFit/>
          </a:bodyPr>
          <a:lstStyle/>
          <a:p>
            <a:pPr algn="ctr">
              <a:lnSpc>
                <a:spcPct val="115000"/>
              </a:lnSpc>
            </a:pPr>
            <a:r>
              <a:rPr sz="1100" b="0" i="0">
                <a:solidFill>
                  <a:srgbClr val="404040"/>
                </a:solidFill>
                <a:latin typeface="Yu Gothic"/>
                <a:ea typeface="Yu Gothic"/>
              </a:rPr>
              <a:t>販売量が急拡大、競合が参入→シェア拡大、販売網の拡大</a:t>
            </a:r>
          </a:p>
        </p:txBody>
      </p:sp>
      <p:sp>
        <p:nvSpPr>
          <p:cNvPr id="14" name="Oval 13"/>
          <p:cNvSpPr/>
          <p:nvPr/>
        </p:nvSpPr>
        <p:spPr>
          <a:xfrm>
            <a:off x="7372921" y="3118104"/>
            <a:ext cx="219456" cy="21945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87287" y="1828800"/>
            <a:ext cx="2590723" cy="41148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1F3864"/>
                </a:solidFill>
                <a:latin typeface="Yu Gothic"/>
                <a:ea typeface="Yu Gothic"/>
              </a:rPr>
              <a:t>成熟期</a:t>
            </a:r>
          </a:p>
        </p:txBody>
      </p:sp>
      <p:sp>
        <p:nvSpPr>
          <p:cNvPr id="16" name="TextBox 15"/>
          <p:cNvSpPr txBox="1"/>
          <p:nvPr/>
        </p:nvSpPr>
        <p:spPr>
          <a:xfrm>
            <a:off x="6187287" y="1463040"/>
            <a:ext cx="2590723" cy="914400"/>
          </a:xfrm>
          <a:prstGeom prst="rect">
            <a:avLst/>
          </a:prstGeom>
          <a:noFill/>
        </p:spPr>
        <p:txBody>
          <a:bodyPr wrap="square" anchor="t" lIns="0" rIns="0" tIns="0" bIns="0">
            <a:spAutoFit/>
          </a:bodyPr>
          <a:lstStyle/>
          <a:p>
            <a:pPr algn="ctr">
              <a:lnSpc>
                <a:spcPct val="115000"/>
              </a:lnSpc>
            </a:pPr>
            <a:r>
              <a:rPr sz="1100" b="0" i="0">
                <a:solidFill>
                  <a:srgbClr val="404040"/>
                </a:solidFill>
                <a:latin typeface="Yu Gothic"/>
                <a:ea typeface="Yu Gothic"/>
              </a:rPr>
              <a:t>販売量がピークで伸びが鈍化→差別化、ブランド強化</a:t>
            </a:r>
          </a:p>
        </p:txBody>
      </p:sp>
      <p:sp>
        <p:nvSpPr>
          <p:cNvPr id="17" name="Oval 16"/>
          <p:cNvSpPr/>
          <p:nvPr/>
        </p:nvSpPr>
        <p:spPr>
          <a:xfrm>
            <a:off x="10146525" y="3118104"/>
            <a:ext cx="219456" cy="21945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0891" y="3566160"/>
            <a:ext cx="2590723" cy="41148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300" b="1" i="0">
                <a:solidFill>
                  <a:srgbClr val="1F3864"/>
                </a:solidFill>
                <a:latin typeface="Yu Gothic"/>
                <a:ea typeface="Yu Gothic"/>
              </a:rPr>
              <a:t>衰退期</a:t>
            </a:r>
          </a:p>
        </p:txBody>
      </p:sp>
      <p:sp>
        <p:nvSpPr>
          <p:cNvPr id="19" name="TextBox 18"/>
          <p:cNvSpPr txBox="1"/>
          <p:nvPr/>
        </p:nvSpPr>
        <p:spPr>
          <a:xfrm>
            <a:off x="8960891" y="3977640"/>
            <a:ext cx="2590723" cy="914400"/>
          </a:xfrm>
          <a:prstGeom prst="rect">
            <a:avLst/>
          </a:prstGeom>
          <a:noFill/>
        </p:spPr>
        <p:txBody>
          <a:bodyPr wrap="square" anchor="t" lIns="0" rIns="0" tIns="0" bIns="0">
            <a:spAutoFit/>
          </a:bodyPr>
          <a:lstStyle/>
          <a:p>
            <a:pPr algn="ctr">
              <a:lnSpc>
                <a:spcPct val="115000"/>
              </a:lnSpc>
            </a:pPr>
            <a:r>
              <a:rPr sz="1100" b="0" i="0">
                <a:solidFill>
                  <a:srgbClr val="404040"/>
                </a:solidFill>
                <a:latin typeface="Yu Gothic"/>
                <a:ea typeface="Yu Gothic"/>
              </a:rPr>
              <a:t>販売量が減少→撤退判断、または縮小継続</a:t>
            </a:r>
          </a:p>
        </p:txBody>
      </p:sp>
      <p:sp>
        <p:nvSpPr>
          <p:cNvPr id="20" name="TextBox 19"/>
          <p:cNvSpPr txBox="1"/>
          <p:nvPr/>
        </p:nvSpPr>
        <p:spPr>
          <a:xfrm>
            <a:off x="548640" y="6473952"/>
            <a:ext cx="8686800" cy="274320"/>
          </a:xfrm>
          <a:prstGeom prst="rect">
            <a:avLst/>
          </a:prstGeom>
          <a:noFill/>
        </p:spPr>
        <p:txBody>
          <a:bodyPr wrap="square" anchor="t" lIns="0" rIns="0" tIns="0" bIns="0">
            <a:spAutoFit/>
          </a:bodyPr>
          <a:lstStyle/>
          <a:p>
            <a:pPr algn="l">
              <a:lnSpc>
                <a:spcPct val="115000"/>
              </a:lnSpc>
            </a:pPr>
            <a:r>
              <a:rPr sz="900" b="0" i="0">
                <a:solidFill>
                  <a:srgbClr val="7F7F7F"/>
                </a:solidFill>
                <a:latin typeface="Yu Gothic"/>
                <a:ea typeface="Yu Gothic"/>
              </a:rPr>
              <a:t>出典：中小企業診断士試験 第1次試験 公式シラバス・過去問（SMEC教科書より作成）</a:t>
            </a:r>
          </a:p>
        </p:txBody>
      </p:sp>
      <p:sp>
        <p:nvSpPr>
          <p:cNvPr id="21" name="TextBox 20"/>
          <p:cNvSpPr txBox="1"/>
          <p:nvPr/>
        </p:nvSpPr>
        <p:spPr>
          <a:xfrm>
            <a:off x="10972800" y="6473952"/>
            <a:ext cx="731520" cy="274320"/>
          </a:xfrm>
          <a:prstGeom prst="rect">
            <a:avLst/>
          </a:prstGeom>
          <a:noFill/>
        </p:spPr>
        <p:txBody>
          <a:bodyPr wrap="square" anchor="t" lIns="0" rIns="0" tIns="0" bIns="0">
            <a:spAutoFit/>
          </a:bodyPr>
          <a:lstStyle/>
          <a:p>
            <a:pPr algn="r">
              <a:lnSpc>
                <a:spcPct val="115000"/>
              </a:lnSpc>
            </a:pPr>
            <a:r>
              <a:rPr sz="1000" b="0" i="0">
                <a:solidFill>
                  <a:srgbClr val="7F7F7F"/>
                </a:solidFill>
                <a:latin typeface="Yu Gothic"/>
                <a:ea typeface="Yu Gothic"/>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