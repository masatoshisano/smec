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表紙スライド。経営情報システムの全体像を示す。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情報通信技術に関する基礎的知識パートの区切りスライド。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経営情報管理パートの区切りスライド。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中小企業診断士 第1次試験</a:t>
            </a:r>
            <a:endParaRPr lang="en-US" sz="1200" dirty="0"/>
          </a:p>
        </p:txBody>
      </p:sp>
      <p:sp>
        <p:nvSpPr>
          <p:cNvPr id="3" name="Text 1"/>
          <p:cNvSpPr txBox="1"/>
          <p:nvPr/>
        </p:nvSpPr>
        <p:spPr>
          <a:xfrm>
            <a:off x="8686800" y="502920"/>
            <a:ext cx="2834640" cy="320040"/>
          </a:xfrm>
          <a:prstGeom prst="rect">
            <a:avLst/>
          </a:prstGeom>
          <a:noFill/>
          <a:ln/>
        </p:spPr>
        <p:txBody>
          <a:bodyPr wrap="square" lIns="0" tIns="0" rIns="0" bIns="0" rtlCol="0" anchor="ctr"/>
          <a:lstStyle/>
          <a:p>
            <a:pPr algn="r" indent="0" marL="0">
              <a:buNone/>
            </a:pPr>
            <a:r>
              <a:rPr lang="en-US" sz="1200" dirty="0">
                <a:solidFill>
                  <a:srgbClr val="FF3B1F"/>
                </a:solidFill>
                <a:latin typeface="Consolas" pitchFamily="34" charset="0"/>
                <a:ea typeface="Consolas" pitchFamily="34" charset="-122"/>
                <a:cs typeface="Consolas" pitchFamily="34" charset="-120"/>
              </a:rPr>
              <a:t>SUBJECT 06 / 07</a:t>
            </a:r>
            <a:endParaRPr lang="en-US" sz="1200" dirty="0"/>
          </a:p>
        </p:txBody>
      </p:sp>
      <p:sp>
        <p:nvSpPr>
          <p:cNvPr id="4" name="Text 2"/>
          <p:cNvSpPr txBox="1"/>
          <p:nvPr/>
        </p:nvSpPr>
        <p:spPr>
          <a:xfrm>
            <a:off x="594360" y="2103120"/>
            <a:ext cx="10058400" cy="1371600"/>
          </a:xfrm>
          <a:prstGeom prst="rect">
            <a:avLst/>
          </a:prstGeom>
          <a:noFill/>
          <a:ln/>
        </p:spPr>
        <p:txBody>
          <a:bodyPr wrap="square" lIns="0" tIns="0" rIns="0" bIns="0" rtlCol="0" anchor="ctr"/>
          <a:lstStyle/>
          <a:p>
            <a:pPr indent="0" marL="0">
              <a:buNone/>
            </a:pPr>
            <a:r>
              <a:rPr lang="en-US" sz="6600" b="1" dirty="0">
                <a:solidFill>
                  <a:srgbClr val="FFFFFF"/>
                </a:solidFill>
                <a:latin typeface="Yu Gothic" pitchFamily="34" charset="0"/>
                <a:ea typeface="Yu Gothic" pitchFamily="34" charset="-122"/>
                <a:cs typeface="Yu Gothic" pitchFamily="34" charset="-120"/>
              </a:rPr>
              <a:t>経営情報システム</a:t>
            </a:r>
            <a:pPr indent="0" marL="0">
              <a:buNone/>
            </a:pPr>
            <a:r>
              <a:rPr lang="en-US" sz="6600" b="1" dirty="0">
                <a:solidFill>
                  <a:srgbClr val="FF3B1F"/>
                </a:solidFill>
                <a:latin typeface="Yu Gothic" pitchFamily="34" charset="0"/>
                <a:ea typeface="Yu Gothic" pitchFamily="34" charset="-122"/>
                <a:cs typeface="Yu Gothic" pitchFamily="34" charset="-120"/>
              </a:rPr>
              <a:t>。</a:t>
            </a:r>
            <a:endParaRPr lang="en-US" sz="6600" dirty="0"/>
          </a:p>
        </p:txBody>
      </p:sp>
      <p:sp>
        <p:nvSpPr>
          <p:cNvPr id="5" name="Text 3"/>
          <p:cNvSpPr txBox="1"/>
          <p:nvPr/>
        </p:nvSpPr>
        <p:spPr>
          <a:xfrm>
            <a:off x="640080" y="3429000"/>
            <a:ext cx="7680960" cy="914400"/>
          </a:xfrm>
          <a:prstGeom prst="rect">
            <a:avLst/>
          </a:prstGeom>
          <a:noFill/>
          <a:ln/>
        </p:spPr>
        <p:txBody>
          <a:bodyPr wrap="square" lIns="0" tIns="0" rIns="0" bIns="0" rtlCol="0" anchor="ctr"/>
          <a:lstStyle/>
          <a:p>
            <a:pPr indent="0" marL="0">
              <a:lnSpc>
                <a:spcPct val="150000"/>
              </a:lnSpc>
              <a:buNone/>
            </a:pPr>
            <a:r>
              <a:rPr lang="en-US" sz="1500" dirty="0">
                <a:solidFill>
                  <a:srgbClr val="C5C5C5"/>
                </a:solidFill>
                <a:latin typeface="Yu Gothic" pitchFamily="34" charset="0"/>
                <a:ea typeface="Yu Gothic" pitchFamily="34" charset="-122"/>
                <a:cs typeface="Yu Gothic" pitchFamily="34" charset="-120"/>
              </a:rPr>
              <a:t>ハードウェア・ソフトウェアからネットワーク・データベース、経営とITの結びつきまで24論点。「文系だから苦手」を克服し、得点源にできる科目。</a:t>
            </a:r>
            <a:endParaRPr lang="en-US" sz="1500" dirty="0"/>
          </a:p>
        </p:txBody>
      </p:sp>
      <p:sp>
        <p:nvSpPr>
          <p:cNvPr id="6" name="Shape 4"/>
          <p:cNvSpPr/>
          <p:nvPr/>
        </p:nvSpPr>
        <p:spPr>
          <a:xfrm>
            <a:off x="640080" y="5806440"/>
            <a:ext cx="10881360" cy="0"/>
          </a:xfrm>
          <a:prstGeom prst="line">
            <a:avLst/>
          </a:prstGeom>
          <a:noFill/>
          <a:ln w="9525">
            <a:solidFill>
              <a:srgbClr val="515151"/>
            </a:solidFill>
            <a:prstDash val="solid"/>
          </a:ln>
        </p:spPr>
      </p:sp>
      <p:sp>
        <p:nvSpPr>
          <p:cNvPr id="7" name="Text 5"/>
          <p:cNvSpPr txBox="1"/>
          <p:nvPr/>
        </p:nvSpPr>
        <p:spPr>
          <a:xfrm>
            <a:off x="64008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24</a:t>
            </a:r>
            <a:endParaRPr lang="en-US" sz="2400" dirty="0"/>
          </a:p>
        </p:txBody>
      </p:sp>
      <p:sp>
        <p:nvSpPr>
          <p:cNvPr id="8" name="Text 6"/>
          <p:cNvSpPr txBox="1"/>
          <p:nvPr/>
        </p:nvSpPr>
        <p:spPr>
          <a:xfrm>
            <a:off x="64008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収録論点数</a:t>
            </a:r>
            <a:endParaRPr lang="en-US" sz="1000" dirty="0"/>
          </a:p>
        </p:txBody>
      </p:sp>
      <p:sp>
        <p:nvSpPr>
          <p:cNvPr id="9" name="Text 7"/>
          <p:cNvSpPr txBox="1"/>
          <p:nvPr/>
        </p:nvSpPr>
        <p:spPr>
          <a:xfrm>
            <a:off x="256032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2</a:t>
            </a:r>
            <a:endParaRPr lang="en-US" sz="2400" dirty="0"/>
          </a:p>
        </p:txBody>
      </p:sp>
      <p:sp>
        <p:nvSpPr>
          <p:cNvPr id="10" name="Text 8"/>
          <p:cNvSpPr txBox="1"/>
          <p:nvPr/>
        </p:nvSpPr>
        <p:spPr>
          <a:xfrm>
            <a:off x="256032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分野</a:t>
            </a:r>
            <a:endParaRPr lang="en-US" sz="1000" dirty="0"/>
          </a:p>
        </p:txBody>
      </p:sp>
      <p:sp>
        <p:nvSpPr>
          <p:cNvPr id="11" name="Text 9"/>
          <p:cNvSpPr txBox="1"/>
          <p:nvPr/>
        </p:nvSpPr>
        <p:spPr>
          <a:xfrm>
            <a:off x="448056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21/24</a:t>
            </a:r>
            <a:endParaRPr lang="en-US" sz="2400" dirty="0"/>
          </a:p>
        </p:txBody>
      </p:sp>
      <p:sp>
        <p:nvSpPr>
          <p:cNvPr id="12" name="Text 10"/>
          <p:cNvSpPr txBox="1"/>
          <p:nvPr/>
        </p:nvSpPr>
        <p:spPr>
          <a:xfrm>
            <a:off x="448056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頻出ランクA</a:t>
            </a:r>
            <a:endParaRPr lang="en-US" sz="1000" dirty="0"/>
          </a:p>
        </p:txBody>
      </p:sp>
      <p:sp>
        <p:nvSpPr>
          <p:cNvPr id="13" name="Shape 11"/>
          <p:cNvSpPr/>
          <p:nvPr/>
        </p:nvSpPr>
        <p:spPr>
          <a:xfrm>
            <a:off x="7863840" y="6172200"/>
            <a:ext cx="3657600" cy="384048"/>
          </a:xfrm>
          <a:prstGeom prst="rect">
            <a:avLst/>
          </a:prstGeom>
          <a:ln w="9525">
            <a:solidFill>
              <a:srgbClr val="7F7F7F"/>
            </a:solidFill>
            <a:prstDash val="solid"/>
          </a:ln>
        </p:spPr>
      </p:sp>
      <p:sp>
        <p:nvSpPr>
          <p:cNvPr id="14" name="Text 12"/>
          <p:cNvSpPr txBox="1"/>
          <p:nvPr/>
        </p:nvSpPr>
        <p:spPr>
          <a:xfrm>
            <a:off x="7863840" y="6172200"/>
            <a:ext cx="365760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docs/textbook/F_information_systems_textbook.md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01</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01</a:t>
            </a:r>
            <a:pPr indent="0" marL="0">
              <a:buNone/>
            </a:pPr>
            <a:r>
              <a:rPr lang="en-US" sz="1300" dirty="0">
                <a:solidFill>
                  <a:srgbClr val="A2A2A2"/>
                </a:solidFill>
                <a:latin typeface="Consolas" pitchFamily="34" charset="0"/>
                <a:ea typeface="Consolas" pitchFamily="34" charset="-122"/>
                <a:cs typeface="Consolas" pitchFamily="34" charset="-120"/>
              </a:rPr>
              <a:t>   経営情報システム ／ F-1〜F-11</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情報通信技術の基礎</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コンピュータの仕組み（ハード・ソフト）から、プログラムの作り方、システム構成、データベース・ネットワークの基礎まで、ITの土台となる知識。</a:t>
            </a:r>
            <a:endParaRPr lang="en-US" sz="1400" dirty="0"/>
          </a:p>
        </p:txBody>
      </p:sp>
      <p:sp>
        <p:nvSpPr>
          <p:cNvPr id="6" name="Shape 4"/>
          <p:cNvSpPr/>
          <p:nvPr/>
        </p:nvSpPr>
        <p:spPr>
          <a:xfrm>
            <a:off x="640080" y="4800600"/>
            <a:ext cx="1184148" cy="384048"/>
          </a:xfrm>
          <a:prstGeom prst="rect">
            <a:avLst/>
          </a:prstGeom>
          <a:ln w="9525">
            <a:solidFill>
              <a:srgbClr val="7F7F7F"/>
            </a:solidFill>
            <a:prstDash val="solid"/>
          </a:ln>
        </p:spPr>
      </p:sp>
      <p:sp>
        <p:nvSpPr>
          <p:cNvPr id="7" name="Text 5"/>
          <p:cNvSpPr txBox="1"/>
          <p:nvPr/>
        </p:nvSpPr>
        <p:spPr>
          <a:xfrm>
            <a:off x="640080" y="4800600"/>
            <a:ext cx="118414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F-9 正規化</a:t>
            </a:r>
            <a:endParaRPr lang="en-US" sz="1000" dirty="0"/>
          </a:p>
        </p:txBody>
      </p:sp>
      <p:sp>
        <p:nvSpPr>
          <p:cNvPr id="8" name="Shape 6"/>
          <p:cNvSpPr/>
          <p:nvPr/>
        </p:nvSpPr>
        <p:spPr>
          <a:xfrm>
            <a:off x="2052828" y="4800600"/>
            <a:ext cx="1554480" cy="384048"/>
          </a:xfrm>
          <a:prstGeom prst="rect">
            <a:avLst/>
          </a:prstGeom>
          <a:ln w="9525">
            <a:solidFill>
              <a:srgbClr val="7F7F7F"/>
            </a:solidFill>
            <a:prstDash val="solid"/>
          </a:ln>
        </p:spPr>
      </p:sp>
      <p:sp>
        <p:nvSpPr>
          <p:cNvPr id="9" name="Text 7"/>
          <p:cNvSpPr txBox="1"/>
          <p:nvPr/>
        </p:nvSpPr>
        <p:spPr>
          <a:xfrm>
            <a:off x="2052828" y="4800600"/>
            <a:ext cx="1554480"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F-10 プロトコル</a:t>
            </a:r>
            <a:endParaRPr lang="en-US" sz="1000" dirty="0"/>
          </a:p>
        </p:txBody>
      </p:sp>
      <p:sp>
        <p:nvSpPr>
          <p:cNvPr id="10" name="Shape 8"/>
          <p:cNvSpPr/>
          <p:nvPr/>
        </p:nvSpPr>
        <p:spPr>
          <a:xfrm>
            <a:off x="3835908" y="4800600"/>
            <a:ext cx="1554480" cy="384048"/>
          </a:xfrm>
          <a:prstGeom prst="rect">
            <a:avLst/>
          </a:prstGeom>
          <a:ln w="9525">
            <a:solidFill>
              <a:srgbClr val="7F7F7F"/>
            </a:solidFill>
            <a:prstDash val="solid"/>
          </a:ln>
        </p:spPr>
      </p:sp>
      <p:sp>
        <p:nvSpPr>
          <p:cNvPr id="11" name="Text 9"/>
          <p:cNvSpPr txBox="1"/>
          <p:nvPr/>
        </p:nvSpPr>
        <p:spPr>
          <a:xfrm>
            <a:off x="3835908" y="4800600"/>
            <a:ext cx="1554480"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F-11 信頼性設計</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 ／ ハードウェア（構成要素、機能と処理）</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主記憶は揮発性、補助記憶は不揮発性</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RAIDレベルごとの最低必要台数・耐えられる故障台数が頻出。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92024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主記憶装置</a:t>
            </a:r>
            <a:endParaRPr lang="en-US" sz="1100" dirty="0"/>
          </a:p>
        </p:txBody>
      </p:sp>
      <p:sp>
        <p:nvSpPr>
          <p:cNvPr id="9" name="Shape 7"/>
          <p:cNvSpPr/>
          <p:nvPr/>
        </p:nvSpPr>
        <p:spPr>
          <a:xfrm>
            <a:off x="2404872" y="1691640"/>
            <a:ext cx="0" cy="256032"/>
          </a:xfrm>
          <a:prstGeom prst="line">
            <a:avLst/>
          </a:prstGeom>
          <a:noFill/>
          <a:ln w="12700">
            <a:solidFill>
              <a:srgbClr val="E6E6E6"/>
            </a:solidFill>
            <a:prstDash val="solid"/>
          </a:ln>
        </p:spPr>
      </p:sp>
      <p:sp>
        <p:nvSpPr>
          <p:cNvPr id="10" name="Text 8"/>
          <p:cNvSpPr txBox="1"/>
          <p:nvPr/>
        </p:nvSpPr>
        <p:spPr>
          <a:xfrm>
            <a:off x="2560320" y="1691640"/>
            <a:ext cx="914400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CPUが直接読み書きするRAM。電源を切るとデータが消える（揮発性）</a:t>
            </a:r>
            <a:endParaRPr lang="en-US" sz="1100" dirty="0"/>
          </a:p>
        </p:txBody>
      </p:sp>
      <p:sp>
        <p:nvSpPr>
          <p:cNvPr id="11" name="Text 9"/>
          <p:cNvSpPr txBox="1"/>
          <p:nvPr/>
        </p:nvSpPr>
        <p:spPr>
          <a:xfrm>
            <a:off x="502920" y="2020824"/>
            <a:ext cx="192024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補助記憶装置</a:t>
            </a:r>
            <a:endParaRPr lang="en-US" sz="1100" dirty="0"/>
          </a:p>
        </p:txBody>
      </p:sp>
      <p:sp>
        <p:nvSpPr>
          <p:cNvPr id="12" name="Shape 10"/>
          <p:cNvSpPr/>
          <p:nvPr/>
        </p:nvSpPr>
        <p:spPr>
          <a:xfrm>
            <a:off x="2404872" y="2020824"/>
            <a:ext cx="0" cy="256032"/>
          </a:xfrm>
          <a:prstGeom prst="line">
            <a:avLst/>
          </a:prstGeom>
          <a:noFill/>
          <a:ln w="12700">
            <a:solidFill>
              <a:srgbClr val="E6E6E6"/>
            </a:solidFill>
            <a:prstDash val="solid"/>
          </a:ln>
        </p:spPr>
      </p:sp>
      <p:sp>
        <p:nvSpPr>
          <p:cNvPr id="13" name="Text 11"/>
          <p:cNvSpPr txBox="1"/>
          <p:nvPr/>
        </p:nvSpPr>
        <p:spPr>
          <a:xfrm>
            <a:off x="2560320" y="2020824"/>
            <a:ext cx="914400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HDD・SSD等。電源を切ってもデータは消えない（不揮発性）</a:t>
            </a:r>
            <a:endParaRPr lang="en-US" sz="1100" dirty="0"/>
          </a:p>
        </p:txBody>
      </p:sp>
      <p:sp>
        <p:nvSpPr>
          <p:cNvPr id="14" name="Text 12"/>
          <p:cNvSpPr txBox="1"/>
          <p:nvPr/>
        </p:nvSpPr>
        <p:spPr>
          <a:xfrm>
            <a:off x="502920" y="2350008"/>
            <a:ext cx="192024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RAID1</a:t>
            </a:r>
            <a:endParaRPr lang="en-US" sz="1100" dirty="0"/>
          </a:p>
        </p:txBody>
      </p:sp>
      <p:sp>
        <p:nvSpPr>
          <p:cNvPr id="15" name="Shape 13"/>
          <p:cNvSpPr/>
          <p:nvPr/>
        </p:nvSpPr>
        <p:spPr>
          <a:xfrm>
            <a:off x="2404872" y="2350008"/>
            <a:ext cx="0" cy="256032"/>
          </a:xfrm>
          <a:prstGeom prst="line">
            <a:avLst/>
          </a:prstGeom>
          <a:noFill/>
          <a:ln w="12700">
            <a:solidFill>
              <a:srgbClr val="E6E6E6"/>
            </a:solidFill>
            <a:prstDash val="solid"/>
          </a:ln>
        </p:spPr>
      </p:sp>
      <p:sp>
        <p:nvSpPr>
          <p:cNvPr id="16" name="Text 14"/>
          <p:cNvSpPr txBox="1"/>
          <p:nvPr/>
        </p:nvSpPr>
        <p:spPr>
          <a:xfrm>
            <a:off x="2560320" y="2350008"/>
            <a:ext cx="914400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ミラーリング。1台故障しても継続稼働。実質容量は半分</a:t>
            </a:r>
            <a:endParaRPr lang="en-US" sz="1100" dirty="0"/>
          </a:p>
        </p:txBody>
      </p:sp>
      <p:sp>
        <p:nvSpPr>
          <p:cNvPr id="17" name="Text 15"/>
          <p:cNvSpPr txBox="1"/>
          <p:nvPr/>
        </p:nvSpPr>
        <p:spPr>
          <a:xfrm>
            <a:off x="502920" y="2679192"/>
            <a:ext cx="192024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RAID5／RAID6</a:t>
            </a:r>
            <a:endParaRPr lang="en-US" sz="1100" dirty="0"/>
          </a:p>
        </p:txBody>
      </p:sp>
      <p:sp>
        <p:nvSpPr>
          <p:cNvPr id="18" name="Shape 16"/>
          <p:cNvSpPr/>
          <p:nvPr/>
        </p:nvSpPr>
        <p:spPr>
          <a:xfrm>
            <a:off x="2404872" y="2679192"/>
            <a:ext cx="0" cy="256032"/>
          </a:xfrm>
          <a:prstGeom prst="line">
            <a:avLst/>
          </a:prstGeom>
          <a:noFill/>
          <a:ln w="12700">
            <a:solidFill>
              <a:srgbClr val="E6E6E6"/>
            </a:solidFill>
            <a:prstDash val="solid"/>
          </a:ln>
        </p:spPr>
      </p:sp>
      <p:sp>
        <p:nvSpPr>
          <p:cNvPr id="19" name="Text 17"/>
          <p:cNvSpPr txBox="1"/>
          <p:nvPr/>
        </p:nvSpPr>
        <p:spPr>
          <a:xfrm>
            <a:off x="2560320" y="2679192"/>
            <a:ext cx="914400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最低3台／4台必要。1台／2台までの故障に耐える</a:t>
            </a:r>
            <a:endParaRPr lang="en-US" sz="110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「主記憶装置は不揮発性」は誤り。RAIDの最低必要台数・耐障害台数を数値で入れ替える出題に注意。</a:t>
            </a:r>
            <a:endParaRPr lang="en-US" sz="950" dirty="0"/>
          </a:p>
        </p:txBody>
      </p:sp>
      <p:sp>
        <p:nvSpPr>
          <p:cNvPr id="22" name="Text 20"/>
          <p:cNvSpPr txBox="1"/>
          <p:nvPr/>
        </p:nvSpPr>
        <p:spPr>
          <a:xfrm>
            <a:off x="502920" y="3703320"/>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製造業A社の基幹システムのディスクをRAID5構成（4台）にしたところ、1台が故障しても生産ラインの稼働記録を止めずに済み、交換後は自動的にデータが復旧した。</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関連：F-11 システム評価（信頼性設計の考え方全般）。</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F-2 ／ ソフトウェア（OS、ミドルウェア、パッケージ）</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ミドルウェアはOSの一部ではない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OS→ミドルウェア→アプリケーションソフトという3層構造で理解する。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92024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OS</a:t>
            </a:r>
            <a:endParaRPr lang="en-US" sz="1150" dirty="0"/>
          </a:p>
        </p:txBody>
      </p:sp>
      <p:sp>
        <p:nvSpPr>
          <p:cNvPr id="9" name="Shape 7"/>
          <p:cNvSpPr/>
          <p:nvPr/>
        </p:nvSpPr>
        <p:spPr>
          <a:xfrm>
            <a:off x="2404872" y="1691640"/>
            <a:ext cx="0" cy="256032"/>
          </a:xfrm>
          <a:prstGeom prst="line">
            <a:avLst/>
          </a:prstGeom>
          <a:noFill/>
          <a:ln w="12700">
            <a:solidFill>
              <a:srgbClr val="E6E6E6"/>
            </a:solidFill>
            <a:prstDash val="solid"/>
          </a:ln>
        </p:spPr>
      </p:sp>
      <p:sp>
        <p:nvSpPr>
          <p:cNvPr id="10" name="Text 8"/>
          <p:cNvSpPr txBox="1"/>
          <p:nvPr/>
        </p:nvSpPr>
        <p:spPr>
          <a:xfrm>
            <a:off x="2560320" y="1691640"/>
            <a:ext cx="914400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ハードウェアを管理し複数アプリが動く土台。メモリ管理・タスク管理を担う</a:t>
            </a:r>
            <a:endParaRPr lang="en-US" sz="1150" dirty="0"/>
          </a:p>
        </p:txBody>
      </p:sp>
      <p:sp>
        <p:nvSpPr>
          <p:cNvPr id="11" name="Text 9"/>
          <p:cNvSpPr txBox="1"/>
          <p:nvPr/>
        </p:nvSpPr>
        <p:spPr>
          <a:xfrm>
            <a:off x="502920" y="2075688"/>
            <a:ext cx="192024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ミドルウェア</a:t>
            </a:r>
            <a:endParaRPr lang="en-US" sz="1150" dirty="0"/>
          </a:p>
        </p:txBody>
      </p:sp>
      <p:sp>
        <p:nvSpPr>
          <p:cNvPr id="12" name="Shape 10"/>
          <p:cNvSpPr/>
          <p:nvPr/>
        </p:nvSpPr>
        <p:spPr>
          <a:xfrm>
            <a:off x="2404872" y="2075688"/>
            <a:ext cx="0" cy="256032"/>
          </a:xfrm>
          <a:prstGeom prst="line">
            <a:avLst/>
          </a:prstGeom>
          <a:noFill/>
          <a:ln w="12700">
            <a:solidFill>
              <a:srgbClr val="E6E6E6"/>
            </a:solidFill>
            <a:prstDash val="solid"/>
          </a:ln>
        </p:spPr>
      </p:sp>
      <p:sp>
        <p:nvSpPr>
          <p:cNvPr id="13" name="Text 11"/>
          <p:cNvSpPr txBox="1"/>
          <p:nvPr/>
        </p:nvSpPr>
        <p:spPr>
          <a:xfrm>
            <a:off x="2560320" y="2075688"/>
            <a:ext cx="914400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OSとアプリの中間層。DBMS・Webサーバソフト等、共通機能を提供</a:t>
            </a:r>
            <a:endParaRPr lang="en-US" sz="1150" dirty="0"/>
          </a:p>
        </p:txBody>
      </p:sp>
      <p:sp>
        <p:nvSpPr>
          <p:cNvPr id="14" name="Text 12"/>
          <p:cNvSpPr txBox="1"/>
          <p:nvPr/>
        </p:nvSpPr>
        <p:spPr>
          <a:xfrm>
            <a:off x="502920" y="2459736"/>
            <a:ext cx="192024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パッケージソフト</a:t>
            </a:r>
            <a:endParaRPr lang="en-US" sz="1150" dirty="0"/>
          </a:p>
        </p:txBody>
      </p:sp>
      <p:sp>
        <p:nvSpPr>
          <p:cNvPr id="15" name="Shape 13"/>
          <p:cNvSpPr/>
          <p:nvPr/>
        </p:nvSpPr>
        <p:spPr>
          <a:xfrm>
            <a:off x="2404872" y="2459736"/>
            <a:ext cx="0" cy="256032"/>
          </a:xfrm>
          <a:prstGeom prst="line">
            <a:avLst/>
          </a:prstGeom>
          <a:noFill/>
          <a:ln w="12700">
            <a:solidFill>
              <a:srgbClr val="E6E6E6"/>
            </a:solidFill>
            <a:prstDash val="solid"/>
          </a:ln>
        </p:spPr>
      </p:sp>
      <p:sp>
        <p:nvSpPr>
          <p:cNvPr id="16" name="Text 14"/>
          <p:cNvSpPr txBox="1"/>
          <p:nvPr/>
        </p:nvSpPr>
        <p:spPr>
          <a:xfrm>
            <a:off x="2560320" y="2459736"/>
            <a:ext cx="914400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既製品。オーダーメイド（個別開発）ソフトと対比される</a:t>
            </a:r>
            <a:endParaRPr lang="en-US" sz="1150" dirty="0"/>
          </a:p>
        </p:txBody>
      </p:sp>
      <p:sp>
        <p:nvSpPr>
          <p:cNvPr id="17" name="Shape 15"/>
          <p:cNvSpPr/>
          <p:nvPr/>
        </p:nvSpPr>
        <p:spPr>
          <a:xfrm>
            <a:off x="502920" y="2935224"/>
            <a:ext cx="11201400" cy="0"/>
          </a:xfrm>
          <a:prstGeom prst="line">
            <a:avLst/>
          </a:prstGeom>
          <a:noFill/>
          <a:ln w="12700">
            <a:solidFill>
              <a:srgbClr val="E6E6E6"/>
            </a:solidFill>
            <a:prstDash val="solid"/>
          </a:ln>
        </p:spPr>
      </p:sp>
      <p:sp>
        <p:nvSpPr>
          <p:cNvPr id="18" name="Text 16"/>
          <p:cNvSpPr txBox="1"/>
          <p:nvPr/>
        </p:nvSpPr>
        <p:spPr>
          <a:xfrm>
            <a:off x="502920" y="3008376"/>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「ミドルウェアはOSの一部」は誤り。OSとは独立した中間層のソフトウェア。パッケージは既製機能の範囲内でのみカスタマイズ可能。</a:t>
            </a:r>
            <a:endParaRPr lang="en-US" sz="950" dirty="0"/>
          </a:p>
        </p:txBody>
      </p:sp>
      <p:sp>
        <p:nvSpPr>
          <p:cNvPr id="19" name="Text 17"/>
          <p:cNvSpPr txBox="1"/>
          <p:nvPr/>
        </p:nvSpPr>
        <p:spPr>
          <a:xfrm>
            <a:off x="502920" y="3557016"/>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社内システム部門が会計システムを刷新した際、土台となるOS（Windows Server）はそのまま維持し、共通機能を提供するミドルウェア（DBMS）だけを入れ替え、その上で稼働する会計パッケージソフトを導入した。</a:t>
            </a:r>
            <a:endParaRPr lang="en-US" sz="8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関連：F-8 外部情報資源の活用（クラウドで提供される範囲との対比）。</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F-3 ／ プログラム設計（アルゴリズム、データ構造）</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スタックはLIFO、キューはFIFO</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二分探索は事前にソート済みであることが前提。</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5544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スタック</a:t>
            </a:r>
            <a:endParaRPr lang="en-US" sz="1500" dirty="0"/>
          </a:p>
        </p:txBody>
      </p:sp>
      <p:sp>
        <p:nvSpPr>
          <p:cNvPr id="9" name="Text 7"/>
          <p:cNvSpPr txBox="1"/>
          <p:nvPr/>
        </p:nvSpPr>
        <p:spPr>
          <a:xfrm>
            <a:off x="2148840" y="1911096"/>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LIFO</a:t>
            </a:r>
            <a:endParaRPr lang="en-US" sz="1100" dirty="0"/>
          </a:p>
        </p:txBody>
      </p:sp>
      <p:sp>
        <p:nvSpPr>
          <p:cNvPr id="10" name="Text 8"/>
          <p:cNvSpPr txBox="1"/>
          <p:nvPr/>
        </p:nvSpPr>
        <p:spPr>
          <a:xfrm>
            <a:off x="4343400" y="1856232"/>
            <a:ext cx="736092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後から入れたものを先に取り出す。積み重ねたお皿のイメージ</a:t>
            </a:r>
            <a:endParaRPr lang="en-US" sz="1100" dirty="0"/>
          </a:p>
        </p:txBody>
      </p:sp>
      <p:sp>
        <p:nvSpPr>
          <p:cNvPr id="11" name="Shape 9"/>
          <p:cNvSpPr/>
          <p:nvPr/>
        </p:nvSpPr>
        <p:spPr>
          <a:xfrm>
            <a:off x="502920" y="2606040"/>
            <a:ext cx="11201400" cy="0"/>
          </a:xfrm>
          <a:prstGeom prst="line">
            <a:avLst/>
          </a:prstGeom>
          <a:noFill/>
          <a:ln w="12700">
            <a:solidFill>
              <a:srgbClr val="E6E6E6"/>
            </a:solidFill>
            <a:prstDash val="solid"/>
          </a:ln>
        </p:spPr>
      </p:sp>
      <p:sp>
        <p:nvSpPr>
          <p:cNvPr id="12" name="Text 10"/>
          <p:cNvSpPr txBox="1"/>
          <p:nvPr/>
        </p:nvSpPr>
        <p:spPr>
          <a:xfrm>
            <a:off x="502920" y="2715768"/>
            <a:ext cx="15544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キュー</a:t>
            </a:r>
            <a:endParaRPr lang="en-US" sz="1500" dirty="0"/>
          </a:p>
        </p:txBody>
      </p:sp>
      <p:sp>
        <p:nvSpPr>
          <p:cNvPr id="13" name="Text 11"/>
          <p:cNvSpPr txBox="1"/>
          <p:nvPr/>
        </p:nvSpPr>
        <p:spPr>
          <a:xfrm>
            <a:off x="2148840" y="2734056"/>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FIFO</a:t>
            </a:r>
            <a:endParaRPr lang="en-US" sz="1100" dirty="0"/>
          </a:p>
        </p:txBody>
      </p:sp>
      <p:sp>
        <p:nvSpPr>
          <p:cNvPr id="14" name="Text 12"/>
          <p:cNvSpPr txBox="1"/>
          <p:nvPr/>
        </p:nvSpPr>
        <p:spPr>
          <a:xfrm>
            <a:off x="4343400" y="2679192"/>
            <a:ext cx="736092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先に入れたものを先に取り出す。レジの待ち行列のイメージ</a:t>
            </a:r>
            <a:endParaRPr lang="en-US" sz="1100" dirty="0"/>
          </a:p>
        </p:txBody>
      </p:sp>
      <p:sp>
        <p:nvSpPr>
          <p:cNvPr id="15" name="Shape 13"/>
          <p:cNvSpPr/>
          <p:nvPr/>
        </p:nvSpPr>
        <p:spPr>
          <a:xfrm>
            <a:off x="502920" y="3429000"/>
            <a:ext cx="11201400" cy="0"/>
          </a:xfrm>
          <a:prstGeom prst="line">
            <a:avLst/>
          </a:prstGeom>
          <a:noFill/>
          <a:ln w="12700">
            <a:solidFill>
              <a:srgbClr val="E6E6E6"/>
            </a:solidFill>
            <a:prstDash val="solid"/>
          </a:ln>
        </p:spPr>
      </p:sp>
      <p:sp>
        <p:nvSpPr>
          <p:cNvPr id="16" name="Text 14"/>
          <p:cNvSpPr txBox="1"/>
          <p:nvPr/>
        </p:nvSpPr>
        <p:spPr>
          <a:xfrm>
            <a:off x="502920" y="3538728"/>
            <a:ext cx="15544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二分探索</a:t>
            </a:r>
            <a:endParaRPr lang="en-US" sz="1500" dirty="0"/>
          </a:p>
        </p:txBody>
      </p:sp>
      <p:sp>
        <p:nvSpPr>
          <p:cNvPr id="17" name="Text 15"/>
          <p:cNvSpPr txBox="1"/>
          <p:nvPr/>
        </p:nvSpPr>
        <p:spPr>
          <a:xfrm>
            <a:off x="2148840" y="3502152"/>
            <a:ext cx="955548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データがソート済みである前提で範囲を半分ずつ絞り込む（線形探索より高速）</a:t>
            </a:r>
            <a:endParaRPr lang="en-US" sz="1100" dirty="0"/>
          </a:p>
        </p:txBody>
      </p:sp>
      <p:sp>
        <p:nvSpPr>
          <p:cNvPr id="18" name="Shape 16"/>
          <p:cNvSpPr/>
          <p:nvPr/>
        </p:nvSpPr>
        <p:spPr>
          <a:xfrm>
            <a:off x="502920" y="4251960"/>
            <a:ext cx="11201400" cy="0"/>
          </a:xfrm>
          <a:prstGeom prst="line">
            <a:avLst/>
          </a:prstGeom>
          <a:noFill/>
          <a:ln w="12700">
            <a:solidFill>
              <a:srgbClr val="E6E6E6"/>
            </a:solidFill>
            <a:prstDash val="solid"/>
          </a:ln>
        </p:spPr>
      </p:sp>
      <p:sp>
        <p:nvSpPr>
          <p:cNvPr id="19" name="Text 17"/>
          <p:cNvSpPr txBox="1"/>
          <p:nvPr/>
        </p:nvSpPr>
        <p:spPr>
          <a:xfrm>
            <a:off x="502920" y="4361688"/>
            <a:ext cx="15544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計算量</a:t>
            </a:r>
            <a:endParaRPr lang="en-US" sz="1500" dirty="0"/>
          </a:p>
        </p:txBody>
      </p:sp>
      <p:sp>
        <p:nvSpPr>
          <p:cNvPr id="20" name="Text 18"/>
          <p:cNvSpPr txBox="1"/>
          <p:nvPr/>
        </p:nvSpPr>
        <p:spPr>
          <a:xfrm>
            <a:off x="2148840" y="4379976"/>
            <a:ext cx="210312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O(logn)&lt;O(n)&lt;O(n²)</a:t>
            </a:r>
            <a:endParaRPr lang="en-US" sz="1100" dirty="0"/>
          </a:p>
        </p:txBody>
      </p:sp>
      <p:sp>
        <p:nvSpPr>
          <p:cNvPr id="21" name="Text 19"/>
          <p:cNvSpPr txBox="1"/>
          <p:nvPr/>
        </p:nvSpPr>
        <p:spPr>
          <a:xfrm>
            <a:off x="4343400" y="4325112"/>
            <a:ext cx="736092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データ量が増えたときの処理時間の増え方。左ほど効率が良い</a:t>
            </a:r>
            <a:endParaRPr lang="en-US" sz="1100" dirty="0"/>
          </a:p>
        </p:txBody>
      </p:sp>
      <p:sp>
        <p:nvSpPr>
          <p:cNvPr id="22" name="Text 20"/>
          <p:cNvSpPr txBox="1"/>
          <p:nvPr/>
        </p:nvSpPr>
        <p:spPr>
          <a:xfrm>
            <a:off x="502920" y="5148072"/>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小売チェーンのB社の在庫照会システムは、商品コードで五十音順に並んだ在庫データから二分探索で瞬時に目的の商品を探し出す一方、直近の操作履歴は「元に戻す」機能のためスタック（LIFO）で保持している。</a:t>
            </a:r>
            <a:endParaRPr lang="en-US" sz="850" dirty="0"/>
          </a:p>
        </p:txBody>
      </p:sp>
      <p:sp>
        <p:nvSpPr>
          <p:cNvPr id="23" name="Shape 21"/>
          <p:cNvSpPr/>
          <p:nvPr/>
        </p:nvSpPr>
        <p:spPr>
          <a:xfrm>
            <a:off x="502920" y="5998464"/>
            <a:ext cx="11201400" cy="0"/>
          </a:xfrm>
          <a:prstGeom prst="line">
            <a:avLst/>
          </a:prstGeom>
          <a:noFill/>
          <a:ln w="9525">
            <a:solidFill>
              <a:srgbClr val="171717"/>
            </a:solidFill>
            <a:prstDash val="solid"/>
          </a:ln>
        </p:spPr>
      </p:sp>
      <p:sp>
        <p:nvSpPr>
          <p:cNvPr id="24" name="Shape 22"/>
          <p:cNvSpPr/>
          <p:nvPr/>
        </p:nvSpPr>
        <p:spPr>
          <a:xfrm>
            <a:off x="502920" y="6071616"/>
            <a:ext cx="329184" cy="329184"/>
          </a:xfrm>
          <a:prstGeom prst="ellipse">
            <a:avLst/>
          </a:prstGeom>
          <a:solidFill>
            <a:srgbClr val="FF3B1F"/>
          </a:solidFill>
          <a:ln/>
        </p:spPr>
      </p:sp>
      <p:sp>
        <p:nvSpPr>
          <p:cNvPr id="25" name="Text 23"/>
          <p:cNvSpPr txBox="1"/>
          <p:nvPr/>
        </p:nvSpPr>
        <p:spPr>
          <a:xfrm>
            <a:off x="502920" y="6071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71616"/>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71616"/>
            <a:ext cx="0" cy="329184"/>
          </a:xfrm>
          <a:prstGeom prst="line">
            <a:avLst/>
          </a:prstGeom>
          <a:noFill/>
          <a:ln w="12700">
            <a:solidFill>
              <a:srgbClr val="E6E6E6"/>
            </a:solidFill>
            <a:prstDash val="solid"/>
          </a:ln>
        </p:spPr>
      </p:sp>
      <p:sp>
        <p:nvSpPr>
          <p:cNvPr id="28" name="Text 26"/>
          <p:cNvSpPr txBox="1"/>
          <p:nvPr/>
        </p:nvSpPr>
        <p:spPr>
          <a:xfrm>
            <a:off x="2514600" y="6053328"/>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ひっかけ：LIFO/FIFOの入出力順序、計算量の大小関係を逆に覚える誤りに注意。</a:t>
            </a:r>
            <a:endParaRPr lang="en-US" sz="1000" dirty="0"/>
          </a:p>
        </p:txBody>
      </p:sp>
      <p:sp>
        <p:nvSpPr>
          <p:cNvPr id="29" name="Text 27"/>
          <p:cNvSpPr txBox="1"/>
          <p:nvPr/>
        </p:nvSpPr>
        <p:spPr>
          <a:xfrm>
            <a:off x="502920" y="6473952"/>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73952"/>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73952"/>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73952"/>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73952"/>
            <a:ext cx="146304" cy="146304"/>
          </a:xfrm>
          <a:prstGeom prst="ellipse">
            <a:avLst/>
          </a:prstGeom>
          <a:solidFill>
            <a:srgbClr val="FFFFFF"/>
          </a:solidFill>
          <a:ln w="12700">
            <a:solidFill>
              <a:srgbClr val="E6E6E6"/>
            </a:solidFill>
            <a:prstDash val="solid"/>
          </a:ln>
        </p:spPr>
      </p:sp>
      <p:sp>
        <p:nvSpPr>
          <p:cNvPr id="37" name="Text 35"/>
          <p:cNvSpPr txBox="1"/>
          <p:nvPr/>
        </p:nvSpPr>
        <p:spPr>
          <a:xfrm>
            <a:off x="4951476"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73952"/>
            <a:ext cx="146304" cy="146304"/>
          </a:xfrm>
          <a:prstGeom prst="ellipse">
            <a:avLst/>
          </a:prstGeom>
          <a:solidFill>
            <a:srgbClr val="FFFFFF"/>
          </a:solidFill>
          <a:ln w="12700">
            <a:solidFill>
              <a:srgbClr val="E6E6E6"/>
            </a:solidFill>
            <a:prstDash val="solid"/>
          </a:ln>
        </p:spPr>
      </p:sp>
      <p:sp>
        <p:nvSpPr>
          <p:cNvPr id="39" name="Text 37"/>
          <p:cNvSpPr txBox="1"/>
          <p:nvPr/>
        </p:nvSpPr>
        <p:spPr>
          <a:xfrm>
            <a:off x="5916168"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73952"/>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73952"/>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73952"/>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73952"/>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73952"/>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F-4 ／ ソフトウェア開発（構造化、オブジェクト指向）</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カプセル化は複数クラスの統合ではない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構造化の3構造と、オブジェクト指向の3性質を区別する。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構造化の3構造</a:t>
            </a:r>
            <a:endParaRPr lang="en-US" sz="1050" dirty="0"/>
          </a:p>
        </p:txBody>
      </p:sp>
      <p:sp>
        <p:nvSpPr>
          <p:cNvPr id="9" name="Shape 7"/>
          <p:cNvSpPr/>
          <p:nvPr/>
        </p:nvSpPr>
        <p:spPr>
          <a:xfrm>
            <a:off x="2496312" y="1691640"/>
            <a:ext cx="0" cy="256032"/>
          </a:xfrm>
          <a:prstGeom prst="line">
            <a:avLst/>
          </a:prstGeom>
          <a:noFill/>
          <a:ln w="12700">
            <a:solidFill>
              <a:srgbClr val="E6E6E6"/>
            </a:solidFill>
            <a:prstDash val="solid"/>
          </a:ln>
        </p:spPr>
      </p:sp>
      <p:sp>
        <p:nvSpPr>
          <p:cNvPr id="10" name="Text 8"/>
          <p:cNvSpPr txBox="1"/>
          <p:nvPr/>
        </p:nvSpPr>
        <p:spPr>
          <a:xfrm>
            <a:off x="2651760" y="1691640"/>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順次・選択（分岐）・反復（繰り返し）の組み合わせで表現</a:t>
            </a:r>
            <a:endParaRPr lang="en-US" sz="1050" dirty="0"/>
          </a:p>
        </p:txBody>
      </p:sp>
      <p:sp>
        <p:nvSpPr>
          <p:cNvPr id="11" name="Text 9"/>
          <p:cNvSpPr txBox="1"/>
          <p:nvPr/>
        </p:nvSpPr>
        <p:spPr>
          <a:xfrm>
            <a:off x="502920" y="2020824"/>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カプセル化</a:t>
            </a:r>
            <a:endParaRPr lang="en-US" sz="1050" dirty="0"/>
          </a:p>
        </p:txBody>
      </p:sp>
      <p:sp>
        <p:nvSpPr>
          <p:cNvPr id="12" name="Shape 10"/>
          <p:cNvSpPr/>
          <p:nvPr/>
        </p:nvSpPr>
        <p:spPr>
          <a:xfrm>
            <a:off x="2496312" y="2020824"/>
            <a:ext cx="0" cy="256032"/>
          </a:xfrm>
          <a:prstGeom prst="line">
            <a:avLst/>
          </a:prstGeom>
          <a:noFill/>
          <a:ln w="12700">
            <a:solidFill>
              <a:srgbClr val="E6E6E6"/>
            </a:solidFill>
            <a:prstDash val="solid"/>
          </a:ln>
        </p:spPr>
      </p:sp>
      <p:sp>
        <p:nvSpPr>
          <p:cNvPr id="13" name="Text 11"/>
          <p:cNvSpPr txBox="1"/>
          <p:nvPr/>
        </p:nvSpPr>
        <p:spPr>
          <a:xfrm>
            <a:off x="2651760" y="2020824"/>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データと処理を1つのクラスにまとめ、外部から実装を隠す</a:t>
            </a:r>
            <a:endParaRPr lang="en-US" sz="1050" dirty="0"/>
          </a:p>
        </p:txBody>
      </p:sp>
      <p:sp>
        <p:nvSpPr>
          <p:cNvPr id="14" name="Text 12"/>
          <p:cNvSpPr txBox="1"/>
          <p:nvPr/>
        </p:nvSpPr>
        <p:spPr>
          <a:xfrm>
            <a:off x="502920" y="2350008"/>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継承</a:t>
            </a:r>
            <a:endParaRPr lang="en-US" sz="1050" dirty="0"/>
          </a:p>
        </p:txBody>
      </p:sp>
      <p:sp>
        <p:nvSpPr>
          <p:cNvPr id="15" name="Shape 13"/>
          <p:cNvSpPr/>
          <p:nvPr/>
        </p:nvSpPr>
        <p:spPr>
          <a:xfrm>
            <a:off x="2496312" y="2350008"/>
            <a:ext cx="0" cy="256032"/>
          </a:xfrm>
          <a:prstGeom prst="line">
            <a:avLst/>
          </a:prstGeom>
          <a:noFill/>
          <a:ln w="12700">
            <a:solidFill>
              <a:srgbClr val="E6E6E6"/>
            </a:solidFill>
            <a:prstDash val="solid"/>
          </a:ln>
        </p:spPr>
      </p:sp>
      <p:sp>
        <p:nvSpPr>
          <p:cNvPr id="16" name="Text 14"/>
          <p:cNvSpPr txBox="1"/>
          <p:nvPr/>
        </p:nvSpPr>
        <p:spPr>
          <a:xfrm>
            <a:off x="2651760" y="2350008"/>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親クラスの性質を子クラスが引き継ぐこと</a:t>
            </a:r>
            <a:endParaRPr lang="en-US" sz="1050" dirty="0"/>
          </a:p>
        </p:txBody>
      </p:sp>
      <p:sp>
        <p:nvSpPr>
          <p:cNvPr id="17" name="Text 15"/>
          <p:cNvSpPr txBox="1"/>
          <p:nvPr/>
        </p:nvSpPr>
        <p:spPr>
          <a:xfrm>
            <a:off x="502920" y="2679192"/>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ポリモーフィズム</a:t>
            </a:r>
            <a:endParaRPr lang="en-US" sz="1050" dirty="0"/>
          </a:p>
        </p:txBody>
      </p:sp>
      <p:sp>
        <p:nvSpPr>
          <p:cNvPr id="18" name="Shape 16"/>
          <p:cNvSpPr/>
          <p:nvPr/>
        </p:nvSpPr>
        <p:spPr>
          <a:xfrm>
            <a:off x="2496312" y="2679192"/>
            <a:ext cx="0" cy="256032"/>
          </a:xfrm>
          <a:prstGeom prst="line">
            <a:avLst/>
          </a:prstGeom>
          <a:noFill/>
          <a:ln w="12700">
            <a:solidFill>
              <a:srgbClr val="E6E6E6"/>
            </a:solidFill>
            <a:prstDash val="solid"/>
          </a:ln>
        </p:spPr>
      </p:sp>
      <p:sp>
        <p:nvSpPr>
          <p:cNvPr id="19" name="Text 17"/>
          <p:cNvSpPr txBox="1"/>
          <p:nvPr/>
        </p:nvSpPr>
        <p:spPr>
          <a:xfrm>
            <a:off x="2651760" y="2679192"/>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同じ名前の命令でもオブジェクトの種類により処理内容が異なる性質</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「カプセル化＝複数クラスの統合」は誤り。「継承＝機能の呼び出し」も不正確（親の性質を引き継ぐ関係）。</a:t>
            </a:r>
            <a:endParaRPr lang="en-US" sz="950" dirty="0"/>
          </a:p>
        </p:txBody>
      </p:sp>
      <p:sp>
        <p:nvSpPr>
          <p:cNvPr id="22" name="Text 20"/>
          <p:cNvSpPr txBox="1"/>
          <p:nvPr/>
        </p:nvSpPr>
        <p:spPr>
          <a:xfrm>
            <a:off x="502920" y="3703320"/>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受注管理システムを開発するシステム会社が、「受注」クラスに共通処理（在庫確認・金額計算）をまとめ、これを継承した「特急受注」クラスに納期短縮処理だけを追加し、開発工数を抑えつつ機能を拡張した。</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関連：F-16／F-17 情報システム開発（開発プロセスとの関係）。</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F-5 ／ システム構成（クライアントサーバ、仮想化）</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P2Pはサーバを介さず対等に通信する方式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仮想化は独立したOS環境を複数動かす技術で、マルチタスクとは異なる。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2860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3層クライアントサーバ</a:t>
            </a:r>
            <a:endParaRPr lang="en-US" sz="1050" dirty="0"/>
          </a:p>
        </p:txBody>
      </p:sp>
      <p:sp>
        <p:nvSpPr>
          <p:cNvPr id="9" name="Shape 7"/>
          <p:cNvSpPr/>
          <p:nvPr/>
        </p:nvSpPr>
        <p:spPr>
          <a:xfrm>
            <a:off x="2770632" y="1691640"/>
            <a:ext cx="0" cy="256032"/>
          </a:xfrm>
          <a:prstGeom prst="line">
            <a:avLst/>
          </a:prstGeom>
          <a:noFill/>
          <a:ln w="12700">
            <a:solidFill>
              <a:srgbClr val="E6E6E6"/>
            </a:solidFill>
            <a:prstDash val="solid"/>
          </a:ln>
        </p:spPr>
      </p:sp>
      <p:sp>
        <p:nvSpPr>
          <p:cNvPr id="10" name="Text 8"/>
          <p:cNvSpPr txBox="1"/>
          <p:nvPr/>
        </p:nvSpPr>
        <p:spPr>
          <a:xfrm>
            <a:off x="2926080" y="1691640"/>
            <a:ext cx="87782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クライアント・アプリケーションサーバ・DBサーバで役割分担</a:t>
            </a:r>
            <a:endParaRPr lang="en-US" sz="1050" dirty="0"/>
          </a:p>
        </p:txBody>
      </p:sp>
      <p:sp>
        <p:nvSpPr>
          <p:cNvPr id="11" name="Text 9"/>
          <p:cNvSpPr txBox="1"/>
          <p:nvPr/>
        </p:nvSpPr>
        <p:spPr>
          <a:xfrm>
            <a:off x="502920" y="2020824"/>
            <a:ext cx="22860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P2P</a:t>
            </a:r>
            <a:endParaRPr lang="en-US" sz="1050" dirty="0"/>
          </a:p>
        </p:txBody>
      </p:sp>
      <p:sp>
        <p:nvSpPr>
          <p:cNvPr id="12" name="Shape 10"/>
          <p:cNvSpPr/>
          <p:nvPr/>
        </p:nvSpPr>
        <p:spPr>
          <a:xfrm>
            <a:off x="2770632" y="2020824"/>
            <a:ext cx="0" cy="256032"/>
          </a:xfrm>
          <a:prstGeom prst="line">
            <a:avLst/>
          </a:prstGeom>
          <a:noFill/>
          <a:ln w="12700">
            <a:solidFill>
              <a:srgbClr val="E6E6E6"/>
            </a:solidFill>
            <a:prstDash val="solid"/>
          </a:ln>
        </p:spPr>
      </p:sp>
      <p:sp>
        <p:nvSpPr>
          <p:cNvPr id="13" name="Text 11"/>
          <p:cNvSpPr txBox="1"/>
          <p:nvPr/>
        </p:nvSpPr>
        <p:spPr>
          <a:xfrm>
            <a:off x="2926080" y="2020824"/>
            <a:ext cx="87782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サーバを介さず対等なコンピュータ同士が直接通信</a:t>
            </a:r>
            <a:endParaRPr lang="en-US" sz="1050" dirty="0"/>
          </a:p>
        </p:txBody>
      </p:sp>
      <p:sp>
        <p:nvSpPr>
          <p:cNvPr id="14" name="Text 12"/>
          <p:cNvSpPr txBox="1"/>
          <p:nvPr/>
        </p:nvSpPr>
        <p:spPr>
          <a:xfrm>
            <a:off x="502920" y="2350008"/>
            <a:ext cx="22860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仮想化（ハイパーバイザー）</a:t>
            </a:r>
            <a:endParaRPr lang="en-US" sz="1050" dirty="0"/>
          </a:p>
        </p:txBody>
      </p:sp>
      <p:sp>
        <p:nvSpPr>
          <p:cNvPr id="15" name="Shape 13"/>
          <p:cNvSpPr/>
          <p:nvPr/>
        </p:nvSpPr>
        <p:spPr>
          <a:xfrm>
            <a:off x="2770632" y="2350008"/>
            <a:ext cx="0" cy="256032"/>
          </a:xfrm>
          <a:prstGeom prst="line">
            <a:avLst/>
          </a:prstGeom>
          <a:noFill/>
          <a:ln w="12700">
            <a:solidFill>
              <a:srgbClr val="E6E6E6"/>
            </a:solidFill>
            <a:prstDash val="solid"/>
          </a:ln>
        </p:spPr>
      </p:sp>
      <p:sp>
        <p:nvSpPr>
          <p:cNvPr id="16" name="Text 14"/>
          <p:cNvSpPr txBox="1"/>
          <p:nvPr/>
        </p:nvSpPr>
        <p:spPr>
          <a:xfrm>
            <a:off x="2926080" y="2350008"/>
            <a:ext cx="87782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1台の物理機に複数の独立した仮想環境を作る</a:t>
            </a:r>
            <a:endParaRPr lang="en-US" sz="1050" dirty="0"/>
          </a:p>
        </p:txBody>
      </p:sp>
      <p:sp>
        <p:nvSpPr>
          <p:cNvPr id="17" name="Text 15"/>
          <p:cNvSpPr txBox="1"/>
          <p:nvPr/>
        </p:nvSpPr>
        <p:spPr>
          <a:xfrm>
            <a:off x="502920" y="2679192"/>
            <a:ext cx="22860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コンテナ技術</a:t>
            </a:r>
            <a:endParaRPr lang="en-US" sz="1050" dirty="0"/>
          </a:p>
        </p:txBody>
      </p:sp>
      <p:sp>
        <p:nvSpPr>
          <p:cNvPr id="18" name="Shape 16"/>
          <p:cNvSpPr/>
          <p:nvPr/>
        </p:nvSpPr>
        <p:spPr>
          <a:xfrm>
            <a:off x="2770632" y="2679192"/>
            <a:ext cx="0" cy="256032"/>
          </a:xfrm>
          <a:prstGeom prst="line">
            <a:avLst/>
          </a:prstGeom>
          <a:noFill/>
          <a:ln w="12700">
            <a:solidFill>
              <a:srgbClr val="E6E6E6"/>
            </a:solidFill>
            <a:prstDash val="solid"/>
          </a:ln>
        </p:spPr>
      </p:sp>
      <p:sp>
        <p:nvSpPr>
          <p:cNvPr id="19" name="Text 17"/>
          <p:cNvSpPr txBox="1"/>
          <p:nvPr/>
        </p:nvSpPr>
        <p:spPr>
          <a:xfrm>
            <a:off x="2926080" y="2679192"/>
            <a:ext cx="87782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仮想化より軽量にアプリ実行環境を分離（例：Docker）</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「P2Pはクライアントサーバ方式の一種」は誤り。仮想化は「マルチタスク」とは異なる独立OS環境の技術。</a:t>
            </a:r>
            <a:endParaRPr lang="en-US" sz="950" dirty="0"/>
          </a:p>
        </p:txBody>
      </p:sp>
      <p:sp>
        <p:nvSpPr>
          <p:cNvPr id="22" name="Text 20"/>
          <p:cNvSpPr txBox="1"/>
          <p:nvPr/>
        </p:nvSpPr>
        <p:spPr>
          <a:xfrm>
            <a:off x="502920" y="3703320"/>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製造業A社は自社データセンターの1台の物理サーバを仮想化し、生産管理用と人事管理用の仮想サーバを同時に稼働させることで、ハードウェアの導入台数を抑えている。</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関連：F-8 外部情報資源の活用（クラウドは仮想化技術を土台にする）。</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F-6 ／ 情報処理の形態（集中/分散/並列、リアルタイム/バッチ）</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ATMはリアルタイム、給与計算はバッチ</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「即時性」か「まとめて効率化」かで使い分ける。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92024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集中処理</a:t>
            </a:r>
            <a:endParaRPr lang="en-US" sz="1100" dirty="0"/>
          </a:p>
        </p:txBody>
      </p:sp>
      <p:sp>
        <p:nvSpPr>
          <p:cNvPr id="9" name="Shape 7"/>
          <p:cNvSpPr/>
          <p:nvPr/>
        </p:nvSpPr>
        <p:spPr>
          <a:xfrm>
            <a:off x="2404872" y="1691640"/>
            <a:ext cx="0" cy="256032"/>
          </a:xfrm>
          <a:prstGeom prst="line">
            <a:avLst/>
          </a:prstGeom>
          <a:noFill/>
          <a:ln w="12700">
            <a:solidFill>
              <a:srgbClr val="E6E6E6"/>
            </a:solidFill>
            <a:prstDash val="solid"/>
          </a:ln>
        </p:spPr>
      </p:sp>
      <p:sp>
        <p:nvSpPr>
          <p:cNvPr id="10" name="Text 8"/>
          <p:cNvSpPr txBox="1"/>
          <p:nvPr/>
        </p:nvSpPr>
        <p:spPr>
          <a:xfrm>
            <a:off x="2560320" y="1691640"/>
            <a:ext cx="914400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1台に処理を集約。管理は容易だが故障すると全体停止</a:t>
            </a:r>
            <a:endParaRPr lang="en-US" sz="1100" dirty="0"/>
          </a:p>
        </p:txBody>
      </p:sp>
      <p:sp>
        <p:nvSpPr>
          <p:cNvPr id="11" name="Text 9"/>
          <p:cNvSpPr txBox="1"/>
          <p:nvPr/>
        </p:nvSpPr>
        <p:spPr>
          <a:xfrm>
            <a:off x="502920" y="2020824"/>
            <a:ext cx="192024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分散処理</a:t>
            </a:r>
            <a:endParaRPr lang="en-US" sz="1100" dirty="0"/>
          </a:p>
        </p:txBody>
      </p:sp>
      <p:sp>
        <p:nvSpPr>
          <p:cNvPr id="12" name="Shape 10"/>
          <p:cNvSpPr/>
          <p:nvPr/>
        </p:nvSpPr>
        <p:spPr>
          <a:xfrm>
            <a:off x="2404872" y="2020824"/>
            <a:ext cx="0" cy="256032"/>
          </a:xfrm>
          <a:prstGeom prst="line">
            <a:avLst/>
          </a:prstGeom>
          <a:noFill/>
          <a:ln w="12700">
            <a:solidFill>
              <a:srgbClr val="E6E6E6"/>
            </a:solidFill>
            <a:prstDash val="solid"/>
          </a:ln>
        </p:spPr>
      </p:sp>
      <p:sp>
        <p:nvSpPr>
          <p:cNvPr id="13" name="Text 11"/>
          <p:cNvSpPr txBox="1"/>
          <p:nvPr/>
        </p:nvSpPr>
        <p:spPr>
          <a:xfrm>
            <a:off x="2560320" y="2020824"/>
            <a:ext cx="914400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複数台に処理を分散。柔軟だが管理は複雑</a:t>
            </a:r>
            <a:endParaRPr lang="en-US" sz="1100" dirty="0"/>
          </a:p>
        </p:txBody>
      </p:sp>
      <p:sp>
        <p:nvSpPr>
          <p:cNvPr id="14" name="Text 12"/>
          <p:cNvSpPr txBox="1"/>
          <p:nvPr/>
        </p:nvSpPr>
        <p:spPr>
          <a:xfrm>
            <a:off x="502920" y="2350008"/>
            <a:ext cx="192024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リアルタイム処理</a:t>
            </a:r>
            <a:endParaRPr lang="en-US" sz="1100" dirty="0"/>
          </a:p>
        </p:txBody>
      </p:sp>
      <p:sp>
        <p:nvSpPr>
          <p:cNvPr id="15" name="Shape 13"/>
          <p:cNvSpPr/>
          <p:nvPr/>
        </p:nvSpPr>
        <p:spPr>
          <a:xfrm>
            <a:off x="2404872" y="2350008"/>
            <a:ext cx="0" cy="256032"/>
          </a:xfrm>
          <a:prstGeom prst="line">
            <a:avLst/>
          </a:prstGeom>
          <a:noFill/>
          <a:ln w="12700">
            <a:solidFill>
              <a:srgbClr val="E6E6E6"/>
            </a:solidFill>
            <a:prstDash val="solid"/>
          </a:ln>
        </p:spPr>
      </p:sp>
      <p:sp>
        <p:nvSpPr>
          <p:cNvPr id="16" name="Text 14"/>
          <p:cNvSpPr txBox="1"/>
          <p:nvPr/>
        </p:nvSpPr>
        <p:spPr>
          <a:xfrm>
            <a:off x="2560320" y="2350008"/>
            <a:ext cx="914400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発生の都度即座に処理（例：ATM）</a:t>
            </a:r>
            <a:endParaRPr lang="en-US" sz="1100" dirty="0"/>
          </a:p>
        </p:txBody>
      </p:sp>
      <p:sp>
        <p:nvSpPr>
          <p:cNvPr id="17" name="Text 15"/>
          <p:cNvSpPr txBox="1"/>
          <p:nvPr/>
        </p:nvSpPr>
        <p:spPr>
          <a:xfrm>
            <a:off x="502920" y="2679192"/>
            <a:ext cx="1920240" cy="310896"/>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バッチ処理</a:t>
            </a:r>
            <a:endParaRPr lang="en-US" sz="1100" dirty="0"/>
          </a:p>
        </p:txBody>
      </p:sp>
      <p:sp>
        <p:nvSpPr>
          <p:cNvPr id="18" name="Shape 16"/>
          <p:cNvSpPr/>
          <p:nvPr/>
        </p:nvSpPr>
        <p:spPr>
          <a:xfrm>
            <a:off x="2404872" y="2679192"/>
            <a:ext cx="0" cy="256032"/>
          </a:xfrm>
          <a:prstGeom prst="line">
            <a:avLst/>
          </a:prstGeom>
          <a:noFill/>
          <a:ln w="12700">
            <a:solidFill>
              <a:srgbClr val="E6E6E6"/>
            </a:solidFill>
            <a:prstDash val="solid"/>
          </a:ln>
        </p:spPr>
      </p:sp>
      <p:sp>
        <p:nvSpPr>
          <p:cNvPr id="19" name="Text 17"/>
          <p:cNvSpPr txBox="1"/>
          <p:nvPr/>
        </p:nvSpPr>
        <p:spPr>
          <a:xfrm>
            <a:off x="2560320" y="2679192"/>
            <a:ext cx="9144000" cy="310896"/>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ためて一括処理（例：夜間の給与計算）</a:t>
            </a:r>
            <a:endParaRPr lang="en-US" sz="110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「バッチ処理は結果がすぐ得られ緊急業務向き」は誤り。即時性が要るのはリアルタイム処理。</a:t>
            </a:r>
            <a:endParaRPr lang="en-US" sz="950" dirty="0"/>
          </a:p>
        </p:txBody>
      </p:sp>
      <p:sp>
        <p:nvSpPr>
          <p:cNvPr id="22" name="Text 20"/>
          <p:cNvSpPr txBox="1"/>
          <p:nvPr/>
        </p:nvSpPr>
        <p:spPr>
          <a:xfrm>
            <a:off x="502920" y="3703320"/>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小売チェーンのB社のPOSレジは会計のたびに即座に在庫を更新するリアルタイム処理だが、月末の売上集計や仕入先への支払データ作成は夜間にまとめて処理するバッチ処理としている。</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出題実績あり</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関連：F-9 データベース（トランザクション管理もリアルタイム性と関連）。</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F-7 ／ ヒューマンインタフェース（Webデザイン、マルチメディア）</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JPEGは非可逆圧縮、元の画質には戻せない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ユーザビリティとアクセシビリティは別の観点。両方を意図的に設計する。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92024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ユーザビリティ</a:t>
            </a:r>
            <a:endParaRPr lang="en-US" sz="1050" dirty="0"/>
          </a:p>
        </p:txBody>
      </p:sp>
      <p:sp>
        <p:nvSpPr>
          <p:cNvPr id="9" name="Shape 7"/>
          <p:cNvSpPr/>
          <p:nvPr/>
        </p:nvSpPr>
        <p:spPr>
          <a:xfrm>
            <a:off x="2404872" y="1691640"/>
            <a:ext cx="0" cy="256032"/>
          </a:xfrm>
          <a:prstGeom prst="line">
            <a:avLst/>
          </a:prstGeom>
          <a:noFill/>
          <a:ln w="12700">
            <a:solidFill>
              <a:srgbClr val="E6E6E6"/>
            </a:solidFill>
            <a:prstDash val="solid"/>
          </a:ln>
        </p:spPr>
      </p:sp>
      <p:sp>
        <p:nvSpPr>
          <p:cNvPr id="10" name="Text 8"/>
          <p:cNvSpPr txBox="1"/>
          <p:nvPr/>
        </p:nvSpPr>
        <p:spPr>
          <a:xfrm>
            <a:off x="2560320" y="1691640"/>
            <a:ext cx="914400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目的の操作をどれだけ効率よく・迷わず行えるか（使いやすさ）</a:t>
            </a:r>
            <a:endParaRPr lang="en-US" sz="1050" dirty="0"/>
          </a:p>
        </p:txBody>
      </p:sp>
      <p:sp>
        <p:nvSpPr>
          <p:cNvPr id="11" name="Text 9"/>
          <p:cNvSpPr txBox="1"/>
          <p:nvPr/>
        </p:nvSpPr>
        <p:spPr>
          <a:xfrm>
            <a:off x="502920" y="2020824"/>
            <a:ext cx="192024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アクセシビリティ</a:t>
            </a:r>
            <a:endParaRPr lang="en-US" sz="1050" dirty="0"/>
          </a:p>
        </p:txBody>
      </p:sp>
      <p:sp>
        <p:nvSpPr>
          <p:cNvPr id="12" name="Shape 10"/>
          <p:cNvSpPr/>
          <p:nvPr/>
        </p:nvSpPr>
        <p:spPr>
          <a:xfrm>
            <a:off x="2404872" y="2020824"/>
            <a:ext cx="0" cy="256032"/>
          </a:xfrm>
          <a:prstGeom prst="line">
            <a:avLst/>
          </a:prstGeom>
          <a:noFill/>
          <a:ln w="12700">
            <a:solidFill>
              <a:srgbClr val="E6E6E6"/>
            </a:solidFill>
            <a:prstDash val="solid"/>
          </a:ln>
        </p:spPr>
      </p:sp>
      <p:sp>
        <p:nvSpPr>
          <p:cNvPr id="13" name="Text 11"/>
          <p:cNvSpPr txBox="1"/>
          <p:nvPr/>
        </p:nvSpPr>
        <p:spPr>
          <a:xfrm>
            <a:off x="2560320" y="2020824"/>
            <a:ext cx="914400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誰もが情報・機能に到達し利用できるか（利用の公平性）</a:t>
            </a:r>
            <a:endParaRPr lang="en-US" sz="1050" dirty="0"/>
          </a:p>
        </p:txBody>
      </p:sp>
      <p:sp>
        <p:nvSpPr>
          <p:cNvPr id="14" name="Text 12"/>
          <p:cNvSpPr txBox="1"/>
          <p:nvPr/>
        </p:nvSpPr>
        <p:spPr>
          <a:xfrm>
            <a:off x="502920" y="2350008"/>
            <a:ext cx="192024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可逆圧縮</a:t>
            </a:r>
            <a:endParaRPr lang="en-US" sz="1050" dirty="0"/>
          </a:p>
        </p:txBody>
      </p:sp>
      <p:sp>
        <p:nvSpPr>
          <p:cNvPr id="15" name="Shape 13"/>
          <p:cNvSpPr/>
          <p:nvPr/>
        </p:nvSpPr>
        <p:spPr>
          <a:xfrm>
            <a:off x="2404872" y="2350008"/>
            <a:ext cx="0" cy="256032"/>
          </a:xfrm>
          <a:prstGeom prst="line">
            <a:avLst/>
          </a:prstGeom>
          <a:noFill/>
          <a:ln w="12700">
            <a:solidFill>
              <a:srgbClr val="E6E6E6"/>
            </a:solidFill>
            <a:prstDash val="solid"/>
          </a:ln>
        </p:spPr>
      </p:sp>
      <p:sp>
        <p:nvSpPr>
          <p:cNvPr id="16" name="Text 14"/>
          <p:cNvSpPr txBox="1"/>
          <p:nvPr/>
        </p:nvSpPr>
        <p:spPr>
          <a:xfrm>
            <a:off x="2560320" y="2350008"/>
            <a:ext cx="914400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完全に元通りに復元できる（例：ZIP、PNG）</a:t>
            </a:r>
            <a:endParaRPr lang="en-US" sz="1050" dirty="0"/>
          </a:p>
        </p:txBody>
      </p:sp>
      <p:sp>
        <p:nvSpPr>
          <p:cNvPr id="17" name="Text 15"/>
          <p:cNvSpPr txBox="1"/>
          <p:nvPr/>
        </p:nvSpPr>
        <p:spPr>
          <a:xfrm>
            <a:off x="502920" y="2679192"/>
            <a:ext cx="192024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非可逆圧縮</a:t>
            </a:r>
            <a:endParaRPr lang="en-US" sz="1050" dirty="0"/>
          </a:p>
        </p:txBody>
      </p:sp>
      <p:sp>
        <p:nvSpPr>
          <p:cNvPr id="18" name="Shape 16"/>
          <p:cNvSpPr/>
          <p:nvPr/>
        </p:nvSpPr>
        <p:spPr>
          <a:xfrm>
            <a:off x="2404872" y="2679192"/>
            <a:ext cx="0" cy="256032"/>
          </a:xfrm>
          <a:prstGeom prst="line">
            <a:avLst/>
          </a:prstGeom>
          <a:noFill/>
          <a:ln w="12700">
            <a:solidFill>
              <a:srgbClr val="E6E6E6"/>
            </a:solidFill>
            <a:prstDash val="solid"/>
          </a:ln>
        </p:spPr>
      </p:sp>
      <p:sp>
        <p:nvSpPr>
          <p:cNvPr id="19" name="Text 17"/>
          <p:cNvSpPr txBox="1"/>
          <p:nvPr/>
        </p:nvSpPr>
        <p:spPr>
          <a:xfrm>
            <a:off x="2560320" y="2679192"/>
            <a:ext cx="914400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情報を間引き高圧縮率を実現、元に戻せない（例：JPEG、MP3）</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「JPEGは可逆圧縮」は誤り。「ユーザビリティが高ければアクセシビリティも自動的に満たされる」も誤り。</a:t>
            </a:r>
            <a:endParaRPr lang="en-US" sz="950" dirty="0"/>
          </a:p>
        </p:txBody>
      </p:sp>
      <p:sp>
        <p:nvSpPr>
          <p:cNvPr id="22" name="Text 20"/>
          <p:cNvSpPr txBox="1"/>
          <p:nvPr/>
        </p:nvSpPr>
        <p:spPr>
          <a:xfrm>
            <a:off x="502920" y="3703320"/>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通販サイトを運営するC社は商品写真をJPEG形式（非可逆圧縮）で軽量化しつつ、視覚に障がいのある利用者のために画像へ代替テキストを設定し、ユーザビリティとアクセシビリティの両方に配慮している。</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関連：F-15 情報システムの適用領域（Webシステムのユーザ体験設計）。</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F-8 ／ 外部情報資源の活用（クラウド、OSS）</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SaaSは開発ではなく既製アプリの利用</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SaaS/PaaS/IaaSは「どこまで自分で管理するか」の範囲で区別する。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2801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SaaS</a:t>
            </a:r>
            <a:endParaRPr lang="en-US" sz="1500" dirty="0"/>
          </a:p>
        </p:txBody>
      </p:sp>
      <p:sp>
        <p:nvSpPr>
          <p:cNvPr id="9" name="Text 7"/>
          <p:cNvSpPr txBox="1"/>
          <p:nvPr/>
        </p:nvSpPr>
        <p:spPr>
          <a:xfrm>
            <a:off x="1874520" y="1856232"/>
            <a:ext cx="98298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アプリケーションソフトそのものを提供。利用者はデータの入力・利用のみ</a:t>
            </a:r>
            <a:endParaRPr lang="en-US" sz="1100" dirty="0"/>
          </a:p>
        </p:txBody>
      </p:sp>
      <p:sp>
        <p:nvSpPr>
          <p:cNvPr id="10" name="Shape 8"/>
          <p:cNvSpPr/>
          <p:nvPr/>
        </p:nvSpPr>
        <p:spPr>
          <a:xfrm>
            <a:off x="502920" y="2606040"/>
            <a:ext cx="11201400" cy="0"/>
          </a:xfrm>
          <a:prstGeom prst="line">
            <a:avLst/>
          </a:prstGeom>
          <a:noFill/>
          <a:ln w="12700">
            <a:solidFill>
              <a:srgbClr val="E6E6E6"/>
            </a:solidFill>
            <a:prstDash val="solid"/>
          </a:ln>
        </p:spPr>
      </p:sp>
      <p:sp>
        <p:nvSpPr>
          <p:cNvPr id="11" name="Text 9"/>
          <p:cNvSpPr txBox="1"/>
          <p:nvPr/>
        </p:nvSpPr>
        <p:spPr>
          <a:xfrm>
            <a:off x="502920" y="2715768"/>
            <a:ext cx="12801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PaaS</a:t>
            </a:r>
            <a:endParaRPr lang="en-US" sz="1500" dirty="0"/>
          </a:p>
        </p:txBody>
      </p:sp>
      <p:sp>
        <p:nvSpPr>
          <p:cNvPr id="12" name="Text 10"/>
          <p:cNvSpPr txBox="1"/>
          <p:nvPr/>
        </p:nvSpPr>
        <p:spPr>
          <a:xfrm>
            <a:off x="1874520" y="2679192"/>
            <a:ext cx="98298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開発・実行の基盤（OS・DB等）を提供。利用者は自社アプリを用意</a:t>
            </a:r>
            <a:endParaRPr lang="en-US" sz="1100" dirty="0"/>
          </a:p>
        </p:txBody>
      </p:sp>
      <p:sp>
        <p:nvSpPr>
          <p:cNvPr id="13" name="Shape 11"/>
          <p:cNvSpPr/>
          <p:nvPr/>
        </p:nvSpPr>
        <p:spPr>
          <a:xfrm>
            <a:off x="502920" y="3429000"/>
            <a:ext cx="11201400" cy="0"/>
          </a:xfrm>
          <a:prstGeom prst="line">
            <a:avLst/>
          </a:prstGeom>
          <a:noFill/>
          <a:ln w="12700">
            <a:solidFill>
              <a:srgbClr val="E6E6E6"/>
            </a:solidFill>
            <a:prstDash val="solid"/>
          </a:ln>
        </p:spPr>
      </p:sp>
      <p:sp>
        <p:nvSpPr>
          <p:cNvPr id="14" name="Text 12"/>
          <p:cNvSpPr txBox="1"/>
          <p:nvPr/>
        </p:nvSpPr>
        <p:spPr>
          <a:xfrm>
            <a:off x="502920" y="3538728"/>
            <a:ext cx="12801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IaaS</a:t>
            </a:r>
            <a:endParaRPr lang="en-US" sz="1500" dirty="0"/>
          </a:p>
        </p:txBody>
      </p:sp>
      <p:sp>
        <p:nvSpPr>
          <p:cNvPr id="15" name="Text 13"/>
          <p:cNvSpPr txBox="1"/>
          <p:nvPr/>
        </p:nvSpPr>
        <p:spPr>
          <a:xfrm>
            <a:off x="1874520" y="3502152"/>
            <a:ext cx="98298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サーバ・ストレージ等インフラのみ提供。利用者がOS以上すべて管理</a:t>
            </a:r>
            <a:endParaRPr lang="en-US" sz="1100" dirty="0"/>
          </a:p>
        </p:txBody>
      </p:sp>
      <p:sp>
        <p:nvSpPr>
          <p:cNvPr id="16" name="Shape 14"/>
          <p:cNvSpPr/>
          <p:nvPr/>
        </p:nvSpPr>
        <p:spPr>
          <a:xfrm>
            <a:off x="502920" y="4251960"/>
            <a:ext cx="11201400" cy="0"/>
          </a:xfrm>
          <a:prstGeom prst="line">
            <a:avLst/>
          </a:prstGeom>
          <a:noFill/>
          <a:ln w="12700">
            <a:solidFill>
              <a:srgbClr val="E6E6E6"/>
            </a:solidFill>
            <a:prstDash val="solid"/>
          </a:ln>
        </p:spPr>
      </p:sp>
      <p:sp>
        <p:nvSpPr>
          <p:cNvPr id="17" name="Text 15"/>
          <p:cNvSpPr txBox="1"/>
          <p:nvPr/>
        </p:nvSpPr>
        <p:spPr>
          <a:xfrm>
            <a:off x="502920" y="4361688"/>
            <a:ext cx="128016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OSS</a:t>
            </a:r>
            <a:endParaRPr lang="en-US" sz="1500" dirty="0"/>
          </a:p>
        </p:txBody>
      </p:sp>
      <p:sp>
        <p:nvSpPr>
          <p:cNvPr id="18" name="Text 16"/>
          <p:cNvSpPr txBox="1"/>
          <p:nvPr/>
        </p:nvSpPr>
        <p:spPr>
          <a:xfrm>
            <a:off x="1874520" y="4325112"/>
            <a:ext cx="98298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ソースコード公開。ライセンス条件下で改変・再配布が可能なことが多い</a:t>
            </a:r>
            <a:endParaRPr lang="en-US" sz="1100" dirty="0"/>
          </a:p>
        </p:txBody>
      </p:sp>
      <p:sp>
        <p:nvSpPr>
          <p:cNvPr id="19" name="Text 17"/>
          <p:cNvSpPr txBox="1"/>
          <p:nvPr/>
        </p:nvSpPr>
        <p:spPr>
          <a:xfrm>
            <a:off x="502920" y="5148072"/>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中小企業G社は自社でメールサーバを構築する代わりにクラウド型メールサービス（SaaS）を利用し、独自の業務アプリを開発する際は開発基盤が整ったPaaSを利用することで、サーバの保守負担を大きく減らしている。</a:t>
            </a:r>
            <a:endParaRPr lang="en-US" sz="850" dirty="0"/>
          </a:p>
        </p:txBody>
      </p:sp>
      <p:sp>
        <p:nvSpPr>
          <p:cNvPr id="20" name="Shape 18"/>
          <p:cNvSpPr/>
          <p:nvPr/>
        </p:nvSpPr>
        <p:spPr>
          <a:xfrm>
            <a:off x="502920" y="5998464"/>
            <a:ext cx="11201400" cy="0"/>
          </a:xfrm>
          <a:prstGeom prst="line">
            <a:avLst/>
          </a:prstGeom>
          <a:noFill/>
          <a:ln w="9525">
            <a:solidFill>
              <a:srgbClr val="171717"/>
            </a:solidFill>
            <a:prstDash val="solid"/>
          </a:ln>
        </p:spPr>
      </p:sp>
      <p:sp>
        <p:nvSpPr>
          <p:cNvPr id="21" name="Shape 19"/>
          <p:cNvSpPr/>
          <p:nvPr/>
        </p:nvSpPr>
        <p:spPr>
          <a:xfrm>
            <a:off x="502920" y="6071616"/>
            <a:ext cx="329184" cy="329184"/>
          </a:xfrm>
          <a:prstGeom prst="ellipse">
            <a:avLst/>
          </a:prstGeom>
          <a:solidFill>
            <a:srgbClr val="FF3B1F"/>
          </a:solidFill>
          <a:ln/>
        </p:spPr>
      </p:sp>
      <p:sp>
        <p:nvSpPr>
          <p:cNvPr id="22" name="Text 20"/>
          <p:cNvSpPr txBox="1"/>
          <p:nvPr/>
        </p:nvSpPr>
        <p:spPr>
          <a:xfrm>
            <a:off x="502920" y="6071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71616"/>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71616"/>
            <a:ext cx="0" cy="329184"/>
          </a:xfrm>
          <a:prstGeom prst="line">
            <a:avLst/>
          </a:prstGeom>
          <a:noFill/>
          <a:ln w="12700">
            <a:solidFill>
              <a:srgbClr val="E6E6E6"/>
            </a:solidFill>
            <a:prstDash val="solid"/>
          </a:ln>
        </p:spPr>
      </p:sp>
      <p:sp>
        <p:nvSpPr>
          <p:cNvPr id="25" name="Text 23"/>
          <p:cNvSpPr txBox="1"/>
          <p:nvPr/>
        </p:nvSpPr>
        <p:spPr>
          <a:xfrm>
            <a:off x="2514600" y="6053328"/>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ひっかけ：「SaaSは利用者が自らアプリを開発して稼働させる」はPaaSの説明で誤り。OSSは改変・再配布が一律禁止ではない。</a:t>
            </a:r>
            <a:endParaRPr lang="en-US" sz="1000" dirty="0"/>
          </a:p>
        </p:txBody>
      </p:sp>
      <p:sp>
        <p:nvSpPr>
          <p:cNvPr id="26" name="Text 24"/>
          <p:cNvSpPr txBox="1"/>
          <p:nvPr/>
        </p:nvSpPr>
        <p:spPr>
          <a:xfrm>
            <a:off x="502920" y="6473952"/>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73952"/>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73952"/>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73952"/>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73952"/>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73952"/>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73952"/>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73952"/>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73952"/>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73952"/>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73952"/>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F-9 ／ データベースの種類と構成、DBMS（正規化）</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主キーが単一属性なら第2正規形は自動的にクリア</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正規化は1NF→2NF→3NFの順に、重複・矛盾のリスクを段階的に排除する。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868680"/>
          </a:xfrm>
          <a:prstGeom prst="rect">
            <a:avLst/>
          </a:prstGeom>
          <a:noFill/>
          <a:ln/>
        </p:spPr>
        <p:txBody>
          <a:bodyPr wrap="square" lIns="0" tIns="0" rIns="0" bIns="0" rtlCol="0" anchor="ctr"/>
          <a:lstStyle/>
          <a:p>
            <a:pPr indent="0" marL="0">
              <a:lnSpc>
                <a:spcPct val="130000"/>
              </a:lnSpc>
              <a:buNone/>
            </a:pPr>
            <a:r>
              <a:rPr lang="en-US" sz="1000" dirty="0">
                <a:solidFill>
                  <a:srgbClr val="8A8A8A"/>
                </a:solidFill>
                <a:latin typeface="Yu Gothic" pitchFamily="34" charset="0"/>
                <a:ea typeface="Yu Gothic" pitchFamily="34" charset="-122"/>
                <a:cs typeface="Yu Gothic" pitchFamily="34" charset="-120"/>
              </a:rPr>
              <a:t>正規化はデータの重複や更新時の矛盾を防ぐため、表を第1正規形から第3正規形へと段階的に整理する手続き。右図のとおり、後の段階に進むほどより厳密な条件をクリアする必要がある。</a:t>
            </a:r>
            <a:endParaRPr lang="en-US" sz="1000" dirty="0"/>
          </a:p>
        </p:txBody>
      </p:sp>
      <p:sp>
        <p:nvSpPr>
          <p:cNvPr id="9" name="Text 7"/>
          <p:cNvSpPr txBox="1"/>
          <p:nvPr/>
        </p:nvSpPr>
        <p:spPr>
          <a:xfrm>
            <a:off x="502920" y="2651760"/>
            <a:ext cx="1691640" cy="329184"/>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第1正規形</a:t>
            </a:r>
            <a:endParaRPr lang="en-US" sz="950" dirty="0"/>
          </a:p>
        </p:txBody>
      </p:sp>
      <p:sp>
        <p:nvSpPr>
          <p:cNvPr id="10" name="Shape 8"/>
          <p:cNvSpPr/>
          <p:nvPr/>
        </p:nvSpPr>
        <p:spPr>
          <a:xfrm>
            <a:off x="2176272" y="2651760"/>
            <a:ext cx="0" cy="256032"/>
          </a:xfrm>
          <a:prstGeom prst="line">
            <a:avLst/>
          </a:prstGeom>
          <a:noFill/>
          <a:ln w="12700">
            <a:solidFill>
              <a:srgbClr val="E6E6E6"/>
            </a:solidFill>
            <a:prstDash val="solid"/>
          </a:ln>
        </p:spPr>
      </p:sp>
      <p:sp>
        <p:nvSpPr>
          <p:cNvPr id="11" name="Text 9"/>
          <p:cNvSpPr txBox="1"/>
          <p:nvPr/>
        </p:nvSpPr>
        <p:spPr>
          <a:xfrm>
            <a:off x="2331720" y="2651760"/>
            <a:ext cx="4937760" cy="329184"/>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各セルに単一の値のみ。繰り返し項目がない</a:t>
            </a:r>
            <a:endParaRPr lang="en-US" sz="950" dirty="0"/>
          </a:p>
        </p:txBody>
      </p:sp>
      <p:sp>
        <p:nvSpPr>
          <p:cNvPr id="12" name="Text 10"/>
          <p:cNvSpPr txBox="1"/>
          <p:nvPr/>
        </p:nvSpPr>
        <p:spPr>
          <a:xfrm>
            <a:off x="502920" y="2999232"/>
            <a:ext cx="1691640" cy="329184"/>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第2正規形</a:t>
            </a:r>
            <a:endParaRPr lang="en-US" sz="950" dirty="0"/>
          </a:p>
        </p:txBody>
      </p:sp>
      <p:sp>
        <p:nvSpPr>
          <p:cNvPr id="13" name="Shape 11"/>
          <p:cNvSpPr/>
          <p:nvPr/>
        </p:nvSpPr>
        <p:spPr>
          <a:xfrm>
            <a:off x="2176272" y="2999232"/>
            <a:ext cx="0" cy="256032"/>
          </a:xfrm>
          <a:prstGeom prst="line">
            <a:avLst/>
          </a:prstGeom>
          <a:noFill/>
          <a:ln w="12700">
            <a:solidFill>
              <a:srgbClr val="E6E6E6"/>
            </a:solidFill>
            <a:prstDash val="solid"/>
          </a:ln>
        </p:spPr>
      </p:sp>
      <p:sp>
        <p:nvSpPr>
          <p:cNvPr id="14" name="Text 12"/>
          <p:cNvSpPr txBox="1"/>
          <p:nvPr/>
        </p:nvSpPr>
        <p:spPr>
          <a:xfrm>
            <a:off x="2331720" y="2999232"/>
            <a:ext cx="4937760" cy="329184"/>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非キー属性が主キーの一部にのみ依存する状態（部分関数従属）がない</a:t>
            </a:r>
            <a:endParaRPr lang="en-US" sz="950" dirty="0"/>
          </a:p>
        </p:txBody>
      </p:sp>
      <p:sp>
        <p:nvSpPr>
          <p:cNvPr id="15" name="Text 13"/>
          <p:cNvSpPr txBox="1"/>
          <p:nvPr/>
        </p:nvSpPr>
        <p:spPr>
          <a:xfrm>
            <a:off x="502920" y="3346704"/>
            <a:ext cx="1691640" cy="329184"/>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第3正規形</a:t>
            </a:r>
            <a:endParaRPr lang="en-US" sz="950" dirty="0"/>
          </a:p>
        </p:txBody>
      </p:sp>
      <p:sp>
        <p:nvSpPr>
          <p:cNvPr id="16" name="Shape 14"/>
          <p:cNvSpPr/>
          <p:nvPr/>
        </p:nvSpPr>
        <p:spPr>
          <a:xfrm>
            <a:off x="2176272" y="3346704"/>
            <a:ext cx="0" cy="256032"/>
          </a:xfrm>
          <a:prstGeom prst="line">
            <a:avLst/>
          </a:prstGeom>
          <a:noFill/>
          <a:ln w="12700">
            <a:solidFill>
              <a:srgbClr val="E6E6E6"/>
            </a:solidFill>
            <a:prstDash val="solid"/>
          </a:ln>
        </p:spPr>
      </p:sp>
      <p:sp>
        <p:nvSpPr>
          <p:cNvPr id="17" name="Text 15"/>
          <p:cNvSpPr txBox="1"/>
          <p:nvPr/>
        </p:nvSpPr>
        <p:spPr>
          <a:xfrm>
            <a:off x="2331720" y="3346704"/>
            <a:ext cx="4937760" cy="329184"/>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非キー属性同士が間接的に決まる関係（推移的関数従属）がない</a:t>
            </a:r>
            <a:endParaRPr lang="en-US" sz="950" dirty="0"/>
          </a:p>
        </p:txBody>
      </p:sp>
      <p:sp>
        <p:nvSpPr>
          <p:cNvPr id="18" name="Text 16"/>
          <p:cNvSpPr txBox="1"/>
          <p:nvPr/>
        </p:nvSpPr>
        <p:spPr>
          <a:xfrm>
            <a:off x="502920" y="3694176"/>
            <a:ext cx="1691640" cy="329184"/>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ACID特性</a:t>
            </a:r>
            <a:endParaRPr lang="en-US" sz="950" dirty="0"/>
          </a:p>
        </p:txBody>
      </p:sp>
      <p:sp>
        <p:nvSpPr>
          <p:cNvPr id="19" name="Shape 17"/>
          <p:cNvSpPr/>
          <p:nvPr/>
        </p:nvSpPr>
        <p:spPr>
          <a:xfrm>
            <a:off x="2176272" y="3694176"/>
            <a:ext cx="0" cy="256032"/>
          </a:xfrm>
          <a:prstGeom prst="line">
            <a:avLst/>
          </a:prstGeom>
          <a:noFill/>
          <a:ln w="12700">
            <a:solidFill>
              <a:srgbClr val="E6E6E6"/>
            </a:solidFill>
            <a:prstDash val="solid"/>
          </a:ln>
        </p:spPr>
      </p:sp>
      <p:sp>
        <p:nvSpPr>
          <p:cNvPr id="20" name="Text 18"/>
          <p:cNvSpPr txBox="1"/>
          <p:nvPr/>
        </p:nvSpPr>
        <p:spPr>
          <a:xfrm>
            <a:off x="2331720" y="3694176"/>
            <a:ext cx="4937760" cy="329184"/>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原子性・一貫性・独立性・永続性。トランザクションが満たすべき4性質</a:t>
            </a:r>
            <a:endParaRPr lang="en-US" sz="950" dirty="0"/>
          </a:p>
        </p:txBody>
      </p:sp>
      <p:sp>
        <p:nvSpPr>
          <p:cNvPr id="21" name="Shape 19"/>
          <p:cNvSpPr/>
          <p:nvPr/>
        </p:nvSpPr>
        <p:spPr>
          <a:xfrm>
            <a:off x="502920" y="4114800"/>
            <a:ext cx="6766560" cy="0"/>
          </a:xfrm>
          <a:prstGeom prst="line">
            <a:avLst/>
          </a:prstGeom>
          <a:noFill/>
          <a:ln w="12700">
            <a:solidFill>
              <a:srgbClr val="E6E6E6"/>
            </a:solidFill>
            <a:prstDash val="solid"/>
          </a:ln>
        </p:spPr>
      </p:sp>
      <p:sp>
        <p:nvSpPr>
          <p:cNvPr id="22" name="Text 20"/>
          <p:cNvSpPr txBox="1"/>
          <p:nvPr/>
        </p:nvSpPr>
        <p:spPr>
          <a:xfrm>
            <a:off x="502920" y="4187952"/>
            <a:ext cx="676656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主キーが単一属性の表は第1正規形なら自動的に第2正規形も満たす（部分関数従属は複合キーでのみ発生）。</a:t>
            </a:r>
            <a:endParaRPr lang="en-US" sz="950" dirty="0"/>
          </a:p>
        </p:txBody>
      </p:sp>
      <p:sp>
        <p:nvSpPr>
          <p:cNvPr id="23" name="Shape 21"/>
          <p:cNvSpPr/>
          <p:nvPr/>
        </p:nvSpPr>
        <p:spPr>
          <a:xfrm>
            <a:off x="7543800" y="1737360"/>
            <a:ext cx="3703320" cy="1085088"/>
          </a:xfrm>
          <a:prstGeom prst="rect">
            <a:avLst/>
          </a:prstGeom>
          <a:solidFill>
            <a:srgbClr val="F4F4F4"/>
          </a:solidFill>
          <a:ln w="12700">
            <a:solidFill>
              <a:srgbClr val="E6E6E6"/>
            </a:solidFill>
            <a:prstDash val="solid"/>
          </a:ln>
        </p:spPr>
      </p:sp>
      <p:sp>
        <p:nvSpPr>
          <p:cNvPr id="24" name="Text 22"/>
          <p:cNvSpPr txBox="1"/>
          <p:nvPr/>
        </p:nvSpPr>
        <p:spPr>
          <a:xfrm>
            <a:off x="7543800" y="1737360"/>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1NF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第1正規形</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繰り返し項目を排除</a:t>
            </a:r>
            <a:endParaRPr lang="en-US" sz="900" dirty="0"/>
          </a:p>
        </p:txBody>
      </p:sp>
      <p:sp>
        <p:nvSpPr>
          <p:cNvPr id="25" name="Text 23"/>
          <p:cNvSpPr txBox="1"/>
          <p:nvPr/>
        </p:nvSpPr>
        <p:spPr>
          <a:xfrm>
            <a:off x="7543800" y="2822448"/>
            <a:ext cx="370332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6" name="Shape 24"/>
          <p:cNvSpPr/>
          <p:nvPr/>
        </p:nvSpPr>
        <p:spPr>
          <a:xfrm>
            <a:off x="7543800" y="3023616"/>
            <a:ext cx="3703320" cy="1085088"/>
          </a:xfrm>
          <a:prstGeom prst="rect">
            <a:avLst/>
          </a:prstGeom>
          <a:solidFill>
            <a:srgbClr val="F4F4F4"/>
          </a:solidFill>
          <a:ln w="12700">
            <a:solidFill>
              <a:srgbClr val="E6E6E6"/>
            </a:solidFill>
            <a:prstDash val="solid"/>
          </a:ln>
        </p:spPr>
      </p:sp>
      <p:sp>
        <p:nvSpPr>
          <p:cNvPr id="27" name="Text 25"/>
          <p:cNvSpPr txBox="1"/>
          <p:nvPr/>
        </p:nvSpPr>
        <p:spPr>
          <a:xfrm>
            <a:off x="7543800" y="3023616"/>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2NF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第2正規形</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部分関数従属を排除</a:t>
            </a:r>
            <a:endParaRPr lang="en-US" sz="900" dirty="0"/>
          </a:p>
        </p:txBody>
      </p:sp>
      <p:sp>
        <p:nvSpPr>
          <p:cNvPr id="28" name="Text 26"/>
          <p:cNvSpPr txBox="1"/>
          <p:nvPr/>
        </p:nvSpPr>
        <p:spPr>
          <a:xfrm>
            <a:off x="7543800" y="4108704"/>
            <a:ext cx="370332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9" name="Shape 27"/>
          <p:cNvSpPr/>
          <p:nvPr/>
        </p:nvSpPr>
        <p:spPr>
          <a:xfrm>
            <a:off x="7543800" y="4309872"/>
            <a:ext cx="3703320" cy="1085088"/>
          </a:xfrm>
          <a:prstGeom prst="rect">
            <a:avLst/>
          </a:prstGeom>
          <a:solidFill>
            <a:srgbClr val="F4F4F4"/>
          </a:solidFill>
          <a:ln w="12700">
            <a:solidFill>
              <a:srgbClr val="E6E6E6"/>
            </a:solidFill>
            <a:prstDash val="solid"/>
          </a:ln>
        </p:spPr>
      </p:sp>
      <p:sp>
        <p:nvSpPr>
          <p:cNvPr id="30" name="Text 28"/>
          <p:cNvSpPr txBox="1"/>
          <p:nvPr/>
        </p:nvSpPr>
        <p:spPr>
          <a:xfrm>
            <a:off x="7543800" y="4309872"/>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3NF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第3正規形</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推移的関数従属を排除</a:t>
            </a:r>
            <a:endParaRPr lang="en-US" sz="900" dirty="0"/>
          </a:p>
        </p:txBody>
      </p:sp>
      <p:sp>
        <p:nvSpPr>
          <p:cNvPr id="31" name="Shape 29"/>
          <p:cNvSpPr/>
          <p:nvPr/>
        </p:nvSpPr>
        <p:spPr>
          <a:xfrm>
            <a:off x="502920" y="5989320"/>
            <a:ext cx="11201400" cy="0"/>
          </a:xfrm>
          <a:prstGeom prst="line">
            <a:avLst/>
          </a:prstGeom>
          <a:noFill/>
          <a:ln w="9525">
            <a:solidFill>
              <a:srgbClr val="171717"/>
            </a:solidFill>
            <a:prstDash val="solid"/>
          </a:ln>
        </p:spPr>
      </p:sp>
      <p:sp>
        <p:nvSpPr>
          <p:cNvPr id="32" name="Shape 30"/>
          <p:cNvSpPr/>
          <p:nvPr/>
        </p:nvSpPr>
        <p:spPr>
          <a:xfrm>
            <a:off x="502920" y="6062472"/>
            <a:ext cx="329184" cy="329184"/>
          </a:xfrm>
          <a:prstGeom prst="ellipse">
            <a:avLst/>
          </a:prstGeom>
          <a:solidFill>
            <a:srgbClr val="FF3B1F"/>
          </a:solidFill>
          <a:ln/>
        </p:spPr>
      </p:sp>
      <p:sp>
        <p:nvSpPr>
          <p:cNvPr id="33" name="Text 3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4" name="Text 3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5" name="Shape 33"/>
          <p:cNvSpPr/>
          <p:nvPr/>
        </p:nvSpPr>
        <p:spPr>
          <a:xfrm>
            <a:off x="2331720" y="6062472"/>
            <a:ext cx="0" cy="329184"/>
          </a:xfrm>
          <a:prstGeom prst="line">
            <a:avLst/>
          </a:prstGeom>
          <a:noFill/>
          <a:ln w="12700">
            <a:solidFill>
              <a:srgbClr val="E6E6E6"/>
            </a:solidFill>
            <a:prstDash val="solid"/>
          </a:ln>
        </p:spPr>
      </p:sp>
      <p:sp>
        <p:nvSpPr>
          <p:cNvPr id="36" name="Text 3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関連：F-3 プログラム設計（データ構造の基礎知識）。</a:t>
            </a:r>
            <a:endParaRPr lang="en-US" sz="1000" dirty="0"/>
          </a:p>
        </p:txBody>
      </p:sp>
      <p:sp>
        <p:nvSpPr>
          <p:cNvPr id="37" name="Text 3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8" name="Shape 36"/>
          <p:cNvSpPr/>
          <p:nvPr/>
        </p:nvSpPr>
        <p:spPr>
          <a:xfrm>
            <a:off x="246659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40" name="Shape 38"/>
          <p:cNvSpPr/>
          <p:nvPr/>
        </p:nvSpPr>
        <p:spPr>
          <a:xfrm>
            <a:off x="3431286"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42" name="Shape 40"/>
          <p:cNvSpPr/>
          <p:nvPr/>
        </p:nvSpPr>
        <p:spPr>
          <a:xfrm>
            <a:off x="439597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4" name="Shape 42"/>
          <p:cNvSpPr/>
          <p:nvPr/>
        </p:nvSpPr>
        <p:spPr>
          <a:xfrm>
            <a:off x="536067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6" name="Shape 44"/>
          <p:cNvSpPr/>
          <p:nvPr/>
        </p:nvSpPr>
        <p:spPr>
          <a:xfrm>
            <a:off x="632536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8" name="Shape 46"/>
          <p:cNvSpPr/>
          <p:nvPr/>
        </p:nvSpPr>
        <p:spPr>
          <a:xfrm>
            <a:off x="7290054"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50" name="Shape 48"/>
          <p:cNvSpPr/>
          <p:nvPr/>
        </p:nvSpPr>
        <p:spPr>
          <a:xfrm>
            <a:off x="8254746"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2" name="Shape 50"/>
          <p:cNvSpPr/>
          <p:nvPr/>
        </p:nvSpPr>
        <p:spPr>
          <a:xfrm>
            <a:off x="9219438"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4" name="Shape 52"/>
          <p:cNvSpPr/>
          <p:nvPr/>
        </p:nvSpPr>
        <p:spPr>
          <a:xfrm>
            <a:off x="10184130" y="6464808"/>
            <a:ext cx="146304" cy="146304"/>
          </a:xfrm>
          <a:prstGeom prst="ellipse">
            <a:avLst/>
          </a:prstGeom>
          <a:solidFill>
            <a:srgbClr val="FF3B1F"/>
          </a:solidFill>
          <a:ln w="12700">
            <a:solidFill>
              <a:srgbClr val="FF3B1F"/>
            </a:solidFill>
            <a:prstDash val="solid"/>
          </a:ln>
        </p:spPr>
      </p:sp>
      <p:sp>
        <p:nvSpPr>
          <p:cNvPr id="55" name="Text 5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6" name="Shape 54"/>
          <p:cNvSpPr/>
          <p:nvPr/>
        </p:nvSpPr>
        <p:spPr>
          <a:xfrm>
            <a:off x="11148822" y="6464808"/>
            <a:ext cx="146304" cy="146304"/>
          </a:xfrm>
          <a:prstGeom prst="ellipse">
            <a:avLst/>
          </a:prstGeom>
          <a:solidFill>
            <a:srgbClr val="FF3B1F"/>
          </a:solidFill>
          <a:ln w="12700">
            <a:solidFill>
              <a:srgbClr val="FF3B1F"/>
            </a:solidFill>
            <a:prstDash val="solid"/>
          </a:ln>
        </p:spPr>
      </p:sp>
      <p:sp>
        <p:nvSpPr>
          <p:cNvPr id="57" name="Text 5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0058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ある学校における開講講座の一覧表（主キー：開講コード。講座コード・講座名・講師コード・講師が列にあり、同一講座を複数の開講コードで開講し、講師は開講コードの異なる同一名の講座を担当することがある）に関する正規化の観点からの記述の正誤の組み合わせとして、最も適切なものを下記の解答群から選べ。ａ：第1正規形である。ｂ：第2正規形である。ｃ：第3正規形である。</a:t>
            </a:r>
            <a:endParaRPr lang="en-US" sz="1250" dirty="0"/>
          </a:p>
        </p:txBody>
      </p:sp>
      <p:sp>
        <p:nvSpPr>
          <p:cNvPr id="9" name="Text 7"/>
          <p:cNvSpPr txBox="1"/>
          <p:nvPr/>
        </p:nvSpPr>
        <p:spPr>
          <a:xfrm>
            <a:off x="731520" y="278892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ｃ：正</a:t>
            </a:r>
            <a:endParaRPr lang="en-US" sz="1150" dirty="0"/>
          </a:p>
        </p:txBody>
      </p:sp>
      <p:sp>
        <p:nvSpPr>
          <p:cNvPr id="10" name="Text 8"/>
          <p:cNvSpPr txBox="1"/>
          <p:nvPr/>
        </p:nvSpPr>
        <p:spPr>
          <a:xfrm>
            <a:off x="731520" y="317296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ｃ：誤</a:t>
            </a:r>
            <a:endParaRPr lang="en-US" sz="1150" dirty="0"/>
          </a:p>
        </p:txBody>
      </p:sp>
      <p:sp>
        <p:nvSpPr>
          <p:cNvPr id="11" name="Text 9"/>
          <p:cNvSpPr txBox="1"/>
          <p:nvPr/>
        </p:nvSpPr>
        <p:spPr>
          <a:xfrm>
            <a:off x="731520" y="355701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ｃ：正</a:t>
            </a:r>
            <a:endParaRPr lang="en-US" sz="1150" dirty="0"/>
          </a:p>
        </p:txBody>
      </p:sp>
      <p:sp>
        <p:nvSpPr>
          <p:cNvPr id="12" name="Text 10"/>
          <p:cNvSpPr txBox="1"/>
          <p:nvPr/>
        </p:nvSpPr>
        <p:spPr>
          <a:xfrm>
            <a:off x="731520" y="394106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ｃ：誤</a:t>
            </a:r>
            <a:endParaRPr lang="en-US" sz="1150" dirty="0"/>
          </a:p>
        </p:txBody>
      </p:sp>
      <p:sp>
        <p:nvSpPr>
          <p:cNvPr id="13" name="Text 11"/>
          <p:cNvSpPr txBox="1"/>
          <p:nvPr/>
        </p:nvSpPr>
        <p:spPr>
          <a:xfrm>
            <a:off x="731520" y="432511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ｃ：誤</a:t>
            </a:r>
            <a:endParaRPr lang="en-US" sz="1150" dirty="0"/>
          </a:p>
        </p:txBody>
      </p:sp>
      <p:sp>
        <p:nvSpPr>
          <p:cNvPr id="14" name="Text 12"/>
          <p:cNvSpPr txBox="1"/>
          <p:nvPr/>
        </p:nvSpPr>
        <p:spPr>
          <a:xfrm>
            <a:off x="502920" y="48463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出典：past_exams/1st_stage/1ji2025/F1JI2025.pdf（令和7年度第1次試験）第11問</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正解はイ。単一属性の主キーなら第2正規形は自動的にクリアする。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ｃ：正</a:t>
            </a:r>
            <a:endParaRPr lang="en-US" sz="1150" dirty="0"/>
          </a:p>
        </p:txBody>
      </p:sp>
      <p:sp>
        <p:nvSpPr>
          <p:cNvPr id="9" name="Shape 7"/>
          <p:cNvSpPr/>
          <p:nvPr/>
        </p:nvSpPr>
        <p:spPr>
          <a:xfrm>
            <a:off x="502920" y="2093976"/>
            <a:ext cx="11201400" cy="384048"/>
          </a:xfrm>
          <a:prstGeom prst="rect">
            <a:avLst/>
          </a:prstGeom>
          <a:solidFill>
            <a:srgbClr val="F4F4F4"/>
          </a:solidFill>
          <a:ln/>
        </p:spPr>
      </p:sp>
      <p:sp>
        <p:nvSpPr>
          <p:cNvPr id="10" name="Shape 8"/>
          <p:cNvSpPr/>
          <p:nvPr/>
        </p:nvSpPr>
        <p:spPr>
          <a:xfrm>
            <a:off x="502920" y="2093976"/>
            <a:ext cx="0" cy="384048"/>
          </a:xfrm>
          <a:prstGeom prst="line">
            <a:avLst/>
          </a:prstGeom>
          <a:noFill/>
          <a:ln w="38100">
            <a:solidFill>
              <a:srgbClr val="FF3B1F"/>
            </a:solidFill>
            <a:prstDash val="solid"/>
          </a:ln>
        </p:spPr>
      </p:sp>
      <p:sp>
        <p:nvSpPr>
          <p:cNvPr id="11" name="Text 9"/>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ｃ：誤</a:t>
            </a:r>
            <a:endParaRPr lang="en-US" sz="1150" dirty="0"/>
          </a:p>
        </p:txBody>
      </p:sp>
      <p:sp>
        <p:nvSpPr>
          <p:cNvPr id="12" name="Text 10"/>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ｃ：正</a:t>
            </a:r>
            <a:endParaRPr lang="en-US" sz="1150" dirty="0"/>
          </a:p>
        </p:txBody>
      </p:sp>
      <p:sp>
        <p:nvSpPr>
          <p:cNvPr id="13" name="Text 11"/>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ｃ：誤</a:t>
            </a:r>
            <a:endParaRPr lang="en-US" sz="1150" dirty="0"/>
          </a:p>
        </p:txBody>
      </p:sp>
      <p:sp>
        <p:nvSpPr>
          <p:cNvPr id="14" name="Text 12"/>
          <p:cNvSpPr txBox="1"/>
          <p:nvPr/>
        </p:nvSpPr>
        <p:spPr>
          <a:xfrm>
            <a:off x="731520" y="327355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ｃ：誤</a:t>
            </a:r>
            <a:endParaRPr lang="en-US" sz="1150" dirty="0"/>
          </a:p>
        </p:txBody>
      </p:sp>
      <p:sp>
        <p:nvSpPr>
          <p:cNvPr id="15" name="Shape 13"/>
          <p:cNvSpPr/>
          <p:nvPr/>
        </p:nvSpPr>
        <p:spPr>
          <a:xfrm>
            <a:off x="502920" y="3730752"/>
            <a:ext cx="11201400" cy="0"/>
          </a:xfrm>
          <a:prstGeom prst="line">
            <a:avLst/>
          </a:prstGeom>
          <a:noFill/>
          <a:ln w="12700">
            <a:solidFill>
              <a:srgbClr val="171717"/>
            </a:solidFill>
            <a:prstDash val="solid"/>
          </a:ln>
        </p:spPr>
      </p:sp>
      <p:sp>
        <p:nvSpPr>
          <p:cNvPr id="16" name="Text 14"/>
          <p:cNvSpPr txBox="1"/>
          <p:nvPr/>
        </p:nvSpPr>
        <p:spPr>
          <a:xfrm>
            <a:off x="502920" y="3822192"/>
            <a:ext cx="11201400" cy="777240"/>
          </a:xfrm>
          <a:prstGeom prst="rect">
            <a:avLst/>
          </a:prstGeom>
          <a:noFill/>
          <a:ln/>
        </p:spPr>
        <p:txBody>
          <a:bodyPr wrap="square" lIns="0" tIns="0" rIns="0" bIns="0" rtlCol="0" anchor="ctr"/>
          <a:lstStyle/>
          <a:p>
            <a:pPr indent="0" marL="0">
              <a:lnSpc>
                <a:spcPct val="115000"/>
              </a:lnSpc>
              <a:buNone/>
            </a:pPr>
            <a:r>
              <a:rPr lang="en-US" sz="950" b="1" dirty="0">
                <a:solidFill>
                  <a:srgbClr val="FF3B1F"/>
                </a:solidFill>
                <a:latin typeface="Yu Gothic" pitchFamily="34" charset="0"/>
                <a:ea typeface="Yu Gothic" pitchFamily="34" charset="-122"/>
                <a:cs typeface="Yu Gothic" pitchFamily="34" charset="-120"/>
              </a:rPr>
              <a:t>正解：イ</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ａ（正）：各セルに単一の値のみで繰り返し項目がなく第1正規形を満たす。ｂ（正）：主キーは「開講コード」という単一属性で複合キーではないため部分関数従属が発生しようがなく、第1正規形なら自動的に第2正規形も満たす。ｃ（誤）：「開講コード→講座コード→講座名」「開講コード→講師コード→講師」という</a:t>
            </a:r>
            <a:pPr indent="0" marL="0">
              <a:lnSpc>
                <a:spcPct val="115000"/>
              </a:lnSpc>
              <a:buNone/>
            </a:pPr>
            <a:r>
              <a:rPr lang="en-US" sz="950" b="1" dirty="0">
                <a:solidFill>
                  <a:srgbClr val="171717"/>
                </a:solidFill>
                <a:latin typeface="Yu Gothic" pitchFamily="34" charset="0"/>
                <a:ea typeface="Yu Gothic" pitchFamily="34" charset="-122"/>
                <a:cs typeface="Yu Gothic" pitchFamily="34" charset="-120"/>
              </a:rPr>
              <a:t>推移的関数従属</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が存在するため第3正規形の条件を満たさない。</a:t>
            </a:r>
            <a:endParaRPr lang="en-US" sz="950" dirty="0"/>
          </a:p>
        </p:txBody>
      </p:sp>
      <p:sp>
        <p:nvSpPr>
          <p:cNvPr id="17" name="Text 15"/>
          <p:cNvSpPr txBox="1"/>
          <p:nvPr/>
        </p:nvSpPr>
        <p:spPr>
          <a:xfrm>
            <a:off x="502920" y="4663440"/>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950" dirty="0">
                <a:solidFill>
                  <a:srgbClr val="171717"/>
                </a:solidFill>
                <a:latin typeface="Yu Gothic" pitchFamily="34" charset="0"/>
                <a:ea typeface="Yu Gothic" pitchFamily="34" charset="-122"/>
                <a:cs typeface="Yu Gothic" pitchFamily="34" charset="-120"/>
              </a:rPr>
              <a:t>この表を「開講講座マスタ（講座コード・講座名）」等に分割すれば、講座名の重複入力・更新漏れを防げる（第3正規形への分解）。</a:t>
            </a:r>
            <a:endParaRPr lang="en-US" sz="850" dirty="0"/>
          </a:p>
        </p:txBody>
      </p:sp>
      <p:sp>
        <p:nvSpPr>
          <p:cNvPr id="18" name="Text 16"/>
          <p:cNvSpPr txBox="1"/>
          <p:nvPr/>
        </p:nvSpPr>
        <p:spPr>
          <a:xfrm>
            <a:off x="502920" y="5212080"/>
            <a:ext cx="11201400" cy="274320"/>
          </a:xfrm>
          <a:prstGeom prst="rect">
            <a:avLst/>
          </a:prstGeom>
          <a:noFill/>
          <a:ln/>
        </p:spPr>
        <p:txBody>
          <a:bodyPr wrap="square" lIns="0" tIns="0" rIns="0" bIns="0" rtlCol="0" anchor="ctr"/>
          <a:lstStyle/>
          <a:p>
            <a:pPr indent="0" marL="0">
              <a:buNone/>
            </a:pPr>
            <a:r>
              <a:rPr lang="en-US" sz="950" dirty="0">
                <a:solidFill>
                  <a:srgbClr val="8A8A8A"/>
                </a:solidFill>
                <a:latin typeface="Yu Gothic" pitchFamily="34" charset="0"/>
                <a:ea typeface="Yu Gothic" pitchFamily="34" charset="-122"/>
                <a:cs typeface="Yu Gothic" pitchFamily="34" charset="-120"/>
              </a:rPr>
              <a:t>関連知識：主キーが複合キー（例：受注番号＋商品コード）の場合にのみ部分関数従属の検討が必要になる点も対比で押さえておくこと。</a:t>
            </a:r>
            <a:endParaRPr lang="en-US" sz="950" dirty="0"/>
          </a:p>
        </p:txBody>
      </p:sp>
      <p:sp>
        <p:nvSpPr>
          <p:cNvPr id="19" name="Text 17"/>
          <p:cNvSpPr txBox="1"/>
          <p:nvPr/>
        </p:nvSpPr>
        <p:spPr>
          <a:xfrm>
            <a:off x="502920" y="553212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出典：past_exams/1st_stage/1ji2025/F1JI2025.pdf（令和7年度第1次試験）第11問／正解：past_exams/1st_stage_answers/r07/f_v2_20250902.pdf</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F-10 ／ 通信ネットワークの種類と構成、プロトコル</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信頼性のTCP、速度のUDP</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似た役割のプロトコルを入れ替えるひっかけが頻出。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TCP／UDP</a:t>
            </a:r>
            <a:endParaRPr lang="en-US" sz="1050" dirty="0"/>
          </a:p>
        </p:txBody>
      </p:sp>
      <p:sp>
        <p:nvSpPr>
          <p:cNvPr id="9" name="Shape 7"/>
          <p:cNvSpPr/>
          <p:nvPr/>
        </p:nvSpPr>
        <p:spPr>
          <a:xfrm>
            <a:off x="2496312" y="1691640"/>
            <a:ext cx="0" cy="256032"/>
          </a:xfrm>
          <a:prstGeom prst="line">
            <a:avLst/>
          </a:prstGeom>
          <a:noFill/>
          <a:ln w="12700">
            <a:solidFill>
              <a:srgbClr val="E6E6E6"/>
            </a:solidFill>
            <a:prstDash val="solid"/>
          </a:ln>
        </p:spPr>
      </p:sp>
      <p:sp>
        <p:nvSpPr>
          <p:cNvPr id="10" name="Text 8"/>
          <p:cNvSpPr txBox="1"/>
          <p:nvPr/>
        </p:nvSpPr>
        <p:spPr>
          <a:xfrm>
            <a:off x="2651760" y="1691640"/>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TCP＝信頼性重視（再送制御あり）／UDP＝速度重視（再送制御なし）</a:t>
            </a:r>
            <a:endParaRPr lang="en-US" sz="1050" dirty="0"/>
          </a:p>
        </p:txBody>
      </p:sp>
      <p:sp>
        <p:nvSpPr>
          <p:cNvPr id="11" name="Text 9"/>
          <p:cNvSpPr txBox="1"/>
          <p:nvPr/>
        </p:nvSpPr>
        <p:spPr>
          <a:xfrm>
            <a:off x="502920" y="2020824"/>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IP</a:t>
            </a:r>
            <a:endParaRPr lang="en-US" sz="1050" dirty="0"/>
          </a:p>
        </p:txBody>
      </p:sp>
      <p:sp>
        <p:nvSpPr>
          <p:cNvPr id="12" name="Shape 10"/>
          <p:cNvSpPr/>
          <p:nvPr/>
        </p:nvSpPr>
        <p:spPr>
          <a:xfrm>
            <a:off x="2496312" y="2020824"/>
            <a:ext cx="0" cy="256032"/>
          </a:xfrm>
          <a:prstGeom prst="line">
            <a:avLst/>
          </a:prstGeom>
          <a:noFill/>
          <a:ln w="12700">
            <a:solidFill>
              <a:srgbClr val="E6E6E6"/>
            </a:solidFill>
            <a:prstDash val="solid"/>
          </a:ln>
        </p:spPr>
      </p:sp>
      <p:sp>
        <p:nvSpPr>
          <p:cNvPr id="13" name="Text 11"/>
          <p:cNvSpPr txBox="1"/>
          <p:nvPr/>
        </p:nvSpPr>
        <p:spPr>
          <a:xfrm>
            <a:off x="2651760" y="2020824"/>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宛先IPアドレスに基づく経路選択とアドレス指定</a:t>
            </a:r>
            <a:endParaRPr lang="en-US" sz="1050" dirty="0"/>
          </a:p>
        </p:txBody>
      </p:sp>
      <p:sp>
        <p:nvSpPr>
          <p:cNvPr id="14" name="Text 12"/>
          <p:cNvSpPr txBox="1"/>
          <p:nvPr/>
        </p:nvSpPr>
        <p:spPr>
          <a:xfrm>
            <a:off x="502920" y="2350008"/>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DHCP</a:t>
            </a:r>
            <a:endParaRPr lang="en-US" sz="1050" dirty="0"/>
          </a:p>
        </p:txBody>
      </p:sp>
      <p:sp>
        <p:nvSpPr>
          <p:cNvPr id="15" name="Shape 13"/>
          <p:cNvSpPr/>
          <p:nvPr/>
        </p:nvSpPr>
        <p:spPr>
          <a:xfrm>
            <a:off x="2496312" y="2350008"/>
            <a:ext cx="0" cy="256032"/>
          </a:xfrm>
          <a:prstGeom prst="line">
            <a:avLst/>
          </a:prstGeom>
          <a:noFill/>
          <a:ln w="12700">
            <a:solidFill>
              <a:srgbClr val="E6E6E6"/>
            </a:solidFill>
            <a:prstDash val="solid"/>
          </a:ln>
        </p:spPr>
      </p:sp>
      <p:sp>
        <p:nvSpPr>
          <p:cNvPr id="16" name="Text 14"/>
          <p:cNvSpPr txBox="1"/>
          <p:nvPr/>
        </p:nvSpPr>
        <p:spPr>
          <a:xfrm>
            <a:off x="2651760" y="2350008"/>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機器にIPアドレス等の設定情報を自動的に割り当てる</a:t>
            </a:r>
            <a:endParaRPr lang="en-US" sz="1050" dirty="0"/>
          </a:p>
        </p:txBody>
      </p:sp>
      <p:sp>
        <p:nvSpPr>
          <p:cNvPr id="17" name="Text 15"/>
          <p:cNvSpPr txBox="1"/>
          <p:nvPr/>
        </p:nvSpPr>
        <p:spPr>
          <a:xfrm>
            <a:off x="502920" y="2679192"/>
            <a:ext cx="20116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ARP／DNS</a:t>
            </a:r>
            <a:endParaRPr lang="en-US" sz="1050" dirty="0"/>
          </a:p>
        </p:txBody>
      </p:sp>
      <p:sp>
        <p:nvSpPr>
          <p:cNvPr id="18" name="Shape 16"/>
          <p:cNvSpPr/>
          <p:nvPr/>
        </p:nvSpPr>
        <p:spPr>
          <a:xfrm>
            <a:off x="2496312" y="2679192"/>
            <a:ext cx="0" cy="256032"/>
          </a:xfrm>
          <a:prstGeom prst="line">
            <a:avLst/>
          </a:prstGeom>
          <a:noFill/>
          <a:ln w="12700">
            <a:solidFill>
              <a:srgbClr val="E6E6E6"/>
            </a:solidFill>
            <a:prstDash val="solid"/>
          </a:ln>
        </p:spPr>
      </p:sp>
      <p:sp>
        <p:nvSpPr>
          <p:cNvPr id="19" name="Text 17"/>
          <p:cNvSpPr txBox="1"/>
          <p:nvPr/>
        </p:nvSpPr>
        <p:spPr>
          <a:xfrm>
            <a:off x="2651760" y="2679192"/>
            <a:ext cx="90525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ARP＝IPからMACアドレスを解決／DNS＝ドメイン名をIPアドレスに変換</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経路選択のIPとアドレス解決のARP、設定自動割当のDHCPと監視のSNMPを混同しない。</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関連：F-20 情報セキュリティ管理・対策（暗号化通信のHTTPS等）。</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第5問）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7772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情報ネットワークで用いられる通信プロトコルに関する記述とその用語の組み合わせとして、最も適切なものを下記の解答群から選べ。ａ：信頼性よりも速度を重視し、確認や再送制御を行わないプロトコル。ｂ：機器にIPアドレス等の設定情報を自動的に割り当てるプロトコル。ｃ：正しい宛先に経路選択・アドレス指定を行うプロトコル。</a:t>
            </a:r>
            <a:endParaRPr lang="en-US" sz="1250" dirty="0"/>
          </a:p>
        </p:txBody>
      </p:sp>
      <p:sp>
        <p:nvSpPr>
          <p:cNvPr id="9" name="Text 7"/>
          <p:cNvSpPr txBox="1"/>
          <p:nvPr/>
        </p:nvSpPr>
        <p:spPr>
          <a:xfrm>
            <a:off x="731520" y="256032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ａ：TCP　ｂ：SNMP　ｃ：ARP</a:t>
            </a:r>
            <a:endParaRPr lang="en-US" sz="1150" dirty="0"/>
          </a:p>
        </p:txBody>
      </p:sp>
      <p:sp>
        <p:nvSpPr>
          <p:cNvPr id="10" name="Text 8"/>
          <p:cNvSpPr txBox="1"/>
          <p:nvPr/>
        </p:nvSpPr>
        <p:spPr>
          <a:xfrm>
            <a:off x="731520" y="294436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ａ：TCP　ｂ：SNMP　ｃ：IP</a:t>
            </a:r>
            <a:endParaRPr lang="en-US" sz="1150" dirty="0"/>
          </a:p>
        </p:txBody>
      </p:sp>
      <p:sp>
        <p:nvSpPr>
          <p:cNvPr id="11" name="Text 9"/>
          <p:cNvSpPr txBox="1"/>
          <p:nvPr/>
        </p:nvSpPr>
        <p:spPr>
          <a:xfrm>
            <a:off x="731520" y="332841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ａ：UDP　ｂ：DHCP　ｃ：ARP</a:t>
            </a:r>
            <a:endParaRPr lang="en-US" sz="1150" dirty="0"/>
          </a:p>
        </p:txBody>
      </p:sp>
      <p:sp>
        <p:nvSpPr>
          <p:cNvPr id="12" name="Text 10"/>
          <p:cNvSpPr txBox="1"/>
          <p:nvPr/>
        </p:nvSpPr>
        <p:spPr>
          <a:xfrm>
            <a:off x="731520" y="371246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ａ：UDP　ｂ：DHCP　ｃ：IP</a:t>
            </a:r>
            <a:endParaRPr lang="en-US" sz="1150" dirty="0"/>
          </a:p>
        </p:txBody>
      </p:sp>
      <p:sp>
        <p:nvSpPr>
          <p:cNvPr id="13" name="Text 11"/>
          <p:cNvSpPr txBox="1"/>
          <p:nvPr/>
        </p:nvSpPr>
        <p:spPr>
          <a:xfrm>
            <a:off x="731520" y="409651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ａ：UDP　ｂ：SNMP　ｃ：ARP</a:t>
            </a:r>
            <a:endParaRPr lang="en-US" sz="1150" dirty="0"/>
          </a:p>
        </p:txBody>
      </p:sp>
      <p:sp>
        <p:nvSpPr>
          <p:cNvPr id="14" name="Text 12"/>
          <p:cNvSpPr txBox="1"/>
          <p:nvPr/>
        </p:nvSpPr>
        <p:spPr>
          <a:xfrm>
            <a:off x="502920" y="46177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出典：past_exams/1st_stage/1ji2025/F1JI2025.pdf（令和7年度第1次試験）第5問</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第5問）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正解はエ。ａ＝UDP、ｂ＝DHCP、ｃ＝IPが正しい対応。</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ａ：TCP　ｂ：SNMP　ｃ：ARP</a:t>
            </a:r>
            <a:endParaRPr lang="en-US" sz="1150" dirty="0"/>
          </a:p>
        </p:txBody>
      </p:sp>
      <p:sp>
        <p:nvSpPr>
          <p:cNvPr id="9" name="Text 7"/>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ａ：TCP　ｂ：SNMP　ｃ：IP</a:t>
            </a:r>
            <a:endParaRPr lang="en-US" sz="1150" dirty="0"/>
          </a:p>
        </p:txBody>
      </p:sp>
      <p:sp>
        <p:nvSpPr>
          <p:cNvPr id="10" name="Text 8"/>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ａ：UDP　ｂ：DHCP　ｃ：ARP</a:t>
            </a:r>
            <a:endParaRPr lang="en-US" sz="1150" dirty="0"/>
          </a:p>
        </p:txBody>
      </p:sp>
      <p:sp>
        <p:nvSpPr>
          <p:cNvPr id="11" name="Shape 9"/>
          <p:cNvSpPr/>
          <p:nvPr/>
        </p:nvSpPr>
        <p:spPr>
          <a:xfrm>
            <a:off x="502920" y="2862072"/>
            <a:ext cx="11201400" cy="384048"/>
          </a:xfrm>
          <a:prstGeom prst="rect">
            <a:avLst/>
          </a:prstGeom>
          <a:solidFill>
            <a:srgbClr val="F4F4F4"/>
          </a:solidFill>
          <a:ln/>
        </p:spPr>
      </p:sp>
      <p:sp>
        <p:nvSpPr>
          <p:cNvPr id="12" name="Shape 10"/>
          <p:cNvSpPr/>
          <p:nvPr/>
        </p:nvSpPr>
        <p:spPr>
          <a:xfrm>
            <a:off x="502920" y="2862072"/>
            <a:ext cx="0" cy="384048"/>
          </a:xfrm>
          <a:prstGeom prst="line">
            <a:avLst/>
          </a:prstGeom>
          <a:noFill/>
          <a:ln w="38100">
            <a:solidFill>
              <a:srgbClr val="FF3B1F"/>
            </a:solidFill>
            <a:prstDash val="solid"/>
          </a:ln>
        </p:spPr>
      </p:sp>
      <p:sp>
        <p:nvSpPr>
          <p:cNvPr id="13" name="Text 11"/>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ａ：UDP　ｂ：DHCP　ｃ：IP</a:t>
            </a:r>
            <a:endParaRPr lang="en-US" sz="1150" dirty="0"/>
          </a:p>
        </p:txBody>
      </p:sp>
      <p:sp>
        <p:nvSpPr>
          <p:cNvPr id="14" name="Text 12"/>
          <p:cNvSpPr txBox="1"/>
          <p:nvPr/>
        </p:nvSpPr>
        <p:spPr>
          <a:xfrm>
            <a:off x="731520" y="327355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ａ：UDP　ｂ：SNMP　ｃ：ARP</a:t>
            </a:r>
            <a:endParaRPr lang="en-US" sz="1150" dirty="0"/>
          </a:p>
        </p:txBody>
      </p:sp>
      <p:sp>
        <p:nvSpPr>
          <p:cNvPr id="15" name="Shape 13"/>
          <p:cNvSpPr/>
          <p:nvPr/>
        </p:nvSpPr>
        <p:spPr>
          <a:xfrm>
            <a:off x="502920" y="3730752"/>
            <a:ext cx="11201400" cy="0"/>
          </a:xfrm>
          <a:prstGeom prst="line">
            <a:avLst/>
          </a:prstGeom>
          <a:noFill/>
          <a:ln w="12700">
            <a:solidFill>
              <a:srgbClr val="171717"/>
            </a:solidFill>
            <a:prstDash val="solid"/>
          </a:ln>
        </p:spPr>
      </p:sp>
      <p:sp>
        <p:nvSpPr>
          <p:cNvPr id="16" name="Text 14"/>
          <p:cNvSpPr txBox="1"/>
          <p:nvPr/>
        </p:nvSpPr>
        <p:spPr>
          <a:xfrm>
            <a:off x="502920" y="3822192"/>
            <a:ext cx="11201400" cy="777240"/>
          </a:xfrm>
          <a:prstGeom prst="rect">
            <a:avLst/>
          </a:prstGeom>
          <a:noFill/>
          <a:ln/>
        </p:spPr>
        <p:txBody>
          <a:bodyPr wrap="square" lIns="0" tIns="0" rIns="0" bIns="0" rtlCol="0" anchor="ctr"/>
          <a:lstStyle/>
          <a:p>
            <a:pPr indent="0" marL="0">
              <a:lnSpc>
                <a:spcPct val="115000"/>
              </a:lnSpc>
              <a:buNone/>
            </a:pPr>
            <a:r>
              <a:rPr lang="en-US" sz="950" b="1" dirty="0">
                <a:solidFill>
                  <a:srgbClr val="FF3B1F"/>
                </a:solidFill>
                <a:latin typeface="Yu Gothic" pitchFamily="34" charset="0"/>
                <a:ea typeface="Yu Gothic" pitchFamily="34" charset="-122"/>
                <a:cs typeface="Yu Gothic" pitchFamily="34" charset="-120"/>
              </a:rPr>
              <a:t>正解：エ</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。ａ＝</a:t>
            </a:r>
            <a:pPr indent="0" marL="0">
              <a:lnSpc>
                <a:spcPct val="115000"/>
              </a:lnSpc>
              <a:buNone/>
            </a:pPr>
            <a:r>
              <a:rPr lang="en-US" sz="950" b="1" dirty="0">
                <a:solidFill>
                  <a:srgbClr val="171717"/>
                </a:solidFill>
                <a:latin typeface="Yu Gothic" pitchFamily="34" charset="0"/>
                <a:ea typeface="Yu Gothic" pitchFamily="34" charset="-122"/>
                <a:cs typeface="Yu Gothic" pitchFamily="34" charset="-120"/>
              </a:rPr>
              <a:t>UDP</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（接続確立・再送制御を行わず速度優先。TCPは逆に信頼性重視）。ｂ＝</a:t>
            </a:r>
            <a:pPr indent="0" marL="0">
              <a:lnSpc>
                <a:spcPct val="115000"/>
              </a:lnSpc>
              <a:buNone/>
            </a:pPr>
            <a:r>
              <a:rPr lang="en-US" sz="950" b="1" dirty="0">
                <a:solidFill>
                  <a:srgbClr val="171717"/>
                </a:solidFill>
                <a:latin typeface="Yu Gothic" pitchFamily="34" charset="0"/>
                <a:ea typeface="Yu Gothic" pitchFamily="34" charset="-122"/>
                <a:cs typeface="Yu Gothic" pitchFamily="34" charset="-120"/>
              </a:rPr>
              <a:t>DHCP</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（IPアドレス等の設定を自動割当。SNMPは機器の稼働監視用でこの機能はない）。ｃ＝</a:t>
            </a:r>
            <a:pPr indent="0" marL="0">
              <a:lnSpc>
                <a:spcPct val="115000"/>
              </a:lnSpc>
              <a:buNone/>
            </a:pPr>
            <a:r>
              <a:rPr lang="en-US" sz="950" b="1" dirty="0">
                <a:solidFill>
                  <a:srgbClr val="171717"/>
                </a:solidFill>
                <a:latin typeface="Yu Gothic" pitchFamily="34" charset="0"/>
                <a:ea typeface="Yu Gothic" pitchFamily="34" charset="-122"/>
                <a:cs typeface="Yu Gothic" pitchFamily="34" charset="-120"/>
              </a:rPr>
              <a:t>IP</a:t>
            </a:r>
            <a:pPr indent="0" marL="0">
              <a:lnSpc>
                <a:spcPct val="115000"/>
              </a:lnSpc>
              <a:buNone/>
            </a:pPr>
            <a:r>
              <a:rPr lang="en-US" sz="950" dirty="0">
                <a:solidFill>
                  <a:srgbClr val="171717"/>
                </a:solidFill>
                <a:latin typeface="Yu Gothic" pitchFamily="34" charset="0"/>
                <a:ea typeface="Yu Gothic" pitchFamily="34" charset="-122"/>
                <a:cs typeface="Yu Gothic" pitchFamily="34" charset="-120"/>
              </a:rPr>
              <a:t>（経路選択とアドレス指定。ARPはIPからMACアドレスを解決するのみで経路選択は行わない）。</a:t>
            </a:r>
            <a:endParaRPr lang="en-US" sz="950" dirty="0"/>
          </a:p>
        </p:txBody>
      </p:sp>
      <p:sp>
        <p:nvSpPr>
          <p:cNvPr id="17" name="Text 15"/>
          <p:cNvSpPr txBox="1"/>
          <p:nvPr/>
        </p:nvSpPr>
        <p:spPr>
          <a:xfrm>
            <a:off x="502920" y="4663440"/>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950" dirty="0">
                <a:solidFill>
                  <a:srgbClr val="171717"/>
                </a:solidFill>
                <a:latin typeface="Yu Gothic" pitchFamily="34" charset="0"/>
                <a:ea typeface="Yu Gothic" pitchFamily="34" charset="-122"/>
                <a:cs typeface="Yu Gothic" pitchFamily="34" charset="-120"/>
              </a:rPr>
              <a:t>TCP/IPの階層で、IP＝ネットワーク層、TCP/UDP＝トランスポート層、DHCP・SNMP＝アプリケーション層に位置づけられる。</a:t>
            </a:r>
            <a:endParaRPr lang="en-US" sz="850" dirty="0"/>
          </a:p>
        </p:txBody>
      </p:sp>
      <p:sp>
        <p:nvSpPr>
          <p:cNvPr id="18" name="Text 16"/>
          <p:cNvSpPr txBox="1"/>
          <p:nvPr/>
        </p:nvSpPr>
        <p:spPr>
          <a:xfrm>
            <a:off x="502920" y="5212080"/>
            <a:ext cx="11201400" cy="274320"/>
          </a:xfrm>
          <a:prstGeom prst="rect">
            <a:avLst/>
          </a:prstGeom>
          <a:noFill/>
          <a:ln/>
        </p:spPr>
        <p:txBody>
          <a:bodyPr wrap="square" lIns="0" tIns="0" rIns="0" bIns="0" rtlCol="0" anchor="ctr"/>
          <a:lstStyle/>
          <a:p>
            <a:pPr indent="0" marL="0">
              <a:buNone/>
            </a:pPr>
            <a:r>
              <a:rPr lang="en-US" sz="950" dirty="0">
                <a:solidFill>
                  <a:srgbClr val="8A8A8A"/>
                </a:solidFill>
                <a:latin typeface="Yu Gothic" pitchFamily="34" charset="0"/>
                <a:ea typeface="Yu Gothic" pitchFamily="34" charset="-122"/>
                <a:cs typeface="Yu Gothic" pitchFamily="34" charset="-120"/>
              </a:rPr>
              <a:t>関連知識：「信頼性のTCP・速度のUDP」「自動割当のDHCP」「経路選択のIP」「アドレス解決のARP」「監視のSNMP」という役割の対応をセットで暗記しておくこと。</a:t>
            </a:r>
            <a:endParaRPr lang="en-US" sz="950" dirty="0"/>
          </a:p>
        </p:txBody>
      </p:sp>
      <p:sp>
        <p:nvSpPr>
          <p:cNvPr id="19" name="Text 17"/>
          <p:cNvSpPr txBox="1"/>
          <p:nvPr/>
        </p:nvSpPr>
        <p:spPr>
          <a:xfrm>
            <a:off x="502920" y="553212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出典：past_exams/1st_stage/1ji2025/F1JI2025.pdf（令和7年度第1次試験）第5問／正解：past_exams/1st_stage_answers/r07/f_v2_20250902.pdf</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F-11 ／ システム評価（性能、信頼性、経済性）</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「事前に防ぐ」か「起きたらどうするか」で整理する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似た名前の信頼性設計用語を入れ替える出題が最頻出。</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4688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フォールトアボイダンス</a:t>
            </a:r>
            <a:endParaRPr lang="en-US" sz="1050" dirty="0"/>
          </a:p>
        </p:txBody>
      </p:sp>
      <p:sp>
        <p:nvSpPr>
          <p:cNvPr id="9" name="Shape 7"/>
          <p:cNvSpPr/>
          <p:nvPr/>
        </p:nvSpPr>
        <p:spPr>
          <a:xfrm>
            <a:off x="2953512" y="1691640"/>
            <a:ext cx="0" cy="256032"/>
          </a:xfrm>
          <a:prstGeom prst="line">
            <a:avLst/>
          </a:prstGeom>
          <a:noFill/>
          <a:ln w="12700">
            <a:solidFill>
              <a:srgbClr val="E6E6E6"/>
            </a:solidFill>
            <a:prstDash val="solid"/>
          </a:ln>
        </p:spPr>
      </p:sp>
      <p:sp>
        <p:nvSpPr>
          <p:cNvPr id="10" name="Text 8"/>
          <p:cNvSpPr txBox="1"/>
          <p:nvPr/>
        </p:nvSpPr>
        <p:spPr>
          <a:xfrm>
            <a:off x="3108960" y="1691640"/>
            <a:ext cx="85953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部品の品質を高め故障自体を未然に防ぐ</a:t>
            </a:r>
            <a:endParaRPr lang="en-US" sz="1050" dirty="0"/>
          </a:p>
        </p:txBody>
      </p:sp>
      <p:sp>
        <p:nvSpPr>
          <p:cNvPr id="11" name="Text 9"/>
          <p:cNvSpPr txBox="1"/>
          <p:nvPr/>
        </p:nvSpPr>
        <p:spPr>
          <a:xfrm>
            <a:off x="502920" y="2020824"/>
            <a:ext cx="24688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フォールトトレランス</a:t>
            </a:r>
            <a:endParaRPr lang="en-US" sz="1050" dirty="0"/>
          </a:p>
        </p:txBody>
      </p:sp>
      <p:sp>
        <p:nvSpPr>
          <p:cNvPr id="12" name="Shape 10"/>
          <p:cNvSpPr/>
          <p:nvPr/>
        </p:nvSpPr>
        <p:spPr>
          <a:xfrm>
            <a:off x="2953512" y="2020824"/>
            <a:ext cx="0" cy="256032"/>
          </a:xfrm>
          <a:prstGeom prst="line">
            <a:avLst/>
          </a:prstGeom>
          <a:noFill/>
          <a:ln w="12700">
            <a:solidFill>
              <a:srgbClr val="E6E6E6"/>
            </a:solidFill>
            <a:prstDash val="solid"/>
          </a:ln>
        </p:spPr>
      </p:sp>
      <p:sp>
        <p:nvSpPr>
          <p:cNvPr id="13" name="Text 11"/>
          <p:cNvSpPr txBox="1"/>
          <p:nvPr/>
        </p:nvSpPr>
        <p:spPr>
          <a:xfrm>
            <a:off x="3108960" y="2020824"/>
            <a:ext cx="85953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多重化・冗長化で一部故障しても全体は動き続ける</a:t>
            </a:r>
            <a:endParaRPr lang="en-US" sz="1050" dirty="0"/>
          </a:p>
        </p:txBody>
      </p:sp>
      <p:sp>
        <p:nvSpPr>
          <p:cNvPr id="14" name="Text 12"/>
          <p:cNvSpPr txBox="1"/>
          <p:nvPr/>
        </p:nvSpPr>
        <p:spPr>
          <a:xfrm>
            <a:off x="502920" y="2350008"/>
            <a:ext cx="24688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フェイルセーフ／フェイルソフト</a:t>
            </a:r>
            <a:endParaRPr lang="en-US" sz="1050" dirty="0"/>
          </a:p>
        </p:txBody>
      </p:sp>
      <p:sp>
        <p:nvSpPr>
          <p:cNvPr id="15" name="Shape 13"/>
          <p:cNvSpPr/>
          <p:nvPr/>
        </p:nvSpPr>
        <p:spPr>
          <a:xfrm>
            <a:off x="2953512" y="2350008"/>
            <a:ext cx="0" cy="256032"/>
          </a:xfrm>
          <a:prstGeom prst="line">
            <a:avLst/>
          </a:prstGeom>
          <a:noFill/>
          <a:ln w="12700">
            <a:solidFill>
              <a:srgbClr val="E6E6E6"/>
            </a:solidFill>
            <a:prstDash val="solid"/>
          </a:ln>
        </p:spPr>
      </p:sp>
      <p:sp>
        <p:nvSpPr>
          <p:cNvPr id="16" name="Text 14"/>
          <p:cNvSpPr txBox="1"/>
          <p:nvPr/>
        </p:nvSpPr>
        <p:spPr>
          <a:xfrm>
            <a:off x="3108960" y="2350008"/>
            <a:ext cx="85953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セーフ＝安全側に導く／ソフト＝機能を縮退させ継続</a:t>
            </a:r>
            <a:endParaRPr lang="en-US" sz="1050" dirty="0"/>
          </a:p>
        </p:txBody>
      </p:sp>
      <p:sp>
        <p:nvSpPr>
          <p:cNvPr id="17" name="Text 15"/>
          <p:cNvSpPr txBox="1"/>
          <p:nvPr/>
        </p:nvSpPr>
        <p:spPr>
          <a:xfrm>
            <a:off x="502920" y="2679192"/>
            <a:ext cx="24688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稼働率</a:t>
            </a:r>
            <a:endParaRPr lang="en-US" sz="1050" dirty="0"/>
          </a:p>
        </p:txBody>
      </p:sp>
      <p:sp>
        <p:nvSpPr>
          <p:cNvPr id="18" name="Shape 16"/>
          <p:cNvSpPr/>
          <p:nvPr/>
        </p:nvSpPr>
        <p:spPr>
          <a:xfrm>
            <a:off x="2953512" y="2679192"/>
            <a:ext cx="0" cy="256032"/>
          </a:xfrm>
          <a:prstGeom prst="line">
            <a:avLst/>
          </a:prstGeom>
          <a:noFill/>
          <a:ln w="12700">
            <a:solidFill>
              <a:srgbClr val="E6E6E6"/>
            </a:solidFill>
            <a:prstDash val="solid"/>
          </a:ln>
        </p:spPr>
      </p:sp>
      <p:sp>
        <p:nvSpPr>
          <p:cNvPr id="19" name="Text 17"/>
          <p:cNvSpPr txBox="1"/>
          <p:nvPr/>
        </p:nvSpPr>
        <p:spPr>
          <a:xfrm>
            <a:off x="3108960" y="2679192"/>
            <a:ext cx="85953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MTBF ÷（MTBF＋MTTR）で算出</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フェイルオーバ（待機系へ切替）とフェイルソフト（機能縮退）、フォールトアボイダンスとトレランスを入れ替える出題に注意。</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 ハードウェア（RAIDも信頼性設計の一種）。</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4572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情報システムの信頼性設計に関する記述として、最も適切なものはどれか。</a:t>
            </a:r>
            <a:endParaRPr lang="en-US" sz="1250" dirty="0"/>
          </a:p>
        </p:txBody>
      </p:sp>
      <p:sp>
        <p:nvSpPr>
          <p:cNvPr id="9" name="Text 7"/>
          <p:cNvSpPr txBox="1"/>
          <p:nvPr/>
        </p:nvSpPr>
        <p:spPr>
          <a:xfrm>
            <a:off x="731520" y="224028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フェイルオーバとは、故障や障害が発生したときに、一部の機能を低下させても、限定的ながら重要な機能だけでも稼働し続けるように設計することである。</a:t>
            </a:r>
            <a:endParaRPr lang="en-US" sz="1150" dirty="0"/>
          </a:p>
        </p:txBody>
      </p:sp>
      <p:sp>
        <p:nvSpPr>
          <p:cNvPr id="10" name="Text 8"/>
          <p:cNvSpPr txBox="1"/>
          <p:nvPr/>
        </p:nvSpPr>
        <p:spPr>
          <a:xfrm>
            <a:off x="731520" y="278892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フォールトアボイダンスとは、部品一つ一つの信頼性を高めることで、故障や障害が発生しないように設計することである。</a:t>
            </a:r>
            <a:endParaRPr lang="en-US" sz="1150" dirty="0"/>
          </a:p>
        </p:txBody>
      </p:sp>
      <p:sp>
        <p:nvSpPr>
          <p:cNvPr id="11" name="Text 9"/>
          <p:cNvSpPr txBox="1"/>
          <p:nvPr/>
        </p:nvSpPr>
        <p:spPr>
          <a:xfrm>
            <a:off x="731520" y="329184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フォールトトレランスとは、人為的な操作ミスがあっても危険が生じず、システムに異常が起こらないように設計することである。</a:t>
            </a:r>
            <a:endParaRPr lang="en-US" sz="1150" dirty="0"/>
          </a:p>
        </p:txBody>
      </p:sp>
      <p:sp>
        <p:nvSpPr>
          <p:cNvPr id="12" name="Text 10"/>
          <p:cNvSpPr txBox="1"/>
          <p:nvPr/>
        </p:nvSpPr>
        <p:spPr>
          <a:xfrm>
            <a:off x="731520" y="379476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フォールトマスキングとは、故障や障害が発生したときに、システムの被害を最小限にとどめるように設計することである。</a:t>
            </a:r>
            <a:endParaRPr lang="en-US" sz="1150" dirty="0"/>
          </a:p>
        </p:txBody>
      </p:sp>
      <p:sp>
        <p:nvSpPr>
          <p:cNvPr id="13" name="Text 11"/>
          <p:cNvSpPr txBox="1"/>
          <p:nvPr/>
        </p:nvSpPr>
        <p:spPr>
          <a:xfrm>
            <a:off x="731520" y="429768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フォールバックとは、故障や障害が発生したときに、待機系システムが処理を継続するように設計することである。</a:t>
            </a:r>
            <a:endParaRPr lang="en-US" sz="1150" dirty="0"/>
          </a:p>
        </p:txBody>
      </p:sp>
      <p:sp>
        <p:nvSpPr>
          <p:cNvPr id="14" name="Text 12"/>
          <p:cNvSpPr txBox="1"/>
          <p:nvPr/>
        </p:nvSpPr>
        <p:spPr>
          <a:xfrm>
            <a:off x="502920" y="493776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出典：past_exams/1st_stage/1ji2025/F1JI2025.pdf（令和7年度第1次試験）第10問</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正解はイ。フォールトアボイダンスは故障の未然防止を指す。</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フェイルオーバとは、故障や障害が発生したときに、一部の機能を低下させても、限定的ながら重要な機能だけでも稼働し続けるように設計することである。</a:t>
            </a:r>
            <a:endParaRPr lang="en-US" sz="1150" dirty="0"/>
          </a:p>
        </p:txBody>
      </p:sp>
      <p:sp>
        <p:nvSpPr>
          <p:cNvPr id="9" name="Shape 7"/>
          <p:cNvSpPr/>
          <p:nvPr/>
        </p:nvSpPr>
        <p:spPr>
          <a:xfrm>
            <a:off x="502920" y="2258568"/>
            <a:ext cx="11201400" cy="502920"/>
          </a:xfrm>
          <a:prstGeom prst="rect">
            <a:avLst/>
          </a:prstGeom>
          <a:solidFill>
            <a:srgbClr val="F4F4F4"/>
          </a:solidFill>
          <a:ln/>
        </p:spPr>
      </p:sp>
      <p:sp>
        <p:nvSpPr>
          <p:cNvPr id="10" name="Shape 8"/>
          <p:cNvSpPr/>
          <p:nvPr/>
        </p:nvSpPr>
        <p:spPr>
          <a:xfrm>
            <a:off x="502920" y="2258568"/>
            <a:ext cx="0" cy="502920"/>
          </a:xfrm>
          <a:prstGeom prst="line">
            <a:avLst/>
          </a:prstGeom>
          <a:noFill/>
          <a:ln w="38100">
            <a:solidFill>
              <a:srgbClr val="FF3B1F"/>
            </a:solidFill>
            <a:prstDash val="solid"/>
          </a:ln>
        </p:spPr>
      </p:sp>
      <p:sp>
        <p:nvSpPr>
          <p:cNvPr id="11" name="Text 9"/>
          <p:cNvSpPr txBox="1"/>
          <p:nvPr/>
        </p:nvSpPr>
        <p:spPr>
          <a:xfrm>
            <a:off x="731520" y="228600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フォールトアボイダンスとは、部品一つ一つの信頼性を高めることで、故障や障害が発生しないように設計することである。</a:t>
            </a:r>
            <a:endParaRPr lang="en-US" sz="1150" dirty="0"/>
          </a:p>
        </p:txBody>
      </p:sp>
      <p:sp>
        <p:nvSpPr>
          <p:cNvPr id="12" name="Text 10"/>
          <p:cNvSpPr txBox="1"/>
          <p:nvPr/>
        </p:nvSpPr>
        <p:spPr>
          <a:xfrm>
            <a:off x="731520" y="278892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フォールトトレランスとは、人為的な操作ミスがあっても危険が生じず、システムに異常が起こらないように設計することである。</a:t>
            </a:r>
            <a:endParaRPr lang="en-US" sz="1150" dirty="0"/>
          </a:p>
        </p:txBody>
      </p:sp>
      <p:sp>
        <p:nvSpPr>
          <p:cNvPr id="13" name="Text 11"/>
          <p:cNvSpPr txBox="1"/>
          <p:nvPr/>
        </p:nvSpPr>
        <p:spPr>
          <a:xfrm>
            <a:off x="731520" y="329184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フォールトマスキングとは、故障や障害が発生したときに、システムの被害を最小限にとどめるように設計することである。</a:t>
            </a:r>
            <a:endParaRPr lang="en-US" sz="1150" dirty="0"/>
          </a:p>
        </p:txBody>
      </p:sp>
      <p:sp>
        <p:nvSpPr>
          <p:cNvPr id="14" name="Text 12"/>
          <p:cNvSpPr txBox="1"/>
          <p:nvPr/>
        </p:nvSpPr>
        <p:spPr>
          <a:xfrm>
            <a:off x="731520" y="379476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フォールバックとは、故障や障害が発生したときに、待機系システムが処理を継続するように設計することである。</a:t>
            </a:r>
            <a:endParaRPr lang="en-US" sz="1150" dirty="0"/>
          </a:p>
        </p:txBody>
      </p:sp>
      <p:sp>
        <p:nvSpPr>
          <p:cNvPr id="15" name="Shape 13"/>
          <p:cNvSpPr/>
          <p:nvPr/>
        </p:nvSpPr>
        <p:spPr>
          <a:xfrm>
            <a:off x="502920" y="4352544"/>
            <a:ext cx="11201400" cy="0"/>
          </a:xfrm>
          <a:prstGeom prst="line">
            <a:avLst/>
          </a:prstGeom>
          <a:noFill/>
          <a:ln w="12700">
            <a:solidFill>
              <a:srgbClr val="171717"/>
            </a:solidFill>
            <a:prstDash val="solid"/>
          </a:ln>
        </p:spPr>
      </p:sp>
      <p:sp>
        <p:nvSpPr>
          <p:cNvPr id="16" name="Text 14"/>
          <p:cNvSpPr txBox="1"/>
          <p:nvPr/>
        </p:nvSpPr>
        <p:spPr>
          <a:xfrm>
            <a:off x="502920" y="4425696"/>
            <a:ext cx="11201400" cy="640080"/>
          </a:xfrm>
          <a:prstGeom prst="rect">
            <a:avLst/>
          </a:prstGeom>
          <a:noFill/>
          <a:ln/>
        </p:spPr>
        <p:txBody>
          <a:bodyPr wrap="square" lIns="0" tIns="0" rIns="0" bIns="0" rtlCol="0" anchor="ctr"/>
          <a:lstStyle/>
          <a:p>
            <a:pPr indent="0" marL="0">
              <a:lnSpc>
                <a:spcPct val="110000"/>
              </a:lnSpc>
              <a:buNone/>
            </a:pPr>
            <a:r>
              <a:rPr lang="en-US" sz="900" b="1" dirty="0">
                <a:solidFill>
                  <a:srgbClr val="FF3B1F"/>
                </a:solidFill>
                <a:latin typeface="Yu Gothic" pitchFamily="34" charset="0"/>
                <a:ea typeface="Yu Gothic" pitchFamily="34" charset="-122"/>
                <a:cs typeface="Yu Gothic" pitchFamily="34" charset="-120"/>
              </a:rPr>
              <a:t>正解：イ</a:t>
            </a:r>
            <a:pPr indent="0" marL="0">
              <a:lnSpc>
                <a:spcPct val="110000"/>
              </a:lnSpc>
              <a:buNone/>
            </a:pPr>
            <a:r>
              <a:rPr lang="en-US" sz="900" dirty="0">
                <a:solidFill>
                  <a:srgbClr val="171717"/>
                </a:solidFill>
                <a:latin typeface="Yu Gothic" pitchFamily="34" charset="0"/>
                <a:ea typeface="Yu Gothic" pitchFamily="34" charset="-122"/>
                <a:cs typeface="Yu Gothic" pitchFamily="34" charset="-120"/>
              </a:rPr>
              <a:t>。フォールトアボイダンスは部品一つひとつの品質・信頼性を高め故障自体を未然に防ぐ設計思想で記述どおり正しい。ア：これは</a:t>
            </a:r>
            <a:pPr indent="0" marL="0">
              <a:lnSpc>
                <a:spcPct val="110000"/>
              </a:lnSpc>
              <a:buNone/>
            </a:pPr>
            <a:r>
              <a:rPr lang="en-US" sz="900" b="1" dirty="0">
                <a:solidFill>
                  <a:srgbClr val="171717"/>
                </a:solidFill>
                <a:latin typeface="Yu Gothic" pitchFamily="34" charset="0"/>
                <a:ea typeface="Yu Gothic" pitchFamily="34" charset="-122"/>
                <a:cs typeface="Yu Gothic" pitchFamily="34" charset="-120"/>
              </a:rPr>
              <a:t>フェイルソフト</a:t>
            </a:r>
            <a:pPr indent="0" marL="0">
              <a:lnSpc>
                <a:spcPct val="110000"/>
              </a:lnSpc>
              <a:buNone/>
            </a:pPr>
            <a:r>
              <a:rPr lang="en-US" sz="900" dirty="0">
                <a:solidFill>
                  <a:srgbClr val="171717"/>
                </a:solidFill>
                <a:latin typeface="Yu Gothic" pitchFamily="34" charset="0"/>
                <a:ea typeface="Yu Gothic" pitchFamily="34" charset="-122"/>
                <a:cs typeface="Yu Gothic" pitchFamily="34" charset="-120"/>
              </a:rPr>
              <a:t>の説明（フェイルオーバは待機系への自動切替）。ウ：これは</a:t>
            </a:r>
            <a:pPr indent="0" marL="0">
              <a:lnSpc>
                <a:spcPct val="110000"/>
              </a:lnSpc>
              <a:buNone/>
            </a:pPr>
            <a:r>
              <a:rPr lang="en-US" sz="900" b="1" dirty="0">
                <a:solidFill>
                  <a:srgbClr val="171717"/>
                </a:solidFill>
                <a:latin typeface="Yu Gothic" pitchFamily="34" charset="0"/>
                <a:ea typeface="Yu Gothic" pitchFamily="34" charset="-122"/>
                <a:cs typeface="Yu Gothic" pitchFamily="34" charset="-120"/>
              </a:rPr>
              <a:t>フールプルーフ</a:t>
            </a:r>
            <a:pPr indent="0" marL="0">
              <a:lnSpc>
                <a:spcPct val="110000"/>
              </a:lnSpc>
              <a:buNone/>
            </a:pPr>
            <a:r>
              <a:rPr lang="en-US" sz="900" dirty="0">
                <a:solidFill>
                  <a:srgbClr val="171717"/>
                </a:solidFill>
                <a:latin typeface="Yu Gothic" pitchFamily="34" charset="0"/>
                <a:ea typeface="Yu Gothic" pitchFamily="34" charset="-122"/>
                <a:cs typeface="Yu Gothic" pitchFamily="34" charset="-120"/>
              </a:rPr>
              <a:t>の説明（フォールトトレランスは多重化で故障を許容）。エ：これは</a:t>
            </a:r>
            <a:pPr indent="0" marL="0">
              <a:lnSpc>
                <a:spcPct val="110000"/>
              </a:lnSpc>
              <a:buNone/>
            </a:pPr>
            <a:r>
              <a:rPr lang="en-US" sz="900" b="1" dirty="0">
                <a:solidFill>
                  <a:srgbClr val="171717"/>
                </a:solidFill>
                <a:latin typeface="Yu Gothic" pitchFamily="34" charset="0"/>
                <a:ea typeface="Yu Gothic" pitchFamily="34" charset="-122"/>
                <a:cs typeface="Yu Gothic" pitchFamily="34" charset="-120"/>
              </a:rPr>
              <a:t>フェイルセーフ</a:t>
            </a:r>
            <a:pPr indent="0" marL="0">
              <a:lnSpc>
                <a:spcPct val="110000"/>
              </a:lnSpc>
              <a:buNone/>
            </a:pPr>
            <a:r>
              <a:rPr lang="en-US" sz="900" dirty="0">
                <a:solidFill>
                  <a:srgbClr val="171717"/>
                </a:solidFill>
                <a:latin typeface="Yu Gothic" pitchFamily="34" charset="0"/>
                <a:ea typeface="Yu Gothic" pitchFamily="34" charset="-122"/>
                <a:cs typeface="Yu Gothic" pitchFamily="34" charset="-120"/>
              </a:rPr>
              <a:t>の説明（フォールトマスキングは多重化結果の照合で影響を隠蔽）。オ：これは</a:t>
            </a:r>
            <a:pPr indent="0" marL="0">
              <a:lnSpc>
                <a:spcPct val="110000"/>
              </a:lnSpc>
              <a:buNone/>
            </a:pPr>
            <a:r>
              <a:rPr lang="en-US" sz="900" b="1" dirty="0">
                <a:solidFill>
                  <a:srgbClr val="171717"/>
                </a:solidFill>
                <a:latin typeface="Yu Gothic" pitchFamily="34" charset="0"/>
                <a:ea typeface="Yu Gothic" pitchFamily="34" charset="-122"/>
                <a:cs typeface="Yu Gothic" pitchFamily="34" charset="-120"/>
              </a:rPr>
              <a:t>フェイルオーバ</a:t>
            </a:r>
            <a:pPr indent="0" marL="0">
              <a:lnSpc>
                <a:spcPct val="110000"/>
              </a:lnSpc>
              <a:buNone/>
            </a:pPr>
            <a:r>
              <a:rPr lang="en-US" sz="900" dirty="0">
                <a:solidFill>
                  <a:srgbClr val="171717"/>
                </a:solidFill>
                <a:latin typeface="Yu Gothic" pitchFamily="34" charset="0"/>
                <a:ea typeface="Yu Gothic" pitchFamily="34" charset="-122"/>
                <a:cs typeface="Yu Gothic" pitchFamily="34" charset="-120"/>
              </a:rPr>
              <a:t>の説明（フォールバックは機能を縮退させ継続運用）。</a:t>
            </a:r>
            <a:endParaRPr lang="en-US" sz="900" dirty="0"/>
          </a:p>
        </p:txBody>
      </p:sp>
      <p:sp>
        <p:nvSpPr>
          <p:cNvPr id="17" name="Text 15"/>
          <p:cNvSpPr txBox="1"/>
          <p:nvPr/>
        </p:nvSpPr>
        <p:spPr>
          <a:xfrm>
            <a:off x="502920" y="5120640"/>
            <a:ext cx="11201400" cy="41148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MTBFが200時間、MTTRが10時間なら稼働率は200÷(200+10)≒95.2％。MTBFを増やす（フォールトアボイダンスの発想）かMTTRを減らせば稼働率は上がる。</a:t>
            </a:r>
            <a:endParaRPr lang="en-US" sz="850" dirty="0"/>
          </a:p>
        </p:txBody>
      </p:sp>
      <p:sp>
        <p:nvSpPr>
          <p:cNvPr id="18" name="Text 16"/>
          <p:cNvSpPr txBox="1"/>
          <p:nvPr/>
        </p:nvSpPr>
        <p:spPr>
          <a:xfrm>
            <a:off x="502920" y="5577840"/>
            <a:ext cx="11201400" cy="320040"/>
          </a:xfrm>
          <a:prstGeom prst="rect">
            <a:avLst/>
          </a:prstGeom>
          <a:noFill/>
          <a:ln/>
        </p:spPr>
        <p:txBody>
          <a:bodyPr wrap="square" lIns="0" tIns="0" rIns="0" bIns="0" rtlCol="0" anchor="ctr"/>
          <a:lstStyle/>
          <a:p>
            <a:pPr indent="0" marL="0">
              <a:lnSpc>
                <a:spcPct val="115000"/>
              </a:lnSpc>
              <a:buNone/>
            </a:pPr>
            <a:r>
              <a:rPr lang="en-US" sz="900" dirty="0">
                <a:solidFill>
                  <a:srgbClr val="8A8A8A"/>
                </a:solidFill>
                <a:latin typeface="Yu Gothic" pitchFamily="34" charset="0"/>
                <a:ea typeface="Yu Gothic" pitchFamily="34" charset="-122"/>
                <a:cs typeface="Yu Gothic" pitchFamily="34" charset="-120"/>
              </a:rPr>
              <a:t>関連知識：「事前に防ぐ（アボイダンス）」「起きても耐える（トレランス）」「起きたら安全側（セーフ）」「起きたら縮退（ソフト）」「起きたら切替（オーバ）」「誤操作防止（フールプルーフ）」で整理すること。</a:t>
            </a:r>
            <a:endParaRPr lang="en-US" sz="900" dirty="0"/>
          </a:p>
        </p:txBody>
      </p:sp>
      <p:sp>
        <p:nvSpPr>
          <p:cNvPr id="19" name="Text 17"/>
          <p:cNvSpPr txBox="1"/>
          <p:nvPr/>
        </p:nvSpPr>
        <p:spPr>
          <a:xfrm>
            <a:off x="502920" y="5943600"/>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出典：past_exams/1st_stage/1ji2025/F1JI2025.pdf（令和7年度第1次試験）第10問／正解：past_exams/1st_stage_answers/r07/f_v2_20250902.pdf</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02</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02</a:t>
            </a:r>
            <a:pPr indent="0" marL="0">
              <a:buNone/>
            </a:pPr>
            <a:r>
              <a:rPr lang="en-US" sz="1300" dirty="0">
                <a:solidFill>
                  <a:srgbClr val="A2A2A2"/>
                </a:solidFill>
                <a:latin typeface="Consolas" pitchFamily="34" charset="0"/>
                <a:ea typeface="Consolas" pitchFamily="34" charset="-122"/>
                <a:cs typeface="Consolas" pitchFamily="34" charset="-120"/>
              </a:rPr>
              <a:t>   経営情報システム ／ F-12〜F-24</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経営情報管理</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ITそのものの技術知識から一歩進み、「経営にITをどう活かすか」「開発・セキュリティ・データをどうマネジメントするか」という視点を扱う。</a:t>
            </a:r>
            <a:endParaRPr lang="en-US" sz="1400" dirty="0"/>
          </a:p>
        </p:txBody>
      </p:sp>
      <p:sp>
        <p:nvSpPr>
          <p:cNvPr id="6" name="Shape 4"/>
          <p:cNvSpPr/>
          <p:nvPr/>
        </p:nvSpPr>
        <p:spPr>
          <a:xfrm>
            <a:off x="640080" y="4800600"/>
            <a:ext cx="1801368" cy="384048"/>
          </a:xfrm>
          <a:prstGeom prst="rect">
            <a:avLst/>
          </a:prstGeom>
          <a:ln w="9525">
            <a:solidFill>
              <a:srgbClr val="7F7F7F"/>
            </a:solidFill>
            <a:prstDash val="solid"/>
          </a:ln>
        </p:spPr>
      </p:sp>
      <p:sp>
        <p:nvSpPr>
          <p:cNvPr id="7" name="Text 5"/>
          <p:cNvSpPr txBox="1"/>
          <p:nvPr/>
        </p:nvSpPr>
        <p:spPr>
          <a:xfrm>
            <a:off x="640080"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F-17 アジャイル開発</a:t>
            </a:r>
            <a:endParaRPr lang="en-US" sz="1000" dirty="0"/>
          </a:p>
        </p:txBody>
      </p:sp>
      <p:sp>
        <p:nvSpPr>
          <p:cNvPr id="8" name="Shape 6"/>
          <p:cNvSpPr/>
          <p:nvPr/>
        </p:nvSpPr>
        <p:spPr>
          <a:xfrm>
            <a:off x="2670048" y="4800600"/>
            <a:ext cx="1307592" cy="384048"/>
          </a:xfrm>
          <a:prstGeom prst="rect">
            <a:avLst/>
          </a:prstGeom>
          <a:ln w="9525">
            <a:solidFill>
              <a:srgbClr val="7F7F7F"/>
            </a:solidFill>
            <a:prstDash val="solid"/>
          </a:ln>
        </p:spPr>
      </p:sp>
      <p:sp>
        <p:nvSpPr>
          <p:cNvPr id="9" name="Text 7"/>
          <p:cNvSpPr txBox="1"/>
          <p:nvPr/>
        </p:nvSpPr>
        <p:spPr>
          <a:xfrm>
            <a:off x="2670048" y="4800600"/>
            <a:ext cx="1307592"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F-18 WBS</a:t>
            </a:r>
            <a:endParaRPr lang="en-US" sz="1000" dirty="0"/>
          </a:p>
        </p:txBody>
      </p:sp>
      <p:sp>
        <p:nvSpPr>
          <p:cNvPr id="10" name="Shape 8"/>
          <p:cNvSpPr/>
          <p:nvPr/>
        </p:nvSpPr>
        <p:spPr>
          <a:xfrm>
            <a:off x="4206240" y="4800600"/>
            <a:ext cx="2048256" cy="384048"/>
          </a:xfrm>
          <a:prstGeom prst="rect">
            <a:avLst/>
          </a:prstGeom>
          <a:ln w="9525">
            <a:solidFill>
              <a:srgbClr val="7F7F7F"/>
            </a:solidFill>
            <a:prstDash val="solid"/>
          </a:ln>
        </p:spPr>
      </p:sp>
      <p:sp>
        <p:nvSpPr>
          <p:cNvPr id="11" name="Text 9"/>
          <p:cNvSpPr txBox="1"/>
          <p:nvPr/>
        </p:nvSpPr>
        <p:spPr>
          <a:xfrm>
            <a:off x="4206240" y="4800600"/>
            <a:ext cx="204825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F-20 ランサムウェア対策</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F-12 ／ 情報システム戦略（経営戦略との連携、システム化計画）</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全体最適化計画を経ずに着手すると「サイロ化」する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情報システム戦略は経営戦略との整合性が本質。現場レベルの開発手法とは別の話。</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9456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全体最適化計画</a:t>
            </a:r>
            <a:endParaRPr lang="en-US" sz="1150" dirty="0"/>
          </a:p>
        </p:txBody>
      </p:sp>
      <p:sp>
        <p:nvSpPr>
          <p:cNvPr id="9" name="Shape 7"/>
          <p:cNvSpPr/>
          <p:nvPr/>
        </p:nvSpPr>
        <p:spPr>
          <a:xfrm>
            <a:off x="2679192" y="1691640"/>
            <a:ext cx="0" cy="256032"/>
          </a:xfrm>
          <a:prstGeom prst="line">
            <a:avLst/>
          </a:prstGeom>
          <a:noFill/>
          <a:ln w="12700">
            <a:solidFill>
              <a:srgbClr val="E6E6E6"/>
            </a:solidFill>
            <a:prstDash val="solid"/>
          </a:ln>
        </p:spPr>
      </p:sp>
      <p:sp>
        <p:nvSpPr>
          <p:cNvPr id="10" name="Text 8"/>
          <p:cNvSpPr txBox="1"/>
          <p:nvPr/>
        </p:nvSpPr>
        <p:spPr>
          <a:xfrm>
            <a:off x="2834640" y="1691640"/>
            <a:ext cx="886968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会社全体の設計図。どの業務にどのシステムを配置するか</a:t>
            </a:r>
            <a:endParaRPr lang="en-US" sz="1150" dirty="0"/>
          </a:p>
        </p:txBody>
      </p:sp>
      <p:sp>
        <p:nvSpPr>
          <p:cNvPr id="11" name="Text 9"/>
          <p:cNvSpPr txBox="1"/>
          <p:nvPr/>
        </p:nvSpPr>
        <p:spPr>
          <a:xfrm>
            <a:off x="502920" y="2075688"/>
            <a:ext cx="219456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個別システム化計画</a:t>
            </a:r>
            <a:endParaRPr lang="en-US" sz="1150" dirty="0"/>
          </a:p>
        </p:txBody>
      </p:sp>
      <p:sp>
        <p:nvSpPr>
          <p:cNvPr id="12" name="Shape 10"/>
          <p:cNvSpPr/>
          <p:nvPr/>
        </p:nvSpPr>
        <p:spPr>
          <a:xfrm>
            <a:off x="2679192" y="2075688"/>
            <a:ext cx="0" cy="256032"/>
          </a:xfrm>
          <a:prstGeom prst="line">
            <a:avLst/>
          </a:prstGeom>
          <a:noFill/>
          <a:ln w="12700">
            <a:solidFill>
              <a:srgbClr val="E6E6E6"/>
            </a:solidFill>
            <a:prstDash val="solid"/>
          </a:ln>
        </p:spPr>
      </p:sp>
      <p:sp>
        <p:nvSpPr>
          <p:cNvPr id="13" name="Text 11"/>
          <p:cNvSpPr txBox="1"/>
          <p:nvPr/>
        </p:nvSpPr>
        <p:spPr>
          <a:xfrm>
            <a:off x="2834640" y="2075688"/>
            <a:ext cx="886968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全体最適化計画をもとに個別システムの開発を具体化</a:t>
            </a:r>
            <a:endParaRPr lang="en-US" sz="1150" dirty="0"/>
          </a:p>
        </p:txBody>
      </p:sp>
      <p:sp>
        <p:nvSpPr>
          <p:cNvPr id="14" name="Text 12"/>
          <p:cNvSpPr txBox="1"/>
          <p:nvPr/>
        </p:nvSpPr>
        <p:spPr>
          <a:xfrm>
            <a:off x="502920" y="2459736"/>
            <a:ext cx="2194560" cy="365760"/>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CIO</a:t>
            </a:r>
            <a:endParaRPr lang="en-US" sz="1150" dirty="0"/>
          </a:p>
        </p:txBody>
      </p:sp>
      <p:sp>
        <p:nvSpPr>
          <p:cNvPr id="15" name="Shape 13"/>
          <p:cNvSpPr/>
          <p:nvPr/>
        </p:nvSpPr>
        <p:spPr>
          <a:xfrm>
            <a:off x="2679192" y="2459736"/>
            <a:ext cx="0" cy="256032"/>
          </a:xfrm>
          <a:prstGeom prst="line">
            <a:avLst/>
          </a:prstGeom>
          <a:noFill/>
          <a:ln w="12700">
            <a:solidFill>
              <a:srgbClr val="E6E6E6"/>
            </a:solidFill>
            <a:prstDash val="solid"/>
          </a:ln>
        </p:spPr>
      </p:sp>
      <p:sp>
        <p:nvSpPr>
          <p:cNvPr id="16" name="Text 14"/>
          <p:cNvSpPr txBox="1"/>
          <p:nvPr/>
        </p:nvSpPr>
        <p:spPr>
          <a:xfrm>
            <a:off x="2834640" y="2459736"/>
            <a:ext cx="8869680" cy="365760"/>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最高情報責任者。経営戦略とIT戦略を橋渡しする役職</a:t>
            </a:r>
            <a:endParaRPr lang="en-US" sz="1150" dirty="0"/>
          </a:p>
        </p:txBody>
      </p:sp>
      <p:sp>
        <p:nvSpPr>
          <p:cNvPr id="17" name="Shape 15"/>
          <p:cNvSpPr/>
          <p:nvPr/>
        </p:nvSpPr>
        <p:spPr>
          <a:xfrm>
            <a:off x="502920" y="2935224"/>
            <a:ext cx="11201400" cy="0"/>
          </a:xfrm>
          <a:prstGeom prst="line">
            <a:avLst/>
          </a:prstGeom>
          <a:noFill/>
          <a:ln w="12700">
            <a:solidFill>
              <a:srgbClr val="E6E6E6"/>
            </a:solidFill>
            <a:prstDash val="solid"/>
          </a:ln>
        </p:spPr>
      </p:sp>
      <p:sp>
        <p:nvSpPr>
          <p:cNvPr id="18" name="Text 16"/>
          <p:cNvSpPr txBox="1"/>
          <p:nvPr/>
        </p:nvSpPr>
        <p:spPr>
          <a:xfrm>
            <a:off x="502920" y="3008376"/>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情報システム戦略は「経営戦略との整合性」の話で、F-16／F-17の「個別開発の進め方」とは異なる次元の論点。</a:t>
            </a:r>
            <a:endParaRPr lang="en-US" sz="950" dirty="0"/>
          </a:p>
        </p:txBody>
      </p:sp>
      <p:sp>
        <p:nvSpPr>
          <p:cNvPr id="19" name="Text 17"/>
          <p:cNvSpPr txBox="1"/>
          <p:nvPr/>
        </p:nvSpPr>
        <p:spPr>
          <a:xfrm>
            <a:off x="502920" y="3557016"/>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製造業A社は「多品種少量生産への対応力強化」という経営戦略のもとCIOが全体最適化計画を策定し、そこから生産管理システム刷新という個別システム化計画へと落とし込んだ。</a:t>
            </a:r>
            <a:endParaRPr lang="en-US" sz="8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関連：F-13 経営革新と情報システム（DXとの連続性）。</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F-13 ／ 経営革新と情報システム（DX、業務プロセス改善）</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DXは単なるデジタル化ではない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デジタイゼーション→デジタライゼーション→DX（ビジネスモデル変革）の順に広がる。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DX</a:t>
            </a:r>
            <a:endParaRPr lang="en-US" sz="1050" dirty="0"/>
          </a:p>
        </p:txBody>
      </p:sp>
      <p:sp>
        <p:nvSpPr>
          <p:cNvPr id="9" name="Shape 7"/>
          <p:cNvSpPr/>
          <p:nvPr/>
        </p:nvSpPr>
        <p:spPr>
          <a:xfrm>
            <a:off x="2313432" y="1691640"/>
            <a:ext cx="0" cy="256032"/>
          </a:xfrm>
          <a:prstGeom prst="line">
            <a:avLst/>
          </a:prstGeom>
          <a:noFill/>
          <a:ln w="12700">
            <a:solidFill>
              <a:srgbClr val="E6E6E6"/>
            </a:solidFill>
            <a:prstDash val="solid"/>
          </a:ln>
        </p:spPr>
      </p:sp>
      <p:sp>
        <p:nvSpPr>
          <p:cNvPr id="10" name="Text 8"/>
          <p:cNvSpPr txBox="1"/>
          <p:nvPr/>
        </p:nvSpPr>
        <p:spPr>
          <a:xfrm>
            <a:off x="2468880" y="1691640"/>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デジタル技術で業務プロセス・組織・ビジネスモデルそのものを変革</a:t>
            </a:r>
            <a:endParaRPr lang="en-US" sz="1050" dirty="0"/>
          </a:p>
        </p:txBody>
      </p:sp>
      <p:sp>
        <p:nvSpPr>
          <p:cNvPr id="11" name="Text 9"/>
          <p:cNvSpPr txBox="1"/>
          <p:nvPr/>
        </p:nvSpPr>
        <p:spPr>
          <a:xfrm>
            <a:off x="502920" y="2020824"/>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BPR</a:t>
            </a:r>
            <a:endParaRPr lang="en-US" sz="1050" dirty="0"/>
          </a:p>
        </p:txBody>
      </p:sp>
      <p:sp>
        <p:nvSpPr>
          <p:cNvPr id="12" name="Shape 10"/>
          <p:cNvSpPr/>
          <p:nvPr/>
        </p:nvSpPr>
        <p:spPr>
          <a:xfrm>
            <a:off x="2313432" y="2020824"/>
            <a:ext cx="0" cy="256032"/>
          </a:xfrm>
          <a:prstGeom prst="line">
            <a:avLst/>
          </a:prstGeom>
          <a:noFill/>
          <a:ln w="12700">
            <a:solidFill>
              <a:srgbClr val="E6E6E6"/>
            </a:solidFill>
            <a:prstDash val="solid"/>
          </a:ln>
        </p:spPr>
      </p:sp>
      <p:sp>
        <p:nvSpPr>
          <p:cNvPr id="13" name="Text 11"/>
          <p:cNvSpPr txBox="1"/>
          <p:nvPr/>
        </p:nvSpPr>
        <p:spPr>
          <a:xfrm>
            <a:off x="2468880" y="2020824"/>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既存業務を前提とせずゼロベースで業務プロセスを再設計</a:t>
            </a:r>
            <a:endParaRPr lang="en-US" sz="1050" dirty="0"/>
          </a:p>
        </p:txBody>
      </p:sp>
      <p:sp>
        <p:nvSpPr>
          <p:cNvPr id="14" name="Text 12"/>
          <p:cNvSpPr txBox="1"/>
          <p:nvPr/>
        </p:nvSpPr>
        <p:spPr>
          <a:xfrm>
            <a:off x="502920" y="2350008"/>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RPA</a:t>
            </a:r>
            <a:endParaRPr lang="en-US" sz="1050" dirty="0"/>
          </a:p>
        </p:txBody>
      </p:sp>
      <p:sp>
        <p:nvSpPr>
          <p:cNvPr id="15" name="Shape 13"/>
          <p:cNvSpPr/>
          <p:nvPr/>
        </p:nvSpPr>
        <p:spPr>
          <a:xfrm>
            <a:off x="2313432" y="2350008"/>
            <a:ext cx="0" cy="256032"/>
          </a:xfrm>
          <a:prstGeom prst="line">
            <a:avLst/>
          </a:prstGeom>
          <a:noFill/>
          <a:ln w="12700">
            <a:solidFill>
              <a:srgbClr val="E6E6E6"/>
            </a:solidFill>
            <a:prstDash val="solid"/>
          </a:ln>
        </p:spPr>
      </p:sp>
      <p:sp>
        <p:nvSpPr>
          <p:cNvPr id="16" name="Text 14"/>
          <p:cNvSpPr txBox="1"/>
          <p:nvPr/>
        </p:nvSpPr>
        <p:spPr>
          <a:xfrm>
            <a:off x="2468880" y="2350008"/>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定型的な事務作業をソフトウェアロボットに自動化させる</a:t>
            </a:r>
            <a:endParaRPr lang="en-US" sz="1050" dirty="0"/>
          </a:p>
        </p:txBody>
      </p:sp>
      <p:sp>
        <p:nvSpPr>
          <p:cNvPr id="17" name="Text 15"/>
          <p:cNvSpPr txBox="1"/>
          <p:nvPr/>
        </p:nvSpPr>
        <p:spPr>
          <a:xfrm>
            <a:off x="502920" y="2679192"/>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2025年の崖</a:t>
            </a:r>
            <a:endParaRPr lang="en-US" sz="1050" dirty="0"/>
          </a:p>
        </p:txBody>
      </p:sp>
      <p:sp>
        <p:nvSpPr>
          <p:cNvPr id="18" name="Shape 16"/>
          <p:cNvSpPr/>
          <p:nvPr/>
        </p:nvSpPr>
        <p:spPr>
          <a:xfrm>
            <a:off x="2313432" y="2679192"/>
            <a:ext cx="0" cy="256032"/>
          </a:xfrm>
          <a:prstGeom prst="line">
            <a:avLst/>
          </a:prstGeom>
          <a:noFill/>
          <a:ln w="12700">
            <a:solidFill>
              <a:srgbClr val="E6E6E6"/>
            </a:solidFill>
            <a:prstDash val="solid"/>
          </a:ln>
        </p:spPr>
      </p:sp>
      <p:sp>
        <p:nvSpPr>
          <p:cNvPr id="19" name="Text 17"/>
          <p:cNvSpPr txBox="1"/>
          <p:nvPr/>
        </p:nvSpPr>
        <p:spPr>
          <a:xfrm>
            <a:off x="2468880" y="2679192"/>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レガシーシステムを放置すると生じうる多額の経済損失という経産省の問題提起</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「DX＝紙をデータ化すること」は不十分。デジタル化を土台にしつつビジネスモデルまで変革する広い概念。</a:t>
            </a:r>
            <a:endParaRPr lang="en-US" sz="950" dirty="0"/>
          </a:p>
        </p:txBody>
      </p:sp>
      <p:sp>
        <p:nvSpPr>
          <p:cNvPr id="22" name="Text 20"/>
          <p:cNvSpPr txBox="1"/>
          <p:nvPr/>
        </p:nvSpPr>
        <p:spPr>
          <a:xfrm>
            <a:off x="502920" y="3703320"/>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卸売業D社は紙の伝票をExcelに入力するだけの単なるデジタル化にとどまらず、取引先とのデータ連携・自動集計まで一体化し、発注判断をデータに基づいて行えるようビジネスの進め方自体を変えるDXに取り組んだ。</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関連：F-24 データサイエンス（AI活用もDXの重要な手段）。</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F-14 ／ ITガバナンス（内部統制、システム監査）</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システム監査は開発部門が自ら行うものではない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内部統制＝自己点検の仕組み、システム監査＝独立した第三者の検証。</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内部統制</a:t>
            </a:r>
            <a:endParaRPr lang="en-US" sz="1500" dirty="0"/>
          </a:p>
        </p:txBody>
      </p:sp>
      <p:sp>
        <p:nvSpPr>
          <p:cNvPr id="9" name="Text 7"/>
          <p:cNvSpPr txBox="1"/>
          <p:nvPr/>
        </p:nvSpPr>
        <p:spPr>
          <a:xfrm>
            <a:off x="2697480" y="1856232"/>
            <a:ext cx="9006840" cy="103327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経営者自身の責任で整備・運用する社内のルール・仕組み（COSOフレームワーク）</a:t>
            </a:r>
            <a:endParaRPr lang="en-US" sz="1100" dirty="0"/>
          </a:p>
        </p:txBody>
      </p:sp>
      <p:sp>
        <p:nvSpPr>
          <p:cNvPr id="10" name="Shape 8"/>
          <p:cNvSpPr/>
          <p:nvPr/>
        </p:nvSpPr>
        <p:spPr>
          <a:xfrm>
            <a:off x="502920" y="2971800"/>
            <a:ext cx="11201400" cy="0"/>
          </a:xfrm>
          <a:prstGeom prst="line">
            <a:avLst/>
          </a:prstGeom>
          <a:noFill/>
          <a:ln w="12700">
            <a:solidFill>
              <a:srgbClr val="E6E6E6"/>
            </a:solidFill>
            <a:prstDash val="solid"/>
          </a:ln>
        </p:spPr>
      </p:sp>
      <p:sp>
        <p:nvSpPr>
          <p:cNvPr id="11" name="Text 9"/>
          <p:cNvSpPr txBox="1"/>
          <p:nvPr/>
        </p:nvSpPr>
        <p:spPr>
          <a:xfrm>
            <a:off x="502920" y="308152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システム監査</a:t>
            </a:r>
            <a:endParaRPr lang="en-US" sz="1500" dirty="0"/>
          </a:p>
        </p:txBody>
      </p:sp>
      <p:sp>
        <p:nvSpPr>
          <p:cNvPr id="12" name="Text 10"/>
          <p:cNvSpPr txBox="1"/>
          <p:nvPr/>
        </p:nvSpPr>
        <p:spPr>
          <a:xfrm>
            <a:off x="2697480" y="3044952"/>
            <a:ext cx="9006840" cy="103327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開発・運用から独立した第三者（監査人）が適切性を客観的に検証する活動</a:t>
            </a:r>
            <a:endParaRPr lang="en-US" sz="1100" dirty="0"/>
          </a:p>
        </p:txBody>
      </p:sp>
      <p:sp>
        <p:nvSpPr>
          <p:cNvPr id="13" name="Text 11"/>
          <p:cNvSpPr txBox="1"/>
          <p:nvPr/>
        </p:nvSpPr>
        <p:spPr>
          <a:xfrm>
            <a:off x="502920" y="4233672"/>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社内システム部門はシステムの利用権限を「申請→上長の承認→管理者が付与」という内部統制の手順にしている。この仕組みが機能しているかを、開発を担当した部門とは独立した監査人が定期的にチェックするのがシステム監査。</a:t>
            </a:r>
            <a:endParaRPr lang="en-US" sz="850" dirty="0"/>
          </a:p>
        </p:txBody>
      </p:sp>
      <p:sp>
        <p:nvSpPr>
          <p:cNvPr id="14" name="Shape 12"/>
          <p:cNvSpPr/>
          <p:nvPr/>
        </p:nvSpPr>
        <p:spPr>
          <a:xfrm>
            <a:off x="502920" y="5989320"/>
            <a:ext cx="11201400" cy="0"/>
          </a:xfrm>
          <a:prstGeom prst="line">
            <a:avLst/>
          </a:prstGeom>
          <a:noFill/>
          <a:ln w="9525">
            <a:solidFill>
              <a:srgbClr val="171717"/>
            </a:solidFill>
            <a:prstDash val="solid"/>
          </a:ln>
        </p:spPr>
      </p:sp>
      <p:sp>
        <p:nvSpPr>
          <p:cNvPr id="15" name="Shape 13"/>
          <p:cNvSpPr/>
          <p:nvPr/>
        </p:nvSpPr>
        <p:spPr>
          <a:xfrm>
            <a:off x="502920" y="6062472"/>
            <a:ext cx="329184" cy="329184"/>
          </a:xfrm>
          <a:prstGeom prst="ellipse">
            <a:avLst/>
          </a:prstGeom>
          <a:solidFill>
            <a:srgbClr val="FF3B1F"/>
          </a:solidFill>
          <a:ln/>
        </p:spPr>
      </p:sp>
      <p:sp>
        <p:nvSpPr>
          <p:cNvPr id="16" name="Text 1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7" name="Text 1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18" name="Shape 16"/>
          <p:cNvSpPr/>
          <p:nvPr/>
        </p:nvSpPr>
        <p:spPr>
          <a:xfrm>
            <a:off x="2331720" y="6062472"/>
            <a:ext cx="0" cy="329184"/>
          </a:xfrm>
          <a:prstGeom prst="line">
            <a:avLst/>
          </a:prstGeom>
          <a:noFill/>
          <a:ln w="12700">
            <a:solidFill>
              <a:srgbClr val="E6E6E6"/>
            </a:solidFill>
            <a:prstDash val="solid"/>
          </a:ln>
        </p:spPr>
      </p:sp>
      <p:sp>
        <p:nvSpPr>
          <p:cNvPr id="19" name="Text 1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ひっかけ：「システム監査はシステム部門が自ら行う」は独立性の観点から誤り。</a:t>
            </a:r>
            <a:endParaRPr lang="en-US" sz="1000" dirty="0"/>
          </a:p>
        </p:txBody>
      </p:sp>
      <p:sp>
        <p:nvSpPr>
          <p:cNvPr id="20" name="Text 1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1" name="Shape 19"/>
          <p:cNvSpPr/>
          <p:nvPr/>
        </p:nvSpPr>
        <p:spPr>
          <a:xfrm>
            <a:off x="2466594" y="6464808"/>
            <a:ext cx="146304" cy="146304"/>
          </a:xfrm>
          <a:prstGeom prst="ellipse">
            <a:avLst/>
          </a:prstGeom>
          <a:solidFill>
            <a:srgbClr val="FF3B1F"/>
          </a:solidFill>
          <a:ln w="12700">
            <a:solidFill>
              <a:srgbClr val="FF3B1F"/>
            </a:solidFill>
            <a:prstDash val="solid"/>
          </a:ln>
        </p:spPr>
      </p:sp>
      <p:sp>
        <p:nvSpPr>
          <p:cNvPr id="22" name="Text 2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3" name="Shape 21"/>
          <p:cNvSpPr/>
          <p:nvPr/>
        </p:nvSpPr>
        <p:spPr>
          <a:xfrm>
            <a:off x="3431286" y="6464808"/>
            <a:ext cx="146304" cy="146304"/>
          </a:xfrm>
          <a:prstGeom prst="ellipse">
            <a:avLst/>
          </a:prstGeom>
          <a:solidFill>
            <a:srgbClr val="FFFFFF"/>
          </a:solidFill>
          <a:ln w="12700">
            <a:solidFill>
              <a:srgbClr val="E6E6E6"/>
            </a:solidFill>
            <a:prstDash val="solid"/>
          </a:ln>
        </p:spPr>
      </p:sp>
      <p:sp>
        <p:nvSpPr>
          <p:cNvPr id="24" name="Text 2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5" name="Shape 23"/>
          <p:cNvSpPr/>
          <p:nvPr/>
        </p:nvSpPr>
        <p:spPr>
          <a:xfrm>
            <a:off x="4395978" y="6464808"/>
            <a:ext cx="146304" cy="146304"/>
          </a:xfrm>
          <a:prstGeom prst="ellipse">
            <a:avLst/>
          </a:prstGeom>
          <a:solidFill>
            <a:srgbClr val="FFFFFF"/>
          </a:solidFill>
          <a:ln w="12700">
            <a:solidFill>
              <a:srgbClr val="E6E6E6"/>
            </a:solidFill>
            <a:prstDash val="solid"/>
          </a:ln>
        </p:spPr>
      </p:sp>
      <p:sp>
        <p:nvSpPr>
          <p:cNvPr id="26" name="Text 2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27" name="Shape 25"/>
          <p:cNvSpPr/>
          <p:nvPr/>
        </p:nvSpPr>
        <p:spPr>
          <a:xfrm>
            <a:off x="5360670"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29" name="Shape 27"/>
          <p:cNvSpPr/>
          <p:nvPr/>
        </p:nvSpPr>
        <p:spPr>
          <a:xfrm>
            <a:off x="6325362"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1" name="Shape 29"/>
          <p:cNvSpPr/>
          <p:nvPr/>
        </p:nvSpPr>
        <p:spPr>
          <a:xfrm>
            <a:off x="7290054"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3" name="Shape 31"/>
          <p:cNvSpPr/>
          <p:nvPr/>
        </p:nvSpPr>
        <p:spPr>
          <a:xfrm>
            <a:off x="8254746"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5" name="Shape 33"/>
          <p:cNvSpPr/>
          <p:nvPr/>
        </p:nvSpPr>
        <p:spPr>
          <a:xfrm>
            <a:off x="9219438"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37" name="Shape 35"/>
          <p:cNvSpPr/>
          <p:nvPr/>
        </p:nvSpPr>
        <p:spPr>
          <a:xfrm>
            <a:off x="10184130"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39" name="Shape 37"/>
          <p:cNvSpPr/>
          <p:nvPr/>
        </p:nvSpPr>
        <p:spPr>
          <a:xfrm>
            <a:off x="11148822"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F-15 ／ 情報システムの適用領域（SCM、CRM）</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SCMは供給側、CRMは顧客側の最適化</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ERPは特定1業務ではなく複数の基幹業務を横断的に統合する点が特徴。</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4630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ERP</a:t>
            </a:r>
            <a:endParaRPr lang="en-US" sz="1500" dirty="0"/>
          </a:p>
        </p:txBody>
      </p:sp>
      <p:sp>
        <p:nvSpPr>
          <p:cNvPr id="9" name="Text 7"/>
          <p:cNvSpPr txBox="1"/>
          <p:nvPr/>
        </p:nvSpPr>
        <p:spPr>
          <a:xfrm>
            <a:off x="2057400" y="1856232"/>
            <a:ext cx="964692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会計・人事・生産・販売等の基幹業務データを一元管理・連携させる</a:t>
            </a:r>
            <a:endParaRPr lang="en-US" sz="1100" dirty="0"/>
          </a:p>
        </p:txBody>
      </p:sp>
      <p:sp>
        <p:nvSpPr>
          <p:cNvPr id="10" name="Shape 8"/>
          <p:cNvSpPr/>
          <p:nvPr/>
        </p:nvSpPr>
        <p:spPr>
          <a:xfrm>
            <a:off x="502920" y="2606040"/>
            <a:ext cx="11201400" cy="0"/>
          </a:xfrm>
          <a:prstGeom prst="line">
            <a:avLst/>
          </a:prstGeom>
          <a:noFill/>
          <a:ln w="12700">
            <a:solidFill>
              <a:srgbClr val="E6E6E6"/>
            </a:solidFill>
            <a:prstDash val="solid"/>
          </a:ln>
        </p:spPr>
      </p:sp>
      <p:sp>
        <p:nvSpPr>
          <p:cNvPr id="11" name="Text 9"/>
          <p:cNvSpPr txBox="1"/>
          <p:nvPr/>
        </p:nvSpPr>
        <p:spPr>
          <a:xfrm>
            <a:off x="502920" y="2715768"/>
            <a:ext cx="14630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SCM</a:t>
            </a:r>
            <a:endParaRPr lang="en-US" sz="1500" dirty="0"/>
          </a:p>
        </p:txBody>
      </p:sp>
      <p:sp>
        <p:nvSpPr>
          <p:cNvPr id="12" name="Text 10"/>
          <p:cNvSpPr txBox="1"/>
          <p:nvPr/>
        </p:nvSpPr>
        <p:spPr>
          <a:xfrm>
            <a:off x="2057400" y="2679192"/>
            <a:ext cx="964692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調達〜生産〜物流〜販売を企業の垣根を越えて最適化（供給側）</a:t>
            </a:r>
            <a:endParaRPr lang="en-US" sz="1100" dirty="0"/>
          </a:p>
        </p:txBody>
      </p:sp>
      <p:sp>
        <p:nvSpPr>
          <p:cNvPr id="13" name="Shape 11"/>
          <p:cNvSpPr/>
          <p:nvPr/>
        </p:nvSpPr>
        <p:spPr>
          <a:xfrm>
            <a:off x="502920" y="3429000"/>
            <a:ext cx="11201400" cy="0"/>
          </a:xfrm>
          <a:prstGeom prst="line">
            <a:avLst/>
          </a:prstGeom>
          <a:noFill/>
          <a:ln w="12700">
            <a:solidFill>
              <a:srgbClr val="E6E6E6"/>
            </a:solidFill>
            <a:prstDash val="solid"/>
          </a:ln>
        </p:spPr>
      </p:sp>
      <p:sp>
        <p:nvSpPr>
          <p:cNvPr id="14" name="Text 12"/>
          <p:cNvSpPr txBox="1"/>
          <p:nvPr/>
        </p:nvSpPr>
        <p:spPr>
          <a:xfrm>
            <a:off x="502920" y="3538728"/>
            <a:ext cx="14630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CRM</a:t>
            </a:r>
            <a:endParaRPr lang="en-US" sz="1500" dirty="0"/>
          </a:p>
        </p:txBody>
      </p:sp>
      <p:sp>
        <p:nvSpPr>
          <p:cNvPr id="15" name="Text 13"/>
          <p:cNvSpPr txBox="1"/>
          <p:nvPr/>
        </p:nvSpPr>
        <p:spPr>
          <a:xfrm>
            <a:off x="2057400" y="3502152"/>
            <a:ext cx="964692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顧客の属性・購買履歴を一元管理し関係を強化・維持（顧客側）</a:t>
            </a:r>
            <a:endParaRPr lang="en-US" sz="1100" dirty="0"/>
          </a:p>
        </p:txBody>
      </p:sp>
      <p:sp>
        <p:nvSpPr>
          <p:cNvPr id="16" name="Shape 14"/>
          <p:cNvSpPr/>
          <p:nvPr/>
        </p:nvSpPr>
        <p:spPr>
          <a:xfrm>
            <a:off x="502920" y="4251960"/>
            <a:ext cx="11201400" cy="0"/>
          </a:xfrm>
          <a:prstGeom prst="line">
            <a:avLst/>
          </a:prstGeom>
          <a:noFill/>
          <a:ln w="12700">
            <a:solidFill>
              <a:srgbClr val="E6E6E6"/>
            </a:solidFill>
            <a:prstDash val="solid"/>
          </a:ln>
        </p:spPr>
      </p:sp>
      <p:sp>
        <p:nvSpPr>
          <p:cNvPr id="17" name="Text 15"/>
          <p:cNvSpPr txBox="1"/>
          <p:nvPr/>
        </p:nvSpPr>
        <p:spPr>
          <a:xfrm>
            <a:off x="502920" y="4361688"/>
            <a:ext cx="14630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SFA／POS</a:t>
            </a:r>
            <a:endParaRPr lang="en-US" sz="1500" dirty="0"/>
          </a:p>
        </p:txBody>
      </p:sp>
      <p:sp>
        <p:nvSpPr>
          <p:cNvPr id="18" name="Text 16"/>
          <p:cNvSpPr txBox="1"/>
          <p:nvPr/>
        </p:nvSpPr>
        <p:spPr>
          <a:xfrm>
            <a:off x="2057400" y="4325112"/>
            <a:ext cx="964692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SFA＝営業支援／POS＝販売時点での実績記録</a:t>
            </a:r>
            <a:endParaRPr lang="en-US" sz="1100" dirty="0"/>
          </a:p>
        </p:txBody>
      </p:sp>
      <p:sp>
        <p:nvSpPr>
          <p:cNvPr id="19" name="Text 17"/>
          <p:cNvSpPr txBox="1"/>
          <p:nvPr/>
        </p:nvSpPr>
        <p:spPr>
          <a:xfrm>
            <a:off x="502920" y="5148072"/>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小売チェーンのB社はPOSで得た販売データを仕入先とも共有し、SCMを通じて発注・生産計画に反映させる一方、会員カードの購買履歴はCRMで分析し、顧客ごとに異なるクーポンを配信している。</a:t>
            </a:r>
            <a:endParaRPr lang="en-US" sz="850" dirty="0"/>
          </a:p>
        </p:txBody>
      </p:sp>
      <p:sp>
        <p:nvSpPr>
          <p:cNvPr id="20" name="Shape 18"/>
          <p:cNvSpPr/>
          <p:nvPr/>
        </p:nvSpPr>
        <p:spPr>
          <a:xfrm>
            <a:off x="502920" y="5998464"/>
            <a:ext cx="11201400" cy="0"/>
          </a:xfrm>
          <a:prstGeom prst="line">
            <a:avLst/>
          </a:prstGeom>
          <a:noFill/>
          <a:ln w="9525">
            <a:solidFill>
              <a:srgbClr val="171717"/>
            </a:solidFill>
            <a:prstDash val="solid"/>
          </a:ln>
        </p:spPr>
      </p:sp>
      <p:sp>
        <p:nvSpPr>
          <p:cNvPr id="21" name="Shape 19"/>
          <p:cNvSpPr/>
          <p:nvPr/>
        </p:nvSpPr>
        <p:spPr>
          <a:xfrm>
            <a:off x="502920" y="6071616"/>
            <a:ext cx="329184" cy="329184"/>
          </a:xfrm>
          <a:prstGeom prst="ellipse">
            <a:avLst/>
          </a:prstGeom>
          <a:solidFill>
            <a:srgbClr val="FF3B1F"/>
          </a:solidFill>
          <a:ln/>
        </p:spPr>
      </p:sp>
      <p:sp>
        <p:nvSpPr>
          <p:cNvPr id="22" name="Text 20"/>
          <p:cNvSpPr txBox="1"/>
          <p:nvPr/>
        </p:nvSpPr>
        <p:spPr>
          <a:xfrm>
            <a:off x="502920" y="6071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71616"/>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71616"/>
            <a:ext cx="0" cy="329184"/>
          </a:xfrm>
          <a:prstGeom prst="line">
            <a:avLst/>
          </a:prstGeom>
          <a:noFill/>
          <a:ln w="12700">
            <a:solidFill>
              <a:srgbClr val="E6E6E6"/>
            </a:solidFill>
            <a:prstDash val="solid"/>
          </a:ln>
        </p:spPr>
      </p:sp>
      <p:sp>
        <p:nvSpPr>
          <p:cNvPr id="25" name="Text 23"/>
          <p:cNvSpPr txBox="1"/>
          <p:nvPr/>
        </p:nvSpPr>
        <p:spPr>
          <a:xfrm>
            <a:off x="2514600" y="6053328"/>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ひっかけ：「SCMとCRMは同じ概念」は誤り。対象範囲・向いている方向が異なる。</a:t>
            </a:r>
            <a:endParaRPr lang="en-US" sz="1000" dirty="0"/>
          </a:p>
        </p:txBody>
      </p:sp>
      <p:sp>
        <p:nvSpPr>
          <p:cNvPr id="26" name="Text 24"/>
          <p:cNvSpPr txBox="1"/>
          <p:nvPr/>
        </p:nvSpPr>
        <p:spPr>
          <a:xfrm>
            <a:off x="502920" y="6473952"/>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73952"/>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73952"/>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73952"/>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73952"/>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73952"/>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73952"/>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73952"/>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73952"/>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9400"/>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73952"/>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73952"/>
            <a:ext cx="146304" cy="146304"/>
          </a:xfrm>
          <a:prstGeom prst="ellipse">
            <a:avLst/>
          </a:prstGeom>
          <a:solidFill>
            <a:srgbClr val="FF3B1F"/>
          </a:solidFill>
          <a:ln w="12700">
            <a:solidFill>
              <a:srgbClr val="FF3B1F"/>
            </a:solidFill>
            <a:prstDash val="solid"/>
          </a:ln>
        </p:spPr>
      </p:sp>
      <p:sp>
        <p:nvSpPr>
          <p:cNvPr id="46" name="Text 44"/>
          <p:cNvSpPr txBox="1"/>
          <p:nvPr/>
        </p:nvSpPr>
        <p:spPr>
          <a:xfrm>
            <a:off x="10739628" y="6629400"/>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F-16 ／ 情報システム開発（ウォーターフォール型）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要件変更に弱く、手戻りコストが大きい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V字モデルで各設計工程と対応するテスト工程が結びつく。</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777240"/>
          </a:xfrm>
          <a:prstGeom prst="rect">
            <a:avLst/>
          </a:prstGeom>
          <a:noFill/>
          <a:ln/>
        </p:spPr>
        <p:txBody>
          <a:bodyPr wrap="square" lIns="0" tIns="0" rIns="0" bIns="0" rtlCol="0" anchor="ctr"/>
          <a:lstStyle/>
          <a:p>
            <a:pPr indent="0" marL="0">
              <a:lnSpc>
                <a:spcPct val="130000"/>
              </a:lnSpc>
              <a:buNone/>
            </a:pPr>
            <a:r>
              <a:rPr lang="en-US" sz="1050" dirty="0">
                <a:solidFill>
                  <a:srgbClr val="8A8A8A"/>
                </a:solidFill>
                <a:latin typeface="Yu Gothic" pitchFamily="34" charset="0"/>
                <a:ea typeface="Yu Gothic" pitchFamily="34" charset="-122"/>
                <a:cs typeface="Yu Gothic" pitchFamily="34" charset="-120"/>
              </a:rPr>
              <a:t>ウォーターフォール型は工程を上流から下流へ一方向に進める開発手法。右図のとおり各設計工程と対応するテスト工程を線でつなぐとV字の形になることから、この対応関係をV字モデルと呼ぶ。</a:t>
            </a:r>
            <a:endParaRPr lang="en-US" sz="1050" dirty="0"/>
          </a:p>
        </p:txBody>
      </p:sp>
      <p:sp>
        <p:nvSpPr>
          <p:cNvPr id="9" name="Text 7"/>
          <p:cNvSpPr txBox="1"/>
          <p:nvPr/>
        </p:nvSpPr>
        <p:spPr>
          <a:xfrm>
            <a:off x="502920" y="2560320"/>
            <a:ext cx="1828800" cy="365760"/>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工程の流れ</a:t>
            </a:r>
            <a:endParaRPr lang="en-US" sz="1000" dirty="0"/>
          </a:p>
        </p:txBody>
      </p:sp>
      <p:sp>
        <p:nvSpPr>
          <p:cNvPr id="10" name="Shape 8"/>
          <p:cNvSpPr/>
          <p:nvPr/>
        </p:nvSpPr>
        <p:spPr>
          <a:xfrm>
            <a:off x="2313432" y="2560320"/>
            <a:ext cx="0" cy="256032"/>
          </a:xfrm>
          <a:prstGeom prst="line">
            <a:avLst/>
          </a:prstGeom>
          <a:noFill/>
          <a:ln w="12700">
            <a:solidFill>
              <a:srgbClr val="E6E6E6"/>
            </a:solidFill>
            <a:prstDash val="solid"/>
          </a:ln>
        </p:spPr>
      </p:sp>
      <p:sp>
        <p:nvSpPr>
          <p:cNvPr id="11" name="Text 9"/>
          <p:cNvSpPr txBox="1"/>
          <p:nvPr/>
        </p:nvSpPr>
        <p:spPr>
          <a:xfrm>
            <a:off x="2468880" y="2560320"/>
            <a:ext cx="4800600" cy="365760"/>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要件定義→外部設計→内部設計→プログラミング→テスト→運用保守</a:t>
            </a:r>
            <a:endParaRPr lang="en-US" sz="1000" dirty="0"/>
          </a:p>
        </p:txBody>
      </p:sp>
      <p:sp>
        <p:nvSpPr>
          <p:cNvPr id="12" name="Text 10"/>
          <p:cNvSpPr txBox="1"/>
          <p:nvPr/>
        </p:nvSpPr>
        <p:spPr>
          <a:xfrm>
            <a:off x="502920" y="2944368"/>
            <a:ext cx="1828800" cy="365760"/>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テストの順序</a:t>
            </a:r>
            <a:endParaRPr lang="en-US" sz="1000" dirty="0"/>
          </a:p>
        </p:txBody>
      </p:sp>
      <p:sp>
        <p:nvSpPr>
          <p:cNvPr id="13" name="Shape 11"/>
          <p:cNvSpPr/>
          <p:nvPr/>
        </p:nvSpPr>
        <p:spPr>
          <a:xfrm>
            <a:off x="2313432" y="2944368"/>
            <a:ext cx="0" cy="256032"/>
          </a:xfrm>
          <a:prstGeom prst="line">
            <a:avLst/>
          </a:prstGeom>
          <a:noFill/>
          <a:ln w="12700">
            <a:solidFill>
              <a:srgbClr val="E6E6E6"/>
            </a:solidFill>
            <a:prstDash val="solid"/>
          </a:ln>
        </p:spPr>
      </p:sp>
      <p:sp>
        <p:nvSpPr>
          <p:cNvPr id="14" name="Text 12"/>
          <p:cNvSpPr txBox="1"/>
          <p:nvPr/>
        </p:nvSpPr>
        <p:spPr>
          <a:xfrm>
            <a:off x="2468880" y="2944368"/>
            <a:ext cx="4800600" cy="365760"/>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単体テスト→結合テスト→システムテスト→運用テスト</a:t>
            </a:r>
            <a:endParaRPr lang="en-US" sz="1000" dirty="0"/>
          </a:p>
        </p:txBody>
      </p:sp>
      <p:sp>
        <p:nvSpPr>
          <p:cNvPr id="15" name="Shape 13"/>
          <p:cNvSpPr/>
          <p:nvPr/>
        </p:nvSpPr>
        <p:spPr>
          <a:xfrm>
            <a:off x="502920" y="3419856"/>
            <a:ext cx="6766560" cy="0"/>
          </a:xfrm>
          <a:prstGeom prst="line">
            <a:avLst/>
          </a:prstGeom>
          <a:noFill/>
          <a:ln w="12700">
            <a:solidFill>
              <a:srgbClr val="E6E6E6"/>
            </a:solidFill>
            <a:prstDash val="solid"/>
          </a:ln>
        </p:spPr>
      </p:sp>
      <p:sp>
        <p:nvSpPr>
          <p:cNvPr id="16" name="Text 14"/>
          <p:cNvSpPr txBox="1"/>
          <p:nvPr/>
        </p:nvSpPr>
        <p:spPr>
          <a:xfrm>
            <a:off x="502920" y="3493008"/>
            <a:ext cx="6766560" cy="54864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「要件変更に柔軟」は誤り。手戻りコストが大きく変更には弱い（柔軟なのはF-17のアジャイル型）。テスト順序の入れ替えにも注意。</a:t>
            </a:r>
            <a:endParaRPr lang="en-US" sz="950" dirty="0"/>
          </a:p>
        </p:txBody>
      </p:sp>
      <p:sp>
        <p:nvSpPr>
          <p:cNvPr id="17" name="Text 15"/>
          <p:cNvSpPr txBox="1"/>
          <p:nvPr/>
        </p:nvSpPr>
        <p:spPr>
          <a:xfrm>
            <a:off x="7543800" y="1417320"/>
            <a:ext cx="1691640" cy="274320"/>
          </a:xfrm>
          <a:prstGeom prst="rect">
            <a:avLst/>
          </a:prstGeom>
          <a:noFill/>
          <a:ln/>
        </p:spPr>
        <p:txBody>
          <a:bodyPr wrap="square" lIns="0" tIns="0" rIns="0" bIns="0" rtlCol="0" anchor="ctr"/>
          <a:lstStyle/>
          <a:p>
            <a:pPr algn="ctr" indent="0" marL="0">
              <a:buNone/>
            </a:pPr>
            <a:r>
              <a:rPr lang="en-US" sz="900" b="1" dirty="0">
                <a:solidFill>
                  <a:srgbClr val="171717"/>
                </a:solidFill>
                <a:latin typeface="Yu Gothic" pitchFamily="34" charset="0"/>
                <a:ea typeface="Yu Gothic" pitchFamily="34" charset="-122"/>
                <a:cs typeface="Yu Gothic" pitchFamily="34" charset="-120"/>
              </a:rPr>
              <a:t>設計工程</a:t>
            </a:r>
            <a:endParaRPr lang="en-US" sz="900" dirty="0"/>
          </a:p>
        </p:txBody>
      </p:sp>
      <p:sp>
        <p:nvSpPr>
          <p:cNvPr id="18" name="Text 16"/>
          <p:cNvSpPr txBox="1"/>
          <p:nvPr/>
        </p:nvSpPr>
        <p:spPr>
          <a:xfrm>
            <a:off x="9555480" y="1417320"/>
            <a:ext cx="1691640" cy="274320"/>
          </a:xfrm>
          <a:prstGeom prst="rect">
            <a:avLst/>
          </a:prstGeom>
          <a:noFill/>
          <a:ln/>
        </p:spPr>
        <p:txBody>
          <a:bodyPr wrap="square" lIns="0" tIns="0" rIns="0" bIns="0" rtlCol="0" anchor="ctr"/>
          <a:lstStyle/>
          <a:p>
            <a:pPr algn="ctr" indent="0" marL="0">
              <a:buNone/>
            </a:pPr>
            <a:r>
              <a:rPr lang="en-US" sz="900" b="1" dirty="0">
                <a:solidFill>
                  <a:srgbClr val="171717"/>
                </a:solidFill>
                <a:latin typeface="Yu Gothic" pitchFamily="34" charset="0"/>
                <a:ea typeface="Yu Gothic" pitchFamily="34" charset="-122"/>
                <a:cs typeface="Yu Gothic" pitchFamily="34" charset="-120"/>
              </a:rPr>
              <a:t>テスト工程</a:t>
            </a:r>
            <a:endParaRPr lang="en-US" sz="900" dirty="0"/>
          </a:p>
        </p:txBody>
      </p:sp>
      <p:sp>
        <p:nvSpPr>
          <p:cNvPr id="19" name="Shape 17"/>
          <p:cNvSpPr/>
          <p:nvPr/>
        </p:nvSpPr>
        <p:spPr>
          <a:xfrm>
            <a:off x="7543800" y="1737360"/>
            <a:ext cx="1691640" cy="685800"/>
          </a:xfrm>
          <a:prstGeom prst="rect">
            <a:avLst/>
          </a:prstGeom>
          <a:solidFill>
            <a:srgbClr val="F4F4F4"/>
          </a:solidFill>
          <a:ln w="12700">
            <a:solidFill>
              <a:srgbClr val="171717"/>
            </a:solidFill>
            <a:prstDash val="solid"/>
          </a:ln>
        </p:spPr>
      </p:sp>
      <p:sp>
        <p:nvSpPr>
          <p:cNvPr id="20" name="Text 18"/>
          <p:cNvSpPr txBox="1"/>
          <p:nvPr/>
        </p:nvSpPr>
        <p:spPr>
          <a:xfrm>
            <a:off x="7589520" y="1737360"/>
            <a:ext cx="1600200" cy="685800"/>
          </a:xfrm>
          <a:prstGeom prst="rect">
            <a:avLst/>
          </a:prstGeom>
          <a:noFill/>
          <a:ln/>
        </p:spPr>
        <p:txBody>
          <a:bodyPr wrap="square" lIns="0" tIns="0" rIns="0" bIns="0" rtlCol="0" anchor="ctr"/>
          <a:lstStyle/>
          <a:p>
            <a:pPr algn="ctr" indent="0" marL="0">
              <a:buNone/>
            </a:pPr>
            <a:r>
              <a:rPr lang="en-US" sz="950" b="1" dirty="0">
                <a:solidFill>
                  <a:srgbClr val="171717"/>
                </a:solidFill>
                <a:latin typeface="Yu Gothic" pitchFamily="34" charset="0"/>
                <a:ea typeface="Yu Gothic" pitchFamily="34" charset="-122"/>
                <a:cs typeface="Yu Gothic" pitchFamily="34" charset="-120"/>
              </a:rPr>
              <a:t>要件定義</a:t>
            </a:r>
            <a:endParaRPr lang="en-US" sz="950" dirty="0"/>
          </a:p>
        </p:txBody>
      </p:sp>
      <p:sp>
        <p:nvSpPr>
          <p:cNvPr id="21" name="Shape 19"/>
          <p:cNvSpPr/>
          <p:nvPr/>
        </p:nvSpPr>
        <p:spPr>
          <a:xfrm>
            <a:off x="9555480" y="1737360"/>
            <a:ext cx="1691640" cy="685800"/>
          </a:xfrm>
          <a:prstGeom prst="rect">
            <a:avLst/>
          </a:prstGeom>
          <a:solidFill>
            <a:srgbClr val="F4F4F4"/>
          </a:solidFill>
          <a:ln w="12700">
            <a:solidFill>
              <a:srgbClr val="171717"/>
            </a:solidFill>
            <a:prstDash val="solid"/>
          </a:ln>
        </p:spPr>
      </p:sp>
      <p:sp>
        <p:nvSpPr>
          <p:cNvPr id="22" name="Text 20"/>
          <p:cNvSpPr txBox="1"/>
          <p:nvPr/>
        </p:nvSpPr>
        <p:spPr>
          <a:xfrm>
            <a:off x="9601200" y="1737360"/>
            <a:ext cx="1600200" cy="685800"/>
          </a:xfrm>
          <a:prstGeom prst="rect">
            <a:avLst/>
          </a:prstGeom>
          <a:noFill/>
          <a:ln/>
        </p:spPr>
        <p:txBody>
          <a:bodyPr wrap="square" lIns="0" tIns="0" rIns="0" bIns="0" rtlCol="0" anchor="ctr"/>
          <a:lstStyle/>
          <a:p>
            <a:pPr algn="ctr" indent="0" marL="0">
              <a:buNone/>
            </a:pPr>
            <a:r>
              <a:rPr lang="en-US" sz="950" b="1" dirty="0">
                <a:solidFill>
                  <a:srgbClr val="171717"/>
                </a:solidFill>
                <a:latin typeface="Yu Gothic" pitchFamily="34" charset="0"/>
                <a:ea typeface="Yu Gothic" pitchFamily="34" charset="-122"/>
                <a:cs typeface="Yu Gothic" pitchFamily="34" charset="-120"/>
              </a:rPr>
              <a:t>運用テスト</a:t>
            </a:r>
            <a:endParaRPr lang="en-US" sz="950" dirty="0"/>
          </a:p>
        </p:txBody>
      </p:sp>
      <p:sp>
        <p:nvSpPr>
          <p:cNvPr id="23" name="Shape 21"/>
          <p:cNvSpPr/>
          <p:nvPr/>
        </p:nvSpPr>
        <p:spPr>
          <a:xfrm>
            <a:off x="9235440" y="2080260"/>
            <a:ext cx="320040" cy="0"/>
          </a:xfrm>
          <a:prstGeom prst="line">
            <a:avLst/>
          </a:prstGeom>
          <a:noFill/>
          <a:ln w="12700">
            <a:solidFill>
              <a:srgbClr val="8A8A8A"/>
            </a:solidFill>
            <a:prstDash val="dash"/>
          </a:ln>
        </p:spPr>
      </p:sp>
      <p:sp>
        <p:nvSpPr>
          <p:cNvPr id="24" name="Text 22"/>
          <p:cNvSpPr txBox="1"/>
          <p:nvPr/>
        </p:nvSpPr>
        <p:spPr>
          <a:xfrm>
            <a:off x="7543800" y="2395728"/>
            <a:ext cx="1691640" cy="237744"/>
          </a:xfrm>
          <a:prstGeom prst="rect">
            <a:avLst/>
          </a:prstGeom>
          <a:noFill/>
          <a:ln/>
        </p:spPr>
        <p:txBody>
          <a:bodyPr wrap="square" lIns="0" tIns="0" rIns="0" bIns="0" rtlCol="0" anchor="ctr"/>
          <a:lstStyle/>
          <a:p>
            <a:pPr algn="ctr" indent="0" marL="0">
              <a:buNone/>
            </a:pPr>
            <a:r>
              <a:rPr lang="en-US" sz="1000" dirty="0">
                <a:solidFill>
                  <a:srgbClr val="8A8A8A"/>
                </a:solidFill>
                <a:latin typeface="Yu Gothic" pitchFamily="34" charset="0"/>
                <a:ea typeface="Yu Gothic" pitchFamily="34" charset="-122"/>
                <a:cs typeface="Yu Gothic" pitchFamily="34" charset="-120"/>
              </a:rPr>
              <a:t>↓</a:t>
            </a:r>
            <a:endParaRPr lang="en-US" sz="1000" dirty="0"/>
          </a:p>
        </p:txBody>
      </p:sp>
      <p:sp>
        <p:nvSpPr>
          <p:cNvPr id="25" name="Text 23"/>
          <p:cNvSpPr txBox="1"/>
          <p:nvPr/>
        </p:nvSpPr>
        <p:spPr>
          <a:xfrm>
            <a:off x="9555480" y="2395728"/>
            <a:ext cx="1691640" cy="237744"/>
          </a:xfrm>
          <a:prstGeom prst="rect">
            <a:avLst/>
          </a:prstGeom>
          <a:noFill/>
          <a:ln/>
        </p:spPr>
        <p:txBody>
          <a:bodyPr wrap="square" lIns="0" tIns="0" rIns="0" bIns="0" rtlCol="0" anchor="ctr"/>
          <a:lstStyle/>
          <a:p>
            <a:pPr algn="ctr" indent="0" marL="0">
              <a:buNone/>
            </a:pPr>
            <a:r>
              <a:rPr lang="en-US" sz="1000" dirty="0">
                <a:solidFill>
                  <a:srgbClr val="8A8A8A"/>
                </a:solidFill>
                <a:latin typeface="Yu Gothic" pitchFamily="34" charset="0"/>
                <a:ea typeface="Yu Gothic" pitchFamily="34" charset="-122"/>
                <a:cs typeface="Yu Gothic" pitchFamily="34" charset="-120"/>
              </a:rPr>
              <a:t>↑</a:t>
            </a:r>
            <a:endParaRPr lang="en-US" sz="1000" dirty="0"/>
          </a:p>
        </p:txBody>
      </p:sp>
      <p:sp>
        <p:nvSpPr>
          <p:cNvPr id="26" name="Shape 24"/>
          <p:cNvSpPr/>
          <p:nvPr/>
        </p:nvSpPr>
        <p:spPr>
          <a:xfrm>
            <a:off x="7543800" y="2606040"/>
            <a:ext cx="1691640" cy="685800"/>
          </a:xfrm>
          <a:prstGeom prst="rect">
            <a:avLst/>
          </a:prstGeom>
          <a:solidFill>
            <a:srgbClr val="F4F4F4"/>
          </a:solidFill>
          <a:ln w="12700">
            <a:solidFill>
              <a:srgbClr val="171717"/>
            </a:solidFill>
            <a:prstDash val="solid"/>
          </a:ln>
        </p:spPr>
      </p:sp>
      <p:sp>
        <p:nvSpPr>
          <p:cNvPr id="27" name="Text 25"/>
          <p:cNvSpPr txBox="1"/>
          <p:nvPr/>
        </p:nvSpPr>
        <p:spPr>
          <a:xfrm>
            <a:off x="7589520" y="2606040"/>
            <a:ext cx="1600200" cy="685800"/>
          </a:xfrm>
          <a:prstGeom prst="rect">
            <a:avLst/>
          </a:prstGeom>
          <a:noFill/>
          <a:ln/>
        </p:spPr>
        <p:txBody>
          <a:bodyPr wrap="square" lIns="0" tIns="0" rIns="0" bIns="0" rtlCol="0" anchor="ctr"/>
          <a:lstStyle/>
          <a:p>
            <a:pPr algn="ctr" indent="0" marL="0">
              <a:buNone/>
            </a:pPr>
            <a:r>
              <a:rPr lang="en-US" sz="950" b="1" dirty="0">
                <a:solidFill>
                  <a:srgbClr val="171717"/>
                </a:solidFill>
                <a:latin typeface="Yu Gothic" pitchFamily="34" charset="0"/>
                <a:ea typeface="Yu Gothic" pitchFamily="34" charset="-122"/>
                <a:cs typeface="Yu Gothic" pitchFamily="34" charset="-120"/>
              </a:rPr>
              <a:t>外部設計</a:t>
            </a:r>
            <a:endParaRPr lang="en-US" sz="950" dirty="0"/>
          </a:p>
        </p:txBody>
      </p:sp>
      <p:sp>
        <p:nvSpPr>
          <p:cNvPr id="28" name="Shape 26"/>
          <p:cNvSpPr/>
          <p:nvPr/>
        </p:nvSpPr>
        <p:spPr>
          <a:xfrm>
            <a:off x="9555480" y="2606040"/>
            <a:ext cx="1691640" cy="685800"/>
          </a:xfrm>
          <a:prstGeom prst="rect">
            <a:avLst/>
          </a:prstGeom>
          <a:solidFill>
            <a:srgbClr val="F4F4F4"/>
          </a:solidFill>
          <a:ln w="12700">
            <a:solidFill>
              <a:srgbClr val="171717"/>
            </a:solidFill>
            <a:prstDash val="solid"/>
          </a:ln>
        </p:spPr>
      </p:sp>
      <p:sp>
        <p:nvSpPr>
          <p:cNvPr id="29" name="Text 27"/>
          <p:cNvSpPr txBox="1"/>
          <p:nvPr/>
        </p:nvSpPr>
        <p:spPr>
          <a:xfrm>
            <a:off x="9601200" y="2606040"/>
            <a:ext cx="1600200" cy="685800"/>
          </a:xfrm>
          <a:prstGeom prst="rect">
            <a:avLst/>
          </a:prstGeom>
          <a:noFill/>
          <a:ln/>
        </p:spPr>
        <p:txBody>
          <a:bodyPr wrap="square" lIns="0" tIns="0" rIns="0" bIns="0" rtlCol="0" anchor="ctr"/>
          <a:lstStyle/>
          <a:p>
            <a:pPr algn="ctr" indent="0" marL="0">
              <a:buNone/>
            </a:pPr>
            <a:r>
              <a:rPr lang="en-US" sz="950" b="1" dirty="0">
                <a:solidFill>
                  <a:srgbClr val="171717"/>
                </a:solidFill>
                <a:latin typeface="Yu Gothic" pitchFamily="34" charset="0"/>
                <a:ea typeface="Yu Gothic" pitchFamily="34" charset="-122"/>
                <a:cs typeface="Yu Gothic" pitchFamily="34" charset="-120"/>
              </a:rPr>
              <a:t>システムテスト</a:t>
            </a:r>
            <a:endParaRPr lang="en-US" sz="950" dirty="0"/>
          </a:p>
        </p:txBody>
      </p:sp>
      <p:sp>
        <p:nvSpPr>
          <p:cNvPr id="30" name="Shape 28"/>
          <p:cNvSpPr/>
          <p:nvPr/>
        </p:nvSpPr>
        <p:spPr>
          <a:xfrm>
            <a:off x="9235440" y="2948940"/>
            <a:ext cx="320040" cy="0"/>
          </a:xfrm>
          <a:prstGeom prst="line">
            <a:avLst/>
          </a:prstGeom>
          <a:noFill/>
          <a:ln w="12700">
            <a:solidFill>
              <a:srgbClr val="8A8A8A"/>
            </a:solidFill>
            <a:prstDash val="dash"/>
          </a:ln>
        </p:spPr>
      </p:sp>
      <p:sp>
        <p:nvSpPr>
          <p:cNvPr id="31" name="Text 29"/>
          <p:cNvSpPr txBox="1"/>
          <p:nvPr/>
        </p:nvSpPr>
        <p:spPr>
          <a:xfrm>
            <a:off x="7543800" y="3264408"/>
            <a:ext cx="1691640" cy="237744"/>
          </a:xfrm>
          <a:prstGeom prst="rect">
            <a:avLst/>
          </a:prstGeom>
          <a:noFill/>
          <a:ln/>
        </p:spPr>
        <p:txBody>
          <a:bodyPr wrap="square" lIns="0" tIns="0" rIns="0" bIns="0" rtlCol="0" anchor="ctr"/>
          <a:lstStyle/>
          <a:p>
            <a:pPr algn="ctr" indent="0" marL="0">
              <a:buNone/>
            </a:pPr>
            <a:r>
              <a:rPr lang="en-US" sz="1000" dirty="0">
                <a:solidFill>
                  <a:srgbClr val="8A8A8A"/>
                </a:solidFill>
                <a:latin typeface="Yu Gothic" pitchFamily="34" charset="0"/>
                <a:ea typeface="Yu Gothic" pitchFamily="34" charset="-122"/>
                <a:cs typeface="Yu Gothic" pitchFamily="34" charset="-120"/>
              </a:rPr>
              <a:t>↓</a:t>
            </a:r>
            <a:endParaRPr lang="en-US" sz="1000" dirty="0"/>
          </a:p>
        </p:txBody>
      </p:sp>
      <p:sp>
        <p:nvSpPr>
          <p:cNvPr id="32" name="Text 30"/>
          <p:cNvSpPr txBox="1"/>
          <p:nvPr/>
        </p:nvSpPr>
        <p:spPr>
          <a:xfrm>
            <a:off x="9555480" y="3264408"/>
            <a:ext cx="1691640" cy="237744"/>
          </a:xfrm>
          <a:prstGeom prst="rect">
            <a:avLst/>
          </a:prstGeom>
          <a:noFill/>
          <a:ln/>
        </p:spPr>
        <p:txBody>
          <a:bodyPr wrap="square" lIns="0" tIns="0" rIns="0" bIns="0" rtlCol="0" anchor="ctr"/>
          <a:lstStyle/>
          <a:p>
            <a:pPr algn="ctr" indent="0" marL="0">
              <a:buNone/>
            </a:pPr>
            <a:r>
              <a:rPr lang="en-US" sz="1000" dirty="0">
                <a:solidFill>
                  <a:srgbClr val="8A8A8A"/>
                </a:solidFill>
                <a:latin typeface="Yu Gothic" pitchFamily="34" charset="0"/>
                <a:ea typeface="Yu Gothic" pitchFamily="34" charset="-122"/>
                <a:cs typeface="Yu Gothic" pitchFamily="34" charset="-120"/>
              </a:rPr>
              <a:t>↑</a:t>
            </a:r>
            <a:endParaRPr lang="en-US" sz="1000" dirty="0"/>
          </a:p>
        </p:txBody>
      </p:sp>
      <p:sp>
        <p:nvSpPr>
          <p:cNvPr id="33" name="Shape 31"/>
          <p:cNvSpPr/>
          <p:nvPr/>
        </p:nvSpPr>
        <p:spPr>
          <a:xfrm>
            <a:off x="7543800" y="3474720"/>
            <a:ext cx="1691640" cy="685800"/>
          </a:xfrm>
          <a:prstGeom prst="rect">
            <a:avLst/>
          </a:prstGeom>
          <a:solidFill>
            <a:srgbClr val="F4F4F4"/>
          </a:solidFill>
          <a:ln w="12700">
            <a:solidFill>
              <a:srgbClr val="171717"/>
            </a:solidFill>
            <a:prstDash val="solid"/>
          </a:ln>
        </p:spPr>
      </p:sp>
      <p:sp>
        <p:nvSpPr>
          <p:cNvPr id="34" name="Text 32"/>
          <p:cNvSpPr txBox="1"/>
          <p:nvPr/>
        </p:nvSpPr>
        <p:spPr>
          <a:xfrm>
            <a:off x="7589520" y="3474720"/>
            <a:ext cx="1600200" cy="685800"/>
          </a:xfrm>
          <a:prstGeom prst="rect">
            <a:avLst/>
          </a:prstGeom>
          <a:noFill/>
          <a:ln/>
        </p:spPr>
        <p:txBody>
          <a:bodyPr wrap="square" lIns="0" tIns="0" rIns="0" bIns="0" rtlCol="0" anchor="ctr"/>
          <a:lstStyle/>
          <a:p>
            <a:pPr algn="ctr" indent="0" marL="0">
              <a:buNone/>
            </a:pPr>
            <a:r>
              <a:rPr lang="en-US" sz="950" b="1" dirty="0">
                <a:solidFill>
                  <a:srgbClr val="171717"/>
                </a:solidFill>
                <a:latin typeface="Yu Gothic" pitchFamily="34" charset="0"/>
                <a:ea typeface="Yu Gothic" pitchFamily="34" charset="-122"/>
                <a:cs typeface="Yu Gothic" pitchFamily="34" charset="-120"/>
              </a:rPr>
              <a:t>内部設計</a:t>
            </a:r>
            <a:endParaRPr lang="en-US" sz="950" dirty="0"/>
          </a:p>
        </p:txBody>
      </p:sp>
      <p:sp>
        <p:nvSpPr>
          <p:cNvPr id="35" name="Shape 33"/>
          <p:cNvSpPr/>
          <p:nvPr/>
        </p:nvSpPr>
        <p:spPr>
          <a:xfrm>
            <a:off x="9555480" y="3474720"/>
            <a:ext cx="1691640" cy="685800"/>
          </a:xfrm>
          <a:prstGeom prst="rect">
            <a:avLst/>
          </a:prstGeom>
          <a:solidFill>
            <a:srgbClr val="F4F4F4"/>
          </a:solidFill>
          <a:ln w="12700">
            <a:solidFill>
              <a:srgbClr val="171717"/>
            </a:solidFill>
            <a:prstDash val="solid"/>
          </a:ln>
        </p:spPr>
      </p:sp>
      <p:sp>
        <p:nvSpPr>
          <p:cNvPr id="36" name="Text 34"/>
          <p:cNvSpPr txBox="1"/>
          <p:nvPr/>
        </p:nvSpPr>
        <p:spPr>
          <a:xfrm>
            <a:off x="9601200" y="3474720"/>
            <a:ext cx="1600200" cy="685800"/>
          </a:xfrm>
          <a:prstGeom prst="rect">
            <a:avLst/>
          </a:prstGeom>
          <a:noFill/>
          <a:ln/>
        </p:spPr>
        <p:txBody>
          <a:bodyPr wrap="square" lIns="0" tIns="0" rIns="0" bIns="0" rtlCol="0" anchor="ctr"/>
          <a:lstStyle/>
          <a:p>
            <a:pPr algn="ctr" indent="0" marL="0">
              <a:buNone/>
            </a:pPr>
            <a:r>
              <a:rPr lang="en-US" sz="950" b="1" dirty="0">
                <a:solidFill>
                  <a:srgbClr val="171717"/>
                </a:solidFill>
                <a:latin typeface="Yu Gothic" pitchFamily="34" charset="0"/>
                <a:ea typeface="Yu Gothic" pitchFamily="34" charset="-122"/>
                <a:cs typeface="Yu Gothic" pitchFamily="34" charset="-120"/>
              </a:rPr>
              <a:t>結合テスト</a:t>
            </a:r>
            <a:endParaRPr lang="en-US" sz="950" dirty="0"/>
          </a:p>
        </p:txBody>
      </p:sp>
      <p:sp>
        <p:nvSpPr>
          <p:cNvPr id="37" name="Shape 35"/>
          <p:cNvSpPr/>
          <p:nvPr/>
        </p:nvSpPr>
        <p:spPr>
          <a:xfrm>
            <a:off x="9235440" y="3817620"/>
            <a:ext cx="320040" cy="0"/>
          </a:xfrm>
          <a:prstGeom prst="line">
            <a:avLst/>
          </a:prstGeom>
          <a:noFill/>
          <a:ln w="12700">
            <a:solidFill>
              <a:srgbClr val="8A8A8A"/>
            </a:solidFill>
            <a:prstDash val="dash"/>
          </a:ln>
        </p:spPr>
      </p:sp>
      <p:sp>
        <p:nvSpPr>
          <p:cNvPr id="38" name="Text 36"/>
          <p:cNvSpPr txBox="1"/>
          <p:nvPr/>
        </p:nvSpPr>
        <p:spPr>
          <a:xfrm>
            <a:off x="7543800" y="4133088"/>
            <a:ext cx="1691640" cy="237744"/>
          </a:xfrm>
          <a:prstGeom prst="rect">
            <a:avLst/>
          </a:prstGeom>
          <a:noFill/>
          <a:ln/>
        </p:spPr>
        <p:txBody>
          <a:bodyPr wrap="square" lIns="0" tIns="0" rIns="0" bIns="0" rtlCol="0" anchor="ctr"/>
          <a:lstStyle/>
          <a:p>
            <a:pPr algn="ctr" indent="0" marL="0">
              <a:buNone/>
            </a:pPr>
            <a:r>
              <a:rPr lang="en-US" sz="1000" dirty="0">
                <a:solidFill>
                  <a:srgbClr val="8A8A8A"/>
                </a:solidFill>
                <a:latin typeface="Yu Gothic" pitchFamily="34" charset="0"/>
                <a:ea typeface="Yu Gothic" pitchFamily="34" charset="-122"/>
                <a:cs typeface="Yu Gothic" pitchFamily="34" charset="-120"/>
              </a:rPr>
              <a:t>↓</a:t>
            </a:r>
            <a:endParaRPr lang="en-US" sz="1000" dirty="0"/>
          </a:p>
        </p:txBody>
      </p:sp>
      <p:sp>
        <p:nvSpPr>
          <p:cNvPr id="39" name="Text 37"/>
          <p:cNvSpPr txBox="1"/>
          <p:nvPr/>
        </p:nvSpPr>
        <p:spPr>
          <a:xfrm>
            <a:off x="9555480" y="4133088"/>
            <a:ext cx="1691640" cy="237744"/>
          </a:xfrm>
          <a:prstGeom prst="rect">
            <a:avLst/>
          </a:prstGeom>
          <a:noFill/>
          <a:ln/>
        </p:spPr>
        <p:txBody>
          <a:bodyPr wrap="square" lIns="0" tIns="0" rIns="0" bIns="0" rtlCol="0" anchor="ctr"/>
          <a:lstStyle/>
          <a:p>
            <a:pPr algn="ctr" indent="0" marL="0">
              <a:buNone/>
            </a:pPr>
            <a:r>
              <a:rPr lang="en-US" sz="1000" dirty="0">
                <a:solidFill>
                  <a:srgbClr val="8A8A8A"/>
                </a:solidFill>
                <a:latin typeface="Yu Gothic" pitchFamily="34" charset="0"/>
                <a:ea typeface="Yu Gothic" pitchFamily="34" charset="-122"/>
                <a:cs typeface="Yu Gothic" pitchFamily="34" charset="-120"/>
              </a:rPr>
              <a:t>↑</a:t>
            </a:r>
            <a:endParaRPr lang="en-US" sz="1000" dirty="0"/>
          </a:p>
        </p:txBody>
      </p:sp>
      <p:sp>
        <p:nvSpPr>
          <p:cNvPr id="40" name="Shape 38"/>
          <p:cNvSpPr/>
          <p:nvPr/>
        </p:nvSpPr>
        <p:spPr>
          <a:xfrm>
            <a:off x="7543800" y="4343400"/>
            <a:ext cx="1691640" cy="685800"/>
          </a:xfrm>
          <a:prstGeom prst="rect">
            <a:avLst/>
          </a:prstGeom>
          <a:solidFill>
            <a:srgbClr val="FF3B1F"/>
          </a:solidFill>
          <a:ln/>
        </p:spPr>
      </p:sp>
      <p:sp>
        <p:nvSpPr>
          <p:cNvPr id="41" name="Text 39"/>
          <p:cNvSpPr txBox="1"/>
          <p:nvPr/>
        </p:nvSpPr>
        <p:spPr>
          <a:xfrm>
            <a:off x="7589520" y="4343400"/>
            <a:ext cx="1600200" cy="68580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プログラミング</a:t>
            </a:r>
            <a:endParaRPr lang="en-US" sz="950" dirty="0"/>
          </a:p>
        </p:txBody>
      </p:sp>
      <p:sp>
        <p:nvSpPr>
          <p:cNvPr id="42" name="Shape 40"/>
          <p:cNvSpPr/>
          <p:nvPr/>
        </p:nvSpPr>
        <p:spPr>
          <a:xfrm>
            <a:off x="9555480" y="4343400"/>
            <a:ext cx="1691640" cy="685800"/>
          </a:xfrm>
          <a:prstGeom prst="rect">
            <a:avLst/>
          </a:prstGeom>
          <a:solidFill>
            <a:srgbClr val="FF3B1F"/>
          </a:solidFill>
          <a:ln/>
        </p:spPr>
      </p:sp>
      <p:sp>
        <p:nvSpPr>
          <p:cNvPr id="43" name="Text 41"/>
          <p:cNvSpPr txBox="1"/>
          <p:nvPr/>
        </p:nvSpPr>
        <p:spPr>
          <a:xfrm>
            <a:off x="9601200" y="4343400"/>
            <a:ext cx="1600200" cy="68580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単体テスト</a:t>
            </a:r>
            <a:endParaRPr lang="en-US" sz="950" dirty="0"/>
          </a:p>
        </p:txBody>
      </p:sp>
      <p:sp>
        <p:nvSpPr>
          <p:cNvPr id="44" name="Shape 42"/>
          <p:cNvSpPr/>
          <p:nvPr/>
        </p:nvSpPr>
        <p:spPr>
          <a:xfrm>
            <a:off x="9235440" y="4686300"/>
            <a:ext cx="320040" cy="0"/>
          </a:xfrm>
          <a:prstGeom prst="line">
            <a:avLst/>
          </a:prstGeom>
          <a:noFill/>
          <a:ln w="12700">
            <a:solidFill>
              <a:srgbClr val="8A8A8A"/>
            </a:solidFill>
            <a:prstDash val="dash"/>
          </a:ln>
        </p:spPr>
      </p:sp>
      <p:sp>
        <p:nvSpPr>
          <p:cNvPr id="45" name="Text 43"/>
          <p:cNvSpPr txBox="1"/>
          <p:nvPr/>
        </p:nvSpPr>
        <p:spPr>
          <a:xfrm>
            <a:off x="7543800" y="5102352"/>
            <a:ext cx="3703320" cy="320040"/>
          </a:xfrm>
          <a:prstGeom prst="rect">
            <a:avLst/>
          </a:prstGeom>
          <a:noFill/>
          <a:ln/>
        </p:spPr>
        <p:txBody>
          <a:bodyPr wrap="square" lIns="0" tIns="0" rIns="0" bIns="0" rtlCol="0" anchor="ctr"/>
          <a:lstStyle/>
          <a:p>
            <a:pPr algn="ctr" indent="0" marL="0">
              <a:buNone/>
            </a:pPr>
            <a:r>
              <a:rPr lang="en-US" sz="800" dirty="0">
                <a:solidFill>
                  <a:srgbClr val="8A8A8A"/>
                </a:solidFill>
                <a:latin typeface="Yu Gothic" pitchFamily="34" charset="0"/>
                <a:ea typeface="Yu Gothic" pitchFamily="34" charset="-122"/>
                <a:cs typeface="Yu Gothic" pitchFamily="34" charset="-120"/>
              </a:rPr>
              <a:t>設計工程（左）とテスト工程（右）が１対１で対応するV字モデル</a:t>
            </a:r>
            <a:endParaRPr lang="en-US" sz="800" dirty="0"/>
          </a:p>
        </p:txBody>
      </p:sp>
      <p:sp>
        <p:nvSpPr>
          <p:cNvPr id="46" name="Shape 44"/>
          <p:cNvSpPr/>
          <p:nvPr/>
        </p:nvSpPr>
        <p:spPr>
          <a:xfrm>
            <a:off x="502920" y="5989320"/>
            <a:ext cx="11201400" cy="0"/>
          </a:xfrm>
          <a:prstGeom prst="line">
            <a:avLst/>
          </a:prstGeom>
          <a:noFill/>
          <a:ln w="9525">
            <a:solidFill>
              <a:srgbClr val="171717"/>
            </a:solidFill>
            <a:prstDash val="solid"/>
          </a:ln>
        </p:spPr>
      </p:sp>
      <p:sp>
        <p:nvSpPr>
          <p:cNvPr id="47" name="Shape 45"/>
          <p:cNvSpPr/>
          <p:nvPr/>
        </p:nvSpPr>
        <p:spPr>
          <a:xfrm>
            <a:off x="502920" y="6062472"/>
            <a:ext cx="329184" cy="329184"/>
          </a:xfrm>
          <a:prstGeom prst="ellipse">
            <a:avLst/>
          </a:prstGeom>
          <a:solidFill>
            <a:srgbClr val="FF3B1F"/>
          </a:solidFill>
          <a:ln/>
        </p:spPr>
      </p:sp>
      <p:sp>
        <p:nvSpPr>
          <p:cNvPr id="48" name="Text 4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49" name="Text 4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50" name="Shape 48"/>
          <p:cNvSpPr/>
          <p:nvPr/>
        </p:nvSpPr>
        <p:spPr>
          <a:xfrm>
            <a:off x="2331720" y="6062472"/>
            <a:ext cx="0" cy="329184"/>
          </a:xfrm>
          <a:prstGeom prst="line">
            <a:avLst/>
          </a:prstGeom>
          <a:noFill/>
          <a:ln w="12700">
            <a:solidFill>
              <a:srgbClr val="E6E6E6"/>
            </a:solidFill>
            <a:prstDash val="solid"/>
          </a:ln>
        </p:spPr>
      </p:sp>
      <p:sp>
        <p:nvSpPr>
          <p:cNvPr id="51" name="Text 4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関連：F-17 情報システム開発（アジャイル型との対比）。</a:t>
            </a:r>
            <a:endParaRPr lang="en-US" sz="1000" dirty="0"/>
          </a:p>
        </p:txBody>
      </p:sp>
      <p:sp>
        <p:nvSpPr>
          <p:cNvPr id="52" name="Text 5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53" name="Shape 51"/>
          <p:cNvSpPr/>
          <p:nvPr/>
        </p:nvSpPr>
        <p:spPr>
          <a:xfrm>
            <a:off x="2466594" y="6464808"/>
            <a:ext cx="146304" cy="146304"/>
          </a:xfrm>
          <a:prstGeom prst="ellipse">
            <a:avLst/>
          </a:prstGeom>
          <a:solidFill>
            <a:srgbClr val="FF3B1F"/>
          </a:solidFill>
          <a:ln w="12700">
            <a:solidFill>
              <a:srgbClr val="FF3B1F"/>
            </a:solidFill>
            <a:prstDash val="solid"/>
          </a:ln>
        </p:spPr>
      </p:sp>
      <p:sp>
        <p:nvSpPr>
          <p:cNvPr id="54" name="Text 5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55" name="Shape 53"/>
          <p:cNvSpPr/>
          <p:nvPr/>
        </p:nvSpPr>
        <p:spPr>
          <a:xfrm>
            <a:off x="3431286" y="6464808"/>
            <a:ext cx="146304" cy="146304"/>
          </a:xfrm>
          <a:prstGeom prst="ellipse">
            <a:avLst/>
          </a:prstGeom>
          <a:solidFill>
            <a:srgbClr val="FF3B1F"/>
          </a:solidFill>
          <a:ln w="12700">
            <a:solidFill>
              <a:srgbClr val="FF3B1F"/>
            </a:solidFill>
            <a:prstDash val="solid"/>
          </a:ln>
        </p:spPr>
      </p:sp>
      <p:sp>
        <p:nvSpPr>
          <p:cNvPr id="56" name="Text 5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57" name="Shape 55"/>
          <p:cNvSpPr/>
          <p:nvPr/>
        </p:nvSpPr>
        <p:spPr>
          <a:xfrm>
            <a:off x="4395978" y="6464808"/>
            <a:ext cx="146304" cy="146304"/>
          </a:xfrm>
          <a:prstGeom prst="ellipse">
            <a:avLst/>
          </a:prstGeom>
          <a:solidFill>
            <a:srgbClr val="FF3B1F"/>
          </a:solidFill>
          <a:ln w="12700">
            <a:solidFill>
              <a:srgbClr val="FF3B1F"/>
            </a:solidFill>
            <a:prstDash val="solid"/>
          </a:ln>
        </p:spPr>
      </p:sp>
      <p:sp>
        <p:nvSpPr>
          <p:cNvPr id="58" name="Text 5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59" name="Shape 57"/>
          <p:cNvSpPr/>
          <p:nvPr/>
        </p:nvSpPr>
        <p:spPr>
          <a:xfrm>
            <a:off x="5360670" y="6464808"/>
            <a:ext cx="146304" cy="146304"/>
          </a:xfrm>
          <a:prstGeom prst="ellipse">
            <a:avLst/>
          </a:prstGeom>
          <a:solidFill>
            <a:srgbClr val="FF3B1F"/>
          </a:solidFill>
          <a:ln w="12700">
            <a:solidFill>
              <a:srgbClr val="FF3B1F"/>
            </a:solidFill>
            <a:prstDash val="solid"/>
          </a:ln>
        </p:spPr>
      </p:sp>
      <p:sp>
        <p:nvSpPr>
          <p:cNvPr id="60" name="Text 5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61" name="Shape 59"/>
          <p:cNvSpPr/>
          <p:nvPr/>
        </p:nvSpPr>
        <p:spPr>
          <a:xfrm>
            <a:off x="6325362" y="6464808"/>
            <a:ext cx="146304" cy="146304"/>
          </a:xfrm>
          <a:prstGeom prst="ellipse">
            <a:avLst/>
          </a:prstGeom>
          <a:solidFill>
            <a:srgbClr val="FF3B1F"/>
          </a:solidFill>
          <a:ln w="12700">
            <a:solidFill>
              <a:srgbClr val="FF3B1F"/>
            </a:solidFill>
            <a:prstDash val="solid"/>
          </a:ln>
        </p:spPr>
      </p:sp>
      <p:sp>
        <p:nvSpPr>
          <p:cNvPr id="62" name="Text 6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63" name="Shape 61"/>
          <p:cNvSpPr/>
          <p:nvPr/>
        </p:nvSpPr>
        <p:spPr>
          <a:xfrm>
            <a:off x="7290054" y="6464808"/>
            <a:ext cx="146304" cy="146304"/>
          </a:xfrm>
          <a:prstGeom prst="ellipse">
            <a:avLst/>
          </a:prstGeom>
          <a:solidFill>
            <a:srgbClr val="FF3B1F"/>
          </a:solidFill>
          <a:ln w="12700">
            <a:solidFill>
              <a:srgbClr val="FF3B1F"/>
            </a:solidFill>
            <a:prstDash val="solid"/>
          </a:ln>
        </p:spPr>
      </p:sp>
      <p:sp>
        <p:nvSpPr>
          <p:cNvPr id="64" name="Text 6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65" name="Shape 63"/>
          <p:cNvSpPr/>
          <p:nvPr/>
        </p:nvSpPr>
        <p:spPr>
          <a:xfrm>
            <a:off x="8254746" y="6464808"/>
            <a:ext cx="146304" cy="146304"/>
          </a:xfrm>
          <a:prstGeom prst="ellipse">
            <a:avLst/>
          </a:prstGeom>
          <a:solidFill>
            <a:srgbClr val="FFFFFF"/>
          </a:solidFill>
          <a:ln w="12700">
            <a:solidFill>
              <a:srgbClr val="E6E6E6"/>
            </a:solidFill>
            <a:prstDash val="solid"/>
          </a:ln>
        </p:spPr>
      </p:sp>
      <p:sp>
        <p:nvSpPr>
          <p:cNvPr id="66" name="Text 6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67" name="Shape 65"/>
          <p:cNvSpPr/>
          <p:nvPr/>
        </p:nvSpPr>
        <p:spPr>
          <a:xfrm>
            <a:off x="9219438" y="6464808"/>
            <a:ext cx="146304" cy="146304"/>
          </a:xfrm>
          <a:prstGeom prst="ellipse">
            <a:avLst/>
          </a:prstGeom>
          <a:solidFill>
            <a:srgbClr val="FFFFFF"/>
          </a:solidFill>
          <a:ln w="12700">
            <a:solidFill>
              <a:srgbClr val="E6E6E6"/>
            </a:solidFill>
            <a:prstDash val="solid"/>
          </a:ln>
        </p:spPr>
      </p:sp>
      <p:sp>
        <p:nvSpPr>
          <p:cNvPr id="68" name="Text 6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69" name="Shape 67"/>
          <p:cNvSpPr/>
          <p:nvPr/>
        </p:nvSpPr>
        <p:spPr>
          <a:xfrm>
            <a:off x="10184130" y="6464808"/>
            <a:ext cx="146304" cy="146304"/>
          </a:xfrm>
          <a:prstGeom prst="ellipse">
            <a:avLst/>
          </a:prstGeom>
          <a:solidFill>
            <a:srgbClr val="FFFFFF"/>
          </a:solidFill>
          <a:ln w="12700">
            <a:solidFill>
              <a:srgbClr val="E6E6E6"/>
            </a:solidFill>
            <a:prstDash val="solid"/>
          </a:ln>
        </p:spPr>
      </p:sp>
      <p:sp>
        <p:nvSpPr>
          <p:cNvPr id="70" name="Text 6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71" name="Shape 69"/>
          <p:cNvSpPr/>
          <p:nvPr/>
        </p:nvSpPr>
        <p:spPr>
          <a:xfrm>
            <a:off x="11148822" y="6464808"/>
            <a:ext cx="146304" cy="146304"/>
          </a:xfrm>
          <a:prstGeom prst="ellipse">
            <a:avLst/>
          </a:prstGeom>
          <a:solidFill>
            <a:srgbClr val="FF3B1F"/>
          </a:solidFill>
          <a:ln w="12700">
            <a:solidFill>
              <a:srgbClr val="FF3B1F"/>
            </a:solidFill>
            <a:prstDash val="solid"/>
          </a:ln>
        </p:spPr>
      </p:sp>
      <p:sp>
        <p:nvSpPr>
          <p:cNvPr id="72" name="Text 7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F-17 ／ 情報システム開発（アジャイル型、インクリメンタル型）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デイリースクラムは成果物のお披露目の場ではない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似た用語の定義を入れ替えるひっかけが非常に多い分野。</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031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デイリースクラム</a:t>
            </a:r>
            <a:endParaRPr lang="en-US" sz="1050" dirty="0"/>
          </a:p>
        </p:txBody>
      </p:sp>
      <p:sp>
        <p:nvSpPr>
          <p:cNvPr id="9" name="Shape 7"/>
          <p:cNvSpPr/>
          <p:nvPr/>
        </p:nvSpPr>
        <p:spPr>
          <a:xfrm>
            <a:off x="2587752" y="1691640"/>
            <a:ext cx="0" cy="256032"/>
          </a:xfrm>
          <a:prstGeom prst="line">
            <a:avLst/>
          </a:prstGeom>
          <a:noFill/>
          <a:ln w="12700">
            <a:solidFill>
              <a:srgbClr val="E6E6E6"/>
            </a:solidFill>
            <a:prstDash val="solid"/>
          </a:ln>
        </p:spPr>
      </p:sp>
      <p:sp>
        <p:nvSpPr>
          <p:cNvPr id="10" name="Text 8"/>
          <p:cNvSpPr txBox="1"/>
          <p:nvPr/>
        </p:nvSpPr>
        <p:spPr>
          <a:xfrm>
            <a:off x="2743200" y="1691640"/>
            <a:ext cx="89611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毎日の進捗共有（15分程度）。成果物提示はスプリントレビューの役割</a:t>
            </a:r>
            <a:endParaRPr lang="en-US" sz="1050" dirty="0"/>
          </a:p>
        </p:txBody>
      </p:sp>
      <p:sp>
        <p:nvSpPr>
          <p:cNvPr id="11" name="Text 9"/>
          <p:cNvSpPr txBox="1"/>
          <p:nvPr/>
        </p:nvSpPr>
        <p:spPr>
          <a:xfrm>
            <a:off x="502920" y="2020824"/>
            <a:ext cx="21031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スプリントレビュー</a:t>
            </a:r>
            <a:endParaRPr lang="en-US" sz="1050" dirty="0"/>
          </a:p>
        </p:txBody>
      </p:sp>
      <p:sp>
        <p:nvSpPr>
          <p:cNvPr id="12" name="Shape 10"/>
          <p:cNvSpPr/>
          <p:nvPr/>
        </p:nvSpPr>
        <p:spPr>
          <a:xfrm>
            <a:off x="2587752" y="2020824"/>
            <a:ext cx="0" cy="256032"/>
          </a:xfrm>
          <a:prstGeom prst="line">
            <a:avLst/>
          </a:prstGeom>
          <a:noFill/>
          <a:ln w="12700">
            <a:solidFill>
              <a:srgbClr val="E6E6E6"/>
            </a:solidFill>
            <a:prstDash val="solid"/>
          </a:ln>
        </p:spPr>
      </p:sp>
      <p:sp>
        <p:nvSpPr>
          <p:cNvPr id="13" name="Text 11"/>
          <p:cNvSpPr txBox="1"/>
          <p:nvPr/>
        </p:nvSpPr>
        <p:spPr>
          <a:xfrm>
            <a:off x="2743200" y="2020824"/>
            <a:ext cx="89611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完成機能をステークホルダーに見せフィードバックを得る場</a:t>
            </a:r>
            <a:endParaRPr lang="en-US" sz="1050" dirty="0"/>
          </a:p>
        </p:txBody>
      </p:sp>
      <p:sp>
        <p:nvSpPr>
          <p:cNvPr id="14" name="Text 12"/>
          <p:cNvSpPr txBox="1"/>
          <p:nvPr/>
        </p:nvSpPr>
        <p:spPr>
          <a:xfrm>
            <a:off x="502920" y="2350008"/>
            <a:ext cx="21031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ペアプログラミング</a:t>
            </a:r>
            <a:endParaRPr lang="en-US" sz="1050" dirty="0"/>
          </a:p>
        </p:txBody>
      </p:sp>
      <p:sp>
        <p:nvSpPr>
          <p:cNvPr id="15" name="Shape 13"/>
          <p:cNvSpPr/>
          <p:nvPr/>
        </p:nvSpPr>
        <p:spPr>
          <a:xfrm>
            <a:off x="2587752" y="2350008"/>
            <a:ext cx="0" cy="256032"/>
          </a:xfrm>
          <a:prstGeom prst="line">
            <a:avLst/>
          </a:prstGeom>
          <a:noFill/>
          <a:ln w="12700">
            <a:solidFill>
              <a:srgbClr val="E6E6E6"/>
            </a:solidFill>
            <a:prstDash val="solid"/>
          </a:ln>
        </p:spPr>
      </p:sp>
      <p:sp>
        <p:nvSpPr>
          <p:cNvPr id="16" name="Text 14"/>
          <p:cNvSpPr txBox="1"/>
          <p:nvPr/>
        </p:nvSpPr>
        <p:spPr>
          <a:xfrm>
            <a:off x="2743200" y="2350008"/>
            <a:ext cx="89611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XPのプラクティス。2人が1台の端末でレビューしながら開発</a:t>
            </a:r>
            <a:endParaRPr lang="en-US" sz="1050" dirty="0"/>
          </a:p>
        </p:txBody>
      </p:sp>
      <p:sp>
        <p:nvSpPr>
          <p:cNvPr id="17" name="Text 15"/>
          <p:cNvSpPr txBox="1"/>
          <p:nvPr/>
        </p:nvSpPr>
        <p:spPr>
          <a:xfrm>
            <a:off x="502920" y="2679192"/>
            <a:ext cx="21031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DevOps</a:t>
            </a:r>
            <a:endParaRPr lang="en-US" sz="1050" dirty="0"/>
          </a:p>
        </p:txBody>
      </p:sp>
      <p:sp>
        <p:nvSpPr>
          <p:cNvPr id="18" name="Shape 16"/>
          <p:cNvSpPr/>
          <p:nvPr/>
        </p:nvSpPr>
        <p:spPr>
          <a:xfrm>
            <a:off x="2587752" y="2679192"/>
            <a:ext cx="0" cy="256032"/>
          </a:xfrm>
          <a:prstGeom prst="line">
            <a:avLst/>
          </a:prstGeom>
          <a:noFill/>
          <a:ln w="12700">
            <a:solidFill>
              <a:srgbClr val="E6E6E6"/>
            </a:solidFill>
            <a:prstDash val="solid"/>
          </a:ln>
        </p:spPr>
      </p:sp>
      <p:sp>
        <p:nvSpPr>
          <p:cNvPr id="19" name="Text 17"/>
          <p:cNvSpPr txBox="1"/>
          <p:nvPr/>
        </p:nvSpPr>
        <p:spPr>
          <a:xfrm>
            <a:off x="2743200" y="2679192"/>
            <a:ext cx="89611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開発と運用が密接に連携し、CI/CDでリリースを高速化する文化</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「ローコード開発＝反復的な機能単位開発」は誤り（それはインクリメンタル型）。「DevOps＝開発運用の分離」も誤り。</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関連：F-16 情報システム開発（ウォーターフォール型との対比）。</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F-17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第13問）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18872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システム開発手法に関する記述の正誤の組み合わせとして、最も適切なものを下記の解答群から選べ。ａ：デイリースクラムでは、スプリントの成果をステークホルダーに提示し、フィードバックを得る。ｂ：ローコード開発では、システムの全体像をモデル化し、優先度を付けた機能単位で計画、設計、構築を反復的に行う。ｃ：DevOpsでは、開発と運用のフェーズを明確に分離して、システムの導入や更新を柔軟かつ迅速に行う。ｄ：XPにおけるペアプログラミングでは、2人のプログラマがペアとなり、相談やレビューを行いながら、協力してプログラムの開発を行う。</a:t>
            </a:r>
            <a:endParaRPr lang="en-US" sz="1250" dirty="0"/>
          </a:p>
        </p:txBody>
      </p:sp>
      <p:sp>
        <p:nvSpPr>
          <p:cNvPr id="9" name="Text 7"/>
          <p:cNvSpPr txBox="1"/>
          <p:nvPr/>
        </p:nvSpPr>
        <p:spPr>
          <a:xfrm>
            <a:off x="731520" y="297180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ｃ：誤　ｄ：誤</a:t>
            </a:r>
            <a:endParaRPr lang="en-US" sz="1150" dirty="0"/>
          </a:p>
        </p:txBody>
      </p:sp>
      <p:sp>
        <p:nvSpPr>
          <p:cNvPr id="10" name="Text 8"/>
          <p:cNvSpPr txBox="1"/>
          <p:nvPr/>
        </p:nvSpPr>
        <p:spPr>
          <a:xfrm>
            <a:off x="731520" y="335584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ｃ：正　ｄ：正</a:t>
            </a:r>
            <a:endParaRPr lang="en-US" sz="1150" dirty="0"/>
          </a:p>
        </p:txBody>
      </p:sp>
      <p:sp>
        <p:nvSpPr>
          <p:cNvPr id="11" name="Text 9"/>
          <p:cNvSpPr txBox="1"/>
          <p:nvPr/>
        </p:nvSpPr>
        <p:spPr>
          <a:xfrm>
            <a:off x="731520" y="373989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ｃ：誤　ｄ：正</a:t>
            </a:r>
            <a:endParaRPr lang="en-US" sz="1150" dirty="0"/>
          </a:p>
        </p:txBody>
      </p:sp>
      <p:sp>
        <p:nvSpPr>
          <p:cNvPr id="12" name="Text 10"/>
          <p:cNvSpPr txBox="1"/>
          <p:nvPr/>
        </p:nvSpPr>
        <p:spPr>
          <a:xfrm>
            <a:off x="731520" y="412394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ｃ：正　ｄ：誤</a:t>
            </a:r>
            <a:endParaRPr lang="en-US" sz="1150" dirty="0"/>
          </a:p>
        </p:txBody>
      </p:sp>
      <p:sp>
        <p:nvSpPr>
          <p:cNvPr id="13" name="Text 11"/>
          <p:cNvSpPr txBox="1"/>
          <p:nvPr/>
        </p:nvSpPr>
        <p:spPr>
          <a:xfrm>
            <a:off x="731520" y="450799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ｃ：誤　ｄ：正</a:t>
            </a:r>
            <a:endParaRPr lang="en-US" sz="1150" dirty="0"/>
          </a:p>
        </p:txBody>
      </p:sp>
      <p:sp>
        <p:nvSpPr>
          <p:cNvPr id="14" name="Text 12"/>
          <p:cNvSpPr txBox="1"/>
          <p:nvPr/>
        </p:nvSpPr>
        <p:spPr>
          <a:xfrm>
            <a:off x="502920" y="502920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出典：past_exams/1st_stage/1ji2025/F1JI2025.pdf（令和7年度第1次試験）第13問</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F-17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第13問）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正解はオ。a〜cはいずれも別の用語の説明で誤り。</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ｃ：誤　ｄ：誤</a:t>
            </a:r>
            <a:endParaRPr lang="en-US" sz="1150" dirty="0"/>
          </a:p>
        </p:txBody>
      </p:sp>
      <p:sp>
        <p:nvSpPr>
          <p:cNvPr id="9" name="Text 7"/>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ｃ：正　ｄ：正</a:t>
            </a:r>
            <a:endParaRPr lang="en-US" sz="1150" dirty="0"/>
          </a:p>
        </p:txBody>
      </p:sp>
      <p:sp>
        <p:nvSpPr>
          <p:cNvPr id="10" name="Text 8"/>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ｃ：誤　ｄ：正</a:t>
            </a:r>
            <a:endParaRPr lang="en-US" sz="1150" dirty="0"/>
          </a:p>
        </p:txBody>
      </p:sp>
      <p:sp>
        <p:nvSpPr>
          <p:cNvPr id="11" name="Text 9"/>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ｃ：正　ｄ：誤</a:t>
            </a:r>
            <a:endParaRPr lang="en-US" sz="1150" dirty="0"/>
          </a:p>
        </p:txBody>
      </p:sp>
      <p:sp>
        <p:nvSpPr>
          <p:cNvPr id="12" name="Shape 10"/>
          <p:cNvSpPr/>
          <p:nvPr/>
        </p:nvSpPr>
        <p:spPr>
          <a:xfrm>
            <a:off x="502920" y="3246120"/>
            <a:ext cx="11201400" cy="384048"/>
          </a:xfrm>
          <a:prstGeom prst="rect">
            <a:avLst/>
          </a:prstGeom>
          <a:solidFill>
            <a:srgbClr val="F4F4F4"/>
          </a:solidFill>
          <a:ln/>
        </p:spPr>
      </p:sp>
      <p:sp>
        <p:nvSpPr>
          <p:cNvPr id="13" name="Shape 11"/>
          <p:cNvSpPr/>
          <p:nvPr/>
        </p:nvSpPr>
        <p:spPr>
          <a:xfrm>
            <a:off x="502920" y="3246120"/>
            <a:ext cx="0" cy="384048"/>
          </a:xfrm>
          <a:prstGeom prst="line">
            <a:avLst/>
          </a:prstGeom>
          <a:noFill/>
          <a:ln w="38100">
            <a:solidFill>
              <a:srgbClr val="FF3B1F"/>
            </a:solidFill>
            <a:prstDash val="solid"/>
          </a:ln>
        </p:spPr>
      </p:sp>
      <p:sp>
        <p:nvSpPr>
          <p:cNvPr id="14" name="Text 12"/>
          <p:cNvSpPr txBox="1"/>
          <p:nvPr/>
        </p:nvSpPr>
        <p:spPr>
          <a:xfrm>
            <a:off x="731520" y="327355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ｃ：誤　ｄ：正</a:t>
            </a:r>
            <a:endParaRPr lang="en-US" sz="1150" dirty="0"/>
          </a:p>
        </p:txBody>
      </p:sp>
      <p:sp>
        <p:nvSpPr>
          <p:cNvPr id="15" name="Shape 13"/>
          <p:cNvSpPr/>
          <p:nvPr/>
        </p:nvSpPr>
        <p:spPr>
          <a:xfrm>
            <a:off x="502920" y="3712464"/>
            <a:ext cx="11201400" cy="0"/>
          </a:xfrm>
          <a:prstGeom prst="line">
            <a:avLst/>
          </a:prstGeom>
          <a:noFill/>
          <a:ln w="12700">
            <a:solidFill>
              <a:srgbClr val="171717"/>
            </a:solidFill>
            <a:prstDash val="solid"/>
          </a:ln>
        </p:spPr>
      </p:sp>
      <p:sp>
        <p:nvSpPr>
          <p:cNvPr id="16" name="Text 14"/>
          <p:cNvSpPr txBox="1"/>
          <p:nvPr/>
        </p:nvSpPr>
        <p:spPr>
          <a:xfrm>
            <a:off x="502920" y="3785616"/>
            <a:ext cx="11201400" cy="658368"/>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正解：オ</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。ａ（誤）：ステークホルダーへの成果提示は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スプリントレビュー</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の説明（デイリースクラムは毎日の進捗共有）。ｂ（誤）：反復的な計画・設計・構築の進め方は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インクリメンタル型</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の説明（ローコード開発はコード記述量を減らす手段）。ｃ（誤）：DevOpsは開発と運用を</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密接に連携</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させる文化で「分離」は正反対。ｄ（正）：ペアプログラミングの説明どおり正しい。</a:t>
            </a:r>
            <a:endParaRPr lang="en-US" sz="900" dirty="0"/>
          </a:p>
        </p:txBody>
      </p:sp>
      <p:sp>
        <p:nvSpPr>
          <p:cNvPr id="17" name="Text 15"/>
          <p:cNvSpPr txBox="1"/>
          <p:nvPr/>
        </p:nvSpPr>
        <p:spPr>
          <a:xfrm>
            <a:off x="502920" y="4498848"/>
            <a:ext cx="11201400" cy="45720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スクラムの主要イベントは、デイリースクラム（進捗共有）、スプリントレビュー（成果物確認）、スプリントレトロスペクティブ（進め方の振り返り）と目的が異なる。</a:t>
            </a:r>
            <a:endParaRPr lang="en-US" sz="850" dirty="0"/>
          </a:p>
        </p:txBody>
      </p:sp>
      <p:sp>
        <p:nvSpPr>
          <p:cNvPr id="18" name="Text 16"/>
          <p:cNvSpPr txBox="1"/>
          <p:nvPr/>
        </p:nvSpPr>
        <p:spPr>
          <a:xfrm>
            <a:off x="502920" y="5001768"/>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Yu Gothic" pitchFamily="34" charset="0"/>
                <a:ea typeface="Yu Gothic" pitchFamily="34" charset="-122"/>
                <a:cs typeface="Yu Gothic" pitchFamily="34" charset="-120"/>
              </a:rPr>
              <a:t>関連知識：正しい定義文に別の用語名を当てはめる出題パターンが頻出。用語と定義を1対1で正確に結びつけて覚えること。</a:t>
            </a:r>
            <a:endParaRPr lang="en-US" sz="900" dirty="0"/>
          </a:p>
        </p:txBody>
      </p:sp>
      <p:sp>
        <p:nvSpPr>
          <p:cNvPr id="19" name="Text 17"/>
          <p:cNvSpPr txBox="1"/>
          <p:nvPr/>
        </p:nvSpPr>
        <p:spPr>
          <a:xfrm>
            <a:off x="502920" y="532180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出典：past_exams/1st_stage/1ji2025/F1JI2025.pdf（令和7年度第1次試験）第13問／正解：past_exams/1st_stage_answers/r07/f_v2_20250902.pdf</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F-18 ／ 組織と人材（プロジェクトマネジメント、サービスマネジメント）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WBS辞書はスコープ記述書とは別物</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インシデント管理（応急対応）と問題管理（根本対策）を区別する。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286000" cy="310896"/>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ワークパッケージ</a:t>
            </a:r>
            <a:endParaRPr lang="en-US" sz="1000" dirty="0"/>
          </a:p>
        </p:txBody>
      </p:sp>
      <p:sp>
        <p:nvSpPr>
          <p:cNvPr id="9" name="Shape 7"/>
          <p:cNvSpPr/>
          <p:nvPr/>
        </p:nvSpPr>
        <p:spPr>
          <a:xfrm>
            <a:off x="2770632" y="1691640"/>
            <a:ext cx="0" cy="256032"/>
          </a:xfrm>
          <a:prstGeom prst="line">
            <a:avLst/>
          </a:prstGeom>
          <a:noFill/>
          <a:ln w="12700">
            <a:solidFill>
              <a:srgbClr val="E6E6E6"/>
            </a:solidFill>
            <a:prstDash val="solid"/>
          </a:ln>
        </p:spPr>
      </p:sp>
      <p:sp>
        <p:nvSpPr>
          <p:cNvPr id="10" name="Text 8"/>
          <p:cNvSpPr txBox="1"/>
          <p:nvPr/>
        </p:nvSpPr>
        <p:spPr>
          <a:xfrm>
            <a:off x="2926080" y="1691640"/>
            <a:ext cx="8778240" cy="310896"/>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WBS最下位の作業単位。進捗・コスト管理の最小単位</a:t>
            </a:r>
            <a:endParaRPr lang="en-US" sz="1000" dirty="0"/>
          </a:p>
        </p:txBody>
      </p:sp>
      <p:sp>
        <p:nvSpPr>
          <p:cNvPr id="11" name="Text 9"/>
          <p:cNvSpPr txBox="1"/>
          <p:nvPr/>
        </p:nvSpPr>
        <p:spPr>
          <a:xfrm>
            <a:off x="502920" y="2020824"/>
            <a:ext cx="2286000" cy="310896"/>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100％ルール</a:t>
            </a:r>
            <a:endParaRPr lang="en-US" sz="1000" dirty="0"/>
          </a:p>
        </p:txBody>
      </p:sp>
      <p:sp>
        <p:nvSpPr>
          <p:cNvPr id="12" name="Shape 10"/>
          <p:cNvSpPr/>
          <p:nvPr/>
        </p:nvSpPr>
        <p:spPr>
          <a:xfrm>
            <a:off x="2770632" y="2020824"/>
            <a:ext cx="0" cy="256032"/>
          </a:xfrm>
          <a:prstGeom prst="line">
            <a:avLst/>
          </a:prstGeom>
          <a:noFill/>
          <a:ln w="12700">
            <a:solidFill>
              <a:srgbClr val="E6E6E6"/>
            </a:solidFill>
            <a:prstDash val="solid"/>
          </a:ln>
        </p:spPr>
      </p:sp>
      <p:sp>
        <p:nvSpPr>
          <p:cNvPr id="13" name="Text 11"/>
          <p:cNvSpPr txBox="1"/>
          <p:nvPr/>
        </p:nvSpPr>
        <p:spPr>
          <a:xfrm>
            <a:off x="2926080" y="2020824"/>
            <a:ext cx="8778240" cy="310896"/>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上位作業を抜け漏れ・重複なく下位作業に分解する原則</a:t>
            </a:r>
            <a:endParaRPr lang="en-US" sz="1000" dirty="0"/>
          </a:p>
        </p:txBody>
      </p:sp>
      <p:sp>
        <p:nvSpPr>
          <p:cNvPr id="14" name="Text 12"/>
          <p:cNvSpPr txBox="1"/>
          <p:nvPr/>
        </p:nvSpPr>
        <p:spPr>
          <a:xfrm>
            <a:off x="502920" y="2350008"/>
            <a:ext cx="2286000" cy="310896"/>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クリティカルパス</a:t>
            </a:r>
            <a:endParaRPr lang="en-US" sz="1000" dirty="0"/>
          </a:p>
        </p:txBody>
      </p:sp>
      <p:sp>
        <p:nvSpPr>
          <p:cNvPr id="15" name="Shape 13"/>
          <p:cNvSpPr/>
          <p:nvPr/>
        </p:nvSpPr>
        <p:spPr>
          <a:xfrm>
            <a:off x="2770632" y="2350008"/>
            <a:ext cx="0" cy="256032"/>
          </a:xfrm>
          <a:prstGeom prst="line">
            <a:avLst/>
          </a:prstGeom>
          <a:noFill/>
          <a:ln w="12700">
            <a:solidFill>
              <a:srgbClr val="E6E6E6"/>
            </a:solidFill>
            <a:prstDash val="solid"/>
          </a:ln>
        </p:spPr>
      </p:sp>
      <p:sp>
        <p:nvSpPr>
          <p:cNvPr id="16" name="Text 14"/>
          <p:cNvSpPr txBox="1"/>
          <p:nvPr/>
        </p:nvSpPr>
        <p:spPr>
          <a:xfrm>
            <a:off x="2926080" y="2350008"/>
            <a:ext cx="8778240" cy="310896"/>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PERT図で最も時間のかかる作業経路（遅れると全体が遅れる）</a:t>
            </a:r>
            <a:endParaRPr lang="en-US" sz="1000" dirty="0"/>
          </a:p>
        </p:txBody>
      </p:sp>
      <p:sp>
        <p:nvSpPr>
          <p:cNvPr id="17" name="Text 15"/>
          <p:cNvSpPr txBox="1"/>
          <p:nvPr/>
        </p:nvSpPr>
        <p:spPr>
          <a:xfrm>
            <a:off x="502920" y="2679192"/>
            <a:ext cx="2286000" cy="310896"/>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インシデント管理／問題管理</a:t>
            </a:r>
            <a:endParaRPr lang="en-US" sz="1000" dirty="0"/>
          </a:p>
        </p:txBody>
      </p:sp>
      <p:sp>
        <p:nvSpPr>
          <p:cNvPr id="18" name="Shape 16"/>
          <p:cNvSpPr/>
          <p:nvPr/>
        </p:nvSpPr>
        <p:spPr>
          <a:xfrm>
            <a:off x="2770632" y="2679192"/>
            <a:ext cx="0" cy="256032"/>
          </a:xfrm>
          <a:prstGeom prst="line">
            <a:avLst/>
          </a:prstGeom>
          <a:noFill/>
          <a:ln w="12700">
            <a:solidFill>
              <a:srgbClr val="E6E6E6"/>
            </a:solidFill>
            <a:prstDash val="solid"/>
          </a:ln>
        </p:spPr>
      </p:sp>
      <p:sp>
        <p:nvSpPr>
          <p:cNvPr id="19" name="Text 17"/>
          <p:cNvSpPr txBox="1"/>
          <p:nvPr/>
        </p:nvSpPr>
        <p:spPr>
          <a:xfrm>
            <a:off x="2926080" y="2679192"/>
            <a:ext cx="8778240" cy="310896"/>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インシデント＝迅速な応急対応／問題＝根本原因の恒久対策</a:t>
            </a:r>
            <a:endParaRPr lang="en-US" sz="100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0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00" dirty="0">
                <a:solidFill>
                  <a:srgbClr val="FF3B1F"/>
                </a:solidFill>
                <a:latin typeface="Yu Gothic" pitchFamily="34" charset="0"/>
                <a:ea typeface="Yu Gothic" pitchFamily="34" charset="-122"/>
                <a:cs typeface="Yu Gothic" pitchFamily="34" charset="-120"/>
              </a:rPr>
              <a:t>「WBS辞書＝プロジェクト全体の範囲を記述」は誤り（それはスコープ記述書）。「イテレーション＝早期作業を詳細計画」も誤り（それはローリングウェーブ計画法）。</a:t>
            </a:r>
            <a:endParaRPr lang="en-US" sz="90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関連：F-17 情報システム開発（イテレーションはアジャイル開発の反復単位）。</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F-18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第18問）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28016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WBS（Work Breakdown Structure）に関する記述の正誤の組み合わせとして、最も適切なものを下記の解答群から選べ。ａ：WBS辞書とは、プロジェクト全体の範囲、成果物、前提条件や制約条件などを記述した文書のことである。ｂ：ワークパッケージとは、WBSの最下位レベルの作業群のことで、進捗状況などをコントロールする際の最小単位である。ｃ：100％ルールとは、WBSの階層構造において、上位の作業を過不足なく下位の複数の作業に展開するルールのことである。ｄ：イテレーションとは、WBSを作成する際、早期に完了しなければならない作業は詳細に計画し、将来の作業は概略にとどめておいて、時期がきたら詳細化を繰り返す反復計画技法のことである。</a:t>
            </a:r>
            <a:endParaRPr lang="en-US" sz="1250" dirty="0"/>
          </a:p>
        </p:txBody>
      </p:sp>
      <p:sp>
        <p:nvSpPr>
          <p:cNvPr id="9" name="Text 7"/>
          <p:cNvSpPr txBox="1"/>
          <p:nvPr/>
        </p:nvSpPr>
        <p:spPr>
          <a:xfrm>
            <a:off x="731520" y="306324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ｃ：正　ｄ：誤</a:t>
            </a:r>
            <a:endParaRPr lang="en-US" sz="1150" dirty="0"/>
          </a:p>
        </p:txBody>
      </p:sp>
      <p:sp>
        <p:nvSpPr>
          <p:cNvPr id="10" name="Text 8"/>
          <p:cNvSpPr txBox="1"/>
          <p:nvPr/>
        </p:nvSpPr>
        <p:spPr>
          <a:xfrm>
            <a:off x="731520" y="344728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ｃ：誤　ｄ：正</a:t>
            </a:r>
            <a:endParaRPr lang="en-US" sz="1150" dirty="0"/>
          </a:p>
        </p:txBody>
      </p:sp>
      <p:sp>
        <p:nvSpPr>
          <p:cNvPr id="11" name="Text 9"/>
          <p:cNvSpPr txBox="1"/>
          <p:nvPr/>
        </p:nvSpPr>
        <p:spPr>
          <a:xfrm>
            <a:off x="731520" y="383133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ｃ：誤　ｄ：誤</a:t>
            </a:r>
            <a:endParaRPr lang="en-US" sz="1150" dirty="0"/>
          </a:p>
        </p:txBody>
      </p:sp>
      <p:sp>
        <p:nvSpPr>
          <p:cNvPr id="12" name="Text 10"/>
          <p:cNvSpPr txBox="1"/>
          <p:nvPr/>
        </p:nvSpPr>
        <p:spPr>
          <a:xfrm>
            <a:off x="731520" y="421538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ｃ：正　ｄ：誤</a:t>
            </a:r>
            <a:endParaRPr lang="en-US" sz="1150" dirty="0"/>
          </a:p>
        </p:txBody>
      </p:sp>
      <p:sp>
        <p:nvSpPr>
          <p:cNvPr id="13" name="Text 11"/>
          <p:cNvSpPr txBox="1"/>
          <p:nvPr/>
        </p:nvSpPr>
        <p:spPr>
          <a:xfrm>
            <a:off x="731520" y="459943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ｃ：正　ｄ：正</a:t>
            </a:r>
            <a:endParaRPr lang="en-US" sz="1150" dirty="0"/>
          </a:p>
        </p:txBody>
      </p:sp>
      <p:sp>
        <p:nvSpPr>
          <p:cNvPr id="14" name="Text 12"/>
          <p:cNvSpPr txBox="1"/>
          <p:nvPr/>
        </p:nvSpPr>
        <p:spPr>
          <a:xfrm>
            <a:off x="502920" y="512064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出典：past_exams/1st_stage/1ji2025/F1JI2025.pdf（令和7年度第1次試験）第18問</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F-18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第18問）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正解はエ。ａ・ｄは正しい定義に別の用語名を当てている。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ｃ：正　ｄ：誤</a:t>
            </a:r>
            <a:endParaRPr lang="en-US" sz="1150" dirty="0"/>
          </a:p>
        </p:txBody>
      </p:sp>
      <p:sp>
        <p:nvSpPr>
          <p:cNvPr id="9" name="Text 7"/>
          <p:cNvSpPr txBox="1"/>
          <p:nvPr/>
        </p:nvSpPr>
        <p:spPr>
          <a:xfrm>
            <a:off x="731520" y="2121408"/>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ｂ：正　ｃ：誤　ｄ：正</a:t>
            </a:r>
            <a:endParaRPr lang="en-US" sz="1150" dirty="0"/>
          </a:p>
        </p:txBody>
      </p:sp>
      <p:sp>
        <p:nvSpPr>
          <p:cNvPr id="10" name="Text 8"/>
          <p:cNvSpPr txBox="1"/>
          <p:nvPr/>
        </p:nvSpPr>
        <p:spPr>
          <a:xfrm>
            <a:off x="731520" y="2505456"/>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ａ：正　ｂ：誤　ｃ：誤　ｄ：誤</a:t>
            </a:r>
            <a:endParaRPr lang="en-US" sz="1150" dirty="0"/>
          </a:p>
        </p:txBody>
      </p:sp>
      <p:sp>
        <p:nvSpPr>
          <p:cNvPr id="11" name="Shape 9"/>
          <p:cNvSpPr/>
          <p:nvPr/>
        </p:nvSpPr>
        <p:spPr>
          <a:xfrm>
            <a:off x="502920" y="2862072"/>
            <a:ext cx="11201400" cy="384048"/>
          </a:xfrm>
          <a:prstGeom prst="rect">
            <a:avLst/>
          </a:prstGeom>
          <a:solidFill>
            <a:srgbClr val="F4F4F4"/>
          </a:solidFill>
          <a:ln/>
        </p:spPr>
      </p:sp>
      <p:sp>
        <p:nvSpPr>
          <p:cNvPr id="12" name="Shape 10"/>
          <p:cNvSpPr/>
          <p:nvPr/>
        </p:nvSpPr>
        <p:spPr>
          <a:xfrm>
            <a:off x="502920" y="2862072"/>
            <a:ext cx="0" cy="384048"/>
          </a:xfrm>
          <a:prstGeom prst="line">
            <a:avLst/>
          </a:prstGeom>
          <a:noFill/>
          <a:ln w="38100">
            <a:solidFill>
              <a:srgbClr val="FF3B1F"/>
            </a:solidFill>
            <a:prstDash val="solid"/>
          </a:ln>
        </p:spPr>
      </p:sp>
      <p:sp>
        <p:nvSpPr>
          <p:cNvPr id="13" name="Text 11"/>
          <p:cNvSpPr txBox="1"/>
          <p:nvPr/>
        </p:nvSpPr>
        <p:spPr>
          <a:xfrm>
            <a:off x="731520" y="2889504"/>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ｂ：正　ｃ：正　ｄ：誤</a:t>
            </a:r>
            <a:endParaRPr lang="en-US" sz="1150" dirty="0"/>
          </a:p>
        </p:txBody>
      </p:sp>
      <p:sp>
        <p:nvSpPr>
          <p:cNvPr id="14" name="Text 12"/>
          <p:cNvSpPr txBox="1"/>
          <p:nvPr/>
        </p:nvSpPr>
        <p:spPr>
          <a:xfrm>
            <a:off x="731520" y="3273552"/>
            <a:ext cx="10789920" cy="33832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ａ：誤　ｂ：誤　ｃ：正　ｄ：正</a:t>
            </a:r>
            <a:endParaRPr lang="en-US" sz="1150" dirty="0"/>
          </a:p>
        </p:txBody>
      </p:sp>
      <p:sp>
        <p:nvSpPr>
          <p:cNvPr id="15" name="Shape 13"/>
          <p:cNvSpPr/>
          <p:nvPr/>
        </p:nvSpPr>
        <p:spPr>
          <a:xfrm>
            <a:off x="502920" y="3712464"/>
            <a:ext cx="11201400" cy="0"/>
          </a:xfrm>
          <a:prstGeom prst="line">
            <a:avLst/>
          </a:prstGeom>
          <a:noFill/>
          <a:ln w="12700">
            <a:solidFill>
              <a:srgbClr val="171717"/>
            </a:solidFill>
            <a:prstDash val="solid"/>
          </a:ln>
        </p:spPr>
      </p:sp>
      <p:sp>
        <p:nvSpPr>
          <p:cNvPr id="16" name="Text 14"/>
          <p:cNvSpPr txBox="1"/>
          <p:nvPr/>
        </p:nvSpPr>
        <p:spPr>
          <a:xfrm>
            <a:off x="502920" y="3785616"/>
            <a:ext cx="11201400" cy="658368"/>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正解：エ</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。ａ（誤）：プロジェクト全体の範囲・成果物・制約条件を記述するのは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スコープ記述書</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の説明。WBS辞書は各ワークパッケージごとの作業内容・担当・完了基準を記述する補助文書。ｂ（正）：ワークパッケージの説明どおり正しい。ｃ（正）：100％ルールの説明どおり正しい。ｄ（誤）：早期作業を詳細計画し将来は概略にとどめる技法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ローリングウェーブ計画法</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の説明（イテレーションはアジャイル開発の反復単位）。</a:t>
            </a:r>
            <a:endParaRPr lang="en-US" sz="900" dirty="0"/>
          </a:p>
        </p:txBody>
      </p:sp>
      <p:sp>
        <p:nvSpPr>
          <p:cNvPr id="17" name="Text 15"/>
          <p:cNvSpPr txBox="1"/>
          <p:nvPr/>
        </p:nvSpPr>
        <p:spPr>
          <a:xfrm>
            <a:off x="502920" y="4498848"/>
            <a:ext cx="11201400" cy="36576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「要件定義」という上位作業を「業務ヒアリング」「要件一覧の作成」「レビュー」に抜け漏れ・重複なく分解するのが100％ルールの適用例。</a:t>
            </a:r>
            <a:endParaRPr lang="en-US" sz="850" dirty="0"/>
          </a:p>
        </p:txBody>
      </p:sp>
      <p:sp>
        <p:nvSpPr>
          <p:cNvPr id="18" name="Text 16"/>
          <p:cNvSpPr txBox="1"/>
          <p:nvPr/>
        </p:nvSpPr>
        <p:spPr>
          <a:xfrm>
            <a:off x="502920" y="4910328"/>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Yu Gothic" pitchFamily="34" charset="0"/>
                <a:ea typeface="Yu Gothic" pitchFamily="34" charset="-122"/>
                <a:cs typeface="Yu Gothic" pitchFamily="34" charset="-120"/>
              </a:rPr>
              <a:t>関連知識：WBS辞書とスコープ記述書、イテレーションとローリングウェーブ計画法のように「定義は正しいが用語名が違う」ひっかけが頻出。</a:t>
            </a:r>
            <a:endParaRPr lang="en-US" sz="900" dirty="0"/>
          </a:p>
        </p:txBody>
      </p:sp>
      <p:sp>
        <p:nvSpPr>
          <p:cNvPr id="19" name="Text 17"/>
          <p:cNvSpPr txBox="1"/>
          <p:nvPr/>
        </p:nvSpPr>
        <p:spPr>
          <a:xfrm>
            <a:off x="502920" y="523036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出典：past_exams/1st_stage/1ji2025/F1JI2025.pdf（令和7年度第1次試験）第18問／正解：past_exams/1st_stage_answers/r07/f_v2_20250902.pdf</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F-19 ／ 情報セキュリティの概念（機密性・完全性・可用性）</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「漏れない」「正しい」「使える」の3本柱</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1つの対策が複数の要素にまたがることもある点に注意。</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6459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機密性</a:t>
            </a:r>
            <a:endParaRPr lang="en-US" sz="1050" dirty="0"/>
          </a:p>
        </p:txBody>
      </p:sp>
      <p:sp>
        <p:nvSpPr>
          <p:cNvPr id="9" name="Shape 7"/>
          <p:cNvSpPr/>
          <p:nvPr/>
        </p:nvSpPr>
        <p:spPr>
          <a:xfrm>
            <a:off x="2130552" y="1691640"/>
            <a:ext cx="0" cy="256032"/>
          </a:xfrm>
          <a:prstGeom prst="line">
            <a:avLst/>
          </a:prstGeom>
          <a:noFill/>
          <a:ln w="12700">
            <a:solidFill>
              <a:srgbClr val="E6E6E6"/>
            </a:solidFill>
            <a:prstDash val="solid"/>
          </a:ln>
        </p:spPr>
      </p:sp>
      <p:sp>
        <p:nvSpPr>
          <p:cNvPr id="10" name="Text 8"/>
          <p:cNvSpPr txBox="1"/>
          <p:nvPr/>
        </p:nvSpPr>
        <p:spPr>
          <a:xfrm>
            <a:off x="2286000" y="1691640"/>
            <a:ext cx="94183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許可された人だけが情報にアクセスできる（例：権限設定）</a:t>
            </a:r>
            <a:endParaRPr lang="en-US" sz="1050" dirty="0"/>
          </a:p>
        </p:txBody>
      </p:sp>
      <p:sp>
        <p:nvSpPr>
          <p:cNvPr id="11" name="Text 9"/>
          <p:cNvSpPr txBox="1"/>
          <p:nvPr/>
        </p:nvSpPr>
        <p:spPr>
          <a:xfrm>
            <a:off x="502920" y="2020824"/>
            <a:ext cx="16459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完全性</a:t>
            </a:r>
            <a:endParaRPr lang="en-US" sz="1050" dirty="0"/>
          </a:p>
        </p:txBody>
      </p:sp>
      <p:sp>
        <p:nvSpPr>
          <p:cNvPr id="12" name="Shape 10"/>
          <p:cNvSpPr/>
          <p:nvPr/>
        </p:nvSpPr>
        <p:spPr>
          <a:xfrm>
            <a:off x="2130552" y="2020824"/>
            <a:ext cx="0" cy="256032"/>
          </a:xfrm>
          <a:prstGeom prst="line">
            <a:avLst/>
          </a:prstGeom>
          <a:noFill/>
          <a:ln w="12700">
            <a:solidFill>
              <a:srgbClr val="E6E6E6"/>
            </a:solidFill>
            <a:prstDash val="solid"/>
          </a:ln>
        </p:spPr>
      </p:sp>
      <p:sp>
        <p:nvSpPr>
          <p:cNvPr id="13" name="Text 11"/>
          <p:cNvSpPr txBox="1"/>
          <p:nvPr/>
        </p:nvSpPr>
        <p:spPr>
          <a:xfrm>
            <a:off x="2286000" y="2020824"/>
            <a:ext cx="94183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情報が正確で不正に改ざん・破壊されていない（例：改ざん検知）</a:t>
            </a:r>
            <a:endParaRPr lang="en-US" sz="1050" dirty="0"/>
          </a:p>
        </p:txBody>
      </p:sp>
      <p:sp>
        <p:nvSpPr>
          <p:cNvPr id="14" name="Text 12"/>
          <p:cNvSpPr txBox="1"/>
          <p:nvPr/>
        </p:nvSpPr>
        <p:spPr>
          <a:xfrm>
            <a:off x="502920" y="2350008"/>
            <a:ext cx="16459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可用性</a:t>
            </a:r>
            <a:endParaRPr lang="en-US" sz="1050" dirty="0"/>
          </a:p>
        </p:txBody>
      </p:sp>
      <p:sp>
        <p:nvSpPr>
          <p:cNvPr id="15" name="Shape 13"/>
          <p:cNvSpPr/>
          <p:nvPr/>
        </p:nvSpPr>
        <p:spPr>
          <a:xfrm>
            <a:off x="2130552" y="2350008"/>
            <a:ext cx="0" cy="256032"/>
          </a:xfrm>
          <a:prstGeom prst="line">
            <a:avLst/>
          </a:prstGeom>
          <a:noFill/>
          <a:ln w="12700">
            <a:solidFill>
              <a:srgbClr val="E6E6E6"/>
            </a:solidFill>
            <a:prstDash val="solid"/>
          </a:ln>
        </p:spPr>
      </p:sp>
      <p:sp>
        <p:nvSpPr>
          <p:cNvPr id="16" name="Text 14"/>
          <p:cNvSpPr txBox="1"/>
          <p:nvPr/>
        </p:nvSpPr>
        <p:spPr>
          <a:xfrm>
            <a:off x="2286000" y="2350008"/>
            <a:ext cx="94183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必要なときに情報・システムを使える（例：二重化、バックアップ）</a:t>
            </a:r>
            <a:endParaRPr lang="en-US" sz="1050" dirty="0"/>
          </a:p>
        </p:txBody>
      </p:sp>
      <p:sp>
        <p:nvSpPr>
          <p:cNvPr id="17" name="Text 15"/>
          <p:cNvSpPr txBox="1"/>
          <p:nvPr/>
        </p:nvSpPr>
        <p:spPr>
          <a:xfrm>
            <a:off x="502920" y="2679192"/>
            <a:ext cx="16459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リスク対応</a:t>
            </a:r>
            <a:endParaRPr lang="en-US" sz="1050" dirty="0"/>
          </a:p>
        </p:txBody>
      </p:sp>
      <p:sp>
        <p:nvSpPr>
          <p:cNvPr id="18" name="Shape 16"/>
          <p:cNvSpPr/>
          <p:nvPr/>
        </p:nvSpPr>
        <p:spPr>
          <a:xfrm>
            <a:off x="2130552" y="2679192"/>
            <a:ext cx="0" cy="256032"/>
          </a:xfrm>
          <a:prstGeom prst="line">
            <a:avLst/>
          </a:prstGeom>
          <a:noFill/>
          <a:ln w="12700">
            <a:solidFill>
              <a:srgbClr val="E6E6E6"/>
            </a:solidFill>
            <a:prstDash val="solid"/>
          </a:ln>
        </p:spPr>
      </p:sp>
      <p:sp>
        <p:nvSpPr>
          <p:cNvPr id="19" name="Text 17"/>
          <p:cNvSpPr txBox="1"/>
          <p:nvPr/>
        </p:nvSpPr>
        <p:spPr>
          <a:xfrm>
            <a:off x="2286000" y="2679192"/>
            <a:ext cx="94183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回避・低減・移転・受容の4方針</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「漏れない＝機密性」「正しい＝完全性」「使える＝可用性」で判断。バックアップは主に可用性だが完全性にも関わりうる。</a:t>
            </a:r>
            <a:endParaRPr lang="en-US" sz="950" dirty="0"/>
          </a:p>
        </p:txBody>
      </p:sp>
      <p:sp>
        <p:nvSpPr>
          <p:cNvPr id="22" name="Text 20"/>
          <p:cNvSpPr txBox="1"/>
          <p:nvPr/>
        </p:nvSpPr>
        <p:spPr>
          <a:xfrm>
            <a:off x="502920" y="3703320"/>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顧客データベースへのアクセスを担当者のみに限定するのは機密性の確保、不正な書き換えを検知する仕組みは完全性の確保、災害時にも止まらないようサーバを複数拠点に分散するのは可用性の確保にそれぞれ当たる。</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直近10年単独出題なし</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関連：F-20 情報セキュリティ管理・対策（CIAを守る具体的な技術・対策）。</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F-20 ／ 情報セキュリティ管理・対策</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EPPは事前防止、EDRは事後の検知・対応</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ランサムウェア対策では初動でネットワークからの切り離しを優先する。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03120" cy="310896"/>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EPP／EDR</a:t>
            </a:r>
            <a:endParaRPr lang="en-US" sz="1000" dirty="0"/>
          </a:p>
        </p:txBody>
      </p:sp>
      <p:sp>
        <p:nvSpPr>
          <p:cNvPr id="9" name="Shape 7"/>
          <p:cNvSpPr/>
          <p:nvPr/>
        </p:nvSpPr>
        <p:spPr>
          <a:xfrm>
            <a:off x="2587752" y="1691640"/>
            <a:ext cx="0" cy="256032"/>
          </a:xfrm>
          <a:prstGeom prst="line">
            <a:avLst/>
          </a:prstGeom>
          <a:noFill/>
          <a:ln w="12700">
            <a:solidFill>
              <a:srgbClr val="E6E6E6"/>
            </a:solidFill>
            <a:prstDash val="solid"/>
          </a:ln>
        </p:spPr>
      </p:sp>
      <p:sp>
        <p:nvSpPr>
          <p:cNvPr id="10" name="Text 8"/>
          <p:cNvSpPr txBox="1"/>
          <p:nvPr/>
        </p:nvSpPr>
        <p:spPr>
          <a:xfrm>
            <a:off x="2743200" y="1691640"/>
            <a:ext cx="8961120" cy="310896"/>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EPP＝侵入の事前防止／EDR＝侵入後の検知・対応</a:t>
            </a:r>
            <a:endParaRPr lang="en-US" sz="1000" dirty="0"/>
          </a:p>
        </p:txBody>
      </p:sp>
      <p:sp>
        <p:nvSpPr>
          <p:cNvPr id="11" name="Text 9"/>
          <p:cNvSpPr txBox="1"/>
          <p:nvPr/>
        </p:nvSpPr>
        <p:spPr>
          <a:xfrm>
            <a:off x="502920" y="2020824"/>
            <a:ext cx="2103120" cy="310896"/>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共通鍵／公開鍵暗号</a:t>
            </a:r>
            <a:endParaRPr lang="en-US" sz="1000" dirty="0"/>
          </a:p>
        </p:txBody>
      </p:sp>
      <p:sp>
        <p:nvSpPr>
          <p:cNvPr id="12" name="Shape 10"/>
          <p:cNvSpPr/>
          <p:nvPr/>
        </p:nvSpPr>
        <p:spPr>
          <a:xfrm>
            <a:off x="2587752" y="2020824"/>
            <a:ext cx="0" cy="256032"/>
          </a:xfrm>
          <a:prstGeom prst="line">
            <a:avLst/>
          </a:prstGeom>
          <a:noFill/>
          <a:ln w="12700">
            <a:solidFill>
              <a:srgbClr val="E6E6E6"/>
            </a:solidFill>
            <a:prstDash val="solid"/>
          </a:ln>
        </p:spPr>
      </p:sp>
      <p:sp>
        <p:nvSpPr>
          <p:cNvPr id="13" name="Text 11"/>
          <p:cNvSpPr txBox="1"/>
          <p:nvPr/>
        </p:nvSpPr>
        <p:spPr>
          <a:xfrm>
            <a:off x="2743200" y="2020824"/>
            <a:ext cx="8961120" cy="310896"/>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共通鍵＝高速だが鍵配送に工夫要／公開鍵＝安全だが低速</a:t>
            </a:r>
            <a:endParaRPr lang="en-US" sz="1000" dirty="0"/>
          </a:p>
        </p:txBody>
      </p:sp>
      <p:sp>
        <p:nvSpPr>
          <p:cNvPr id="14" name="Text 12"/>
          <p:cNvSpPr txBox="1"/>
          <p:nvPr/>
        </p:nvSpPr>
        <p:spPr>
          <a:xfrm>
            <a:off x="502920" y="2350008"/>
            <a:ext cx="2103120" cy="310896"/>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多要素認証</a:t>
            </a:r>
            <a:endParaRPr lang="en-US" sz="1000" dirty="0"/>
          </a:p>
        </p:txBody>
      </p:sp>
      <p:sp>
        <p:nvSpPr>
          <p:cNvPr id="15" name="Shape 13"/>
          <p:cNvSpPr/>
          <p:nvPr/>
        </p:nvSpPr>
        <p:spPr>
          <a:xfrm>
            <a:off x="2587752" y="2350008"/>
            <a:ext cx="0" cy="256032"/>
          </a:xfrm>
          <a:prstGeom prst="line">
            <a:avLst/>
          </a:prstGeom>
          <a:noFill/>
          <a:ln w="12700">
            <a:solidFill>
              <a:srgbClr val="E6E6E6"/>
            </a:solidFill>
            <a:prstDash val="solid"/>
          </a:ln>
        </p:spPr>
      </p:sp>
      <p:sp>
        <p:nvSpPr>
          <p:cNvPr id="16" name="Text 14"/>
          <p:cNvSpPr txBox="1"/>
          <p:nvPr/>
        </p:nvSpPr>
        <p:spPr>
          <a:xfrm>
            <a:off x="2743200" y="2350008"/>
            <a:ext cx="8961120" cy="310896"/>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知識・所持・生体の複数要素を組み合わせる</a:t>
            </a:r>
            <a:endParaRPr lang="en-US" sz="1000" dirty="0"/>
          </a:p>
        </p:txBody>
      </p:sp>
      <p:sp>
        <p:nvSpPr>
          <p:cNvPr id="17" name="Text 15"/>
          <p:cNvSpPr txBox="1"/>
          <p:nvPr/>
        </p:nvSpPr>
        <p:spPr>
          <a:xfrm>
            <a:off x="502920" y="2679192"/>
            <a:ext cx="2103120" cy="310896"/>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ランサムウェア対策</a:t>
            </a:r>
            <a:endParaRPr lang="en-US" sz="1000" dirty="0"/>
          </a:p>
        </p:txBody>
      </p:sp>
      <p:sp>
        <p:nvSpPr>
          <p:cNvPr id="18" name="Shape 16"/>
          <p:cNvSpPr/>
          <p:nvPr/>
        </p:nvSpPr>
        <p:spPr>
          <a:xfrm>
            <a:off x="2587752" y="2679192"/>
            <a:ext cx="0" cy="256032"/>
          </a:xfrm>
          <a:prstGeom prst="line">
            <a:avLst/>
          </a:prstGeom>
          <a:noFill/>
          <a:ln w="12700">
            <a:solidFill>
              <a:srgbClr val="E6E6E6"/>
            </a:solidFill>
            <a:prstDash val="solid"/>
          </a:ln>
        </p:spPr>
      </p:sp>
      <p:sp>
        <p:nvSpPr>
          <p:cNvPr id="19" name="Text 17"/>
          <p:cNvSpPr txBox="1"/>
          <p:nvPr/>
        </p:nvSpPr>
        <p:spPr>
          <a:xfrm>
            <a:off x="2743200" y="2679192"/>
            <a:ext cx="8961120" cy="310896"/>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バックアップは平常時ネットワークから切り離す。感染時はまず切り離す</a:t>
            </a:r>
            <a:endParaRPr lang="en-US" sz="100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EPPとEDRの役割の入れ替え、「バックアップ機器は常時接続すべき」の誤りに注意。</a:t>
            </a:r>
            <a:endParaRPr lang="en-US" sz="95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関連：F-10 通信ネットワーク（HTTPS等の暗号化通信）。</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F-20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第19問）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50292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近年、中小企業においてもランサムウェアによる被害が増加している。ランサムウェアに関する記述として、最も適切なものはどれか。</a:t>
            </a:r>
            <a:endParaRPr lang="en-US" sz="1250" dirty="0"/>
          </a:p>
        </p:txBody>
      </p:sp>
      <p:sp>
        <p:nvSpPr>
          <p:cNvPr id="9" name="Text 7"/>
          <p:cNvSpPr txBox="1"/>
          <p:nvPr/>
        </p:nvSpPr>
        <p:spPr>
          <a:xfrm>
            <a:off x="731520" y="228600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EDRは、マルウェア感染防止や外部からの攻撃通信ブロックなど、ランサムウェア攻撃による侵入の事前防止を担う。</a:t>
            </a:r>
            <a:endParaRPr lang="en-US" sz="1150" dirty="0"/>
          </a:p>
        </p:txBody>
      </p:sp>
      <p:sp>
        <p:nvSpPr>
          <p:cNvPr id="10" name="Text 8"/>
          <p:cNvSpPr txBox="1"/>
          <p:nvPr/>
        </p:nvSpPr>
        <p:spPr>
          <a:xfrm>
            <a:off x="731520" y="278892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EPPは、PCやサーバに侵入してしまったランサムウェアを検知し、異常や不審な挙動があればシステム担当者に通知するなど侵入後の事後対処を担う。</a:t>
            </a:r>
            <a:endParaRPr lang="en-US" sz="1150" dirty="0"/>
          </a:p>
        </p:txBody>
      </p:sp>
      <p:sp>
        <p:nvSpPr>
          <p:cNvPr id="11" name="Text 9"/>
          <p:cNvSpPr txBox="1"/>
          <p:nvPr/>
        </p:nvSpPr>
        <p:spPr>
          <a:xfrm>
            <a:off x="731520" y="333756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ランサムウェアに感染した際に早期復旧できるように、バックアップデータを保存した機器は、常にネットワークに接続しておく。</a:t>
            </a:r>
            <a:endParaRPr lang="en-US" sz="1150" dirty="0"/>
          </a:p>
        </p:txBody>
      </p:sp>
      <p:sp>
        <p:nvSpPr>
          <p:cNvPr id="12" name="Text 10"/>
          <p:cNvSpPr txBox="1"/>
          <p:nvPr/>
        </p:nvSpPr>
        <p:spPr>
          <a:xfrm>
            <a:off x="731520" y="384048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ランサムウェアに感染した場合は、速やかに感染した端末の電源を切り、システム担当者やセキュリティベンダに報告する。</a:t>
            </a:r>
            <a:endParaRPr lang="en-US" sz="1150" dirty="0"/>
          </a:p>
        </p:txBody>
      </p:sp>
      <p:sp>
        <p:nvSpPr>
          <p:cNvPr id="13" name="Text 11"/>
          <p:cNvSpPr txBox="1"/>
          <p:nvPr/>
        </p:nvSpPr>
        <p:spPr>
          <a:xfrm>
            <a:off x="731520" y="434340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ランサムウェアの主要な侵入経路は、VPN機器、リモートデスクトップ、不審メールやその添付ファイルである。</a:t>
            </a:r>
            <a:endParaRPr lang="en-US" sz="1150" dirty="0"/>
          </a:p>
        </p:txBody>
      </p:sp>
      <p:sp>
        <p:nvSpPr>
          <p:cNvPr id="14" name="Text 12"/>
          <p:cNvSpPr txBox="1"/>
          <p:nvPr/>
        </p:nvSpPr>
        <p:spPr>
          <a:xfrm>
            <a:off x="502920" y="493776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出典：past_exams/1st_stage/1ji2025/F1JI2025.pdf（令和7年度第1次試験）第19問</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F-20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第19問）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正解はオ。IPAの調査に基づく主要侵入経路の記述。</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EDRは、マルウェア感染防止や外部からの攻撃通信ブロックなど、ランサムウェア攻撃による侵入の事前防止を担う。</a:t>
            </a:r>
            <a:endParaRPr lang="en-US" sz="1150" dirty="0"/>
          </a:p>
        </p:txBody>
      </p:sp>
      <p:sp>
        <p:nvSpPr>
          <p:cNvPr id="9" name="Text 7"/>
          <p:cNvSpPr txBox="1"/>
          <p:nvPr/>
        </p:nvSpPr>
        <p:spPr>
          <a:xfrm>
            <a:off x="731520" y="224028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EPPは、PCやサーバに侵入してしまったランサムウェアを検知し、異常や不審な挙動があればシステム担当者に通知するなど侵入後の事後対処を担う。</a:t>
            </a:r>
            <a:endParaRPr lang="en-US" sz="1150" dirty="0"/>
          </a:p>
        </p:txBody>
      </p:sp>
      <p:sp>
        <p:nvSpPr>
          <p:cNvPr id="10" name="Text 8"/>
          <p:cNvSpPr txBox="1"/>
          <p:nvPr/>
        </p:nvSpPr>
        <p:spPr>
          <a:xfrm>
            <a:off x="731520" y="278892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ランサムウェアに感染した際に早期復旧できるように、バックアップデータを保存した機器は、常にネットワークに接続しておく。</a:t>
            </a:r>
            <a:endParaRPr lang="en-US" sz="1150" dirty="0"/>
          </a:p>
        </p:txBody>
      </p:sp>
      <p:sp>
        <p:nvSpPr>
          <p:cNvPr id="11" name="Text 9"/>
          <p:cNvSpPr txBox="1"/>
          <p:nvPr/>
        </p:nvSpPr>
        <p:spPr>
          <a:xfrm>
            <a:off x="731520" y="3291840"/>
            <a:ext cx="10789920" cy="45720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ランサムウェアに感染した場合は、速やかに感染した端末の電源を切り、システム担当者やセキュリティベンダに報告する。</a:t>
            </a:r>
            <a:endParaRPr lang="en-US" sz="1150" dirty="0"/>
          </a:p>
        </p:txBody>
      </p:sp>
      <p:sp>
        <p:nvSpPr>
          <p:cNvPr id="12" name="Shape 10"/>
          <p:cNvSpPr/>
          <p:nvPr/>
        </p:nvSpPr>
        <p:spPr>
          <a:xfrm>
            <a:off x="502920" y="3767328"/>
            <a:ext cx="11201400" cy="457200"/>
          </a:xfrm>
          <a:prstGeom prst="rect">
            <a:avLst/>
          </a:prstGeom>
          <a:solidFill>
            <a:srgbClr val="F4F4F4"/>
          </a:solidFill>
          <a:ln/>
        </p:spPr>
      </p:sp>
      <p:sp>
        <p:nvSpPr>
          <p:cNvPr id="13" name="Shape 11"/>
          <p:cNvSpPr/>
          <p:nvPr/>
        </p:nvSpPr>
        <p:spPr>
          <a:xfrm>
            <a:off x="502920" y="3767328"/>
            <a:ext cx="0" cy="457200"/>
          </a:xfrm>
          <a:prstGeom prst="line">
            <a:avLst/>
          </a:prstGeom>
          <a:noFill/>
          <a:ln w="38100">
            <a:solidFill>
              <a:srgbClr val="FF3B1F"/>
            </a:solidFill>
            <a:prstDash val="solid"/>
          </a:ln>
        </p:spPr>
      </p:sp>
      <p:sp>
        <p:nvSpPr>
          <p:cNvPr id="14" name="Text 12"/>
          <p:cNvSpPr txBox="1"/>
          <p:nvPr/>
        </p:nvSpPr>
        <p:spPr>
          <a:xfrm>
            <a:off x="731520" y="3794760"/>
            <a:ext cx="10789920" cy="411480"/>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ランサムウェアの主要な侵入経路は、VPN機器、リモートデスクトップ、不審メールやその添付ファイルである。</a:t>
            </a:r>
            <a:endParaRPr lang="en-US" sz="1150" dirty="0"/>
          </a:p>
        </p:txBody>
      </p:sp>
      <p:sp>
        <p:nvSpPr>
          <p:cNvPr id="15" name="Shape 13"/>
          <p:cNvSpPr/>
          <p:nvPr/>
        </p:nvSpPr>
        <p:spPr>
          <a:xfrm>
            <a:off x="502920" y="4306824"/>
            <a:ext cx="11201400" cy="0"/>
          </a:xfrm>
          <a:prstGeom prst="line">
            <a:avLst/>
          </a:prstGeom>
          <a:noFill/>
          <a:ln w="12700">
            <a:solidFill>
              <a:srgbClr val="171717"/>
            </a:solidFill>
            <a:prstDash val="solid"/>
          </a:ln>
        </p:spPr>
      </p:sp>
      <p:sp>
        <p:nvSpPr>
          <p:cNvPr id="16" name="Text 14"/>
          <p:cNvSpPr txBox="1"/>
          <p:nvPr/>
        </p:nvSpPr>
        <p:spPr>
          <a:xfrm>
            <a:off x="502920" y="4379976"/>
            <a:ext cx="11201400" cy="777240"/>
          </a:xfrm>
          <a:prstGeom prst="rect">
            <a:avLst/>
          </a:prstGeom>
          <a:noFill/>
          <a:ln/>
        </p:spPr>
        <p:txBody>
          <a:bodyPr wrap="square" lIns="0" tIns="0" rIns="0" bIns="0" rtlCol="0" anchor="ctr"/>
          <a:lstStyle/>
          <a:p>
            <a:pPr indent="0" marL="0">
              <a:lnSpc>
                <a:spcPct val="112000"/>
              </a:lnSpc>
              <a:buNone/>
            </a:pPr>
            <a:r>
              <a:rPr lang="en-US" sz="900" b="1" dirty="0">
                <a:solidFill>
                  <a:srgbClr val="FF3B1F"/>
                </a:solidFill>
                <a:latin typeface="Yu Gothic" pitchFamily="34" charset="0"/>
                <a:ea typeface="Yu Gothic" pitchFamily="34" charset="-122"/>
                <a:cs typeface="Yu Gothic" pitchFamily="34" charset="-120"/>
              </a:rPr>
              <a:t>正解：オ</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。IPAの「情報セキュリティ10大脅威」でもVPN機器の脆弱性・RDPの不正利用・不審メールが継続して挙げられており記述と一致。ア・イ：EPP（事前防止）とEDR（事後の検知・対応）の役割が</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入れ替わっている</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。ウ：バックアップ機器を常時接続すると</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バックアップ自体も暗号化される危険</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があり、平常時は切り離すべき。エ：まず優先すべきは</a:t>
            </a:r>
            <a:pPr indent="0" marL="0">
              <a:lnSpc>
                <a:spcPct val="112000"/>
              </a:lnSpc>
              <a:buNone/>
            </a:pPr>
            <a:r>
              <a:rPr lang="en-US" sz="900" b="1" dirty="0">
                <a:solidFill>
                  <a:srgbClr val="171717"/>
                </a:solidFill>
                <a:latin typeface="Yu Gothic" pitchFamily="34" charset="0"/>
                <a:ea typeface="Yu Gothic" pitchFamily="34" charset="-122"/>
                <a:cs typeface="Yu Gothic" pitchFamily="34" charset="-120"/>
              </a:rPr>
              <a:t>ネットワークからの切り離し</a:t>
            </a:r>
            <a:pPr indent="0" marL="0">
              <a:lnSpc>
                <a:spcPct val="112000"/>
              </a:lnSpc>
              <a:buNone/>
            </a:pPr>
            <a:r>
              <a:rPr lang="en-US" sz="900" dirty="0">
                <a:solidFill>
                  <a:srgbClr val="171717"/>
                </a:solidFill>
                <a:latin typeface="Yu Gothic" pitchFamily="34" charset="0"/>
                <a:ea typeface="Yu Gothic" pitchFamily="34" charset="-122"/>
                <a:cs typeface="Yu Gothic" pitchFamily="34" charset="-120"/>
              </a:rPr>
              <a:t>（電源を切るとフォレンジック調査に必要な情報が失われうる）。</a:t>
            </a:r>
            <a:endParaRPr lang="en-US" sz="900" dirty="0"/>
          </a:p>
        </p:txBody>
      </p:sp>
      <p:sp>
        <p:nvSpPr>
          <p:cNvPr id="17" name="Text 15"/>
          <p:cNvSpPr txBox="1"/>
          <p:nvPr/>
        </p:nvSpPr>
        <p:spPr>
          <a:xfrm>
            <a:off x="502920" y="5202936"/>
            <a:ext cx="11201400" cy="365760"/>
          </a:xfrm>
          <a:prstGeom prst="rect">
            <a:avLst/>
          </a:prstGeom>
          <a:noFill/>
          <a:ln/>
        </p:spPr>
        <p:txBody>
          <a:bodyPr wrap="square" lIns="0" tIns="0" rIns="0" bIns="0" rtlCol="0" anchor="ctr"/>
          <a:lstStyle/>
          <a:p>
            <a:pPr indent="0" marL="0">
              <a:lnSpc>
                <a:spcPct val="115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15000"/>
              </a:lnSpc>
              <a:buNone/>
            </a:pPr>
            <a:r>
              <a:rPr lang="en-US" sz="900" dirty="0">
                <a:solidFill>
                  <a:srgbClr val="171717"/>
                </a:solidFill>
                <a:latin typeface="Yu Gothic" pitchFamily="34" charset="0"/>
                <a:ea typeface="Yu Gothic" pitchFamily="34" charset="-122"/>
                <a:cs typeface="Yu Gothic" pitchFamily="34" charset="-120"/>
              </a:rPr>
              <a:t>感染時はLANケーブルを抜く等でネットワークから切り離し、その後システム担当者・セキュリティベンダへ報告する初動対応が推奨される。</a:t>
            </a:r>
            <a:endParaRPr lang="en-US" sz="850" dirty="0"/>
          </a:p>
        </p:txBody>
      </p:sp>
      <p:sp>
        <p:nvSpPr>
          <p:cNvPr id="18" name="Text 16"/>
          <p:cNvSpPr txBox="1"/>
          <p:nvPr/>
        </p:nvSpPr>
        <p:spPr>
          <a:xfrm>
            <a:off x="502920" y="5614416"/>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Yu Gothic" pitchFamily="34" charset="0"/>
                <a:ea typeface="Yu Gothic" pitchFamily="34" charset="-122"/>
                <a:cs typeface="Yu Gothic" pitchFamily="34" charset="-120"/>
              </a:rPr>
              <a:t>関連知識：EPP＝侵入させない予防、EDR＝侵入後の検知・対応という補完関係。バックアップのオフライン・オフサイト保管が基本。</a:t>
            </a:r>
            <a:endParaRPr lang="en-US" sz="900" dirty="0"/>
          </a:p>
        </p:txBody>
      </p:sp>
      <p:sp>
        <p:nvSpPr>
          <p:cNvPr id="19" name="Text 17"/>
          <p:cNvSpPr txBox="1"/>
          <p:nvPr/>
        </p:nvSpPr>
        <p:spPr>
          <a:xfrm>
            <a:off x="502920" y="5934456"/>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出典：past_exams/1st_stage/1ji2025/F1JI2025.pdf（令和7年度第1次試験）第19問／正解：past_exams/1st_stage_answers/r07/f_v2_20250902.pdf</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F-21 ／ 情報システムの評価（品質評価、価値評価）</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品質評価と経済性評価は別の評価軸</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品質特性6観点は名前が似ているため混同しやすい。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828800" cy="39319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品質特性</a:t>
            </a:r>
            <a:endParaRPr lang="en-US" sz="1150" dirty="0"/>
          </a:p>
        </p:txBody>
      </p:sp>
      <p:sp>
        <p:nvSpPr>
          <p:cNvPr id="9" name="Shape 7"/>
          <p:cNvSpPr/>
          <p:nvPr/>
        </p:nvSpPr>
        <p:spPr>
          <a:xfrm>
            <a:off x="2313432" y="1691640"/>
            <a:ext cx="0" cy="256032"/>
          </a:xfrm>
          <a:prstGeom prst="line">
            <a:avLst/>
          </a:prstGeom>
          <a:noFill/>
          <a:ln w="12700">
            <a:solidFill>
              <a:srgbClr val="E6E6E6"/>
            </a:solidFill>
            <a:prstDash val="solid"/>
          </a:ln>
        </p:spPr>
      </p:sp>
      <p:sp>
        <p:nvSpPr>
          <p:cNvPr id="10" name="Text 8"/>
          <p:cNvSpPr txBox="1"/>
          <p:nvPr/>
        </p:nvSpPr>
        <p:spPr>
          <a:xfrm>
            <a:off x="2468880" y="1691640"/>
            <a:ext cx="9235440" cy="39319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機能性・信頼性・使用性・効率性・保守性・移植性</a:t>
            </a:r>
            <a:endParaRPr lang="en-US" sz="1150" dirty="0"/>
          </a:p>
        </p:txBody>
      </p:sp>
      <p:sp>
        <p:nvSpPr>
          <p:cNvPr id="11" name="Text 9"/>
          <p:cNvSpPr txBox="1"/>
          <p:nvPr/>
        </p:nvSpPr>
        <p:spPr>
          <a:xfrm>
            <a:off x="502920" y="2103120"/>
            <a:ext cx="1828800" cy="39319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効率性</a:t>
            </a:r>
            <a:endParaRPr lang="en-US" sz="1150" dirty="0"/>
          </a:p>
        </p:txBody>
      </p:sp>
      <p:sp>
        <p:nvSpPr>
          <p:cNvPr id="12" name="Shape 10"/>
          <p:cNvSpPr/>
          <p:nvPr/>
        </p:nvSpPr>
        <p:spPr>
          <a:xfrm>
            <a:off x="2313432" y="2103120"/>
            <a:ext cx="0" cy="256032"/>
          </a:xfrm>
          <a:prstGeom prst="line">
            <a:avLst/>
          </a:prstGeom>
          <a:noFill/>
          <a:ln w="12700">
            <a:solidFill>
              <a:srgbClr val="E6E6E6"/>
            </a:solidFill>
            <a:prstDash val="solid"/>
          </a:ln>
        </p:spPr>
      </p:sp>
      <p:sp>
        <p:nvSpPr>
          <p:cNvPr id="13" name="Text 11"/>
          <p:cNvSpPr txBox="1"/>
          <p:nvPr/>
        </p:nvSpPr>
        <p:spPr>
          <a:xfrm>
            <a:off x="2468880" y="2103120"/>
            <a:ext cx="9235440" cy="39319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限られた資源（処理時間・メモリ）で効率よく動作するか</a:t>
            </a:r>
            <a:endParaRPr lang="en-US" sz="1150" dirty="0"/>
          </a:p>
        </p:txBody>
      </p:sp>
      <p:sp>
        <p:nvSpPr>
          <p:cNvPr id="14" name="Text 12"/>
          <p:cNvSpPr txBox="1"/>
          <p:nvPr/>
        </p:nvSpPr>
        <p:spPr>
          <a:xfrm>
            <a:off x="502920" y="2514600"/>
            <a:ext cx="1828800" cy="393192"/>
          </a:xfrm>
          <a:prstGeom prst="rect">
            <a:avLst/>
          </a:prstGeom>
          <a:noFill/>
          <a:ln/>
        </p:spPr>
        <p:txBody>
          <a:bodyPr wrap="square" lIns="0" tIns="0" rIns="0" bIns="0" rtlCol="0" anchor="t"/>
          <a:lstStyle/>
          <a:p>
            <a:pPr indent="0" marL="0">
              <a:buNone/>
            </a:pPr>
            <a:r>
              <a:rPr lang="en-US" sz="1150" b="1" dirty="0">
                <a:solidFill>
                  <a:srgbClr val="171717"/>
                </a:solidFill>
                <a:latin typeface="Yu Gothic" pitchFamily="34" charset="0"/>
                <a:ea typeface="Yu Gothic" pitchFamily="34" charset="-122"/>
                <a:cs typeface="Yu Gothic" pitchFamily="34" charset="-120"/>
              </a:rPr>
              <a:t>ROI</a:t>
            </a:r>
            <a:endParaRPr lang="en-US" sz="1150" dirty="0"/>
          </a:p>
        </p:txBody>
      </p:sp>
      <p:sp>
        <p:nvSpPr>
          <p:cNvPr id="15" name="Shape 13"/>
          <p:cNvSpPr/>
          <p:nvPr/>
        </p:nvSpPr>
        <p:spPr>
          <a:xfrm>
            <a:off x="2313432" y="2514600"/>
            <a:ext cx="0" cy="256032"/>
          </a:xfrm>
          <a:prstGeom prst="line">
            <a:avLst/>
          </a:prstGeom>
          <a:noFill/>
          <a:ln w="12700">
            <a:solidFill>
              <a:srgbClr val="E6E6E6"/>
            </a:solidFill>
            <a:prstDash val="solid"/>
          </a:ln>
        </p:spPr>
      </p:sp>
      <p:sp>
        <p:nvSpPr>
          <p:cNvPr id="16" name="Text 14"/>
          <p:cNvSpPr txBox="1"/>
          <p:nvPr/>
        </p:nvSpPr>
        <p:spPr>
          <a:xfrm>
            <a:off x="2468880" y="2514600"/>
            <a:ext cx="9235440" cy="393192"/>
          </a:xfrm>
          <a:prstGeom prst="rect">
            <a:avLst/>
          </a:prstGeom>
          <a:noFill/>
          <a:ln/>
        </p:spPr>
        <p:txBody>
          <a:bodyPr wrap="square" lIns="0" tIns="0" rIns="0" bIns="0" rtlCol="0" anchor="t"/>
          <a:lstStyle/>
          <a:p>
            <a:pPr indent="0" marL="0">
              <a:buNone/>
            </a:pPr>
            <a:r>
              <a:rPr lang="en-US" sz="1150" dirty="0">
                <a:solidFill>
                  <a:srgbClr val="8A8A8A"/>
                </a:solidFill>
                <a:latin typeface="Yu Gothic" pitchFamily="34" charset="0"/>
                <a:ea typeface="Yu Gothic" pitchFamily="34" charset="-122"/>
                <a:cs typeface="Yu Gothic" pitchFamily="34" charset="-120"/>
              </a:rPr>
              <a:t>投資額に対する利益の割合（経済性評価の指標）</a:t>
            </a:r>
            <a:endParaRPr lang="en-US" sz="1150" dirty="0"/>
          </a:p>
        </p:txBody>
      </p:sp>
      <p:sp>
        <p:nvSpPr>
          <p:cNvPr id="17" name="Shape 15"/>
          <p:cNvSpPr/>
          <p:nvPr/>
        </p:nvSpPr>
        <p:spPr>
          <a:xfrm>
            <a:off x="502920" y="3017520"/>
            <a:ext cx="11201400" cy="0"/>
          </a:xfrm>
          <a:prstGeom prst="line">
            <a:avLst/>
          </a:prstGeom>
          <a:noFill/>
          <a:ln w="12700">
            <a:solidFill>
              <a:srgbClr val="E6E6E6"/>
            </a:solidFill>
            <a:prstDash val="solid"/>
          </a:ln>
        </p:spPr>
      </p:sp>
      <p:sp>
        <p:nvSpPr>
          <p:cNvPr id="18" name="Text 16"/>
          <p:cNvSpPr txBox="1"/>
          <p:nvPr/>
        </p:nvSpPr>
        <p:spPr>
          <a:xfrm>
            <a:off x="502920" y="3090672"/>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「効率性」（資源利用の良さ）と「効果性」（目的達成度）を取り違えない。品質面と経済面は異なる評価軸。</a:t>
            </a:r>
            <a:endParaRPr lang="en-US" sz="950" dirty="0"/>
          </a:p>
        </p:txBody>
      </p:sp>
      <p:sp>
        <p:nvSpPr>
          <p:cNvPr id="19" name="Text 17"/>
          <p:cNvSpPr txBox="1"/>
          <p:nvPr/>
        </p:nvSpPr>
        <p:spPr>
          <a:xfrm>
            <a:off x="502920" y="3639312"/>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小売チェーンのB社は新しい在庫管理システムの導入後、「入力ミスが減ったか」（機能性）「現場が迷わず操作できるか」（使用性）という品質面と、「削減できた在庫ロス額に対する導入費用」（ROI）という経済面の両方で効果を検証した。</a:t>
            </a:r>
            <a:endParaRPr lang="en-US" sz="8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関連：F-11 システム評価（信頼性・経済性の指標と重複）。</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F-22 ／ 意思決定支援：問題分析・意思決定技法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デシジョンツリーは□が意思決定、○が確率分岐</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線形計画法は利益最大化だけでなくコスト最小化にも使える。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94560" cy="39319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線形計画法</a:t>
            </a:r>
            <a:endParaRPr lang="en-US" sz="1100" dirty="0"/>
          </a:p>
        </p:txBody>
      </p:sp>
      <p:sp>
        <p:nvSpPr>
          <p:cNvPr id="9" name="Shape 7"/>
          <p:cNvSpPr/>
          <p:nvPr/>
        </p:nvSpPr>
        <p:spPr>
          <a:xfrm>
            <a:off x="2679192" y="1691640"/>
            <a:ext cx="0" cy="256032"/>
          </a:xfrm>
          <a:prstGeom prst="line">
            <a:avLst/>
          </a:prstGeom>
          <a:noFill/>
          <a:ln w="12700">
            <a:solidFill>
              <a:srgbClr val="E6E6E6"/>
            </a:solidFill>
            <a:prstDash val="solid"/>
          </a:ln>
        </p:spPr>
      </p:sp>
      <p:sp>
        <p:nvSpPr>
          <p:cNvPr id="10" name="Text 8"/>
          <p:cNvSpPr txBox="1"/>
          <p:nvPr/>
        </p:nvSpPr>
        <p:spPr>
          <a:xfrm>
            <a:off x="2834640" y="1691640"/>
            <a:ext cx="8869680" cy="39319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制約条件下で利益最大化・コスト最小化する生産量の組合せを求める</a:t>
            </a:r>
            <a:endParaRPr lang="en-US" sz="1100" dirty="0"/>
          </a:p>
        </p:txBody>
      </p:sp>
      <p:sp>
        <p:nvSpPr>
          <p:cNvPr id="11" name="Text 9"/>
          <p:cNvSpPr txBox="1"/>
          <p:nvPr/>
        </p:nvSpPr>
        <p:spPr>
          <a:xfrm>
            <a:off x="502920" y="2103120"/>
            <a:ext cx="2194560" cy="39319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デシジョンツリー分析</a:t>
            </a:r>
            <a:endParaRPr lang="en-US" sz="1100" dirty="0"/>
          </a:p>
        </p:txBody>
      </p:sp>
      <p:sp>
        <p:nvSpPr>
          <p:cNvPr id="12" name="Shape 10"/>
          <p:cNvSpPr/>
          <p:nvPr/>
        </p:nvSpPr>
        <p:spPr>
          <a:xfrm>
            <a:off x="2679192" y="2103120"/>
            <a:ext cx="0" cy="256032"/>
          </a:xfrm>
          <a:prstGeom prst="line">
            <a:avLst/>
          </a:prstGeom>
          <a:noFill/>
          <a:ln w="12700">
            <a:solidFill>
              <a:srgbClr val="E6E6E6"/>
            </a:solidFill>
            <a:prstDash val="solid"/>
          </a:ln>
        </p:spPr>
      </p:sp>
      <p:sp>
        <p:nvSpPr>
          <p:cNvPr id="13" name="Text 11"/>
          <p:cNvSpPr txBox="1"/>
          <p:nvPr/>
        </p:nvSpPr>
        <p:spPr>
          <a:xfrm>
            <a:off x="2834640" y="2103120"/>
            <a:ext cx="8869680" cy="39319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選択肢と不確実な事象を樹木状に図示し期待値で判断</a:t>
            </a:r>
            <a:endParaRPr lang="en-US" sz="1100" dirty="0"/>
          </a:p>
        </p:txBody>
      </p:sp>
      <p:sp>
        <p:nvSpPr>
          <p:cNvPr id="14" name="Text 12"/>
          <p:cNvSpPr txBox="1"/>
          <p:nvPr/>
        </p:nvSpPr>
        <p:spPr>
          <a:xfrm>
            <a:off x="502920" y="2514600"/>
            <a:ext cx="2194560" cy="393192"/>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待ち行列理論</a:t>
            </a:r>
            <a:endParaRPr lang="en-US" sz="1100" dirty="0"/>
          </a:p>
        </p:txBody>
      </p:sp>
      <p:sp>
        <p:nvSpPr>
          <p:cNvPr id="15" name="Shape 13"/>
          <p:cNvSpPr/>
          <p:nvPr/>
        </p:nvSpPr>
        <p:spPr>
          <a:xfrm>
            <a:off x="2679192" y="2514600"/>
            <a:ext cx="0" cy="256032"/>
          </a:xfrm>
          <a:prstGeom prst="line">
            <a:avLst/>
          </a:prstGeom>
          <a:noFill/>
          <a:ln w="12700">
            <a:solidFill>
              <a:srgbClr val="E6E6E6"/>
            </a:solidFill>
            <a:prstDash val="solid"/>
          </a:ln>
        </p:spPr>
      </p:sp>
      <p:sp>
        <p:nvSpPr>
          <p:cNvPr id="16" name="Text 14"/>
          <p:cNvSpPr txBox="1"/>
          <p:nvPr/>
        </p:nvSpPr>
        <p:spPr>
          <a:xfrm>
            <a:off x="2834640" y="2514600"/>
            <a:ext cx="8869680" cy="393192"/>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窓口数やサービス時間から行列の長さ・待ち時間を予測</a:t>
            </a:r>
            <a:endParaRPr lang="en-US" sz="1100" dirty="0"/>
          </a:p>
        </p:txBody>
      </p:sp>
      <p:sp>
        <p:nvSpPr>
          <p:cNvPr id="17" name="Shape 15"/>
          <p:cNvSpPr/>
          <p:nvPr/>
        </p:nvSpPr>
        <p:spPr>
          <a:xfrm>
            <a:off x="502920" y="3017520"/>
            <a:ext cx="11201400" cy="0"/>
          </a:xfrm>
          <a:prstGeom prst="line">
            <a:avLst/>
          </a:prstGeom>
          <a:noFill/>
          <a:ln w="12700">
            <a:solidFill>
              <a:srgbClr val="E6E6E6"/>
            </a:solidFill>
            <a:prstDash val="solid"/>
          </a:ln>
        </p:spPr>
      </p:sp>
      <p:sp>
        <p:nvSpPr>
          <p:cNvPr id="18" name="Text 16"/>
          <p:cNvSpPr txBox="1"/>
          <p:nvPr/>
        </p:nvSpPr>
        <p:spPr>
          <a:xfrm>
            <a:off x="502920" y="3090672"/>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意思決定者が選べる分岐点は□（四角）、確率に左右される分岐点は○（丸）。線形計画法を「利益最大化限定」と覚えない。</a:t>
            </a:r>
            <a:endParaRPr lang="en-US" sz="950" dirty="0"/>
          </a:p>
        </p:txBody>
      </p:sp>
      <p:sp>
        <p:nvSpPr>
          <p:cNvPr id="19" name="Text 17"/>
          <p:cNvSpPr txBox="1"/>
          <p:nvPr/>
        </p:nvSpPr>
        <p:spPr>
          <a:xfrm>
            <a:off x="502920" y="3639312"/>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町工場E社は2種類の製品の原材料在庫という制約条件のもとで利益を最大化する生産量の組み合わせを線形計画法で求め、新製品開発の可否は市場の好不調とその発生確率をデシジョンツリーに整理して期待値で判断した。</a:t>
            </a:r>
            <a:endParaRPr lang="en-US" sz="8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出題実績あり</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関連：F-18 組織と人材（PERT図・クリティカルパスは本論点とも共通）。</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FFFF"/>
          </a:solidFill>
          <a:ln w="12700">
            <a:solidFill>
              <a:srgbClr val="E6E6E6"/>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F-23 ／ 意思決定支援：データ分析技術と活用</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相関関係は因果関係を証明しない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主成分分析（要約）と因子分析（背後の共通因子推定）は目的が異なる。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回帰分析</a:t>
            </a:r>
            <a:endParaRPr lang="en-US" sz="1050" dirty="0"/>
          </a:p>
        </p:txBody>
      </p:sp>
      <p:sp>
        <p:nvSpPr>
          <p:cNvPr id="9" name="Shape 7"/>
          <p:cNvSpPr/>
          <p:nvPr/>
        </p:nvSpPr>
        <p:spPr>
          <a:xfrm>
            <a:off x="2313432" y="1691640"/>
            <a:ext cx="0" cy="256032"/>
          </a:xfrm>
          <a:prstGeom prst="line">
            <a:avLst/>
          </a:prstGeom>
          <a:noFill/>
          <a:ln w="12700">
            <a:solidFill>
              <a:srgbClr val="E6E6E6"/>
            </a:solidFill>
            <a:prstDash val="solid"/>
          </a:ln>
        </p:spPr>
      </p:sp>
      <p:sp>
        <p:nvSpPr>
          <p:cNvPr id="10" name="Text 8"/>
          <p:cNvSpPr txBox="1"/>
          <p:nvPr/>
        </p:nvSpPr>
        <p:spPr>
          <a:xfrm>
            <a:off x="2468880" y="1691640"/>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説明変数から目的変数を予測する式を求める。2変数以上は重回帰分析</a:t>
            </a:r>
            <a:endParaRPr lang="en-US" sz="1050" dirty="0"/>
          </a:p>
        </p:txBody>
      </p:sp>
      <p:sp>
        <p:nvSpPr>
          <p:cNvPr id="11" name="Text 9"/>
          <p:cNvSpPr txBox="1"/>
          <p:nvPr/>
        </p:nvSpPr>
        <p:spPr>
          <a:xfrm>
            <a:off x="502920" y="2020824"/>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主成分分析</a:t>
            </a:r>
            <a:endParaRPr lang="en-US" sz="1050" dirty="0"/>
          </a:p>
        </p:txBody>
      </p:sp>
      <p:sp>
        <p:nvSpPr>
          <p:cNvPr id="12" name="Shape 10"/>
          <p:cNvSpPr/>
          <p:nvPr/>
        </p:nvSpPr>
        <p:spPr>
          <a:xfrm>
            <a:off x="2313432" y="2020824"/>
            <a:ext cx="0" cy="256032"/>
          </a:xfrm>
          <a:prstGeom prst="line">
            <a:avLst/>
          </a:prstGeom>
          <a:noFill/>
          <a:ln w="12700">
            <a:solidFill>
              <a:srgbClr val="E6E6E6"/>
            </a:solidFill>
            <a:prstDash val="solid"/>
          </a:ln>
        </p:spPr>
      </p:sp>
      <p:sp>
        <p:nvSpPr>
          <p:cNvPr id="13" name="Text 11"/>
          <p:cNvSpPr txBox="1"/>
          <p:nvPr/>
        </p:nvSpPr>
        <p:spPr>
          <a:xfrm>
            <a:off x="2468880" y="2020824"/>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多数の変数を情報量を保ったまま少数の合成変数に要約</a:t>
            </a:r>
            <a:endParaRPr lang="en-US" sz="1050" dirty="0"/>
          </a:p>
        </p:txBody>
      </p:sp>
      <p:sp>
        <p:nvSpPr>
          <p:cNvPr id="14" name="Text 12"/>
          <p:cNvSpPr txBox="1"/>
          <p:nvPr/>
        </p:nvSpPr>
        <p:spPr>
          <a:xfrm>
            <a:off x="502920" y="2350008"/>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因子分析</a:t>
            </a:r>
            <a:endParaRPr lang="en-US" sz="1050" dirty="0"/>
          </a:p>
        </p:txBody>
      </p:sp>
      <p:sp>
        <p:nvSpPr>
          <p:cNvPr id="15" name="Shape 13"/>
          <p:cNvSpPr/>
          <p:nvPr/>
        </p:nvSpPr>
        <p:spPr>
          <a:xfrm>
            <a:off x="2313432" y="2350008"/>
            <a:ext cx="0" cy="256032"/>
          </a:xfrm>
          <a:prstGeom prst="line">
            <a:avLst/>
          </a:prstGeom>
          <a:noFill/>
          <a:ln w="12700">
            <a:solidFill>
              <a:srgbClr val="E6E6E6"/>
            </a:solidFill>
            <a:prstDash val="solid"/>
          </a:ln>
        </p:spPr>
      </p:sp>
      <p:sp>
        <p:nvSpPr>
          <p:cNvPr id="16" name="Text 14"/>
          <p:cNvSpPr txBox="1"/>
          <p:nvPr/>
        </p:nvSpPr>
        <p:spPr>
          <a:xfrm>
            <a:off x="2468880" y="2350008"/>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観測変数の背後にある共通の要因（因子）を推定</a:t>
            </a:r>
            <a:endParaRPr lang="en-US" sz="1050" dirty="0"/>
          </a:p>
        </p:txBody>
      </p:sp>
      <p:sp>
        <p:nvSpPr>
          <p:cNvPr id="17" name="Text 15"/>
          <p:cNvSpPr txBox="1"/>
          <p:nvPr/>
        </p:nvSpPr>
        <p:spPr>
          <a:xfrm>
            <a:off x="502920" y="2679192"/>
            <a:ext cx="182880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クラスター分析</a:t>
            </a:r>
            <a:endParaRPr lang="en-US" sz="1050" dirty="0"/>
          </a:p>
        </p:txBody>
      </p:sp>
      <p:sp>
        <p:nvSpPr>
          <p:cNvPr id="18" name="Shape 16"/>
          <p:cNvSpPr/>
          <p:nvPr/>
        </p:nvSpPr>
        <p:spPr>
          <a:xfrm>
            <a:off x="2313432" y="2679192"/>
            <a:ext cx="0" cy="256032"/>
          </a:xfrm>
          <a:prstGeom prst="line">
            <a:avLst/>
          </a:prstGeom>
          <a:noFill/>
          <a:ln w="12700">
            <a:solidFill>
              <a:srgbClr val="E6E6E6"/>
            </a:solidFill>
            <a:prstDash val="solid"/>
          </a:ln>
        </p:spPr>
      </p:sp>
      <p:sp>
        <p:nvSpPr>
          <p:cNvPr id="19" name="Text 17"/>
          <p:cNvSpPr txBox="1"/>
          <p:nvPr/>
        </p:nvSpPr>
        <p:spPr>
          <a:xfrm>
            <a:off x="2468880" y="2679192"/>
            <a:ext cx="923544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性質の似ているもの同士をグループに分類</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「相関があれば必ず因果関係がある」は誤り（見せかけの相関の可能性）。主成分分析と因子分析の目的の違いに注意。</a:t>
            </a:r>
            <a:endParaRPr lang="en-US" sz="950" dirty="0"/>
          </a:p>
        </p:txBody>
      </p:sp>
      <p:sp>
        <p:nvSpPr>
          <p:cNvPr id="22" name="Text 20"/>
          <p:cNvSpPr txBox="1"/>
          <p:nvPr/>
        </p:nvSpPr>
        <p:spPr>
          <a:xfrm>
            <a:off x="502920" y="3703320"/>
            <a:ext cx="11201400" cy="6858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小売チェーンのB社は来店客数と気温のデータから回帰分析で関係式を求める一方、購買データをクラスター分析でいくつかの顧客グループに分類し、その結果をBIツールでダッシュボード化して経営者に提示している。</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関連：F-24 データサイエンス（教師なし学習としてのクラスター分析）。</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F-24 ／ 意思決定支援：データサイエンス（AI、確率・統計）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教師あり学習は「正解データ」の有無で区別する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ハルシネーションは情報漏洩ではなく、事実に基づかない生成のこと。</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経営情報システム</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6459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教師あり学習</a:t>
            </a:r>
            <a:endParaRPr lang="en-US" sz="1050" dirty="0"/>
          </a:p>
        </p:txBody>
      </p:sp>
      <p:sp>
        <p:nvSpPr>
          <p:cNvPr id="9" name="Shape 7"/>
          <p:cNvSpPr/>
          <p:nvPr/>
        </p:nvSpPr>
        <p:spPr>
          <a:xfrm>
            <a:off x="2130552" y="1691640"/>
            <a:ext cx="0" cy="256032"/>
          </a:xfrm>
          <a:prstGeom prst="line">
            <a:avLst/>
          </a:prstGeom>
          <a:noFill/>
          <a:ln w="12700">
            <a:solidFill>
              <a:srgbClr val="E6E6E6"/>
            </a:solidFill>
            <a:prstDash val="solid"/>
          </a:ln>
        </p:spPr>
      </p:sp>
      <p:sp>
        <p:nvSpPr>
          <p:cNvPr id="10" name="Text 8"/>
          <p:cNvSpPr txBox="1"/>
          <p:nvPr/>
        </p:nvSpPr>
        <p:spPr>
          <a:xfrm>
            <a:off x="2286000" y="1691640"/>
            <a:ext cx="94183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正解データを使って学習し、新しいデータを予測（分類・回帰）</a:t>
            </a:r>
            <a:endParaRPr lang="en-US" sz="1050" dirty="0"/>
          </a:p>
        </p:txBody>
      </p:sp>
      <p:sp>
        <p:nvSpPr>
          <p:cNvPr id="11" name="Text 9"/>
          <p:cNvSpPr txBox="1"/>
          <p:nvPr/>
        </p:nvSpPr>
        <p:spPr>
          <a:xfrm>
            <a:off x="502920" y="2020824"/>
            <a:ext cx="16459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教師なし学習</a:t>
            </a:r>
            <a:endParaRPr lang="en-US" sz="1050" dirty="0"/>
          </a:p>
        </p:txBody>
      </p:sp>
      <p:sp>
        <p:nvSpPr>
          <p:cNvPr id="12" name="Shape 10"/>
          <p:cNvSpPr/>
          <p:nvPr/>
        </p:nvSpPr>
        <p:spPr>
          <a:xfrm>
            <a:off x="2130552" y="2020824"/>
            <a:ext cx="0" cy="256032"/>
          </a:xfrm>
          <a:prstGeom prst="line">
            <a:avLst/>
          </a:prstGeom>
          <a:noFill/>
          <a:ln w="12700">
            <a:solidFill>
              <a:srgbClr val="E6E6E6"/>
            </a:solidFill>
            <a:prstDash val="solid"/>
          </a:ln>
        </p:spPr>
      </p:sp>
      <p:sp>
        <p:nvSpPr>
          <p:cNvPr id="13" name="Text 11"/>
          <p:cNvSpPr txBox="1"/>
          <p:nvPr/>
        </p:nvSpPr>
        <p:spPr>
          <a:xfrm>
            <a:off x="2286000" y="2020824"/>
            <a:ext cx="94183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正解データなしにデータ自体のパターン・構造を発見</a:t>
            </a:r>
            <a:endParaRPr lang="en-US" sz="1050" dirty="0"/>
          </a:p>
        </p:txBody>
      </p:sp>
      <p:sp>
        <p:nvSpPr>
          <p:cNvPr id="14" name="Text 12"/>
          <p:cNvSpPr txBox="1"/>
          <p:nvPr/>
        </p:nvSpPr>
        <p:spPr>
          <a:xfrm>
            <a:off x="502920" y="2350008"/>
            <a:ext cx="16459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LLM</a:t>
            </a:r>
            <a:endParaRPr lang="en-US" sz="1050" dirty="0"/>
          </a:p>
        </p:txBody>
      </p:sp>
      <p:sp>
        <p:nvSpPr>
          <p:cNvPr id="15" name="Shape 13"/>
          <p:cNvSpPr/>
          <p:nvPr/>
        </p:nvSpPr>
        <p:spPr>
          <a:xfrm>
            <a:off x="2130552" y="2350008"/>
            <a:ext cx="0" cy="256032"/>
          </a:xfrm>
          <a:prstGeom prst="line">
            <a:avLst/>
          </a:prstGeom>
          <a:noFill/>
          <a:ln w="12700">
            <a:solidFill>
              <a:srgbClr val="E6E6E6"/>
            </a:solidFill>
            <a:prstDash val="solid"/>
          </a:ln>
        </p:spPr>
      </p:sp>
      <p:sp>
        <p:nvSpPr>
          <p:cNvPr id="16" name="Text 14"/>
          <p:cNvSpPr txBox="1"/>
          <p:nvPr/>
        </p:nvSpPr>
        <p:spPr>
          <a:xfrm>
            <a:off x="2286000" y="2350008"/>
            <a:ext cx="94183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大量の文章データを学習し文章生成・要約・翻訳を行うAIモデル</a:t>
            </a:r>
            <a:endParaRPr lang="en-US" sz="1050" dirty="0"/>
          </a:p>
        </p:txBody>
      </p:sp>
      <p:sp>
        <p:nvSpPr>
          <p:cNvPr id="17" name="Text 15"/>
          <p:cNvSpPr txBox="1"/>
          <p:nvPr/>
        </p:nvSpPr>
        <p:spPr>
          <a:xfrm>
            <a:off x="502920" y="2679192"/>
            <a:ext cx="164592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ハルシネーション</a:t>
            </a:r>
            <a:endParaRPr lang="en-US" sz="1050" dirty="0"/>
          </a:p>
        </p:txBody>
      </p:sp>
      <p:sp>
        <p:nvSpPr>
          <p:cNvPr id="18" name="Shape 16"/>
          <p:cNvSpPr/>
          <p:nvPr/>
        </p:nvSpPr>
        <p:spPr>
          <a:xfrm>
            <a:off x="2130552" y="2679192"/>
            <a:ext cx="0" cy="256032"/>
          </a:xfrm>
          <a:prstGeom prst="line">
            <a:avLst/>
          </a:prstGeom>
          <a:noFill/>
          <a:ln w="12700">
            <a:solidFill>
              <a:srgbClr val="E6E6E6"/>
            </a:solidFill>
            <a:prstDash val="solid"/>
          </a:ln>
        </p:spPr>
      </p:sp>
      <p:sp>
        <p:nvSpPr>
          <p:cNvPr id="19" name="Text 17"/>
          <p:cNvSpPr txBox="1"/>
          <p:nvPr/>
        </p:nvSpPr>
        <p:spPr>
          <a:xfrm>
            <a:off x="2286000" y="2679192"/>
            <a:ext cx="941832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AIが事実に基づかない誤情報をもっともらしく生成する現象</a:t>
            </a:r>
            <a:endParaRPr lang="en-US" sz="1050" dirty="0"/>
          </a:p>
        </p:txBody>
      </p:sp>
      <p:sp>
        <p:nvSpPr>
          <p:cNvPr id="20" name="Shape 18"/>
          <p:cNvSpPr/>
          <p:nvPr/>
        </p:nvSpPr>
        <p:spPr>
          <a:xfrm>
            <a:off x="502920" y="3081528"/>
            <a:ext cx="11201400" cy="0"/>
          </a:xfrm>
          <a:prstGeom prst="line">
            <a:avLst/>
          </a:prstGeom>
          <a:noFill/>
          <a:ln w="12700">
            <a:solidFill>
              <a:srgbClr val="E6E6E6"/>
            </a:solidFill>
            <a:prstDash val="solid"/>
          </a:ln>
        </p:spPr>
      </p:sp>
      <p:sp>
        <p:nvSpPr>
          <p:cNvPr id="21" name="Text 19"/>
          <p:cNvSpPr txBox="1"/>
          <p:nvPr/>
        </p:nvSpPr>
        <p:spPr>
          <a:xfrm>
            <a:off x="502920" y="315468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「教師あり学習＝正解データなし」は誤り（それは教師なし学習）。ハルシネーションは情報漏洩とは別の問題。</a:t>
            </a:r>
            <a:endParaRPr lang="en-US" sz="950" dirty="0"/>
          </a:p>
        </p:txBody>
      </p:sp>
      <p:sp>
        <p:nvSpPr>
          <p:cNvPr id="22" name="Text 20"/>
          <p:cNvSpPr txBox="1"/>
          <p:nvPr/>
        </p:nvSpPr>
        <p:spPr>
          <a:xfrm>
            <a:off x="502920" y="3703320"/>
            <a:ext cx="11201400" cy="8686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金融機関F社は過去の融資先データ（返済できたか）を使い新規申込者の延滞リスクを予測する教師あり学習モデルを構築する一方、生成AIチャットボットに自社製品を質問すると実在しない機能をもっともらしく回答したため、回答内容は必ず事実確認する運用にしている。</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関連：F-13 経営革新と情報システム（AI活用はDXの重要な手段）。</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経営情報システム</dc:title>
  <dc:subject>PptxGenJS Presentation</dc:subject>
  <dc:creator>SMEC</dc:creator>
  <cp:lastModifiedBy>SMEC</cp:lastModifiedBy>
  <cp:revision>1</cp:revision>
  <dcterms:created xsi:type="dcterms:W3CDTF">2026-09-20T10:12:41Z</dcterms:created>
  <dcterms:modified xsi:type="dcterms:W3CDTF">2026-09-20T10:12:41Z</dcterms:modified>
</cp:coreProperties>
</file>