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909560" y="685800"/>
            <a:ext cx="3840480" cy="3840480"/>
          </a:xfrm>
          <a:prstGeom prst="ellipse">
            <a:avLst/>
          </a:prstGeom>
          <a:solidFill>
            <a:srgbClr val="EEF2FF"/>
          </a:solidFill>
          <a:ln w="25400">
            <a:solidFill>
              <a:srgbClr val="A7A2F2"/>
            </a:solid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5400" b="1">
                <a:solidFill>
                  <a:srgbClr val="4F46E5"/>
                </a:solidFill>
                <a:latin typeface="WenQuanYi Micro Hei"/>
              </a:rPr>
              <a:t>A</a:t>
            </a:r>
          </a:p>
        </p:txBody>
      </p:sp>
      <p:sp>
        <p:nvSpPr>
          <p:cNvPr id="4" name="TextBox 3"/>
          <p:cNvSpPr txBox="1"/>
          <p:nvPr/>
        </p:nvSpPr>
        <p:spPr>
          <a:xfrm>
            <a:off x="685800" y="1280160"/>
            <a:ext cx="7086600" cy="502920"/>
          </a:xfrm>
          <a:prstGeom prst="rect">
            <a:avLst/>
          </a:prstGeom>
          <a:noFill/>
        </p:spPr>
        <p:txBody>
          <a:bodyPr wrap="square" tIns="91440" bIns="91440" anchor="ctr">
            <a:spAutoFit/>
          </a:bodyPr>
          <a:lstStyle/>
          <a:p>
            <a:pPr algn="l">
              <a:spcAft>
                <a:spcPts val="0"/>
              </a:spcAft>
            </a:pPr>
            <a:r>
              <a:rPr sz="1700" b="1">
                <a:solidFill>
                  <a:srgbClr val="4F46E5"/>
                </a:solidFill>
                <a:latin typeface="WenQuanYi Micro Hei"/>
              </a:rPr>
              <a:t>中小企業診断士 第1次試験</a:t>
            </a:r>
          </a:p>
        </p:txBody>
      </p:sp>
      <p:sp>
        <p:nvSpPr>
          <p:cNvPr id="5" name="TextBox 4"/>
          <p:cNvSpPr txBox="1"/>
          <p:nvPr/>
        </p:nvSpPr>
        <p:spPr>
          <a:xfrm>
            <a:off x="658368" y="1874519"/>
            <a:ext cx="7406640" cy="1234440"/>
          </a:xfrm>
          <a:prstGeom prst="rect">
            <a:avLst/>
          </a:prstGeom>
          <a:noFill/>
        </p:spPr>
        <p:txBody>
          <a:bodyPr wrap="square" tIns="91440" bIns="91440" anchor="t">
            <a:spAutoFit/>
          </a:bodyPr>
          <a:lstStyle/>
          <a:p>
            <a:pPr algn="l">
              <a:spcAft>
                <a:spcPts val="0"/>
              </a:spcAft>
            </a:pPr>
            <a:r>
              <a:rPr sz="3600" b="1">
                <a:solidFill>
                  <a:srgbClr val="172033"/>
                </a:solidFill>
                <a:latin typeface="WenQuanYi Micro Hei"/>
              </a:rPr>
              <a:t>経済学・経済政策</a:t>
            </a:r>
          </a:p>
        </p:txBody>
      </p:sp>
      <p:sp>
        <p:nvSpPr>
          <p:cNvPr id="6" name="TextBox 5"/>
          <p:cNvSpPr txBox="1"/>
          <p:nvPr/>
        </p:nvSpPr>
        <p:spPr>
          <a:xfrm>
            <a:off x="685800" y="3337560"/>
            <a:ext cx="6766560" cy="640080"/>
          </a:xfrm>
          <a:prstGeom prst="rect">
            <a:avLst/>
          </a:prstGeom>
          <a:noFill/>
        </p:spPr>
        <p:txBody>
          <a:bodyPr wrap="square" tIns="91440" bIns="91440" anchor="ctr">
            <a:spAutoFit/>
          </a:bodyPr>
          <a:lstStyle/>
          <a:p>
            <a:pPr algn="l">
              <a:spcAft>
                <a:spcPts val="0"/>
              </a:spcAft>
            </a:pPr>
            <a:r>
              <a:rPr sz="2000" b="0">
                <a:solidFill>
                  <a:srgbClr val="667085"/>
                </a:solidFill>
                <a:latin typeface="WenQuanYi Micro Hei"/>
              </a:rPr>
              <a:t>図解スライド｜全論点を「構造・比較・流れ」で理解する</a:t>
            </a:r>
          </a:p>
        </p:txBody>
      </p:sp>
      <p:sp>
        <p:nvSpPr>
          <p:cNvPr id="7" name="Rounded Rectangle 6"/>
          <p:cNvSpPr/>
          <p:nvPr/>
        </p:nvSpPr>
        <p:spPr>
          <a:xfrm>
            <a:off x="685800" y="4617720"/>
            <a:ext cx="3246120" cy="65836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000" b="1">
                <a:solidFill>
                  <a:srgbClr val="FFFFFF"/>
                </a:solidFill>
                <a:latin typeface="WenQuanYi Micro Hei"/>
              </a:rPr>
              <a:t>36 論点</a:t>
            </a:r>
          </a:p>
        </p:txBody>
      </p:sp>
      <p:sp>
        <p:nvSpPr>
          <p:cNvPr id="8" name="Rounded Rectangle 7"/>
          <p:cNvSpPr/>
          <p:nvPr/>
        </p:nvSpPr>
        <p:spPr>
          <a:xfrm>
            <a:off x="4096512" y="4617720"/>
            <a:ext cx="3246120" cy="658368"/>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000" b="1">
                <a:solidFill>
                  <a:srgbClr val="4F46E5"/>
                </a:solidFill>
                <a:latin typeface="WenQuanYi Micro Hei"/>
              </a:rPr>
              <a:t>8 セクション</a:t>
            </a:r>
          </a:p>
        </p:txBody>
      </p:sp>
      <p:sp>
        <p:nvSpPr>
          <p:cNvPr id="9" name="TextBox 8"/>
          <p:cNvSpPr txBox="1"/>
          <p:nvPr/>
        </p:nvSpPr>
        <p:spPr>
          <a:xfrm>
            <a:off x="685800" y="5879592"/>
            <a:ext cx="10881360" cy="256032"/>
          </a:xfrm>
          <a:prstGeom prst="rect">
            <a:avLst/>
          </a:prstGeom>
          <a:noFill/>
        </p:spPr>
        <p:txBody>
          <a:bodyPr wrap="square" tIns="91440" bIns="91440" anchor="ctr">
            <a:spAutoFit/>
          </a:bodyPr>
          <a:lstStyle/>
          <a:p>
            <a:pPr algn="l">
              <a:spcAft>
                <a:spcPts val="0"/>
              </a:spcAft>
            </a:pPr>
            <a:r>
              <a:rPr sz="1100" b="0">
                <a:solidFill>
                  <a:srgbClr val="667085"/>
                </a:solidFill>
                <a:latin typeface="WenQuanYi Micro Hei"/>
              </a:rPr>
              <a:t>SMEC 教科書シリーズ｜教科書本文を基に自動生成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502920"/>
          </a:xfrm>
          <a:prstGeom prst="rect">
            <a:avLst/>
          </a:prstGeom>
          <a:noFill/>
        </p:spPr>
        <p:txBody>
          <a:bodyPr wrap="square" tIns="91440" bIns="91440" anchor="ctr">
            <a:spAutoFit/>
          </a:bodyPr>
          <a:lstStyle/>
          <a:p>
            <a:pPr algn="l">
              <a:spcAft>
                <a:spcPts val="0"/>
              </a:spcAft>
            </a:pPr>
            <a:r>
              <a:rPr sz="2800" b="1">
                <a:solidFill>
                  <a:srgbClr val="172033"/>
                </a:solidFill>
                <a:latin typeface="WenQuanYi Micro Hei"/>
              </a:rPr>
              <a:t>このスライドの使い方</a:t>
            </a:r>
          </a:p>
        </p:txBody>
      </p:sp>
      <p:sp>
        <p:nvSpPr>
          <p:cNvPr id="4" name="Oval 3"/>
          <p:cNvSpPr/>
          <p:nvPr/>
        </p:nvSpPr>
        <p:spPr>
          <a:xfrm>
            <a:off x="1499616" y="1261872"/>
            <a:ext cx="685800" cy="6858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2000" b="1">
                <a:solidFill>
                  <a:srgbClr val="FFFFFF"/>
                </a:solidFill>
                <a:latin typeface="WenQuanYi Micro Hei"/>
              </a:rPr>
              <a:t>1</a:t>
            </a:r>
          </a:p>
        </p:txBody>
      </p:sp>
      <p:sp>
        <p:nvSpPr>
          <p:cNvPr id="5" name="Rounded Rectangle 4"/>
          <p:cNvSpPr/>
          <p:nvPr/>
        </p:nvSpPr>
        <p:spPr>
          <a:xfrm>
            <a:off x="658368" y="2121408"/>
            <a:ext cx="2377440" cy="157276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121408"/>
            <a:ext cx="73152" cy="157276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212848"/>
            <a:ext cx="205740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全体像</a:t>
            </a:r>
          </a:p>
        </p:txBody>
      </p:sp>
      <p:sp>
        <p:nvSpPr>
          <p:cNvPr id="8" name="TextBox 7"/>
          <p:cNvSpPr txBox="1"/>
          <p:nvPr/>
        </p:nvSpPr>
        <p:spPr>
          <a:xfrm>
            <a:off x="859536" y="2542032"/>
            <a:ext cx="2057400" cy="106984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まず図の関係性を眺める</a:t>
            </a:r>
          </a:p>
        </p:txBody>
      </p:sp>
      <p:sp>
        <p:nvSpPr>
          <p:cNvPr id="9" name="Chevron 8"/>
          <p:cNvSpPr/>
          <p:nvPr/>
        </p:nvSpPr>
        <p:spPr>
          <a:xfrm>
            <a:off x="3099815" y="2615184"/>
            <a:ext cx="347472" cy="502920"/>
          </a:xfrm>
          <a:prstGeom prst="chevron">
            <a:avLst/>
          </a:prstGeom>
          <a:solidFill>
            <a:srgbClr val="847E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352544" y="1261872"/>
            <a:ext cx="685800" cy="6858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2000" b="1">
                <a:solidFill>
                  <a:srgbClr val="FFFFFF"/>
                </a:solidFill>
                <a:latin typeface="WenQuanYi Micro Hei"/>
              </a:rPr>
              <a:t>2</a:t>
            </a:r>
          </a:p>
        </p:txBody>
      </p:sp>
      <p:sp>
        <p:nvSpPr>
          <p:cNvPr id="11" name="Rounded Rectangle 10"/>
          <p:cNvSpPr/>
          <p:nvPr/>
        </p:nvSpPr>
        <p:spPr>
          <a:xfrm>
            <a:off x="3511296" y="2121408"/>
            <a:ext cx="2377440" cy="157276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11296" y="2121408"/>
            <a:ext cx="73152" cy="157276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12463" y="2212848"/>
            <a:ext cx="205740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具体例</a:t>
            </a:r>
          </a:p>
        </p:txBody>
      </p:sp>
      <p:sp>
        <p:nvSpPr>
          <p:cNvPr id="14" name="TextBox 13"/>
          <p:cNvSpPr txBox="1"/>
          <p:nvPr/>
        </p:nvSpPr>
        <p:spPr>
          <a:xfrm>
            <a:off x="3712463" y="2542032"/>
            <a:ext cx="2057400" cy="106984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身近な場面へ置き換える</a:t>
            </a:r>
          </a:p>
        </p:txBody>
      </p:sp>
      <p:sp>
        <p:nvSpPr>
          <p:cNvPr id="15" name="Chevron 14"/>
          <p:cNvSpPr/>
          <p:nvPr/>
        </p:nvSpPr>
        <p:spPr>
          <a:xfrm>
            <a:off x="5952744" y="2615184"/>
            <a:ext cx="347472" cy="502920"/>
          </a:xfrm>
          <a:prstGeom prst="chevron">
            <a:avLst/>
          </a:prstGeom>
          <a:solidFill>
            <a:srgbClr val="847E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05472" y="1261872"/>
            <a:ext cx="685800" cy="6858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2000" b="1">
                <a:solidFill>
                  <a:srgbClr val="FFFFFF"/>
                </a:solidFill>
                <a:latin typeface="WenQuanYi Micro Hei"/>
              </a:rPr>
              <a:t>3</a:t>
            </a:r>
          </a:p>
        </p:txBody>
      </p:sp>
      <p:sp>
        <p:nvSpPr>
          <p:cNvPr id="17" name="Rounded Rectangle 16"/>
          <p:cNvSpPr/>
          <p:nvPr/>
        </p:nvSpPr>
        <p:spPr>
          <a:xfrm>
            <a:off x="6364224" y="2121408"/>
            <a:ext cx="2377440" cy="157276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64224" y="2121408"/>
            <a:ext cx="73152" cy="157276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65392" y="2212848"/>
            <a:ext cx="205740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注意</a:t>
            </a:r>
          </a:p>
        </p:txBody>
      </p:sp>
      <p:sp>
        <p:nvSpPr>
          <p:cNvPr id="20" name="TextBox 19"/>
          <p:cNvSpPr txBox="1"/>
          <p:nvPr/>
        </p:nvSpPr>
        <p:spPr>
          <a:xfrm>
            <a:off x="6565392" y="2542032"/>
            <a:ext cx="2057400" cy="106984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誤答パターンを見分ける</a:t>
            </a:r>
          </a:p>
        </p:txBody>
      </p:sp>
      <p:sp>
        <p:nvSpPr>
          <p:cNvPr id="21" name="Chevron 20"/>
          <p:cNvSpPr/>
          <p:nvPr/>
        </p:nvSpPr>
        <p:spPr>
          <a:xfrm>
            <a:off x="8805672" y="2615184"/>
            <a:ext cx="347472" cy="502920"/>
          </a:xfrm>
          <a:prstGeom prst="chevron">
            <a:avLst/>
          </a:prstGeom>
          <a:solidFill>
            <a:srgbClr val="847E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0" y="1261872"/>
            <a:ext cx="685800" cy="6858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2000" b="1">
                <a:solidFill>
                  <a:srgbClr val="FFFFFF"/>
                </a:solidFill>
                <a:latin typeface="WenQuanYi Micro Hei"/>
              </a:rPr>
              <a:t>4</a:t>
            </a:r>
          </a:p>
        </p:txBody>
      </p:sp>
      <p:sp>
        <p:nvSpPr>
          <p:cNvPr id="23" name="Rounded Rectangle 22"/>
          <p:cNvSpPr/>
          <p:nvPr/>
        </p:nvSpPr>
        <p:spPr>
          <a:xfrm>
            <a:off x="9217152" y="2121408"/>
            <a:ext cx="2377440" cy="157276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17152" y="2121408"/>
            <a:ext cx="73152" cy="157276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0" y="2212848"/>
            <a:ext cx="205740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演習</a:t>
            </a:r>
          </a:p>
        </p:txBody>
      </p:sp>
      <p:sp>
        <p:nvSpPr>
          <p:cNvPr id="26" name="TextBox 25"/>
          <p:cNvSpPr txBox="1"/>
          <p:nvPr/>
        </p:nvSpPr>
        <p:spPr>
          <a:xfrm>
            <a:off x="9418320" y="2542032"/>
            <a:ext cx="2057400" cy="106984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教科書の参照先で定着させる</a:t>
            </a:r>
          </a:p>
        </p:txBody>
      </p:sp>
      <p:sp>
        <p:nvSpPr>
          <p:cNvPr id="27" name="Rounded Rectangle 26"/>
          <p:cNvSpPr/>
          <p:nvPr/>
        </p:nvSpPr>
        <p:spPr>
          <a:xfrm>
            <a:off x="685800" y="4251960"/>
            <a:ext cx="10817352" cy="1280160"/>
          </a:xfrm>
          <a:prstGeom prst="roundRect">
            <a:avLst/>
          </a:prstGeom>
          <a:solidFill>
            <a:srgbClr val="EEF2FF"/>
          </a:solidFill>
          <a:ln w="127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500" b="0">
                <a:solidFill>
                  <a:srgbClr val="172033"/>
                </a:solidFill>
                <a:latin typeface="WenQuanYi Micro Hei"/>
              </a:rPr>
              <a:t>経済学・経済政策は「マクロ経済学」（一国全体の景気・物価・失業・国際収支を扱う）と「ミクロ経済学」（個々の消費者・企業・市場の行動を扱う）の2分野で構成される科目です。数式やグラフが多く苦手意識を持たれやすい科目ですが、出題パターンはかなり固定的で、「用語の定義」と「グラフの動く方向」を正確に押さえれば得点源にできます。 この教科書は problem_se…</a:t>
            </a:r>
          </a:p>
        </p:txBody>
      </p:sp>
      <p:sp>
        <p:nvSpPr>
          <p:cNvPr id="28" name="TextBox 27"/>
          <p:cNvSpPr txBox="1"/>
          <p:nvPr/>
        </p:nvSpPr>
        <p:spPr>
          <a:xfrm>
            <a:off x="713232" y="5760720"/>
            <a:ext cx="10698480" cy="320040"/>
          </a:xfrm>
          <a:prstGeom prst="rect">
            <a:avLst/>
          </a:prstGeom>
          <a:noFill/>
        </p:spPr>
        <p:txBody>
          <a:bodyPr wrap="square" tIns="91440" bIns="91440" anchor="ctr">
            <a:spAutoFit/>
          </a:bodyPr>
          <a:lstStyle/>
          <a:p>
            <a:pPr algn="ctr">
              <a:spcAft>
                <a:spcPts val="0"/>
              </a:spcAft>
            </a:pPr>
            <a:r>
              <a:rPr sz="1100" b="0">
                <a:solidFill>
                  <a:srgbClr val="B42318"/>
                </a:solidFill>
                <a:latin typeface="WenQuanYi Micro Hei"/>
              </a:rPr>
              <a:t>※ 数値・法令・制度は出題年度によって変わる場合があります。最新の公式情報も確認してください。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この教科書の使い方｜全文</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学習ガイド｜1/2</a:t>
            </a:r>
          </a:p>
        </p:txBody>
      </p:sp>
      <p:sp>
        <p:nvSpPr>
          <p:cNvPr id="6" name="Rounded Rectangle 5"/>
          <p:cNvSpPr/>
          <p:nvPr/>
        </p:nvSpPr>
        <p:spPr>
          <a:xfrm>
            <a:off x="502920" y="1042415"/>
            <a:ext cx="11183112" cy="1088136"/>
          </a:xfrm>
          <a:prstGeom prst="roundRect">
            <a:avLst/>
          </a:prstGeom>
          <a:solidFill>
            <a:srgbClr val="F8FAFC"/>
          </a:solidFill>
          <a:ln w="12700">
            <a:solidFill>
              <a:srgbClr val="BFC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667085"/>
          </a:solidFill>
          <a:ln w="12700">
            <a:solidFill>
              <a:srgbClr val="66708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使い方</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経済学・経済政策は「マクロ経済学」（一国全体の景気・物価・失業・国際収支を扱う）と「ミクロ経済学」（個々の消費者・企業・市場の行動を扱う）の2分野で構成される科目です。数式やグラフが多く苦手意識を持たれやすい科目ですが、出題パターンはかなり固定的で、「用語の定義」と「グラフの動く方向」を正確に押さえれば得点源にできます。</a:t>
            </a:r>
          </a:p>
        </p:txBody>
      </p:sp>
      <p:sp>
        <p:nvSpPr>
          <p:cNvPr id="9" name="Rounded Rectangle 8"/>
          <p:cNvSpPr/>
          <p:nvPr/>
        </p:nvSpPr>
        <p:spPr>
          <a:xfrm>
            <a:off x="502920" y="2240280"/>
            <a:ext cx="11183112" cy="841248"/>
          </a:xfrm>
          <a:prstGeom prst="roundRect">
            <a:avLst/>
          </a:prstGeom>
          <a:solidFill>
            <a:srgbClr val="F8FAFC"/>
          </a:solidFill>
          <a:ln w="12700">
            <a:solidFill>
              <a:srgbClr val="BFC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667085"/>
          </a:solidFill>
          <a:ln w="12700">
            <a:solidFill>
              <a:srgbClr val="66708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使い方</a:t>
            </a:r>
          </a:p>
        </p:txBody>
      </p:sp>
      <p:sp>
        <p:nvSpPr>
          <p:cNvPr id="11" name="TextBox 10"/>
          <p:cNvSpPr txBox="1"/>
          <p:nvPr/>
        </p:nvSpPr>
        <p:spPr>
          <a:xfrm>
            <a:off x="1764792" y="2331720"/>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この教科書は problem_sets/1st_stage/A_economics.md の論点（A-1〜A-36、全36論点）に沿って、専門知識ゼロの状態からでも理解できるように、身近な例・具体的な数値を使って説明します。</a:t>
            </a:r>
          </a:p>
        </p:txBody>
      </p:sp>
      <p:sp>
        <p:nvSpPr>
          <p:cNvPr id="12" name="Rounded Rectangle 11"/>
          <p:cNvSpPr/>
          <p:nvPr/>
        </p:nvSpPr>
        <p:spPr>
          <a:xfrm>
            <a:off x="502920" y="3191256"/>
            <a:ext cx="11183112" cy="1335024"/>
          </a:xfrm>
          <a:prstGeom prst="roundRect">
            <a:avLst/>
          </a:prstGeom>
          <a:solidFill>
            <a:srgbClr val="F8FAFC"/>
          </a:solidFill>
          <a:ln w="12700">
            <a:solidFill>
              <a:srgbClr val="BFC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310128"/>
            <a:ext cx="987552" cy="420624"/>
          </a:xfrm>
          <a:prstGeom prst="roundRect">
            <a:avLst/>
          </a:prstGeom>
          <a:solidFill>
            <a:srgbClr val="667085"/>
          </a:solidFill>
          <a:ln w="12700">
            <a:solidFill>
              <a:srgbClr val="66708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使い方</a:t>
            </a:r>
          </a:p>
        </p:txBody>
      </p:sp>
      <p:sp>
        <p:nvSpPr>
          <p:cNvPr id="14" name="TextBox 13"/>
          <p:cNvSpPr txBox="1"/>
          <p:nvPr/>
        </p:nvSpPr>
        <p:spPr>
          <a:xfrm>
            <a:off x="1764792" y="3282696"/>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各論点の末尾に「過去問で確認する」として problem_sets/1st_stage/exercises/A_economics_exercises.md の該当演習を示しています（演習が用意されている論点のみ）。教科書を読んだら、すぐその論点の演習を解いて定着させてください。演習がまだない論点も多いので、その場合は past_exams/1st_stage/1ji/A1JI.pdf で該当論点の過去問を探して練習してください。</a:t>
            </a:r>
          </a:p>
        </p:txBody>
      </p:sp>
      <p:sp>
        <p:nvSpPr>
          <p:cNvPr id="15" name="Rounded Rectangle 14"/>
          <p:cNvSpPr/>
          <p:nvPr/>
        </p:nvSpPr>
        <p:spPr>
          <a:xfrm>
            <a:off x="502920" y="4636008"/>
            <a:ext cx="11183112" cy="1088136"/>
          </a:xfrm>
          <a:prstGeom prst="roundRect">
            <a:avLst/>
          </a:prstGeom>
          <a:solidFill>
            <a:srgbClr val="F8FAFC"/>
          </a:solidFill>
          <a:ln w="12700">
            <a:solidFill>
              <a:srgbClr val="BFC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754880"/>
            <a:ext cx="987552" cy="420624"/>
          </a:xfrm>
          <a:prstGeom prst="roundRect">
            <a:avLst/>
          </a:prstGeom>
          <a:solidFill>
            <a:srgbClr val="667085"/>
          </a:solidFill>
          <a:ln w="12700">
            <a:solidFill>
              <a:srgbClr val="66708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使い方</a:t>
            </a:r>
          </a:p>
        </p:txBody>
      </p:sp>
      <p:sp>
        <p:nvSpPr>
          <p:cNvPr id="17" name="TextBox 16"/>
          <p:cNvSpPr txBox="1"/>
          <p:nvPr/>
        </p:nvSpPr>
        <p:spPr>
          <a:xfrm>
            <a:off x="1764792" y="4727448"/>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「ひっかけポイント」は、過去問で実際に問われやすい誤解パターンを踏まえたものです（problem_sets/1st_stage/A_economics.md の出題年度データ、problem_sets/1st_stage/exercises/A_economics_exercises.md の解説を参考にしています）。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この教科書の使い方｜全文</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学習ガイド｜2/2</a:t>
            </a:r>
          </a:p>
        </p:txBody>
      </p:sp>
      <p:sp>
        <p:nvSpPr>
          <p:cNvPr id="6" name="Rounded Rectangle 5"/>
          <p:cNvSpPr/>
          <p:nvPr/>
        </p:nvSpPr>
        <p:spPr>
          <a:xfrm>
            <a:off x="502920" y="1042415"/>
            <a:ext cx="11183112" cy="1088136"/>
          </a:xfrm>
          <a:prstGeom prst="roundRect">
            <a:avLst/>
          </a:prstGeom>
          <a:solidFill>
            <a:srgbClr val="F8FAFC"/>
          </a:solidFill>
          <a:ln w="12700">
            <a:solidFill>
              <a:srgbClr val="BFC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667085"/>
          </a:solidFill>
          <a:ln w="12700">
            <a:solidFill>
              <a:srgbClr val="66708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使い方</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経済学は「言葉の定義を正確に覚える」×「グラフのどちらの方向に動くかを図でイメージする」の組み合わせで得点が安定します。実際に図を描く道具がなくても、この教科書の文章だけで「縦軸・横軸に何を取り、どちらに動くとどうなるか」をイメージできるように説明しています。面倒でも、手元の紙に簡単な図を描きながら読むことを強くお勧めします。</a:t>
            </a:r>
          </a:p>
        </p:txBody>
      </p:sp>
      <p:sp>
        <p:nvSpPr>
          <p:cNvPr id="9" name="Rounded Rectangle 8"/>
          <p:cNvSpPr/>
          <p:nvPr/>
        </p:nvSpPr>
        <p:spPr>
          <a:xfrm>
            <a:off x="502920" y="2240280"/>
            <a:ext cx="11183112" cy="841248"/>
          </a:xfrm>
          <a:prstGeom prst="roundRect">
            <a:avLst/>
          </a:prstGeom>
          <a:solidFill>
            <a:srgbClr val="F8FAFC"/>
          </a:solidFill>
          <a:ln w="12700">
            <a:solidFill>
              <a:srgbClr val="BFC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667085"/>
          </a:solidFill>
          <a:ln w="12700">
            <a:solidFill>
              <a:srgbClr val="66708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使い方</a:t>
            </a:r>
          </a:p>
        </p:txBody>
      </p:sp>
      <p:sp>
        <p:nvSpPr>
          <p:cNvPr id="11" name="TextBox 10"/>
          <p:cNvSpPr txBox="1"/>
          <p:nvPr/>
        </p:nvSpPr>
        <p:spPr>
          <a:xfrm>
            <a:off x="1764792" y="2331720"/>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数値・法令・統計の細部は出題年度時点のものである場合があります。最新情報は docs/07_key_formulas_and_frameworks.md と併せて確認してください。</a:t>
            </a:r>
          </a:p>
        </p:txBody>
      </p:sp>
      <p:sp>
        <p:nvSpPr>
          <p:cNvPr id="12" name="Rectangle 1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4" name="TextBox 1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01</a:t>
            </a:r>
          </a:p>
        </p:txBody>
      </p:sp>
      <p:sp>
        <p:nvSpPr>
          <p:cNvPr id="5" name="TextBox 4"/>
          <p:cNvSpPr txBox="1"/>
          <p:nvPr/>
        </p:nvSpPr>
        <p:spPr>
          <a:xfrm>
            <a:off x="1188720" y="1993392"/>
            <a:ext cx="9784080" cy="96012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経済指標の見方や読み方</a:t>
            </a:r>
          </a:p>
        </p:txBody>
      </p:sp>
      <p:sp>
        <p:nvSpPr>
          <p:cNvPr id="6" name="TextBox 5"/>
          <p:cNvSpPr txBox="1"/>
          <p:nvPr/>
        </p:nvSpPr>
        <p:spPr>
          <a:xfrm>
            <a:off x="1234440" y="3017520"/>
            <a:ext cx="9720072" cy="1005840"/>
          </a:xfrm>
          <a:prstGeom prst="rect">
            <a:avLst/>
          </a:prstGeom>
          <a:noFill/>
        </p:spPr>
        <p:txBody>
          <a:bodyPr wrap="square" tIns="91440" bIns="91440" anchor="ctr">
            <a:spAutoFit/>
          </a:bodyPr>
          <a:lstStyle/>
          <a:p>
            <a:pPr algn="ctr">
              <a:spcAft>
                <a:spcPts val="0"/>
              </a:spcAft>
            </a:pPr>
            <a:r>
              <a:rPr sz="1400" b="0">
                <a:solidFill>
                  <a:srgbClr val="667085"/>
                </a:solidFill>
                <a:latin typeface="WenQuanYi Micro Hei"/>
              </a:rPr>
              <a:t>日本経済は今どんな状態にあるのか。それを客観的に把握するための「ものさし」が経済指標です。ニュースで「GDPが○%成長」「失業率が○%」と聞いたときに、その数字が何を意味しているかを正確に理解することが第1部のゴールです。</a:t>
            </a:r>
          </a:p>
        </p:txBody>
      </p:sp>
      <p:sp>
        <p:nvSpPr>
          <p:cNvPr id="7" name="Rounded Rectangle 6"/>
          <p:cNvSpPr/>
          <p:nvPr/>
        </p:nvSpPr>
        <p:spPr>
          <a:xfrm>
            <a:off x="4261104" y="4315968"/>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6 論点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国民経済計算の概念・国民所得統計</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a:t>
            </a:r>
          </a:p>
        </p:txBody>
      </p:sp>
      <p:sp>
        <p:nvSpPr>
          <p:cNvPr id="6" name="Rounded Rectangle 5"/>
          <p:cNvSpPr/>
          <p:nvPr/>
        </p:nvSpPr>
        <p:spPr>
          <a:xfrm>
            <a:off x="777240" y="1188720"/>
            <a:ext cx="10634472" cy="117043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200" b="1">
                <a:solidFill>
                  <a:srgbClr val="4F46E5"/>
                </a:solidFill>
                <a:latin typeface="WenQuanYi Micro Hei"/>
              </a:rPr>
              <a:t>生産面（誰が作ったか）＝分配面（誰の所得になったか）＝支出面（誰が買ったか）</a:t>
            </a:r>
          </a:p>
        </p:txBody>
      </p:sp>
      <p:sp>
        <p:nvSpPr>
          <p:cNvPr id="7" name="Rounded Rectangle 6"/>
          <p:cNvSpPr/>
          <p:nvPr/>
        </p:nvSpPr>
        <p:spPr>
          <a:xfrm>
            <a:off x="777240"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GDP（国内総生産）</a:t>
            </a:r>
          </a:p>
        </p:txBody>
      </p:sp>
      <p:sp>
        <p:nvSpPr>
          <p:cNvPr id="10" name="TextBox 9"/>
          <p:cNvSpPr txBox="1"/>
          <p:nvPr/>
        </p:nvSpPr>
        <p:spPr>
          <a:xfrm>
            <a:off x="978408"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国内で生産された付加価値の合計（国籍を問わない。日本国内で働く外国人の生産分も含む）</a:t>
            </a:r>
          </a:p>
        </p:txBody>
      </p:sp>
      <p:sp>
        <p:nvSpPr>
          <p:cNvPr id="11" name="Rounded Rectangle 10"/>
          <p:cNvSpPr/>
          <p:nvPr/>
        </p:nvSpPr>
        <p:spPr>
          <a:xfrm>
            <a:off x="4370832"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2"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GNI（国民総所得）／GNP（国民総生産）</a:t>
            </a:r>
          </a:p>
        </p:txBody>
      </p:sp>
      <p:sp>
        <p:nvSpPr>
          <p:cNvPr id="14" name="TextBox 13"/>
          <p:cNvSpPr txBox="1"/>
          <p:nvPr/>
        </p:nvSpPr>
        <p:spPr>
          <a:xfrm>
            <a:off x="4572000"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自国民（居住者）が生み出した所得の合計（海外で働く自国民の所得を含み、国内で働く外国人の所得は含まない）。GNI＝GDP＋…</a:t>
            </a:r>
          </a:p>
        </p:txBody>
      </p:sp>
      <p:sp>
        <p:nvSpPr>
          <p:cNvPr id="15" name="Rounded Rectangle 14"/>
          <p:cNvSpPr/>
          <p:nvPr/>
        </p:nvSpPr>
        <p:spPr>
          <a:xfrm>
            <a:off x="7964424"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64424"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NNP（国民純生産）</a:t>
            </a:r>
          </a:p>
        </p:txBody>
      </p:sp>
      <p:sp>
        <p:nvSpPr>
          <p:cNvPr id="18" name="TextBox 17"/>
          <p:cNvSpPr txBox="1"/>
          <p:nvPr/>
        </p:nvSpPr>
        <p:spPr>
          <a:xfrm>
            <a:off x="8165592"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GNP（GNI）から固定資本減耗（設備の老朽化による目減り分＝減価償却に相当）を差し引いたもの</a:t>
            </a:r>
          </a:p>
        </p:txBody>
      </p:sp>
      <p:sp>
        <p:nvSpPr>
          <p:cNvPr id="19" name="Rounded Rectangle 18"/>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日本のGDPはおよそ550〜600兆円規模で世界第4位前後の水準です（年により順位・金額は変動します）。仮に今年の名目GDPが前年より3%増えたとしても、その年の物価が3%上昇していれば、実質GDP（実際に生…</a:t>
            </a:r>
          </a:p>
        </p:txBody>
      </p:sp>
      <p:sp>
        <p:nvSpPr>
          <p:cNvPr id="20" name="Rounded Rectangle 19"/>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GDPは一定期間に生み出される「フロー」の概念であり、ある時点で保有している資産の総額を示す「ストック」の概念（国富、対外純資産など）と混同しないようにしましょう。また、「中古車の売買」や「株式の売買」はそれ…</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A-1｜国民経済計算の概念・国民所得統計</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経済指標の見方や読み方（A-1〜A-6）｜1/4</a:t>
            </a:r>
          </a:p>
        </p:txBody>
      </p:sp>
      <p:sp>
        <p:nvSpPr>
          <p:cNvPr id="6" name="Rounded Rectangle 5"/>
          <p:cNvSpPr/>
          <p:nvPr/>
        </p:nvSpPr>
        <p:spPr>
          <a:xfrm>
            <a:off x="502920" y="1042415"/>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GDP（国内総生産、Gross Domestic Product）とは、一定期間（通常は1年間、または四半期）に、国内で新たに生み出された付加価値の合計です。「付加価値」とは、売上高からその生産のために外部から購入した原材料・部品などの費用（中間投入）を差し引いた金額のことです。</a:t>
            </a:r>
          </a:p>
        </p:txBody>
      </p:sp>
      <p:sp>
        <p:nvSpPr>
          <p:cNvPr id="9" name="Rounded Rectangle 8"/>
          <p:cNvSpPr/>
          <p:nvPr/>
        </p:nvSpPr>
        <p:spPr>
          <a:xfrm>
            <a:off x="502920" y="2240280"/>
            <a:ext cx="11183112" cy="1581912"/>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331720"/>
            <a:ext cx="9674352" cy="1399032"/>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なぜ「付加価値」で測るかというと、単純に各企業の売上高を足し合わせると、同じ価値が何重にも数えられてしまう（二重計上）からです。例えば、農家が小麦を100円で製粉会社に売り、製粉会社がそれを小麦粉にして150円でパン屋に売り、パン屋がパンにして300円で消費者に売ったとします。売上高の単純合計は100＋150＋300＝550円ですが、実際に新しく生み出された価値（付加価値）は、農家100円（原材料なしなので全額）＋製粉会社50円（150－100）＋パン屋150円（300－150）＝300円です。GDPはこの300円（＝最終生産物であるパンの販売価格）を計上します。</a:t>
            </a:r>
          </a:p>
        </p:txBody>
      </p:sp>
      <p:sp>
        <p:nvSpPr>
          <p:cNvPr id="12" name="Rounded Rectangle 11"/>
          <p:cNvSpPr/>
          <p:nvPr/>
        </p:nvSpPr>
        <p:spPr>
          <a:xfrm>
            <a:off x="502920" y="3931920"/>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4050792"/>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4023360"/>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GDPには重要な原則があります。それが三面等価の原則です。</a:t>
            </a:r>
          </a:p>
        </p:txBody>
      </p:sp>
      <p:sp>
        <p:nvSpPr>
          <p:cNvPr id="15" name="Rounded Rectangle 14"/>
          <p:cNvSpPr/>
          <p:nvPr/>
        </p:nvSpPr>
        <p:spPr>
          <a:xfrm>
            <a:off x="502920" y="4700016"/>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8188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7914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生産面（誰が作ったか）＝分配面（誰の所得になったか）＝支出面（誰が買ったか）</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A-1｜国民経済計算の概念・国民所得統計</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経済指標の見方や読み方（A-1〜A-6）｜2/4</a:t>
            </a:r>
          </a:p>
        </p:txBody>
      </p:sp>
      <p:sp>
        <p:nvSpPr>
          <p:cNvPr id="6" name="Rounded Rectangle 5"/>
          <p:cNvSpPr/>
          <p:nvPr/>
        </p:nvSpPr>
        <p:spPr>
          <a:xfrm>
            <a:off x="502920" y="1042415"/>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同じ経済活動を「生産」「分配（所得）」「支出」という3つの側面から見ても、合計額は必ず一致する、という考え方です。パンを300円で作ったなら（生産面）、その300円は農家・製粉会社・パン屋の取り分として分配され（分配面）、最終的に消費者がパンに300円を支払う（支出面）ことで完結します。</a:t>
            </a:r>
          </a:p>
        </p:txBody>
      </p:sp>
      <p:sp>
        <p:nvSpPr>
          <p:cNvPr id="9" name="Rounded Rectangle 8"/>
          <p:cNvSpPr/>
          <p:nvPr/>
        </p:nvSpPr>
        <p:spPr>
          <a:xfrm>
            <a:off x="502920" y="2240280"/>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331720"/>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似た用語との違いも整理しておきましょう。</a:t>
            </a:r>
          </a:p>
        </p:txBody>
      </p:sp>
      <p:sp>
        <p:nvSpPr>
          <p:cNvPr id="12" name="Rounded Rectangle 11"/>
          <p:cNvSpPr/>
          <p:nvPr/>
        </p:nvSpPr>
        <p:spPr>
          <a:xfrm>
            <a:off x="502920" y="3008376"/>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127248"/>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4" name="TextBox 13"/>
          <p:cNvSpPr txBox="1"/>
          <p:nvPr/>
        </p:nvSpPr>
        <p:spPr>
          <a:xfrm>
            <a:off x="1764792" y="309981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指標 ｜ 定義</a:t>
            </a:r>
          </a:p>
        </p:txBody>
      </p:sp>
      <p:sp>
        <p:nvSpPr>
          <p:cNvPr id="15" name="Rounded Rectangle 14"/>
          <p:cNvSpPr/>
          <p:nvPr/>
        </p:nvSpPr>
        <p:spPr>
          <a:xfrm>
            <a:off x="502920" y="3776472"/>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895344"/>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7" name="TextBox 16"/>
          <p:cNvSpPr txBox="1"/>
          <p:nvPr/>
        </p:nvSpPr>
        <p:spPr>
          <a:xfrm>
            <a:off x="1764792" y="386791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GDP（国内総生産） ｜ 国内で生産された付加価値の合計（国籍を問わない。日本国内で働く外国人の生産分も含む）</a:t>
            </a:r>
          </a:p>
        </p:txBody>
      </p:sp>
      <p:sp>
        <p:nvSpPr>
          <p:cNvPr id="18" name="Rounded Rectangle 17"/>
          <p:cNvSpPr/>
          <p:nvPr/>
        </p:nvSpPr>
        <p:spPr>
          <a:xfrm>
            <a:off x="502920" y="4544568"/>
            <a:ext cx="11183112" cy="84124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663440"/>
            <a:ext cx="987552" cy="420624"/>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20" name="TextBox 19"/>
          <p:cNvSpPr txBox="1"/>
          <p:nvPr/>
        </p:nvSpPr>
        <p:spPr>
          <a:xfrm>
            <a:off x="1764792" y="4636007"/>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GNI（国民総所得）／GNP（国民総生産） ｜ 自国民（居住者）が生み出した所得の合計（海外で働く自国民の所得を含み、国内で働く外国人の所得は含まない）。GNI＝GDP＋海外からの純所得受取</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A-1｜国民経済計算の概念・国民所得統計</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経済指標の見方や読み方（A-1〜A-6）｜3/4</a:t>
            </a:r>
          </a:p>
        </p:txBody>
      </p:sp>
      <p:sp>
        <p:nvSpPr>
          <p:cNvPr id="6" name="Rounded Rectangle 5"/>
          <p:cNvSpPr/>
          <p:nvPr/>
        </p:nvSpPr>
        <p:spPr>
          <a:xfrm>
            <a:off x="502920" y="1042415"/>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NNP（国民純生産） ｜ GNP（GNI）から固定資本減耗（設備の老朽化による目減り分＝減価償却に相当）を差し引いたもの</a:t>
            </a:r>
          </a:p>
        </p:txBody>
      </p:sp>
      <p:sp>
        <p:nvSpPr>
          <p:cNvPr id="9" name="Rounded Rectangle 8"/>
          <p:cNvSpPr/>
          <p:nvPr/>
        </p:nvSpPr>
        <p:spPr>
          <a:xfrm>
            <a:off x="502920" y="1810512"/>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1" name="TextBox 10"/>
          <p:cNvSpPr txBox="1"/>
          <p:nvPr/>
        </p:nvSpPr>
        <p:spPr>
          <a:xfrm>
            <a:off x="1764792" y="1901952"/>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NI（国民所得） ｜ NNPから間接税を差し引き、補助金を加えたもの</a:t>
            </a:r>
          </a:p>
        </p:txBody>
      </p:sp>
      <p:sp>
        <p:nvSpPr>
          <p:cNvPr id="12" name="Rounded Rectangle 11"/>
          <p:cNvSpPr/>
          <p:nvPr/>
        </p:nvSpPr>
        <p:spPr>
          <a:xfrm>
            <a:off x="502920" y="2578608"/>
            <a:ext cx="11183112" cy="1335024"/>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69747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670048"/>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また、GDPには「名目GDP」と「実質GDP」の区別があります。名目GDPはその年の価格で計算した金額そのもの、実質GDPは物価変動の影響を取り除いた（基準年の価格で評価し直した）金額です。名目GDPが増えていても、それが単なる物価上昇（インフレ）によるものであれば、実質的な生産量は増えていないかもしれません。そのため、経済成長率を語るときは実質GDPの伸び率を使うのが基本です（名目GDPを実質GDPに変換する際に使う物価指数がA-3で扱う「GDPデフレーター」です）。</a:t>
            </a:r>
          </a:p>
        </p:txBody>
      </p:sp>
      <p:sp>
        <p:nvSpPr>
          <p:cNvPr id="15" name="Rounded Rectangle 14"/>
          <p:cNvSpPr/>
          <p:nvPr/>
        </p:nvSpPr>
        <p:spPr>
          <a:xfrm>
            <a:off x="502920" y="4023360"/>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142232"/>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7" name="TextBox 16"/>
          <p:cNvSpPr txBox="1"/>
          <p:nvPr/>
        </p:nvSpPr>
        <p:spPr>
          <a:xfrm>
            <a:off x="1764792" y="411480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日本のGDPはおよそ550〜600兆円規模で世界第4位前後の水準です（年により順位・金額は変動します）。仮に今年の名目GDPが前年より3%増えたとしても、その年の物価が3%上昇していれば、実質GDP（実際に生産・消費されたモノやサービスの量）はほとんど増えていない、ということになりま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A-1｜国民経済計算の概念・国民所得統計</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経済指標の見方や読み方（A-1〜A-6）｜4/4</a:t>
            </a:r>
          </a:p>
        </p:txBody>
      </p:sp>
      <p:sp>
        <p:nvSpPr>
          <p:cNvPr id="6" name="Rounded Rectangle 5"/>
          <p:cNvSpPr/>
          <p:nvPr/>
        </p:nvSpPr>
        <p:spPr>
          <a:xfrm>
            <a:off x="502920" y="1042415"/>
            <a:ext cx="11183112" cy="1581912"/>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8" name="TextBox 7"/>
          <p:cNvSpPr txBox="1"/>
          <p:nvPr/>
        </p:nvSpPr>
        <p:spPr>
          <a:xfrm>
            <a:off x="1764792" y="1133856"/>
            <a:ext cx="9674352" cy="1399032"/>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GDPは一定期間に生み出される「フロー」の概念であり、ある時点で保有している資産の総額を示す「ストック」の概念（国富、対外純資産など）と混同しないようにしましょう。また、「中古車の売買」や「株式の売買」はそれ自体では新たな付加価値を生んでいない（既存の資産の名義が変わるだけ）ため、原則としてGDPには計上されません（中古車販売店が受け取る仲介手数料のようなサービス提供分だけがGDPに計上されます）。専業主婦（主夫）の家事労働のように市場で取引されない活動もGDPには含まれません。</a:t>
            </a:r>
          </a:p>
        </p:txBody>
      </p:sp>
      <p:sp>
        <p:nvSpPr>
          <p:cNvPr id="9" name="Rectangle 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1" name="TextBox 1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雇用統計（失業率、有効求人倍率等）</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a:t>
            </a:r>
          </a:p>
        </p:txBody>
      </p:sp>
      <p:sp>
        <p:nvSpPr>
          <p:cNvPr id="6" name="Rounded Rectangle 5"/>
          <p:cNvSpPr/>
          <p:nvPr/>
        </p:nvSpPr>
        <p:spPr>
          <a:xfrm>
            <a:off x="777240" y="1188720"/>
            <a:ext cx="10634472" cy="117043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200" b="1">
                <a:solidFill>
                  <a:srgbClr val="4F46E5"/>
                </a:solidFill>
                <a:latin typeface="WenQuanYi Micro Hei"/>
              </a:rPr>
              <a:t>完全失業率 = \frac完全失業者数労働力人口 × 100</a:t>
            </a:r>
          </a:p>
        </p:txBody>
      </p:sp>
      <p:sp>
        <p:nvSpPr>
          <p:cNvPr id="7" name="Rounded Rectangle 6"/>
          <p:cNvSpPr/>
          <p:nvPr/>
        </p:nvSpPr>
        <p:spPr>
          <a:xfrm>
            <a:off x="777240"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有効求人倍率</a:t>
            </a:r>
          </a:p>
        </p:txBody>
      </p:sp>
      <p:sp>
        <p:nvSpPr>
          <p:cNvPr id="10" name="TextBox 9"/>
          <p:cNvSpPr txBox="1"/>
          <p:nvPr/>
        </p:nvSpPr>
        <p:spPr>
          <a:xfrm>
            <a:off x="978408"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です。これは厚生労働省がハローワーク（公共職業安定所）の窓口データをもとに毎月公表する指標で、次の式で計算されます。</a:t>
            </a:r>
          </a:p>
        </p:txBody>
      </p:sp>
      <p:sp>
        <p:nvSpPr>
          <p:cNvPr id="11" name="Rounded Rectangle 10"/>
          <p:cNvSpPr/>
          <p:nvPr/>
        </p:nvSpPr>
        <p:spPr>
          <a:xfrm>
            <a:off x="4370832"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2"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15歳以上の人口</a:t>
            </a:r>
          </a:p>
        </p:txBody>
      </p:sp>
      <p:sp>
        <p:nvSpPr>
          <p:cNvPr id="14" name="TextBox 13"/>
          <p:cNvSpPr txBox="1"/>
          <p:nvPr/>
        </p:nvSpPr>
        <p:spPr>
          <a:xfrm>
            <a:off x="4572000"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まず「労働力人口」（働く意思のある人）と「非労働力人口」（学生、家事専業者、高齢で働く意思のない人など）に分けられます。</a:t>
            </a:r>
          </a:p>
        </p:txBody>
      </p:sp>
      <p:sp>
        <p:nvSpPr>
          <p:cNvPr id="15" name="Rounded Rectangle 14"/>
          <p:cNvSpPr/>
          <p:nvPr/>
        </p:nvSpPr>
        <p:spPr>
          <a:xfrm>
            <a:off x="7964424"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64424"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さらに労働力人口</a:t>
            </a:r>
          </a:p>
        </p:txBody>
      </p:sp>
      <p:sp>
        <p:nvSpPr>
          <p:cNvPr id="18" name="TextBox 17"/>
          <p:cNvSpPr txBox="1"/>
          <p:nvPr/>
        </p:nvSpPr>
        <p:spPr>
          <a:xfrm>
            <a:off x="8165592"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「就業者」と「完全失業者」に分けられます。</a:t>
            </a:r>
          </a:p>
        </p:txBody>
      </p:sp>
      <p:sp>
        <p:nvSpPr>
          <p:cNvPr id="19" name="Rounded Rectangle 18"/>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具体例｜好景気で企業が採用を増やすと有効求人倍率は上昇し、完全失業率は低下する傾向にあります。逆に不況期には企業が採用を控えるため有効求人倍率は低下し、完全失業率は上昇します。</a:t>
            </a:r>
          </a:p>
        </p:txBody>
      </p:sp>
      <p:sp>
        <p:nvSpPr>
          <p:cNvPr id="20" name="Rounded Rectangle 19"/>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完全失業率の低下が必ずしも「景気回復」を意味するとは限りません。不況が長引き、求職活動をしても仕事が見つからないとあきらめて求職活動自体をやめてしまう人（求職意欲喪失効果）が増えると、その人は「非労働力人口」…</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A-2｜雇用統計（失業率、有効求人倍率等）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15歳以上の人口は、まず「労働力人口」（働く意思のある人）と「非労働力人口」（学生、家事専業者、高齢で働く意思のない人など）に分けられます。さらに労働力人口は「就業者」と「完全失業者」に分けられます。</a:t>
            </a:r>
          </a:p>
        </p:txBody>
      </p:sp>
      <p:sp>
        <p:nvSpPr>
          <p:cNvPr id="9" name="Rounded Rectangle 8"/>
          <p:cNvSpPr/>
          <p:nvPr/>
        </p:nvSpPr>
        <p:spPr>
          <a:xfrm>
            <a:off x="502920" y="1993391"/>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完全失業率 = \frac完全失業者数労働力人口 × 100</a:t>
            </a:r>
          </a:p>
        </p:txBody>
      </p:sp>
      <p:sp>
        <p:nvSpPr>
          <p:cNvPr id="12" name="Rounded Rectangle 11"/>
          <p:cNvSpPr/>
          <p:nvPr/>
        </p:nvSpPr>
        <p:spPr>
          <a:xfrm>
            <a:off x="502920" y="2761487"/>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5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852927"/>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完全失業者とは、単に「仕事をしていない人」ではなく、「仕事がなく、かつ、仕事を探す活動をしている人（求職活動をしている人）」を指します（総務省「労働力調査」の定義）。</a:t>
            </a:r>
          </a:p>
        </p:txBody>
      </p:sp>
      <p:sp>
        <p:nvSpPr>
          <p:cNvPr id="15" name="Rounded Rectangle 14"/>
          <p:cNvSpPr/>
          <p:nvPr/>
        </p:nvSpPr>
        <p:spPr>
          <a:xfrm>
            <a:off x="502920" y="3712463"/>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831335"/>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803903"/>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もう1つの重要指標が有効求人倍率です。これは厚生労働省がハローワーク（公共職業安定所）の窓口データをもとに毎月公表する指標で、次の式で計算されます。</a:t>
            </a:r>
          </a:p>
        </p:txBody>
      </p:sp>
      <p:sp>
        <p:nvSpPr>
          <p:cNvPr id="18" name="Rounded Rectangle 17"/>
          <p:cNvSpPr/>
          <p:nvPr/>
        </p:nvSpPr>
        <p:spPr>
          <a:xfrm>
            <a:off x="502920" y="4663440"/>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782312"/>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754879"/>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有効求人倍率 = \frac有効求人数有効求職者数</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A-2｜雇用統計（失業率、有効求人倍率等）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経済指標の見方や読み方（A-1〜A-6）｜2/2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有効求人倍率が1.0を上回っていれば、求職者1人あたり1件以上の求人があるということで「人手不足・売り手市場」を示し、1.0を下回っていれば「買い手市場（就職しにくい）」を示します。</a:t>
            </a:r>
          </a:p>
        </p:txBody>
      </p:sp>
      <p:sp>
        <p:nvSpPr>
          <p:cNvPr id="9" name="Rounded Rectangle 8"/>
          <p:cNvSpPr/>
          <p:nvPr/>
        </p:nvSpPr>
        <p:spPr>
          <a:xfrm>
            <a:off x="502920" y="1993391"/>
            <a:ext cx="11183112" cy="841248"/>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1" name="TextBox 10"/>
          <p:cNvSpPr txBox="1"/>
          <p:nvPr/>
        </p:nvSpPr>
        <p:spPr>
          <a:xfrm>
            <a:off x="1764792" y="208483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好景気で企業が採用を増やすと有効求人倍率は上昇し、完全失業率は低下する傾向にあります。逆に不況期には企業が採用を控えるため有効求人倍率は低下し、完全失業率は上昇します。</a:t>
            </a:r>
          </a:p>
        </p:txBody>
      </p:sp>
      <p:sp>
        <p:nvSpPr>
          <p:cNvPr id="12" name="Rounded Rectangle 11"/>
          <p:cNvSpPr/>
          <p:nvPr/>
        </p:nvSpPr>
        <p:spPr>
          <a:xfrm>
            <a:off x="502920" y="2944368"/>
            <a:ext cx="11183112" cy="1335024"/>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063239"/>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4" name="TextBox 13"/>
          <p:cNvSpPr txBox="1"/>
          <p:nvPr/>
        </p:nvSpPr>
        <p:spPr>
          <a:xfrm>
            <a:off x="1764792" y="3035808"/>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完全失業率の低下が必ずしも「景気回復」を意味するとは限りません。不況が長引き、求職活動をしても仕事が見つからないとあきらめて求職活動自体をやめてしまう人（求職意欲喪失効果）が増えると、その人は「非労働力人口」に分類されて労働力人口から抜けるため、分母（労働力人口）が小さくなり、見かけ上、完全失業率が下がることがあります。失業率の数字だけでなく、労働力人口・就業者数の動きも合わせて確認する視点が問われます。</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物価指数（CPI、GDPデフレーター等）</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消費者物価指数（CPI：Consumer Pr…</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総務省が公表。消費者が実際に購入する財・サービス（食料品、家賃、教育費など）の価格変動を測る指数。「コアCPI」は変動の大…</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企業物価指数（CGPI：旧・卸売物価指数）</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日本銀行が公表。企業間で取引される商品（原材料、中間財など）の価格変動を測る指数。</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GDPデフレーター</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GDP全体（消費・投資・政府支出・輸出入まで含む、経済全体）の物価動向を測る指標で、次の式で計算されます。</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ラスパイレス指数</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基準年の消費（購入）数量のウェイト（重み）を固定して計算する方式。CPIはこの方式を採用しています。</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パーシェ指数</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比較年（当年）の数量のウェイトを使って計算する方式。GDPデフレーターはこの方式に近い考え方で作られています。</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物価の動きを測る代表的な指数に</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次のものがあります。</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原油価格が高騰すると、ガソリン代や輸入品の価格が上がり、CPI・企業物価指数ともに上昇します。ただしコアコアCPIはエネルギー価格の影響を除くため、原油高だけを理由にコアコアCPIが大きく動くことはありません。</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ラスパイレス指数（CPI）は基準年の購入数量を固定して計算するため、実際には価格が上がった商品を消費者が買い控えて安い代替品に切り替える（代替効果）という行動を反映できず、物価上昇率を実態より高め（上方バイア…</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A-3｜物価指数（CPI、GDPデフレーター等）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経済指標の見方や読み方（A-1〜A-6）｜1/2</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物価の動きを測る代表的な指数には次のものがあります。</a:t>
            </a:r>
          </a:p>
        </p:txBody>
      </p:sp>
      <p:sp>
        <p:nvSpPr>
          <p:cNvPr id="9" name="Rounded Rectangle 8"/>
          <p:cNvSpPr/>
          <p:nvPr/>
        </p:nvSpPr>
        <p:spPr>
          <a:xfrm>
            <a:off x="502920" y="1810512"/>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消費者物価指数（CPI：Consumer Price Index）：総務省が公表。消費者が実際に購入する財・サービス（食料品、家賃、教育費など）の価格変動を測る指数。「コアCPI」は変動の大きい生鮮食品を除いたもの、「コアコアCPI」はさらにエネルギー（電気・ガス・ガソリン等）も除いたもので、より基調的な物価動向を見る際に使われます。</a:t>
            </a:r>
          </a:p>
        </p:txBody>
      </p:sp>
      <p:sp>
        <p:nvSpPr>
          <p:cNvPr id="12" name="Rounded Rectangle 11"/>
          <p:cNvSpPr/>
          <p:nvPr/>
        </p:nvSpPr>
        <p:spPr>
          <a:xfrm>
            <a:off x="502920" y="3008376"/>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12724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9981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企業物価指数（CGPI：旧・卸売物価指数）：日本銀行が公表。企業間で取引される商品（原材料、中間財など）の価格変動を測る指数。</a:t>
            </a:r>
          </a:p>
        </p:txBody>
      </p:sp>
      <p:sp>
        <p:nvSpPr>
          <p:cNvPr id="15" name="Rounded Rectangle 14"/>
          <p:cNvSpPr/>
          <p:nvPr/>
        </p:nvSpPr>
        <p:spPr>
          <a:xfrm>
            <a:off x="502920" y="3959352"/>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07822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05079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GDPデフレーター：GDP全体（消費・投資・政府支出・輸出入まで含む、経済全体）の物価動向を測る指標で、次の式で計算されます。</a:t>
            </a:r>
          </a:p>
        </p:txBody>
      </p:sp>
      <p:sp>
        <p:nvSpPr>
          <p:cNvPr id="18" name="Rounded Rectangle 17"/>
          <p:cNvSpPr/>
          <p:nvPr/>
        </p:nvSpPr>
        <p:spPr>
          <a:xfrm>
            <a:off x="502920" y="4910328"/>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5029200"/>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5001768"/>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GDPデフレーター = \frac名目GDP実質GDP × 100</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A-3｜物価指数（CPI、GDPデフレーター等）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経済指標の見方や読み方（A-1〜A-6）｜2/2</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物価指数の作り方には2つの計算方式があります。</a:t>
            </a:r>
          </a:p>
        </p:txBody>
      </p:sp>
      <p:sp>
        <p:nvSpPr>
          <p:cNvPr id="9" name="Rounded Rectangle 8"/>
          <p:cNvSpPr/>
          <p:nvPr/>
        </p:nvSpPr>
        <p:spPr>
          <a:xfrm>
            <a:off x="502920" y="1810512"/>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ラスパイレス指数：基準年の消費（購入）数量のウェイト（重み）を固定して計算する方式。CPIはこの方式を採用しています。</a:t>
            </a:r>
          </a:p>
        </p:txBody>
      </p:sp>
      <p:sp>
        <p:nvSpPr>
          <p:cNvPr id="12" name="Rounded Rectangle 11"/>
          <p:cNvSpPr/>
          <p:nvPr/>
        </p:nvSpPr>
        <p:spPr>
          <a:xfrm>
            <a:off x="502920" y="2578608"/>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69747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670048"/>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パーシェ指数：比較年（当年）の数量のウェイトを使って計算する方式。GDPデフレーターはこの方式に近い考え方で作られています。</a:t>
            </a:r>
          </a:p>
        </p:txBody>
      </p:sp>
      <p:sp>
        <p:nvSpPr>
          <p:cNvPr id="15" name="Rounded Rectangle 14"/>
          <p:cNvSpPr/>
          <p:nvPr/>
        </p:nvSpPr>
        <p:spPr>
          <a:xfrm>
            <a:off x="502920" y="3529584"/>
            <a:ext cx="11183112" cy="841248"/>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648456"/>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7" name="TextBox 16"/>
          <p:cNvSpPr txBox="1"/>
          <p:nvPr/>
        </p:nvSpPr>
        <p:spPr>
          <a:xfrm>
            <a:off x="1764792" y="3621024"/>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原油価格が高騰すると、ガソリン代や輸入品の価格が上がり、CPI・企業物価指数ともに上昇します。ただしコアコアCPIはエネルギー価格の影響を除くため、原油高だけを理由にコアコアCPIが大きく動くことはありません。</a:t>
            </a:r>
          </a:p>
        </p:txBody>
      </p:sp>
      <p:sp>
        <p:nvSpPr>
          <p:cNvPr id="18" name="Rounded Rectangle 17"/>
          <p:cNvSpPr/>
          <p:nvPr/>
        </p:nvSpPr>
        <p:spPr>
          <a:xfrm>
            <a:off x="502920" y="4480560"/>
            <a:ext cx="11183112" cy="1335024"/>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599432"/>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20" name="TextBox 19"/>
          <p:cNvSpPr txBox="1"/>
          <p:nvPr/>
        </p:nvSpPr>
        <p:spPr>
          <a:xfrm>
            <a:off x="1764792" y="4572000"/>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ラスパイレス指数（CPI）は基準年の購入数量を固定して計算するため、実際には価格が上がった商品を消費者が買い控えて安い代替品に切り替える（代替効果）という行動を反映できず、物価上昇率を実態より高め（上方バイアス）に示す傾向があるとされています。「CPIとGDPデフレーターはどちらも同じ計算方式である」という記述は誤りで、算出方式（ラスパイレス方式かパーシェ方式か）の違いを問う問題が頻出で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A-4</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景気動向指数（DI・CI）</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a:t>
            </a:r>
          </a:p>
        </p:txBody>
      </p:sp>
      <p:sp>
        <p:nvSpPr>
          <p:cNvPr id="6" name="Rectangle 5"/>
          <p:cNvSpPr/>
          <p:nvPr/>
        </p:nvSpPr>
        <p:spPr>
          <a:xfrm>
            <a:off x="868680" y="2926080"/>
            <a:ext cx="1046988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1｜先行指数
景気の動きより先に動く / 新規求人数、新設住宅着工床面積、東証株価指数など</a:t>
            </a:r>
          </a:p>
        </p:txBody>
      </p:sp>
      <p:sp>
        <p:nvSpPr>
          <p:cNvPr id="9" name="Oval 8"/>
          <p:cNvSpPr/>
          <p:nvPr/>
        </p:nvSpPr>
        <p:spPr>
          <a:xfrm>
            <a:off x="33489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26030"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2｜一致指数
景気とほぼ同時に動く / 鉱工業生産指数、有効求人倍率、営業利益など</a:t>
            </a:r>
          </a:p>
        </p:txBody>
      </p:sp>
      <p:sp>
        <p:nvSpPr>
          <p:cNvPr id="11" name="Oval 10"/>
          <p:cNvSpPr/>
          <p:nvPr/>
        </p:nvSpPr>
        <p:spPr>
          <a:xfrm>
            <a:off x="59207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97779"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3｜遅行指数
景気より遅れて動く / 完全失業率、法人税収入など</a:t>
            </a:r>
          </a:p>
        </p:txBody>
      </p:sp>
      <p:sp>
        <p:nvSpPr>
          <p:cNvPr id="13" name="Oval 12"/>
          <p:cNvSpPr/>
          <p:nvPr/>
        </p:nvSpPr>
        <p:spPr>
          <a:xfrm>
            <a:off x="84924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69529"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4｜DI（ディフュージョン・インデック…
とCI（コンポジット・インデックス）の2種類があります。どちらも複数の経済…</a:t>
            </a:r>
          </a:p>
        </p:txBody>
      </p:sp>
      <p:sp>
        <p:nvSpPr>
          <p:cNvPr id="15" name="Oval 14"/>
          <p:cNvSpPr/>
          <p:nvPr/>
        </p:nvSpPr>
        <p:spPr>
          <a:xfrm>
            <a:off x="11064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852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5｜DI（拡散指数）
採用している各指標のうち、「3か月前に比べて改善している指標の割合」を示す…</a:t>
            </a:r>
          </a:p>
        </p:txBody>
      </p:sp>
      <p:sp>
        <p:nvSpPr>
          <p:cNvPr id="17" name="Rounded Rectangle 1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景気が回復に向かう局面では、まず株価や新規求人数（先行指数）が上向き、続いて生産や有効求人倍率（一致指数）が改善し、最後に失業率（遅行指数）が下がってくる、という順序で経済全体に波及していきます。</a:t>
            </a:r>
          </a:p>
        </p:txBody>
      </p:sp>
      <p:sp>
        <p:nvSpPr>
          <p:cNvPr id="18" name="Rounded Rectangle 1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DIは景気変動の大きさ（量）を測り、CIは波及度合い（範囲）を測る」という説明は逆です。DI＝波及度合い（範囲）、CI＝大きさ・テンポ（量）という対応関係を正確に覚えましょう。また、公式の景気の「山」「谷」…</a:t>
            </a:r>
          </a:p>
        </p:txBody>
      </p:sp>
      <p:sp>
        <p:nvSpPr>
          <p:cNvPr id="19" name="Rectangle 1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1" name="TextBox 2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A-4｜景気動向指数（DI・CI）</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経済指標の見方や読み方（A-1〜A-6）｜1/2</a:t>
            </a:r>
          </a:p>
        </p:txBody>
      </p:sp>
      <p:sp>
        <p:nvSpPr>
          <p:cNvPr id="6" name="Rounded Rectangle 5"/>
          <p:cNvSpPr/>
          <p:nvPr/>
        </p:nvSpPr>
        <p:spPr>
          <a:xfrm>
            <a:off x="502920" y="1042415"/>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景気動向指数は、内閣府が毎月公表する、景気の現状を数値化した指標で、DI（ディフュージョン・インデックス）とCI（コンポジット・インデックス）の2種類があります。どちらも複数の経済指標（生産、雇用、消費、金融など約30の指標）を統合して作られますが、着目点が異なります。</a:t>
            </a:r>
          </a:p>
        </p:txBody>
      </p:sp>
      <p:sp>
        <p:nvSpPr>
          <p:cNvPr id="9" name="Rounded Rectangle 8"/>
          <p:cNvSpPr/>
          <p:nvPr/>
        </p:nvSpPr>
        <p:spPr>
          <a:xfrm>
            <a:off x="502920" y="2240280"/>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33172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DI（拡散指数）：採用している各指標のうち、「3か月前に比べて改善している指標の割合」を示す。景気の各分野への波及の度合い（どれだけ広い範囲で良くなっている／悪くなっているか）を見る指標。50%を上回れば景気拡張局面、下回れば後退局面と判断される。</a:t>
            </a:r>
          </a:p>
        </p:txBody>
      </p:sp>
      <p:sp>
        <p:nvSpPr>
          <p:cNvPr id="12" name="Rounded Rectangle 11"/>
          <p:cNvSpPr/>
          <p:nvPr/>
        </p:nvSpPr>
        <p:spPr>
          <a:xfrm>
            <a:off x="502920" y="3438144"/>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557016"/>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529584"/>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CI（合成指数）：各指標の変化率を合成して指数化したもの。景気変動の大きさ・テンポ（量的な強弱）を見る指標。</a:t>
            </a:r>
          </a:p>
        </p:txBody>
      </p:sp>
      <p:sp>
        <p:nvSpPr>
          <p:cNvPr id="15" name="Rounded Rectangle 14"/>
          <p:cNvSpPr/>
          <p:nvPr/>
        </p:nvSpPr>
        <p:spPr>
          <a:xfrm>
            <a:off x="502920" y="4206240"/>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325112"/>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297680"/>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採用される個別指標は、景気に対して先に動くか後から動くかによって3種類に分類されます。</a:t>
            </a:r>
          </a:p>
        </p:txBody>
      </p:sp>
      <p:sp>
        <p:nvSpPr>
          <p:cNvPr id="18" name="Rounded Rectangle 17"/>
          <p:cNvSpPr/>
          <p:nvPr/>
        </p:nvSpPr>
        <p:spPr>
          <a:xfrm>
            <a:off x="502920" y="4974336"/>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5093208"/>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20" name="TextBox 19"/>
          <p:cNvSpPr txBox="1"/>
          <p:nvPr/>
        </p:nvSpPr>
        <p:spPr>
          <a:xfrm>
            <a:off x="1764792" y="506577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種類 ｜ タイミング ｜ 代表的な指標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A-4｜景気動向指数（DI・CI）</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経済指標の見方や読み方（A-1〜A-6）｜2/2</a:t>
            </a:r>
          </a:p>
        </p:txBody>
      </p:sp>
      <p:sp>
        <p:nvSpPr>
          <p:cNvPr id="6" name="Rounded Rectangle 5"/>
          <p:cNvSpPr/>
          <p:nvPr/>
        </p:nvSpPr>
        <p:spPr>
          <a:xfrm>
            <a:off x="502920" y="1042415"/>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先行指数 ｜ 景気の動きより先に動く ｜ 新規求人数、新設住宅着工床面積、東証株価指数など</a:t>
            </a:r>
          </a:p>
        </p:txBody>
      </p:sp>
      <p:sp>
        <p:nvSpPr>
          <p:cNvPr id="9" name="Rounded Rectangle 8"/>
          <p:cNvSpPr/>
          <p:nvPr/>
        </p:nvSpPr>
        <p:spPr>
          <a:xfrm>
            <a:off x="502920" y="1810512"/>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1" name="TextBox 10"/>
          <p:cNvSpPr txBox="1"/>
          <p:nvPr/>
        </p:nvSpPr>
        <p:spPr>
          <a:xfrm>
            <a:off x="1764792" y="1901952"/>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一致指数 ｜ 景気とほぼ同時に動く ｜ 鉱工業生産指数、有効求人倍率、営業利益など</a:t>
            </a:r>
          </a:p>
        </p:txBody>
      </p:sp>
      <p:sp>
        <p:nvSpPr>
          <p:cNvPr id="12" name="Rounded Rectangle 11"/>
          <p:cNvSpPr/>
          <p:nvPr/>
        </p:nvSpPr>
        <p:spPr>
          <a:xfrm>
            <a:off x="502920" y="2578608"/>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697479"/>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4" name="TextBox 13"/>
          <p:cNvSpPr txBox="1"/>
          <p:nvPr/>
        </p:nvSpPr>
        <p:spPr>
          <a:xfrm>
            <a:off x="1764792" y="2670048"/>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遅行指数 ｜ 景気より遅れて動く ｜ 完全失業率、法人税収入など</a:t>
            </a:r>
          </a:p>
        </p:txBody>
      </p:sp>
      <p:sp>
        <p:nvSpPr>
          <p:cNvPr id="15" name="Rounded Rectangle 14"/>
          <p:cNvSpPr/>
          <p:nvPr/>
        </p:nvSpPr>
        <p:spPr>
          <a:xfrm>
            <a:off x="502920" y="3346703"/>
            <a:ext cx="11183112" cy="841248"/>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465575"/>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7" name="TextBox 16"/>
          <p:cNvSpPr txBox="1"/>
          <p:nvPr/>
        </p:nvSpPr>
        <p:spPr>
          <a:xfrm>
            <a:off x="1764792" y="3438144"/>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景気が回復に向かう局面では、まず株価や新規求人数（先行指数）が上向き、続いて生産や有効求人倍率（一致指数）が改善し、最後に失業率（遅行指数）が下がってくる、という順序で経済全体に波及していきます。</a:t>
            </a:r>
          </a:p>
        </p:txBody>
      </p:sp>
      <p:sp>
        <p:nvSpPr>
          <p:cNvPr id="18" name="Rounded Rectangle 17"/>
          <p:cNvSpPr/>
          <p:nvPr/>
        </p:nvSpPr>
        <p:spPr>
          <a:xfrm>
            <a:off x="502920" y="4297679"/>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416551"/>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20" name="TextBox 19"/>
          <p:cNvSpPr txBox="1"/>
          <p:nvPr/>
        </p:nvSpPr>
        <p:spPr>
          <a:xfrm>
            <a:off x="1764792" y="4389119"/>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DIは景気変動の大きさ（量）を測り、CIは波及度合い（範囲）を測る」という説明は逆です。DI＝波及度合い（範囲）、CI＝大きさ・テンポ（量）という対応関係を正確に覚えましょう。また、公式の景気の「山」「谷」（景気基準日付）は、一致指数の動きをもとに事後的に設定される点も押さえておくとよいでしょう。</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A-5</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マネーストック統計</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M1</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現金通貨＋預金通貨（普通預金・当座預金など、いつでも引き出せるもの）</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M2</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M1＋準通貨（定期預金等）＋CD（譲渡性預金）。ただし対象金融機関は国内銀行・信用金庫などに限られ、ゆうちょ銀行や信用組合…</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M3</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M1・M2と同じ通貨の範囲を、ゆうちょ銀行・信用組合・農協なども含むすべての預金取扱機関に対象を広げたもの</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広義流動性</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M3に、金銭信託、投資信託、金融債、国債、外債などの金融商品を加えた最も広い範囲</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マネーストック統計</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は、金融機関・中央政府（日本銀行を含む）を除く経済主体（一般法人、個人、地方公共団体など）が保有する通貨量の残高を示す統計…</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マネタリーベース（ハイベースマネー、ハイパワー…</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があります。マネタリーベースは「日本銀行が直接供給する通貨」（世の中に出回っている現金＋民間金融機関が日銀に預けている当座…</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日本銀行が大規模な金融緩和（量的・質的金融緩和）で国債を大量に買い入れると、金融機関が保有する日銀当座預金（マネタリーベースの一部）が増加します。これがそのまま企業への貸し出し増加につながればマネーストックも…</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M1〜M3の違いは「対象とする通貨の種類の広さ」ではなく、対象とする金融機関の範囲の広さ（ゆうちょ銀行や信用組合を含むかどうか）である点に注意しましょう。また「マネタリーベースが増えれば、必ず同じ割合でマネー…</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A-5｜マネーストック統計</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マネーストック統計は、金融機関・中央政府（日本銀行を含む）を除く経済主体（一般法人、個人、地方公共団体など）が保有する通貨量の残高を示す統計で、日本銀行が公表しています。範囲の狭いものから広いものへ、次のように分類されます。</a:t>
            </a:r>
          </a:p>
        </p:txBody>
      </p:sp>
      <p:sp>
        <p:nvSpPr>
          <p:cNvPr id="9" name="Rounded Rectangle 8"/>
          <p:cNvSpPr/>
          <p:nvPr/>
        </p:nvSpPr>
        <p:spPr>
          <a:xfrm>
            <a:off x="502920" y="1993391"/>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1" name="TextBox 10"/>
          <p:cNvSpPr txBox="1"/>
          <p:nvPr/>
        </p:nvSpPr>
        <p:spPr>
          <a:xfrm>
            <a:off x="1764792" y="208483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指標 ｜ 範囲</a:t>
            </a:r>
          </a:p>
        </p:txBody>
      </p:sp>
      <p:sp>
        <p:nvSpPr>
          <p:cNvPr id="12" name="Rounded Rectangle 11"/>
          <p:cNvSpPr/>
          <p:nvPr/>
        </p:nvSpPr>
        <p:spPr>
          <a:xfrm>
            <a:off x="502920" y="2761487"/>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59"/>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4" name="TextBox 13"/>
          <p:cNvSpPr txBox="1"/>
          <p:nvPr/>
        </p:nvSpPr>
        <p:spPr>
          <a:xfrm>
            <a:off x="1764792" y="2852927"/>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M1 ｜ 現金通貨＋預金通貨（普通預金・当座預金など、いつでも引き出せるもの）</a:t>
            </a:r>
          </a:p>
        </p:txBody>
      </p:sp>
      <p:sp>
        <p:nvSpPr>
          <p:cNvPr id="15" name="Rounded Rectangle 14"/>
          <p:cNvSpPr/>
          <p:nvPr/>
        </p:nvSpPr>
        <p:spPr>
          <a:xfrm>
            <a:off x="502920" y="3529583"/>
            <a:ext cx="11183112" cy="84124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648455"/>
            <a:ext cx="987552" cy="420624"/>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7" name="TextBox 16"/>
          <p:cNvSpPr txBox="1"/>
          <p:nvPr/>
        </p:nvSpPr>
        <p:spPr>
          <a:xfrm>
            <a:off x="1764792" y="3621023"/>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M2 ｜ M1＋準通貨（定期預金等）＋CD（譲渡性預金）。ただし対象金融機関は国内銀行・信用金庫などに限られ、ゆうちょ銀行や信用組合などは含まれない</a:t>
            </a:r>
          </a:p>
        </p:txBody>
      </p:sp>
      <p:sp>
        <p:nvSpPr>
          <p:cNvPr id="18" name="Rounded Rectangle 17"/>
          <p:cNvSpPr/>
          <p:nvPr/>
        </p:nvSpPr>
        <p:spPr>
          <a:xfrm>
            <a:off x="502920" y="4480559"/>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599431"/>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20" name="TextBox 19"/>
          <p:cNvSpPr txBox="1"/>
          <p:nvPr/>
        </p:nvSpPr>
        <p:spPr>
          <a:xfrm>
            <a:off x="1764792" y="4571999"/>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M3 ｜ M1・M2と同じ通貨の範囲を、ゆうちょ銀行・信用組合・農協なども含むすべての預金取扱機関に対象を広げたもの</a:t>
            </a:r>
          </a:p>
        </p:txBody>
      </p:sp>
      <p:sp>
        <p:nvSpPr>
          <p:cNvPr id="21" name="Rounded Rectangle 20"/>
          <p:cNvSpPr/>
          <p:nvPr/>
        </p:nvSpPr>
        <p:spPr>
          <a:xfrm>
            <a:off x="502920" y="5248655"/>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1792" y="5367527"/>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23" name="TextBox 22"/>
          <p:cNvSpPr txBox="1"/>
          <p:nvPr/>
        </p:nvSpPr>
        <p:spPr>
          <a:xfrm>
            <a:off x="1764792" y="5340095"/>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広義流動性 ｜ M3に、金銭信託、投資信託、金融債、国債、外債などの金融商品を加えた最も広い範囲</a:t>
            </a:r>
          </a:p>
        </p:txBody>
      </p:sp>
      <p:sp>
        <p:nvSpPr>
          <p:cNvPr id="24" name="Rectangle 2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6" name="TextBox 2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A-5｜マネーストック統計</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経済指標の見方や読み方（A-1〜A-6）｜2/2</a:t>
            </a:r>
          </a:p>
        </p:txBody>
      </p:sp>
      <p:sp>
        <p:nvSpPr>
          <p:cNvPr id="6" name="Rounded Rectangle 5"/>
          <p:cNvSpPr/>
          <p:nvPr/>
        </p:nvSpPr>
        <p:spPr>
          <a:xfrm>
            <a:off x="502920" y="1042415"/>
            <a:ext cx="11183112" cy="1335024"/>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マネーストックと混同しやすい概念にマネタリーベース（ハイベースマネー、ハイパワードマネー）があります。マネタリーベースは「日本銀行が直接供給する通貨」（世の中に出回っている現金＋民間金融機関が日銀に預けている当座預金）のことで、マネーストックとは別の概念です。日銀が金融緩和でマネタリーベースを増やすと、金融機関の貸し出しなどを通じて世の中に出回るお金（マネーストック）が増えることが期待されます（この波及の倍率を信用乗数と呼びます）。</a:t>
            </a:r>
          </a:p>
        </p:txBody>
      </p:sp>
      <p:sp>
        <p:nvSpPr>
          <p:cNvPr id="9" name="Rounded Rectangle 8"/>
          <p:cNvSpPr/>
          <p:nvPr/>
        </p:nvSpPr>
        <p:spPr>
          <a:xfrm>
            <a:off x="502920" y="2487168"/>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606039"/>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1" name="TextBox 10"/>
          <p:cNvSpPr txBox="1"/>
          <p:nvPr/>
        </p:nvSpPr>
        <p:spPr>
          <a:xfrm>
            <a:off x="1764792" y="2578608"/>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日本銀行が大規模な金融緩和（量的・質的金融緩和）で国債を大量に買い入れると、金融機関が保有する日銀当座預金（マネタリーベースの一部）が増加します。これがそのまま企業への貸し出し増加につながればマネーストックも増えますが、金融機関が貸し出しを増やさなければマネーストックはあまり増えない、ということも起こり得ます。</a:t>
            </a:r>
          </a:p>
        </p:txBody>
      </p:sp>
      <p:sp>
        <p:nvSpPr>
          <p:cNvPr id="12" name="Rounded Rectangle 11"/>
          <p:cNvSpPr/>
          <p:nvPr/>
        </p:nvSpPr>
        <p:spPr>
          <a:xfrm>
            <a:off x="502920" y="3685031"/>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803903"/>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4" name="TextBox 13"/>
          <p:cNvSpPr txBox="1"/>
          <p:nvPr/>
        </p:nvSpPr>
        <p:spPr>
          <a:xfrm>
            <a:off x="1764792" y="377647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M1〜M3の違いは「対象とする通貨の種類の広さ」ではなく、対象とする金融機関の範囲の広さ（ゆうちょ銀行や信用組合を含むかどうか）である点に注意しましょう。また「マネタリーベースが増えれば、必ず同じ割合でマネーストックも増える」という記述は誤りで、両者の関係は信用乗数を介した間接的なものです。</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A-6</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国際収支・為替レート</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a:t>
            </a:r>
          </a:p>
        </p:txBody>
      </p:sp>
      <p:sp>
        <p:nvSpPr>
          <p:cNvPr id="6" name="Rounded Rectangle 5"/>
          <p:cNvSpPr/>
          <p:nvPr/>
        </p:nvSpPr>
        <p:spPr>
          <a:xfrm>
            <a:off x="777240" y="1188720"/>
            <a:ext cx="10634472" cy="117043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200" b="1">
                <a:solidFill>
                  <a:srgbClr val="4F46E5"/>
                </a:solidFill>
                <a:latin typeface="WenQuanYi Micro Hei"/>
              </a:rPr>
              <a:t>経常収支 + 資本移転等収支 - 金融収支 + 誤差脱漏 = 0</a:t>
            </a:r>
          </a:p>
        </p:txBody>
      </p:sp>
      <p:sp>
        <p:nvSpPr>
          <p:cNvPr id="7" name="Rounded Rectangle 6"/>
          <p:cNvSpPr/>
          <p:nvPr/>
        </p:nvSpPr>
        <p:spPr>
          <a:xfrm>
            <a:off x="777240"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国際収支統計</a:t>
            </a:r>
          </a:p>
        </p:txBody>
      </p:sp>
      <p:sp>
        <p:nvSpPr>
          <p:cNvPr id="10" name="TextBox 9"/>
          <p:cNvSpPr txBox="1"/>
          <p:nvPr/>
        </p:nvSpPr>
        <p:spPr>
          <a:xfrm>
            <a:off x="978408"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は、一国が一定期間に外国と行った取引（モノ・サービスの取引、お金の貸し借り、投資など）を記録したもので、次の大項目で構成さ…</a:t>
            </a:r>
          </a:p>
        </p:txBody>
      </p:sp>
      <p:sp>
        <p:nvSpPr>
          <p:cNvPr id="11" name="Rounded Rectangle 10"/>
          <p:cNvSpPr/>
          <p:nvPr/>
        </p:nvSpPr>
        <p:spPr>
          <a:xfrm>
            <a:off x="4370832"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2"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経常収支</a:t>
            </a:r>
          </a:p>
        </p:txBody>
      </p:sp>
      <p:sp>
        <p:nvSpPr>
          <p:cNvPr id="14" name="TextBox 13"/>
          <p:cNvSpPr txBox="1"/>
          <p:nvPr/>
        </p:nvSpPr>
        <p:spPr>
          <a:xfrm>
            <a:off x="4572000"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モノ・サービスの取引や、投資収益、援助などの経常的な取引の収支。さらに次の3つに分かれます。</a:t>
            </a:r>
          </a:p>
        </p:txBody>
      </p:sp>
      <p:sp>
        <p:nvSpPr>
          <p:cNvPr id="15" name="Rounded Rectangle 14"/>
          <p:cNvSpPr/>
          <p:nvPr/>
        </p:nvSpPr>
        <p:spPr>
          <a:xfrm>
            <a:off x="7964424"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64424"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貿易・サービス収支</a:t>
            </a:r>
          </a:p>
        </p:txBody>
      </p:sp>
      <p:sp>
        <p:nvSpPr>
          <p:cNvPr id="18" name="TextBox 17"/>
          <p:cNvSpPr txBox="1"/>
          <p:nvPr/>
        </p:nvSpPr>
        <p:spPr>
          <a:xfrm>
            <a:off x="8165592"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モノの輸出入（貿易収支）と、輸送・旅行・特許使用料など（サービス収支）の合計</a:t>
            </a:r>
          </a:p>
        </p:txBody>
      </p:sp>
      <p:sp>
        <p:nvSpPr>
          <p:cNvPr id="19" name="Rounded Rectangle 18"/>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近年の日本では、原油・資源価格の上昇や円安の影響もあり、貿易収支が赤字になる月・年も見られます。しかし、過去に蓄積した対外直接投資・証券投資から得られる配当・利子収入（第一次所得収支）が大幅な黒字となっている…</a:t>
            </a:r>
          </a:p>
        </p:txBody>
      </p:sp>
      <p:sp>
        <p:nvSpPr>
          <p:cNvPr id="20" name="Rounded Rectangle 19"/>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国際収支は複式簿記の考え方に基づいており、理論上「経常収支＋資本移転等収支－金融収支＋誤差脱漏＝0」という恒等式が成り立ちます。金融収支は「対外資産の増加はプラス」と符号がやや直感に反するため、「金融収支の黒…</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A-6｜国際収支・為替レート</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国際収支統計は、一国が一定期間に外国と行った取引（モノ・サービスの取引、お金の貸し借り、投資など）を記録したもので、次の大項目で構成されます。</a:t>
            </a:r>
          </a:p>
        </p:txBody>
      </p:sp>
      <p:sp>
        <p:nvSpPr>
          <p:cNvPr id="9" name="Rounded Rectangle 8"/>
          <p:cNvSpPr/>
          <p:nvPr/>
        </p:nvSpPr>
        <p:spPr>
          <a:xfrm>
            <a:off x="502920" y="1993391"/>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経常収支 + 資本移転等収支 - 金融収支 + 誤差脱漏 = 0</a:t>
            </a:r>
          </a:p>
        </p:txBody>
      </p:sp>
      <p:sp>
        <p:nvSpPr>
          <p:cNvPr id="12" name="Rounded Rectangle 11"/>
          <p:cNvSpPr/>
          <p:nvPr/>
        </p:nvSpPr>
        <p:spPr>
          <a:xfrm>
            <a:off x="502920" y="2761487"/>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59"/>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852927"/>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経常収支：モノ・サービスの取引や、投資収益、援助などの経常的な取引の収支。さらに次の3つに分かれます。</a:t>
            </a:r>
          </a:p>
        </p:txBody>
      </p:sp>
      <p:sp>
        <p:nvSpPr>
          <p:cNvPr id="15" name="Rounded Rectangle 14"/>
          <p:cNvSpPr/>
          <p:nvPr/>
        </p:nvSpPr>
        <p:spPr>
          <a:xfrm>
            <a:off x="502920" y="3529583"/>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648455"/>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621023"/>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貿易・サービス収支：モノの輸出入（貿易収支）と、輸送・旅行・特許使用料など（サービス収支）の合計</a:t>
            </a:r>
          </a:p>
        </p:txBody>
      </p:sp>
      <p:sp>
        <p:nvSpPr>
          <p:cNvPr id="18" name="Rounded Rectangle 17"/>
          <p:cNvSpPr/>
          <p:nvPr/>
        </p:nvSpPr>
        <p:spPr>
          <a:xfrm>
            <a:off x="502920" y="4297679"/>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416551"/>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389119"/>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第一次所得収支：海外への投資（株式・債券・海外子会社など）から得られる配当・利子などの収支</a:t>
            </a:r>
          </a:p>
        </p:txBody>
      </p:sp>
      <p:sp>
        <p:nvSpPr>
          <p:cNvPr id="21" name="Rounded Rectangle 20"/>
          <p:cNvSpPr/>
          <p:nvPr/>
        </p:nvSpPr>
        <p:spPr>
          <a:xfrm>
            <a:off x="502920" y="506577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1792" y="5184647"/>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3" name="TextBox 22"/>
          <p:cNvSpPr txBox="1"/>
          <p:nvPr/>
        </p:nvSpPr>
        <p:spPr>
          <a:xfrm>
            <a:off x="1764792" y="5157215"/>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第二次所得収支：対価を伴わない無償の資金移動（国際機関への拠出金、海外への送金など）</a:t>
            </a:r>
          </a:p>
        </p:txBody>
      </p:sp>
      <p:sp>
        <p:nvSpPr>
          <p:cNvPr id="24" name="Rectangle 2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6" name="TextBox 2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A-6｜国際収支・為替レート</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経済指標の見方や読み方（A-1〜A-6）｜2/2</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資本移転等収支：対価を伴わない資本の移転（インフラ整備の無償援助など）</a:t>
            </a:r>
          </a:p>
        </p:txBody>
      </p:sp>
      <p:sp>
        <p:nvSpPr>
          <p:cNvPr id="9" name="Rounded Rectangle 8"/>
          <p:cNvSpPr/>
          <p:nvPr/>
        </p:nvSpPr>
        <p:spPr>
          <a:xfrm>
            <a:off x="502920" y="1810512"/>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金融収支：対外的な金融資産・負債の増減（直接投資、証券投資、外貨準備の増減など）。海外への投資（資産の増加）はプラスとして計上される点が特徴的です。</a:t>
            </a:r>
          </a:p>
        </p:txBody>
      </p:sp>
      <p:sp>
        <p:nvSpPr>
          <p:cNvPr id="12" name="Rounded Rectangle 11"/>
          <p:cNvSpPr/>
          <p:nvPr/>
        </p:nvSpPr>
        <p:spPr>
          <a:xfrm>
            <a:off x="502920" y="2761488"/>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60"/>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852928"/>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為替レートは、通貨同士の交換比率です。「円高」とは円の価値が上がること（例：1ドル150円→1ドル100円のように、同じ1ドルを買うのに必要な円が減ること）、「円安」とは円の価値が下がること（1ドル100円→1ドル150円）を指します。</a:t>
            </a:r>
          </a:p>
        </p:txBody>
      </p:sp>
      <p:sp>
        <p:nvSpPr>
          <p:cNvPr id="15" name="Rounded Rectangle 14"/>
          <p:cNvSpPr/>
          <p:nvPr/>
        </p:nvSpPr>
        <p:spPr>
          <a:xfrm>
            <a:off x="502920" y="3712464"/>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831336"/>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7" name="TextBox 16"/>
          <p:cNvSpPr txBox="1"/>
          <p:nvPr/>
        </p:nvSpPr>
        <p:spPr>
          <a:xfrm>
            <a:off x="1764792" y="3803904"/>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近年の日本では、原油・資源価格の上昇や円安の影響もあり、貿易収支が赤字になる月・年も見られます。しかし、過去に蓄積した対外直接投資・証券投資から得られる配当・利子収入（第一次所得収支）が大幅な黒字となっているため、経常収支全体としては黒字を維持している、という構造が近年の日本経済の特徴としてよく取り上げられます。</a:t>
            </a:r>
          </a:p>
        </p:txBody>
      </p:sp>
      <p:sp>
        <p:nvSpPr>
          <p:cNvPr id="18" name="Rounded Rectangle 17"/>
          <p:cNvSpPr/>
          <p:nvPr/>
        </p:nvSpPr>
        <p:spPr>
          <a:xfrm>
            <a:off x="502920" y="4910328"/>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5029200"/>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20" name="TextBox 19"/>
          <p:cNvSpPr txBox="1"/>
          <p:nvPr/>
        </p:nvSpPr>
        <p:spPr>
          <a:xfrm>
            <a:off x="1764792" y="5001768"/>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国際収支は複式簿記の考え方に基づいており、理論上「経常収支＋資本移転等収支－金融収支＋誤差脱漏＝0」という恒等式が成り立ちます。金融収支は「対外資産の増加はプラス」と符号がやや直感に反するため、「金融収支の黒字＝海外への資金流出（対外資産の増加）超過」という意味を正しく理解しておく必要があり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02</a:t>
            </a:r>
          </a:p>
        </p:txBody>
      </p:sp>
      <p:sp>
        <p:nvSpPr>
          <p:cNvPr id="5" name="TextBox 4"/>
          <p:cNvSpPr txBox="1"/>
          <p:nvPr/>
        </p:nvSpPr>
        <p:spPr>
          <a:xfrm>
            <a:off x="1188720" y="1993392"/>
            <a:ext cx="9784080" cy="96012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マクロ経済理論と経済政策</a:t>
            </a:r>
          </a:p>
        </p:txBody>
      </p:sp>
      <p:sp>
        <p:nvSpPr>
          <p:cNvPr id="6" name="TextBox 5"/>
          <p:cNvSpPr txBox="1"/>
          <p:nvPr/>
        </p:nvSpPr>
        <p:spPr>
          <a:xfrm>
            <a:off x="1234440" y="3017520"/>
            <a:ext cx="9720072" cy="1005840"/>
          </a:xfrm>
          <a:prstGeom prst="rect">
            <a:avLst/>
          </a:prstGeom>
          <a:noFill/>
        </p:spPr>
        <p:txBody>
          <a:bodyPr wrap="square" tIns="91440" bIns="91440" anchor="ctr">
            <a:spAutoFit/>
          </a:bodyPr>
          <a:lstStyle/>
          <a:p>
            <a:pPr algn="ctr">
              <a:spcAft>
                <a:spcPts val="0"/>
              </a:spcAft>
            </a:pPr>
            <a:r>
              <a:rPr sz="1400" b="0">
                <a:solidFill>
                  <a:srgbClr val="667085"/>
                </a:solidFill>
                <a:latin typeface="WenQuanYi Micro Hei"/>
              </a:rPr>
              <a:t>第2部では、一国全体の経済がどのように動くかを理論的に説明する「マクロ経済学」の基礎を学びます。ここは第1次試験A科目の中で最も出題数が多く、かつ計算問題・グラフ問題が集中する山場です。</a:t>
            </a:r>
          </a:p>
        </p:txBody>
      </p:sp>
      <p:sp>
        <p:nvSpPr>
          <p:cNvPr id="7" name="Rounded Rectangle 6"/>
          <p:cNvSpPr/>
          <p:nvPr/>
        </p:nvSpPr>
        <p:spPr>
          <a:xfrm>
            <a:off x="4261104" y="4315968"/>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7 論点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A-7</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生産物市場とGDP決定理論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GDP（国民所得）の水準は、モノやサービスへの…</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というものです。これを「有効需要の原理」と呼びます。</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限界消費性向</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＝所得が1単位増えたときに消費に回される割合、0＜c＜1）</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乗数効果</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です。政府支出Gを1単位増やすと、GDP（Y）はそれ以上に増加します。その増加倍率（政府支出乗数）は次の式で表されます。</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ケインズ経済学の基本的な考え方</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GDP（国民所得）の水準は、モノやサービスへの需要（有効需要）の大きさによって決まるというものです。</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これを「有効需要の原理」と呼びます。</a:t>
            </a:r>
          </a:p>
        </p:txBody>
      </p:sp>
      <p:sp>
        <p:nvSpPr>
          <p:cNvPr id="27" name="Rounded Rectangle 26"/>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最もシンプルなモデル（45度線分析）で</a:t>
            </a:r>
          </a:p>
        </p:txBody>
      </p:sp>
      <p:sp>
        <p:nvSpPr>
          <p:cNvPr id="30" name="TextBox 29"/>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財市場の均衡は次の式で表されます。</a:t>
            </a:r>
          </a:p>
        </p:txBody>
      </p:sp>
      <p:sp>
        <p:nvSpPr>
          <p:cNvPr id="31" name="Rounded Rectangle 30"/>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具体例｜限界消費性向が0.75の経済で、政府が公共投資を40兆円増やしたとします。政府支出乗数は1/(1-0.75)=4なので、最終的なGDPの増加額は40兆円×4＝160兆円と計算されます（あくまで単純化されたモデ…</a:t>
            </a:r>
          </a:p>
        </p:txBody>
      </p:sp>
      <p:sp>
        <p:nvSpPr>
          <p:cNvPr id="32" name="Rounded Rectangle 31"/>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同時に「政府支出を100増やし、同額の100を増税する」ケース（均衡予算）を考える問題も頻出です。この場合、政府支出の増加によるGDP押し上げ効果と、増税によるGDP押し下げ効果が完全には相殺されず、差し引き…</a:t>
            </a:r>
          </a:p>
        </p:txBody>
      </p:sp>
      <p:sp>
        <p:nvSpPr>
          <p:cNvPr id="33" name="Rectangle 32"/>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5" name="TextBox 34"/>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A-7｜生産物市場とGDP決定理論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マクロ経済理論と経済政策（A-7〜A-13）｜1/3</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ケインズ経済学の基本的な考え方は、GDP（国民所得）の水準は、モノやサービスへの需要（有効需要）の大きさによって決まるというものです。これを「有効需要の原理」と呼びます。</a:t>
            </a:r>
          </a:p>
        </p:txBody>
      </p:sp>
      <p:sp>
        <p:nvSpPr>
          <p:cNvPr id="9" name="Rounded Rectangle 8"/>
          <p:cNvSpPr/>
          <p:nvPr/>
        </p:nvSpPr>
        <p:spPr>
          <a:xfrm>
            <a:off x="502920" y="1993391"/>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最もシンプルなモデル（45度線分析）では、財市場の均衡は次の式で表されます。</a:t>
            </a:r>
          </a:p>
        </p:txBody>
      </p:sp>
      <p:sp>
        <p:nvSpPr>
          <p:cNvPr id="12" name="Rounded Rectangle 11"/>
          <p:cNvSpPr/>
          <p:nvPr/>
        </p:nvSpPr>
        <p:spPr>
          <a:xfrm>
            <a:off x="502920" y="2761487"/>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59"/>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852927"/>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Y = C + I + G</a:t>
            </a:r>
          </a:p>
        </p:txBody>
      </p:sp>
      <p:sp>
        <p:nvSpPr>
          <p:cNvPr id="15" name="Rounded Rectangle 14"/>
          <p:cNvSpPr/>
          <p:nvPr/>
        </p:nvSpPr>
        <p:spPr>
          <a:xfrm>
            <a:off x="502920" y="3529583"/>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648455"/>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621023"/>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（Y：GDP、C：消費、I：投資、G：政府支出。海外部門を考える場合はさらに輸出Xと輸入Mを加えて Y = C + I + G + (X - M) となります）</a:t>
            </a:r>
          </a:p>
        </p:txBody>
      </p:sp>
      <p:sp>
        <p:nvSpPr>
          <p:cNvPr id="18" name="Rounded Rectangle 17"/>
          <p:cNvSpPr/>
          <p:nvPr/>
        </p:nvSpPr>
        <p:spPr>
          <a:xfrm>
            <a:off x="502920" y="4480559"/>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599431"/>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571999"/>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消費Cは所得Yに依存すると考え、次のような消費関数で表します。</a:t>
            </a:r>
          </a:p>
        </p:txBody>
      </p:sp>
      <p:sp>
        <p:nvSpPr>
          <p:cNvPr id="21" name="Rounded Rectangle 20"/>
          <p:cNvSpPr/>
          <p:nvPr/>
        </p:nvSpPr>
        <p:spPr>
          <a:xfrm>
            <a:off x="502920" y="524865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1792" y="5367527"/>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3" name="TextBox 22"/>
          <p:cNvSpPr txBox="1"/>
          <p:nvPr/>
        </p:nvSpPr>
        <p:spPr>
          <a:xfrm>
            <a:off x="1764792" y="5340095"/>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C = C_0 + cY</a:t>
            </a:r>
          </a:p>
        </p:txBody>
      </p:sp>
      <p:sp>
        <p:nvSpPr>
          <p:cNvPr id="24" name="Rectangle 2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6" name="TextBox 2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A-7｜生産物市場とGDP決定理論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マクロ経済理論と経済政策（A-7〜A-13）｜2/3</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（C_0：所得がゼロでも発生する基礎消費、c：限界消費性向＝所得が1単位増えたときに消費に回される割合、0＜c＜1）</a:t>
            </a:r>
          </a:p>
        </p:txBody>
      </p:sp>
      <p:sp>
        <p:nvSpPr>
          <p:cNvPr id="9" name="Rounded Rectangle 8"/>
          <p:cNvSpPr/>
          <p:nvPr/>
        </p:nvSpPr>
        <p:spPr>
          <a:xfrm>
            <a:off x="502920" y="1810512"/>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この式をY＝C＋I＋Gに代入して整理すると、均衡GDPは次のように求まります。</a:t>
            </a:r>
          </a:p>
        </p:txBody>
      </p:sp>
      <p:sp>
        <p:nvSpPr>
          <p:cNvPr id="12" name="Rounded Rectangle 11"/>
          <p:cNvSpPr/>
          <p:nvPr/>
        </p:nvSpPr>
        <p:spPr>
          <a:xfrm>
            <a:off x="502920" y="2578608"/>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697479"/>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670048"/>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Y = C_0 + I + G ÷ 1 - c</a:t>
            </a:r>
          </a:p>
        </p:txBody>
      </p:sp>
      <p:sp>
        <p:nvSpPr>
          <p:cNvPr id="15" name="Rounded Rectangle 14"/>
          <p:cNvSpPr/>
          <p:nvPr/>
        </p:nvSpPr>
        <p:spPr>
          <a:xfrm>
            <a:off x="502920" y="3346703"/>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465575"/>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438144"/>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ここで重要なのが乗数効果です。政府支出Gを1単位増やすと、GDP（Y）はそれ以上に増加します。その増加倍率（政府支出乗数）は次の式で表されます。</a:t>
            </a:r>
          </a:p>
        </p:txBody>
      </p:sp>
      <p:sp>
        <p:nvSpPr>
          <p:cNvPr id="18" name="Rounded Rectangle 17"/>
          <p:cNvSpPr/>
          <p:nvPr/>
        </p:nvSpPr>
        <p:spPr>
          <a:xfrm>
            <a:off x="502920" y="4297679"/>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416551"/>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389119"/>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政府支出乗数 = 1 ÷ 1 - c</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A-7｜生産物市場とGDP決定理論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マクロ経済理論と経済政策（A-7〜A-13）｜3/3</a:t>
            </a:r>
          </a:p>
        </p:txBody>
      </p:sp>
      <p:sp>
        <p:nvSpPr>
          <p:cNvPr id="6" name="Rounded Rectangle 5"/>
          <p:cNvSpPr/>
          <p:nvPr/>
        </p:nvSpPr>
        <p:spPr>
          <a:xfrm>
            <a:off x="502920" y="1042415"/>
            <a:ext cx="11183112" cy="1581912"/>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1399032"/>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なぜ1単位以上に増えるのか。政府が公共事業に100億円を支出すると、それを受け取った建設会社の従業員などの所得が100億円増えます。限界消費性向がc＝0.8なら、その人たちは100億円のうち80億円を新たに消費します。その80億円を受け取った別の誰かも、さらにその80%（64億円）を消費します……というように、支出が支出を生む連鎖（波及効果）が続き、最終的なGDPの増加額は最初の100億円よりずっと大きくなります。この例では乗数は1/(1-0.8)=5倍となり、最終的なGDP増加額は100億円×5＝500億円になります。</a:t>
            </a:r>
          </a:p>
        </p:txBody>
      </p:sp>
      <p:sp>
        <p:nvSpPr>
          <p:cNvPr id="9" name="Rounded Rectangle 8"/>
          <p:cNvSpPr/>
          <p:nvPr/>
        </p:nvSpPr>
        <p:spPr>
          <a:xfrm>
            <a:off x="502920" y="2734056"/>
            <a:ext cx="11183112" cy="841248"/>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85292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1" name="TextBox 10"/>
          <p:cNvSpPr txBox="1"/>
          <p:nvPr/>
        </p:nvSpPr>
        <p:spPr>
          <a:xfrm>
            <a:off x="1764792" y="282549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限界消費性向が0.75の経済で、政府が公共投資を40兆円増やしたとします。政府支出乗数は1/(1-0.75)=4なので、最終的なGDPの増加額は40兆円×4＝160兆円と計算されます（あくまで単純化されたモデル上の理論値です）。</a:t>
            </a:r>
          </a:p>
        </p:txBody>
      </p:sp>
      <p:sp>
        <p:nvSpPr>
          <p:cNvPr id="12" name="Rounded Rectangle 11"/>
          <p:cNvSpPr/>
          <p:nvPr/>
        </p:nvSpPr>
        <p:spPr>
          <a:xfrm>
            <a:off x="502920" y="3685032"/>
            <a:ext cx="11183112" cy="1335024"/>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803904"/>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4" name="TextBox 13"/>
          <p:cNvSpPr txBox="1"/>
          <p:nvPr/>
        </p:nvSpPr>
        <p:spPr>
          <a:xfrm>
            <a:off x="1764792" y="3776472"/>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同時に「政府支出を100増やし、同額の100を増税する」ケース（均衡予算）を考える問題も頻出です。この場合、政府支出の増加によるGDP押し上げ効果と、増税によるGDP押し下げ効果が完全には相殺されず、差し引きでGDPは政府支出の増加額と同額（乗数＝1）だけ増加することが知られています（均衡予算乗数の定理）。「同額の増税を行えば政策効果はゼロになる」という直感的な誤りに注意してください。</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A-8</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貨幣市場と利子率</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流動性選好理論</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取引動機</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日々の買い物などの決済のためにお金を持つ需要。所得が多いほど大きくなる。</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予備的動機</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不測の事態に備えてお金を持つ需要。これも所得に依存する。</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投機的動機</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将来、債券などに投資するタイミングを計るために、とりあえず現金で持っておく需要。利子率が低いほど（債券を持つ魅力が小さいほ…</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流動性の罠</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があります。これは、利子率が極めて低い水準まで下がると、人々が「これ以上利子率は下がらないだろう（今後は上がるだろう）」と…</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ケインズ</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人々がお金（貨幣）を持ちたがる動機（貨幣需要）を3つに整理しました（流動性選好理論）。</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好況で所得が増えると、取引に必要なお金が増えるため貨幣需要が高まり、利子率には上昇圧力がかかります。逆に、中央銀行が金融緩和で貨幣供給量を増やすと、市中にお金が余るため利子率は低下圧力を受けます。</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投機的動機に基づく貨幣需要は「利子率」に依存するのであって、「所得」に依存するのではありません。逆に取引動機・予備的動機に基づく需要は「所得」に依存し「利子率」にはあまり依存しません。この対応（動機と依存する…</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A-8｜貨幣市場と利子率</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マクロ経済理論と経済政策（A-7〜A-13）｜1/2</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ケインズは、人々がお金（貨幣）を持ちたがる動機（貨幣需要）を3つに整理しました（流動性選好理論）。</a:t>
            </a:r>
          </a:p>
        </p:txBody>
      </p:sp>
      <p:sp>
        <p:nvSpPr>
          <p:cNvPr id="9" name="Rounded Rectangle 8"/>
          <p:cNvSpPr/>
          <p:nvPr/>
        </p:nvSpPr>
        <p:spPr>
          <a:xfrm>
            <a:off x="502920" y="1810512"/>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取引動機：日々の買い物などの決済のためにお金を持つ需要。所得が多いほど大きくなる。</a:t>
            </a:r>
          </a:p>
        </p:txBody>
      </p:sp>
      <p:sp>
        <p:nvSpPr>
          <p:cNvPr id="12" name="Rounded Rectangle 11"/>
          <p:cNvSpPr/>
          <p:nvPr/>
        </p:nvSpPr>
        <p:spPr>
          <a:xfrm>
            <a:off x="502920" y="2578608"/>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697479"/>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670048"/>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予備的動機：不測の事態に備えてお金を持つ需要。これも所得に依存する。</a:t>
            </a:r>
          </a:p>
        </p:txBody>
      </p:sp>
      <p:sp>
        <p:nvSpPr>
          <p:cNvPr id="15" name="Rounded Rectangle 14"/>
          <p:cNvSpPr/>
          <p:nvPr/>
        </p:nvSpPr>
        <p:spPr>
          <a:xfrm>
            <a:off x="502920" y="3346703"/>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465575"/>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438144"/>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投機的動機：将来、債券などに投資するタイミングを計るために、とりあえず現金で持っておく需要。利子率が低いほど（債券を持つ魅力が小さいほど）大きくなる。</a:t>
            </a:r>
          </a:p>
        </p:txBody>
      </p:sp>
      <p:sp>
        <p:nvSpPr>
          <p:cNvPr id="18" name="Rounded Rectangle 17"/>
          <p:cNvSpPr/>
          <p:nvPr/>
        </p:nvSpPr>
        <p:spPr>
          <a:xfrm>
            <a:off x="502920" y="4297679"/>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416551"/>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389119"/>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つまり、貨幣需要は「所得が増えるほど増加し、利子率が上がるほど減少する」という性質を持ちます。一方、貨幣供給量は中央銀行が政策的に決定するため、利子率の水準に関わりなく一定（一定量供給される）と単純化して考え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A-8｜貨幣市場と利子率</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マクロ経済理論と経済政策（A-7〜A-13）｜2/2</a:t>
            </a:r>
          </a:p>
        </p:txBody>
      </p:sp>
      <p:sp>
        <p:nvSpPr>
          <p:cNvPr id="6" name="Rounded Rectangle 5"/>
          <p:cNvSpPr/>
          <p:nvPr/>
        </p:nvSpPr>
        <p:spPr>
          <a:xfrm>
            <a:off x="502920" y="1042415"/>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貨幣市場の均衡は「貨幣需要＝貨幣供給」となる利子率で決まります。もし貨幣供給が需要を上回れば（お金が余っている状態）、人々は余ったお金で債券を買おうとして債券価格が上昇し、結果として利子率は低下します（債券価格と利子率は逆方向に動く関係にあります）。</a:t>
            </a:r>
          </a:p>
        </p:txBody>
      </p:sp>
      <p:sp>
        <p:nvSpPr>
          <p:cNvPr id="9" name="Rounded Rectangle 8"/>
          <p:cNvSpPr/>
          <p:nvPr/>
        </p:nvSpPr>
        <p:spPr>
          <a:xfrm>
            <a:off x="502920" y="2240280"/>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33172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特殊なケースとして流動性の罠があります。これは、利子率が極めて低い水準まで下がると、人々が「これ以上利子率は下がらないだろう（今後は上がるだろう）」と予想し、貨幣需要が利子率にほとんど反応しなくなる（貨幣需要曲線がほぼ水平になる）状態です。この状態では、中央銀行がいくら貨幣供給を増やしても利子率がそれ以上下がらず、金融政策の効果が働きにくくなります。</a:t>
            </a:r>
          </a:p>
        </p:txBody>
      </p:sp>
      <p:sp>
        <p:nvSpPr>
          <p:cNvPr id="12" name="Rounded Rectangle 11"/>
          <p:cNvSpPr/>
          <p:nvPr/>
        </p:nvSpPr>
        <p:spPr>
          <a:xfrm>
            <a:off x="502920" y="3438144"/>
            <a:ext cx="11183112" cy="841248"/>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557016"/>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4" name="TextBox 13"/>
          <p:cNvSpPr txBox="1"/>
          <p:nvPr/>
        </p:nvSpPr>
        <p:spPr>
          <a:xfrm>
            <a:off x="1764792" y="3529584"/>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好況で所得が増えると、取引に必要なお金が増えるため貨幣需要が高まり、利子率には上昇圧力がかかります。逆に、中央銀行が金融緩和で貨幣供給量を増やすと、市中にお金が余るため利子率は低下圧力を受けます。</a:t>
            </a:r>
          </a:p>
        </p:txBody>
      </p:sp>
      <p:sp>
        <p:nvSpPr>
          <p:cNvPr id="15" name="Rounded Rectangle 14"/>
          <p:cNvSpPr/>
          <p:nvPr/>
        </p:nvSpPr>
        <p:spPr>
          <a:xfrm>
            <a:off x="502920" y="4389120"/>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507992"/>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7" name="TextBox 16"/>
          <p:cNvSpPr txBox="1"/>
          <p:nvPr/>
        </p:nvSpPr>
        <p:spPr>
          <a:xfrm>
            <a:off x="1764792" y="448056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投機的動機に基づく貨幣需要は「利子率」に依存するのであって、「所得」に依存するのではありません。逆に取引動機・予備的動機に基づく需要は「所得」に依存し「利子率」にはあまり依存しません。この対応（動機と依存する変数の組み合わせ）を入れ替えた設問に注意しましょう。</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A-9</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IS-LM曲線・分析</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IS曲線が緩やか（水平に近い）</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限界消費性向が大きい／投資の利子感応度が大きい（利子率変化に投資が敏感に反応する） / 金融政策の効果が大きい</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IS曲線が急（垂直に近い）</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投資の利子感応度が小さい（利子率が変化しても投資があまり反応しない） / 金融政策の効果は小さい</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LM曲線が緩やか（水平に近い）</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貨幣需要の利子感応度が大きい（利子率のわずかな変化で貨幣需要が大きく変わる） / 財政政策の効果が大きい（クラウディングア…</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LM曲線が急（垂直に近い）</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貨幣需要の所得感応度が大きい（所得が増えると貨幣需要が大きく増える） / 財政政策の効果は小さい（クラウディングアウトが大…</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同時に</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満たす、GDP（Y）と利子率（r）の組み合わせを分析する、マクロ経済学で最も重要な分析ツールです。</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IS曲線</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財市場（Y＝C＋I(r)＋G）を均衡させる（Y, r）の組み合わせを描いた曲線で、右下がりになります。利子率rが下がると…</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投資が利子率にほとんど反応しない業種構成の経済（IS曲線が急）では、中央銀行が金融緩和を行って利子率を下げても、設備投資はあまり増えず、金融政策の効果は限定的になります。逆にこのような経済では、財政政策（公共…</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限界消費性向が大きいほどIS曲線の傾きは急になる」という記述は誤りで、正しくは限界消費性向が大きいほど乗数効果が大きくなり、IS曲線は緩やかになります。IS・LM曲線の傾きに関する4つの決定要因（限界消費性…</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A-9｜IS-LM曲線・分析</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マクロ経済理論と経済政策（A-7〜A-13）｜1/4</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IS-LM分析は、A-7の「財市場」とA-8の「貨幣市場」を同時に満たす、GDP（Y）と利子率（r）の組み合わせを分析する、マクロ経済学で最も重要な分析ツールです。</a:t>
            </a:r>
          </a:p>
        </p:txBody>
      </p:sp>
      <p:sp>
        <p:nvSpPr>
          <p:cNvPr id="9" name="Rounded Rectangle 8"/>
          <p:cNvSpPr/>
          <p:nvPr/>
        </p:nvSpPr>
        <p:spPr>
          <a:xfrm>
            <a:off x="502920" y="1993391"/>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IS曲線：財市場（Y＝C＋I(r)＋G）を均衡させる（Y, r）の組み合わせを描いた曲線で、右下がりになります。利子率rが下がると、企業の投資I(r)が増え、乗数効果を通じてGDPが増加するためです。</a:t>
            </a:r>
          </a:p>
        </p:txBody>
      </p:sp>
      <p:sp>
        <p:nvSpPr>
          <p:cNvPr id="12" name="Rounded Rectangle 11"/>
          <p:cNvSpPr/>
          <p:nvPr/>
        </p:nvSpPr>
        <p:spPr>
          <a:xfrm>
            <a:off x="502920" y="2944368"/>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06323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35808"/>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LM曲線：貨幣市場（貨幣需要＝貨幣供給）を均衡させる（Y, r）の組み合わせを描いた曲線で、右上がりになります。GDP（Y）が増えると取引動機による貨幣需要が増えるため、貨幣市場を均衡させるには利子率rが上昇して投機的需要を減らす必要があるためです。</a:t>
            </a:r>
          </a:p>
        </p:txBody>
      </p:sp>
      <p:sp>
        <p:nvSpPr>
          <p:cNvPr id="15" name="Rounded Rectangle 14"/>
          <p:cNvSpPr/>
          <p:nvPr/>
        </p:nvSpPr>
        <p:spPr>
          <a:xfrm>
            <a:off x="502920" y="4142231"/>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261103"/>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23367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2つの曲線の交点が、財市場・貨幣市場を同時に満たす均衡GDPと均衡利子率を示します。</a:t>
            </a:r>
          </a:p>
        </p:txBody>
      </p:sp>
      <p:sp>
        <p:nvSpPr>
          <p:cNvPr id="18" name="Rounded Rectangle 17"/>
          <p:cNvSpPr/>
          <p:nvPr/>
        </p:nvSpPr>
        <p:spPr>
          <a:xfrm>
            <a:off x="502920" y="4910327"/>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502919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5001767"/>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財政政策（政府支出Gの増加）はIS曲線を右にシフトさせます。これにより均衡点でGDPは増加し、利子率も上昇します。このとき、利子率の上昇によって民間投資が抑制される現象をクラウディングアウトと呼びます（財政政策の効果の一部が、この利子率上昇による民間投資の押し出しによって相殺されてしまい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A-9｜IS-LM曲線・分析</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マクロ経済理論と経済政策（A-7〜A-13）｜2/4</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金融政策（貨幣供給Mの増加）はLM曲線を右にシフトさせます。これにより均衡点で利子率は低下し、GDPは増加します。</a:t>
            </a:r>
          </a:p>
        </p:txBody>
      </p:sp>
      <p:sp>
        <p:nvSpPr>
          <p:cNvPr id="9" name="Rounded Rectangle 8"/>
          <p:cNvSpPr/>
          <p:nvPr/>
        </p:nvSpPr>
        <p:spPr>
          <a:xfrm>
            <a:off x="502920" y="1810512"/>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IS曲線・LM曲線の「傾き」は、政策効果の大きさを左右する重要な要素です。</a:t>
            </a:r>
          </a:p>
        </p:txBody>
      </p:sp>
      <p:sp>
        <p:nvSpPr>
          <p:cNvPr id="12" name="Rounded Rectangle 11"/>
          <p:cNvSpPr/>
          <p:nvPr/>
        </p:nvSpPr>
        <p:spPr>
          <a:xfrm>
            <a:off x="502920" y="2578608"/>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697479"/>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4" name="TextBox 13"/>
          <p:cNvSpPr txBox="1"/>
          <p:nvPr/>
        </p:nvSpPr>
        <p:spPr>
          <a:xfrm>
            <a:off x="1764792" y="2670048"/>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曲線の傾き ｜ 決まる要因 ｜ 政策効果への影響</a:t>
            </a:r>
          </a:p>
        </p:txBody>
      </p:sp>
      <p:sp>
        <p:nvSpPr>
          <p:cNvPr id="15" name="Rounded Rectangle 14"/>
          <p:cNvSpPr/>
          <p:nvPr/>
        </p:nvSpPr>
        <p:spPr>
          <a:xfrm>
            <a:off x="502920" y="3346703"/>
            <a:ext cx="11183112" cy="84124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465575"/>
            <a:ext cx="987552" cy="420624"/>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7" name="TextBox 16"/>
          <p:cNvSpPr txBox="1"/>
          <p:nvPr/>
        </p:nvSpPr>
        <p:spPr>
          <a:xfrm>
            <a:off x="1764792" y="3438144"/>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IS曲線が緩やか（水平に近い） ｜ 限界消費性向が大きい／投資の利子感応度が大きい（利子率変化に投資が敏感に反応する） ｜ 金融政策の効果が大きい</a:t>
            </a:r>
          </a:p>
        </p:txBody>
      </p:sp>
      <p:sp>
        <p:nvSpPr>
          <p:cNvPr id="18" name="Rounded Rectangle 17"/>
          <p:cNvSpPr/>
          <p:nvPr/>
        </p:nvSpPr>
        <p:spPr>
          <a:xfrm>
            <a:off x="502920" y="4297679"/>
            <a:ext cx="11183112" cy="84124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416551"/>
            <a:ext cx="987552" cy="420624"/>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20" name="TextBox 19"/>
          <p:cNvSpPr txBox="1"/>
          <p:nvPr/>
        </p:nvSpPr>
        <p:spPr>
          <a:xfrm>
            <a:off x="1764792" y="4389119"/>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IS曲線が急（垂直に近い） ｜ 投資の利子感応度が小さい（利子率が変化しても投資があまり反応しない） ｜ 金融政策の効果は小さい</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A-9｜IS-LM曲線・分析</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マクロ経済理論と経済政策（A-7〜A-13）｜3/4</a:t>
            </a:r>
          </a:p>
        </p:txBody>
      </p:sp>
      <p:sp>
        <p:nvSpPr>
          <p:cNvPr id="6" name="Rounded Rectangle 5"/>
          <p:cNvSpPr/>
          <p:nvPr/>
        </p:nvSpPr>
        <p:spPr>
          <a:xfrm>
            <a:off x="502920" y="1042415"/>
            <a:ext cx="11183112" cy="84124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LM曲線が緩やか（水平に近い） ｜ 貨幣需要の利子感応度が大きい（利子率のわずかな変化で貨幣需要が大きく変わる） ｜ 財政政策の効果が大きい（クラウディングアウトが小さい）</a:t>
            </a:r>
          </a:p>
        </p:txBody>
      </p:sp>
      <p:sp>
        <p:nvSpPr>
          <p:cNvPr id="9" name="Rounded Rectangle 8"/>
          <p:cNvSpPr/>
          <p:nvPr/>
        </p:nvSpPr>
        <p:spPr>
          <a:xfrm>
            <a:off x="502920" y="1993391"/>
            <a:ext cx="11183112" cy="84124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1" name="TextBox 10"/>
          <p:cNvSpPr txBox="1"/>
          <p:nvPr/>
        </p:nvSpPr>
        <p:spPr>
          <a:xfrm>
            <a:off x="1764792" y="208483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LM曲線が急（垂直に近い） ｜ 貨幣需要の所得感応度が大きい（所得が増えると貨幣需要が大きく増える） ｜ 財政政策の効果は小さい（クラウディングアウトが大きい）</a:t>
            </a:r>
          </a:p>
        </p:txBody>
      </p:sp>
      <p:sp>
        <p:nvSpPr>
          <p:cNvPr id="12" name="Rounded Rectangle 11"/>
          <p:cNvSpPr/>
          <p:nvPr/>
        </p:nvSpPr>
        <p:spPr>
          <a:xfrm>
            <a:off x="502920" y="2944368"/>
            <a:ext cx="11183112" cy="1335024"/>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06323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35808"/>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覚え方のコツは「その曲線自体が緩やかであるほど、もう一方の政策の効果が大きくなる」という対応関係です。IS曲線が緩やか（投資が利子に敏感）→利子率のわずかな変化（金融政策）が投資・GDPを大きく動かす→金融政策が効きやすい。LM曲線が緩やか（貨幣需要が利子に敏感）→政府支出増加で多少利子率が上がっても貨幣需要で吸収されクラウディングアウトが小さい→財政政策が効きやすい、という理屈です。</a:t>
            </a:r>
          </a:p>
        </p:txBody>
      </p:sp>
      <p:sp>
        <p:nvSpPr>
          <p:cNvPr id="15" name="Rounded Rectangle 14"/>
          <p:cNvSpPr/>
          <p:nvPr/>
        </p:nvSpPr>
        <p:spPr>
          <a:xfrm>
            <a:off x="502920" y="4389120"/>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507992"/>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7" name="TextBox 16"/>
          <p:cNvSpPr txBox="1"/>
          <p:nvPr/>
        </p:nvSpPr>
        <p:spPr>
          <a:xfrm>
            <a:off x="1764792" y="4480559"/>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投資が利子率にほとんど反応しない業種構成の経済（IS曲線が急）では、中央銀行が金融緩和を行って利子率を下げても、設備投資はあまり増えず、金融政策の効果は限定的になります。逆にこのような経済では、財政政策（公共投資の拡大）の方がGDP押し上げ効果は大きくなりま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A-9｜IS-LM曲線・分析</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マクロ経済理論と経済政策（A-7〜A-13）｜4/4</a:t>
            </a:r>
          </a:p>
        </p:txBody>
      </p:sp>
      <p:sp>
        <p:nvSpPr>
          <p:cNvPr id="6" name="Rounded Rectangle 5"/>
          <p:cNvSpPr/>
          <p:nvPr/>
        </p:nvSpPr>
        <p:spPr>
          <a:xfrm>
            <a:off x="502920" y="1042415"/>
            <a:ext cx="11183112" cy="1335024"/>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8" name="TextBox 7"/>
          <p:cNvSpPr txBox="1"/>
          <p:nvPr/>
        </p:nvSpPr>
        <p:spPr>
          <a:xfrm>
            <a:off x="1764792" y="1133856"/>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限界消費性向が大きいほどIS曲線の傾きは急になる」という記述は誤りで、正しくは限界消費性向が大きいほど乗数効果が大きくなり、IS曲線は緩やかになります。IS・LM曲線の傾きに関する4つの決定要因（限界消費性向、投資の利子感応度、貨幣需要の所得感応度、貨幣需要の利子感応度）は頻出のため、「何が大きいとどちらの曲線がどう傾くか」を必ず自分の言葉で説明できるようにしておきましょう。</a:t>
            </a:r>
          </a:p>
        </p:txBody>
      </p:sp>
      <p:sp>
        <p:nvSpPr>
          <p:cNvPr id="9" name="Rounded Rectangle 8"/>
          <p:cNvSpPr/>
          <p:nvPr/>
        </p:nvSpPr>
        <p:spPr>
          <a:xfrm>
            <a:off x="502920" y="2487168"/>
            <a:ext cx="11183112" cy="841248"/>
          </a:xfrm>
          <a:prstGeom prst="roundRect">
            <a:avLst/>
          </a:prstGeom>
          <a:solidFill>
            <a:srgbClr val="F0FDF4"/>
          </a:solidFill>
          <a:ln w="12700">
            <a:solidFill>
              <a:srgbClr val="9DCA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606039"/>
            <a:ext cx="987552" cy="420624"/>
          </a:xfrm>
          <a:prstGeom prst="roundRect">
            <a:avLst/>
          </a:prstGeom>
          <a:solidFill>
            <a:srgbClr val="15803D"/>
          </a:solidFill>
          <a:ln w="12700">
            <a:solidFill>
              <a:srgbClr val="15803D"/>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過去問</a:t>
            </a:r>
          </a:p>
        </p:txBody>
      </p:sp>
      <p:sp>
        <p:nvSpPr>
          <p:cNvPr id="11" name="TextBox 10"/>
          <p:cNvSpPr txBox="1"/>
          <p:nvPr/>
        </p:nvSpPr>
        <p:spPr>
          <a:xfrm>
            <a:off x="1764792" y="2578608"/>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problem_sets/1st_stage/exercises/A_economics_exercises.md の「A-9：マクロ経済理論と経済政策（IS-LM曲線の傾きと財政・金融政策の効果）」を参照。</a:t>
            </a:r>
          </a:p>
        </p:txBody>
      </p:sp>
      <p:sp>
        <p:nvSpPr>
          <p:cNvPr id="12" name="Rectangle 1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4" name="TextBox 1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A-10</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政府支出・租税と財政政策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ビルトイン・スタビライザー（自動安定化装置）</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があります。例えば、累進課税制度のもとでは好況で所得が増えると税負担の割合も自動的に増えて需要の過熱を抑え、不況で所得が減…</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クラウディングアウト</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（政府支出増加による利子率上昇が民間投資を押し出す効果）のほか、将来の増税を見越して家計が消費を増やさない、という考え方（…</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財政政策</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政府が歳出（政府支出）や歳入（租税）を通じて景気を調整する政策です。</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不況期に</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政府支出の拡大や減税で需要を刺激し（拡張的財政政策）、好況で過熱気味のときには政府支出の抑制や増税で需要を抑える（緊縮…</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財政政策に</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政府が意図的に発動する「裁量的財政政策」のほかに、制度に組み込まれた自動的な調整機能であるビルトイン・スタビライザー（…</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例えば、累進課税制度のもとで</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好況で所得が増えると税負担の割合も自動的に増えて需要の過熱を抑え、不況で所得が減ると税負担も自動的に軽くなり、失業保険…</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不況期に政府が所得税の減税を行っても、消費者が「いずれ財政赤字を穴埋めするための増税があるだろう」と予想して減税分をそのまま貯蓄に回してしまうと、期待されたほど消費が増えず、景気刺激効果が弱まることがあります…</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ビルトイン・スタビライザーは「政府が景気の状況を見ながら都度判断して発動する政策」ではなく、税制・社会保障制度の仕組みそのものに組み込まれた「自動的な」安定化機能である点を混同しないようにしましょう。</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A-10｜政府支出・租税と財政政策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マクロ経済理論と経済政策（A-7〜A-13）｜1/2</a:t>
            </a:r>
          </a:p>
        </p:txBody>
      </p:sp>
      <p:sp>
        <p:nvSpPr>
          <p:cNvPr id="6" name="Rounded Rectangle 5"/>
          <p:cNvSpPr/>
          <p:nvPr/>
        </p:nvSpPr>
        <p:spPr>
          <a:xfrm>
            <a:off x="502920" y="1042415"/>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財政政策とは、政府が歳出（政府支出）や歳入（租税）を通じて景気を調整する政策です。不況期には政府支出の拡大や減税で需要を刺激し（拡張的財政政策）、好況で過熱気味のときには政府支出の抑制や増税で需要を抑える（緊縮的財政政策）というのが基本的な考え方です。</a:t>
            </a:r>
          </a:p>
        </p:txBody>
      </p:sp>
      <p:sp>
        <p:nvSpPr>
          <p:cNvPr id="9" name="Rounded Rectangle 8"/>
          <p:cNvSpPr/>
          <p:nvPr/>
        </p:nvSpPr>
        <p:spPr>
          <a:xfrm>
            <a:off x="502920" y="2240280"/>
            <a:ext cx="11183112" cy="1335024"/>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331720"/>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財政政策には、政府が意図的に発動する「裁量的財政政策」のほかに、制度に組み込まれた自動的な調整機能であるビルトイン・スタビライザー（自動安定化装置）があります。例えば、累進課税制度のもとでは好況で所得が増えると税負担の割合も自動的に増えて需要の過熱を抑え、不況で所得が減ると税負担も自動的に軽くなり、失業保険給付も自動的に増えるため、政府が何も新しい対策をしなくても、景気変動の振れ幅がある程度自動的に緩和される仕組みになっています。</a:t>
            </a:r>
          </a:p>
        </p:txBody>
      </p:sp>
      <p:sp>
        <p:nvSpPr>
          <p:cNvPr id="12" name="Rounded Rectangle 11"/>
          <p:cNvSpPr/>
          <p:nvPr/>
        </p:nvSpPr>
        <p:spPr>
          <a:xfrm>
            <a:off x="502920" y="3685032"/>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80390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776472"/>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財政政策の効果を弱める要因としてA-9で見たクラウディングアウト（政府支出増加による利子率上昇が民間投資を押し出す効果）のほか、将来の増税を見越して家計が消費を増やさない、という考え方（リカードの中立命題：公債発行による財源調達は、将来の増税による負担と等価であるため、家計は将来に備えて貯蓄を増やし、財政政策の効果が相殺されるという理論）も学習上重要です。</a:t>
            </a:r>
          </a:p>
        </p:txBody>
      </p:sp>
      <p:sp>
        <p:nvSpPr>
          <p:cNvPr id="15" name="Rounded Rectangle 14"/>
          <p:cNvSpPr/>
          <p:nvPr/>
        </p:nvSpPr>
        <p:spPr>
          <a:xfrm>
            <a:off x="502920" y="4882896"/>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500176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7" name="TextBox 16"/>
          <p:cNvSpPr txBox="1"/>
          <p:nvPr/>
        </p:nvSpPr>
        <p:spPr>
          <a:xfrm>
            <a:off x="1764792" y="497433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不況期に政府が所得税の減税を行っても、消費者が「いずれ財政赤字を穴埋めするための増税があるだろう」と予想して減税分をそのまま貯蓄に回してしまうと、期待されたほど消費が増えず、景気刺激効果が弱まることがあります。これはリカードの中立命題が想定する状況で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A-10｜政府支出・租税と財政政策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マクロ経済理論と経済政策（A-7〜A-13）｜2/2</a:t>
            </a:r>
          </a:p>
        </p:txBody>
      </p:sp>
      <p:sp>
        <p:nvSpPr>
          <p:cNvPr id="6" name="Rounded Rectangle 5"/>
          <p:cNvSpPr/>
          <p:nvPr/>
        </p:nvSpPr>
        <p:spPr>
          <a:xfrm>
            <a:off x="502920" y="1042415"/>
            <a:ext cx="11183112" cy="841248"/>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ビルトイン・スタビライザーは「政府が景気の状況を見ながら都度判断して発動する政策」ではなく、税制・社会保障制度の仕組みそのものに組み込まれた「自動的な」安定化機能である点を混同しないようにしましょう。</a:t>
            </a:r>
          </a:p>
        </p:txBody>
      </p:sp>
      <p:sp>
        <p:nvSpPr>
          <p:cNvPr id="9" name="Rectangle 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1" name="TextBox 1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A-11</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貨幣理論と金融政策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Rectangle 5"/>
          <p:cNvSpPr/>
          <p:nvPr/>
        </p:nvSpPr>
        <p:spPr>
          <a:xfrm>
            <a:off x="868680" y="2926080"/>
            <a:ext cx="1046988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1｜公開市場操作（オペレーション）
中央銀行が金融機関との間で国債などを売買することで、市中に出回る資金量を調…</a:t>
            </a:r>
          </a:p>
        </p:txBody>
      </p:sp>
      <p:sp>
        <p:nvSpPr>
          <p:cNvPr id="9" name="Oval 8"/>
          <p:cNvSpPr/>
          <p:nvPr/>
        </p:nvSpPr>
        <p:spPr>
          <a:xfrm>
            <a:off x="33489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26030"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2｜政策金利操作
中央銀行が誘導目標とする短期金利（日本では無担保コールレート翌日物）を操作…</a:t>
            </a:r>
          </a:p>
        </p:txBody>
      </p:sp>
      <p:sp>
        <p:nvSpPr>
          <p:cNvPr id="11" name="Oval 10"/>
          <p:cNvSpPr/>
          <p:nvPr/>
        </p:nvSpPr>
        <p:spPr>
          <a:xfrm>
            <a:off x="59207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97779"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3｜預金準備率操作
金融機関に義務付けられている、預金の一定割合を中央銀行に預け入れる比率（準…</a:t>
            </a:r>
          </a:p>
        </p:txBody>
      </p:sp>
      <p:sp>
        <p:nvSpPr>
          <p:cNvPr id="13" name="Oval 12"/>
          <p:cNvSpPr/>
          <p:nvPr/>
        </p:nvSpPr>
        <p:spPr>
          <a:xfrm>
            <a:off x="84924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69529"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4｜量的緩和政策（QE）
政策金利がほぼゼロまで下がり、これ以上金利を下げる余地がなくなった場合に…</a:t>
            </a:r>
          </a:p>
        </p:txBody>
      </p:sp>
      <p:sp>
        <p:nvSpPr>
          <p:cNvPr id="15" name="Oval 14"/>
          <p:cNvSpPr/>
          <p:nvPr/>
        </p:nvSpPr>
        <p:spPr>
          <a:xfrm>
            <a:off x="11064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852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5｜マイナス金利政策
金融機関が中央銀行に預ける当座預金の一部にマイナスの金利を適用し、金融機関…</a:t>
            </a:r>
          </a:p>
        </p:txBody>
      </p:sp>
      <p:sp>
        <p:nvSpPr>
          <p:cNvPr id="17" name="Rounded Rectangle 1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日本銀行が「買いオペ」で国債を買い入れると、その代金が金融機関に支払われ、市中に出回る資金量（マネタリーベース）が増加します。これにより短期金利に低下圧力がかかり、企業の資金調達コストが下がることで設備投資が…</a:t>
            </a:r>
          </a:p>
        </p:txBody>
      </p:sp>
      <p:sp>
        <p:nvSpPr>
          <p:cNvPr id="18" name="Rounded Rectangle 1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注意｜「買いオペは資金を吸収する政策である」という記述は誤りで、買いオペは中央銀行が資金を「供給する」（金融緩和的な）政策です。「売りオペ」との方向を逆に覚えないよう注意してください。</a:t>
            </a:r>
          </a:p>
        </p:txBody>
      </p:sp>
      <p:sp>
        <p:nvSpPr>
          <p:cNvPr id="19" name="Rectangle 1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1" name="TextBox 2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A-11｜貨幣理論と金融政策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金融政策とは、中央銀行（日本銀行）が金利や通貨量を調整して物価の安定や景気の調整を図る政策です。代表的な手段には次のものがあります。</a:t>
            </a:r>
          </a:p>
        </p:txBody>
      </p:sp>
      <p:sp>
        <p:nvSpPr>
          <p:cNvPr id="9" name="Rounded Rectangle 8"/>
          <p:cNvSpPr/>
          <p:nvPr/>
        </p:nvSpPr>
        <p:spPr>
          <a:xfrm>
            <a:off x="502920" y="1993391"/>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公開市場操作（オペレーション）：中央銀行が金融機関との間で国債などを売買することで、市中に出回る資金量を調整する。国債を買い入れる「買いオペ」は資金供給（金融緩和）、売却する「売りオペ」は資金吸収（金融引き締め）にあたる。</a:t>
            </a:r>
          </a:p>
        </p:txBody>
      </p:sp>
      <p:sp>
        <p:nvSpPr>
          <p:cNvPr id="12" name="Rounded Rectangle 11"/>
          <p:cNvSpPr/>
          <p:nvPr/>
        </p:nvSpPr>
        <p:spPr>
          <a:xfrm>
            <a:off x="502920" y="2944368"/>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063239"/>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35808"/>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政策金利操作：中央銀行が誘導目標とする短期金利（日本では無担保コールレート翌日物）を操作する。</a:t>
            </a:r>
          </a:p>
        </p:txBody>
      </p:sp>
      <p:sp>
        <p:nvSpPr>
          <p:cNvPr id="15" name="Rounded Rectangle 14"/>
          <p:cNvSpPr/>
          <p:nvPr/>
        </p:nvSpPr>
        <p:spPr>
          <a:xfrm>
            <a:off x="502920" y="3712463"/>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831335"/>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803903"/>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預金準備率操作：金融機関に義務付けられている、預金の一定割合を中央銀行に預け入れる比率（準備率）を上下させることで、金融機関が貸し出しに回せる資金量を調整する。</a:t>
            </a:r>
          </a:p>
        </p:txBody>
      </p:sp>
      <p:sp>
        <p:nvSpPr>
          <p:cNvPr id="18" name="Rounded Rectangle 17"/>
          <p:cNvSpPr/>
          <p:nvPr/>
        </p:nvSpPr>
        <p:spPr>
          <a:xfrm>
            <a:off x="502920" y="4663440"/>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78231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754879"/>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量的緩和政策（QE）：政策金利がほぼゼロまで下がり、これ以上金利を下げる余地がなくなった場合に、金利ではなく資金供給「量」そのものを拡大する非伝統的金融政策。</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A-11｜貨幣理論と金融政策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マクロ経済理論と経済政策（A-7〜A-13）｜2/2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マイナス金利政策：金融機関が中央銀行に預ける当座預金の一部にマイナスの金利を適用し、金融機関がお金を貸し出しや投資に回すよう促す政策。</a:t>
            </a:r>
          </a:p>
        </p:txBody>
      </p:sp>
      <p:sp>
        <p:nvSpPr>
          <p:cNvPr id="9" name="Rounded Rectangle 8"/>
          <p:cNvSpPr/>
          <p:nvPr/>
        </p:nvSpPr>
        <p:spPr>
          <a:xfrm>
            <a:off x="502920" y="1993391"/>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イールドカーブ・コントロール（YCC）：短期金利だけでなく、長期金利（長期国債の利回り）にも一定の誘導目標を設定して市場に介入する政策。</a:t>
            </a:r>
          </a:p>
        </p:txBody>
      </p:sp>
      <p:sp>
        <p:nvSpPr>
          <p:cNvPr id="12" name="Rounded Rectangle 11"/>
          <p:cNvSpPr/>
          <p:nvPr/>
        </p:nvSpPr>
        <p:spPr>
          <a:xfrm>
            <a:off x="502920" y="2944368"/>
            <a:ext cx="11183112" cy="841248"/>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063239"/>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4" name="TextBox 13"/>
          <p:cNvSpPr txBox="1"/>
          <p:nvPr/>
        </p:nvSpPr>
        <p:spPr>
          <a:xfrm>
            <a:off x="1764792" y="3035808"/>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日本銀行が「買いオペ」で国債を買い入れると、その代金が金融機関に支払われ、市中に出回る資金量（マネタリーベース）が増加します。これにより短期金利に低下圧力がかかり、企業の資金調達コストが下がることで設備投資が促されることが期待されます。</a:t>
            </a:r>
          </a:p>
        </p:txBody>
      </p:sp>
      <p:sp>
        <p:nvSpPr>
          <p:cNvPr id="15" name="Rounded Rectangle 14"/>
          <p:cNvSpPr/>
          <p:nvPr/>
        </p:nvSpPr>
        <p:spPr>
          <a:xfrm>
            <a:off x="502920" y="3895344"/>
            <a:ext cx="11183112" cy="841248"/>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014215"/>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7" name="TextBox 16"/>
          <p:cNvSpPr txBox="1"/>
          <p:nvPr/>
        </p:nvSpPr>
        <p:spPr>
          <a:xfrm>
            <a:off x="1764792" y="3986783"/>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「買いオペは資金を吸収する政策である」という記述は誤りで、買いオペは中央銀行が資金を「供給する」（金融緩和的な）政策です。「売りオペ」との方向を逆に覚えないよう注意してください。</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A-12</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雇用と物価水準（フィリップス曲線等）</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Rectangle 5"/>
          <p:cNvSpPr/>
          <p:nvPr/>
        </p:nvSpPr>
        <p:spPr>
          <a:xfrm>
            <a:off x="868680" y="2926080"/>
            <a:ext cx="1046988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1｜フィリップス曲線
は、縦軸にインフレ率（賃金上昇率）、横軸に失業率をとったときに、両者が右下…</a:t>
            </a:r>
          </a:p>
        </p:txBody>
      </p:sp>
      <p:sp>
        <p:nvSpPr>
          <p:cNvPr id="9" name="Oval 8"/>
          <p:cNvSpPr/>
          <p:nvPr/>
        </p:nvSpPr>
        <p:spPr>
          <a:xfrm>
            <a:off x="33489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26030"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2｜自然失業率仮説（期待修正フィリップ…
です。この理論では、人々が「これから物価が上がるだろう」という期待（予想イ…</a:t>
            </a:r>
          </a:p>
        </p:txBody>
      </p:sp>
      <p:sp>
        <p:nvSpPr>
          <p:cNvPr id="11" name="Oval 10"/>
          <p:cNvSpPr/>
          <p:nvPr/>
        </p:nvSpPr>
        <p:spPr>
          <a:xfrm>
            <a:off x="59207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97779"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3｜当初
「失業率を下げようとすると（金融緩和などで需要を刺激すると）、インフレ率が…</a:t>
            </a:r>
          </a:p>
        </p:txBody>
      </p:sp>
      <p:sp>
        <p:nvSpPr>
          <p:cNvPr id="13" name="Oval 12"/>
          <p:cNvSpPr/>
          <p:nvPr/>
        </p:nvSpPr>
        <p:spPr>
          <a:xfrm>
            <a:off x="84924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69529"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4｜しかし、1970年代に不況とインフ…
</a:t>
            </a:r>
          </a:p>
        </p:txBody>
      </p:sp>
      <p:sp>
        <p:nvSpPr>
          <p:cNvPr id="15" name="Oval 14"/>
          <p:cNvSpPr/>
          <p:nvPr/>
        </p:nvSpPr>
        <p:spPr>
          <a:xfrm>
            <a:off x="11064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852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5｜これを説明するために提示されたのが…
</a:t>
            </a:r>
          </a:p>
        </p:txBody>
      </p:sp>
      <p:sp>
        <p:nvSpPr>
          <p:cNvPr id="17" name="Rounded Rectangle 1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1970年代の石油危機後の先進国では、原油価格高騰によるコスト上昇で物価が上昇する一方、不況で失業率も高止まりする「スタグフレーション」が生じ、「不況ならインフレ率は下がるはず」という単純なフィリップス曲線の…</a:t>
            </a:r>
          </a:p>
        </p:txBody>
      </p:sp>
      <p:sp>
        <p:nvSpPr>
          <p:cNvPr id="18" name="Rounded Rectangle 1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フィリップス曲線が示すインフレ率と失業率のトレードオフは、長期においても常に安定的に成立する」という記述は誤りです。自然失業率仮説では、このトレードオフは人々が物価上昇を予想していない「短期」にのみ成立し…</a:t>
            </a:r>
          </a:p>
        </p:txBody>
      </p:sp>
      <p:sp>
        <p:nvSpPr>
          <p:cNvPr id="19" name="Rectangle 1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1" name="TextBox 2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A-12｜雇用と物価水準（フィリップス曲線等）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マクロ経済理論と経済政策（A-7〜A-13）｜1/2</a:t>
            </a:r>
          </a:p>
        </p:txBody>
      </p:sp>
      <p:sp>
        <p:nvSpPr>
          <p:cNvPr id="6" name="Rounded Rectangle 5"/>
          <p:cNvSpPr/>
          <p:nvPr/>
        </p:nvSpPr>
        <p:spPr>
          <a:xfrm>
            <a:off x="502920" y="1042415"/>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フィリップス曲線は、縦軸にインフレ率（賃金上昇率）、横軸に失業率をとったときに、両者が右下がりの関係（トレードオフの関係）にあることを示す曲線です。当初は「失業率を下げようとすると（金融緩和などで需要を刺激すると）、インフレ率が高まる」という経験則として提示されました。</a:t>
            </a:r>
          </a:p>
        </p:txBody>
      </p:sp>
      <p:sp>
        <p:nvSpPr>
          <p:cNvPr id="9" name="Rounded Rectangle 8"/>
          <p:cNvSpPr/>
          <p:nvPr/>
        </p:nvSpPr>
        <p:spPr>
          <a:xfrm>
            <a:off x="502920" y="2240280"/>
            <a:ext cx="11183112" cy="207568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331720"/>
            <a:ext cx="9674352" cy="1892807"/>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しかし、1970年代に不況とインフレが同時進行する「スタグフレーション」が発生し、単純なフィリップス曲線では説明がつかなくなりました。これを説明するために提示されたのが、フリードマンらによる自然失業率仮説（期待修正フィリップス曲線）です。この理論では、人々が「これから物価が上がるだろう」という期待（予想インフレ率）を賃金交渉に織り込むようになると、フィリップス曲線そのものが上方にシフトしてしまうと考えます。その結果、短期的にはフィリップス曲線（インフレ率と失業率のトレードオフ）が観察されても、長期的には失業率はその経済の構造によって決まる一定の水準（自然失業率）に落ち着き、金融緩和をどれだけ続けても失業率をそれ以上恒常的に下げることはできず、インフレ率だけが高まり続けてしまう、と説明されます（長期のフィリップス曲線は自然失業率の水準で垂直になる）。</a:t>
            </a:r>
          </a:p>
        </p:txBody>
      </p:sp>
      <p:sp>
        <p:nvSpPr>
          <p:cNvPr id="12" name="Rounded Rectangle 11"/>
          <p:cNvSpPr/>
          <p:nvPr/>
        </p:nvSpPr>
        <p:spPr>
          <a:xfrm>
            <a:off x="502920" y="4425696"/>
            <a:ext cx="11183112" cy="841248"/>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454456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4" name="TextBox 13"/>
          <p:cNvSpPr txBox="1"/>
          <p:nvPr/>
        </p:nvSpPr>
        <p:spPr>
          <a:xfrm>
            <a:off x="1764792" y="451713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1970年代の石油危機後の先進国では、原油価格高騰によるコスト上昇で物価が上昇する一方、不況で失業率も高止まりする「スタグフレーション」が生じ、「不況ならインフレ率は下がるはず」という単純なフィリップス曲線の想定が崩れました。</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A-12｜雇用と物価水準（フィリップス曲線等）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マクロ経済理論と経済政策（A-7〜A-13）｜2/2</a:t>
            </a:r>
          </a:p>
        </p:txBody>
      </p:sp>
      <p:sp>
        <p:nvSpPr>
          <p:cNvPr id="6" name="Rounded Rectangle 5"/>
          <p:cNvSpPr/>
          <p:nvPr/>
        </p:nvSpPr>
        <p:spPr>
          <a:xfrm>
            <a:off x="502920" y="1042415"/>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フィリップス曲線が示すインフレ率と失業率のトレードオフは、長期においても常に安定的に成立する」という記述は誤りです。自然失業率仮説では、このトレードオフは人々が物価上昇を予想していない「短期」にのみ成立し、予想が織り込まれる「長期」には成立しなくなる（長期フィリップス曲線は垂直）という点が頻出のポイントです。</a:t>
            </a:r>
          </a:p>
        </p:txBody>
      </p:sp>
      <p:sp>
        <p:nvSpPr>
          <p:cNvPr id="9" name="Rectangle 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1" name="TextBox 1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A-13</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景気変動と景気循環</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Oval 5"/>
          <p:cNvSpPr/>
          <p:nvPr/>
        </p:nvSpPr>
        <p:spPr>
          <a:xfrm>
            <a:off x="4892040" y="2304288"/>
            <a:ext cx="2395728" cy="141732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700" b="1">
                <a:solidFill>
                  <a:srgbClr val="FFFFFF"/>
                </a:solidFill>
                <a:latin typeface="WenQuanYi Micro Hei"/>
              </a:rPr>
              <a:t>循環して
改善・定着</a:t>
            </a:r>
          </a:p>
        </p:txBody>
      </p:sp>
      <p:sp>
        <p:nvSpPr>
          <p:cNvPr id="7" name="Rounded Rectangle 6"/>
          <p:cNvSpPr/>
          <p:nvPr/>
        </p:nvSpPr>
        <p:spPr>
          <a:xfrm>
            <a:off x="4526280" y="105156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26280" y="105156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27448" y="114300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キチン・サイクル</a:t>
            </a:r>
          </a:p>
        </p:txBody>
      </p:sp>
      <p:sp>
        <p:nvSpPr>
          <p:cNvPr id="10" name="TextBox 9"/>
          <p:cNvSpPr txBox="1"/>
          <p:nvPr/>
        </p:nvSpPr>
        <p:spPr>
          <a:xfrm>
            <a:off x="4727448" y="1472184"/>
            <a:ext cx="2587752" cy="52120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約40か月（約3〜4年、短期） / 企業の在庫投資の変動</a:t>
            </a:r>
          </a:p>
        </p:txBody>
      </p:sp>
      <p:cxnSp>
        <p:nvCxnSpPr>
          <p:cNvPr id="11" name="Connector 10"/>
          <p:cNvCxnSpPr/>
          <p:nvPr/>
        </p:nvCxnSpPr>
        <p:spPr>
          <a:xfrm>
            <a:off x="5980176" y="1563624"/>
            <a:ext cx="3447288" cy="123444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973568" y="228600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73568" y="228600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74736" y="237744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ジュグラー・サイクル</a:t>
            </a:r>
          </a:p>
        </p:txBody>
      </p:sp>
      <p:sp>
        <p:nvSpPr>
          <p:cNvPr id="15" name="TextBox 14"/>
          <p:cNvSpPr txBox="1"/>
          <p:nvPr/>
        </p:nvSpPr>
        <p:spPr>
          <a:xfrm>
            <a:off x="8174736" y="2706624"/>
            <a:ext cx="2587752" cy="52120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約7〜10年（中期） / 企業の設備投資（生産設備の更新）の変動</a:t>
            </a:r>
          </a:p>
        </p:txBody>
      </p:sp>
      <p:cxnSp>
        <p:nvCxnSpPr>
          <p:cNvPr id="16" name="Connector 15"/>
          <p:cNvCxnSpPr/>
          <p:nvPr/>
        </p:nvCxnSpPr>
        <p:spPr>
          <a:xfrm flipH="1">
            <a:off x="5980176" y="2798064"/>
            <a:ext cx="3447288" cy="150876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526280" y="379476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26280" y="379476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27448" y="388620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クズネッツの波（建築循環）</a:t>
            </a:r>
          </a:p>
        </p:txBody>
      </p:sp>
      <p:sp>
        <p:nvSpPr>
          <p:cNvPr id="20" name="TextBox 19"/>
          <p:cNvSpPr txBox="1"/>
          <p:nvPr/>
        </p:nvSpPr>
        <p:spPr>
          <a:xfrm>
            <a:off x="4727448" y="4215384"/>
            <a:ext cx="2587752" cy="52120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約15〜25年（約20年） / 住宅・商工業建築物の建て替え需要の変動</a:t>
            </a:r>
          </a:p>
        </p:txBody>
      </p:sp>
      <p:cxnSp>
        <p:nvCxnSpPr>
          <p:cNvPr id="21" name="Connector 20"/>
          <p:cNvCxnSpPr/>
          <p:nvPr/>
        </p:nvCxnSpPr>
        <p:spPr>
          <a:xfrm flipH="1" flipV="1">
            <a:off x="2532888" y="2798064"/>
            <a:ext cx="3447288" cy="150876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078992" y="228600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78992" y="228600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0160" y="237744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コンドラチェフ・サイクル</a:t>
            </a:r>
          </a:p>
        </p:txBody>
      </p:sp>
      <p:sp>
        <p:nvSpPr>
          <p:cNvPr id="25" name="TextBox 24"/>
          <p:cNvSpPr txBox="1"/>
          <p:nvPr/>
        </p:nvSpPr>
        <p:spPr>
          <a:xfrm>
            <a:off x="1280160" y="2706624"/>
            <a:ext cx="2587752" cy="52120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約50年（長期） / 鉄道・電力・情報通信技術のような大規模な技術革新の普及</a:t>
            </a:r>
          </a:p>
        </p:txBody>
      </p:sp>
      <p:cxnSp>
        <p:nvCxnSpPr>
          <p:cNvPr id="26" name="Connector 25"/>
          <p:cNvCxnSpPr/>
          <p:nvPr/>
        </p:nvCxnSpPr>
        <p:spPr>
          <a:xfrm flipV="1">
            <a:off x="2532888" y="1563624"/>
            <a:ext cx="3447288" cy="123444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企業が売れ行き予測を誤って在庫を積みすぎ、その後在庫調整のために生産を絞る、という数年単位のサイクルはキチン・サイクルの典型例です。一方、鉄道網の普及や電力の普及のような産業革命級の技術革新が経済全体を長期に…</a:t>
            </a:r>
          </a:p>
        </p:txBody>
      </p:sp>
      <p:sp>
        <p:nvSpPr>
          <p:cNvPr id="28" name="Rounded Rectangle 2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各サイクルの「周期の長さ」と「原因」を入れ替えた誤答パターンが頻出です（例えば「キチン・サイクルは約20年周期で建築循環に起因する」という記述は、実際にはクズネッツの波の説明であり誤り）。周期の長さの順番（キ…</a:t>
            </a:r>
          </a:p>
        </p:txBody>
      </p:sp>
      <p:sp>
        <p:nvSpPr>
          <p:cNvPr id="29" name="Rectangle 2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1" name="TextBox 3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A-13｜景気変動と景気循環</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景気は好況と不況を波のように繰り返します（景気循環）。景気循環にはいくつかの周期の異なるパターンがあることが知られており、周期の短い順に整理すると次のようになります。</a:t>
            </a:r>
          </a:p>
        </p:txBody>
      </p:sp>
      <p:sp>
        <p:nvSpPr>
          <p:cNvPr id="9" name="Rounded Rectangle 8"/>
          <p:cNvSpPr/>
          <p:nvPr/>
        </p:nvSpPr>
        <p:spPr>
          <a:xfrm>
            <a:off x="502920" y="1993391"/>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1" name="TextBox 10"/>
          <p:cNvSpPr txBox="1"/>
          <p:nvPr/>
        </p:nvSpPr>
        <p:spPr>
          <a:xfrm>
            <a:off x="1764792" y="208483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名称 ｜ 周期 ｜ 主な原因</a:t>
            </a:r>
          </a:p>
        </p:txBody>
      </p:sp>
      <p:sp>
        <p:nvSpPr>
          <p:cNvPr id="12" name="Rounded Rectangle 11"/>
          <p:cNvSpPr/>
          <p:nvPr/>
        </p:nvSpPr>
        <p:spPr>
          <a:xfrm>
            <a:off x="502920" y="2761487"/>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59"/>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4" name="TextBox 13"/>
          <p:cNvSpPr txBox="1"/>
          <p:nvPr/>
        </p:nvSpPr>
        <p:spPr>
          <a:xfrm>
            <a:off x="1764792" y="2852927"/>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キチン・サイクル ｜ 約40か月（約3〜4年、短期） ｜ 企業の在庫投資の変動</a:t>
            </a:r>
          </a:p>
        </p:txBody>
      </p:sp>
      <p:sp>
        <p:nvSpPr>
          <p:cNvPr id="15" name="Rounded Rectangle 14"/>
          <p:cNvSpPr/>
          <p:nvPr/>
        </p:nvSpPr>
        <p:spPr>
          <a:xfrm>
            <a:off x="502920" y="3529583"/>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648455"/>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7" name="TextBox 16"/>
          <p:cNvSpPr txBox="1"/>
          <p:nvPr/>
        </p:nvSpPr>
        <p:spPr>
          <a:xfrm>
            <a:off x="1764792" y="3621023"/>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ジュグラー・サイクル ｜ 約7〜10年（中期） ｜ 企業の設備投資（生産設備の更新）の変動</a:t>
            </a:r>
          </a:p>
        </p:txBody>
      </p:sp>
      <p:sp>
        <p:nvSpPr>
          <p:cNvPr id="18" name="Rounded Rectangle 17"/>
          <p:cNvSpPr/>
          <p:nvPr/>
        </p:nvSpPr>
        <p:spPr>
          <a:xfrm>
            <a:off x="502920" y="4297679"/>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416551"/>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20" name="TextBox 19"/>
          <p:cNvSpPr txBox="1"/>
          <p:nvPr/>
        </p:nvSpPr>
        <p:spPr>
          <a:xfrm>
            <a:off x="1764792" y="4389119"/>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クズネッツの波（建築循環） ｜ 約15〜25年（約20年） ｜ 住宅・商工業建築物の建て替え需要の変動</a:t>
            </a:r>
          </a:p>
        </p:txBody>
      </p:sp>
      <p:sp>
        <p:nvSpPr>
          <p:cNvPr id="21" name="Rounded Rectangle 20"/>
          <p:cNvSpPr/>
          <p:nvPr/>
        </p:nvSpPr>
        <p:spPr>
          <a:xfrm>
            <a:off x="502920" y="5065775"/>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1792" y="5184647"/>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23" name="TextBox 22"/>
          <p:cNvSpPr txBox="1"/>
          <p:nvPr/>
        </p:nvSpPr>
        <p:spPr>
          <a:xfrm>
            <a:off x="1764792" y="5157215"/>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コンドラチェフ・サイクル ｜ 約50年（長期） ｜ 鉄道・電力・情報通信技術のような大規模な技術革新の普及</a:t>
            </a:r>
          </a:p>
        </p:txBody>
      </p:sp>
      <p:sp>
        <p:nvSpPr>
          <p:cNvPr id="24" name="Rectangle 2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6" name="TextBox 2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A-13｜景気変動と景気循環</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マクロ経済理論と経済政策（A-7〜A-13）｜2/2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覚え方としては「短いものから：キチン（在庫）→ジュグラー（設備）→クズネッツ（建築）→コンドラチェフ（技術革新）」という順番と、それぞれの「原因」をペアで覚えるのが効果的です。</a:t>
            </a:r>
          </a:p>
        </p:txBody>
      </p:sp>
      <p:sp>
        <p:nvSpPr>
          <p:cNvPr id="9" name="Rounded Rectangle 8"/>
          <p:cNvSpPr/>
          <p:nvPr/>
        </p:nvSpPr>
        <p:spPr>
          <a:xfrm>
            <a:off x="502920" y="1993391"/>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1" name="TextBox 10"/>
          <p:cNvSpPr txBox="1"/>
          <p:nvPr/>
        </p:nvSpPr>
        <p:spPr>
          <a:xfrm>
            <a:off x="1764792" y="208483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企業が売れ行き予測を誤って在庫を積みすぎ、その後在庫調整のために生産を絞る、という数年単位のサイクルはキチン・サイクルの典型例です。一方、鉄道網の普及や電力の普及のような産業革命級の技術革新が経済全体を長期にわたって押し上げる動きはコンドラチェフ・サイクルとして説明されます。</a:t>
            </a:r>
          </a:p>
        </p:txBody>
      </p:sp>
      <p:sp>
        <p:nvSpPr>
          <p:cNvPr id="12" name="Rounded Rectangle 11"/>
          <p:cNvSpPr/>
          <p:nvPr/>
        </p:nvSpPr>
        <p:spPr>
          <a:xfrm>
            <a:off x="502920" y="3191256"/>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310127"/>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4" name="TextBox 13"/>
          <p:cNvSpPr txBox="1"/>
          <p:nvPr/>
        </p:nvSpPr>
        <p:spPr>
          <a:xfrm>
            <a:off x="1764792" y="328269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各サイクルの「周期の長さ」と「原因」を入れ替えた誤答パターンが頻出です（例えば「キチン・サイクルは約20年周期で建築循環に起因する」という記述は、実際にはクズネッツの波の説明であり誤り）。周期の長さの順番（キチン＜ジュグラー＜クズネッツ＜コンドラチェフ）と原因のペアを、混同しないよう正確に覚えましょう。</a:t>
            </a:r>
          </a:p>
        </p:txBody>
      </p:sp>
      <p:sp>
        <p:nvSpPr>
          <p:cNvPr id="15" name="Rounded Rectangle 14"/>
          <p:cNvSpPr/>
          <p:nvPr/>
        </p:nvSpPr>
        <p:spPr>
          <a:xfrm>
            <a:off x="502920" y="4389120"/>
            <a:ext cx="11183112" cy="841248"/>
          </a:xfrm>
          <a:prstGeom prst="roundRect">
            <a:avLst/>
          </a:prstGeom>
          <a:solidFill>
            <a:srgbClr val="F0FDF4"/>
          </a:solidFill>
          <a:ln w="12700">
            <a:solidFill>
              <a:srgbClr val="9DCA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507992"/>
            <a:ext cx="987552" cy="420624"/>
          </a:xfrm>
          <a:prstGeom prst="roundRect">
            <a:avLst/>
          </a:prstGeom>
          <a:solidFill>
            <a:srgbClr val="15803D"/>
          </a:solidFill>
          <a:ln w="12700">
            <a:solidFill>
              <a:srgbClr val="15803D"/>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過去問</a:t>
            </a:r>
          </a:p>
        </p:txBody>
      </p:sp>
      <p:sp>
        <p:nvSpPr>
          <p:cNvPr id="17" name="TextBox 16"/>
          <p:cNvSpPr txBox="1"/>
          <p:nvPr/>
        </p:nvSpPr>
        <p:spPr>
          <a:xfrm>
            <a:off x="1764792" y="4480559"/>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problem_sets/1st_stage/exercises/A_economics_exercises.md の「A-13：マクロ経済理論と経済政策（景気循環の周期性）」を参照。</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03</a:t>
            </a:r>
          </a:p>
        </p:txBody>
      </p:sp>
      <p:sp>
        <p:nvSpPr>
          <p:cNvPr id="5" name="TextBox 4"/>
          <p:cNvSpPr txBox="1"/>
          <p:nvPr/>
        </p:nvSpPr>
        <p:spPr>
          <a:xfrm>
            <a:off x="1188720" y="1993392"/>
            <a:ext cx="9784080" cy="96012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国際経済と経済政策</a:t>
            </a:r>
          </a:p>
        </p:txBody>
      </p:sp>
      <p:sp>
        <p:nvSpPr>
          <p:cNvPr id="6" name="TextBox 5"/>
          <p:cNvSpPr txBox="1"/>
          <p:nvPr/>
        </p:nvSpPr>
        <p:spPr>
          <a:xfrm>
            <a:off x="1234440" y="3017520"/>
            <a:ext cx="9720072" cy="1005840"/>
          </a:xfrm>
          <a:prstGeom prst="rect">
            <a:avLst/>
          </a:prstGeom>
          <a:noFill/>
        </p:spPr>
        <p:txBody>
          <a:bodyPr wrap="square" tIns="91440" bIns="91440" anchor="ctr">
            <a:spAutoFit/>
          </a:bodyPr>
          <a:lstStyle/>
          <a:p>
            <a:pPr algn="ctr">
              <a:spcAft>
                <a:spcPts val="0"/>
              </a:spcAft>
            </a:pPr>
            <a:r>
              <a:rPr sz="1400" b="0">
                <a:solidFill>
                  <a:srgbClr val="667085"/>
                </a:solidFill>
                <a:latin typeface="WenQuanYi Micro Hei"/>
              </a:rPr>
              <a:t>グローバル化した現代経済では、一国だけで経済を完結させて考えることはできません。第3部では、貿易がなぜ両国にとって得になるのか、為替レートがどう決まるのか、開放経済における財政・金融政策の効果はどう変わるのかを学びます。</a:t>
            </a:r>
          </a:p>
        </p:txBody>
      </p:sp>
      <p:sp>
        <p:nvSpPr>
          <p:cNvPr id="7" name="Rounded Rectangle 6"/>
          <p:cNvSpPr/>
          <p:nvPr/>
        </p:nvSpPr>
        <p:spPr>
          <a:xfrm>
            <a:off x="4261104" y="4315968"/>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4 論点</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A-14</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比較生産費説と貿易理論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比較生産費説（比較優位論）</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です。</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相対的に</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得意な財」に特化して貿易すれば、貿易を行わない場合よりも両国全体の生産量（消費できる量）が増える、という点です。この「相対…</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低い</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財に特化することで、貿易の利益（両国合計の生産量の増加）が生まれます。</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A国のカカオ1単位の機会費用＝5÷10＝0.5単…</a:t>
            </a:r>
          </a:p>
        </p:txBody>
      </p:sp>
      <p:sp>
        <p:nvSpPr>
          <p:cNvPr id="23" name="Rounded Rectangle 22"/>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B国のカカオ1単位の機会費用＝4÷2＝2単位の大豆</a:t>
            </a:r>
          </a:p>
        </p:txBody>
      </p:sp>
      <p:sp>
        <p:nvSpPr>
          <p:cNvPr id="26" name="Rounded Rectangle 25"/>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A国はカカオに比較優位</a:t>
            </a:r>
          </a:p>
        </p:txBody>
      </p:sp>
      <p:sp>
        <p:nvSpPr>
          <p:cNvPr id="29" name="TextBox 28"/>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を持ち、逆にB国は大豆に比較優位を持ちます。両国がそれぞれ比較優位を持つ財の生産に完全特化し、貿易を行うことで、特化前より…</a:t>
            </a:r>
          </a:p>
        </p:txBody>
      </p:sp>
      <p:sp>
        <p:nvSpPr>
          <p:cNvPr id="30" name="Rounded Rectangle 29"/>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具体例｜上記のA国・B国の例で、当初両国がカカオ・大豆をそれぞれ40単位ずつ生産していたとします。A国の総労働量は40×5＋40×10＝600、B国の総労働量は40×4＋40×2＝240です。それぞれが比較優位のある…</a:t>
            </a:r>
          </a:p>
        </p:txBody>
      </p:sp>
      <p:sp>
        <p:nvSpPr>
          <p:cNvPr id="31" name="Rounded Rectangle 30"/>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比較生産費説の計算問題では、「機会費用＝自国の労働量÷もう一方の財の労働量」という式を正確に、かつどちらの財についての機会費用を聞かれているかを取り違えずに使うことが最重要です。「A国の方がどちらの財も効率的…</a:t>
            </a:r>
          </a:p>
        </p:txBody>
      </p:sp>
      <p:sp>
        <p:nvSpPr>
          <p:cNvPr id="32" name="Rectangle 3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4" name="TextBox 3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A-14｜比較生産費説と貿易理論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国際経済と経済政策（A-14〜A-17）｜1/3</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なぜ国と国の間で貿易（自由貿易）を行うことに意味があるのでしょうか。これを説明する古典的な理論が、リカードが提唱した比較生産費説（比較優位論）です。</a:t>
            </a:r>
          </a:p>
        </p:txBody>
      </p:sp>
      <p:sp>
        <p:nvSpPr>
          <p:cNvPr id="9" name="Rounded Rectangle 8"/>
          <p:cNvSpPr/>
          <p:nvPr/>
        </p:nvSpPr>
        <p:spPr>
          <a:xfrm>
            <a:off x="502920" y="1993391"/>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ポイントは、「ある国が2つの財のどちらも他国より効率よく作れる（絶対優位）」場合でも、両国が「相対的に得意な財」に特化して貿易すれば、貿易を行わない場合よりも両国全体の生産量（消費できる量）が増える、という点です。この「相対的な得意・不得意」を測る物差しが機会費用です。</a:t>
            </a:r>
          </a:p>
        </p:txBody>
      </p:sp>
      <p:sp>
        <p:nvSpPr>
          <p:cNvPr id="12" name="Rounded Rectangle 11"/>
          <p:cNvSpPr/>
          <p:nvPr/>
        </p:nvSpPr>
        <p:spPr>
          <a:xfrm>
            <a:off x="502920" y="3191256"/>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310127"/>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28269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ある財1単位の機会費用 = \fracその財1単位に必要な労働量もう一方の財1単位に必要な労働量</a:t>
            </a:r>
          </a:p>
        </p:txBody>
      </p:sp>
      <p:sp>
        <p:nvSpPr>
          <p:cNvPr id="15" name="Rounded Rectangle 14"/>
          <p:cNvSpPr/>
          <p:nvPr/>
        </p:nvSpPr>
        <p:spPr>
          <a:xfrm>
            <a:off x="502920" y="3959352"/>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078224"/>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05079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各国は、自国内での機会費用が相手国より低い財に特化することで、貿易の利益（両国合計の生産量の増加）が生まれます。</a:t>
            </a:r>
          </a:p>
        </p:txBody>
      </p:sp>
      <p:sp>
        <p:nvSpPr>
          <p:cNvPr id="18" name="Rounded Rectangle 17"/>
          <p:cNvSpPr/>
          <p:nvPr/>
        </p:nvSpPr>
        <p:spPr>
          <a:xfrm>
            <a:off x="502920" y="4727448"/>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846320"/>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818888"/>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具体的な計算パターンをA国・B国の例で見てみましょう。カカオ1単位に必要な労働量がA国5、B国4、大豆1単位に必要な労働量がA国10、B国2だとします。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A-14｜比較生産費説と貿易理論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国際経済と経済政策（A-14〜A-17）｜2/3</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A国のカカオ1単位の機会費用＝5÷10＝0.5単位の大豆</a:t>
            </a:r>
          </a:p>
        </p:txBody>
      </p:sp>
      <p:sp>
        <p:nvSpPr>
          <p:cNvPr id="9" name="Rounded Rectangle 8"/>
          <p:cNvSpPr/>
          <p:nvPr/>
        </p:nvSpPr>
        <p:spPr>
          <a:xfrm>
            <a:off x="502920" y="1810512"/>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B国のカカオ1単位の機会費用＝4÷2＝2単位の大豆</a:t>
            </a:r>
          </a:p>
        </p:txBody>
      </p:sp>
      <p:sp>
        <p:nvSpPr>
          <p:cNvPr id="12" name="Rounded Rectangle 11"/>
          <p:cNvSpPr/>
          <p:nvPr/>
        </p:nvSpPr>
        <p:spPr>
          <a:xfrm>
            <a:off x="502920" y="2578608"/>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69747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670048"/>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A国の方がカカオの機会費用が小さい（＝カカオを作る際にあきらめる大豆の量が少ない）ので、A国はカカオに比較優位を持ち、逆にB国は大豆に比較優位を持ちます。両国がそれぞれ比較優位を持つ財の生産に完全特化し、貿易を行うことで、特化前より多くの財を両国合計で生産・消費できるようになります。</a:t>
            </a:r>
          </a:p>
        </p:txBody>
      </p:sp>
      <p:sp>
        <p:nvSpPr>
          <p:cNvPr id="15" name="Rounded Rectangle 14"/>
          <p:cNvSpPr/>
          <p:nvPr/>
        </p:nvSpPr>
        <p:spPr>
          <a:xfrm>
            <a:off x="502920" y="3776472"/>
            <a:ext cx="11183112" cy="1335024"/>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895344"/>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7" name="TextBox 16"/>
          <p:cNvSpPr txBox="1"/>
          <p:nvPr/>
        </p:nvSpPr>
        <p:spPr>
          <a:xfrm>
            <a:off x="1764792" y="3867911"/>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上記のA国・B国の例で、当初両国がカカオ・大豆をそれぞれ40単位ずつ生産していたとします。A国の総労働量は40×5＋40×10＝600、B国の総労働量は40×4＋40×2＝240です。それぞれが比較優位のある財に完全特化すると、A国はカカオを600÷5＝120単位、B国は大豆を240÷2＝120単位生産できます。特化前は両国合計でカカオ80単位・大豆80単位だったのに対し、特化後は貿易を通じて、より多くの量を消費できる可能性が生まれます（これが「貿易の利益」で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A-14｜比較生産費説と貿易理論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国際経済と経済政策（A-14〜A-17）｜3/3</a:t>
            </a:r>
          </a:p>
        </p:txBody>
      </p:sp>
      <p:sp>
        <p:nvSpPr>
          <p:cNvPr id="6" name="Rounded Rectangle 5"/>
          <p:cNvSpPr/>
          <p:nvPr/>
        </p:nvSpPr>
        <p:spPr>
          <a:xfrm>
            <a:off x="502920" y="1042415"/>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比較生産費説の計算問題では、「機会費用＝自国の労働量÷もう一方の財の労働量」という式を正確に、かつどちらの財についての機会費用を聞かれているかを取り違えずに使うことが最重要です。「A国の方がどちらの財も効率的に作れる（絶対優位を持つ）としても、比較優位に基づいて貿易すれば双方に利益がある」という点（絶対優位と比較優位は別概念であること）もよく問われます。</a:t>
            </a:r>
          </a:p>
        </p:txBody>
      </p:sp>
      <p:sp>
        <p:nvSpPr>
          <p:cNvPr id="9" name="Rounded Rectangle 8"/>
          <p:cNvSpPr/>
          <p:nvPr/>
        </p:nvSpPr>
        <p:spPr>
          <a:xfrm>
            <a:off x="502920" y="2240280"/>
            <a:ext cx="11183112" cy="841248"/>
          </a:xfrm>
          <a:prstGeom prst="roundRect">
            <a:avLst/>
          </a:prstGeom>
          <a:solidFill>
            <a:srgbClr val="F0FDF4"/>
          </a:solidFill>
          <a:ln w="12700">
            <a:solidFill>
              <a:srgbClr val="9DCA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15803D"/>
          </a:solidFill>
          <a:ln w="12700">
            <a:solidFill>
              <a:srgbClr val="15803D"/>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過去問</a:t>
            </a:r>
          </a:p>
        </p:txBody>
      </p:sp>
      <p:sp>
        <p:nvSpPr>
          <p:cNvPr id="11" name="TextBox 10"/>
          <p:cNvSpPr txBox="1"/>
          <p:nvPr/>
        </p:nvSpPr>
        <p:spPr>
          <a:xfrm>
            <a:off x="1764792" y="2331720"/>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problem_sets/1st_stage/exercises/A_economics_exercises.md の「A-14：国際経済と経済政策（比較生産費説・比較優位）」を参照。</a:t>
            </a:r>
          </a:p>
        </p:txBody>
      </p:sp>
      <p:sp>
        <p:nvSpPr>
          <p:cNvPr id="12" name="Rectangle 1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4" name="TextBox 1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A-15</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貿易政策（関税・非関税障壁）</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関税</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輸入品に課す税金。輸入品の国内価格を引き上げ、消費者にとっては高い買い物になりますが、国内生産者は保護されます（国内生産者…</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非関税障壁</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関税以外の方法で輸入を制限する手段。代表的なものに、輸入できる数量の上限を定める輸入数量割当（クオータ）、相手国が自主的に…</a:t>
            </a:r>
          </a:p>
        </p:txBody>
      </p:sp>
      <p:sp>
        <p:nvSpPr>
          <p:cNvPr id="15" name="Rounded Rectangle 14"/>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16" name="Rounded Rectangle 15"/>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自由貿易</a:t>
            </a:r>
          </a:p>
        </p:txBody>
      </p:sp>
      <p:sp>
        <p:nvSpPr>
          <p:cNvPr id="19" name="TextBox 18"/>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理論上、両国全体の余剰（A-23で学ぶ「経済余剰」）を最大化しますが、各国政府は国内産業を保護するためにさまざまな貿易…</a:t>
            </a:r>
          </a:p>
        </p:txBody>
      </p:sp>
      <p:sp>
        <p:nvSpPr>
          <p:cNvPr id="20" name="Rounded Rectangle 19"/>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ある国が輸入農産物に高い関税をかけると、国内の消費者は割高な価格でその農産物を買うことになり消費者余剰は減少しますが、国内農家は価格競争にさらされにくくなり生産者余剰が増加し、政府には関税収入が入ります。ただ…</a:t>
            </a:r>
          </a:p>
        </p:txBody>
      </p:sp>
      <p:sp>
        <p:nvSpPr>
          <p:cNvPr id="21" name="Rounded Rectangle 20"/>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関税は「政府の収入になる」点で、単純な生産量の制限である「輸入数量割当」とは経済効果が異なります（割当の場合、本来関税収入になるはずの部分が、輸入枠を得た業者の利益として発生することがあります）。関税・非関税…</a:t>
            </a:r>
          </a:p>
        </p:txBody>
      </p:sp>
      <p:sp>
        <p:nvSpPr>
          <p:cNvPr id="22" name="Rectangle 2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4" name="TextBox 2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A-15｜貿易政策（関税・非関税障壁）</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自由貿易は理論上、両国全体の余剰（A-23で学ぶ「経済余剰」）を最大化しますが、各国政府は国内産業を保護するためにさまざまな貿易政策（保護貿易政策）をとることがあります。</a:t>
            </a:r>
          </a:p>
        </p:txBody>
      </p:sp>
      <p:sp>
        <p:nvSpPr>
          <p:cNvPr id="9" name="Rounded Rectangle 8"/>
          <p:cNvSpPr/>
          <p:nvPr/>
        </p:nvSpPr>
        <p:spPr>
          <a:xfrm>
            <a:off x="502920" y="1993391"/>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関税：輸入品に課す税金。輸入品の国内価格を引き上げ、消費者にとっては高い買い物になりますが、国内生産者は保護されます（国内生産者の売上・利潤が増える）。政府には関税収入が入りますが、社会全体で見ると、関税によって失われる消費者余剰の一部は、生産者余剰の増加にも関税収入にもならず「死荷重（デッドウェイトロス）」として失われます。</a:t>
            </a:r>
          </a:p>
        </p:txBody>
      </p:sp>
      <p:sp>
        <p:nvSpPr>
          <p:cNvPr id="12" name="Rounded Rectangle 11"/>
          <p:cNvSpPr/>
          <p:nvPr/>
        </p:nvSpPr>
        <p:spPr>
          <a:xfrm>
            <a:off x="502920" y="3191256"/>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310127"/>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28269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非関税障壁：関税以外の方法で輸入を制限する手段。代表的なものに、輸入できる数量の上限を定める輸入数量割当（クオータ）、相手国が自主的に輸出量を制限する輸出自主規制、国内基準・認証制度を利用した実質的な輸入制限などがあります。</a:t>
            </a:r>
          </a:p>
        </p:txBody>
      </p:sp>
      <p:sp>
        <p:nvSpPr>
          <p:cNvPr id="15" name="Rounded Rectangle 14"/>
          <p:cNvSpPr/>
          <p:nvPr/>
        </p:nvSpPr>
        <p:spPr>
          <a:xfrm>
            <a:off x="502920" y="4142231"/>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261103"/>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7" name="TextBox 16"/>
          <p:cNvSpPr txBox="1"/>
          <p:nvPr/>
        </p:nvSpPr>
        <p:spPr>
          <a:xfrm>
            <a:off x="1764792" y="423367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国が輸入農産物に高い関税をかけると、国内の消費者は割高な価格でその農産物を買うことになり消費者余剰は減少しますが、国内農家は価格競争にさらされにくくなり生産者余剰が増加し、政府には関税収入が入ります。ただし社会全体で見た総余剰は、自由貿易の場合よりも小さくなります（保護貿易による死荷重の発生）。</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A-15｜貿易政策（関税・非関税障壁）</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国際経済と経済政策（A-14〜A-17）｜2/2</a:t>
            </a:r>
          </a:p>
        </p:txBody>
      </p:sp>
      <p:sp>
        <p:nvSpPr>
          <p:cNvPr id="6" name="Rounded Rectangle 5"/>
          <p:cNvSpPr/>
          <p:nvPr/>
        </p:nvSpPr>
        <p:spPr>
          <a:xfrm>
            <a:off x="502920" y="1042415"/>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関税は「政府の収入になる」点で、単純な生産量の制限である「輸入数量割当」とは経済効果が異なります（割当の場合、本来関税収入になるはずの部分が、輸入枠を得た業者の利益として発生することがあります）。関税・非関税障壁いずれも自由貿易の場合と比べて社会全体の総余剰を減少させる、という基本構造を押さえておきましょう。</a:t>
            </a:r>
          </a:p>
        </p:txBody>
      </p:sp>
      <p:sp>
        <p:nvSpPr>
          <p:cNvPr id="9" name="Rectangle 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1" name="TextBox 1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A-16</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国際収支と為替レート決定理論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購買力平価説（PPP）</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「同じ商品はどの国でも同じ価格になるはずだ」という一物一価の考え方を国全体に広げたもので、二国間の物価上昇率（インフレ率）…</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金利平価説</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投資家は自国と外国のどちらの資産で運用しても期待収益が等しくなるように行動するはずだ、という考え方に基づき、内外の金利差が…</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マーシャル＝ラーナー条件</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です。円建ての貿易収支をNX＝PX(e)－eP＊M(e)（Pは輸出財の円建て価格、P＊は輸入財のドル建て価格、eは円建て為…</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貿易収支は悪化</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します。</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和が1より大きい</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場合、円安による輸出数量の増加・輸入数量の減少という「数量効果」が、円安による輸入代金の割高化という「価格効果」を上回り…</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変化しません</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（弾力性の和が1未満であれば悪化します）。</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急激な円安が進行した直後は、輸入企業が原油や原材料を円安前の契約数量のまま購入し続けるため輸入代金（円換算）が膨らみ、貿易収支が一時的に悪化することがあります（Jカーブ効果の「谷」の局面）。その後、時間をかけ…</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マーシャル＝ラーナー条件の「弾力性の和＝1」の場合を「貿易収支が悪化する」としてしまう誤りが典型的です。正しくは「変化しない（中立）」です。弾力性の和と1との大小関係（＞1なら改善、＝1なら不変、＜1なら悪化…</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A-16｜国際収支と為替レート決定理論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国際経済と経済政策（A-14〜A-17）｜1/3</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為替レートがどのような要因で決まるかを説明する代表的な理論に次のものがあります。</a:t>
            </a:r>
          </a:p>
        </p:txBody>
      </p:sp>
      <p:sp>
        <p:nvSpPr>
          <p:cNvPr id="9" name="Rounded Rectangle 8"/>
          <p:cNvSpPr/>
          <p:nvPr/>
        </p:nvSpPr>
        <p:spPr>
          <a:xfrm>
            <a:off x="502920" y="1810512"/>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購買力平価説（PPP）：「同じ商品はどの国でも同じ価格になるはずだ」という一物一価の考え方を国全体に広げたもので、二国間の物価上昇率（インフレ率）の差によって為替レートの変動が決まるとする理論です。自国の物価上昇率が相手国より高ければ、自国通貨は減価（安くなる）すると予測します。</a:t>
            </a:r>
          </a:p>
        </p:txBody>
      </p:sp>
      <p:sp>
        <p:nvSpPr>
          <p:cNvPr id="12" name="Rounded Rectangle 11"/>
          <p:cNvSpPr/>
          <p:nvPr/>
        </p:nvSpPr>
        <p:spPr>
          <a:xfrm>
            <a:off x="502920" y="3008376"/>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12724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9981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金利平価説：投資家は自国と外国のどちらの資産で運用しても期待収益が等しくなるように行動するはずだ、という考え方に基づき、内外の金利差が、為替レートの将来の予想変化率と等しくなるように調整されるとする理論です。</a:t>
            </a:r>
          </a:p>
        </p:txBody>
      </p:sp>
      <p:sp>
        <p:nvSpPr>
          <p:cNvPr id="15" name="Rounded Rectangle 14"/>
          <p:cNvSpPr/>
          <p:nvPr/>
        </p:nvSpPr>
        <p:spPr>
          <a:xfrm>
            <a:off x="502920" y="3959352"/>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07822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05079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為替レートの変動が貿易収支に与える影響を考えるうえで重要なのがマーシャル＝ラーナー条件です。円建ての貿易収支をNX＝PX(e)－eP＊M(e)（Pは輸出財の円建て価格、P＊は輸入財のドル建て価格、eは円建て為替レート、X(e)は輸出量、M(e)は輸入量）と表すとき、</a:t>
            </a:r>
          </a:p>
        </p:txBody>
      </p:sp>
      <p:sp>
        <p:nvSpPr>
          <p:cNvPr id="18" name="Rounded Rectangle 17"/>
          <p:cNvSpPr/>
          <p:nvPr/>
        </p:nvSpPr>
        <p:spPr>
          <a:xfrm>
            <a:off x="502920" y="5157216"/>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52760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52486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為替レートの変化に対して輸出入の「数量」が全く反応しない場合、円安（eの上昇）は、輸出額を変えないまま輸入代金の円換算額（eP＊M(e)）だけを機械的に増やすため、貿易収支は悪化します。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A-16｜国際収支と為替レート決定理論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国際経済と経済政策（A-14〜A-17）｜2/3</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輸出・輸入の価格弾力性の和が1より大きい場合、円安による輸出数量の増加・輸入数量の減少という「数量効果」が、円安による輸入代金の割高化という「価格効果」を上回り、貿易収支は改善します（これがマーシャル＝ラーナー条件です）。</a:t>
            </a:r>
          </a:p>
        </p:txBody>
      </p:sp>
      <p:sp>
        <p:nvSpPr>
          <p:cNvPr id="9" name="Rounded Rectangle 8"/>
          <p:cNvSpPr/>
          <p:nvPr/>
        </p:nvSpPr>
        <p:spPr>
          <a:xfrm>
            <a:off x="502920" y="1993391"/>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弾力性の和がちょうど1のときは数量効果と価格効果が相殺し合い、貿易収支は変化しません（弾力性の和が1未満であれば悪化します）。</a:t>
            </a:r>
          </a:p>
        </p:txBody>
      </p:sp>
      <p:sp>
        <p:nvSpPr>
          <p:cNvPr id="12" name="Rounded Rectangle 11"/>
          <p:cNvSpPr/>
          <p:nvPr/>
        </p:nvSpPr>
        <p:spPr>
          <a:xfrm>
            <a:off x="502920" y="2944368"/>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06323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35808"/>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現実には、為替レートが変化した直後は輸出入の数量がすぐには反応しない（契約や商慣行の見直しに時間がかかる）ため、短期的には円安が貿易収支をむしろ悪化させ、時間の経過とともに数量調整が進んで徐々に貿易収支が改善していく、という現象が観察されます。これをグラフに描くとアルファベットの「J」の字のような軌跡を描くことからJカーブ効果と呼ばれます。</a:t>
            </a:r>
          </a:p>
        </p:txBody>
      </p:sp>
      <p:sp>
        <p:nvSpPr>
          <p:cNvPr id="15" name="Rounded Rectangle 14"/>
          <p:cNvSpPr/>
          <p:nvPr/>
        </p:nvSpPr>
        <p:spPr>
          <a:xfrm>
            <a:off x="502920" y="4142231"/>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261103"/>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7" name="TextBox 16"/>
          <p:cNvSpPr txBox="1"/>
          <p:nvPr/>
        </p:nvSpPr>
        <p:spPr>
          <a:xfrm>
            <a:off x="1764792" y="423367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急激な円安が進行した直後は、輸入企業が原油や原材料を円安前の契約数量のまま購入し続けるため輸入代金（円換算）が膨らみ、貿易収支が一時的に悪化することがあります（Jカーブ効果の「谷」の局面）。その後、時間をかけて輸出企業が価格競争力を活かして輸出数量を伸ばし、輸入企業も数量を調整することで、貿易収支は改善に向かいま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A-16｜国際収支と為替レート決定理論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国際経済と経済政策（A-14〜A-17）｜3/3</a:t>
            </a:r>
          </a:p>
        </p:txBody>
      </p:sp>
      <p:sp>
        <p:nvSpPr>
          <p:cNvPr id="6" name="Rounded Rectangle 5"/>
          <p:cNvSpPr/>
          <p:nvPr/>
        </p:nvSpPr>
        <p:spPr>
          <a:xfrm>
            <a:off x="502920" y="1042415"/>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マーシャル＝ラーナー条件の「弾力性の和＝1」の場合を「貿易収支が悪化する」としてしまう誤りが典型的です。正しくは「変化しない（中立）」です。弾力性の和と1との大小関係（＞1なら改善、＝1なら不変、＜1なら悪化）を正確に対応させて覚えましょう。</a:t>
            </a:r>
          </a:p>
        </p:txBody>
      </p:sp>
      <p:sp>
        <p:nvSpPr>
          <p:cNvPr id="9" name="Rounded Rectangle 8"/>
          <p:cNvSpPr/>
          <p:nvPr/>
        </p:nvSpPr>
        <p:spPr>
          <a:xfrm>
            <a:off x="502920" y="2240280"/>
            <a:ext cx="11183112" cy="841248"/>
          </a:xfrm>
          <a:prstGeom prst="roundRect">
            <a:avLst/>
          </a:prstGeom>
          <a:solidFill>
            <a:srgbClr val="F0FDF4"/>
          </a:solidFill>
          <a:ln w="12700">
            <a:solidFill>
              <a:srgbClr val="9DCA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15803D"/>
          </a:solidFill>
          <a:ln w="12700">
            <a:solidFill>
              <a:srgbClr val="15803D"/>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過去問</a:t>
            </a:r>
          </a:p>
        </p:txBody>
      </p:sp>
      <p:sp>
        <p:nvSpPr>
          <p:cNvPr id="11" name="TextBox 10"/>
          <p:cNvSpPr txBox="1"/>
          <p:nvPr/>
        </p:nvSpPr>
        <p:spPr>
          <a:xfrm>
            <a:off x="1764792" y="2331720"/>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problem_sets/1st_stage/exercises/A_economics_exercises.md の「A-16：国際経済と経済政策（為替レートと貿易収支・マーシャル＝ラーナー条件）」を参照。</a:t>
            </a:r>
          </a:p>
        </p:txBody>
      </p:sp>
      <p:sp>
        <p:nvSpPr>
          <p:cNvPr id="12" name="Rectangle 1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4" name="TextBox 1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A-17</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国際マクロ経済の理論と政策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マンデル＝フレミング・モデル</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です。特に、国際的な資本移動が自由な小国（自国の政策が世界の金利水準に影響を与えられないほど小さい国）を想定した場合、為替…</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変動相場制</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の場合：財政政策（政府支出の拡大）を行うと、国内利子率が上昇し、海外からその国の資産を求めて資金が流入します。これにより自…</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固定相場制</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の場合：財政政策で国内利子率が上昇すると、資金流入によって自国通貨に増価圧力がかかりますが、固定相場を維持するために中央銀…</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A-9で学んだIS-LM分析を、貿易や国際的な資…</a:t>
            </a:r>
          </a:p>
        </p:txBody>
      </p:sp>
      <p:sp>
        <p:nvSpPr>
          <p:cNvPr id="23" name="Rounded Rectangle 22"/>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特に、国際的な資本移動が自由な小国（自国の政策が…</a:t>
            </a:r>
          </a:p>
        </p:txBody>
      </p:sp>
      <p:sp>
        <p:nvSpPr>
          <p:cNvPr id="26" name="Rounded Rectangle 25"/>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資本移動が自由で変動相場制を採用している国が財政拡大を行うと、金利上昇→自国通貨高→純輸出の減少という経路を通じて、当初期待したGDP拡大効果の多くが相殺されてしまう、というのがマンデル＝フレミング・モデルの…</a:t>
            </a:r>
          </a:p>
        </p:txBody>
      </p:sp>
      <p:sp>
        <p:nvSpPr>
          <p:cNvPr id="27" name="Rounded Rectangle 26"/>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変動相場制のもとでは財政政策も金融政策もどちらも有効である」という記述は誤りです。資本移動が自由な小国の変動相場制のもとでは、財政政策は効果が弱く、金融政策は効果が強い、固定相場制のもとではその逆（財政政策…</a:t>
            </a:r>
          </a:p>
        </p:txBody>
      </p:sp>
      <p:sp>
        <p:nvSpPr>
          <p:cNvPr id="28" name="Rectangle 2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0" name="TextBox 2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A-17｜国際マクロ経済の理論と政策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国際経済と経済政策（A-14〜A-17）｜1/2</a:t>
            </a:r>
          </a:p>
        </p:txBody>
      </p:sp>
      <p:sp>
        <p:nvSpPr>
          <p:cNvPr id="6" name="Rounded Rectangle 5"/>
          <p:cNvSpPr/>
          <p:nvPr/>
        </p:nvSpPr>
        <p:spPr>
          <a:xfrm>
            <a:off x="502920" y="1042415"/>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A-9で学んだIS-LM分析を、貿易や国際的な資金移動がある「開放経済」に拡張したモデルがマンデル＝フレミング・モデルです。特に、国際的な資本移動が自由な小国（自国の政策が世界の金利水準に影響を与えられないほど小さい国）を想定した場合、為替相場制度によって財政政策・金融政策の効き方が正反対になるという、非常に重要な結論が導かれます。</a:t>
            </a:r>
          </a:p>
        </p:txBody>
      </p:sp>
      <p:sp>
        <p:nvSpPr>
          <p:cNvPr id="9" name="Rounded Rectangle 8"/>
          <p:cNvSpPr/>
          <p:nvPr/>
        </p:nvSpPr>
        <p:spPr>
          <a:xfrm>
            <a:off x="502920" y="2240280"/>
            <a:ext cx="11183112" cy="1335024"/>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331720"/>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変動相場制の場合：財政政策（政府支出の拡大）を行うと、国内利子率が上昇し、海外からその国の資産を求めて資金が流入します。これにより自国通貨が増価（自国通貨高）し、輸出が減少・輸入が増加することで、当初の財政政策によるGDP拡大効果が打ち消されてしまいます（財政政策は無効に近い）。一方、金融政策（貨幣供給の拡大）を行うと、国内利子率が低下して資金が海外に流出し、自国通貨が減価（自国通貨安）することで輸出が増加し、GDPが拡大します（金融政策は有効）。</a:t>
            </a:r>
          </a:p>
        </p:txBody>
      </p:sp>
      <p:sp>
        <p:nvSpPr>
          <p:cNvPr id="12" name="Rounded Rectangle 11"/>
          <p:cNvSpPr/>
          <p:nvPr/>
        </p:nvSpPr>
        <p:spPr>
          <a:xfrm>
            <a:off x="502920" y="3685032"/>
            <a:ext cx="11183112" cy="1335024"/>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80390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776472"/>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固定相場制の場合：財政政策で国内利子率が上昇すると、資金流入によって自国通貨に増価圧力がかかりますが、固定相場を維持するために中央銀行が為替介入（自国通貨売り・外貨買い）を行い、その結果として国内の通貨供給量が増加します。これが金融緩和と同様の効果を持つため、財政政策の効果はむしろ増幅されます。一方、金融政策を単独で発動しようとしても、固定相場を維持するための為替介入によって金融緩和の効果が打ち消されてしまうため、金融政策は無効になります。</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A-17｜国際マクロ経済の理論と政策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国際経済と経済政策（A-14〜A-17）｜2/2</a:t>
            </a:r>
          </a:p>
        </p:txBody>
      </p:sp>
      <p:sp>
        <p:nvSpPr>
          <p:cNvPr id="6" name="Rounded Rectangle 5"/>
          <p:cNvSpPr/>
          <p:nvPr/>
        </p:nvSpPr>
        <p:spPr>
          <a:xfrm>
            <a:off x="502920" y="1042415"/>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資本移動が自由で変動相場制を採用している国が財政拡大を行うと、金利上昇→自国通貨高→純輸出の減少という経路を通じて、当初期待したGDP拡大効果の多くが相殺されてしまう、というのがマンデル＝フレミング・モデルの結論です。これは閉鎖経済（貿易や資本移動を考えないA-9のIS-LM分析）における財政政策の効果とは異なる結論であり、開放経済ならではのポイントです。</a:t>
            </a:r>
          </a:p>
        </p:txBody>
      </p:sp>
      <p:sp>
        <p:nvSpPr>
          <p:cNvPr id="9" name="Rounded Rectangle 8"/>
          <p:cNvSpPr/>
          <p:nvPr/>
        </p:nvSpPr>
        <p:spPr>
          <a:xfrm>
            <a:off x="502920" y="2240280"/>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1" name="TextBox 10"/>
          <p:cNvSpPr txBox="1"/>
          <p:nvPr/>
        </p:nvSpPr>
        <p:spPr>
          <a:xfrm>
            <a:off x="1764792" y="233172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変動相場制のもとでは財政政策も金融政策もどちらも有効である」という記述は誤りです。資本移動が自由な小国の変動相場制のもとでは、財政政策は効果が弱く、金融政策は効果が強い、固定相場制のもとではその逆（財政政策は効果が強く、金融政策は無効）になる、という対応関係を正確に覚えることが最重要です。</a:t>
            </a:r>
          </a:p>
        </p:txBody>
      </p:sp>
      <p:sp>
        <p:nvSpPr>
          <p:cNvPr id="12" name="Rectangle 1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4" name="TextBox 1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04</a:t>
            </a:r>
          </a:p>
        </p:txBody>
      </p:sp>
      <p:sp>
        <p:nvSpPr>
          <p:cNvPr id="5" name="TextBox 4"/>
          <p:cNvSpPr txBox="1"/>
          <p:nvPr/>
        </p:nvSpPr>
        <p:spPr>
          <a:xfrm>
            <a:off x="1188720" y="1993392"/>
            <a:ext cx="9784080" cy="96012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主要経済理論</a:t>
            </a:r>
          </a:p>
        </p:txBody>
      </p:sp>
      <p:sp>
        <p:nvSpPr>
          <p:cNvPr id="6" name="TextBox 5"/>
          <p:cNvSpPr txBox="1"/>
          <p:nvPr/>
        </p:nvSpPr>
        <p:spPr>
          <a:xfrm>
            <a:off x="1234440" y="3017520"/>
            <a:ext cx="9720072" cy="1005840"/>
          </a:xfrm>
          <a:prstGeom prst="rect">
            <a:avLst/>
          </a:prstGeom>
          <a:noFill/>
        </p:spPr>
        <p:txBody>
          <a:bodyPr wrap="square" tIns="91440" bIns="91440" anchor="ctr">
            <a:spAutoFit/>
          </a:bodyPr>
          <a:lstStyle/>
          <a:p>
            <a:pPr algn="ctr">
              <a:spcAft>
                <a:spcPts val="0"/>
              </a:spcAft>
            </a:pPr>
            <a:r>
              <a:rPr sz="1400" b="0">
                <a:solidFill>
                  <a:srgbClr val="667085"/>
                </a:solidFill>
                <a:latin typeface="WenQuanYi Micro Hei"/>
              </a:rPr>
              <a:t>第4部では、マクロ経済学の考え方の違いを生んだ、代表的な学派（ケインズ派・古典派・マネタリズム）の基本的な立場の違いを整理します。個別の学派の名前と主張を対応させて覚えることが中心になります。</a:t>
            </a:r>
          </a:p>
        </p:txBody>
      </p:sp>
      <p:sp>
        <p:nvSpPr>
          <p:cNvPr id="7" name="Rounded Rectangle 6"/>
          <p:cNvSpPr/>
          <p:nvPr/>
        </p:nvSpPr>
        <p:spPr>
          <a:xfrm>
            <a:off x="4261104" y="4315968"/>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3 論点</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A-18</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ケインズ理論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主要経済理論（A-18〜A-20）</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ケインズ経済学</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は、1930年代の世界恐慌を背景に、イギリスの経済学者ケインズが打ち立てた理論体系で、現代マクロ経済学（A-7〜A-13で…</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有効需要の原理</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GDP（国民所得）の水準は、供給側の事情ではなく、モノやサービスへの需要（有効需要）の大きさによって決まる。</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市場の自動調整には限界があり、非自発的失業が発…</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賃金や価格がすぐには十分に伸縮的に動かない（下方硬直的である）ため、不況時には「働きたくても仕事がない」という非自発的失業…</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ケインズ理論の中心的な考え方</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次の2点に整理できます。</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この考え方から、不況期に</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政府が公共投資などで需要を作り出すべきだという「政府の積極的な経済への介入」を肯定する立場が導かれます。</a:t>
            </a:r>
          </a:p>
        </p:txBody>
      </p:sp>
      <p:sp>
        <p:nvSpPr>
          <p:cNvPr id="28" name="Rounded Rectangle 27"/>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具体例｜世界恐慌下でアメリカが実施したニューディール政策（公共事業による雇用創出）は、ケインズ理論が唱える「政府による有効需要の創出」を体現した政策の代表例として語られます。</a:t>
            </a:r>
          </a:p>
        </p:txBody>
      </p:sp>
      <p:sp>
        <p:nvSpPr>
          <p:cNvPr id="29" name="Rounded Rectangle 28"/>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ケインズ理論は「市場に任せておけば、賃金・価格の調整によって自動的に完全雇用が実現する」という考え方（A-19の古典派の立場）とは対照的な立場です。「非自発的失業は存在しない」とする主張は古典派的な立場であり…</a:t>
            </a:r>
          </a:p>
        </p:txBody>
      </p:sp>
      <p:sp>
        <p:nvSpPr>
          <p:cNvPr id="30" name="Rectangle 29"/>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2" name="TextBox 31"/>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A-18｜ケインズ理論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主要経済理論（A-18〜A-20）｜1/2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ケインズ経済学は、1930年代の世界恐慌を背景に、イギリスの経済学者ケインズが打ち立てた理論体系で、現代マクロ経済学（A-7〜A-13で学んだ内容の多く）の土台になっています。ケインズ理論の中心的な考え方は次の2点に整理できます。</a:t>
            </a:r>
          </a:p>
        </p:txBody>
      </p:sp>
      <p:sp>
        <p:nvSpPr>
          <p:cNvPr id="9" name="Rounded Rectangle 8"/>
          <p:cNvSpPr/>
          <p:nvPr/>
        </p:nvSpPr>
        <p:spPr>
          <a:xfrm>
            <a:off x="502920" y="1993391"/>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有効需要の原理：GDP（国民所得）の水準は、供給側の事情ではなく、モノやサービスへの需要（有効需要）の大きさによって決まる。</a:t>
            </a:r>
          </a:p>
        </p:txBody>
      </p:sp>
      <p:sp>
        <p:nvSpPr>
          <p:cNvPr id="12" name="Rounded Rectangle 11"/>
          <p:cNvSpPr/>
          <p:nvPr/>
        </p:nvSpPr>
        <p:spPr>
          <a:xfrm>
            <a:off x="502920" y="2944368"/>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06323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35808"/>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市場の自動調整には限界があり、非自発的失業が発生しうる：賃金や価格がすぐには十分に伸縮的に動かない（下方硬直的である）ため、不況時には「働きたくても仕事がない」という非自発的失業が発生しうる。市場メカニズムに任せているだけでは十分な雇用が実現しない場合があるため、政府が財政政策・金融政策によって有効需要を人為的に作り出し、景気や雇用を調整する必要がある。</a:t>
            </a:r>
          </a:p>
        </p:txBody>
      </p:sp>
      <p:sp>
        <p:nvSpPr>
          <p:cNvPr id="15" name="Rounded Rectangle 14"/>
          <p:cNvSpPr/>
          <p:nvPr/>
        </p:nvSpPr>
        <p:spPr>
          <a:xfrm>
            <a:off x="502920" y="4142231"/>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26110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23367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この考え方から、不況期には政府が公共投資などで需要を作り出すべきだという「政府の積極的な経済への介入」を肯定する立場が導かれます。</a:t>
            </a:r>
          </a:p>
        </p:txBody>
      </p:sp>
      <p:sp>
        <p:nvSpPr>
          <p:cNvPr id="18" name="Rounded Rectangle 17"/>
          <p:cNvSpPr/>
          <p:nvPr/>
        </p:nvSpPr>
        <p:spPr>
          <a:xfrm>
            <a:off x="502920" y="5093207"/>
            <a:ext cx="11183112" cy="841248"/>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5212079"/>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20" name="TextBox 19"/>
          <p:cNvSpPr txBox="1"/>
          <p:nvPr/>
        </p:nvSpPr>
        <p:spPr>
          <a:xfrm>
            <a:off x="1764792" y="5184647"/>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世界恐慌下でアメリカが実施したニューディール政策（公共事業による雇用創出）は、ケインズ理論が唱える「政府による有効需要の創出」を体現した政策の代表例として語られます。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A-18｜ケインズ理論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主要経済理論（A-18〜A-20）｜2/2</a:t>
            </a:r>
          </a:p>
        </p:txBody>
      </p:sp>
      <p:sp>
        <p:nvSpPr>
          <p:cNvPr id="6" name="Rounded Rectangle 5"/>
          <p:cNvSpPr/>
          <p:nvPr/>
        </p:nvSpPr>
        <p:spPr>
          <a:xfrm>
            <a:off x="502920" y="1042415"/>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ケインズ理論は「市場に任せておけば、賃金・価格の調整によって自動的に完全雇用が実現する」という考え方（A-19の古典派の立場）とは対照的な立場です。「非自発的失業は存在しない」とする主張は古典派的な立場であり、ケインズ理論とは正反対である点に注意しましょう。</a:t>
            </a:r>
          </a:p>
        </p:txBody>
      </p:sp>
      <p:sp>
        <p:nvSpPr>
          <p:cNvPr id="9" name="Rectangle 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1" name="TextBox 1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A-19</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古典派・新古典派の理論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主要経済理論（A-18〜A-20）</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古典派経済学</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（アダム・スミス以来の伝統的な経済学、ケインズ以前の主流派）は、ケインズ理論とは対照的に、市場メカニズム（価格の伸縮性）を…</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セイの法則</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「供給はそれ自体の需要を創造する」という考え方。生産されたものは、生産に関わった人々の所得となり、それがそのまま支出（需要…</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価格の伸縮性による自動調整</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仮に一時的に失業が発生しても、賃金が下がることで労働需要が回復し、市場メカニズムを通じて自動的に完全雇用が実現する、と考え…</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古典派の二分法</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実物部門（生産量、雇用量などの実物経済変数）と貨幣部門（物価水準などの名目変数）は互いに独立しており、貨幣供給量の変化は物…</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古典派経済学（アダム・スミス以来の伝統的な経済学…</a:t>
            </a:r>
          </a:p>
        </p:txBody>
      </p:sp>
      <p:sp>
        <p:nvSpPr>
          <p:cNvPr id="27" name="Rounded Rectangle 26"/>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中心的な考え方に次のものがあります。</a:t>
            </a:r>
          </a:p>
        </p:txBody>
      </p:sp>
      <p:sp>
        <p:nvSpPr>
          <p:cNvPr id="30" name="Rounded Rectangle 29"/>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古典派の考え方に立つと、不況時に賃金水準が伸縮的に下がりさえすれば、企業はより多くの労働者を雇うようになり、失業は自然に解消されるはずだ、と説明されます（ケインズは、現実には賃金の下方硬直性があるため、このよ…</a:t>
            </a:r>
          </a:p>
        </p:txBody>
      </p:sp>
      <p:sp>
        <p:nvSpPr>
          <p:cNvPr id="31" name="Rounded Rectangle 30"/>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古典派の理論では、貨幣供給量の変化は実質GDPなどの実物変数にも影響を与える」という記述は誤りです。古典派の二分法（貨幣の中立性）のもとでは、貨幣供給量の変化は物価水準のみに影響し、実物変数には影響しない…</a:t>
            </a:r>
          </a:p>
        </p:txBody>
      </p:sp>
      <p:sp>
        <p:nvSpPr>
          <p:cNvPr id="32" name="Rectangle 3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4" name="TextBox 3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A-19｜古典派・新古典派の理論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主要経済理論（A-18〜A-20）｜1/2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古典派経済学（アダム・スミス以来の伝統的な経済学、ケインズ以前の主流派）は、ケインズ理論とは対照的に、市場メカニズム（価格の伸縮性）を信頼する立場です。中心的な考え方に次のものがあります。</a:t>
            </a:r>
          </a:p>
        </p:txBody>
      </p:sp>
      <p:sp>
        <p:nvSpPr>
          <p:cNvPr id="9" name="Rounded Rectangle 8"/>
          <p:cNvSpPr/>
          <p:nvPr/>
        </p:nvSpPr>
        <p:spPr>
          <a:xfrm>
            <a:off x="502920" y="1993391"/>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セイの法則：「供給はそれ自体の需要を創造する」という考え方。生産されたものは、生産に関わった人々の所得となり、それがそのまま支出（需要）に回るため、需要不足による不況は本来生じない、とする立場。</a:t>
            </a:r>
          </a:p>
        </p:txBody>
      </p:sp>
      <p:sp>
        <p:nvSpPr>
          <p:cNvPr id="12" name="Rounded Rectangle 11"/>
          <p:cNvSpPr/>
          <p:nvPr/>
        </p:nvSpPr>
        <p:spPr>
          <a:xfrm>
            <a:off x="502920" y="2944368"/>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06323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35808"/>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価格の伸縮性による自動調整：仮に一時的に失業が発生しても、賃金が下がることで労働需要が回復し、市場メカニズムを通じて自動的に完全雇用が実現する、と考えます。</a:t>
            </a:r>
          </a:p>
        </p:txBody>
      </p:sp>
      <p:sp>
        <p:nvSpPr>
          <p:cNvPr id="15" name="Rounded Rectangle 14"/>
          <p:cNvSpPr/>
          <p:nvPr/>
        </p:nvSpPr>
        <p:spPr>
          <a:xfrm>
            <a:off x="502920" y="3895344"/>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014215"/>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986783"/>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古典派の二分法：実物部門（生産量、雇用量などの実物経済変数）と貨幣部門（物価水準などの名目変数）は互いに独立しており、貨幣供給量の変化は物価水準だけを変化させ、生産量や雇用量といった実物変数には影響を与えない（貨幣の中立性）とする考え方。</a:t>
            </a:r>
          </a:p>
        </p:txBody>
      </p:sp>
      <p:sp>
        <p:nvSpPr>
          <p:cNvPr id="18" name="Rounded Rectangle 17"/>
          <p:cNvSpPr/>
          <p:nvPr/>
        </p:nvSpPr>
        <p:spPr>
          <a:xfrm>
            <a:off x="502920" y="4846320"/>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965192"/>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20" name="TextBox 19"/>
          <p:cNvSpPr txBox="1"/>
          <p:nvPr/>
        </p:nvSpPr>
        <p:spPr>
          <a:xfrm>
            <a:off x="1764792" y="4937759"/>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古典派の考え方に立つと、不況時に賃金水準が伸縮的に下がりさえすれば、企業はより多くの労働者を雇うようになり、失業は自然に解消されるはずだ、と説明されます（ケインズは、現実には賃金の下方硬直性があるため、このような自動調整はうまく機能しないと批判しました）。</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A-19｜古典派・新古典派の理論</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主要経済理論（A-18〜A-20）｜2/2</a:t>
            </a:r>
          </a:p>
        </p:txBody>
      </p:sp>
      <p:sp>
        <p:nvSpPr>
          <p:cNvPr id="6" name="Rounded Rectangle 5"/>
          <p:cNvSpPr/>
          <p:nvPr/>
        </p:nvSpPr>
        <p:spPr>
          <a:xfrm>
            <a:off x="502920" y="1042415"/>
            <a:ext cx="11183112" cy="841248"/>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古典派の理論では、貨幣供給量の変化は実質GDPなどの実物変数にも影響を与える」という記述は誤りです。古典派の二分法（貨幣の中立性）のもとでは、貨幣供給量の変化は物価水準のみに影響し、実物変数には影響しない、とされる点が核心です。</a:t>
            </a:r>
          </a:p>
        </p:txBody>
      </p:sp>
      <p:sp>
        <p:nvSpPr>
          <p:cNvPr id="9" name="Rectangle 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1" name="TextBox 1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A-20</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マネタリズム</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主要経済理論（A-18〜A-20）</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マネタリズム</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は、フリードマンを中心に発展した経済学の一派で、「経済の安定にとって最も重要なのは貨幣供給量（マネーストック）のコントロー…</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k%ルール</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）で機械的に増加させるべきだ、と主張しました。裁量的な政策は、政策の効果が実際に現れるまでのタイムラグの不確実性などにより…</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その理論的な土台になっているのが貨幣数量説で、次…</a:t>
            </a:r>
          </a:p>
        </p:txBody>
      </p:sp>
      <p:sp>
        <p:nvSpPr>
          <p:cNvPr id="18" name="Rounded Rectangle 17"/>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19" name="Rounded Rectangle 18"/>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（M</a:t>
            </a:r>
          </a:p>
        </p:txBody>
      </p:sp>
      <p:sp>
        <p:nvSpPr>
          <p:cNvPr id="22" name="TextBox 21"/>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貨幣供給量、V：貨幣の流通速度、P：物価水準、T：取引量）</a:t>
            </a:r>
          </a:p>
        </p:txBody>
      </p:sp>
      <p:sp>
        <p:nvSpPr>
          <p:cNvPr id="23" name="Rounded Rectangle 22"/>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マネタリズムで</a:t>
            </a:r>
          </a:p>
        </p:txBody>
      </p:sp>
      <p:sp>
        <p:nvSpPr>
          <p:cNvPr id="26" name="TextBox 25"/>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貨幣の流通速度Vと取引量Tは比較的安定していると仮定するため、貨幣供給量Mを増やせば、それはほぼそのまま物価水準Pの上…</a:t>
            </a:r>
          </a:p>
        </p:txBody>
      </p:sp>
      <p:sp>
        <p:nvSpPr>
          <p:cNvPr id="27" name="Rounded Rectangle 26"/>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この考え方から、マネタリズム</a:t>
            </a:r>
          </a:p>
        </p:txBody>
      </p:sp>
      <p:sp>
        <p:nvSpPr>
          <p:cNvPr id="30" name="TextBox 29"/>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「政府や中央銀行が景気の状況を見ながらその都度、財政政策・金融政策を発動する（裁量的な政策運営を行う）」ことに否定的で…</a:t>
            </a:r>
          </a:p>
        </p:txBody>
      </p:sp>
      <p:sp>
        <p:nvSpPr>
          <p:cNvPr id="31" name="Rounded Rectangle 30"/>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マネタリズムの立場からは、「不況が来るたびに政府が財政出動を発動する」というケインズ的な政策運営ではなく、「毎年、経済成長率に見合った一定の率（例えば年率3%など）で貨幣供給量を増やし続ける」という機械的なル…</a:t>
            </a:r>
          </a:p>
        </p:txBody>
      </p:sp>
      <p:sp>
        <p:nvSpPr>
          <p:cNvPr id="32" name="Rounded Rectangle 31"/>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マネタリズムは「政府による裁量的な財政政策・金融政策を積極的に活用すべきだ」とするケインズ的な立場とは正反対の立場である点に注意しましょう。「貨幣供給量のコントロールよりも財政政策を重視する」という記述はマネ…</a:t>
            </a:r>
          </a:p>
        </p:txBody>
      </p:sp>
      <p:sp>
        <p:nvSpPr>
          <p:cNvPr id="33" name="Rectangle 32"/>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5" name="TextBox 34"/>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A-20｜マネタリズム</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主要経済理論（A-18〜A-20）｜1/2</a:t>
            </a:r>
          </a:p>
        </p:txBody>
      </p:sp>
      <p:sp>
        <p:nvSpPr>
          <p:cNvPr id="6" name="Rounded Rectangle 5"/>
          <p:cNvSpPr/>
          <p:nvPr/>
        </p:nvSpPr>
        <p:spPr>
          <a:xfrm>
            <a:off x="502920" y="1042415"/>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マネタリズムは、フリードマンを中心に発展した経済学の一派で、「経済の安定にとって最も重要なのは貨幣供給量（マネーストック）のコントロールである」と主張します。その理論的な土台になっているのが貨幣数量説で、次の恒等式（フィッシャーの交換方程式）で表されます。</a:t>
            </a:r>
          </a:p>
        </p:txBody>
      </p:sp>
      <p:sp>
        <p:nvSpPr>
          <p:cNvPr id="9" name="Rounded Rectangle 8"/>
          <p:cNvSpPr/>
          <p:nvPr/>
        </p:nvSpPr>
        <p:spPr>
          <a:xfrm>
            <a:off x="502920" y="2240280"/>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331720"/>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MV = PT</a:t>
            </a:r>
          </a:p>
        </p:txBody>
      </p:sp>
      <p:sp>
        <p:nvSpPr>
          <p:cNvPr id="12" name="Rounded Rectangle 11"/>
          <p:cNvSpPr/>
          <p:nvPr/>
        </p:nvSpPr>
        <p:spPr>
          <a:xfrm>
            <a:off x="502920" y="3008376"/>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12724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9981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（M：貨幣供給量、V：貨幣の流通速度、P：物価水準、T：取引量）</a:t>
            </a:r>
          </a:p>
        </p:txBody>
      </p:sp>
      <p:sp>
        <p:nvSpPr>
          <p:cNvPr id="15" name="Rounded Rectangle 14"/>
          <p:cNvSpPr/>
          <p:nvPr/>
        </p:nvSpPr>
        <p:spPr>
          <a:xfrm>
            <a:off x="502920" y="3776472"/>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89534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86791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マネタリズムでは、貨幣の流通速度Vと取引量Tは比較的安定していると仮定するため、貨幣供給量Mを増やせば、それはほぼそのまま物価水準Pの上昇（インフレ）につながる、と考えます。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A-20｜マネタリズム</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主要経済理論（A-18〜A-20）｜2/2</a:t>
            </a:r>
          </a:p>
        </p:txBody>
      </p:sp>
      <p:sp>
        <p:nvSpPr>
          <p:cNvPr id="6" name="Rounded Rectangle 5"/>
          <p:cNvSpPr/>
          <p:nvPr/>
        </p:nvSpPr>
        <p:spPr>
          <a:xfrm>
            <a:off x="502920" y="1042415"/>
            <a:ext cx="11183112" cy="1335024"/>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この考え方から、マネタリズムは「政府や中央銀行が景気の状況を見ながらその都度、財政政策・金融政策を発動する（裁量的な政策運営を行う）」ことに否定的で、むしろ貨幣供給量を一定の率（k%ルール）で機械的に増加させるべきだ、と主張しました。裁量的な政策は、政策の効果が実際に現れるまでのタイムラグの不確実性などにより、かえって景気を不安定にしてしまう、というのがその理由です。</a:t>
            </a:r>
          </a:p>
        </p:txBody>
      </p:sp>
      <p:sp>
        <p:nvSpPr>
          <p:cNvPr id="9" name="Rounded Rectangle 8"/>
          <p:cNvSpPr/>
          <p:nvPr/>
        </p:nvSpPr>
        <p:spPr>
          <a:xfrm>
            <a:off x="502920" y="2487168"/>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60603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578608"/>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また、マネタリズムは1970年代のスタグフレーション（不況とインフレの同時進行）を、フィリップス曲線に「期待」の概念を導入すること（A-12の自然失業率仮説）で説明し、政府による裁量的な総需要管理政策（ケインズ的な財政・金融政策）を批判する立場をとりました。</a:t>
            </a:r>
          </a:p>
        </p:txBody>
      </p:sp>
      <p:sp>
        <p:nvSpPr>
          <p:cNvPr id="12" name="Rounded Rectangle 11"/>
          <p:cNvSpPr/>
          <p:nvPr/>
        </p:nvSpPr>
        <p:spPr>
          <a:xfrm>
            <a:off x="502920" y="3685031"/>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803903"/>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4" name="TextBox 13"/>
          <p:cNvSpPr txBox="1"/>
          <p:nvPr/>
        </p:nvSpPr>
        <p:spPr>
          <a:xfrm>
            <a:off x="1764792" y="377647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マネタリズムの立場からは、「不況が来るたびに政府が財政出動を発動する」というケインズ的な政策運営ではなく、「毎年、経済成長率に見合った一定の率（例えば年率3%など）で貨幣供給量を増やし続ける」という機械的なルールに基づく金融政策運営の方が、経済を安定させる、と主張されます。</a:t>
            </a:r>
          </a:p>
        </p:txBody>
      </p:sp>
      <p:sp>
        <p:nvSpPr>
          <p:cNvPr id="15" name="Rounded Rectangle 14"/>
          <p:cNvSpPr/>
          <p:nvPr/>
        </p:nvSpPr>
        <p:spPr>
          <a:xfrm>
            <a:off x="502920" y="4882896"/>
            <a:ext cx="11183112" cy="841248"/>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500176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7" name="TextBox 16"/>
          <p:cNvSpPr txBox="1"/>
          <p:nvPr/>
        </p:nvSpPr>
        <p:spPr>
          <a:xfrm>
            <a:off x="1764792" y="497433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マネタリズムは「政府による裁量的な財政政策・金融政策を積極的に活用すべきだ」とするケインズ的な立場とは正反対の立場である点に注意しましょう。「貨幣供給量のコントロールよりも財政政策を重視する」という記述はマネタリズムの説明として誤りで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05</a:t>
            </a:r>
          </a:p>
        </p:txBody>
      </p:sp>
      <p:sp>
        <p:nvSpPr>
          <p:cNvPr id="5" name="TextBox 4"/>
          <p:cNvSpPr txBox="1"/>
          <p:nvPr/>
        </p:nvSpPr>
        <p:spPr>
          <a:xfrm>
            <a:off x="1188720" y="1993392"/>
            <a:ext cx="9784080" cy="96012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市場メカニズム</a:t>
            </a:r>
          </a:p>
        </p:txBody>
      </p:sp>
      <p:sp>
        <p:nvSpPr>
          <p:cNvPr id="6" name="TextBox 5"/>
          <p:cNvSpPr txBox="1"/>
          <p:nvPr/>
        </p:nvSpPr>
        <p:spPr>
          <a:xfrm>
            <a:off x="1234440" y="3017520"/>
            <a:ext cx="9720072" cy="1005840"/>
          </a:xfrm>
          <a:prstGeom prst="rect">
            <a:avLst/>
          </a:prstGeom>
          <a:noFill/>
        </p:spPr>
        <p:txBody>
          <a:bodyPr wrap="square" tIns="91440" bIns="91440" anchor="ctr">
            <a:spAutoFit/>
          </a:bodyPr>
          <a:lstStyle/>
          <a:p>
            <a:pPr algn="ctr">
              <a:spcAft>
                <a:spcPts val="0"/>
              </a:spcAft>
            </a:pPr>
            <a:r>
              <a:rPr sz="1400" b="0">
                <a:solidFill>
                  <a:srgbClr val="667085"/>
                </a:solidFill>
                <a:latin typeface="WenQuanYi Micro Hei"/>
              </a:rPr>
              <a:t>第5部からはミクロ経済学に入ります。個別の商品市場において、価格や数量がどのように決まり、その結果どれだけの「豊かさ（余剰）」が生まれるのか、また市場メカニズムがうまく機能しない場合（市場の失敗）にはどう対処すべきかを学びます。</a:t>
            </a:r>
          </a:p>
        </p:txBody>
      </p:sp>
      <p:sp>
        <p:nvSpPr>
          <p:cNvPr id="7" name="Rounded Rectangle 6"/>
          <p:cNvSpPr/>
          <p:nvPr/>
        </p:nvSpPr>
        <p:spPr>
          <a:xfrm>
            <a:off x="4261104" y="4315968"/>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4 論点</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A-21</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市場均衡・不均衡</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a:t>
            </a:r>
          </a:p>
        </p:txBody>
      </p:sp>
      <p:sp>
        <p:nvSpPr>
          <p:cNvPr id="6" name="Rounded Rectangle 5"/>
          <p:cNvSpPr/>
          <p:nvPr/>
        </p:nvSpPr>
        <p:spPr>
          <a:xfrm>
            <a:off x="566928" y="1444752"/>
            <a:ext cx="1779422" cy="3063240"/>
          </a:xfrm>
          <a:prstGeom prst="roundRect">
            <a:avLst/>
          </a:prstGeom>
          <a:solidFill>
            <a:srgbClr val="EEF2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00607"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1</a:t>
            </a:r>
          </a:p>
        </p:txBody>
      </p:sp>
      <p:sp>
        <p:nvSpPr>
          <p:cNvPr id="8" name="TextBox 7"/>
          <p:cNvSpPr txBox="1"/>
          <p:nvPr/>
        </p:nvSpPr>
        <p:spPr>
          <a:xfrm>
            <a:off x="685800" y="1810512"/>
            <a:ext cx="1541678"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均衡価格・均衡数量</a:t>
            </a:r>
          </a:p>
        </p:txBody>
      </p:sp>
      <p:sp>
        <p:nvSpPr>
          <p:cNvPr id="9" name="TextBox 8"/>
          <p:cNvSpPr txBox="1"/>
          <p:nvPr/>
        </p:nvSpPr>
        <p:spPr>
          <a:xfrm>
            <a:off x="713232" y="2542032"/>
            <a:ext cx="1486814"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と呼びます。</a:t>
            </a:r>
          </a:p>
        </p:txBody>
      </p:sp>
      <p:sp>
        <p:nvSpPr>
          <p:cNvPr id="10" name="Chevron 9"/>
          <p:cNvSpPr/>
          <p:nvPr/>
        </p:nvSpPr>
        <p:spPr>
          <a:xfrm>
            <a:off x="2456078" y="2596896"/>
            <a:ext cx="310896" cy="640080"/>
          </a:xfrm>
          <a:prstGeom prst="chevron">
            <a:avLst/>
          </a:prstGeom>
          <a:solidFill>
            <a:srgbClr val="807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76702" y="1444752"/>
            <a:ext cx="1779422" cy="3063240"/>
          </a:xfrm>
          <a:prstGeom prst="roundRect">
            <a:avLst/>
          </a:prstGeom>
          <a:solidFill>
            <a:srgbClr val="FFFF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510381"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2</a:t>
            </a:r>
          </a:p>
        </p:txBody>
      </p:sp>
      <p:sp>
        <p:nvSpPr>
          <p:cNvPr id="13" name="TextBox 12"/>
          <p:cNvSpPr txBox="1"/>
          <p:nvPr/>
        </p:nvSpPr>
        <p:spPr>
          <a:xfrm>
            <a:off x="2995574" y="1810512"/>
            <a:ext cx="1541678"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超過需要</a:t>
            </a:r>
          </a:p>
        </p:txBody>
      </p:sp>
      <p:sp>
        <p:nvSpPr>
          <p:cNvPr id="14" name="TextBox 13"/>
          <p:cNvSpPr txBox="1"/>
          <p:nvPr/>
        </p:nvSpPr>
        <p:spPr>
          <a:xfrm>
            <a:off x="3023006" y="2542032"/>
            <a:ext cx="1486814"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価格が均衡価格より低く、需要量が供給量を上回っている状態（品不足）。通常は価格が上…</a:t>
            </a:r>
          </a:p>
        </p:txBody>
      </p:sp>
      <p:sp>
        <p:nvSpPr>
          <p:cNvPr id="15" name="Chevron 14"/>
          <p:cNvSpPr/>
          <p:nvPr/>
        </p:nvSpPr>
        <p:spPr>
          <a:xfrm>
            <a:off x="4765852" y="2596896"/>
            <a:ext cx="310896" cy="640080"/>
          </a:xfrm>
          <a:prstGeom prst="chevron">
            <a:avLst/>
          </a:prstGeom>
          <a:solidFill>
            <a:srgbClr val="807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186476" y="1444752"/>
            <a:ext cx="1779422" cy="3063240"/>
          </a:xfrm>
          <a:prstGeom prst="roundRect">
            <a:avLst/>
          </a:prstGeom>
          <a:solidFill>
            <a:srgbClr val="EEF2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820155"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3</a:t>
            </a:r>
          </a:p>
        </p:txBody>
      </p:sp>
      <p:sp>
        <p:nvSpPr>
          <p:cNvPr id="18" name="TextBox 17"/>
          <p:cNvSpPr txBox="1"/>
          <p:nvPr/>
        </p:nvSpPr>
        <p:spPr>
          <a:xfrm>
            <a:off x="5305348" y="1810512"/>
            <a:ext cx="1541678"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超過供給</a:t>
            </a:r>
          </a:p>
        </p:txBody>
      </p:sp>
      <p:sp>
        <p:nvSpPr>
          <p:cNvPr id="19" name="TextBox 18"/>
          <p:cNvSpPr txBox="1"/>
          <p:nvPr/>
        </p:nvSpPr>
        <p:spPr>
          <a:xfrm>
            <a:off x="5332780" y="2542032"/>
            <a:ext cx="1486814"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価格が均衡価格より高く、供給量が需要量を上回っている状態（売れ残り）。通常は価格が…</a:t>
            </a:r>
          </a:p>
        </p:txBody>
      </p:sp>
      <p:sp>
        <p:nvSpPr>
          <p:cNvPr id="20" name="Chevron 19"/>
          <p:cNvSpPr/>
          <p:nvPr/>
        </p:nvSpPr>
        <p:spPr>
          <a:xfrm>
            <a:off x="7075627" y="2596896"/>
            <a:ext cx="310896" cy="640080"/>
          </a:xfrm>
          <a:prstGeom prst="chevron">
            <a:avLst/>
          </a:prstGeom>
          <a:solidFill>
            <a:srgbClr val="807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496251" y="1444752"/>
            <a:ext cx="1779422" cy="3063240"/>
          </a:xfrm>
          <a:prstGeom prst="roundRect">
            <a:avLst/>
          </a:prstGeom>
          <a:solidFill>
            <a:srgbClr val="FFFF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129930"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4</a:t>
            </a:r>
          </a:p>
        </p:txBody>
      </p:sp>
      <p:sp>
        <p:nvSpPr>
          <p:cNvPr id="23" name="TextBox 22"/>
          <p:cNvSpPr txBox="1"/>
          <p:nvPr/>
        </p:nvSpPr>
        <p:spPr>
          <a:xfrm>
            <a:off x="7615123" y="1810512"/>
            <a:ext cx="1541678"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価格メカニズム（市場メカニズム）</a:t>
            </a:r>
          </a:p>
        </p:txBody>
      </p:sp>
      <p:sp>
        <p:nvSpPr>
          <p:cNvPr id="24" name="TextBox 23"/>
          <p:cNvSpPr txBox="1"/>
          <p:nvPr/>
        </p:nvSpPr>
        <p:spPr>
          <a:xfrm>
            <a:off x="7642555" y="2542032"/>
            <a:ext cx="1486814"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と呼びます。しかし、政府が家賃統制のように価格の上限を法律で定める（価格の上限規制…</a:t>
            </a:r>
          </a:p>
        </p:txBody>
      </p:sp>
      <p:sp>
        <p:nvSpPr>
          <p:cNvPr id="25" name="Chevron 24"/>
          <p:cNvSpPr/>
          <p:nvPr/>
        </p:nvSpPr>
        <p:spPr>
          <a:xfrm>
            <a:off x="9385401" y="2596896"/>
            <a:ext cx="310896" cy="640080"/>
          </a:xfrm>
          <a:prstGeom prst="chevron">
            <a:avLst/>
          </a:prstGeom>
          <a:solidFill>
            <a:srgbClr val="807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806025" y="1444752"/>
            <a:ext cx="1779422" cy="3063240"/>
          </a:xfrm>
          <a:prstGeom prst="roundRect">
            <a:avLst/>
          </a:prstGeom>
          <a:solidFill>
            <a:srgbClr val="EEF2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439704"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5</a:t>
            </a:r>
          </a:p>
        </p:txBody>
      </p:sp>
      <p:sp>
        <p:nvSpPr>
          <p:cNvPr id="28" name="TextBox 27"/>
          <p:cNvSpPr txBox="1"/>
          <p:nvPr/>
        </p:nvSpPr>
        <p:spPr>
          <a:xfrm>
            <a:off x="9924897" y="1810512"/>
            <a:ext cx="1541678"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ある商品の市場で</a:t>
            </a:r>
          </a:p>
        </p:txBody>
      </p:sp>
      <p:sp>
        <p:nvSpPr>
          <p:cNvPr id="29" name="TextBox 28"/>
          <p:cNvSpPr txBox="1"/>
          <p:nvPr/>
        </p:nvSpPr>
        <p:spPr>
          <a:xfrm>
            <a:off x="9952329" y="2542032"/>
            <a:ext cx="1486814"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価格が高いほど消費者が買いたい量（需要量）は減り、価格が高いほど生産者が売りたい量…</a:t>
            </a:r>
          </a:p>
        </p:txBody>
      </p:sp>
      <p:sp>
        <p:nvSpPr>
          <p:cNvPr id="30" name="Rounded Rectangle 29"/>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人気コンサートのチケットに定価（上限規制に近い状態）が設定されていると、定価では需要が供給を大幅に上回り（超過需要）、転売市場でチケットが定価の何倍もの価格で取引される、という現象が生じます。これは価格の上限…</a:t>
            </a:r>
          </a:p>
        </p:txBody>
      </p:sp>
      <p:sp>
        <p:nvSpPr>
          <p:cNvPr id="31" name="Rounded Rectangle 30"/>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超過需要が発生すると価格は下落する」という記述は逆で、正しくは超過需要（品不足）は価格の上昇によって解消に向かいます。超過需要と超過供給、それぞれが価格をどちらの方向に動かすかを取り違えないようにしましょう。</a:t>
            </a:r>
          </a:p>
        </p:txBody>
      </p:sp>
      <p:sp>
        <p:nvSpPr>
          <p:cNvPr id="32" name="Rectangle 3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4" name="TextBox 3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A-21｜市場均衡・不均衡</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市場メカニズム（A-21〜A-24）｜1/2</a:t>
            </a:r>
          </a:p>
        </p:txBody>
      </p:sp>
      <p:sp>
        <p:nvSpPr>
          <p:cNvPr id="6" name="Rounded Rectangle 5"/>
          <p:cNvSpPr/>
          <p:nvPr/>
        </p:nvSpPr>
        <p:spPr>
          <a:xfrm>
            <a:off x="502920" y="1042415"/>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商品の市場では、価格が高いほど消費者が買いたい量（需要量）は減り、価格が高いほど生産者が売りたい量（供給量）は増える、という関係にあります。これをグラフに描くと、需要曲線は右下がり、供給曲線は右上がりになります。両曲線が交わる点で決まる価格・数量を均衡価格・均衡数量と呼びます。</a:t>
            </a:r>
          </a:p>
        </p:txBody>
      </p:sp>
      <p:sp>
        <p:nvSpPr>
          <p:cNvPr id="9" name="Rounded Rectangle 8"/>
          <p:cNvSpPr/>
          <p:nvPr/>
        </p:nvSpPr>
        <p:spPr>
          <a:xfrm>
            <a:off x="502920" y="2240280"/>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331720"/>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市場が均衡していない状態（不均衡）には次の2つがあります。</a:t>
            </a:r>
          </a:p>
        </p:txBody>
      </p:sp>
      <p:sp>
        <p:nvSpPr>
          <p:cNvPr id="12" name="Rounded Rectangle 11"/>
          <p:cNvSpPr/>
          <p:nvPr/>
        </p:nvSpPr>
        <p:spPr>
          <a:xfrm>
            <a:off x="502920" y="3008376"/>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12724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9981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超過需要：価格が均衡価格より低く、需要量が供給量を上回っている状態（品不足）。通常は価格が上昇することで解消に向かう。</a:t>
            </a:r>
          </a:p>
        </p:txBody>
      </p:sp>
      <p:sp>
        <p:nvSpPr>
          <p:cNvPr id="15" name="Rounded Rectangle 14"/>
          <p:cNvSpPr/>
          <p:nvPr/>
        </p:nvSpPr>
        <p:spPr>
          <a:xfrm>
            <a:off x="502920" y="3776472"/>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895344"/>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86791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超過供給：価格が均衡価格より高く、供給量が需要量を上回っている状態（売れ残り）。通常は価格が下落することで解消に向かう。</a:t>
            </a:r>
          </a:p>
        </p:txBody>
      </p:sp>
      <p:sp>
        <p:nvSpPr>
          <p:cNvPr id="18" name="Rounded Rectangle 17"/>
          <p:cNvSpPr/>
          <p:nvPr/>
        </p:nvSpPr>
        <p:spPr>
          <a:xfrm>
            <a:off x="502920" y="4544568"/>
            <a:ext cx="11183112" cy="1335024"/>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663440"/>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636007"/>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このように、価格が自動的に調整されて需要と供給を一致させる働きを価格メカニズム（市場メカニズム）と呼びます。しかし、政府が家賃統制のように価格の上限を法律で定める（価格の上限規制）と、その上限が均衡価格より低い場合には、価格が均衡水準まで上昇できず超過需要（品不足）が解消されない状態が続きます。逆に最低賃金のように価格の下限を定める（価格の下限規制）と、その下限が均衡価格より高い場合には超過供給（この場合は失業）が解消されない状態が続き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A-21｜市場均衡・不均衡</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市場メカニズム（A-21〜A-24）｜2/2</a:t>
            </a:r>
          </a:p>
        </p:txBody>
      </p:sp>
      <p:sp>
        <p:nvSpPr>
          <p:cNvPr id="6" name="Rounded Rectangle 5"/>
          <p:cNvSpPr/>
          <p:nvPr/>
        </p:nvSpPr>
        <p:spPr>
          <a:xfrm>
            <a:off x="502920" y="1042415"/>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人気コンサートのチケットに定価（上限規制に近い状態）が設定されていると、定価では需要が供給を大幅に上回り（超過需要）、転売市場でチケットが定価の何倍もの価格で取引される、という現象が生じます。これは価格の上限規制が引き起こす超過需要の典型例です。</a:t>
            </a:r>
          </a:p>
        </p:txBody>
      </p:sp>
      <p:sp>
        <p:nvSpPr>
          <p:cNvPr id="9" name="Rounded Rectangle 8"/>
          <p:cNvSpPr/>
          <p:nvPr/>
        </p:nvSpPr>
        <p:spPr>
          <a:xfrm>
            <a:off x="502920" y="2240280"/>
            <a:ext cx="11183112" cy="841248"/>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1" name="TextBox 10"/>
          <p:cNvSpPr txBox="1"/>
          <p:nvPr/>
        </p:nvSpPr>
        <p:spPr>
          <a:xfrm>
            <a:off x="1764792" y="2331720"/>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超過需要が発生すると価格は下落する」という記述は逆で、正しくは超過需要（品不足）は価格の上昇によって解消に向かいます。超過需要と超過供給、それぞれが価格をどちらの方向に動かすかを取り違えないようにしましょう。</a:t>
            </a:r>
          </a:p>
        </p:txBody>
      </p:sp>
      <p:sp>
        <p:nvSpPr>
          <p:cNvPr id="12" name="Rectangle 1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4" name="TextBox 1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A-22</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弾力性の概念（価格弾力性等）</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a:t>
            </a:r>
          </a:p>
        </p:txBody>
      </p:sp>
      <p:sp>
        <p:nvSpPr>
          <p:cNvPr id="6" name="Rectangle 5"/>
          <p:cNvSpPr/>
          <p:nvPr/>
        </p:nvSpPr>
        <p:spPr>
          <a:xfrm>
            <a:off x="868680" y="2926080"/>
            <a:ext cx="1046988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1｜弾力性 ＞ 1（弾力的）
価格の変化率より需要量の変化率の方が大きい / 増加する（値下げで売上増）</a:t>
            </a:r>
          </a:p>
        </p:txBody>
      </p:sp>
      <p:sp>
        <p:nvSpPr>
          <p:cNvPr id="9" name="Oval 8"/>
          <p:cNvSpPr/>
          <p:nvPr/>
        </p:nvSpPr>
        <p:spPr>
          <a:xfrm>
            <a:off x="33489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26030"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2｜弾力性 ＝ 1（単位弾力的）
価格の変化率と需要量の変化率が等しい / 変化しない</a:t>
            </a:r>
          </a:p>
        </p:txBody>
      </p:sp>
      <p:sp>
        <p:nvSpPr>
          <p:cNvPr id="11" name="Oval 10"/>
          <p:cNvSpPr/>
          <p:nvPr/>
        </p:nvSpPr>
        <p:spPr>
          <a:xfrm>
            <a:off x="59207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97779"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3｜弾力性 ＜ 1（非弾力的）
価格の変化率より需要量の変化率の方が小さい / 減少する（値下げしても売上…</a:t>
            </a:r>
          </a:p>
        </p:txBody>
      </p:sp>
      <p:sp>
        <p:nvSpPr>
          <p:cNvPr id="13" name="Oval 12"/>
          <p:cNvSpPr/>
          <p:nvPr/>
        </p:nvSpPr>
        <p:spPr>
          <a:xfrm>
            <a:off x="84924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69529"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4｜弾力性 ＝ 0（完全非弾力的）
価格が変化しても需要量は全く変化しない / 価格に比例してそのまま増減する</a:t>
            </a:r>
          </a:p>
        </p:txBody>
      </p:sp>
      <p:sp>
        <p:nvSpPr>
          <p:cNvPr id="15" name="Oval 14"/>
          <p:cNvSpPr/>
          <p:nvPr/>
        </p:nvSpPr>
        <p:spPr>
          <a:xfrm>
            <a:off x="11064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852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5｜弾力性 ＝ ∞（完全弾力的）
価格がわずかでも動くと需要量が無限に変化する / －</a:t>
            </a:r>
          </a:p>
        </p:txBody>
      </p:sp>
      <p:sp>
        <p:nvSpPr>
          <p:cNvPr id="17" name="Rounded Rectangle 1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生活必需品（米、電気など）は代替が利きにくいため需要の価格弾力性が低く（非弾力的）、価格が上がっても消費者は購入量をあまり減らさないため、企業は値上げによって売上を増やしやすくなります。逆に、嗜好品やブランド…</a:t>
            </a:r>
          </a:p>
        </p:txBody>
      </p:sp>
      <p:sp>
        <p:nvSpPr>
          <p:cNvPr id="18" name="Rounded Rectangle 1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需要の価格弾力性がゼロであれば、価格が上昇しても消費者の支出総額は変化しない」という記述は誤りです。弾力性がゼロ（数量が全く変化しない）のときに価格が上昇すれば、支出総額（価格×数量）はそのまま増加します…</a:t>
            </a:r>
          </a:p>
        </p:txBody>
      </p:sp>
      <p:sp>
        <p:nvSpPr>
          <p:cNvPr id="19" name="Rectangle 1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1" name="TextBox 2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A-22｜弾力性の概念（価格弾力性等）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市場メカニズム（A-21〜A-24）｜1/3</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需要の価格弾力性とは、価格が変化したときに、需要量がどれだけ敏感に反応するかを示す指標で、次の式で計算されます（符号を無視した絶対値で考えるのが通例です）。</a:t>
            </a:r>
          </a:p>
        </p:txBody>
      </p:sp>
      <p:sp>
        <p:nvSpPr>
          <p:cNvPr id="9" name="Rounded Rectangle 8"/>
          <p:cNvSpPr/>
          <p:nvPr/>
        </p:nvSpPr>
        <p:spPr>
          <a:xfrm>
            <a:off x="502920" y="1993391"/>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需要の価格弾力性 = \left| \frac需要量の変化率価格の変化率 \right</a:t>
            </a:r>
          </a:p>
        </p:txBody>
      </p:sp>
      <p:sp>
        <p:nvSpPr>
          <p:cNvPr id="12" name="Rounded Rectangle 11"/>
          <p:cNvSpPr/>
          <p:nvPr/>
        </p:nvSpPr>
        <p:spPr>
          <a:xfrm>
            <a:off x="502920" y="2761487"/>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59"/>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852927"/>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弾力性の値によって、価格を変化させたときに「消費者の支出総額（＝企業の売上高、価格×数量）」がどう動くかが決まります。</a:t>
            </a:r>
          </a:p>
        </p:txBody>
      </p:sp>
      <p:sp>
        <p:nvSpPr>
          <p:cNvPr id="15" name="Rounded Rectangle 14"/>
          <p:cNvSpPr/>
          <p:nvPr/>
        </p:nvSpPr>
        <p:spPr>
          <a:xfrm>
            <a:off x="502920" y="3529583"/>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648455"/>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7" name="TextBox 16"/>
          <p:cNvSpPr txBox="1"/>
          <p:nvPr/>
        </p:nvSpPr>
        <p:spPr>
          <a:xfrm>
            <a:off x="1764792" y="3621023"/>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弾力性の大きさ ｜ 意味 ｜ 価格を下げたときの支出総額（売上）の動き</a:t>
            </a:r>
          </a:p>
        </p:txBody>
      </p:sp>
      <p:sp>
        <p:nvSpPr>
          <p:cNvPr id="18" name="Rounded Rectangle 17"/>
          <p:cNvSpPr/>
          <p:nvPr/>
        </p:nvSpPr>
        <p:spPr>
          <a:xfrm>
            <a:off x="502920" y="4297679"/>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416551"/>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20" name="TextBox 19"/>
          <p:cNvSpPr txBox="1"/>
          <p:nvPr/>
        </p:nvSpPr>
        <p:spPr>
          <a:xfrm>
            <a:off x="1764792" y="4389119"/>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弾力性 ＞ 1（弾力的） ｜ 価格の変化率より需要量の変化率の方が大きい ｜ 増加する（値下げで売上増）</a:t>
            </a:r>
          </a:p>
        </p:txBody>
      </p:sp>
      <p:sp>
        <p:nvSpPr>
          <p:cNvPr id="21" name="Rounded Rectangle 20"/>
          <p:cNvSpPr/>
          <p:nvPr/>
        </p:nvSpPr>
        <p:spPr>
          <a:xfrm>
            <a:off x="502920" y="5065775"/>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1792" y="5184647"/>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23" name="TextBox 22"/>
          <p:cNvSpPr txBox="1"/>
          <p:nvPr/>
        </p:nvSpPr>
        <p:spPr>
          <a:xfrm>
            <a:off x="1764792" y="5157215"/>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弾力性 ＝ 1（単位弾力的） ｜ 価格の変化率と需要量の変化率が等しい ｜ 変化しない</a:t>
            </a:r>
          </a:p>
        </p:txBody>
      </p:sp>
      <p:sp>
        <p:nvSpPr>
          <p:cNvPr id="24" name="Rectangle 2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6" name="TextBox 2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A-22｜弾力性の概念（価格弾力性等）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市場メカニズム（A-21〜A-24）｜2/3</a:t>
            </a:r>
          </a:p>
        </p:txBody>
      </p:sp>
      <p:sp>
        <p:nvSpPr>
          <p:cNvPr id="6" name="Rounded Rectangle 5"/>
          <p:cNvSpPr/>
          <p:nvPr/>
        </p:nvSpPr>
        <p:spPr>
          <a:xfrm>
            <a:off x="502920" y="1042415"/>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弾力性 ＜ 1（非弾力的） ｜ 価格の変化率より需要量の変化率の方が小さい ｜ 減少する（値下げしても売上は減る）</a:t>
            </a:r>
          </a:p>
        </p:txBody>
      </p:sp>
      <p:sp>
        <p:nvSpPr>
          <p:cNvPr id="9" name="Rounded Rectangle 8"/>
          <p:cNvSpPr/>
          <p:nvPr/>
        </p:nvSpPr>
        <p:spPr>
          <a:xfrm>
            <a:off x="502920" y="1810512"/>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1" name="TextBox 10"/>
          <p:cNvSpPr txBox="1"/>
          <p:nvPr/>
        </p:nvSpPr>
        <p:spPr>
          <a:xfrm>
            <a:off x="1764792" y="1901952"/>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弾力性 ＝ 0（完全非弾力的） ｜ 価格が変化しても需要量は全く変化しない ｜ 価格に比例してそのまま増減する</a:t>
            </a:r>
          </a:p>
        </p:txBody>
      </p:sp>
      <p:sp>
        <p:nvSpPr>
          <p:cNvPr id="12" name="Rounded Rectangle 11"/>
          <p:cNvSpPr/>
          <p:nvPr/>
        </p:nvSpPr>
        <p:spPr>
          <a:xfrm>
            <a:off x="502920" y="2578608"/>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697479"/>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4" name="TextBox 13"/>
          <p:cNvSpPr txBox="1"/>
          <p:nvPr/>
        </p:nvSpPr>
        <p:spPr>
          <a:xfrm>
            <a:off x="1764792" y="2670048"/>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弾力性 ＝ ∞（完全弾力的） ｜ 価格がわずかでも動くと需要量が無限に変化する ｜ －</a:t>
            </a:r>
          </a:p>
        </p:txBody>
      </p:sp>
      <p:sp>
        <p:nvSpPr>
          <p:cNvPr id="15" name="Rounded Rectangle 14"/>
          <p:cNvSpPr/>
          <p:nvPr/>
        </p:nvSpPr>
        <p:spPr>
          <a:xfrm>
            <a:off x="502920" y="3346703"/>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465575"/>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438144"/>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需要曲線の「形」と弾力性の関係も重要です。需要曲線が垂直（数量が価格によらず一定）であれば弾力性はゼロ（完全非弾力的）、需要曲線が水平（価格が一定水準にとどまり、数量がいくらでも変化しうる）であれば弾力性は無限大（完全弾力的）になります。</a:t>
            </a:r>
          </a:p>
        </p:txBody>
      </p:sp>
      <p:sp>
        <p:nvSpPr>
          <p:cNvPr id="18" name="Rounded Rectangle 17"/>
          <p:cNvSpPr/>
          <p:nvPr/>
        </p:nvSpPr>
        <p:spPr>
          <a:xfrm>
            <a:off x="502920" y="4297679"/>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416551"/>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389119"/>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また、一般に同じ商品でも、消費者が代替品を探したり消費パターンを調整したりする時間的余裕がある分、短期よりも長期の方が需要の価格弾力性は高くなる（より弾力的になる）傾向があります。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A-22｜弾力性の概念（価格弾力性等）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市場メカニズム（A-21〜A-24）｜3/3</a:t>
            </a:r>
          </a:p>
        </p:txBody>
      </p:sp>
      <p:sp>
        <p:nvSpPr>
          <p:cNvPr id="6" name="Rounded Rectangle 5"/>
          <p:cNvSpPr/>
          <p:nvPr/>
        </p:nvSpPr>
        <p:spPr>
          <a:xfrm>
            <a:off x="502920" y="1042415"/>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生活必需品（米、電気など）は代替が利きにくいため需要の価格弾力性が低く（非弾力的）、価格が上がっても消費者は購入量をあまり減らさないため、企業は値上げによって売上を増やしやすくなります。逆に、嗜好品やブランド品は代替品への乗り換えが容易なため需要の価格弾力性が高く（弾力的）、値上げをすると需要が大きく減り、かえって売上が減少することがあります。</a:t>
            </a:r>
          </a:p>
        </p:txBody>
      </p:sp>
      <p:sp>
        <p:nvSpPr>
          <p:cNvPr id="9" name="Rounded Rectangle 8"/>
          <p:cNvSpPr/>
          <p:nvPr/>
        </p:nvSpPr>
        <p:spPr>
          <a:xfrm>
            <a:off x="502920" y="2240280"/>
            <a:ext cx="11183112" cy="1335024"/>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1" name="TextBox 10"/>
          <p:cNvSpPr txBox="1"/>
          <p:nvPr/>
        </p:nvSpPr>
        <p:spPr>
          <a:xfrm>
            <a:off x="1764792" y="2331720"/>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需要の価格弾力性がゼロであれば、価格が上昇しても消費者の支出総額は変化しない」という記述は誤りです。弾力性がゼロ（数量が全く変化しない）のときに価格が上昇すれば、支出総額（価格×数量）はそのまま増加します。「支出総額が変化しない」のは弾力性が1（単位弾力的）のときです。また「長期の需要の価格弾力性は短期より低くなりやすい」という記述も誤り（正しくは長期の方が高くなりやすい）で、頻出のひっかけパターンです。</a:t>
            </a:r>
          </a:p>
        </p:txBody>
      </p:sp>
      <p:sp>
        <p:nvSpPr>
          <p:cNvPr id="12" name="Rounded Rectangle 11"/>
          <p:cNvSpPr/>
          <p:nvPr/>
        </p:nvSpPr>
        <p:spPr>
          <a:xfrm>
            <a:off x="502920" y="3685032"/>
            <a:ext cx="11183112" cy="841248"/>
          </a:xfrm>
          <a:prstGeom prst="roundRect">
            <a:avLst/>
          </a:prstGeom>
          <a:solidFill>
            <a:srgbClr val="F0FDF4"/>
          </a:solidFill>
          <a:ln w="12700">
            <a:solidFill>
              <a:srgbClr val="9DCA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803904"/>
            <a:ext cx="987552" cy="420624"/>
          </a:xfrm>
          <a:prstGeom prst="roundRect">
            <a:avLst/>
          </a:prstGeom>
          <a:solidFill>
            <a:srgbClr val="15803D"/>
          </a:solidFill>
          <a:ln w="12700">
            <a:solidFill>
              <a:srgbClr val="15803D"/>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過去問</a:t>
            </a:r>
          </a:p>
        </p:txBody>
      </p:sp>
      <p:sp>
        <p:nvSpPr>
          <p:cNvPr id="14" name="TextBox 13"/>
          <p:cNvSpPr txBox="1"/>
          <p:nvPr/>
        </p:nvSpPr>
        <p:spPr>
          <a:xfrm>
            <a:off x="1764792" y="3776472"/>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problem_sets/1st_stage/exercises/A_economics_exercises.md の「A-22：市場メカニズム（需要の価格弾力性）」を参照。</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A-23</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経済余剰（消費者余剰・生産者余剰）</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経済余剰</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です。</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消費者余剰</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消費者が「支払ってもよい」と思っていた金額（需要曲線の高さ）から、実際に支払った金額（市場価格）を差し引いた差額の合計。グ…</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生産者余剰</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生産者が実際に受け取った金額（市場価格）から、「これ以上安くては売りたくない」という最低ラインの金額（供給曲線の高さ、限界…</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総余剰（社会的余剰）</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＝消費者余剰＋生産者余剰。</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最大化</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されます。これが「市場メカニズムは資源配分上、効率的である」（A-24）とされる理論的な根拠です。</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死荷重（デッドウェイトロス、超過負担）</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と呼びます。</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ある商品に新たに物品税が課されると、税負担分だけ実質的な取引価格差が生じて取引量が減少します。消費者余剰と生産者余剰はともに減少し、その減少分の一部は政府の税収として社会に残りますが、残りの一部はどこにも帰属…</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死荷重は「消費者余剰の減少分と生産者余剰の減少分の合計」ではなく、「消費者余剰と生産者余剰の減少分の合計から、税収などの形で社会に残った部分を差し引いた、純粋に失われた部分」である点に注意しましょう。総余剰（…</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A-23｜経済余剰（消費者余剰・生産者余剰）</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市場メカニズム（A-21〜A-24）｜1/2</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市場取引によって、消費者・生産者それぞれがどれだけ「得」をしているかを表す概念が経済余剰です。</a:t>
            </a:r>
          </a:p>
        </p:txBody>
      </p:sp>
      <p:sp>
        <p:nvSpPr>
          <p:cNvPr id="9" name="Rounded Rectangle 8"/>
          <p:cNvSpPr/>
          <p:nvPr/>
        </p:nvSpPr>
        <p:spPr>
          <a:xfrm>
            <a:off x="502920" y="1810512"/>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消費者余剰：消費者が「支払ってもよい」と思っていた金額（需要曲線の高さ）から、実際に支払った金額（市場価格）を差し引いた差額の合計。グラフ上では、需要曲線の下側、価格線の上側に囲まれた面積で表されます。</a:t>
            </a:r>
          </a:p>
        </p:txBody>
      </p:sp>
      <p:sp>
        <p:nvSpPr>
          <p:cNvPr id="12" name="Rounded Rectangle 11"/>
          <p:cNvSpPr/>
          <p:nvPr/>
        </p:nvSpPr>
        <p:spPr>
          <a:xfrm>
            <a:off x="502920" y="2761488"/>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60"/>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852928"/>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生産者余剰：生産者が実際に受け取った金額（市場価格）から、「これ以上安くては売りたくない」という最低ラインの金額（供給曲線の高さ、限界費用に相当）を差し引いた差額の合計。グラフ上では、供給曲線の上側、価格線の下側に囲まれた面積で表されます。</a:t>
            </a:r>
          </a:p>
        </p:txBody>
      </p:sp>
      <p:sp>
        <p:nvSpPr>
          <p:cNvPr id="15" name="Rounded Rectangle 14"/>
          <p:cNvSpPr/>
          <p:nvPr/>
        </p:nvSpPr>
        <p:spPr>
          <a:xfrm>
            <a:off x="502920" y="3712464"/>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831336"/>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803904"/>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総余剰（社会的余剰）＝消費者余剰＋生産者余剰。</a:t>
            </a:r>
          </a:p>
        </p:txBody>
      </p:sp>
      <p:sp>
        <p:nvSpPr>
          <p:cNvPr id="18" name="Rounded Rectangle 17"/>
          <p:cNvSpPr/>
          <p:nvPr/>
        </p:nvSpPr>
        <p:spPr>
          <a:xfrm>
            <a:off x="502920" y="4480560"/>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59943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572000"/>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完全競争市場において、需要と供給が均衡する価格・数量のもとで取引が行われるとき、総余剰は最大化されます。これが「市場メカニズムは資源配分上、効率的である」（A-24）とされる理論的な根拠で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A-23｜経済余剰（消費者余剰・生産者余剰）</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市場メカニズム（A-21〜A-24）｜2/2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が税金を課したり、A-24で学ぶ独占などによって取引量が本来の均衡水準より減ってしまったりすると、総余剰は本来実現できたはずの水準よりも小さくなります。この失われた余剰のことを死荷重（デッドウェイトロス、超過負担）と呼びます。</a:t>
            </a:r>
          </a:p>
        </p:txBody>
      </p:sp>
      <p:sp>
        <p:nvSpPr>
          <p:cNvPr id="9" name="Rounded Rectangle 8"/>
          <p:cNvSpPr/>
          <p:nvPr/>
        </p:nvSpPr>
        <p:spPr>
          <a:xfrm>
            <a:off x="502920" y="1993391"/>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1" name="TextBox 10"/>
          <p:cNvSpPr txBox="1"/>
          <p:nvPr/>
        </p:nvSpPr>
        <p:spPr>
          <a:xfrm>
            <a:off x="1764792" y="208483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商品に新たに物品税が課されると、税負担分だけ実質的な取引価格差が生じて取引量が減少します。消費者余剰と生産者余剰はともに減少し、その減少分の一部は政府の税収として社会に残りますが、残りの一部はどこにも帰属せず消えてしまいます。これが税による死荷重です。</a:t>
            </a:r>
          </a:p>
        </p:txBody>
      </p:sp>
      <p:sp>
        <p:nvSpPr>
          <p:cNvPr id="12" name="Rounded Rectangle 11"/>
          <p:cNvSpPr/>
          <p:nvPr/>
        </p:nvSpPr>
        <p:spPr>
          <a:xfrm>
            <a:off x="502920" y="3191256"/>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310127"/>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4" name="TextBox 13"/>
          <p:cNvSpPr txBox="1"/>
          <p:nvPr/>
        </p:nvSpPr>
        <p:spPr>
          <a:xfrm>
            <a:off x="1764792" y="328269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死荷重は「消費者余剰の減少分と生産者余剰の減少分の合計」ではなく、「消費者余剰と生産者余剰の減少分の合計から、税収などの形で社会に残った部分を差し引いた、純粋に失われた部分」である点に注意しましょう。総余剰（消費者余剰＋生産者余剰＋税収）で考える視点が必要です。</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A-24</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競争的市場の資源配分機能・市場の失敗</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パレート効率性</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）が実現するとされています。</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市場の失敗</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」と呼ばれるケースがいくつかあります。</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外部性</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ある経済主体の活動が、市場での取引（対価のやり取り）を通さずに、第三者に影響を与えること。工場の排煙による公害のように第三…</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公共財</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国防や一般道路のように、「非競合性」（誰かが消費しても他の人の消費量が減らない）と「非排除性」（対価を払わない人を利用から…</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独占・寡占</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A-31で扱う通り、少数の供給者が価格支配力を持つと、生産量が過少・価格が過大になり、総余剰が減少します。</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情報の非対称性</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A-29で扱う、取引の当事者間で保有する情報に格差があること。</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工場の排煙で近隣住民に健康被害（外部不経済）が生じている場合、政府がその工場の排出量に応じて税金（ピグー税）を課すことで、工場に排出削減のインセンティブを与え、社会的に望ましい生産量に近づけることができます。</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公共財の「非競合性」と「非排除性」は似た言葉ですが別の性質です。非競合性は「消費の際に他人と奪い合いにならないか」、非排除性は「対価を払わない人を締め出せるか」という別々の問いに対応する概念であるため、それぞ…</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A-24｜競争的市場の資源配分機能・市場の失敗</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完全競争市場（多数の売り手・買い手が存在し、誰も価格に影響を与えられず、情報が完全に行き渡っている市場）では、A-23で見たように総余剰が最大化され、資源が最も効率的に配分される状態（パレート効率性）が実現するとされています。</a:t>
            </a:r>
          </a:p>
        </p:txBody>
      </p:sp>
      <p:sp>
        <p:nvSpPr>
          <p:cNvPr id="9" name="Rounded Rectangle 8"/>
          <p:cNvSpPr/>
          <p:nvPr/>
        </p:nvSpPr>
        <p:spPr>
          <a:xfrm>
            <a:off x="502920" y="1993391"/>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しかし、現実の市場にはこの理想的な状態が実現しない「市場の失敗」と呼ばれるケースがいくつかあります。</a:t>
            </a:r>
          </a:p>
        </p:txBody>
      </p:sp>
      <p:sp>
        <p:nvSpPr>
          <p:cNvPr id="12" name="Rounded Rectangle 11"/>
          <p:cNvSpPr/>
          <p:nvPr/>
        </p:nvSpPr>
        <p:spPr>
          <a:xfrm>
            <a:off x="502920" y="2761487"/>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5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852927"/>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外部性：ある経済主体の活動が、市場での取引（対価のやり取り）を通さずに、第三者に影響を与えること。工場の排煙による公害のように第三者に悪影響を与えるものを外部不経済、養蜂業者の近くの果樹園が受粉の恩恵を受けるように良い影響を与えるものを外部経済と呼びます。外部不経済がある場合、市場に任せると社会的に望ましい水準よりも生産・消費が過大になりがちです。</a:t>
            </a:r>
          </a:p>
        </p:txBody>
      </p:sp>
      <p:sp>
        <p:nvSpPr>
          <p:cNvPr id="15" name="Rounded Rectangle 14"/>
          <p:cNvSpPr/>
          <p:nvPr/>
        </p:nvSpPr>
        <p:spPr>
          <a:xfrm>
            <a:off x="502920" y="3959352"/>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07822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05079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公共財：国防や一般道路のように、「非競合性」（誰かが消費しても他の人の消費量が減らない）と「非排除性」（対価を払わない人を利用から排除できない）という性質を持つ財。この性質のため、対価を払わずに便益だけを享受しようとする「ただ乗り（フリーライダー）」問題が生じ、民間市場だけでは十分な量が供給されにくくなります。</a:t>
            </a:r>
          </a:p>
        </p:txBody>
      </p:sp>
      <p:sp>
        <p:nvSpPr>
          <p:cNvPr id="18" name="Rounded Rectangle 17"/>
          <p:cNvSpPr/>
          <p:nvPr/>
        </p:nvSpPr>
        <p:spPr>
          <a:xfrm>
            <a:off x="502920" y="5157216"/>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52760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52486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独占・寡占：A-31で扱う通り、少数の供給者が価格支配力を持つと、生産量が過少・価格が過大になり、総余剰が減少します。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A-24｜競争的市場の資源配分機能・市場の失敗</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市場メカニズム（A-21〜A-24）｜2/2</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情報の非対称性：A-29で扱う、取引の当事者間で保有する情報に格差があること。</a:t>
            </a:r>
          </a:p>
        </p:txBody>
      </p:sp>
      <p:sp>
        <p:nvSpPr>
          <p:cNvPr id="9" name="Rounded Rectangle 8"/>
          <p:cNvSpPr/>
          <p:nvPr/>
        </p:nvSpPr>
        <p:spPr>
          <a:xfrm>
            <a:off x="502920" y="1810512"/>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市場の失敗に対する代表的な政策対応には、外部不経済を発生させる活動に課税してその活動を抑制するピグー税（環境税など）や、外部経済がある活動に対する補助金があります。また、当事者間で交渉のコストがかからず、権利関係が明確であれば、政府が介入しなくても当事者同士の自発的な交渉によって外部性の問題が解決されうる、とするコースの定理という考え方もあります。</a:t>
            </a:r>
          </a:p>
        </p:txBody>
      </p:sp>
      <p:sp>
        <p:nvSpPr>
          <p:cNvPr id="12" name="Rounded Rectangle 11"/>
          <p:cNvSpPr/>
          <p:nvPr/>
        </p:nvSpPr>
        <p:spPr>
          <a:xfrm>
            <a:off x="502920" y="3008376"/>
            <a:ext cx="11183112" cy="841248"/>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12724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4" name="TextBox 13"/>
          <p:cNvSpPr txBox="1"/>
          <p:nvPr/>
        </p:nvSpPr>
        <p:spPr>
          <a:xfrm>
            <a:off x="1764792" y="309981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工場の排煙で近隣住民に健康被害（外部不経済）が生じている場合、政府がその工場の排出量に応じて税金（ピグー税）を課すことで、工場に排出削減のインセンティブを与え、社会的に望ましい生産量に近づけることができます。</a:t>
            </a:r>
          </a:p>
        </p:txBody>
      </p:sp>
      <p:sp>
        <p:nvSpPr>
          <p:cNvPr id="15" name="Rounded Rectangle 14"/>
          <p:cNvSpPr/>
          <p:nvPr/>
        </p:nvSpPr>
        <p:spPr>
          <a:xfrm>
            <a:off x="502920" y="3959352"/>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078224"/>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7" name="TextBox 16"/>
          <p:cNvSpPr txBox="1"/>
          <p:nvPr/>
        </p:nvSpPr>
        <p:spPr>
          <a:xfrm>
            <a:off x="1764792" y="405079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公共財の「非競合性」と「非排除性」は似た言葉ですが別の性質です。非競合性は「消費の際に他人と奪い合いにならないか」、非排除性は「対価を払わない人を締め出せるか」という別々の問いに対応する概念であるため、それぞれの定義を正確に区別して覚えましょう。</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06</a:t>
            </a:r>
          </a:p>
        </p:txBody>
      </p:sp>
      <p:sp>
        <p:nvSpPr>
          <p:cNvPr id="5" name="TextBox 4"/>
          <p:cNvSpPr txBox="1"/>
          <p:nvPr/>
        </p:nvSpPr>
        <p:spPr>
          <a:xfrm>
            <a:off x="1188720" y="1993392"/>
            <a:ext cx="9784080" cy="96012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消費と生産の理論</a:t>
            </a:r>
          </a:p>
        </p:txBody>
      </p:sp>
      <p:sp>
        <p:nvSpPr>
          <p:cNvPr id="6" name="TextBox 5"/>
          <p:cNvSpPr txBox="1"/>
          <p:nvPr/>
        </p:nvSpPr>
        <p:spPr>
          <a:xfrm>
            <a:off x="1234440" y="3017520"/>
            <a:ext cx="9720072" cy="1005840"/>
          </a:xfrm>
          <a:prstGeom prst="rect">
            <a:avLst/>
          </a:prstGeom>
          <a:noFill/>
        </p:spPr>
        <p:txBody>
          <a:bodyPr wrap="square" tIns="91440" bIns="91440" anchor="ctr">
            <a:spAutoFit/>
          </a:bodyPr>
          <a:lstStyle/>
          <a:p>
            <a:pPr algn="ctr">
              <a:spcAft>
                <a:spcPts val="0"/>
              </a:spcAft>
            </a:pPr>
            <a:r>
              <a:rPr sz="1400" b="0">
                <a:solidFill>
                  <a:srgbClr val="667085"/>
                </a:solidFill>
                <a:latin typeface="WenQuanYi Micro Hei"/>
              </a:rPr>
              <a:t>第6部は、市場に登場する「消費者」と「企業」それぞれの内部の意思決定メカニズムを扱うミクロ経済学の基礎理論です。グラフ・数式が多く登場しますが、いずれも「何を最大化しようとしているか」という視点で読み解くと理解しやすくなります。</a:t>
            </a:r>
          </a:p>
        </p:txBody>
      </p:sp>
      <p:sp>
        <p:nvSpPr>
          <p:cNvPr id="7" name="Rounded Rectangle 6"/>
          <p:cNvSpPr/>
          <p:nvPr/>
        </p:nvSpPr>
        <p:spPr>
          <a:xfrm>
            <a:off x="4261104" y="4315968"/>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4 論点</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A-25</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効用理論・予算制約と消費者行動</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効用</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）が最大になるようにモノやサービスの購入量を決めている、と考えるのが消費者理論の出発点です。</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無差別曲線</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と呼びます。無差別曲線は通常、原点に対して凸型の右下がりの曲線として描かれ、原点から遠いほど（右上にあるほど）効用水準が高…</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限界代替率（MRS）</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と呼びます。これは「X財を1単位多く消費する代わりに、同じ効用水準を保つためにY財をどれだけ手放してもよいか」という交換比…</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予算制約線</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上（またはそれより内側）に限られます。</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限界代替率＝価格比（P_X / P_Y）</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が成り立つ点）が、効用を最大化する消費者の最適な購入量の組み合わせ（消費者均衡）になります。</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消費者</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限られた所得（予算）の中で、自分の満足度（効用）が最大になるようにモノやサービスの購入量を決めている、と考えるのが消費…</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ある人が月々のお小遣いの中で、コーヒーとパンをどう買うか考えるとき、コーヒーを1杯増やす代わりにパンを何個まで我慢できるか（限界代替率）と、実際の価格比（コーヒー1杯の値段÷パン1個の値段）が一致するところで…</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限界代替率逓減の法則は「1つの財を持てば持つほど、その財1単位を追加で得ることの価値（他の財で言えば手放してもよい量）が小さくなっていく」という考え方です。これを「限界効用逓減の法則」（1つの財の消費量が増え…</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A-25｜効用理論・予算制約と消費者行動</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消費者は、限られた所得（予算）の中で、自分の満足度（効用）が最大になるようにモノやサービスの購入量を決めている、と考えるのが消費者理論の出発点です。</a:t>
            </a:r>
          </a:p>
        </p:txBody>
      </p:sp>
      <p:sp>
        <p:nvSpPr>
          <p:cNvPr id="9" name="Rounded Rectangle 8"/>
          <p:cNvSpPr/>
          <p:nvPr/>
        </p:nvSpPr>
        <p:spPr>
          <a:xfrm>
            <a:off x="502920" y="1993391"/>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2つの財（X財、Y財）を考えるとき、消費者が「同じ満足度が得られる」X財とY財の組み合わせを線で結んだものを無差別曲線と呼びます。無差別曲線は通常、原点に対して凸型の右下がりの曲線として描かれ、原点から遠いほど（右上にあるほど）効用水準が高いことを示します。</a:t>
            </a:r>
          </a:p>
        </p:txBody>
      </p:sp>
      <p:sp>
        <p:nvSpPr>
          <p:cNvPr id="12" name="Rounded Rectangle 11"/>
          <p:cNvSpPr/>
          <p:nvPr/>
        </p:nvSpPr>
        <p:spPr>
          <a:xfrm>
            <a:off x="502920" y="3191256"/>
            <a:ext cx="11183112" cy="1335024"/>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310127"/>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282696"/>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無差別曲線の傾きの大きさを限界代替率（MRS）と呼びます。これは「X財を1単位多く消費する代わりに、同じ効用水準を保つためにY財をどれだけ手放してもよいか」という交換比率です。通常、X財をすでにたくさん持っている状態からさらにX財を増やそうとするほど、手放してもよいY財の量は小さくなっていきます（限界代替率逓減の法則）。これが無差別曲線が原点に対して凸型（内側に膨らんだ形）になる理由です。</a:t>
            </a:r>
          </a:p>
        </p:txBody>
      </p:sp>
      <p:sp>
        <p:nvSpPr>
          <p:cNvPr id="15" name="Rounded Rectangle 14"/>
          <p:cNvSpPr/>
          <p:nvPr/>
        </p:nvSpPr>
        <p:spPr>
          <a:xfrm>
            <a:off x="502920" y="4636008"/>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754880"/>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727448"/>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一方、消費者が使える予算には限りがあります。所得をM、X財の価格をP_X、Y財の価格をP_Yとすると、消費者が購入できるX財・Y財の組み合わせは次の予算制約線上（またはそれより内側）に限られます。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A-25｜効用理論・予算制約と消費者行動</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消費と生産の理論（A-25〜A-28）｜2/2</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P_X \cdot X + P_Y \cdot Y = M</a:t>
            </a:r>
          </a:p>
        </p:txBody>
      </p:sp>
      <p:sp>
        <p:nvSpPr>
          <p:cNvPr id="9" name="Rounded Rectangle 8"/>
          <p:cNvSpPr/>
          <p:nvPr/>
        </p:nvSpPr>
        <p:spPr>
          <a:xfrm>
            <a:off x="502920" y="1810512"/>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消費者は、この予算制約線の範囲内で、できるだけ効用の高い（右上の）無差別曲線に到達しようとします。両者が接する点（無差別曲線の傾き＝予算制約線の傾き、すなわち限界代替率＝価格比（P_X / P_Y）が成り立つ点）が、効用を最大化する消費者の最適な購入量の組み合わせ（消費者均衡）になります。</a:t>
            </a:r>
          </a:p>
        </p:txBody>
      </p:sp>
      <p:sp>
        <p:nvSpPr>
          <p:cNvPr id="12" name="Rounded Rectangle 11"/>
          <p:cNvSpPr/>
          <p:nvPr/>
        </p:nvSpPr>
        <p:spPr>
          <a:xfrm>
            <a:off x="502920" y="3008376"/>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12724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4" name="TextBox 13"/>
          <p:cNvSpPr txBox="1"/>
          <p:nvPr/>
        </p:nvSpPr>
        <p:spPr>
          <a:xfrm>
            <a:off x="1764792" y="309981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人が月々のお小遣いの中で、コーヒーとパンをどう買うか考えるとき、コーヒーを1杯増やす代わりにパンを何個まで我慢できるか（限界代替率）と、実際の価格比（コーヒー1杯の値段÷パン1個の値段）が一致するところで、この人にとって最も満足度の高い買い方が決まります。</a:t>
            </a:r>
          </a:p>
        </p:txBody>
      </p:sp>
      <p:sp>
        <p:nvSpPr>
          <p:cNvPr id="15" name="Rounded Rectangle 14"/>
          <p:cNvSpPr/>
          <p:nvPr/>
        </p:nvSpPr>
        <p:spPr>
          <a:xfrm>
            <a:off x="502920" y="4206240"/>
            <a:ext cx="11183112" cy="1335024"/>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325112"/>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7" name="TextBox 16"/>
          <p:cNvSpPr txBox="1"/>
          <p:nvPr/>
        </p:nvSpPr>
        <p:spPr>
          <a:xfrm>
            <a:off x="1764792" y="4297679"/>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限界代替率逓減の法則は「1つの財を持てば持つほど、その財1単位を追加で得ることの価値（他の財で言えば手放してもよい量）が小さくなっていく」という考え方です。これを「限界効用逓減の法則」（1つの財の消費量が増えるほど、その財自体から得られる追加的な満足度＝限界効用が小さくなっていく、という別の法則）と混同しないよう注意しましょう。両者は関連していますが別の概念で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A-26</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需要曲線の導出</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上級財（正常財）</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所得が増えると需要量も増える通常の財 / 代替効果・所得効果とも需要量を増やす方向 → 需要曲線は右下がり</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下級財（劣等財）</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所得が増えるとかえって需要量が減る財（例：発泡酒のような節約志向の財） / 代替効果は需要量を増やすが、所得効果はそれを打…</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ギッフェン財</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下級財の中でも特殊な例外で、所得効果が代替効果を上回ってしまう財 / 価格が下がるとかえって需要量が減少する（右上がりの「…</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需要曲線</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（価格と需要量の関係を示す曲線）を導くことができます。</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代替効果</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ある財の価格が下がると、他の財に比べて相対的に割安になるため、その財をより多く購入しようとする効果。価格下落に対して、代替…</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所得効果</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価格が下がると、同じ予算でより多くのモノが買えるようになる（実質的な購買力が上がる）ため、消費行動が変化する効果。所得効果…</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所得が上がるにつれて食べる量が減っていく「下級財」の代表例としてしばしば挙げられるのが、より高価なブランド米に切り替えるために消費が減る「格安な代替米」のような財です。ただし、通常の下級財では価格が下がれば需…</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下級財であれば、価格が下がったときに必ず需要量が減少する（右上がりの需要曲線になる）」という記述は誤りです。下級財であっても、通常は代替効果が所得効果を上回るため需要曲線は右下がりのままであり、代替効果を所…</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A-26｜需要曲線の導出</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消費と生産の理論（A-25〜A-28）｜1/3</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A-25の消費者均衡の考え方をもとに、ある財の価格を変化させたときに消費者の最適な購入量がどう変化するかを追跡すると、需要曲線（価格と需要量の関係を示す曲線）を導くことができます。</a:t>
            </a:r>
          </a:p>
        </p:txBody>
      </p:sp>
      <p:sp>
        <p:nvSpPr>
          <p:cNvPr id="9" name="Rounded Rectangle 8"/>
          <p:cNvSpPr/>
          <p:nvPr/>
        </p:nvSpPr>
        <p:spPr>
          <a:xfrm>
            <a:off x="502920" y="1993391"/>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価格が変化したときの需要量の変化は、理論上2つの効果に分解できます。</a:t>
            </a:r>
          </a:p>
        </p:txBody>
      </p:sp>
      <p:sp>
        <p:nvSpPr>
          <p:cNvPr id="12" name="Rounded Rectangle 11"/>
          <p:cNvSpPr/>
          <p:nvPr/>
        </p:nvSpPr>
        <p:spPr>
          <a:xfrm>
            <a:off x="502920" y="2761487"/>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5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852927"/>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代替効果：ある財の価格が下がると、他の財に比べて相対的に割安になるため、その財をより多く購入しようとする効果。価格下落に対して、代替効果は必ず「需要量を増やす」方向に働きます。</a:t>
            </a:r>
          </a:p>
        </p:txBody>
      </p:sp>
      <p:sp>
        <p:nvSpPr>
          <p:cNvPr id="15" name="Rounded Rectangle 14"/>
          <p:cNvSpPr/>
          <p:nvPr/>
        </p:nvSpPr>
        <p:spPr>
          <a:xfrm>
            <a:off x="502920" y="3712463"/>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831335"/>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803903"/>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所得効果：価格が下がると、同じ予算でより多くのモノが買えるようになる（実質的な購買力が上がる）ため、消費行動が変化する効果。所得効果の方向は、その財が「上級財」か「下級財」かによって異なります。</a:t>
            </a:r>
          </a:p>
        </p:txBody>
      </p:sp>
      <p:sp>
        <p:nvSpPr>
          <p:cNvPr id="18" name="Rounded Rectangle 17"/>
          <p:cNvSpPr/>
          <p:nvPr/>
        </p:nvSpPr>
        <p:spPr>
          <a:xfrm>
            <a:off x="502920" y="4663440"/>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782312"/>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754879"/>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財の分類も重要です。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A-26｜需要曲線の導出</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消費と生産の理論（A-25〜A-28）｜2/3</a:t>
            </a:r>
          </a:p>
        </p:txBody>
      </p:sp>
      <p:sp>
        <p:nvSpPr>
          <p:cNvPr id="6" name="Rounded Rectangle 5"/>
          <p:cNvSpPr/>
          <p:nvPr/>
        </p:nvSpPr>
        <p:spPr>
          <a:xfrm>
            <a:off x="502920" y="1042415"/>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財の種類 ｜ 定義 ｜ 価格下落時の需要量の動き</a:t>
            </a:r>
          </a:p>
        </p:txBody>
      </p:sp>
      <p:sp>
        <p:nvSpPr>
          <p:cNvPr id="9" name="Rounded Rectangle 8"/>
          <p:cNvSpPr/>
          <p:nvPr/>
        </p:nvSpPr>
        <p:spPr>
          <a:xfrm>
            <a:off x="502920" y="1810512"/>
            <a:ext cx="11183112" cy="84124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4"/>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1" name="TextBox 10"/>
          <p:cNvSpPr txBox="1"/>
          <p:nvPr/>
        </p:nvSpPr>
        <p:spPr>
          <a:xfrm>
            <a:off x="1764792" y="1901952"/>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上級財（正常財） ｜ 所得が増えると需要量も増える通常の財 ｜ 代替効果・所得効果とも需要量を増やす方向 → 需要曲線は右下がり</a:t>
            </a:r>
          </a:p>
        </p:txBody>
      </p:sp>
      <p:sp>
        <p:nvSpPr>
          <p:cNvPr id="12" name="Rounded Rectangle 11"/>
          <p:cNvSpPr/>
          <p:nvPr/>
        </p:nvSpPr>
        <p:spPr>
          <a:xfrm>
            <a:off x="502920" y="2761488"/>
            <a:ext cx="11183112" cy="84124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60"/>
            <a:ext cx="987552" cy="420624"/>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4" name="TextBox 13"/>
          <p:cNvSpPr txBox="1"/>
          <p:nvPr/>
        </p:nvSpPr>
        <p:spPr>
          <a:xfrm>
            <a:off x="1764792" y="2852928"/>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下級財（劣等財） ｜ 所得が増えるとかえって需要量が減る財（例：発泡酒のような節約志向の財） ｜ 代替効果は需要量を増やすが、所得効果はそれを打ち消す方向 → 通常は代替効果が上回り、やはり需要曲線は右下がり</a:t>
            </a:r>
          </a:p>
        </p:txBody>
      </p:sp>
      <p:sp>
        <p:nvSpPr>
          <p:cNvPr id="15" name="Rounded Rectangle 14"/>
          <p:cNvSpPr/>
          <p:nvPr/>
        </p:nvSpPr>
        <p:spPr>
          <a:xfrm>
            <a:off x="502920" y="3712464"/>
            <a:ext cx="11183112" cy="84124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831336"/>
            <a:ext cx="987552" cy="420624"/>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7" name="TextBox 16"/>
          <p:cNvSpPr txBox="1"/>
          <p:nvPr/>
        </p:nvSpPr>
        <p:spPr>
          <a:xfrm>
            <a:off x="1764792" y="3803904"/>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ギッフェン財 ｜ 下級財の中でも特殊な例外で、所得効果が代替効果を上回ってしまう財 ｜ 価格が下がるとかえって需要量が減少する（右上がりの「需要曲線」になる）</a:t>
            </a:r>
          </a:p>
        </p:txBody>
      </p:sp>
      <p:sp>
        <p:nvSpPr>
          <p:cNvPr id="18" name="Rounded Rectangle 17"/>
          <p:cNvSpPr/>
          <p:nvPr/>
        </p:nvSpPr>
        <p:spPr>
          <a:xfrm>
            <a:off x="502920" y="4663440"/>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782312"/>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20" name="TextBox 19"/>
          <p:cNvSpPr txBox="1"/>
          <p:nvPr/>
        </p:nvSpPr>
        <p:spPr>
          <a:xfrm>
            <a:off x="1764792" y="475488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所得が上がるにつれて食べる量が減っていく「下級財」の代表例としてしばしば挙げられるのが、より高価なブランド米に切り替えるために消費が減る「格安な代替米」のような財です。ただし、通常の下級財では価格が下がれば需要量はやはり増加するのが一般的で、ギッフェン財（価格下落で需要量が減る）は理論上の極めて例外的なケースとして紹介されるにとどまり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A-26｜需要曲線の導出</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消費と生産の理論（A-25〜A-28）｜3/3</a:t>
            </a:r>
          </a:p>
        </p:txBody>
      </p:sp>
      <p:sp>
        <p:nvSpPr>
          <p:cNvPr id="6" name="Rounded Rectangle 5"/>
          <p:cNvSpPr/>
          <p:nvPr/>
        </p:nvSpPr>
        <p:spPr>
          <a:xfrm>
            <a:off x="502920" y="1042415"/>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下級財であれば、価格が下がったときに必ず需要量が減少する（右上がりの需要曲線になる）」という記述は誤りです。下級財であっても、通常は代替効果が所得効果を上回るため需要曲線は右下がりのままであり、代替効果を所得効果が上回る特殊な例外だけが「ギッフェン財」と呼ばれます。「下級財＝ギッフェン財」ではない点に注意してください。</a:t>
            </a:r>
          </a:p>
        </p:txBody>
      </p:sp>
      <p:sp>
        <p:nvSpPr>
          <p:cNvPr id="9" name="Rectangle 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1" name="TextBox 1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A-27</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生産関数・費用関数</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a:t>
            </a:r>
          </a:p>
        </p:txBody>
      </p:sp>
      <p:graphicFrame>
        <p:nvGraphicFramePr>
          <p:cNvPr id="6" name="Table 5"/>
          <p:cNvGraphicFramePr>
            <a:graphicFrameLocks noGrp="1"/>
          </p:cNvGraphicFramePr>
          <p:nvPr/>
        </p:nvGraphicFramePr>
        <p:xfrm>
          <a:off x="594360" y="1115568"/>
          <a:ext cx="11000232" cy="3931920"/>
        </p:xfrm>
        <a:graphic>
          <a:graphicData uri="http://schemas.openxmlformats.org/drawingml/2006/table">
            <a:tbl>
              <a:tblPr firstRow="1" bandRow="1">
                <a:tableStyleId>{5C22544A-7EE6-4342-B048-85BDC9FD1C3A}</a:tableStyleId>
              </a:tblPr>
              <a:tblGrid>
                <a:gridCol w="5500116"/>
                <a:gridCol w="5500116"/>
              </a:tblGrid>
              <a:tr h="786384">
                <a:tc>
                  <a:txBody>
                    <a:bodyPr wrap="square" lIns="54864" rIns="54864" tIns="54864" bIns="54864" anchor="ctr"/>
                    <a:lstStyle/>
                    <a:p>
                      <a:pPr algn="ctr">
                        <a:spcAft>
                          <a:spcPts val="0"/>
                        </a:spcAft>
                      </a:pPr>
                      <a:r>
                        <a:rPr sz="1150" b="1">
                          <a:solidFill>
                            <a:srgbClr val="FFFFFF"/>
                          </a:solidFill>
                          <a:latin typeface="WenQuanYi Micro Hei"/>
                        </a:rPr>
                        <a:t>費用の種類</a:t>
                      </a:r>
                    </a:p>
                  </a:txBody>
                  <a:tcPr marL="73152" marR="73152">
                    <a:solidFill>
                      <a:srgbClr val="4F46E5"/>
                    </a:solidFill>
                  </a:tcPr>
                </a:tc>
                <a:tc>
                  <a:txBody>
                    <a:bodyPr wrap="square" lIns="54864" rIns="54864" tIns="54864" bIns="54864" anchor="ctr"/>
                    <a:lstStyle/>
                    <a:p>
                      <a:pPr algn="ctr">
                        <a:spcAft>
                          <a:spcPts val="0"/>
                        </a:spcAft>
                      </a:pPr>
                      <a:r>
                        <a:rPr sz="1150" b="1">
                          <a:solidFill>
                            <a:srgbClr val="FFFFFF"/>
                          </a:solidFill>
                          <a:latin typeface="WenQuanYi Micro Hei"/>
                        </a:rPr>
                        <a:t>定義</a:t>
                      </a:r>
                    </a:p>
                  </a:txBody>
                  <a:tcPr marL="73152" marR="73152">
                    <a:solidFill>
                      <a:srgbClr val="4F46E5"/>
                    </a:solidFill>
                  </a:tcPr>
                </a:tc>
              </a:tr>
              <a:tr h="786384">
                <a:tc>
                  <a:txBody>
                    <a:bodyPr wrap="square" lIns="54864" rIns="54864" tIns="54864" bIns="54864" anchor="ctr"/>
                    <a:lstStyle/>
                    <a:p>
                      <a:pPr algn="ctr">
                        <a:spcAft>
                          <a:spcPts val="0"/>
                        </a:spcAft>
                      </a:pPr>
                      <a:r>
                        <a:rPr sz="1150" b="1">
                          <a:solidFill>
                            <a:srgbClr val="172033"/>
                          </a:solidFill>
                          <a:latin typeface="WenQuanYi Micro Hei"/>
                        </a:rPr>
                        <a:t>総費用（TC）</a:t>
                      </a:r>
                    </a:p>
                  </a:txBody>
                  <a:tcPr marL="73152" marR="73152">
                    <a:solidFill>
                      <a:srgbClr val="EEF2FF"/>
                    </a:solidFill>
                  </a:tcPr>
                </a:tc>
                <a:tc>
                  <a:txBody>
                    <a:bodyPr wrap="square" lIns="54864" rIns="54864" tIns="54864" bIns="54864" anchor="ctr"/>
                    <a:lstStyle/>
                    <a:p>
                      <a:pPr algn="ctr">
                        <a:spcAft>
                          <a:spcPts val="0"/>
                        </a:spcAft>
                      </a:pPr>
                      <a:r>
                        <a:rPr sz="1150" b="0">
                          <a:solidFill>
                            <a:srgbClr val="172033"/>
                          </a:solidFill>
                          <a:latin typeface="WenQuanYi Micro Hei"/>
                        </a:rPr>
                        <a:t>固定費用＋可変費用</a:t>
                      </a:r>
                    </a:p>
                  </a:txBody>
                  <a:tcPr marL="73152" marR="73152">
                    <a:solidFill>
                      <a:srgbClr val="EEF2FF"/>
                    </a:solidFill>
                  </a:tcPr>
                </a:tc>
              </a:tr>
              <a:tr h="786384">
                <a:tc>
                  <a:txBody>
                    <a:bodyPr wrap="square" lIns="54864" rIns="54864" tIns="54864" bIns="54864" anchor="ctr"/>
                    <a:lstStyle/>
                    <a:p>
                      <a:pPr algn="ctr">
                        <a:spcAft>
                          <a:spcPts val="0"/>
                        </a:spcAft>
                      </a:pPr>
                      <a:r>
                        <a:rPr sz="1150" b="1">
                          <a:solidFill>
                            <a:srgbClr val="172033"/>
                          </a:solidFill>
                          <a:latin typeface="WenQuanYi Micro Hei"/>
                        </a:rPr>
                        <a:t>平均費用（AC）</a:t>
                      </a:r>
                    </a:p>
                  </a:txBody>
                  <a:tcPr marL="73152" marR="73152">
                    <a:solidFill>
                      <a:srgbClr val="FFFFFF"/>
                    </a:solidFill>
                  </a:tcPr>
                </a:tc>
                <a:tc>
                  <a:txBody>
                    <a:bodyPr wrap="square" lIns="54864" rIns="54864" tIns="54864" bIns="54864" anchor="ctr"/>
                    <a:lstStyle/>
                    <a:p>
                      <a:pPr algn="ctr">
                        <a:spcAft>
                          <a:spcPts val="0"/>
                        </a:spcAft>
                      </a:pPr>
                      <a:r>
                        <a:rPr sz="1150" b="0">
                          <a:solidFill>
                            <a:srgbClr val="172033"/>
                          </a:solidFill>
                          <a:latin typeface="WenQuanYi Micro Hei"/>
                        </a:rPr>
                        <a:t>総費用÷生産量（1単位あたりの総費用）</a:t>
                      </a:r>
                    </a:p>
                  </a:txBody>
                  <a:tcPr marL="73152" marR="73152">
                    <a:solidFill>
                      <a:srgbClr val="FFFFFF"/>
                    </a:solidFill>
                  </a:tcPr>
                </a:tc>
              </a:tr>
              <a:tr h="786384">
                <a:tc>
                  <a:txBody>
                    <a:bodyPr wrap="square" lIns="54864" rIns="54864" tIns="54864" bIns="54864" anchor="ctr"/>
                    <a:lstStyle/>
                    <a:p>
                      <a:pPr algn="ctr">
                        <a:spcAft>
                          <a:spcPts val="0"/>
                        </a:spcAft>
                      </a:pPr>
                      <a:r>
                        <a:rPr sz="1150" b="1">
                          <a:solidFill>
                            <a:srgbClr val="172033"/>
                          </a:solidFill>
                          <a:latin typeface="WenQuanYi Micro Hei"/>
                        </a:rPr>
                        <a:t>平均可変費用（AVC）</a:t>
                      </a:r>
                    </a:p>
                  </a:txBody>
                  <a:tcPr marL="73152" marR="73152">
                    <a:solidFill>
                      <a:srgbClr val="EEF2FF"/>
                    </a:solidFill>
                  </a:tcPr>
                </a:tc>
                <a:tc>
                  <a:txBody>
                    <a:bodyPr wrap="square" lIns="54864" rIns="54864" tIns="54864" bIns="54864" anchor="ctr"/>
                    <a:lstStyle/>
                    <a:p>
                      <a:pPr algn="ctr">
                        <a:spcAft>
                          <a:spcPts val="0"/>
                        </a:spcAft>
                      </a:pPr>
                      <a:r>
                        <a:rPr sz="1150" b="0">
                          <a:solidFill>
                            <a:srgbClr val="172033"/>
                          </a:solidFill>
                          <a:latin typeface="WenQuanYi Micro Hei"/>
                        </a:rPr>
                        <a:t>可変費用÷生産量</a:t>
                      </a:r>
                    </a:p>
                  </a:txBody>
                  <a:tcPr marL="73152" marR="73152">
                    <a:solidFill>
                      <a:srgbClr val="EEF2FF"/>
                    </a:solidFill>
                  </a:tcPr>
                </a:tc>
              </a:tr>
              <a:tr h="786384">
                <a:tc>
                  <a:txBody>
                    <a:bodyPr wrap="square" lIns="54864" rIns="54864" tIns="54864" bIns="54864" anchor="ctr"/>
                    <a:lstStyle/>
                    <a:p>
                      <a:pPr algn="ctr">
                        <a:spcAft>
                          <a:spcPts val="0"/>
                        </a:spcAft>
                      </a:pPr>
                      <a:r>
                        <a:rPr sz="1150" b="1">
                          <a:solidFill>
                            <a:srgbClr val="172033"/>
                          </a:solidFill>
                          <a:latin typeface="WenQuanYi Micro Hei"/>
                        </a:rPr>
                        <a:t>限界費用（MC）</a:t>
                      </a:r>
                    </a:p>
                  </a:txBody>
                  <a:tcPr marL="73152" marR="73152">
                    <a:solidFill>
                      <a:srgbClr val="FFFFFF"/>
                    </a:solidFill>
                  </a:tcPr>
                </a:tc>
                <a:tc>
                  <a:txBody>
                    <a:bodyPr wrap="square" lIns="54864" rIns="54864" tIns="54864" bIns="54864" anchor="ctr"/>
                    <a:lstStyle/>
                    <a:p>
                      <a:pPr algn="ctr">
                        <a:spcAft>
                          <a:spcPts val="0"/>
                        </a:spcAft>
                      </a:pPr>
                      <a:r>
                        <a:rPr sz="1150" b="0">
                          <a:solidFill>
                            <a:srgbClr val="172033"/>
                          </a:solidFill>
                          <a:latin typeface="WenQuanYi Micro Hei"/>
                        </a:rPr>
                        <a:t>生産量を1単位追加的に増やすときに必要な追加的な費用</a:t>
                      </a:r>
                    </a:p>
                  </a:txBody>
                  <a:tcPr marL="73152" marR="73152">
                    <a:solidFill>
                      <a:srgbClr val="FFFFFF"/>
                    </a:solidFill>
                  </a:tcPr>
                </a:tc>
              </a:tr>
            </a:tbl>
          </a:graphicData>
        </a:graphic>
      </p:graphicFrame>
      <p:sp>
        <p:nvSpPr>
          <p:cNvPr id="7" name="Rounded Rectangle 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パン屋がオーブン（資本）の台数を変えずにアルバイト（労働）の人数だけを増やしていくと、当初は効率よく生産量が増えますが、やがてオーブンの数がボトルネックとなり、アルバイトを増やしても1人あたりの生産量の伸びは…</a:t>
            </a:r>
          </a:p>
        </p:txBody>
      </p:sp>
      <p:sp>
        <p:nvSpPr>
          <p:cNvPr id="8" name="Rounded Rectangle 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固定費用は「生産量がゼロであっても発生する費用」であり、生産量に応じて金額が変わりません。「固定費用も生産量に応じて増減する」という記述は誤りです。また、平均費用（AC）と限界費用（MC）の関係として、限界費…</a:t>
            </a:r>
          </a:p>
        </p:txBody>
      </p:sp>
      <p:sp>
        <p:nvSpPr>
          <p:cNvPr id="9" name="Rectangle 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1" name="TextBox 1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A-27｜生産関数・費用関数</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消費と生産の理論（A-25〜A-28）｜1/3</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企業は、労働（L）や資本（K）といった生産要素を投入して製品を生産します。この投入量と生産量の関係を表したものが生産関数です。</a:t>
            </a:r>
          </a:p>
        </p:txBody>
      </p:sp>
      <p:sp>
        <p:nvSpPr>
          <p:cNvPr id="9" name="Rounded Rectangle 8"/>
          <p:cNvSpPr/>
          <p:nvPr/>
        </p:nvSpPr>
        <p:spPr>
          <a:xfrm>
            <a:off x="502920" y="1993391"/>
            <a:ext cx="11183112" cy="1335024"/>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短期（少なくとも1つの生産要素、通常は資本Kが固定されている期間）において、労働の投入量を増やしていくと、当初は生産量が加速度的に増えますが、やがて労働を追加しても得られる生産量の増加分がだんだん小さくなっていきます。これを限界生産力逓減の法則と呼びます（工場の機械の台数が変わらないまま作業員だけを増やしても、混雑によって1人あたりの追加的な生産効果は徐々に小さくなっていく、とイメージすると分かりやすいでしょう）。</a:t>
            </a:r>
          </a:p>
        </p:txBody>
      </p:sp>
      <p:sp>
        <p:nvSpPr>
          <p:cNvPr id="12" name="Rounded Rectangle 11"/>
          <p:cNvSpPr/>
          <p:nvPr/>
        </p:nvSpPr>
        <p:spPr>
          <a:xfrm>
            <a:off x="502920" y="3438144"/>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557015"/>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529584"/>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企業の費用は、生産量に関わらず発生する固定費用（工場の賃料、機械の減価償却費など）と、生産量に応じて増減する可変費用（原材料費、残業代など）に分けられます。</a:t>
            </a:r>
          </a:p>
        </p:txBody>
      </p:sp>
      <p:sp>
        <p:nvSpPr>
          <p:cNvPr id="15" name="Rounded Rectangle 14"/>
          <p:cNvSpPr/>
          <p:nvPr/>
        </p:nvSpPr>
        <p:spPr>
          <a:xfrm>
            <a:off x="502920" y="4389120"/>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507992"/>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7" name="TextBox 16"/>
          <p:cNvSpPr txBox="1"/>
          <p:nvPr/>
        </p:nvSpPr>
        <p:spPr>
          <a:xfrm>
            <a:off x="1764792" y="4480559"/>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費用の種類 ｜ 定義</a:t>
            </a:r>
          </a:p>
        </p:txBody>
      </p:sp>
      <p:sp>
        <p:nvSpPr>
          <p:cNvPr id="18" name="Rounded Rectangle 17"/>
          <p:cNvSpPr/>
          <p:nvPr/>
        </p:nvSpPr>
        <p:spPr>
          <a:xfrm>
            <a:off x="502920" y="5157216"/>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5276088"/>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20" name="TextBox 19"/>
          <p:cNvSpPr txBox="1"/>
          <p:nvPr/>
        </p:nvSpPr>
        <p:spPr>
          <a:xfrm>
            <a:off x="1764792" y="5248655"/>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総費用（TC） ｜ 固定費用＋可変費用</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A-27｜生産関数・費用関数</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消費と生産の理論（A-25〜A-28）｜2/3</a:t>
            </a:r>
          </a:p>
        </p:txBody>
      </p:sp>
      <p:sp>
        <p:nvSpPr>
          <p:cNvPr id="6" name="Rounded Rectangle 5"/>
          <p:cNvSpPr/>
          <p:nvPr/>
        </p:nvSpPr>
        <p:spPr>
          <a:xfrm>
            <a:off x="502920" y="1042415"/>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平均費用（AC） ｜ 総費用÷生産量（1単位あたりの総費用）</a:t>
            </a:r>
          </a:p>
        </p:txBody>
      </p:sp>
      <p:sp>
        <p:nvSpPr>
          <p:cNvPr id="9" name="Rounded Rectangle 8"/>
          <p:cNvSpPr/>
          <p:nvPr/>
        </p:nvSpPr>
        <p:spPr>
          <a:xfrm>
            <a:off x="502920" y="1810512"/>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1" name="TextBox 10"/>
          <p:cNvSpPr txBox="1"/>
          <p:nvPr/>
        </p:nvSpPr>
        <p:spPr>
          <a:xfrm>
            <a:off x="1764792" y="1901952"/>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平均可変費用（AVC） ｜ 可変費用÷生産量</a:t>
            </a:r>
          </a:p>
        </p:txBody>
      </p:sp>
      <p:sp>
        <p:nvSpPr>
          <p:cNvPr id="12" name="Rounded Rectangle 11"/>
          <p:cNvSpPr/>
          <p:nvPr/>
        </p:nvSpPr>
        <p:spPr>
          <a:xfrm>
            <a:off x="502920" y="2578608"/>
            <a:ext cx="11183112" cy="658368"/>
          </a:xfrm>
          <a:prstGeom prst="roundRect">
            <a:avLst/>
          </a:prstGeom>
          <a:solidFill>
            <a:srgbClr val="F5F3FF"/>
          </a:solidFill>
          <a:ln w="12700">
            <a:solidFill>
              <a:srgbClr val="BAA2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697479"/>
            <a:ext cx="987552" cy="420623"/>
          </a:xfrm>
          <a:prstGeom prst="roundRect">
            <a:avLst/>
          </a:prstGeom>
          <a:solidFill>
            <a:srgbClr val="5B21B6"/>
          </a:solidFill>
          <a:ln w="12700">
            <a:solidFill>
              <a:srgbClr val="5B21B6"/>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表・整理</a:t>
            </a:r>
          </a:p>
        </p:txBody>
      </p:sp>
      <p:sp>
        <p:nvSpPr>
          <p:cNvPr id="14" name="TextBox 13"/>
          <p:cNvSpPr txBox="1"/>
          <p:nvPr/>
        </p:nvSpPr>
        <p:spPr>
          <a:xfrm>
            <a:off x="1764792" y="2670048"/>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限界費用（MC） ｜ 生産量を1単位追加的に増やすときに必要な追加的な費用</a:t>
            </a:r>
          </a:p>
        </p:txBody>
      </p:sp>
      <p:sp>
        <p:nvSpPr>
          <p:cNvPr id="15" name="Rounded Rectangle 14"/>
          <p:cNvSpPr/>
          <p:nvPr/>
        </p:nvSpPr>
        <p:spPr>
          <a:xfrm>
            <a:off x="502920" y="3346703"/>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465575"/>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438144"/>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限界生産力逓減の法則が働く結果、短期の限界費用曲線・平均費用曲線は、生産量が増えるにつれて一度下がってから上がる、U字型を描くことが典型的です。</a:t>
            </a:r>
          </a:p>
        </p:txBody>
      </p:sp>
      <p:sp>
        <p:nvSpPr>
          <p:cNvPr id="18" name="Rounded Rectangle 17"/>
          <p:cNvSpPr/>
          <p:nvPr/>
        </p:nvSpPr>
        <p:spPr>
          <a:xfrm>
            <a:off x="502920" y="4297679"/>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416551"/>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20" name="TextBox 19"/>
          <p:cNvSpPr txBox="1"/>
          <p:nvPr/>
        </p:nvSpPr>
        <p:spPr>
          <a:xfrm>
            <a:off x="1764792" y="4389119"/>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パン屋がオーブン（資本）の台数を変えずにアルバイト（労働）の人数だけを増やしていくと、当初は効率よく生産量が増えますが、やがてオーブンの数がボトルネックとなり、アルバイトを増やしても1人あたりの生産量の伸びは鈍化していきます。これが限界生産力逓減の具体例で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A-27｜生産関数・費用関数</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消費と生産の理論（A-25〜A-28）｜3/3</a:t>
            </a:r>
          </a:p>
        </p:txBody>
      </p:sp>
      <p:sp>
        <p:nvSpPr>
          <p:cNvPr id="6" name="Rounded Rectangle 5"/>
          <p:cNvSpPr/>
          <p:nvPr/>
        </p:nvSpPr>
        <p:spPr>
          <a:xfrm>
            <a:off x="502920" y="1042415"/>
            <a:ext cx="11183112" cy="1335024"/>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8" name="TextBox 7"/>
          <p:cNvSpPr txBox="1"/>
          <p:nvPr/>
        </p:nvSpPr>
        <p:spPr>
          <a:xfrm>
            <a:off x="1764792" y="1133856"/>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固定費用は「生産量がゼロであっても発生する費用」であり、生産量に応じて金額が変わりません。「固定費用も生産量に応じて増減する」という記述は誤りです。また、平均費用（AC）と限界費用（MC）の関係として、限界費用曲線は平均費用曲線の最低点を通過する（MC＜ACのときACは低下中、MC＞ACのときACは上昇中）という関係も、グラフの読み取り問題で問われることがあります。</a:t>
            </a:r>
          </a:p>
        </p:txBody>
      </p:sp>
      <p:sp>
        <p:nvSpPr>
          <p:cNvPr id="9" name="Rectangle 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1" name="TextBox 1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A-28</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利潤最大化と供給曲線</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a:t>
            </a:r>
          </a:p>
        </p:txBody>
      </p:sp>
      <p:sp>
        <p:nvSpPr>
          <p:cNvPr id="6" name="Rounded Rectangle 5"/>
          <p:cNvSpPr/>
          <p:nvPr/>
        </p:nvSpPr>
        <p:spPr>
          <a:xfrm>
            <a:off x="777240" y="1188720"/>
            <a:ext cx="10634472" cy="117043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200" b="1">
                <a:solidFill>
                  <a:srgbClr val="4F46E5"/>
                </a:solidFill>
                <a:latin typeface="WenQuanYi Micro Hei"/>
              </a:rPr>
              <a:t>限界収入（MR） = 限界費用（MC）</a:t>
            </a:r>
          </a:p>
        </p:txBody>
      </p:sp>
      <p:sp>
        <p:nvSpPr>
          <p:cNvPr id="7" name="Rounded Rectangle 6"/>
          <p:cNvSpPr/>
          <p:nvPr/>
        </p:nvSpPr>
        <p:spPr>
          <a:xfrm>
            <a:off x="777240"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価格＝限界費用（P＝MC）</a:t>
            </a:r>
          </a:p>
        </p:txBody>
      </p:sp>
      <p:sp>
        <p:nvSpPr>
          <p:cNvPr id="10" name="TextBox 9"/>
          <p:cNvSpPr txBox="1"/>
          <p:nvPr/>
        </p:nvSpPr>
        <p:spPr>
          <a:xfrm>
            <a:off x="978408"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」となります。</a:t>
            </a:r>
          </a:p>
        </p:txBody>
      </p:sp>
      <p:sp>
        <p:nvSpPr>
          <p:cNvPr id="11" name="Rounded Rectangle 10"/>
          <p:cNvSpPr/>
          <p:nvPr/>
        </p:nvSpPr>
        <p:spPr>
          <a:xfrm>
            <a:off x="4370832"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2"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供給曲線</a:t>
            </a:r>
          </a:p>
        </p:txBody>
      </p:sp>
      <p:sp>
        <p:nvSpPr>
          <p:cNvPr id="14" name="TextBox 13"/>
          <p:cNvSpPr txBox="1"/>
          <p:nvPr/>
        </p:nvSpPr>
        <p:spPr>
          <a:xfrm>
            <a:off x="4572000"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は、その企業の限界費用曲線そのもの（ただし、生産を続けるべきか撤退すべきかの判断基準となる平均可変費用を上回る部分に限る）…</a:t>
            </a:r>
          </a:p>
        </p:txBody>
      </p:sp>
      <p:sp>
        <p:nvSpPr>
          <p:cNvPr id="15" name="Rounded Rectangle 14"/>
          <p:cNvSpPr/>
          <p:nvPr/>
        </p:nvSpPr>
        <p:spPr>
          <a:xfrm>
            <a:off x="7964424"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64424"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企業</a:t>
            </a:r>
          </a:p>
        </p:txBody>
      </p:sp>
      <p:sp>
        <p:nvSpPr>
          <p:cNvPr id="18" name="TextBox 17"/>
          <p:cNvSpPr txBox="1"/>
          <p:nvPr/>
        </p:nvSpPr>
        <p:spPr>
          <a:xfrm>
            <a:off x="8165592"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利潤（収入－費用）を最大化するように生産量を決定すると考えられています。</a:t>
            </a:r>
          </a:p>
        </p:txBody>
      </p:sp>
      <p:sp>
        <p:nvSpPr>
          <p:cNvPr id="19" name="Rounded Rectangle 18"/>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ある市場価格のもとで、企業の限界費用が市場価格を下回っている生産量では、もう1単位作って売れば利益が上乗せされるため、企業は生産量を増やそうとします。逆に限界費用が市場価格を上回る生産量まで来ると、それ以上作…</a:t>
            </a:r>
          </a:p>
        </p:txBody>
      </p:sp>
      <p:sp>
        <p:nvSpPr>
          <p:cNvPr id="20" name="Rounded Rectangle 19"/>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企業は平均費用が最小になる生産量で利潤を最大化する」という記述は誤りです。利潤最大化の条件はあくまで「限界収入＝限界費用」であり、平均費用が最小になる生産量とは一般に一致しません。「限界」の概念と「平均」の…</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A-28｜利潤最大化と供給曲線</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企業は、利潤（収入－費用）を最大化するように生産量を決定すると考えられています。利潤を最大化する生産量の条件は、次の式で表されます。</a:t>
            </a:r>
          </a:p>
        </p:txBody>
      </p:sp>
      <p:sp>
        <p:nvSpPr>
          <p:cNvPr id="9" name="Rounded Rectangle 8"/>
          <p:cNvSpPr/>
          <p:nvPr/>
        </p:nvSpPr>
        <p:spPr>
          <a:xfrm>
            <a:off x="502920" y="1993391"/>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限界収入（MR） = 限界費用（MC）</a:t>
            </a:r>
          </a:p>
        </p:txBody>
      </p:sp>
      <p:sp>
        <p:nvSpPr>
          <p:cNvPr id="12" name="Rounded Rectangle 11"/>
          <p:cNvSpPr/>
          <p:nvPr/>
        </p:nvSpPr>
        <p:spPr>
          <a:xfrm>
            <a:off x="502920" y="2761487"/>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5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852927"/>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生産量を1単位増やしたときに追加的に得られる収入（限界収入MR）が、追加的にかかる費用（限界費用MC）を上回っている間は、生産を増やすほど利潤が増えます。逆にMRがMCを下回れば、生産を増やすと利潤は減ってしまいます。そのため、MR＝MCとなる生産量で利潤が最大化されます。</a:t>
            </a:r>
          </a:p>
        </p:txBody>
      </p:sp>
      <p:sp>
        <p:nvSpPr>
          <p:cNvPr id="15" name="Rounded Rectangle 14"/>
          <p:cNvSpPr/>
          <p:nvPr/>
        </p:nvSpPr>
        <p:spPr>
          <a:xfrm>
            <a:off x="502920" y="3959352"/>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07822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05079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特に、A-24で見た完全競争市場では、個々の企業は市場価格を自分の意思では変えられない「価格受容者（プライス・テイカー）」であるため、1単位追加で売っても得られる収入（限界収入）は常に市場価格Pに等しくなります（MR＝P）。したがって完全競争企業の利潤最大化条件は「価格＝限界費用（P＝MC）」となりま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A-28｜利潤最大化と供給曲線</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消費と生産の理論（A-25〜A-28）｜2/2</a:t>
            </a:r>
          </a:p>
        </p:txBody>
      </p:sp>
      <p:sp>
        <p:nvSpPr>
          <p:cNvPr id="6" name="Rounded Rectangle 5"/>
          <p:cNvSpPr/>
          <p:nvPr/>
        </p:nvSpPr>
        <p:spPr>
          <a:xfrm>
            <a:off x="502920" y="1042415"/>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この関係から、完全競争市場における企業の供給曲線は、その企業の限界費用曲線そのもの（ただし、生産を続けるべきか撤退すべきかの判断基準となる平均可変費用を上回る部分に限る）として導くことができます。つまり、価格が上がれば、企業は「P＝MC」となる、より生産量の多い点まで生産を増やそうとします。</a:t>
            </a:r>
          </a:p>
        </p:txBody>
      </p:sp>
      <p:sp>
        <p:nvSpPr>
          <p:cNvPr id="9" name="Rounded Rectangle 8"/>
          <p:cNvSpPr/>
          <p:nvPr/>
        </p:nvSpPr>
        <p:spPr>
          <a:xfrm>
            <a:off x="502920" y="2240280"/>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1" name="TextBox 10"/>
          <p:cNvSpPr txBox="1"/>
          <p:nvPr/>
        </p:nvSpPr>
        <p:spPr>
          <a:xfrm>
            <a:off x="1764792" y="233172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市場価格のもとで、企業の限界費用が市場価格を下回っている生産量では、もう1単位作って売れば利益が上乗せされるため、企業は生産量を増やそうとします。逆に限界費用が市場価格を上回る生産量まで来ると、それ以上作ると損になるため、そこで生産を止めます。結果として、企業は「限界費用＝市場価格」となる生産量を選びます。</a:t>
            </a:r>
          </a:p>
        </p:txBody>
      </p:sp>
      <p:sp>
        <p:nvSpPr>
          <p:cNvPr id="12" name="Rounded Rectangle 11"/>
          <p:cNvSpPr/>
          <p:nvPr/>
        </p:nvSpPr>
        <p:spPr>
          <a:xfrm>
            <a:off x="502920" y="3438144"/>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557016"/>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4" name="TextBox 13"/>
          <p:cNvSpPr txBox="1"/>
          <p:nvPr/>
        </p:nvSpPr>
        <p:spPr>
          <a:xfrm>
            <a:off x="1764792" y="3529584"/>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企業は平均費用が最小になる生産量で利潤を最大化する」という記述は誤りです。利潤最大化の条件はあくまで「限界収入＝限界費用」であり、平均費用が最小になる生産量とは一般に一致しません。「限界」の概念と「平均」の概念を混同しないようにしましょう。</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07</a:t>
            </a:r>
          </a:p>
        </p:txBody>
      </p:sp>
      <p:sp>
        <p:nvSpPr>
          <p:cNvPr id="5" name="TextBox 4"/>
          <p:cNvSpPr txBox="1"/>
          <p:nvPr/>
        </p:nvSpPr>
        <p:spPr>
          <a:xfrm>
            <a:off x="1188720" y="1993392"/>
            <a:ext cx="9784080" cy="96012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組織と戦略の経済学</a:t>
            </a:r>
          </a:p>
        </p:txBody>
      </p:sp>
      <p:sp>
        <p:nvSpPr>
          <p:cNvPr id="6" name="TextBox 5"/>
          <p:cNvSpPr txBox="1"/>
          <p:nvPr/>
        </p:nvSpPr>
        <p:spPr>
          <a:xfrm>
            <a:off x="1234440" y="3017520"/>
            <a:ext cx="9720072" cy="1005840"/>
          </a:xfrm>
          <a:prstGeom prst="rect">
            <a:avLst/>
          </a:prstGeom>
          <a:noFill/>
        </p:spPr>
        <p:txBody>
          <a:bodyPr wrap="square" tIns="91440" bIns="91440" anchor="ctr">
            <a:spAutoFit/>
          </a:bodyPr>
          <a:lstStyle/>
          <a:p>
            <a:pPr algn="ctr">
              <a:spcAft>
                <a:spcPts val="0"/>
              </a:spcAft>
            </a:pPr>
            <a:r>
              <a:rPr sz="1400" b="0">
                <a:solidFill>
                  <a:srgbClr val="667085"/>
                </a:solidFill>
                <a:latin typeface="WenQuanYi Micro Hei"/>
              </a:rPr>
              <a:t>第7部では、完全競争市場という理想的な状況から離れ、現実の市場でよく見られる「情報の格差がある」「少数の企業しか存在しない」といった状況を分析するミクロ経済学の応用分野を学びます。企業経営理論（C科目）とも重なりが大きい分野です。</a:t>
            </a:r>
          </a:p>
        </p:txBody>
      </p:sp>
      <p:sp>
        <p:nvSpPr>
          <p:cNvPr id="7" name="Rounded Rectangle 6"/>
          <p:cNvSpPr/>
          <p:nvPr/>
        </p:nvSpPr>
        <p:spPr>
          <a:xfrm>
            <a:off x="4261104" y="4315968"/>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5 論点</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A-29</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情報の不完全性（情報の非対称性）</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情報の非対称性</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とは、取引の当事者の一方が、もう一方よりも多くの（または質の良い）情報を持っている状態のことです。この情報格差は、市場取引…</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逆選択（アドバース・セレクション）</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契約を結ぶ前の段階で生じる問題。売り手だけが商品の質を知っている（買い手は知らない）ような市場では、買い手は「平均的な質」…</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モラルハザード</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契約を結んだ後の段階で生じる問題。契約後に、相手から行動を観察されにくい（情報の非対称性がある）ことをよいことに、注意義務…</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シグナリング</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（例：中古車販売店が保証を付ける、就職活動で学歴や資格を提示する）や、情報を持たない側が質問や条件設定を通じて相手の情報を…</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この情報格差</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市場取引に2種類の問題を引き起こすことが知られています。</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これらの問題への対策として、情報を持つ側が自ら情…</a:t>
            </a:r>
          </a:p>
        </p:txBody>
      </p:sp>
      <p:sp>
        <p:nvSpPr>
          <p:cNvPr id="31" name="Rounded Rectangle 30"/>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中古車市場では、売り手（元の所有者）は車の実際の状態（事故歴、故障の有無など）をよく知っていますが、買い手はそれを外見だけでは判断できません。買い手が「平均的な質の中古車の価格」しか支払おうとしないと、質の良…</a:t>
            </a:r>
          </a:p>
        </p:txBody>
      </p:sp>
      <p:sp>
        <p:nvSpPr>
          <p:cNvPr id="32" name="Rounded Rectangle 31"/>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逆選択とモラルハザードは、どちらも「情報の非対称性」から生じる問題ですが、発生するタイミング（契約前か、契約後か）が異なる点が最大の判別ポイントです。「保険加入後に不摂生になる」のはモラルハザード（契約後）…</a:t>
            </a:r>
          </a:p>
        </p:txBody>
      </p:sp>
      <p:sp>
        <p:nvSpPr>
          <p:cNvPr id="33" name="Rectangle 32"/>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5" name="TextBox 34"/>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A-29｜情報の不完全性（情報の非対称性）</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情報の非対称性とは、取引の当事者の一方が、もう一方よりも多くの（または質の良い）情報を持っている状態のことです。この情報格差は、市場取引に2種類の問題を引き起こすことが知られています。</a:t>
            </a:r>
          </a:p>
        </p:txBody>
      </p:sp>
      <p:sp>
        <p:nvSpPr>
          <p:cNvPr id="9" name="Rounded Rectangle 8"/>
          <p:cNvSpPr/>
          <p:nvPr/>
        </p:nvSpPr>
        <p:spPr>
          <a:xfrm>
            <a:off x="502920" y="1993391"/>
            <a:ext cx="11183112" cy="1581912"/>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1399032"/>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逆選択（アドバース・セレクション）：契約を結ぶ前の段階で生じる問題。売り手だけが商品の質を知っている（買い手は知らない）ような市場では、買い手は「平均的な質」を前提とした価格しか払おうとしないため、質の良い商品を持つ売り手ほど市場から撤退してしまい、結果的に質の悪い商品ばかりが市場に残ってしまう現象。中古車市場を例にした「レモン市場」の理論（アカロフ）が有名です（英語で欠陥品の中古車を「レモン」と呼ぶことに由来）。生命保険において、健康リスクの高い人ほど積極的に加入しようとする、という現象も逆選択の例として挙げられます。</a:t>
            </a:r>
          </a:p>
        </p:txBody>
      </p:sp>
      <p:sp>
        <p:nvSpPr>
          <p:cNvPr id="12" name="Rounded Rectangle 11"/>
          <p:cNvSpPr/>
          <p:nvPr/>
        </p:nvSpPr>
        <p:spPr>
          <a:xfrm>
            <a:off x="502920" y="3685031"/>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80390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77647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モラルハザード：契約を結んだ後の段階で生じる問題。契約後に、相手から行動を観察されにくい（情報の非対称性がある）ことをよいことに、注意義務を怠ったり、リスクの高い行動をとったりしてしまう現象。例えば、火災保険に加入した後に、火の元の管理に対する注意が緩んでしまう、といった現象です。</a:t>
            </a:r>
          </a:p>
        </p:txBody>
      </p:sp>
      <p:sp>
        <p:nvSpPr>
          <p:cNvPr id="15" name="Rounded Rectangle 14"/>
          <p:cNvSpPr/>
          <p:nvPr/>
        </p:nvSpPr>
        <p:spPr>
          <a:xfrm>
            <a:off x="502920" y="4882896"/>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500176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97433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これらの問題への対策として、情報を持つ側が自ら情報を開示して信頼性を示すシグナリング（例：中古車販売店が保証を付ける、就職活動で学歴や資格を提示する）や、情報を持たない側が質問や条件設定を通じて相手の情報を見極めようとするスクリーニング（例：保険会社が複数の保険料・免責金額のプランを用意し、顧客に選ばせることでリスクの高低を推測する）などの工夫が行われま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A-29｜情報の不完全性（情報の非対称性）</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組織と戦略の経済学（A-29〜A-33）｜2/2</a:t>
            </a:r>
          </a:p>
        </p:txBody>
      </p:sp>
      <p:sp>
        <p:nvSpPr>
          <p:cNvPr id="6" name="Rounded Rectangle 5"/>
          <p:cNvSpPr/>
          <p:nvPr/>
        </p:nvSpPr>
        <p:spPr>
          <a:xfrm>
            <a:off x="502920" y="1042415"/>
            <a:ext cx="11183112" cy="1335024"/>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8" name="TextBox 7"/>
          <p:cNvSpPr txBox="1"/>
          <p:nvPr/>
        </p:nvSpPr>
        <p:spPr>
          <a:xfrm>
            <a:off x="1764792" y="1133856"/>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中古車市場では、売り手（元の所有者）は車の実際の状態（事故歴、故障の有無など）をよく知っていますが、買い手はそれを外見だけでは判断できません。買い手が「平均的な質の中古車の価格」しか支払おうとしないと、質の良い車を持つ売り手ほど「損だ」と感じて市場に出品しなくなり、結果的に質の悪い車ばかりが市場に出回るようになる、というのが逆選択（レモン市場）のメカニズムです。</a:t>
            </a:r>
          </a:p>
        </p:txBody>
      </p:sp>
      <p:sp>
        <p:nvSpPr>
          <p:cNvPr id="9" name="Rounded Rectangle 8"/>
          <p:cNvSpPr/>
          <p:nvPr/>
        </p:nvSpPr>
        <p:spPr>
          <a:xfrm>
            <a:off x="502920" y="2487168"/>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606039"/>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1" name="TextBox 10"/>
          <p:cNvSpPr txBox="1"/>
          <p:nvPr/>
        </p:nvSpPr>
        <p:spPr>
          <a:xfrm>
            <a:off x="1764792" y="2578608"/>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逆選択とモラルハザードは、どちらも「情報の非対称性」から生じる問題ですが、発生するタイミング（契約前か、契約後か）が異なる点が最大の判別ポイントです。「保険加入後に不摂生になる」のはモラルハザード（契約後）、「健康に不安のある人ほど保険に入りたがる」のは逆選択（契約前）、というように、設問の状況が契約のどの段階の話かを確認する習慣をつけましょう。</a:t>
            </a:r>
          </a:p>
        </p:txBody>
      </p:sp>
      <p:sp>
        <p:nvSpPr>
          <p:cNvPr id="12" name="Rectangle 1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4" name="TextBox 1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A-30</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ゲーム理論（ナッシュ均衡、囚人のジレンマ等）</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a:t>
            </a:r>
          </a:p>
        </p:txBody>
      </p:sp>
      <p:sp>
        <p:nvSpPr>
          <p:cNvPr id="6" name="Rounded Rectangle 5"/>
          <p:cNvSpPr/>
          <p:nvPr/>
        </p:nvSpPr>
        <p:spPr>
          <a:xfrm>
            <a:off x="731520" y="114300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14300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23444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ゲーム理論</a:t>
            </a:r>
          </a:p>
        </p:txBody>
      </p:sp>
      <p:sp>
        <p:nvSpPr>
          <p:cNvPr id="9" name="TextBox 8"/>
          <p:cNvSpPr txBox="1"/>
          <p:nvPr/>
        </p:nvSpPr>
        <p:spPr>
          <a:xfrm>
            <a:off x="932688" y="156362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は、複数のプレイヤー（企業や個人）が、互いの行動を読み合いながら意思決定を行う状況を分析する理論です。中小企業診断士試験で…</a:t>
            </a:r>
          </a:p>
        </p:txBody>
      </p:sp>
      <p:sp>
        <p:nvSpPr>
          <p:cNvPr id="10" name="Oval 9"/>
          <p:cNvSpPr/>
          <p:nvPr/>
        </p:nvSpPr>
        <p:spPr>
          <a:xfrm>
            <a:off x="548640" y="1014983"/>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1</a:t>
            </a:r>
          </a:p>
        </p:txBody>
      </p:sp>
      <p:sp>
        <p:nvSpPr>
          <p:cNvPr id="11" name="Rounded Rectangle 10"/>
          <p:cNvSpPr/>
          <p:nvPr/>
        </p:nvSpPr>
        <p:spPr>
          <a:xfrm>
            <a:off x="6236208" y="114300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114300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23444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ナッシュ均衡</a:t>
            </a:r>
          </a:p>
        </p:txBody>
      </p:sp>
      <p:sp>
        <p:nvSpPr>
          <p:cNvPr id="14" name="TextBox 13"/>
          <p:cNvSpPr txBox="1"/>
          <p:nvPr/>
        </p:nvSpPr>
        <p:spPr>
          <a:xfrm>
            <a:off x="6437376" y="156362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とは、相手の戦略を所与としたとき、自分だけが戦略を変えても自分の利得が改善しない（＝お互いが、相手の出方に対する最適な対応…</a:t>
            </a:r>
          </a:p>
        </p:txBody>
      </p:sp>
      <p:sp>
        <p:nvSpPr>
          <p:cNvPr id="15" name="Oval 14"/>
          <p:cNvSpPr/>
          <p:nvPr/>
        </p:nvSpPr>
        <p:spPr>
          <a:xfrm>
            <a:off x="6053328" y="1014983"/>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2</a:t>
            </a:r>
          </a:p>
        </p:txBody>
      </p:sp>
      <p:sp>
        <p:nvSpPr>
          <p:cNvPr id="16" name="Rounded Rectangle 15"/>
          <p:cNvSpPr/>
          <p:nvPr/>
        </p:nvSpPr>
        <p:spPr>
          <a:xfrm>
            <a:off x="731520" y="306324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06324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15468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最適反応</a:t>
            </a:r>
          </a:p>
        </p:txBody>
      </p:sp>
      <p:sp>
        <p:nvSpPr>
          <p:cNvPr id="19" name="TextBox 18"/>
          <p:cNvSpPr txBox="1"/>
          <p:nvPr/>
        </p:nvSpPr>
        <p:spPr>
          <a:xfrm>
            <a:off x="932688" y="348386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）を求める（両プレイヤーについて行う）。</a:t>
            </a:r>
          </a:p>
        </p:txBody>
      </p:sp>
      <p:sp>
        <p:nvSpPr>
          <p:cNvPr id="20" name="Oval 19"/>
          <p:cNvSpPr/>
          <p:nvPr/>
        </p:nvSpPr>
        <p:spPr>
          <a:xfrm>
            <a:off x="548640" y="2935224"/>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3</a:t>
            </a:r>
          </a:p>
        </p:txBody>
      </p:sp>
      <p:sp>
        <p:nvSpPr>
          <p:cNvPr id="21" name="Rounded Rectangle 20"/>
          <p:cNvSpPr/>
          <p:nvPr/>
        </p:nvSpPr>
        <p:spPr>
          <a:xfrm>
            <a:off x="6236208" y="306324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6208" y="306324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15468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双方の最適反応が一致する（＝お互いに相手の戦略に…</a:t>
            </a:r>
          </a:p>
        </p:txBody>
      </p:sp>
      <p:sp>
        <p:nvSpPr>
          <p:cNvPr id="24" name="Oval 23"/>
          <p:cNvSpPr/>
          <p:nvPr/>
        </p:nvSpPr>
        <p:spPr>
          <a:xfrm>
            <a:off x="6053328" y="2935224"/>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4</a:t>
            </a:r>
          </a:p>
        </p:txBody>
      </p:sp>
      <p:sp>
        <p:nvSpPr>
          <p:cNvPr id="25" name="Rounded Rectangle 24"/>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2つの企業が、価格カルテル（同一価格で足並みを揃える約束）を結んでいるとします。両社ともカルテルを守れば、双方とも中程度の利潤（例：50、40）を得られます。しかし、相手が「カルテルを守る」と信じて自分だけ「…</a:t>
            </a:r>
          </a:p>
        </p:txBody>
      </p:sp>
      <p:sp>
        <p:nvSpPr>
          <p:cNvPr id="26" name="Rounded Rectangle 25"/>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両者にとって最も利得の合計が大きい組み合わせ（本例ではカルテルを守り合う組み合わせ）が、必ずナッシュ均衡になる」という思い込みは誤りです。ナッシュ均衡は「社会的に最も望ましい組み合わせ」ではなく、あくまで「…</a:t>
            </a:r>
          </a:p>
        </p:txBody>
      </p:sp>
      <p:sp>
        <p:nvSpPr>
          <p:cNvPr id="27" name="Rectangle 26"/>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9" name="TextBox 28"/>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A-30｜ゲーム理論（ナッシュ均衡、囚人のジレンマ等）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ゲーム理論は、複数のプレイヤー（企業や個人）が、互いの行動を読み合いながら意思決定を行う状況を分析する理論です。中小企業診断士試験では、2つのプレイヤーがそれぞれ2つの戦略から1つを選ぶ「利得表」の形式で出題されることが典型的です。</a:t>
            </a:r>
          </a:p>
        </p:txBody>
      </p:sp>
      <p:sp>
        <p:nvSpPr>
          <p:cNvPr id="9" name="Rounded Rectangle 8"/>
          <p:cNvSpPr/>
          <p:nvPr/>
        </p:nvSpPr>
        <p:spPr>
          <a:xfrm>
            <a:off x="502920" y="1993391"/>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ナッシュ均衡とは、相手の戦略を所与としたとき、自分だけが戦略を変えても自分の利得が改善しない（＝お互いが、相手の出方に対する最適な対応をとり合っている）組み合わせのことです。ナッシュ均衡を求める手順は次の通りです。</a:t>
            </a:r>
          </a:p>
        </p:txBody>
      </p:sp>
      <p:sp>
        <p:nvSpPr>
          <p:cNvPr id="12" name="Rounded Rectangle 11"/>
          <p:cNvSpPr/>
          <p:nvPr/>
        </p:nvSpPr>
        <p:spPr>
          <a:xfrm>
            <a:off x="502920" y="2944368"/>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063239"/>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35808"/>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相手が取りうる各戦略について、自分が最も高い利得を得られる戦略（最適反応）を求める（両プレイヤーについて行う）。</a:t>
            </a:r>
          </a:p>
        </p:txBody>
      </p:sp>
      <p:sp>
        <p:nvSpPr>
          <p:cNvPr id="15" name="Rounded Rectangle 14"/>
          <p:cNvSpPr/>
          <p:nvPr/>
        </p:nvSpPr>
        <p:spPr>
          <a:xfrm>
            <a:off x="502920" y="3712463"/>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831335"/>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803903"/>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双方の最適反応が一致する（＝お互いに相手の戦略に対して最適反応を取り合っている）マスを探す。それがナッシュ均衡です。</a:t>
            </a:r>
          </a:p>
        </p:txBody>
      </p:sp>
      <p:sp>
        <p:nvSpPr>
          <p:cNvPr id="18" name="Rounded Rectangle 17"/>
          <p:cNvSpPr/>
          <p:nvPr/>
        </p:nvSpPr>
        <p:spPr>
          <a:xfrm>
            <a:off x="502920" y="4480559"/>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599431"/>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571999"/>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ゲーム理論の中でも特に有名な構造が囚人のジレンマです。これは、両者が協調（例えば「カルテルを守る」）すればお互いに高い利得を得られるにもかかわらず、各プレイヤーには個別に裏切る（協調から離脱する）誘因が働くため、結果的にお互いにとって望ましくない「非協調」の組み合わせがナッシュ均衡として実現してしまう、という状況を指し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A-30｜ゲーム理論（ナッシュ均衡、囚人のジレンマ等）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組織と戦略の経済学（A-29〜A-33）｜2/2</a:t>
            </a:r>
          </a:p>
        </p:txBody>
      </p:sp>
      <p:sp>
        <p:nvSpPr>
          <p:cNvPr id="6" name="Rounded Rectangle 5"/>
          <p:cNvSpPr/>
          <p:nvPr/>
        </p:nvSpPr>
        <p:spPr>
          <a:xfrm>
            <a:off x="502920" y="1042415"/>
            <a:ext cx="11183112" cy="1581912"/>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8" name="TextBox 7"/>
          <p:cNvSpPr txBox="1"/>
          <p:nvPr/>
        </p:nvSpPr>
        <p:spPr>
          <a:xfrm>
            <a:off x="1764792" y="1133856"/>
            <a:ext cx="9674352" cy="1399032"/>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2つの企業が、価格カルテル（同一価格で足並みを揃える約束）を結んでいるとします。両社ともカルテルを守れば、双方とも中程度の利潤（例：50、40）を得られます。しかし、相手が「カルテルを守る」と信じて自分だけ「裏切って値下げする」と、裏切った側はより高い利潤（60）を得られる一方、相手は大きな損失（－20）を被ります。このため、相手がどちらの戦略を取ろうと、自分は「裏切る（値下げする）」ことが得になってしまい、結果的に双方とも「カルテルを破る」という、両社にとって（カルテルを守った場合よりも）望ましくない結果（0、0）がナッシュ均衡として実現します。これが囚人のジレンマ構造そのものです。</a:t>
            </a:r>
          </a:p>
        </p:txBody>
      </p:sp>
      <p:sp>
        <p:nvSpPr>
          <p:cNvPr id="9" name="Rounded Rectangle 8"/>
          <p:cNvSpPr/>
          <p:nvPr/>
        </p:nvSpPr>
        <p:spPr>
          <a:xfrm>
            <a:off x="502920" y="2734056"/>
            <a:ext cx="11183112" cy="1335024"/>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85292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1" name="TextBox 10"/>
          <p:cNvSpPr txBox="1"/>
          <p:nvPr/>
        </p:nvSpPr>
        <p:spPr>
          <a:xfrm>
            <a:off x="1764792" y="2825496"/>
            <a:ext cx="9674352" cy="1152144"/>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両者にとって最も利得の合計が大きい組み合わせ（本例ではカルテルを守り合う組み合わせ）が、必ずナッシュ均衡になる」という思い込みは誤りです。ナッシュ均衡は「社会的に最も望ましい組み合わせ」ではなく、あくまで「各プレイヤーが個別に見て、そこから戦略を変える誘因がない組み合わせ」であるという点を正確に理解しましょう。利得表の問題では、必ず両プレイヤーについて機械的に最適反応を洗い出す作業を行うことが、確実に正解にたどり着くコツです。</a:t>
            </a:r>
          </a:p>
        </p:txBody>
      </p:sp>
      <p:sp>
        <p:nvSpPr>
          <p:cNvPr id="12" name="Rounded Rectangle 11"/>
          <p:cNvSpPr/>
          <p:nvPr/>
        </p:nvSpPr>
        <p:spPr>
          <a:xfrm>
            <a:off x="502920" y="4178808"/>
            <a:ext cx="11183112" cy="841248"/>
          </a:xfrm>
          <a:prstGeom prst="roundRect">
            <a:avLst/>
          </a:prstGeom>
          <a:solidFill>
            <a:srgbClr val="F0FDF4"/>
          </a:solidFill>
          <a:ln w="12700">
            <a:solidFill>
              <a:srgbClr val="9DCA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4297680"/>
            <a:ext cx="987552" cy="420624"/>
          </a:xfrm>
          <a:prstGeom prst="roundRect">
            <a:avLst/>
          </a:prstGeom>
          <a:solidFill>
            <a:srgbClr val="15803D"/>
          </a:solidFill>
          <a:ln w="12700">
            <a:solidFill>
              <a:srgbClr val="15803D"/>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過去問</a:t>
            </a:r>
          </a:p>
        </p:txBody>
      </p:sp>
      <p:sp>
        <p:nvSpPr>
          <p:cNvPr id="14" name="TextBox 13"/>
          <p:cNvSpPr txBox="1"/>
          <p:nvPr/>
        </p:nvSpPr>
        <p:spPr>
          <a:xfrm>
            <a:off x="1764792" y="4270248"/>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problem_sets/1st_stage/exercises/A_economics_exercises.md の「A-30：組織と戦略の経済学（ゲーム理論・ナッシュ均衡）」を参照。</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A-31</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独占の弊害と寡占化の協調行動</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a:t>
            </a:r>
          </a:p>
        </p:txBody>
      </p:sp>
      <p:sp>
        <p:nvSpPr>
          <p:cNvPr id="6" name="Rounded Rectangle 5"/>
          <p:cNvSpPr/>
          <p:nvPr/>
        </p:nvSpPr>
        <p:spPr>
          <a:xfrm>
            <a:off x="731520" y="114300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14300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23444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独占市場</a:t>
            </a:r>
          </a:p>
        </p:txBody>
      </p:sp>
      <p:sp>
        <p:nvSpPr>
          <p:cNvPr id="9" name="TextBox 8"/>
          <p:cNvSpPr txBox="1"/>
          <p:nvPr/>
        </p:nvSpPr>
        <p:spPr>
          <a:xfrm>
            <a:off x="932688" y="156362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は、ある財の供給者が1社しか存在しない市場です。独占企業は、完全競争企業とは異なり「価格受容者」ではなく「価格支配者（プラ…</a:t>
            </a:r>
          </a:p>
        </p:txBody>
      </p:sp>
      <p:sp>
        <p:nvSpPr>
          <p:cNvPr id="10" name="Oval 9"/>
          <p:cNvSpPr/>
          <p:nvPr/>
        </p:nvSpPr>
        <p:spPr>
          <a:xfrm>
            <a:off x="548640" y="1014983"/>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1</a:t>
            </a:r>
          </a:p>
        </p:txBody>
      </p:sp>
      <p:sp>
        <p:nvSpPr>
          <p:cNvPr id="11" name="Rounded Rectangle 10"/>
          <p:cNvSpPr/>
          <p:nvPr/>
        </p:nvSpPr>
        <p:spPr>
          <a:xfrm>
            <a:off x="6236208" y="114300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114300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23444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寡占市場</a:t>
            </a:r>
          </a:p>
        </p:txBody>
      </p:sp>
      <p:sp>
        <p:nvSpPr>
          <p:cNvPr id="14" name="TextBox 13"/>
          <p:cNvSpPr txBox="1"/>
          <p:nvPr/>
        </p:nvSpPr>
        <p:spPr>
          <a:xfrm>
            <a:off x="6437376" y="156362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は、少数の企業が市場の大部分を占める市場です。寡占企業同士の駆け引きを分析する代表的なモデルに次のものがあります。</a:t>
            </a:r>
          </a:p>
        </p:txBody>
      </p:sp>
      <p:sp>
        <p:nvSpPr>
          <p:cNvPr id="15" name="Oval 14"/>
          <p:cNvSpPr/>
          <p:nvPr/>
        </p:nvSpPr>
        <p:spPr>
          <a:xfrm>
            <a:off x="6053328" y="1014983"/>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2</a:t>
            </a:r>
          </a:p>
        </p:txBody>
      </p:sp>
      <p:sp>
        <p:nvSpPr>
          <p:cNvPr id="16" name="Rounded Rectangle 15"/>
          <p:cNvSpPr/>
          <p:nvPr/>
        </p:nvSpPr>
        <p:spPr>
          <a:xfrm>
            <a:off x="731520" y="306324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06324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15468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クールノー・モデル</a:t>
            </a:r>
          </a:p>
        </p:txBody>
      </p:sp>
      <p:sp>
        <p:nvSpPr>
          <p:cNvPr id="19" name="TextBox 18"/>
          <p:cNvSpPr txBox="1"/>
          <p:nvPr/>
        </p:nvSpPr>
        <p:spPr>
          <a:xfrm>
            <a:off x="932688" y="348386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各企業が、相手企業の生産量を所与として、自社の最適な生産量を決定する（数量競争）モデル。</a:t>
            </a:r>
          </a:p>
        </p:txBody>
      </p:sp>
      <p:sp>
        <p:nvSpPr>
          <p:cNvPr id="20" name="Oval 19"/>
          <p:cNvSpPr/>
          <p:nvPr/>
        </p:nvSpPr>
        <p:spPr>
          <a:xfrm>
            <a:off x="548640" y="2935224"/>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3</a:t>
            </a:r>
          </a:p>
        </p:txBody>
      </p:sp>
      <p:sp>
        <p:nvSpPr>
          <p:cNvPr id="21" name="Rounded Rectangle 20"/>
          <p:cNvSpPr/>
          <p:nvPr/>
        </p:nvSpPr>
        <p:spPr>
          <a:xfrm>
            <a:off x="6236208" y="306324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6208" y="306324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15468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ベルトラン・モデル</a:t>
            </a:r>
          </a:p>
        </p:txBody>
      </p:sp>
      <p:sp>
        <p:nvSpPr>
          <p:cNvPr id="24" name="TextBox 23"/>
          <p:cNvSpPr txBox="1"/>
          <p:nvPr/>
        </p:nvSpPr>
        <p:spPr>
          <a:xfrm>
            <a:off x="6437376" y="348386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各企業が、相手企業の価格を所与として、自社の最適な価格を決定する（価格競争）モデル。</a:t>
            </a:r>
          </a:p>
        </p:txBody>
      </p:sp>
      <p:sp>
        <p:nvSpPr>
          <p:cNvPr id="25" name="Oval 24"/>
          <p:cNvSpPr/>
          <p:nvPr/>
        </p:nvSpPr>
        <p:spPr>
          <a:xfrm>
            <a:off x="6053328" y="2935224"/>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4</a:t>
            </a:r>
          </a:p>
        </p:txBody>
      </p:sp>
      <p:sp>
        <p:nvSpPr>
          <p:cNvPr id="26" name="Rounded Rectangle 25"/>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電力や水道のような自然独占（設備投資が巨額で1社が供給する方が効率的な事業）では、規制がなければ独占企業が価格を高く設定し、供給量を絞ることで超過利潤を得ようとするため、政府による価格規制（公共料金の認可制な…</a:t>
            </a:r>
          </a:p>
        </p:txBody>
      </p:sp>
      <p:sp>
        <p:nvSpPr>
          <p:cNvPr id="27" name="Rounded Rectangle 26"/>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独占市場において、独占企業の生産量は「限界収入＝限界費用」で決まりますが、実際に販売される「価格」は、その生産量に対応する需要曲線上の高さで決まります（独占企業の価格は限界収入と等しいのではなく、需要曲線の高…</a:t>
            </a:r>
          </a:p>
        </p:txBody>
      </p:sp>
      <p:sp>
        <p:nvSpPr>
          <p:cNvPr id="28" name="Rectangle 2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0" name="TextBox 2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A-31｜独占の弊害と寡占化の協調行動</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組織と戦略の経済学（A-29〜A-33）｜1/2</a:t>
            </a:r>
          </a:p>
        </p:txBody>
      </p:sp>
      <p:sp>
        <p:nvSpPr>
          <p:cNvPr id="6" name="Rounded Rectangle 5"/>
          <p:cNvSpPr/>
          <p:nvPr/>
        </p:nvSpPr>
        <p:spPr>
          <a:xfrm>
            <a:off x="502920" y="1042415"/>
            <a:ext cx="11183112" cy="1581912"/>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1399032"/>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独占市場は、ある財の供給者が1社しか存在しない市場です。独占企業は、完全競争企業とは異なり「価格受容者」ではなく「価格支配者（プライス・メイカー）」として振る舞うことができます。独占企業も利潤最大化の基本原則である「限界収入（MR）＝限界費用（MC）」に従って生産量を決めますが、右下がりの需要曲線に直面しているため、限界収入は価格よりも低くなり、その結果、完全競争市場の場合と比べて生産量は過少、価格は過大になります。これにより、完全競争の場合と比べて総余剰が減少し、その減少分は独占による「死荷重」として社会全体の損失になります（独占の弊害）。</a:t>
            </a:r>
          </a:p>
        </p:txBody>
      </p:sp>
      <p:sp>
        <p:nvSpPr>
          <p:cNvPr id="9" name="Rounded Rectangle 8"/>
          <p:cNvSpPr/>
          <p:nvPr/>
        </p:nvSpPr>
        <p:spPr>
          <a:xfrm>
            <a:off x="502920" y="2734056"/>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85292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82549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寡占市場は、少数の企業が市場の大部分を占める市場です。寡占企業同士の駆け引きを分析する代表的なモデルに次のものがあります。</a:t>
            </a:r>
          </a:p>
        </p:txBody>
      </p:sp>
      <p:sp>
        <p:nvSpPr>
          <p:cNvPr id="12" name="Rounded Rectangle 11"/>
          <p:cNvSpPr/>
          <p:nvPr/>
        </p:nvSpPr>
        <p:spPr>
          <a:xfrm>
            <a:off x="502920" y="3685032"/>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803904"/>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776472"/>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クールノー・モデル：各企業が、相手企業の生産量を所与として、自社の最適な生産量を決定する（数量競争）モデル。</a:t>
            </a:r>
          </a:p>
        </p:txBody>
      </p:sp>
      <p:sp>
        <p:nvSpPr>
          <p:cNvPr id="15" name="Rounded Rectangle 14"/>
          <p:cNvSpPr/>
          <p:nvPr/>
        </p:nvSpPr>
        <p:spPr>
          <a:xfrm>
            <a:off x="502920" y="4453128"/>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572000"/>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544568"/>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ベルトラン・モデル：各企業が、相手企業の価格を所与として、自社の最適な価格を決定する（価格競争）モデル。</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A-31｜独占の弊害と寡占化の協調行動</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組織と戦略の経済学（A-29〜A-33）｜2/2</a:t>
            </a:r>
          </a:p>
        </p:txBody>
      </p:sp>
      <p:sp>
        <p:nvSpPr>
          <p:cNvPr id="6" name="Rounded Rectangle 5"/>
          <p:cNvSpPr/>
          <p:nvPr/>
        </p:nvSpPr>
        <p:spPr>
          <a:xfrm>
            <a:off x="502920" y="1042415"/>
            <a:ext cx="11183112" cy="1581912"/>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1399032"/>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寡占市場では、企業同士が明示的・暗黙的に協調し、価格や生産量を調整する行動（カルテルのような協調行動）が起こりやすいことも特徴です（A-30のゲーム理論・囚人のジレンマの構造がまさにこの協調・裏切りのジレンマを説明しています）。また、寡占市場でしばしば観察される現象として、一度決まった価格が、費用や需要が多少変動しても変わりにくい「価格の下方硬直性」があります。これは、ある企業が価格を上げても他社が追随しなければ顧客を失うだけで、逆に価格を下げると他社も追随して値下げ競争になり利益を損なうだけ、と各企業が予想するために、現状の価格を維持しようとする傾向（屈折需要曲線の考え方）から説明されます。</a:t>
            </a:r>
          </a:p>
        </p:txBody>
      </p:sp>
      <p:sp>
        <p:nvSpPr>
          <p:cNvPr id="9" name="Rounded Rectangle 8"/>
          <p:cNvSpPr/>
          <p:nvPr/>
        </p:nvSpPr>
        <p:spPr>
          <a:xfrm>
            <a:off x="502920" y="2734056"/>
            <a:ext cx="11183112" cy="841248"/>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85292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1" name="TextBox 10"/>
          <p:cNvSpPr txBox="1"/>
          <p:nvPr/>
        </p:nvSpPr>
        <p:spPr>
          <a:xfrm>
            <a:off x="1764792" y="282549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電力や水道のような自然独占（設備投資が巨額で1社が供給する方が効率的な事業）では、規制がなければ独占企業が価格を高く設定し、供給量を絞ることで超過利潤を得ようとするため、政府による価格規制（公共料金の認可制など）が行われています。</a:t>
            </a:r>
          </a:p>
        </p:txBody>
      </p:sp>
      <p:sp>
        <p:nvSpPr>
          <p:cNvPr id="12" name="Rounded Rectangle 11"/>
          <p:cNvSpPr/>
          <p:nvPr/>
        </p:nvSpPr>
        <p:spPr>
          <a:xfrm>
            <a:off x="502920" y="3685032"/>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803904"/>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4" name="TextBox 13"/>
          <p:cNvSpPr txBox="1"/>
          <p:nvPr/>
        </p:nvSpPr>
        <p:spPr>
          <a:xfrm>
            <a:off x="1764792" y="3776472"/>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独占市場において、独占企業の生産量は「限界収入＝限界費用」で決まりますが、実際に販売される「価格」は、その生産量に対応する需要曲線上の高さで決まります（独占企業の価格は限界収入と等しいのではなく、需要曲線の高さと等しい点に注意）。「独占企業はP＝MCで生産する」という記述は完全競争企業の条件であり、独占企業には当てはまりません。</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A-32</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製品差別化と独占的競争</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a:t>
            </a:r>
          </a:p>
        </p:txBody>
      </p:sp>
      <p:sp>
        <p:nvSpPr>
          <p:cNvPr id="6" name="Rectangle 5"/>
          <p:cNvSpPr/>
          <p:nvPr/>
        </p:nvSpPr>
        <p:spPr>
          <a:xfrm>
            <a:off x="868680" y="2926080"/>
            <a:ext cx="1046988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1｜独占的競争市場
は、完全競争と独占の中間的な性質を持つ市場です。次の特徴があります。</a:t>
            </a:r>
          </a:p>
        </p:txBody>
      </p:sp>
      <p:sp>
        <p:nvSpPr>
          <p:cNvPr id="9" name="Oval 8"/>
          <p:cNvSpPr/>
          <p:nvPr/>
        </p:nvSpPr>
        <p:spPr>
          <a:xfrm>
            <a:off x="33489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26030"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2｜多数の企業
が存在する（完全競争と同様）</a:t>
            </a:r>
          </a:p>
        </p:txBody>
      </p:sp>
      <p:sp>
        <p:nvSpPr>
          <p:cNvPr id="11" name="Oval 10"/>
          <p:cNvSpPr/>
          <p:nvPr/>
        </p:nvSpPr>
        <p:spPr>
          <a:xfrm>
            <a:off x="59207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97779"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3｜差別化された
）製品を提供しているため、それぞれの企業がある程度の価格支配力を持つ（独占…</a:t>
            </a:r>
          </a:p>
        </p:txBody>
      </p:sp>
      <p:sp>
        <p:nvSpPr>
          <p:cNvPr id="13" name="Oval 12"/>
          <p:cNvSpPr/>
          <p:nvPr/>
        </p:nvSpPr>
        <p:spPr>
          <a:xfrm>
            <a:off x="84924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69529"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4｜参入・退出が自由
である（完全競争と同様）</a:t>
            </a:r>
          </a:p>
        </p:txBody>
      </p:sp>
      <p:sp>
        <p:nvSpPr>
          <p:cNvPr id="15" name="Oval 14"/>
          <p:cNvSpPr/>
          <p:nvPr/>
        </p:nvSpPr>
        <p:spPr>
          <a:xfrm>
            <a:off x="11064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852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5｜長期的に利潤がゼロになる水準
（需要曲線が平均費用曲線に接する点）まで参入が続きます。つまり、独占的競争…</a:t>
            </a:r>
          </a:p>
        </p:txBody>
      </p:sp>
      <p:sp>
        <p:nvSpPr>
          <p:cNvPr id="17" name="Rounded Rectangle 1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同じラーメンという商品カテゴリーの中でも、店ごとにスープの味・盛り付け・接客・立地などで差別化されており、それぞれの店はある程度自分の価格を設定できます（完全な価格競争にはならない）。しかし、繁盛している人気…</a:t>
            </a:r>
          </a:p>
        </p:txBody>
      </p:sp>
      <p:sp>
        <p:nvSpPr>
          <p:cNvPr id="18" name="Rounded Rectangle 1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独占的競争市場は「独占市場と同じように、長期的にも高い超過利潤を得続けられる」市場ではありません。参入が自由であるため、独占市場とは異なり、長期的には利潤がゼロに収束していく点が独占的競争の重要な特徴です。「…</a:t>
            </a:r>
          </a:p>
        </p:txBody>
      </p:sp>
      <p:sp>
        <p:nvSpPr>
          <p:cNvPr id="19" name="Rectangle 1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1" name="TextBox 2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A-32｜製品差別化と独占的競争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組織と戦略の経済学（A-29〜A-33）｜1/2</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独占的競争市場は、完全競争と独占の中間的な性質を持つ市場です。次の特徴があります。</a:t>
            </a:r>
          </a:p>
        </p:txBody>
      </p:sp>
      <p:sp>
        <p:nvSpPr>
          <p:cNvPr id="9" name="Rounded Rectangle 8"/>
          <p:cNvSpPr/>
          <p:nvPr/>
        </p:nvSpPr>
        <p:spPr>
          <a:xfrm>
            <a:off x="502920" y="1810512"/>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市場に多数の企業が存在する（完全競争と同様）</a:t>
            </a:r>
          </a:p>
        </p:txBody>
      </p:sp>
      <p:sp>
        <p:nvSpPr>
          <p:cNvPr id="12" name="Rounded Rectangle 11"/>
          <p:cNvSpPr/>
          <p:nvPr/>
        </p:nvSpPr>
        <p:spPr>
          <a:xfrm>
            <a:off x="502920" y="2578608"/>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697479"/>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2670048"/>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各企業が、ブランドやデザイン、品質などでわずかに異なる（差別化された）製品を提供しているため、それぞれの企業がある程度の価格支配力を持つ（独占と同様、右下がりの需要曲線に直面する）</a:t>
            </a:r>
          </a:p>
        </p:txBody>
      </p:sp>
      <p:sp>
        <p:nvSpPr>
          <p:cNvPr id="15" name="Rounded Rectangle 14"/>
          <p:cNvSpPr/>
          <p:nvPr/>
        </p:nvSpPr>
        <p:spPr>
          <a:xfrm>
            <a:off x="502920" y="3529584"/>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648456"/>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621024"/>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市場への参入・退出が自由である（完全競争と同様）</a:t>
            </a:r>
          </a:p>
        </p:txBody>
      </p:sp>
      <p:sp>
        <p:nvSpPr>
          <p:cNvPr id="18" name="Rounded Rectangle 17"/>
          <p:cNvSpPr/>
          <p:nvPr/>
        </p:nvSpPr>
        <p:spPr>
          <a:xfrm>
            <a:off x="502920" y="4297680"/>
            <a:ext cx="11183112" cy="1581912"/>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41655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389120"/>
            <a:ext cx="9674352" cy="1399032"/>
          </a:xfrm>
          <a:prstGeom prst="rect">
            <a:avLst/>
          </a:prstGeom>
          <a:noFill/>
        </p:spPr>
        <p:txBody>
          <a:bodyPr wrap="square" tIns="91440" bIns="91440" anchor="t">
            <a:spAutoFit/>
          </a:bodyPr>
          <a:lstStyle/>
          <a:p>
            <a:pPr algn="l">
              <a:spcAft>
                <a:spcPts val="0"/>
              </a:spcAft>
            </a:pPr>
            <a:r>
              <a:rPr sz="1150" b="0">
                <a:solidFill>
                  <a:srgbClr val="172033"/>
                </a:solidFill>
                <a:latin typeface="WenQuanYi Micro Hei"/>
              </a:rPr>
              <a:t>独占的競争市場では、企業が短期的に高い利潤を上げていると、その利潤に惹かれて新規参入が相次ぎます。新規参入企業が増えるほど、既存企業が直面する需要曲線は左にシフトしていき（顧客が分散するため）、最終的には長期的に利潤がゼロになる水準（需要曲線が平均費用曲線に接する点）まで参入が続きます。つまり、独占的競争市場の長期均衡では、独占市場のような超過利潤は残らない一方で、完全競争市場のように費用最小の生産量では生産されず、平均費用がやや割高な水準で生産が行われる（生産設備を効率的に使い切れていない「過剰生産能力」が残る）とされてい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A-32｜製品差別化と独占的競争</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組織と戦略の経済学（A-29〜A-33）｜2/2</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飲食店やアパレルブランドなど、身の回りの多くの業種はこの独占的競争市場の性質を持っています。</a:t>
            </a:r>
          </a:p>
        </p:txBody>
      </p:sp>
      <p:sp>
        <p:nvSpPr>
          <p:cNvPr id="9" name="Rounded Rectangle 8"/>
          <p:cNvSpPr/>
          <p:nvPr/>
        </p:nvSpPr>
        <p:spPr>
          <a:xfrm>
            <a:off x="502920" y="1810512"/>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1" name="TextBox 10"/>
          <p:cNvSpPr txBox="1"/>
          <p:nvPr/>
        </p:nvSpPr>
        <p:spPr>
          <a:xfrm>
            <a:off x="1764792" y="1901952"/>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同じラーメンという商品カテゴリーの中でも、店ごとにスープの味・盛り付け・接客・立地などで差別化されており、それぞれの店はある程度自分の価格を設定できます（完全な価格競争にはならない）。しかし、繁盛している人気店を見て新規出店が相次げば、やがて各店の集客力は分散し、長期的には目立った超過利潤は残りにくくなります。</a:t>
            </a:r>
          </a:p>
        </p:txBody>
      </p:sp>
      <p:sp>
        <p:nvSpPr>
          <p:cNvPr id="12" name="Rounded Rectangle 11"/>
          <p:cNvSpPr/>
          <p:nvPr/>
        </p:nvSpPr>
        <p:spPr>
          <a:xfrm>
            <a:off x="502920" y="3008376"/>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12724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4" name="TextBox 13"/>
          <p:cNvSpPr txBox="1"/>
          <p:nvPr/>
        </p:nvSpPr>
        <p:spPr>
          <a:xfrm>
            <a:off x="1764792" y="309981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独占的競争市場は「独占市場と同じように、長期的にも高い超過利潤を得続けられる」市場ではありません。参入が自由であるため、独占市場とは異なり、長期的には利潤がゼロに収束していく点が独占的競争の重要な特徴です。「差別化された製品を売っている＝独占と同じ性質を持つ」と短絡的に考えないよう注意しましょう。</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A-33</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規模の経済性・範囲の経済性</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a:t>
            </a:r>
          </a:p>
        </p:txBody>
      </p:sp>
      <p:sp>
        <p:nvSpPr>
          <p:cNvPr id="6" name="Rounded Rectangle 5"/>
          <p:cNvSpPr/>
          <p:nvPr/>
        </p:nvSpPr>
        <p:spPr>
          <a:xfrm>
            <a:off x="502920" y="1024128"/>
            <a:ext cx="5500116"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24128"/>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115568"/>
            <a:ext cx="5180076"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規模の経済性（スケール・メリット）</a:t>
            </a:r>
          </a:p>
        </p:txBody>
      </p:sp>
      <p:sp>
        <p:nvSpPr>
          <p:cNvPr id="9" name="TextBox 8"/>
          <p:cNvSpPr txBox="1"/>
          <p:nvPr/>
        </p:nvSpPr>
        <p:spPr>
          <a:xfrm>
            <a:off x="704088" y="1444752"/>
            <a:ext cx="5180076"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生産量（事業規模）が大きくなるほど、製品1単位あたりの平均費用が低下していく現象。工場の建設費や大型設備の導入費用など、生…</a:t>
            </a:r>
          </a:p>
        </p:txBody>
      </p:sp>
      <p:sp>
        <p:nvSpPr>
          <p:cNvPr id="10" name="Rounded Rectangle 9"/>
          <p:cNvSpPr/>
          <p:nvPr/>
        </p:nvSpPr>
        <p:spPr>
          <a:xfrm>
            <a:off x="6204203" y="1024128"/>
            <a:ext cx="5500116"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4203" y="1024128"/>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5371" y="1115568"/>
            <a:ext cx="5180076"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範囲の経済性</a:t>
            </a:r>
          </a:p>
        </p:txBody>
      </p:sp>
      <p:sp>
        <p:nvSpPr>
          <p:cNvPr id="13" name="TextBox 12"/>
          <p:cNvSpPr txBox="1"/>
          <p:nvPr/>
        </p:nvSpPr>
        <p:spPr>
          <a:xfrm>
            <a:off x="6405371" y="1444752"/>
            <a:ext cx="5180076"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ある企業が複数の異なる製品・事業を1つの企業内で手がける方が、それぞれを別々の企業が独立して手がけるよりも、合計の総費用が…</a:t>
            </a:r>
          </a:p>
        </p:txBody>
      </p:sp>
      <p:sp>
        <p:nvSpPr>
          <p:cNvPr id="14" name="Rounded Rectangle 13"/>
          <p:cNvSpPr/>
          <p:nvPr/>
        </p:nvSpPr>
        <p:spPr>
          <a:xfrm>
            <a:off x="502920" y="3145536"/>
            <a:ext cx="5500116"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145536"/>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 y="3236976"/>
            <a:ext cx="5180076"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規模の経済性</a:t>
            </a:r>
          </a:p>
        </p:txBody>
      </p:sp>
      <p:sp>
        <p:nvSpPr>
          <p:cNvPr id="17" name="TextBox 16"/>
          <p:cNvSpPr txBox="1"/>
          <p:nvPr/>
        </p:nvSpPr>
        <p:spPr>
          <a:xfrm>
            <a:off x="704088" y="3566160"/>
            <a:ext cx="5180076"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「同一製品の生産量」に着目した概念、範囲の経済性は「複数の異なる製品・事業の組み合わせ」に着目した概念、という違いに注…</a:t>
            </a:r>
          </a:p>
        </p:txBody>
      </p:sp>
      <p:sp>
        <p:nvSpPr>
          <p:cNvPr id="18" name="Rounded Rectangle 17"/>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自動車メーカーが生産台数を増やすほど、1台あたりの工場設備費・研究開発費の負担が薄まり、原価が下がっていくのが規模の経済性です。一方、同じ工場やエンジン技術、部品の共通化を活かして、乗用車だけでなくトラックや…</a:t>
            </a:r>
          </a:p>
        </p:txBody>
      </p:sp>
      <p:sp>
        <p:nvSpPr>
          <p:cNvPr id="19" name="Rounded Rectangle 18"/>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規模の経済性」と「範囲の経済性」を、どちらも単に「大きい会社ほど有利」という意味で混同しないようにしましょう。前者は「同じ製品をたくさん作ること」による効果、後者は「複数の異なる製品を一緒に作ること」による…</a:t>
            </a:r>
          </a:p>
        </p:txBody>
      </p:sp>
      <p:sp>
        <p:nvSpPr>
          <p:cNvPr id="20" name="Rectangle 19"/>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2" name="TextBox 21"/>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A-33｜規模の経済性・範囲の経済性</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組織と戦略の経済学（A-29〜A-33）｜1/2</a:t>
            </a:r>
          </a:p>
        </p:txBody>
      </p:sp>
      <p:sp>
        <p:nvSpPr>
          <p:cNvPr id="6" name="Rounded Rectangle 5"/>
          <p:cNvSpPr/>
          <p:nvPr/>
        </p:nvSpPr>
        <p:spPr>
          <a:xfrm>
            <a:off x="502920" y="1042415"/>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規模の経済性（スケール・メリット）：生産量（事業規模）が大きくなるほど、製品1単位あたりの平均費用が低下していく現象。工場の建設費や大型設備の導入費用など、生産量に関わらずかかる固定費用の負担が、生産量の増加によって1単位あたりに薄まっていくこと（固定費用の分散）が主な要因です。</a:t>
            </a:r>
          </a:p>
        </p:txBody>
      </p:sp>
      <p:sp>
        <p:nvSpPr>
          <p:cNvPr id="9" name="Rounded Rectangle 8"/>
          <p:cNvSpPr/>
          <p:nvPr/>
        </p:nvSpPr>
        <p:spPr>
          <a:xfrm>
            <a:off x="502920" y="2240280"/>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33172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範囲の経済性：ある企業が複数の異なる製品・事業を1つの企業内で手がける方が、それぞれを別々の企業が独立して手がけるよりも、合計の総費用が安く済む現象。共通の設備・ノウハウ・販売網・ブランドなどを複数の事業で使い回せる（シナジー効果を発揮できる）ことが要因です。</a:t>
            </a:r>
          </a:p>
        </p:txBody>
      </p:sp>
      <p:sp>
        <p:nvSpPr>
          <p:cNvPr id="12" name="Rounded Rectangle 11"/>
          <p:cNvSpPr/>
          <p:nvPr/>
        </p:nvSpPr>
        <p:spPr>
          <a:xfrm>
            <a:off x="502920" y="3438144"/>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557016"/>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529584"/>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規模の経済性は「同一製品の生産量」に着目した概念、範囲の経済性は「複数の異なる製品・事業の組み合わせ」に着目した概念、という違いに注意してください。</a:t>
            </a:r>
          </a:p>
        </p:txBody>
      </p:sp>
      <p:sp>
        <p:nvSpPr>
          <p:cNvPr id="15" name="Rounded Rectangle 14"/>
          <p:cNvSpPr/>
          <p:nvPr/>
        </p:nvSpPr>
        <p:spPr>
          <a:xfrm>
            <a:off x="502920" y="4389120"/>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507992"/>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7" name="TextBox 16"/>
          <p:cNvSpPr txBox="1"/>
          <p:nvPr/>
        </p:nvSpPr>
        <p:spPr>
          <a:xfrm>
            <a:off x="1764792" y="448056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自動車メーカーが生産台数を増やすほど、1台あたりの工場設備費・研究開発費の負担が薄まり、原価が下がっていくのが規模の経済性です。一方、同じ工場やエンジン技術、部品の共通化を活かして、乗用車だけでなくトラックやバスも生産する方が、それぞれを専業の別会社が作るよりも総コストが安くなるのが範囲の経済性で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A-33｜規模の経済性・範囲の経済性</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組織と戦略の経済学（A-29〜A-33）｜2/2</a:t>
            </a:r>
          </a:p>
        </p:txBody>
      </p:sp>
      <p:sp>
        <p:nvSpPr>
          <p:cNvPr id="6" name="Rounded Rectangle 5"/>
          <p:cNvSpPr/>
          <p:nvPr/>
        </p:nvSpPr>
        <p:spPr>
          <a:xfrm>
            <a:off x="502920" y="1042415"/>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規模の経済性」と「範囲の経済性」を、どちらも単に「大きい会社ほど有利」という意味で混同しないようにしましょう。前者は「同じ製品をたくさん作ること」による効果、後者は「複数の異なる製品を一緒に作ること」による効果、という着眼点の違いを区別することが重要です（C科目C-3の「シナジー」の考え方は、この範囲の経済性と関連が深い概念です）。</a:t>
            </a:r>
          </a:p>
        </p:txBody>
      </p:sp>
      <p:sp>
        <p:nvSpPr>
          <p:cNvPr id="9" name="Rectangle 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1" name="TextBox 1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08</a:t>
            </a:r>
          </a:p>
        </p:txBody>
      </p:sp>
      <p:sp>
        <p:nvSpPr>
          <p:cNvPr id="5" name="TextBox 4"/>
          <p:cNvSpPr txBox="1"/>
          <p:nvPr/>
        </p:nvSpPr>
        <p:spPr>
          <a:xfrm>
            <a:off x="1188720" y="1993392"/>
            <a:ext cx="9784080" cy="96012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所得分配</a:t>
            </a:r>
          </a:p>
        </p:txBody>
      </p:sp>
      <p:sp>
        <p:nvSpPr>
          <p:cNvPr id="6" name="TextBox 5"/>
          <p:cNvSpPr txBox="1"/>
          <p:nvPr/>
        </p:nvSpPr>
        <p:spPr>
          <a:xfrm>
            <a:off x="1234440" y="3017520"/>
            <a:ext cx="9720072" cy="1005840"/>
          </a:xfrm>
          <a:prstGeom prst="rect">
            <a:avLst/>
          </a:prstGeom>
          <a:noFill/>
        </p:spPr>
        <p:txBody>
          <a:bodyPr wrap="square" tIns="91440" bIns="91440" anchor="ctr">
            <a:spAutoFit/>
          </a:bodyPr>
          <a:lstStyle/>
          <a:p>
            <a:pPr algn="ctr">
              <a:spcAft>
                <a:spcPts val="0"/>
              </a:spcAft>
            </a:pPr>
            <a:r>
              <a:rPr sz="1400" b="0">
                <a:solidFill>
                  <a:srgbClr val="667085"/>
                </a:solidFill>
                <a:latin typeface="WenQuanYi Micro Hei"/>
              </a:rPr>
              <a:t>第8部では、経済全体で生み出された所得が、社会の中でどのように分配され、政府がその分配のあり方にどう関与するかを学びます。</a:t>
            </a:r>
          </a:p>
        </p:txBody>
      </p:sp>
      <p:sp>
        <p:nvSpPr>
          <p:cNvPr id="7" name="Rounded Rectangle 6"/>
          <p:cNvSpPr/>
          <p:nvPr/>
        </p:nvSpPr>
        <p:spPr>
          <a:xfrm>
            <a:off x="4261104" y="4315968"/>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3 論点</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A-34</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公正性・公平性の概念</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所得分配（A-34〜A-36）</a:t>
            </a:r>
          </a:p>
        </p:txBody>
      </p:sp>
      <p:sp>
        <p:nvSpPr>
          <p:cNvPr id="6" name="Rounded Rectangle 5"/>
          <p:cNvSpPr/>
          <p:nvPr/>
        </p:nvSpPr>
        <p:spPr>
          <a:xfrm>
            <a:off x="502920" y="1024128"/>
            <a:ext cx="3599688"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24128"/>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115568"/>
            <a:ext cx="327964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ローレンツ曲線</a:t>
            </a:r>
          </a:p>
        </p:txBody>
      </p:sp>
      <p:sp>
        <p:nvSpPr>
          <p:cNvPr id="9" name="TextBox 8"/>
          <p:cNvSpPr txBox="1"/>
          <p:nvPr/>
        </p:nvSpPr>
        <p:spPr>
          <a:xfrm>
            <a:off x="704088" y="1444752"/>
            <a:ext cx="3279648"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とジニ係数です。</a:t>
            </a:r>
          </a:p>
        </p:txBody>
      </p:sp>
      <p:sp>
        <p:nvSpPr>
          <p:cNvPr id="10" name="Rounded Rectangle 9"/>
          <p:cNvSpPr/>
          <p:nvPr/>
        </p:nvSpPr>
        <p:spPr>
          <a:xfrm>
            <a:off x="4303776" y="1024128"/>
            <a:ext cx="3599688"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03776" y="1024128"/>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4944" y="1115568"/>
            <a:ext cx="327964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ジニ係数</a:t>
            </a:r>
          </a:p>
        </p:txBody>
      </p:sp>
      <p:sp>
        <p:nvSpPr>
          <p:cNvPr id="13" name="TextBox 12"/>
          <p:cNvSpPr txBox="1"/>
          <p:nvPr/>
        </p:nvSpPr>
        <p:spPr>
          <a:xfrm>
            <a:off x="4504944" y="1444752"/>
            <a:ext cx="3279648"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均等分配線とローレンツ曲線に囲まれた面積の大きさをもとに算出される指標で、0（完全平等）から1（完全不平等、1人がすべての…</a:t>
            </a:r>
          </a:p>
        </p:txBody>
      </p:sp>
      <p:sp>
        <p:nvSpPr>
          <p:cNvPr id="14" name="Rounded Rectangle 13"/>
          <p:cNvSpPr/>
          <p:nvPr/>
        </p:nvSpPr>
        <p:spPr>
          <a:xfrm>
            <a:off x="8104632" y="1024128"/>
            <a:ext cx="3599688"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04632" y="1024128"/>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1115568"/>
            <a:ext cx="327964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垂直的公平</a:t>
            </a:r>
          </a:p>
        </p:txBody>
      </p:sp>
      <p:sp>
        <p:nvSpPr>
          <p:cNvPr id="17" name="TextBox 16"/>
          <p:cNvSpPr txBox="1"/>
          <p:nvPr/>
        </p:nvSpPr>
        <p:spPr>
          <a:xfrm>
            <a:off x="8305800" y="1444752"/>
            <a:ext cx="3279648"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経済状況（所得水準など）が異なる人には、異なる扱いをすべきだという考え方（例：所得の高い人ほど税率が高くなる累進課税）。</a:t>
            </a:r>
          </a:p>
        </p:txBody>
      </p:sp>
      <p:sp>
        <p:nvSpPr>
          <p:cNvPr id="18" name="Rounded Rectangle 17"/>
          <p:cNvSpPr/>
          <p:nvPr/>
        </p:nvSpPr>
        <p:spPr>
          <a:xfrm>
            <a:off x="502920" y="3145536"/>
            <a:ext cx="3599688"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145536"/>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3236976"/>
            <a:ext cx="327964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水平的公平</a:t>
            </a:r>
          </a:p>
        </p:txBody>
      </p:sp>
      <p:sp>
        <p:nvSpPr>
          <p:cNvPr id="21" name="TextBox 20"/>
          <p:cNvSpPr txBox="1"/>
          <p:nvPr/>
        </p:nvSpPr>
        <p:spPr>
          <a:xfrm>
            <a:off x="704088" y="3566160"/>
            <a:ext cx="3279648"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経済状況が同じ人には、同じ扱いをすべきだという考え方（例：同じ所得水準の人には同じ税負担を求める）。</a:t>
            </a:r>
          </a:p>
        </p:txBody>
      </p:sp>
      <p:sp>
        <p:nvSpPr>
          <p:cNvPr id="22" name="Rounded Rectangle 21"/>
          <p:cNvSpPr/>
          <p:nvPr/>
        </p:nvSpPr>
        <p:spPr>
          <a:xfrm>
            <a:off x="4303776" y="3145536"/>
            <a:ext cx="3599688"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03776" y="3145536"/>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04944" y="3236976"/>
            <a:ext cx="327964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所得分配の「公平性」を測る代表的な道具がローレン…</a:t>
            </a:r>
          </a:p>
        </p:txBody>
      </p:sp>
      <p:sp>
        <p:nvSpPr>
          <p:cNvPr id="25" name="Rounded Rectangle 24"/>
          <p:cNvSpPr/>
          <p:nvPr/>
        </p:nvSpPr>
        <p:spPr>
          <a:xfrm>
            <a:off x="8104632" y="3145536"/>
            <a:ext cx="3599688"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04632" y="3145536"/>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05800" y="3236976"/>
            <a:ext cx="327964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公平性の考え方に</a:t>
            </a:r>
          </a:p>
        </p:txBody>
      </p:sp>
      <p:sp>
        <p:nvSpPr>
          <p:cNvPr id="28" name="TextBox 27"/>
          <p:cNvSpPr txBox="1"/>
          <p:nvPr/>
        </p:nvSpPr>
        <p:spPr>
          <a:xfrm>
            <a:off x="8305800" y="3566160"/>
            <a:ext cx="3279648"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次の2つの軸があります。</a:t>
            </a:r>
          </a:p>
        </p:txBody>
      </p:sp>
      <p:sp>
        <p:nvSpPr>
          <p:cNvPr id="29" name="Rounded Rectangle 28"/>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ある国のジニ係数が0.3から0.4に上昇したとすれば、その国の所得格差が拡大していることを意味します。ローレンツ曲線で見れば、均等分配線からより大きく下に膨らんだ形に変化した、ということになります。</a:t>
            </a:r>
          </a:p>
        </p:txBody>
      </p:sp>
      <p:sp>
        <p:nvSpPr>
          <p:cNvPr id="30" name="Rounded Rectangle 29"/>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ジニ係数が1に近いほど所得は平等である」という記述は逆で、正しくはジニ係数が0に近いほど平等、1に近いほど不平等です。ローレンツ曲線が均等分配線に近い（面積が小さい）ほどジニ係数は小さくなる、という対応関係…</a:t>
            </a:r>
          </a:p>
        </p:txBody>
      </p:sp>
      <p:sp>
        <p:nvSpPr>
          <p:cNvPr id="31" name="Rectangle 3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3" name="TextBox 3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A-34｜公正性・公平性の概念</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所得分配（A-34〜A-36）｜1/2</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所得分配の「公平性」を測る代表的な道具がローレンツ曲線とジニ係数です。</a:t>
            </a:r>
          </a:p>
        </p:txBody>
      </p:sp>
      <p:sp>
        <p:nvSpPr>
          <p:cNvPr id="9" name="Rounded Rectangle 8"/>
          <p:cNvSpPr/>
          <p:nvPr/>
        </p:nvSpPr>
        <p:spPr>
          <a:xfrm>
            <a:off x="502920" y="1810512"/>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1901952"/>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ローレンツ曲線：横軸に「所得の低い人から並べた世帯の累積比率」、縦軸に「その世帯までの所得の累積比率」をとって描いた曲線。もし全世帯の所得が完全に平等であれば、このグラフは原点から右上に伸びる45度の直線（均等分配線）に一致します。実際の所得分配は不平等であるため、ローレンツ曲線は均等分配線よりも下に膨らんだ曲線になります。</a:t>
            </a:r>
          </a:p>
        </p:txBody>
      </p:sp>
      <p:sp>
        <p:nvSpPr>
          <p:cNvPr id="12" name="Rounded Rectangle 11"/>
          <p:cNvSpPr/>
          <p:nvPr/>
        </p:nvSpPr>
        <p:spPr>
          <a:xfrm>
            <a:off x="502920" y="3008376"/>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12724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9981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ジニ係数：均等分配線とローレンツ曲線に囲まれた面積の大きさをもとに算出される指標で、0（完全平等）から1（完全不平等、1人がすべての所得を独占する極端な状態）までの値を取ります。ジニ係数が大きいほど、所得格差が大きいことを示します。</a:t>
            </a:r>
          </a:p>
        </p:txBody>
      </p:sp>
      <p:sp>
        <p:nvSpPr>
          <p:cNvPr id="15" name="Rounded Rectangle 14"/>
          <p:cNvSpPr/>
          <p:nvPr/>
        </p:nvSpPr>
        <p:spPr>
          <a:xfrm>
            <a:off x="502920" y="3959352"/>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078224"/>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050791"/>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公平性の考え方には、次の2つの軸があります。</a:t>
            </a:r>
          </a:p>
        </p:txBody>
      </p:sp>
      <p:sp>
        <p:nvSpPr>
          <p:cNvPr id="18" name="Rounded Rectangle 17"/>
          <p:cNvSpPr/>
          <p:nvPr/>
        </p:nvSpPr>
        <p:spPr>
          <a:xfrm>
            <a:off x="502920" y="4727448"/>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846320"/>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818888"/>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垂直的公平：経済状況（所得水準など）が異なる人には、異なる扱いをすべきだという考え方（例：所得の高い人ほど税率が高くなる累進課税）。</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A-34｜公正性・公平性の概念</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所得分配（A-34〜A-36）｜2/2</a:t>
            </a:r>
          </a:p>
        </p:txBody>
      </p:sp>
      <p:sp>
        <p:nvSpPr>
          <p:cNvPr id="6" name="Rounded Rectangle 5"/>
          <p:cNvSpPr/>
          <p:nvPr/>
        </p:nvSpPr>
        <p:spPr>
          <a:xfrm>
            <a:off x="502920" y="1042415"/>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水平的公平：経済状況が同じ人には、同じ扱いをすべきだという考え方（例：同じ所得水準の人には同じ税負担を求める）。</a:t>
            </a:r>
          </a:p>
        </p:txBody>
      </p:sp>
      <p:sp>
        <p:nvSpPr>
          <p:cNvPr id="9" name="Rounded Rectangle 8"/>
          <p:cNvSpPr/>
          <p:nvPr/>
        </p:nvSpPr>
        <p:spPr>
          <a:xfrm>
            <a:off x="502920" y="1810512"/>
            <a:ext cx="11183112" cy="841248"/>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1929384"/>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11" name="TextBox 10"/>
          <p:cNvSpPr txBox="1"/>
          <p:nvPr/>
        </p:nvSpPr>
        <p:spPr>
          <a:xfrm>
            <a:off x="1764792" y="1901952"/>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国のジニ係数が0.3から0.4に上昇したとすれば、その国の所得格差が拡大していることを意味します。ローレンツ曲線で見れば、均等分配線からより大きく下に膨らんだ形に変化した、ということになります。</a:t>
            </a:r>
          </a:p>
        </p:txBody>
      </p:sp>
      <p:sp>
        <p:nvSpPr>
          <p:cNvPr id="12" name="Rounded Rectangle 11"/>
          <p:cNvSpPr/>
          <p:nvPr/>
        </p:nvSpPr>
        <p:spPr>
          <a:xfrm>
            <a:off x="502920" y="2761488"/>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2880360"/>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4" name="TextBox 13"/>
          <p:cNvSpPr txBox="1"/>
          <p:nvPr/>
        </p:nvSpPr>
        <p:spPr>
          <a:xfrm>
            <a:off x="1764792" y="2852928"/>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ジニ係数が1に近いほど所得は平等である」という記述は逆で、正しくはジニ係数が0に近いほど平等、1に近いほど不平等です。ローレンツ曲線が均等分配線に近い（面積が小さい）ほどジニ係数は小さくなる、という対応関係を図でイメージしながら覚えましょう。</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A-35</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生産要素市場と生産要素報酬</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所得分配（A-34〜A-36）</a:t>
            </a:r>
          </a:p>
        </p:txBody>
      </p:sp>
      <p:sp>
        <p:nvSpPr>
          <p:cNvPr id="6" name="Rounded Rectangle 5"/>
          <p:cNvSpPr/>
          <p:nvPr/>
        </p:nvSpPr>
        <p:spPr>
          <a:xfrm>
            <a:off x="777240" y="1188720"/>
            <a:ext cx="10634472" cy="117043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200" b="1">
                <a:solidFill>
                  <a:srgbClr val="4F46E5"/>
                </a:solidFill>
                <a:latin typeface="WenQuanYi Micro Hei"/>
              </a:rPr>
              <a:t>賃金率 = 労働の限界生産力価値（＝労働の限界生産物 × 製品価格）</a:t>
            </a:r>
          </a:p>
        </p:txBody>
      </p:sp>
      <p:sp>
        <p:nvSpPr>
          <p:cNvPr id="7" name="Rounded Rectangle 6"/>
          <p:cNvSpPr/>
          <p:nvPr/>
        </p:nvSpPr>
        <p:spPr>
          <a:xfrm>
            <a:off x="777240"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生産要素</a:t>
            </a:r>
          </a:p>
        </p:txBody>
      </p:sp>
      <p:sp>
        <p:nvSpPr>
          <p:cNvPr id="10" name="TextBox 9"/>
          <p:cNvSpPr txBox="1"/>
          <p:nvPr/>
        </p:nvSpPr>
        <p:spPr>
          <a:xfrm>
            <a:off x="978408"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（生産に使われる資源）そのものが取引される市場もあります。企業は、生産要素市場において労働者を雇い（賃金を支払い）、資本を…</a:t>
            </a:r>
          </a:p>
        </p:txBody>
      </p:sp>
      <p:sp>
        <p:nvSpPr>
          <p:cNvPr id="11" name="Rounded Rectangle 10"/>
          <p:cNvSpPr/>
          <p:nvPr/>
        </p:nvSpPr>
        <p:spPr>
          <a:xfrm>
            <a:off x="4370832"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2"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労働の限界生産力価値（限界生産物の価値）</a:t>
            </a:r>
          </a:p>
        </p:txBody>
      </p:sp>
      <p:sp>
        <p:nvSpPr>
          <p:cNvPr id="14" name="TextBox 13"/>
          <p:cNvSpPr txBox="1"/>
          <p:nvPr/>
        </p:nvSpPr>
        <p:spPr>
          <a:xfrm>
            <a:off x="4572000"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と呼びます。</a:t>
            </a:r>
          </a:p>
        </p:txBody>
      </p:sp>
      <p:sp>
        <p:nvSpPr>
          <p:cNvPr id="15" name="Rounded Rectangle 14"/>
          <p:cNvSpPr/>
          <p:nvPr/>
        </p:nvSpPr>
        <p:spPr>
          <a:xfrm>
            <a:off x="7964424"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64424"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限界生産力説</a:t>
            </a:r>
          </a:p>
        </p:txBody>
      </p:sp>
      <p:sp>
        <p:nvSpPr>
          <p:cNvPr id="18" name="TextBox 17"/>
          <p:cNvSpPr txBox="1"/>
          <p:nvPr/>
        </p:nvSpPr>
        <p:spPr>
          <a:xfrm>
            <a:off x="8165592"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）。同様の理屈は資本市場にも当てはまり、資本のレンタル価格（利子率に相当）は資本の限界生産力によって決まると考えられます。</a:t>
            </a:r>
          </a:p>
        </p:txBody>
      </p:sp>
      <p:sp>
        <p:nvSpPr>
          <p:cNvPr id="19" name="Rounded Rectangle 18"/>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ある工場で、追加的にもう1人従業員を雇うことで得られる生産物の増加分の市場価値が月30万円だとすれば、企業がその従業員に支払ってよい賃金の上限はおおよそ月30万円になる、というのが労働の限界生産力価値の考え方…</a:t>
            </a:r>
          </a:p>
        </p:txBody>
      </p:sp>
      <p:sp>
        <p:nvSpPr>
          <p:cNvPr id="20" name="Rounded Rectangle 19"/>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賃金は労働者の生活費（必要経費）を基準に決まる」という考え方と、経済学における「賃金は労働の限界生産力（その労働者が生み出す追加的な価値）によって決まる」という考え方（限界生産力説）を混同しないようにしまし…</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A-35｜生産要素市場と生産要素報酬</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所得分配（A-34〜A-36）｜1/2</a:t>
            </a:r>
          </a:p>
        </p:txBody>
      </p:sp>
      <p:sp>
        <p:nvSpPr>
          <p:cNvPr id="6" name="Rounded Rectangle 5"/>
          <p:cNvSpPr/>
          <p:nvPr/>
        </p:nvSpPr>
        <p:spPr>
          <a:xfrm>
            <a:off x="502920" y="1042415"/>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これまでの部で見てきた「モノやサービスが取引される市場」に対し、労働・資本といった生産要素（生産に使われる資源）そのものが取引される市場もあります。企業は、生産要素市場において労働者を雇い（賃金を支払い）、資本を調達します（利子・レンタル料を支払います）。</a:t>
            </a:r>
          </a:p>
        </p:txBody>
      </p:sp>
      <p:sp>
        <p:nvSpPr>
          <p:cNvPr id="9" name="Rounded Rectangle 8"/>
          <p:cNvSpPr/>
          <p:nvPr/>
        </p:nvSpPr>
        <p:spPr>
          <a:xfrm>
            <a:off x="502920" y="2240280"/>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33172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完全競争的な労働市場において、企業が利潤を最大化するように労働者の雇用量を決める条件は、「労働をもう1単位追加的に雇うことで得られる収入の増加分」と「そのために支払う賃金」が等しくなる点です。この「労働をもう1単位追加することで得られる収入の増加分」を労働の限界生産力価値（限界生産物の価値）と呼びます。</a:t>
            </a:r>
          </a:p>
        </p:txBody>
      </p:sp>
      <p:sp>
        <p:nvSpPr>
          <p:cNvPr id="12" name="Rounded Rectangle 11"/>
          <p:cNvSpPr/>
          <p:nvPr/>
        </p:nvSpPr>
        <p:spPr>
          <a:xfrm>
            <a:off x="502920" y="3438144"/>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557016"/>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529584"/>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賃金率 = 労働の限界生産力価値（＝労働の限界生産物 × 製品価格）</a:t>
            </a:r>
          </a:p>
        </p:txBody>
      </p:sp>
      <p:sp>
        <p:nvSpPr>
          <p:cNvPr id="15" name="Rounded Rectangle 14"/>
          <p:cNvSpPr/>
          <p:nvPr/>
        </p:nvSpPr>
        <p:spPr>
          <a:xfrm>
            <a:off x="502920" y="4206240"/>
            <a:ext cx="11183112" cy="1088136"/>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32511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429768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つまり、生産要素（労働）に対する報酬（賃金）は、その生産要素が生み出す追加的な価値（限界生産力）によって決まる、という考え方です（限界生産力説）。同様の理屈は資本市場にも当てはまり、資本のレンタル価格（利子率に相当）は資本の限界生産力によって決まると考えられます。</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A-35｜生産要素市場と生産要素報酬</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所得分配（A-34〜A-36）｜2/2</a:t>
            </a:r>
          </a:p>
        </p:txBody>
      </p:sp>
      <p:sp>
        <p:nvSpPr>
          <p:cNvPr id="6" name="Rounded Rectangle 5"/>
          <p:cNvSpPr/>
          <p:nvPr/>
        </p:nvSpPr>
        <p:spPr>
          <a:xfrm>
            <a:off x="502920" y="1042415"/>
            <a:ext cx="11183112" cy="841248"/>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工場で、追加的にもう1人従業員を雇うことで得られる生産物の増加分の市場価値が月30万円だとすれば、企業がその従業員に支払ってよい賃金の上限はおおよそ月30万円になる、というのが労働の限界生産力価値の考え方です。</a:t>
            </a:r>
          </a:p>
        </p:txBody>
      </p:sp>
      <p:sp>
        <p:nvSpPr>
          <p:cNvPr id="9" name="Rounded Rectangle 8"/>
          <p:cNvSpPr/>
          <p:nvPr/>
        </p:nvSpPr>
        <p:spPr>
          <a:xfrm>
            <a:off x="502920" y="1993391"/>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1" name="TextBox 10"/>
          <p:cNvSpPr txBox="1"/>
          <p:nvPr/>
        </p:nvSpPr>
        <p:spPr>
          <a:xfrm>
            <a:off x="1764792" y="2084831"/>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賃金は労働者の生活費（必要経費）を基準に決まる」という考え方と、経済学における「賃金は労働の限界生産力（その労働者が生み出す追加的な価値）によって決まる」という考え方（限界生産力説）を混同しないようにしましょう。試験で問われるのはあくまで後者の理論です。</a:t>
            </a:r>
          </a:p>
        </p:txBody>
      </p:sp>
      <p:sp>
        <p:nvSpPr>
          <p:cNvPr id="12" name="Rectangle 1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4" name="TextBox 1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A-36</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所得再分配と税制・補助金</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所得分配（A-34〜A-36）</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累進課税制度</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所得が高くなるほど税率も高くなる仕組み（垂直的公平の実現手段）。高所得者からより多くの税を徴収し、それを財源に低所得者向け…</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社会保障制度</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年金、医療保険、生活保護、失業給付などを通じた所得移転。</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負の所得税</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一定の所得水準を下回る世帯に対して、税を徴収する代わりに逆に給付を行う（マイナスの税を課す）という考え方の制度案。低所得者…</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市場メカニズムに任せた結果として生じる所得格差（…</a:t>
            </a:r>
          </a:p>
        </p:txBody>
      </p:sp>
      <p:sp>
        <p:nvSpPr>
          <p:cNvPr id="23" name="Rounded Rectangle 22"/>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代表的な手段に</a:t>
            </a:r>
          </a:p>
        </p:txBody>
      </p:sp>
      <p:sp>
        <p:nvSpPr>
          <p:cNvPr id="26" name="TextBox 25"/>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次のものがあります。</a:t>
            </a:r>
          </a:p>
        </p:txBody>
      </p:sp>
      <p:sp>
        <p:nvSpPr>
          <p:cNvPr id="27" name="Rounded Rectangle 26"/>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所得再分配政策に</a:t>
            </a:r>
          </a:p>
        </p:txBody>
      </p:sp>
      <p:sp>
        <p:nvSpPr>
          <p:cNvPr id="30" name="TextBox 29"/>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格差を是正するという利点がある一方で、高い累進課税は高所得者の勤労意欲や投資意欲を削いでしまう可能性がある、というトレ…</a:t>
            </a:r>
          </a:p>
        </p:txBody>
      </p:sp>
      <p:sp>
        <p:nvSpPr>
          <p:cNvPr id="31" name="Rounded Rectangle 30"/>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日本の所得税は累進課税制度を採用しており、課税所得が高くなるほど段階的に高い税率が適用されます。国税庁の統計などで「再分配前のジニ係数」と「税・社会保障による再分配後のジニ係数」を比較すると、再分配後の方が値…</a:t>
            </a:r>
          </a:p>
        </p:txBody>
      </p:sp>
      <p:sp>
        <p:nvSpPr>
          <p:cNvPr id="32" name="Rounded Rectangle 31"/>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消費税のような税は、高所得者ほど負担割合が高くなる累進的な税である」という記述は誤りです。消費税は、所得に占める消費支出の割合が低所得者ほど高くなる傾向があるため、一般に逆進的（低所得者ほど所得に対する負担…</a:t>
            </a:r>
          </a:p>
        </p:txBody>
      </p:sp>
      <p:sp>
        <p:nvSpPr>
          <p:cNvPr id="33" name="Rectangle 32"/>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5" name="TextBox 34"/>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A-36｜所得再分配と税制・補助金</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所得分配（A-34〜A-36）｜1/2</a:t>
            </a:r>
          </a:p>
        </p:txBody>
      </p:sp>
      <p:sp>
        <p:nvSpPr>
          <p:cNvPr id="6" name="Rounded Rectangle 5"/>
          <p:cNvSpPr/>
          <p:nvPr/>
        </p:nvSpPr>
        <p:spPr>
          <a:xfrm>
            <a:off x="502920" y="1042415"/>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8" name="TextBox 7"/>
          <p:cNvSpPr txBox="1"/>
          <p:nvPr/>
        </p:nvSpPr>
        <p:spPr>
          <a:xfrm>
            <a:off x="1764792" y="1133856"/>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市場メカニズムに任せた結果として生じる所得格差（A-34）を是正するために、政府は税制や社会保障制度を通じて所得の再分配を行います。代表的な手段には次のものがあります。</a:t>
            </a:r>
          </a:p>
        </p:txBody>
      </p:sp>
      <p:sp>
        <p:nvSpPr>
          <p:cNvPr id="9" name="Rounded Rectangle 8"/>
          <p:cNvSpPr/>
          <p:nvPr/>
        </p:nvSpPr>
        <p:spPr>
          <a:xfrm>
            <a:off x="502920" y="1993391"/>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112263"/>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1" name="TextBox 10"/>
          <p:cNvSpPr txBox="1"/>
          <p:nvPr/>
        </p:nvSpPr>
        <p:spPr>
          <a:xfrm>
            <a:off x="1764792" y="2084831"/>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累進課税制度：所得が高くなるほど税率も高くなる仕組み（垂直的公平の実現手段）。高所得者からより多くの税を徴収し、それを財源に低所得者向けの給付や社会保障に充てることで、税負担後・給付後の所得格差は、税・給付前の所得格差よりも縮小します。</a:t>
            </a:r>
          </a:p>
        </p:txBody>
      </p:sp>
      <p:sp>
        <p:nvSpPr>
          <p:cNvPr id="12" name="Rounded Rectangle 11"/>
          <p:cNvSpPr/>
          <p:nvPr/>
        </p:nvSpPr>
        <p:spPr>
          <a:xfrm>
            <a:off x="502920" y="2944368"/>
            <a:ext cx="11183112" cy="65836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063239"/>
            <a:ext cx="987552" cy="420623"/>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4" name="TextBox 13"/>
          <p:cNvSpPr txBox="1"/>
          <p:nvPr/>
        </p:nvSpPr>
        <p:spPr>
          <a:xfrm>
            <a:off x="1764792" y="3035808"/>
            <a:ext cx="9674352" cy="47548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社会保障制度：年金、医療保険、生活保護、失業給付などを通じた所得移転。</a:t>
            </a:r>
          </a:p>
        </p:txBody>
      </p:sp>
      <p:sp>
        <p:nvSpPr>
          <p:cNvPr id="15" name="Rounded Rectangle 14"/>
          <p:cNvSpPr/>
          <p:nvPr/>
        </p:nvSpPr>
        <p:spPr>
          <a:xfrm>
            <a:off x="502920" y="3712463"/>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831335"/>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17" name="TextBox 16"/>
          <p:cNvSpPr txBox="1"/>
          <p:nvPr/>
        </p:nvSpPr>
        <p:spPr>
          <a:xfrm>
            <a:off x="1764792" y="3803903"/>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負の所得税：一定の所得水準を下回る世帯に対して、税を徴収する代わりに逆に給付を行う（マイナスの税を課す）という考え方の制度案。低所得者への支援を、複雑な行政手続きなしに税制の枠組みの中でシンプルに実現しようとする発想です。</a:t>
            </a:r>
          </a:p>
        </p:txBody>
      </p:sp>
      <p:sp>
        <p:nvSpPr>
          <p:cNvPr id="18" name="Rounded Rectangle 17"/>
          <p:cNvSpPr/>
          <p:nvPr/>
        </p:nvSpPr>
        <p:spPr>
          <a:xfrm>
            <a:off x="502920" y="4663440"/>
            <a:ext cx="11183112" cy="841248"/>
          </a:xfrm>
          <a:prstGeom prst="roundRect">
            <a:avLst/>
          </a:prstGeom>
          <a:solidFill>
            <a:srgbClr val="F8FAFC"/>
          </a:solidFill>
          <a:ln w="12700">
            <a:solidFill>
              <a:srgbClr val="9EA1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 y="4782312"/>
            <a:ext cx="987552" cy="420624"/>
          </a:xfrm>
          <a:prstGeom prst="roundRect">
            <a:avLst/>
          </a:prstGeom>
          <a:solidFill>
            <a:srgbClr val="172033"/>
          </a:solidFill>
          <a:ln w="12700">
            <a:solidFill>
              <a:srgbClr val="17203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基本概念</a:t>
            </a:r>
          </a:p>
        </p:txBody>
      </p:sp>
      <p:sp>
        <p:nvSpPr>
          <p:cNvPr id="20" name="TextBox 19"/>
          <p:cNvSpPr txBox="1"/>
          <p:nvPr/>
        </p:nvSpPr>
        <p:spPr>
          <a:xfrm>
            <a:off x="1764792" y="4754879"/>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所得再分配政策には、格差を是正するという利点がある一方で、高い累進課税は高所得者の勤労意欲や投資意欲を削いでしまう可能性がある、というトレードオフ（効率性と公平性のトレードオフ）が指摘されることもあります。</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A-36｜所得再分配と税制・補助金</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所得分配（A-34〜A-36）｜2/2</a:t>
            </a:r>
          </a:p>
        </p:txBody>
      </p:sp>
      <p:sp>
        <p:nvSpPr>
          <p:cNvPr id="6" name="Rounded Rectangle 5"/>
          <p:cNvSpPr/>
          <p:nvPr/>
        </p:nvSpPr>
        <p:spPr>
          <a:xfrm>
            <a:off x="502920" y="1042415"/>
            <a:ext cx="11183112" cy="1088136"/>
          </a:xfrm>
          <a:prstGeom prst="roundRect">
            <a:avLst/>
          </a:prstGeom>
          <a:solidFill>
            <a:srgbClr val="EFF8FF"/>
          </a:solidFill>
          <a:ln w="12700">
            <a:solidFill>
              <a:srgbClr val="9EBB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175CD3"/>
          </a:solidFill>
          <a:ln w="12700">
            <a:solidFill>
              <a:srgbClr val="175CD3"/>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具体例</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日本の所得税は累進課税制度を採用しており、課税所得が高くなるほど段階的に高い税率が適用されます。国税庁の統計などで「再分配前のジニ係数」と「税・社会保障による再分配後のジニ係数」を比較すると、再分配後の方が値が小さくなり、税制・社会保障制度が所得格差の縮小に一定の効果を持っていることが確認できます。</a:t>
            </a:r>
          </a:p>
        </p:txBody>
      </p:sp>
      <p:sp>
        <p:nvSpPr>
          <p:cNvPr id="9" name="Rounded Rectangle 8"/>
          <p:cNvSpPr/>
          <p:nvPr/>
        </p:nvSpPr>
        <p:spPr>
          <a:xfrm>
            <a:off x="502920" y="2240280"/>
            <a:ext cx="11183112" cy="1088136"/>
          </a:xfrm>
          <a:prstGeom prst="roundRect">
            <a:avLst/>
          </a:prstGeom>
          <a:solidFill>
            <a:srgbClr val="FEF3F2"/>
          </a:solidFill>
          <a:ln w="12700">
            <a:solidFill>
              <a:srgbClr val="E0A3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B42318"/>
          </a:solidFill>
          <a:ln w="12700">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注意</a:t>
            </a:r>
          </a:p>
        </p:txBody>
      </p:sp>
      <p:sp>
        <p:nvSpPr>
          <p:cNvPr id="11" name="TextBox 10"/>
          <p:cNvSpPr txBox="1"/>
          <p:nvPr/>
        </p:nvSpPr>
        <p:spPr>
          <a:xfrm>
            <a:off x="1764792" y="233172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消費税のような税は、高所得者ほど負担割合が高くなる累進的な税である」という記述は誤りです。消費税は、所得に占める消費支出の割合が低所得者ほど高くなる傾向があるため、一般に逆進的（低所得者ほど所得に対する負担割合が高くなる）な税として位置づけられます。累進課税の代表例は所得税・相続税であり、税の種類によって累進的か逆進的かが異なる点に注意しましょう。</a:t>
            </a:r>
          </a:p>
        </p:txBody>
      </p:sp>
      <p:sp>
        <p:nvSpPr>
          <p:cNvPr id="12" name="Rectangle 1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4" name="TextBox 1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経済学・経済政策｜まとめ全文</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まとめ｜1/2</a:t>
            </a:r>
          </a:p>
        </p:txBody>
      </p:sp>
      <p:sp>
        <p:nvSpPr>
          <p:cNvPr id="6" name="Rounded Rectangle 5"/>
          <p:cNvSpPr/>
          <p:nvPr/>
        </p:nvSpPr>
        <p:spPr>
          <a:xfrm>
            <a:off x="502920" y="1042415"/>
            <a:ext cx="11183112" cy="1088136"/>
          </a:xfrm>
          <a:prstGeom prst="roundRect">
            <a:avLst/>
          </a:prstGeom>
          <a:solidFill>
            <a:srgbClr val="FFFBEB"/>
          </a:solidFill>
          <a:ln w="12700">
            <a:solidFill>
              <a:srgbClr val="D8BB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A15C07"/>
          </a:solidFill>
          <a:ln w="12700">
            <a:solidFill>
              <a:srgbClr val="A15C0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まとめ</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経済学・経済政策は、他の科目に比べて「なぜそうなるのか」という論理展開そのものが問われる科目です。丸暗記ではなく、グラフがどちらの方向に動くのか、なぜそうなるのかを自分の言葉で説明できるようになることが、安定して得点するための一番の近道です。以下の順で学習を進めることをお勧めします。</a:t>
            </a:r>
          </a:p>
        </p:txBody>
      </p:sp>
      <p:sp>
        <p:nvSpPr>
          <p:cNvPr id="9" name="Rounded Rectangle 8"/>
          <p:cNvSpPr/>
          <p:nvPr/>
        </p:nvSpPr>
        <p:spPr>
          <a:xfrm>
            <a:off x="502920" y="2240280"/>
            <a:ext cx="11183112" cy="1088136"/>
          </a:xfrm>
          <a:prstGeom prst="roundRect">
            <a:avLst/>
          </a:prstGeom>
          <a:solidFill>
            <a:srgbClr val="FFFBEB"/>
          </a:solidFill>
          <a:ln w="12700">
            <a:solidFill>
              <a:srgbClr val="D8BB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A15C07"/>
          </a:solidFill>
          <a:ln w="12700">
            <a:solidFill>
              <a:srgbClr val="A15C0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まとめ</a:t>
            </a:r>
          </a:p>
        </p:txBody>
      </p:sp>
      <p:sp>
        <p:nvSpPr>
          <p:cNvPr id="11" name="TextBox 10"/>
          <p:cNvSpPr txBox="1"/>
          <p:nvPr/>
        </p:nvSpPr>
        <p:spPr>
          <a:xfrm>
            <a:off x="1764792" y="2331720"/>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この教科書で、36論点それぞれの基本概念・グラフの動く方向・専門用語の定義を理解する。特にIS-LM分析（A-9）、比較生産費説（A-14）、弾力性（A-22）、ゲーム理論（A-30）は計算・作図パターンが決まっているため、繰り返し手を動かして計算・図示に慣れておく。</a:t>
            </a:r>
          </a:p>
        </p:txBody>
      </p:sp>
      <p:sp>
        <p:nvSpPr>
          <p:cNvPr id="12" name="Rounded Rectangle 11"/>
          <p:cNvSpPr/>
          <p:nvPr/>
        </p:nvSpPr>
        <p:spPr>
          <a:xfrm>
            <a:off x="502920" y="3438144"/>
            <a:ext cx="11183112" cy="841248"/>
          </a:xfrm>
          <a:prstGeom prst="roundRect">
            <a:avLst/>
          </a:prstGeom>
          <a:solidFill>
            <a:srgbClr val="FFFBEB"/>
          </a:solidFill>
          <a:ln w="12700">
            <a:solidFill>
              <a:srgbClr val="D8BB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557016"/>
            <a:ext cx="987552" cy="420624"/>
          </a:xfrm>
          <a:prstGeom prst="roundRect">
            <a:avLst/>
          </a:prstGeom>
          <a:solidFill>
            <a:srgbClr val="A15C07"/>
          </a:solidFill>
          <a:ln w="12700">
            <a:solidFill>
              <a:srgbClr val="A15C0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まとめ</a:t>
            </a:r>
          </a:p>
        </p:txBody>
      </p:sp>
      <p:sp>
        <p:nvSpPr>
          <p:cNvPr id="14" name="TextBox 13"/>
          <p:cNvSpPr txBox="1"/>
          <p:nvPr/>
        </p:nvSpPr>
        <p:spPr>
          <a:xfrm>
            <a:off x="1764792" y="3529584"/>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problem_sets/1st_stage/exercises/A_economics_exercises.md の演習を解いて、実際の出題形式・選択肢の作られ方（「ａ・ｂ・ｃ・ｄの正誤の組み合わせ」形式が中心）に慣れる。</a:t>
            </a:r>
          </a:p>
        </p:txBody>
      </p:sp>
      <p:sp>
        <p:nvSpPr>
          <p:cNvPr id="15" name="Rounded Rectangle 14"/>
          <p:cNvSpPr/>
          <p:nvPr/>
        </p:nvSpPr>
        <p:spPr>
          <a:xfrm>
            <a:off x="502920" y="4389120"/>
            <a:ext cx="11183112" cy="841248"/>
          </a:xfrm>
          <a:prstGeom prst="roundRect">
            <a:avLst/>
          </a:prstGeom>
          <a:solidFill>
            <a:srgbClr val="FFFBEB"/>
          </a:solidFill>
          <a:ln w="12700">
            <a:solidFill>
              <a:srgbClr val="D8BB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4507992"/>
            <a:ext cx="987552" cy="420624"/>
          </a:xfrm>
          <a:prstGeom prst="roundRect">
            <a:avLst/>
          </a:prstGeom>
          <a:solidFill>
            <a:srgbClr val="A15C07"/>
          </a:solidFill>
          <a:ln w="12700">
            <a:solidFill>
              <a:srgbClr val="A15C0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まとめ</a:t>
            </a:r>
          </a:p>
        </p:txBody>
      </p:sp>
      <p:sp>
        <p:nvSpPr>
          <p:cNvPr id="17" name="TextBox 16"/>
          <p:cNvSpPr txBox="1"/>
          <p:nvPr/>
        </p:nvSpPr>
        <p:spPr>
          <a:xfrm>
            <a:off x="1764792" y="4480560"/>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problem_sets/1st_stage/A_economics.md の頻出ランク表を見て、Aランク論点（特にマクロ経済理論・国際経済・市場メカニズム・消費と生産の理論の各分野）を優先的に復習する。</a:t>
            </a:r>
          </a:p>
        </p:txBody>
      </p:sp>
      <p:sp>
        <p:nvSpPr>
          <p:cNvPr id="18" name="Rectangle 1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0" name="TextBox 1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DETAIL</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経済学・経済政策｜まとめ全文</a:t>
            </a:r>
          </a:p>
        </p:txBody>
      </p:sp>
      <p:sp>
        <p:nvSpPr>
          <p:cNvPr id="5" name="TextBox 4"/>
          <p:cNvSpPr txBox="1"/>
          <p:nvPr/>
        </p:nvSpPr>
        <p:spPr>
          <a:xfrm>
            <a:off x="9098280" y="685800"/>
            <a:ext cx="2395728"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まとめ｜2/2</a:t>
            </a:r>
          </a:p>
        </p:txBody>
      </p:sp>
      <p:sp>
        <p:nvSpPr>
          <p:cNvPr id="6" name="Rounded Rectangle 5"/>
          <p:cNvSpPr/>
          <p:nvPr/>
        </p:nvSpPr>
        <p:spPr>
          <a:xfrm>
            <a:off x="502920" y="1042415"/>
            <a:ext cx="11183112" cy="1088136"/>
          </a:xfrm>
          <a:prstGeom prst="roundRect">
            <a:avLst/>
          </a:prstGeom>
          <a:solidFill>
            <a:srgbClr val="FFFBEB"/>
          </a:solidFill>
          <a:ln w="12700">
            <a:solidFill>
              <a:srgbClr val="D8BB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161288"/>
            <a:ext cx="987552" cy="420624"/>
          </a:xfrm>
          <a:prstGeom prst="roundRect">
            <a:avLst/>
          </a:prstGeom>
          <a:solidFill>
            <a:srgbClr val="A15C07"/>
          </a:solidFill>
          <a:ln w="12700">
            <a:solidFill>
              <a:srgbClr val="A15C0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まとめ</a:t>
            </a:r>
          </a:p>
        </p:txBody>
      </p:sp>
      <p:sp>
        <p:nvSpPr>
          <p:cNvPr id="8" name="TextBox 7"/>
          <p:cNvSpPr txBox="1"/>
          <p:nvPr/>
        </p:nvSpPr>
        <p:spPr>
          <a:xfrm>
            <a:off x="1764792" y="113385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演習がまだ用意されていない論点（A-1〜A-8、A-10〜A-12、A-15、A-17〜A-21、A-23〜A-29、A-31〜A-36）についても、過去問本体（past_exams/1st_stage/1ji/A1JI.pdf、正解は past_exams/1st_stage_answers/）に当たって演習量を増やす。</a:t>
            </a:r>
          </a:p>
        </p:txBody>
      </p:sp>
      <p:sp>
        <p:nvSpPr>
          <p:cNvPr id="9" name="Rounded Rectangle 8"/>
          <p:cNvSpPr/>
          <p:nvPr/>
        </p:nvSpPr>
        <p:spPr>
          <a:xfrm>
            <a:off x="502920" y="2240280"/>
            <a:ext cx="11183112" cy="841248"/>
          </a:xfrm>
          <a:prstGeom prst="roundRect">
            <a:avLst/>
          </a:prstGeom>
          <a:solidFill>
            <a:srgbClr val="FFFBEB"/>
          </a:solidFill>
          <a:ln w="12700">
            <a:solidFill>
              <a:srgbClr val="D8BB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 y="2359152"/>
            <a:ext cx="987552" cy="420624"/>
          </a:xfrm>
          <a:prstGeom prst="roundRect">
            <a:avLst/>
          </a:prstGeom>
          <a:solidFill>
            <a:srgbClr val="A15C07"/>
          </a:solidFill>
          <a:ln w="12700">
            <a:solidFill>
              <a:srgbClr val="A15C0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まとめ</a:t>
            </a:r>
          </a:p>
        </p:txBody>
      </p:sp>
      <p:sp>
        <p:nvSpPr>
          <p:cNvPr id="11" name="TextBox 10"/>
          <p:cNvSpPr txBox="1"/>
          <p:nvPr/>
        </p:nvSpPr>
        <p:spPr>
          <a:xfrm>
            <a:off x="1764792" y="2331720"/>
            <a:ext cx="9674352" cy="65836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数値・グラフの記憶があいまいな論点は docs/07_key_formulas_and_frameworks.md「A. 経済学・経済政策」の公式一覧に立ち返り、正確な定義を確認する。</a:t>
            </a:r>
          </a:p>
        </p:txBody>
      </p:sp>
      <p:sp>
        <p:nvSpPr>
          <p:cNvPr id="12" name="Rounded Rectangle 11"/>
          <p:cNvSpPr/>
          <p:nvPr/>
        </p:nvSpPr>
        <p:spPr>
          <a:xfrm>
            <a:off x="502920" y="3191256"/>
            <a:ext cx="11183112" cy="1088136"/>
          </a:xfrm>
          <a:prstGeom prst="roundRect">
            <a:avLst/>
          </a:prstGeom>
          <a:solidFill>
            <a:srgbClr val="FFFBEB"/>
          </a:solidFill>
          <a:ln w="12700">
            <a:solidFill>
              <a:srgbClr val="D8BB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 y="3310128"/>
            <a:ext cx="987552" cy="420624"/>
          </a:xfrm>
          <a:prstGeom prst="roundRect">
            <a:avLst/>
          </a:prstGeom>
          <a:solidFill>
            <a:srgbClr val="A15C07"/>
          </a:solidFill>
          <a:ln w="12700">
            <a:solidFill>
              <a:srgbClr val="A15C0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950" b="1">
                <a:solidFill>
                  <a:srgbClr val="FFFFFF"/>
                </a:solidFill>
                <a:latin typeface="WenQuanYi Micro Hei"/>
              </a:rPr>
              <a:t>まとめ</a:t>
            </a:r>
          </a:p>
        </p:txBody>
      </p:sp>
      <p:sp>
        <p:nvSpPr>
          <p:cNvPr id="14" name="TextBox 13"/>
          <p:cNvSpPr txBox="1"/>
          <p:nvPr/>
        </p:nvSpPr>
        <p:spPr>
          <a:xfrm>
            <a:off x="1764792" y="3282696"/>
            <a:ext cx="9674352" cy="905256"/>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この科目は毎年出題される「型」がかなり決まっているため、最初は難しく感じても、過去問演習を重ねるうちに「見たことのあるパターン」が増えていく科目です。焦らず、1論点ずつ「なぜそうなるか」を人に説明できるレベルまで理解することを目指してください。</a:t>
            </a:r>
          </a:p>
        </p:txBody>
      </p:sp>
      <p:sp>
        <p:nvSpPr>
          <p:cNvPr id="15" name="Rectangle 14"/>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7" name="TextBox 16"/>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502920"/>
          </a:xfrm>
          <a:prstGeom prst="rect">
            <a:avLst/>
          </a:prstGeom>
          <a:noFill/>
        </p:spPr>
        <p:txBody>
          <a:bodyPr wrap="square" tIns="91440" bIns="91440" anchor="ctr">
            <a:spAutoFit/>
          </a:bodyPr>
          <a:lstStyle/>
          <a:p>
            <a:pPr algn="l">
              <a:spcAft>
                <a:spcPts val="0"/>
              </a:spcAft>
            </a:pPr>
            <a:r>
              <a:rPr sz="2700" b="1">
                <a:solidFill>
                  <a:srgbClr val="172033"/>
                </a:solidFill>
                <a:latin typeface="WenQuanYi Micro Hei"/>
              </a:rPr>
              <a:t>経済学・経済政策｜学習のまとめ</a:t>
            </a:r>
          </a:p>
        </p:txBody>
      </p:sp>
      <p:sp>
        <p:nvSpPr>
          <p:cNvPr id="4" name="Oval 3"/>
          <p:cNvSpPr/>
          <p:nvPr/>
        </p:nvSpPr>
        <p:spPr>
          <a:xfrm>
            <a:off x="4892040" y="2304288"/>
            <a:ext cx="2395728" cy="141732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700" b="1">
                <a:solidFill>
                  <a:srgbClr val="FFFFFF"/>
                </a:solidFill>
                <a:latin typeface="WenQuanYi Micro Hei"/>
              </a:rPr>
              <a:t>循環して
改善・定着</a:t>
            </a:r>
          </a:p>
        </p:txBody>
      </p:sp>
      <p:sp>
        <p:nvSpPr>
          <p:cNvPr id="5" name="Rounded Rectangle 4"/>
          <p:cNvSpPr/>
          <p:nvPr/>
        </p:nvSpPr>
        <p:spPr>
          <a:xfrm>
            <a:off x="4526280" y="105156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26280" y="105156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27448" y="114300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この教科書で、36論点それぞれの基本概念・グラフ…</a:t>
            </a:r>
          </a:p>
        </p:txBody>
      </p:sp>
      <p:cxnSp>
        <p:nvCxnSpPr>
          <p:cNvPr id="8" name="Connector 7"/>
          <p:cNvCxnSpPr/>
          <p:nvPr/>
        </p:nvCxnSpPr>
        <p:spPr>
          <a:xfrm>
            <a:off x="5980176" y="1563624"/>
            <a:ext cx="3447288" cy="123444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973568" y="228600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973568" y="228600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74736" y="237744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problem_sets/1st_stage/e…</a:t>
            </a:r>
          </a:p>
        </p:txBody>
      </p:sp>
      <p:cxnSp>
        <p:nvCxnSpPr>
          <p:cNvPr id="12" name="Connector 11"/>
          <p:cNvCxnSpPr/>
          <p:nvPr/>
        </p:nvCxnSpPr>
        <p:spPr>
          <a:xfrm flipH="1">
            <a:off x="5980176" y="2798064"/>
            <a:ext cx="3447288" cy="150876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526280" y="379476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26280" y="379476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27448" y="388620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problem_sets/1st_stage/A…</a:t>
            </a:r>
          </a:p>
        </p:txBody>
      </p:sp>
      <p:cxnSp>
        <p:nvCxnSpPr>
          <p:cNvPr id="16" name="Connector 15"/>
          <p:cNvCxnSpPr/>
          <p:nvPr/>
        </p:nvCxnSpPr>
        <p:spPr>
          <a:xfrm flipH="1" flipV="1">
            <a:off x="2532888" y="2798064"/>
            <a:ext cx="3447288" cy="150876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78992" y="228600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78992" y="228600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80160" y="237744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演習がまだ用意されていない論点（A-1〜A-8…</a:t>
            </a:r>
          </a:p>
        </p:txBody>
      </p:sp>
      <p:cxnSp>
        <p:nvCxnSpPr>
          <p:cNvPr id="20" name="Connector 19"/>
          <p:cNvCxnSpPr/>
          <p:nvPr/>
        </p:nvCxnSpPr>
        <p:spPr>
          <a:xfrm flipV="1">
            <a:off x="2532888" y="1563624"/>
            <a:ext cx="3447288" cy="123444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5074920"/>
            <a:ext cx="10652760" cy="96926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50" b="1">
                <a:solidFill>
                  <a:srgbClr val="4F46E5"/>
                </a:solidFill>
                <a:latin typeface="WenQuanYi Micro Hei"/>
              </a:rPr>
              <a:t>次の一歩｜problem_sets/1st_stage/ の論点表と exercises/ の演習で、36論点を定着させる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経済学・経済政策 図解スライド</dc:title>
  <dc:subject>中小企業診断士 第1次試験</dc:subject>
  <dc:creator>SMEC Project</dc:creator>
  <cp:keywords>中小企業診断士, 教科書, 図解, スライド</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