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909560" y="685800"/>
            <a:ext cx="3840480" cy="3840480"/>
          </a:xfrm>
          <a:prstGeom prst="ellipse">
            <a:avLst/>
          </a:prstGeom>
          <a:solidFill>
            <a:srgbClr val="EEF2FF"/>
          </a:solidFill>
          <a:ln w="25400">
            <a:solidFill>
              <a:srgbClr val="A7A2F2"/>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5400" b="1">
                <a:solidFill>
                  <a:srgbClr val="4F46E5"/>
                </a:solidFill>
                <a:latin typeface="WenQuanYi Micro Hei"/>
              </a:rPr>
              <a:t>A</a:t>
            </a:r>
          </a:p>
        </p:txBody>
      </p:sp>
      <p:sp>
        <p:nvSpPr>
          <p:cNvPr id="4" name="TextBox 3"/>
          <p:cNvSpPr txBox="1"/>
          <p:nvPr/>
        </p:nvSpPr>
        <p:spPr>
          <a:xfrm>
            <a:off x="685800" y="1280160"/>
            <a:ext cx="7086600" cy="502920"/>
          </a:xfrm>
          <a:prstGeom prst="rect">
            <a:avLst/>
          </a:prstGeom>
          <a:noFill/>
        </p:spPr>
        <p:txBody>
          <a:bodyPr wrap="square" tIns="91440" bIns="91440" anchor="ctr">
            <a:spAutoFit/>
          </a:bodyPr>
          <a:lstStyle/>
          <a:p>
            <a:pPr algn="l">
              <a:spcAft>
                <a:spcPts val="0"/>
              </a:spcAft>
            </a:pPr>
            <a:r>
              <a:rPr sz="1700" b="1">
                <a:solidFill>
                  <a:srgbClr val="4F46E5"/>
                </a:solidFill>
                <a:latin typeface="WenQuanYi Micro Hei"/>
              </a:rPr>
              <a:t>中小企業診断士 第1次試験</a:t>
            </a:r>
          </a:p>
        </p:txBody>
      </p:sp>
      <p:sp>
        <p:nvSpPr>
          <p:cNvPr id="5" name="TextBox 4"/>
          <p:cNvSpPr txBox="1"/>
          <p:nvPr/>
        </p:nvSpPr>
        <p:spPr>
          <a:xfrm>
            <a:off x="658368" y="1874519"/>
            <a:ext cx="7406640" cy="1234440"/>
          </a:xfrm>
          <a:prstGeom prst="rect">
            <a:avLst/>
          </a:prstGeom>
          <a:noFill/>
        </p:spPr>
        <p:txBody>
          <a:bodyPr wrap="square" tIns="91440" bIns="91440" anchor="t">
            <a:spAutoFit/>
          </a:bodyPr>
          <a:lstStyle/>
          <a:p>
            <a:pPr algn="l">
              <a:spcAft>
                <a:spcPts val="0"/>
              </a:spcAft>
            </a:pPr>
            <a:r>
              <a:rPr sz="3600" b="1">
                <a:solidFill>
                  <a:srgbClr val="172033"/>
                </a:solidFill>
                <a:latin typeface="WenQuanYi Micro Hei"/>
              </a:rPr>
              <a:t>経済学・経済政策</a:t>
            </a:r>
          </a:p>
        </p:txBody>
      </p:sp>
      <p:sp>
        <p:nvSpPr>
          <p:cNvPr id="6" name="TextBox 5"/>
          <p:cNvSpPr txBox="1"/>
          <p:nvPr/>
        </p:nvSpPr>
        <p:spPr>
          <a:xfrm>
            <a:off x="685800" y="3337560"/>
            <a:ext cx="6766560" cy="640080"/>
          </a:xfrm>
          <a:prstGeom prst="rect">
            <a:avLst/>
          </a:prstGeom>
          <a:noFill/>
        </p:spPr>
        <p:txBody>
          <a:bodyPr wrap="square" tIns="91440" bIns="91440" anchor="ctr">
            <a:spAutoFit/>
          </a:bodyPr>
          <a:lstStyle/>
          <a:p>
            <a:pPr algn="l">
              <a:spcAft>
                <a:spcPts val="0"/>
              </a:spcAft>
            </a:pPr>
            <a:r>
              <a:rPr sz="2000" b="0">
                <a:solidFill>
                  <a:srgbClr val="667085"/>
                </a:solidFill>
                <a:latin typeface="WenQuanYi Micro Hei"/>
              </a:rPr>
              <a:t>図解スライド｜全論点を「構造・比較・流れ」で理解する</a:t>
            </a:r>
          </a:p>
        </p:txBody>
      </p:sp>
      <p:sp>
        <p:nvSpPr>
          <p:cNvPr id="7" name="Rounded Rectangle 6"/>
          <p:cNvSpPr/>
          <p:nvPr/>
        </p:nvSpPr>
        <p:spPr>
          <a:xfrm>
            <a:off x="685800" y="4617720"/>
            <a:ext cx="3246120" cy="658368"/>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000" b="1">
                <a:solidFill>
                  <a:srgbClr val="FFFFFF"/>
                </a:solidFill>
                <a:latin typeface="WenQuanYi Micro Hei"/>
              </a:rPr>
              <a:t>36 論点</a:t>
            </a:r>
          </a:p>
        </p:txBody>
      </p:sp>
      <p:sp>
        <p:nvSpPr>
          <p:cNvPr id="8" name="Rounded Rectangle 7"/>
          <p:cNvSpPr/>
          <p:nvPr/>
        </p:nvSpPr>
        <p:spPr>
          <a:xfrm>
            <a:off x="4096512" y="4617720"/>
            <a:ext cx="3246120" cy="658368"/>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000" b="1">
                <a:solidFill>
                  <a:srgbClr val="4F46E5"/>
                </a:solidFill>
                <a:latin typeface="WenQuanYi Micro Hei"/>
              </a:rPr>
              <a:t>8 セクション</a:t>
            </a:r>
          </a:p>
        </p:txBody>
      </p:sp>
      <p:sp>
        <p:nvSpPr>
          <p:cNvPr id="9" name="TextBox 8"/>
          <p:cNvSpPr txBox="1"/>
          <p:nvPr/>
        </p:nvSpPr>
        <p:spPr>
          <a:xfrm>
            <a:off x="685800" y="5879592"/>
            <a:ext cx="10881360" cy="256032"/>
          </a:xfrm>
          <a:prstGeom prst="rect">
            <a:avLst/>
          </a:prstGeom>
          <a:noFill/>
        </p:spPr>
        <p:txBody>
          <a:bodyPr wrap="square" tIns="91440" bIns="91440" anchor="ctr">
            <a:spAutoFit/>
          </a:bodyPr>
          <a:lstStyle/>
          <a:p>
            <a:pPr algn="l">
              <a:spcAft>
                <a:spcPts val="0"/>
              </a:spcAft>
            </a:pPr>
            <a:r>
              <a:rPr sz="1100" b="0">
                <a:solidFill>
                  <a:srgbClr val="667085"/>
                </a:solidFill>
                <a:latin typeface="WenQuanYi Micro Hei"/>
              </a:rPr>
              <a:t>SMEC 教科書シリーズ｜教科書本文を基に自動生成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0972800" cy="502920"/>
          </a:xfrm>
          <a:prstGeom prst="rect">
            <a:avLst/>
          </a:prstGeom>
          <a:noFill/>
        </p:spPr>
        <p:txBody>
          <a:bodyPr wrap="square" tIns="91440" bIns="91440" anchor="ctr">
            <a:spAutoFit/>
          </a:bodyPr>
          <a:lstStyle/>
          <a:p>
            <a:pPr algn="l">
              <a:spcAft>
                <a:spcPts val="0"/>
              </a:spcAft>
            </a:pPr>
            <a:r>
              <a:rPr sz="2800" b="1">
                <a:solidFill>
                  <a:srgbClr val="172033"/>
                </a:solidFill>
                <a:latin typeface="WenQuanYi Micro Hei"/>
              </a:rPr>
              <a:t>このスライドの使い方</a:t>
            </a:r>
          </a:p>
        </p:txBody>
      </p:sp>
      <p:sp>
        <p:nvSpPr>
          <p:cNvPr id="4" name="Oval 3"/>
          <p:cNvSpPr/>
          <p:nvPr/>
        </p:nvSpPr>
        <p:spPr>
          <a:xfrm>
            <a:off x="1499616" y="1261872"/>
            <a:ext cx="685800" cy="68580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1</a:t>
            </a:r>
          </a:p>
        </p:txBody>
      </p:sp>
      <p:sp>
        <p:nvSpPr>
          <p:cNvPr id="5" name="Rounded Rectangle 4"/>
          <p:cNvSpPr/>
          <p:nvPr/>
        </p:nvSpPr>
        <p:spPr>
          <a:xfrm>
            <a:off x="658368" y="2121408"/>
            <a:ext cx="2377440" cy="1572768"/>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2121408"/>
            <a:ext cx="73152" cy="15727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212848"/>
            <a:ext cx="205740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全体像</a:t>
            </a:r>
          </a:p>
        </p:txBody>
      </p:sp>
      <p:sp>
        <p:nvSpPr>
          <p:cNvPr id="8" name="TextBox 7"/>
          <p:cNvSpPr txBox="1"/>
          <p:nvPr/>
        </p:nvSpPr>
        <p:spPr>
          <a:xfrm>
            <a:off x="859536"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まず図の関係性を眺める</a:t>
            </a:r>
          </a:p>
        </p:txBody>
      </p:sp>
      <p:sp>
        <p:nvSpPr>
          <p:cNvPr id="9" name="Chevron 8"/>
          <p:cNvSpPr/>
          <p:nvPr/>
        </p:nvSpPr>
        <p:spPr>
          <a:xfrm>
            <a:off x="3099815" y="2615184"/>
            <a:ext cx="347472" cy="502920"/>
          </a:xfrm>
          <a:prstGeom prst="chevron">
            <a:avLst/>
          </a:prstGeom>
          <a:solidFill>
            <a:srgbClr val="847E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352544" y="1261872"/>
            <a:ext cx="685800" cy="68580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2</a:t>
            </a:r>
          </a:p>
        </p:txBody>
      </p:sp>
      <p:sp>
        <p:nvSpPr>
          <p:cNvPr id="11" name="Rounded Rectangle 10"/>
          <p:cNvSpPr/>
          <p:nvPr/>
        </p:nvSpPr>
        <p:spPr>
          <a:xfrm>
            <a:off x="3511296" y="2121408"/>
            <a:ext cx="2377440" cy="1572768"/>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11296" y="2121408"/>
            <a:ext cx="73152" cy="15727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12463" y="2212848"/>
            <a:ext cx="205740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具体例</a:t>
            </a:r>
          </a:p>
        </p:txBody>
      </p:sp>
      <p:sp>
        <p:nvSpPr>
          <p:cNvPr id="14" name="TextBox 13"/>
          <p:cNvSpPr txBox="1"/>
          <p:nvPr/>
        </p:nvSpPr>
        <p:spPr>
          <a:xfrm>
            <a:off x="3712463"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身近な場面へ置き換える</a:t>
            </a:r>
          </a:p>
        </p:txBody>
      </p:sp>
      <p:sp>
        <p:nvSpPr>
          <p:cNvPr id="15" name="Chevron 14"/>
          <p:cNvSpPr/>
          <p:nvPr/>
        </p:nvSpPr>
        <p:spPr>
          <a:xfrm>
            <a:off x="5952744" y="2615184"/>
            <a:ext cx="347472" cy="502920"/>
          </a:xfrm>
          <a:prstGeom prst="chevron">
            <a:avLst/>
          </a:prstGeom>
          <a:solidFill>
            <a:srgbClr val="847E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05472" y="1261872"/>
            <a:ext cx="685800" cy="68580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3</a:t>
            </a:r>
          </a:p>
        </p:txBody>
      </p:sp>
      <p:sp>
        <p:nvSpPr>
          <p:cNvPr id="17" name="Rounded Rectangle 16"/>
          <p:cNvSpPr/>
          <p:nvPr/>
        </p:nvSpPr>
        <p:spPr>
          <a:xfrm>
            <a:off x="6364224" y="2121408"/>
            <a:ext cx="2377440" cy="1572768"/>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64224" y="2121408"/>
            <a:ext cx="73152" cy="15727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212848"/>
            <a:ext cx="205740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注意</a:t>
            </a:r>
          </a:p>
        </p:txBody>
      </p:sp>
      <p:sp>
        <p:nvSpPr>
          <p:cNvPr id="20" name="TextBox 19"/>
          <p:cNvSpPr txBox="1"/>
          <p:nvPr/>
        </p:nvSpPr>
        <p:spPr>
          <a:xfrm>
            <a:off x="6565392"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誤答パターンを見分ける</a:t>
            </a:r>
          </a:p>
        </p:txBody>
      </p:sp>
      <p:sp>
        <p:nvSpPr>
          <p:cNvPr id="21" name="Chevron 20"/>
          <p:cNvSpPr/>
          <p:nvPr/>
        </p:nvSpPr>
        <p:spPr>
          <a:xfrm>
            <a:off x="8805672" y="2615184"/>
            <a:ext cx="347472" cy="502920"/>
          </a:xfrm>
          <a:prstGeom prst="chevron">
            <a:avLst/>
          </a:prstGeom>
          <a:solidFill>
            <a:srgbClr val="847E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400" y="1261872"/>
            <a:ext cx="685800" cy="68580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4</a:t>
            </a:r>
          </a:p>
        </p:txBody>
      </p:sp>
      <p:sp>
        <p:nvSpPr>
          <p:cNvPr id="23" name="Rounded Rectangle 22"/>
          <p:cNvSpPr/>
          <p:nvPr/>
        </p:nvSpPr>
        <p:spPr>
          <a:xfrm>
            <a:off x="9217152" y="2121408"/>
            <a:ext cx="2377440" cy="1572768"/>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17152" y="2121408"/>
            <a:ext cx="73152" cy="15727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0" y="2212848"/>
            <a:ext cx="205740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演習</a:t>
            </a:r>
          </a:p>
        </p:txBody>
      </p:sp>
      <p:sp>
        <p:nvSpPr>
          <p:cNvPr id="26" name="TextBox 25"/>
          <p:cNvSpPr txBox="1"/>
          <p:nvPr/>
        </p:nvSpPr>
        <p:spPr>
          <a:xfrm>
            <a:off x="9418320"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教科書の参照先で定着させる</a:t>
            </a:r>
          </a:p>
        </p:txBody>
      </p:sp>
      <p:sp>
        <p:nvSpPr>
          <p:cNvPr id="27" name="Rounded Rectangle 26"/>
          <p:cNvSpPr/>
          <p:nvPr/>
        </p:nvSpPr>
        <p:spPr>
          <a:xfrm>
            <a:off x="685800" y="4251960"/>
            <a:ext cx="10817352" cy="1280160"/>
          </a:xfrm>
          <a:prstGeom prst="roundRect">
            <a:avLst/>
          </a:prstGeom>
          <a:solidFill>
            <a:srgbClr val="EEF2FF"/>
          </a:solidFill>
          <a:ln w="12700">
            <a:solidFill>
              <a:srgbClr val="9E99F1"/>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500" b="0">
                <a:solidFill>
                  <a:srgbClr val="172033"/>
                </a:solidFill>
                <a:latin typeface="WenQuanYi Micro Hei"/>
              </a:rPr>
              <a:t>経済学・経済政策は「マクロ経済学」（一国全体の景気・物価・失業・国際収支を扱う）と「ミクロ経済学」（個々の消費者・企業・市場の行動を扱う）の2分野で構成される科目です。数式やグラフが多く苦手意識を持たれやすい科目ですが、出題パターンはかなり固定的で、「用語の定義」と「グラフの動く方向」を正確に押さえれば得点源にできます。 この教科書は problem_se…</a:t>
            </a:r>
          </a:p>
        </p:txBody>
      </p:sp>
      <p:sp>
        <p:nvSpPr>
          <p:cNvPr id="28" name="TextBox 27"/>
          <p:cNvSpPr txBox="1"/>
          <p:nvPr/>
        </p:nvSpPr>
        <p:spPr>
          <a:xfrm>
            <a:off x="713232" y="5760720"/>
            <a:ext cx="10698480" cy="320040"/>
          </a:xfrm>
          <a:prstGeom prst="rect">
            <a:avLst/>
          </a:prstGeom>
          <a:noFill/>
        </p:spPr>
        <p:txBody>
          <a:bodyPr wrap="square" tIns="91440" bIns="91440" anchor="ctr">
            <a:spAutoFit/>
          </a:bodyPr>
          <a:lstStyle/>
          <a:p>
            <a:pPr algn="ctr">
              <a:spcAft>
                <a:spcPts val="0"/>
              </a:spcAft>
            </a:pPr>
            <a:r>
              <a:rPr sz="1100" b="0">
                <a:solidFill>
                  <a:srgbClr val="B42318"/>
                </a:solidFill>
                <a:latin typeface="WenQuanYi Micro Hei"/>
              </a:rPr>
              <a:t>※ 数値・法令・制度は出題年度によって変わる場合があります。最新の公式情報も確認してください。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EEF2FF"/>
          </a:solidFill>
          <a:ln w="25400">
            <a:solidFill>
              <a:srgbClr val="9E99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4F46E5"/>
                </a:solidFill>
                <a:latin typeface="WenQuanYi Micro Hei"/>
              </a:rPr>
              <a:t>SECTION 01</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経済指標の見方や読み方</a:t>
            </a:r>
          </a:p>
        </p:txBody>
      </p:sp>
      <p:sp>
        <p:nvSpPr>
          <p:cNvPr id="6" name="Rounded Rectangle 5"/>
          <p:cNvSpPr/>
          <p:nvPr/>
        </p:nvSpPr>
        <p:spPr>
          <a:xfrm>
            <a:off x="4261104" y="3968496"/>
            <a:ext cx="3657600" cy="749808"/>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6 論点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国民経済計算の概念・国民所得統計</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経済指標の見方や読み方（A-1〜A-6）</a:t>
            </a:r>
          </a:p>
        </p:txBody>
      </p:sp>
      <p:sp>
        <p:nvSpPr>
          <p:cNvPr id="6" name="Rounded Rectangle 5"/>
          <p:cNvSpPr/>
          <p:nvPr/>
        </p:nvSpPr>
        <p:spPr>
          <a:xfrm>
            <a:off x="777240" y="1188720"/>
            <a:ext cx="10634472" cy="117043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200" b="1">
                <a:solidFill>
                  <a:srgbClr val="4F46E5"/>
                </a:solidFill>
                <a:latin typeface="WenQuanYi Micro Hei"/>
              </a:rPr>
              <a:t>生産面（誰が作ったか）＝分配面（誰の所得になったか）＝支出面（誰が買ったか）</a:t>
            </a:r>
          </a:p>
        </p:txBody>
      </p:sp>
      <p:sp>
        <p:nvSpPr>
          <p:cNvPr id="7" name="Rounded Rectangle 6"/>
          <p:cNvSpPr/>
          <p:nvPr/>
        </p:nvSpPr>
        <p:spPr>
          <a:xfrm>
            <a:off x="777240" y="2670048"/>
            <a:ext cx="3401568" cy="201168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670048"/>
            <a:ext cx="73152" cy="20116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761488"/>
            <a:ext cx="30815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GDP（国内総生産）</a:t>
            </a:r>
          </a:p>
        </p:txBody>
      </p:sp>
      <p:sp>
        <p:nvSpPr>
          <p:cNvPr id="10" name="TextBox 9"/>
          <p:cNvSpPr txBox="1"/>
          <p:nvPr/>
        </p:nvSpPr>
        <p:spPr>
          <a:xfrm>
            <a:off x="978408"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国内で生産された付加価値の合計（国籍を問わない。日本国内で働く外国人の生産分も含む）</a:t>
            </a:r>
          </a:p>
        </p:txBody>
      </p:sp>
      <p:sp>
        <p:nvSpPr>
          <p:cNvPr id="11" name="Rounded Rectangle 10"/>
          <p:cNvSpPr/>
          <p:nvPr/>
        </p:nvSpPr>
        <p:spPr>
          <a:xfrm>
            <a:off x="4370832" y="2670048"/>
            <a:ext cx="3401568" cy="201168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2670048"/>
            <a:ext cx="73152" cy="20116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761488"/>
            <a:ext cx="30815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GNI（国民総所得）／GNP（国民総生産）</a:t>
            </a:r>
          </a:p>
        </p:txBody>
      </p:sp>
      <p:sp>
        <p:nvSpPr>
          <p:cNvPr id="14" name="TextBox 13"/>
          <p:cNvSpPr txBox="1"/>
          <p:nvPr/>
        </p:nvSpPr>
        <p:spPr>
          <a:xfrm>
            <a:off x="4572000"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自国民（居住者）が生み出した所得の合計（海外で働く自国民の所得を含み、国内で働く外国人の所得は含まない）。GNI＝GDP＋…</a:t>
            </a:r>
          </a:p>
        </p:txBody>
      </p:sp>
      <p:sp>
        <p:nvSpPr>
          <p:cNvPr id="15" name="Rounded Rectangle 14"/>
          <p:cNvSpPr/>
          <p:nvPr/>
        </p:nvSpPr>
        <p:spPr>
          <a:xfrm>
            <a:off x="7964424" y="2670048"/>
            <a:ext cx="3401568" cy="201168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64424" y="2670048"/>
            <a:ext cx="73152" cy="20116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2761488"/>
            <a:ext cx="30815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NNP（国民純生産）</a:t>
            </a:r>
          </a:p>
        </p:txBody>
      </p:sp>
      <p:sp>
        <p:nvSpPr>
          <p:cNvPr id="18" name="TextBox 17"/>
          <p:cNvSpPr txBox="1"/>
          <p:nvPr/>
        </p:nvSpPr>
        <p:spPr>
          <a:xfrm>
            <a:off x="8165592"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GNP（GNI）から固定資本減耗（設備の老朽化による目減り分＝減価償却に相当）を差し引いたもの</a:t>
            </a:r>
          </a:p>
        </p:txBody>
      </p:sp>
      <p:sp>
        <p:nvSpPr>
          <p:cNvPr id="19" name="Rounded Rectangle 18"/>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日本のGDPはおよそ550〜600兆円規模で世界第4位前後の水準です（年により順位・金額は変動します）。仮に今年の名目GDPが前年より3%増えたとしても、その年の物価が3%上昇していれば、実質GDP（実際に生…</a:t>
            </a:r>
          </a:p>
        </p:txBody>
      </p:sp>
      <p:sp>
        <p:nvSpPr>
          <p:cNvPr id="20" name="Rounded Rectangle 19"/>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GDPは一定期間に生み出される「フロー」の概念であり、ある時点で保有している資産の総額を示す「ストック」の概念（国富、対外純資産など）と混同しないようにしましょう。また、「中古車の売買」や「株式の売買」はそれ…</a:t>
            </a:r>
          </a:p>
        </p:txBody>
      </p:sp>
      <p:sp>
        <p:nvSpPr>
          <p:cNvPr id="21" name="Rectangle 20"/>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23" name="TextBox 22"/>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雇用統計（失業率、有効求人倍率等）</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経済指標の見方や読み方（A-1〜A-6）</a:t>
            </a:r>
          </a:p>
        </p:txBody>
      </p:sp>
      <p:sp>
        <p:nvSpPr>
          <p:cNvPr id="6" name="Rounded Rectangle 5"/>
          <p:cNvSpPr/>
          <p:nvPr/>
        </p:nvSpPr>
        <p:spPr>
          <a:xfrm>
            <a:off x="777240" y="1188720"/>
            <a:ext cx="10634472" cy="117043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200" b="1">
                <a:solidFill>
                  <a:srgbClr val="4F46E5"/>
                </a:solidFill>
                <a:latin typeface="WenQuanYi Micro Hei"/>
              </a:rPr>
              <a:t>完全失業率 = \frac完全失業者数労働力人口 × 100</a:t>
            </a:r>
          </a:p>
        </p:txBody>
      </p:sp>
      <p:sp>
        <p:nvSpPr>
          <p:cNvPr id="7" name="Rounded Rectangle 6"/>
          <p:cNvSpPr/>
          <p:nvPr/>
        </p:nvSpPr>
        <p:spPr>
          <a:xfrm>
            <a:off x="777240" y="2670048"/>
            <a:ext cx="3401568" cy="201168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670048"/>
            <a:ext cx="73152" cy="20116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761488"/>
            <a:ext cx="30815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有効求人倍率</a:t>
            </a:r>
          </a:p>
        </p:txBody>
      </p:sp>
      <p:sp>
        <p:nvSpPr>
          <p:cNvPr id="10" name="TextBox 9"/>
          <p:cNvSpPr txBox="1"/>
          <p:nvPr/>
        </p:nvSpPr>
        <p:spPr>
          <a:xfrm>
            <a:off x="978408"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です。これは厚生労働省がハローワーク（公共職業安定所）の窓口データをもとに毎月公表する指標で、次の式で計算されます。</a:t>
            </a:r>
          </a:p>
        </p:txBody>
      </p:sp>
      <p:sp>
        <p:nvSpPr>
          <p:cNvPr id="11" name="Rounded Rectangle 10"/>
          <p:cNvSpPr/>
          <p:nvPr/>
        </p:nvSpPr>
        <p:spPr>
          <a:xfrm>
            <a:off x="4370832" y="2670048"/>
            <a:ext cx="3401568" cy="201168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2670048"/>
            <a:ext cx="73152" cy="20116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761488"/>
            <a:ext cx="30815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15歳以上の人口</a:t>
            </a:r>
          </a:p>
        </p:txBody>
      </p:sp>
      <p:sp>
        <p:nvSpPr>
          <p:cNvPr id="14" name="TextBox 13"/>
          <p:cNvSpPr txBox="1"/>
          <p:nvPr/>
        </p:nvSpPr>
        <p:spPr>
          <a:xfrm>
            <a:off x="4572000"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まず「労働力人口」（働く意思のある人）と「非労働力人口」（学生、家事専業者、高齢で働く意思のない人など）に分けられます。</a:t>
            </a:r>
          </a:p>
        </p:txBody>
      </p:sp>
      <p:sp>
        <p:nvSpPr>
          <p:cNvPr id="15" name="Rounded Rectangle 14"/>
          <p:cNvSpPr/>
          <p:nvPr/>
        </p:nvSpPr>
        <p:spPr>
          <a:xfrm>
            <a:off x="7964424" y="2670048"/>
            <a:ext cx="3401568" cy="201168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64424" y="2670048"/>
            <a:ext cx="73152" cy="20116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2761488"/>
            <a:ext cx="30815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さらに労働力人口</a:t>
            </a:r>
          </a:p>
        </p:txBody>
      </p:sp>
      <p:sp>
        <p:nvSpPr>
          <p:cNvPr id="18" name="TextBox 17"/>
          <p:cNvSpPr txBox="1"/>
          <p:nvPr/>
        </p:nvSpPr>
        <p:spPr>
          <a:xfrm>
            <a:off x="8165592"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「就業者」と「完全失業者」に分けられます。</a:t>
            </a:r>
          </a:p>
        </p:txBody>
      </p:sp>
      <p:sp>
        <p:nvSpPr>
          <p:cNvPr id="19" name="Rounded Rectangle 18"/>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具体例｜好景気で企業が採用を増やすと有効求人倍率は上昇し、完全失業率は低下する傾向にあります。逆に不況期には企業が採用を控えるため有効求人倍率は低下し、完全失業率は上昇します。</a:t>
            </a:r>
          </a:p>
        </p:txBody>
      </p:sp>
      <p:sp>
        <p:nvSpPr>
          <p:cNvPr id="20" name="Rounded Rectangle 19"/>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完全失業率の低下が必ずしも「景気回復」を意味するとは限りません。不況が長引き、求職活動をしても仕事が見つからないとあきらめて求職活動自体をやめてしまう人（求職意欲喪失効果）が増えると、その人は「非労働力人口」…</a:t>
            </a:r>
          </a:p>
        </p:txBody>
      </p:sp>
      <p:sp>
        <p:nvSpPr>
          <p:cNvPr id="21" name="Rectangle 20"/>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23" name="TextBox 22"/>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物価指数（CPI、GDPデフレーター等）</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経済指標の見方や読み方（A-1〜A-6）</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消費者物価指数（CPI：Consumer Pr…</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総務省が公表。消費者が実際に購入する財・サービス（食料品、家賃、教育費など）の価格変動を測る指数。「コアCPI」は変動の大…</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企業物価指数（CGPI：旧・卸売物価指数）</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日本銀行が公表。企業間で取引される商品（原材料、中間財など）の価格変動を測る指数。</a:t>
            </a:r>
          </a:p>
        </p:txBody>
      </p:sp>
      <p:sp>
        <p:nvSpPr>
          <p:cNvPr id="15" name="Rounded Rectangle 14"/>
          <p:cNvSpPr/>
          <p:nvPr/>
        </p:nvSpPr>
        <p:spPr>
          <a:xfrm>
            <a:off x="566928"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GDPデフレーター</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GDP全体（消費・投資・政府支出・輸出入まで含む、経済全体）の物価動向を測る指標で、次の式で計算されます。</a:t>
            </a:r>
          </a:p>
        </p:txBody>
      </p:sp>
      <p:sp>
        <p:nvSpPr>
          <p:cNvPr id="19" name="Rounded Rectangle 18"/>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ラスパイレス指数</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基準年の消費（購入）数量のウェイト（重み）を固定して計算する方式。CPIはこの方式を採用しています。</a:t>
            </a:r>
          </a:p>
        </p:txBody>
      </p:sp>
      <p:sp>
        <p:nvSpPr>
          <p:cNvPr id="24" name="Rounded Rectangle 23"/>
          <p:cNvSpPr/>
          <p:nvPr/>
        </p:nvSpPr>
        <p:spPr>
          <a:xfrm>
            <a:off x="6217920"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パーシェ指数</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比較年（当年）の数量のウェイトを使って計算する方式。GDPデフレーターはこの方式に近い考え方で作られています。</a:t>
            </a:r>
          </a:p>
        </p:txBody>
      </p:sp>
      <p:sp>
        <p:nvSpPr>
          <p:cNvPr id="28" name="Rounded Rectangle 27"/>
          <p:cNvSpPr/>
          <p:nvPr/>
        </p:nvSpPr>
        <p:spPr>
          <a:xfrm>
            <a:off x="6217920"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物価の動きを測る代表的な指数に</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次のものがあります。</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原油価格が高騰すると、ガソリン代や輸入品の価格が上がり、CPI・企業物価指数ともに上昇します。ただしコアコアCPIはエネルギー価格の影響を除くため、原油高だけを理由にコアコアCPIが大きく動くことはありません。</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ラスパイレス指数（CPI）は基準年の購入数量を固定して計算するため、実際には価格が上がった商品を消費者が買い控えて安い代替品に切り替える（代替効果）という行動を反映できず、物価上昇率を実態より高め（上方バイア…</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景気動向指数（DI・CI）</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経済指標の見方や読み方（A-1〜A-6）</a:t>
            </a:r>
          </a:p>
        </p:txBody>
      </p:sp>
      <p:sp>
        <p:nvSpPr>
          <p:cNvPr id="6" name="Rectangle 5"/>
          <p:cNvSpPr/>
          <p:nvPr/>
        </p:nvSpPr>
        <p:spPr>
          <a:xfrm>
            <a:off x="868680" y="2926080"/>
            <a:ext cx="10469880" cy="45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4048" y="1280160"/>
            <a:ext cx="2057400" cy="107899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1｜先行指数
景気の動きより先に動く / 新規求人数、新設住宅着工床面積、東証株価指数など</a:t>
            </a:r>
          </a:p>
        </p:txBody>
      </p:sp>
      <p:sp>
        <p:nvSpPr>
          <p:cNvPr id="9" name="Oval 8"/>
          <p:cNvSpPr/>
          <p:nvPr/>
        </p:nvSpPr>
        <p:spPr>
          <a:xfrm>
            <a:off x="334899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26030" y="3401568"/>
            <a:ext cx="2057400" cy="1078992"/>
          </a:xfrm>
          <a:prstGeom prst="roundRect">
            <a:avLst/>
          </a:prstGeom>
          <a:solidFill>
            <a:srgbClr val="FFFF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2｜一致指数
景気とほぼ同時に動く / 鉱工業生産指数、有効求人倍率、営業利益など</a:t>
            </a:r>
          </a:p>
        </p:txBody>
      </p:sp>
      <p:sp>
        <p:nvSpPr>
          <p:cNvPr id="11" name="Oval 10"/>
          <p:cNvSpPr/>
          <p:nvPr/>
        </p:nvSpPr>
        <p:spPr>
          <a:xfrm>
            <a:off x="592074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97779" y="1280160"/>
            <a:ext cx="2057400" cy="107899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3｜遅行指数
景気より遅れて動く / 完全失業率、法人税収入など</a:t>
            </a:r>
          </a:p>
        </p:txBody>
      </p:sp>
      <p:sp>
        <p:nvSpPr>
          <p:cNvPr id="13" name="Oval 12"/>
          <p:cNvSpPr/>
          <p:nvPr/>
        </p:nvSpPr>
        <p:spPr>
          <a:xfrm>
            <a:off x="849249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69529" y="3401568"/>
            <a:ext cx="2057400" cy="1078992"/>
          </a:xfrm>
          <a:prstGeom prst="roundRect">
            <a:avLst/>
          </a:prstGeom>
          <a:solidFill>
            <a:srgbClr val="FFFF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4｜DI（ディフュージョン・インデック…
とCI（コンポジット・インデックス）の2種類があります。どちらも複数の経済…</a:t>
            </a:r>
          </a:p>
        </p:txBody>
      </p:sp>
      <p:sp>
        <p:nvSpPr>
          <p:cNvPr id="15" name="Oval 14"/>
          <p:cNvSpPr/>
          <p:nvPr/>
        </p:nvSpPr>
        <p:spPr>
          <a:xfrm>
            <a:off x="1106424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85248" y="1280160"/>
            <a:ext cx="2057400" cy="107899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5｜DI（拡散指数）
採用している各指標のうち、「3か月前に比べて改善している指標の割合」を示す…</a:t>
            </a:r>
          </a:p>
        </p:txBody>
      </p:sp>
      <p:sp>
        <p:nvSpPr>
          <p:cNvPr id="17" name="Rounded Rectangle 1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景気が回復に向かう局面では、まず株価や新規求人数（先行指数）が上向き、続いて生産や有効求人倍率（一致指数）が改善し、最後に失業率（遅行指数）が下がってくる、という順序で経済全体に波及していきます。</a:t>
            </a:r>
          </a:p>
        </p:txBody>
      </p:sp>
      <p:sp>
        <p:nvSpPr>
          <p:cNvPr id="18" name="Rounded Rectangle 1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DIは景気変動の大きさ（量）を測り、CIは波及度合い（範囲）を測る」という説明は逆です。DI＝波及度合い（範囲）、CI＝大きさ・テンポ（量）という対応関係を正確に覚えましょう。また、公式の景気の「山」「谷」…</a:t>
            </a:r>
          </a:p>
        </p:txBody>
      </p:sp>
      <p:sp>
        <p:nvSpPr>
          <p:cNvPr id="19" name="Rectangle 1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21" name="TextBox 2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マネーストック統計</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経済指標の見方や読み方（A-1〜A-6）</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M1</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現金通貨＋預金通貨（普通預金・当座預金など、いつでも引き出せるもの）</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M2</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M1＋準通貨（定期預金等）＋CD（譲渡性預金）。ただし対象金融機関は国内銀行・信用金庫などに限られ、ゆうちょ銀行や信用組合…</a:t>
            </a:r>
          </a:p>
        </p:txBody>
      </p:sp>
      <p:sp>
        <p:nvSpPr>
          <p:cNvPr id="15" name="Rounded Rectangle 14"/>
          <p:cNvSpPr/>
          <p:nvPr/>
        </p:nvSpPr>
        <p:spPr>
          <a:xfrm>
            <a:off x="566928"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M3</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M1・M2と同じ通貨の範囲を、ゆうちょ銀行・信用組合・農協なども含むすべての預金取扱機関に対象を広げたもの</a:t>
            </a:r>
          </a:p>
        </p:txBody>
      </p:sp>
      <p:sp>
        <p:nvSpPr>
          <p:cNvPr id="19" name="Rounded Rectangle 18"/>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広義流動性</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M3に、金銭信託、投資信託、金融債、国債、外債などの金融商品を加えた最も広い範囲</a:t>
            </a:r>
          </a:p>
        </p:txBody>
      </p:sp>
      <p:sp>
        <p:nvSpPr>
          <p:cNvPr id="24" name="Rounded Rectangle 23"/>
          <p:cNvSpPr/>
          <p:nvPr/>
        </p:nvSpPr>
        <p:spPr>
          <a:xfrm>
            <a:off x="6217920"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マネーストック統計</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は、金融機関・中央政府（日本銀行を含む）を除く経済主体（一般法人、個人、地方公共団体など）が保有する通貨量の残高を示す統計…</a:t>
            </a:r>
          </a:p>
        </p:txBody>
      </p:sp>
      <p:sp>
        <p:nvSpPr>
          <p:cNvPr id="28" name="Rounded Rectangle 27"/>
          <p:cNvSpPr/>
          <p:nvPr/>
        </p:nvSpPr>
        <p:spPr>
          <a:xfrm>
            <a:off x="6217920"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マネタリーベース（ハイベースマネー、ハイパワー…</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があります。マネタリーベースは「日本銀行が直接供給する通貨」（世の中に出回っている現金＋民間金融機関が日銀に預けている当座…</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日本銀行が大規模な金融緩和（量的・質的金融緩和）で国債を大量に買い入れると、金融機関が保有する日銀当座預金（マネタリーベースの一部）が増加します。これがそのまま企業への貸し出し増加につながればマネーストックも…</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M1〜M3の違いは「対象とする通貨の種類の広さ」ではなく、対象とする金融機関の範囲の広さ（ゆうちょ銀行や信用組合を含むかどうか）である点に注意しましょう。また「マネタリーベースが増えれば、必ず同じ割合でマネー…</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国際収支・為替レート</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経済指標の見方や読み方（A-1〜A-6）</a:t>
            </a:r>
          </a:p>
        </p:txBody>
      </p:sp>
      <p:sp>
        <p:nvSpPr>
          <p:cNvPr id="6" name="Rounded Rectangle 5"/>
          <p:cNvSpPr/>
          <p:nvPr/>
        </p:nvSpPr>
        <p:spPr>
          <a:xfrm>
            <a:off x="777240" y="1188720"/>
            <a:ext cx="10634472" cy="117043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200" b="1">
                <a:solidFill>
                  <a:srgbClr val="4F46E5"/>
                </a:solidFill>
                <a:latin typeface="WenQuanYi Micro Hei"/>
              </a:rPr>
              <a:t>経常収支 + 資本移転等収支 - 金融収支 + 誤差脱漏 = 0</a:t>
            </a:r>
          </a:p>
        </p:txBody>
      </p:sp>
      <p:sp>
        <p:nvSpPr>
          <p:cNvPr id="7" name="Rounded Rectangle 6"/>
          <p:cNvSpPr/>
          <p:nvPr/>
        </p:nvSpPr>
        <p:spPr>
          <a:xfrm>
            <a:off x="777240" y="2670048"/>
            <a:ext cx="3401568" cy="201168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670048"/>
            <a:ext cx="73152" cy="20116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761488"/>
            <a:ext cx="30815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国際収支統計</a:t>
            </a:r>
          </a:p>
        </p:txBody>
      </p:sp>
      <p:sp>
        <p:nvSpPr>
          <p:cNvPr id="10" name="TextBox 9"/>
          <p:cNvSpPr txBox="1"/>
          <p:nvPr/>
        </p:nvSpPr>
        <p:spPr>
          <a:xfrm>
            <a:off x="978408"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は、一国が一定期間に外国と行った取引（モノ・サービスの取引、お金の貸し借り、投資など）を記録したもので、次の大項目で構成さ…</a:t>
            </a:r>
          </a:p>
        </p:txBody>
      </p:sp>
      <p:sp>
        <p:nvSpPr>
          <p:cNvPr id="11" name="Rounded Rectangle 10"/>
          <p:cNvSpPr/>
          <p:nvPr/>
        </p:nvSpPr>
        <p:spPr>
          <a:xfrm>
            <a:off x="4370832" y="2670048"/>
            <a:ext cx="3401568" cy="201168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2670048"/>
            <a:ext cx="73152" cy="20116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761488"/>
            <a:ext cx="30815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経常収支</a:t>
            </a:r>
          </a:p>
        </p:txBody>
      </p:sp>
      <p:sp>
        <p:nvSpPr>
          <p:cNvPr id="14" name="TextBox 13"/>
          <p:cNvSpPr txBox="1"/>
          <p:nvPr/>
        </p:nvSpPr>
        <p:spPr>
          <a:xfrm>
            <a:off x="4572000"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モノ・サービスの取引や、投資収益、援助などの経常的な取引の収支。さらに次の3つに分かれます。</a:t>
            </a:r>
          </a:p>
        </p:txBody>
      </p:sp>
      <p:sp>
        <p:nvSpPr>
          <p:cNvPr id="15" name="Rounded Rectangle 14"/>
          <p:cNvSpPr/>
          <p:nvPr/>
        </p:nvSpPr>
        <p:spPr>
          <a:xfrm>
            <a:off x="7964424" y="2670048"/>
            <a:ext cx="3401568" cy="201168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64424" y="2670048"/>
            <a:ext cx="73152" cy="20116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2761488"/>
            <a:ext cx="30815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貿易・サービス収支</a:t>
            </a:r>
          </a:p>
        </p:txBody>
      </p:sp>
      <p:sp>
        <p:nvSpPr>
          <p:cNvPr id="18" name="TextBox 17"/>
          <p:cNvSpPr txBox="1"/>
          <p:nvPr/>
        </p:nvSpPr>
        <p:spPr>
          <a:xfrm>
            <a:off x="8165592"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モノの輸出入（貿易収支）と、輸送・旅行・特許使用料など（サービス収支）の合計</a:t>
            </a:r>
          </a:p>
        </p:txBody>
      </p:sp>
      <p:sp>
        <p:nvSpPr>
          <p:cNvPr id="19" name="Rounded Rectangle 18"/>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近年の日本では、原油・資源価格の上昇や円安の影響もあり、貿易収支が赤字になる月・年も見られます。しかし、過去に蓄積した対外直接投資・証券投資から得られる配当・利子収入（第一次所得収支）が大幅な黒字となっている…</a:t>
            </a:r>
          </a:p>
        </p:txBody>
      </p:sp>
      <p:sp>
        <p:nvSpPr>
          <p:cNvPr id="20" name="Rounded Rectangle 19"/>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国際収支は複式簿記の考え方に基づいており、理論上「経常収支＋資本移転等収支－金融収支＋誤差脱漏＝0」という恒等式が成り立ちます。金融収支は「対外資産の増加はプラス」と符号がやや直感に反するため、「金融収支の黒…</a:t>
            </a:r>
          </a:p>
        </p:txBody>
      </p:sp>
      <p:sp>
        <p:nvSpPr>
          <p:cNvPr id="21" name="Rectangle 20"/>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23" name="TextBox 22"/>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EEF2FF"/>
          </a:solidFill>
          <a:ln w="25400">
            <a:solidFill>
              <a:srgbClr val="9E99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4F46E5"/>
                </a:solidFill>
                <a:latin typeface="WenQuanYi Micro Hei"/>
              </a:rPr>
              <a:t>SECTION 02</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マクロ経済理論と経済政策</a:t>
            </a:r>
          </a:p>
        </p:txBody>
      </p:sp>
      <p:sp>
        <p:nvSpPr>
          <p:cNvPr id="6" name="Rounded Rectangle 5"/>
          <p:cNvSpPr/>
          <p:nvPr/>
        </p:nvSpPr>
        <p:spPr>
          <a:xfrm>
            <a:off x="4261104" y="3968496"/>
            <a:ext cx="3657600" cy="749808"/>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7 論点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生産物市場とGDP決定理論</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マクロ経済理論と経済政策（A-7〜A-13）</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GDP（国民所得）の水準は、モノやサービスへの…</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というものです。これを「有効需要の原理」と呼びます。</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限界消費性向</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＝所得が1単位増えたときに消費に回される割合、0＜c＜1）</a:t>
            </a:r>
          </a:p>
        </p:txBody>
      </p:sp>
      <p:sp>
        <p:nvSpPr>
          <p:cNvPr id="15" name="Rounded Rectangle 14"/>
          <p:cNvSpPr/>
          <p:nvPr/>
        </p:nvSpPr>
        <p:spPr>
          <a:xfrm>
            <a:off x="566928"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乗数効果</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です。政府支出Gを1単位増やすと、GDP（Y）はそれ以上に増加します。その増加倍率（政府支出乗数）は次の式で表されます。</a:t>
            </a:r>
          </a:p>
        </p:txBody>
      </p:sp>
      <p:sp>
        <p:nvSpPr>
          <p:cNvPr id="19" name="Rounded Rectangle 18"/>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ケインズ経済学の基本的な考え方</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GDP（国民所得）の水準は、モノやサービスへの需要（有効需要）の大きさによって決まるというものです。</a:t>
            </a:r>
          </a:p>
        </p:txBody>
      </p:sp>
      <p:sp>
        <p:nvSpPr>
          <p:cNvPr id="24" name="Rounded Rectangle 23"/>
          <p:cNvSpPr/>
          <p:nvPr/>
        </p:nvSpPr>
        <p:spPr>
          <a:xfrm>
            <a:off x="6217920"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これを「有効需要の原理」と呼びます。</a:t>
            </a:r>
          </a:p>
        </p:txBody>
      </p:sp>
      <p:sp>
        <p:nvSpPr>
          <p:cNvPr id="27" name="Rounded Rectangle 26"/>
          <p:cNvSpPr/>
          <p:nvPr/>
        </p:nvSpPr>
        <p:spPr>
          <a:xfrm>
            <a:off x="6217920"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最もシンプルなモデル（45度線分析）で</a:t>
            </a:r>
          </a:p>
        </p:txBody>
      </p:sp>
      <p:sp>
        <p:nvSpPr>
          <p:cNvPr id="30" name="TextBox 29"/>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財市場の均衡は次の式で表されます。</a:t>
            </a:r>
          </a:p>
        </p:txBody>
      </p:sp>
      <p:sp>
        <p:nvSpPr>
          <p:cNvPr id="31" name="Rounded Rectangle 3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具体例｜限界消費性向が0.75の経済で、政府が公共投資を40兆円増やしたとします。政府支出乗数は1/(1-0.75)=4なので、最終的なGDPの増加額は40兆円×4＝160兆円と計算されます（あくまで単純化されたモデ…</a:t>
            </a:r>
          </a:p>
        </p:txBody>
      </p:sp>
      <p:sp>
        <p:nvSpPr>
          <p:cNvPr id="32" name="Rounded Rectangle 3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同時に「政府支出を100増やし、同額の100を増税する」ケース（均衡予算）を考える問題も頻出です。この場合、政府支出の増加によるGDP押し上げ効果と、増税によるGDP押し下げ効果が完全には相殺されず、差し引き…</a:t>
            </a:r>
          </a:p>
        </p:txBody>
      </p:sp>
      <p:sp>
        <p:nvSpPr>
          <p:cNvPr id="33" name="Rectangle 3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5" name="TextBox 3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貨幣市場と利子率</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マクロ経済理論と経済政策（A-7〜A-13）</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流動性選好理論</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取引動機</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日々の買い物などの決済のためにお金を持つ需要。所得が多いほど大きくなる。</a:t>
            </a:r>
          </a:p>
        </p:txBody>
      </p:sp>
      <p:sp>
        <p:nvSpPr>
          <p:cNvPr id="15" name="Rounded Rectangle 14"/>
          <p:cNvSpPr/>
          <p:nvPr/>
        </p:nvSpPr>
        <p:spPr>
          <a:xfrm>
            <a:off x="566928"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予備的動機</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不測の事態に備えてお金を持つ需要。これも所得に依存する。</a:t>
            </a:r>
          </a:p>
        </p:txBody>
      </p:sp>
      <p:sp>
        <p:nvSpPr>
          <p:cNvPr id="19" name="Rounded Rectangle 18"/>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投機的動機</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将来、債券などに投資するタイミングを計るために、とりあえず現金で持っておく需要。利子率が低いほど（債券を持つ魅力が小さいほ…</a:t>
            </a:r>
          </a:p>
        </p:txBody>
      </p:sp>
      <p:sp>
        <p:nvSpPr>
          <p:cNvPr id="24" name="Rounded Rectangle 23"/>
          <p:cNvSpPr/>
          <p:nvPr/>
        </p:nvSpPr>
        <p:spPr>
          <a:xfrm>
            <a:off x="6217920"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流動性の罠</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があります。これは、利子率が極めて低い水準まで下がると、人々が「これ以上利子率は下がらないだろう（今後は上がるだろう）」と…</a:t>
            </a:r>
          </a:p>
        </p:txBody>
      </p:sp>
      <p:sp>
        <p:nvSpPr>
          <p:cNvPr id="28" name="Rounded Rectangle 27"/>
          <p:cNvSpPr/>
          <p:nvPr/>
        </p:nvSpPr>
        <p:spPr>
          <a:xfrm>
            <a:off x="6217920"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ケインズ</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人々がお金（貨幣）を持ちたがる動機（貨幣需要）を3つに整理しました（流動性選好理論）。</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好況で所得が増えると、取引に必要なお金が増えるため貨幣需要が高まり、利子率には上昇圧力がかかります。逆に、中央銀行が金融緩和で貨幣供給量を増やすと、市中にお金が余るため利子率は低下圧力を受けます。</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投機的動機に基づく貨幣需要は「利子率」に依存するのであって、「所得」に依存するのではありません。逆に取引動機・予備的動機に基づく需要は「所得」に依存し「利子率」にはあまり依存しません。この対応（動機と依存する…</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IS-LM曲線・分析</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マクロ経済理論と経済政策（A-7〜A-13）</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IS曲線が緩やか（水平に近い）</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限界消費性向が大きい／投資の利子感応度が大きい（利子率変化に投資が敏感に反応する） / 金融政策の効果が大きい</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IS曲線が急（垂直に近い）</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投資の利子感応度が小さい（利子率が変化しても投資があまり反応しない） / 金融政策の効果は小さい</a:t>
            </a:r>
          </a:p>
        </p:txBody>
      </p:sp>
      <p:sp>
        <p:nvSpPr>
          <p:cNvPr id="15" name="Rounded Rectangle 14"/>
          <p:cNvSpPr/>
          <p:nvPr/>
        </p:nvSpPr>
        <p:spPr>
          <a:xfrm>
            <a:off x="566928"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LM曲線が緩やか（水平に近い）</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貨幣需要の利子感応度が大きい（利子率のわずかな変化で貨幣需要が大きく変わる） / 財政政策の効果が大きい（クラウディングア…</a:t>
            </a:r>
          </a:p>
        </p:txBody>
      </p:sp>
      <p:sp>
        <p:nvSpPr>
          <p:cNvPr id="19" name="Rounded Rectangle 18"/>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LM曲線が急（垂直に近い）</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貨幣需要の所得感応度が大きい（所得が増えると貨幣需要が大きく増える） / 財政政策の効果は小さい（クラウディングアウトが大…</a:t>
            </a:r>
          </a:p>
        </p:txBody>
      </p:sp>
      <p:sp>
        <p:nvSpPr>
          <p:cNvPr id="24" name="Rounded Rectangle 23"/>
          <p:cNvSpPr/>
          <p:nvPr/>
        </p:nvSpPr>
        <p:spPr>
          <a:xfrm>
            <a:off x="6217920"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同時に</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満たす、GDP（Y）と利子率（r）の組み合わせを分析する、マクロ経済学で最も重要な分析ツールです。</a:t>
            </a:r>
          </a:p>
        </p:txBody>
      </p:sp>
      <p:sp>
        <p:nvSpPr>
          <p:cNvPr id="28" name="Rounded Rectangle 27"/>
          <p:cNvSpPr/>
          <p:nvPr/>
        </p:nvSpPr>
        <p:spPr>
          <a:xfrm>
            <a:off x="6217920"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IS曲線</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財市場（Y＝C＋I(r)＋G）を均衡させる（Y, r）の組み合わせを描いた曲線で、右下がりになります。利子率rが下がると…</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投資が利子率にほとんど反応しない業種構成の経済（IS曲線が急）では、中央銀行が金融緩和を行って利子率を下げても、設備投資はあまり増えず、金融政策の効果は限定的になります。逆にこのような経済では、財政政策（公共…</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限界消費性向が大きいほどIS曲線の傾きは急になる」という記述は誤りで、正しくは限界消費性向が大きいほど乗数効果が大きくなり、IS曲線は緩やかになります。IS・LM曲線の傾きに関する4つの決定要因（限界消費性…</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A-10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政府支出・租税と財政政策</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マクロ経済理論と経済政策（A-7〜A-13）</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ビルトイン・スタビライザー（自動安定化装置）</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があります。例えば、累進課税制度のもとでは好況で所得が増えると税負担の割合も自動的に増えて需要の過熱を抑え、不況で所得が減…</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クラウディングアウト</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（政府支出増加による利子率上昇が民間投資を押し出す効果）のほか、将来の増税を見越して家計が消費を増やさない、という考え方（…</a:t>
            </a:r>
          </a:p>
        </p:txBody>
      </p:sp>
      <p:sp>
        <p:nvSpPr>
          <p:cNvPr id="15" name="Rounded Rectangle 14"/>
          <p:cNvSpPr/>
          <p:nvPr/>
        </p:nvSpPr>
        <p:spPr>
          <a:xfrm>
            <a:off x="566928"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財政政策</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政府が歳出（政府支出）や歳入（租税）を通じて景気を調整する政策です。</a:t>
            </a:r>
          </a:p>
        </p:txBody>
      </p:sp>
      <p:sp>
        <p:nvSpPr>
          <p:cNvPr id="19" name="Rounded Rectangle 18"/>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不況期に</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政府支出の拡大や減税で需要を刺激し（拡張的財政政策）、好況で過熱気味のときには政府支出の抑制や増税で需要を抑える（緊縮…</a:t>
            </a:r>
          </a:p>
        </p:txBody>
      </p:sp>
      <p:sp>
        <p:nvSpPr>
          <p:cNvPr id="24" name="Rounded Rectangle 23"/>
          <p:cNvSpPr/>
          <p:nvPr/>
        </p:nvSpPr>
        <p:spPr>
          <a:xfrm>
            <a:off x="6217920"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財政政策に</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政府が意図的に発動する「裁量的財政政策」のほかに、制度に組み込まれた自動的な調整機能であるビルトイン・スタビライザー（…</a:t>
            </a:r>
          </a:p>
        </p:txBody>
      </p:sp>
      <p:sp>
        <p:nvSpPr>
          <p:cNvPr id="28" name="Rounded Rectangle 27"/>
          <p:cNvSpPr/>
          <p:nvPr/>
        </p:nvSpPr>
        <p:spPr>
          <a:xfrm>
            <a:off x="6217920"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例えば、累進課税制度のもとで</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好況で所得が増えると税負担の割合も自動的に増えて需要の過熱を抑え、不況で所得が減ると税負担も自動的に軽くなり、失業保険…</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不況期に政府が所得税の減税を行っても、消費者が「いずれ財政赤字を穴埋めするための増税があるだろう」と予想して減税分をそのまま貯蓄に回してしまうと、期待されたほど消費が増えず、景気刺激効果が弱まることがあります…</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ビルトイン・スタビライザーは「政府が景気の状況を見ながら都度判断して発動する政策」ではなく、税制・社会保障制度の仕組みそのものに組み込まれた「自動的な」安定化機能である点を混同しないようにしましょう。</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A-11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貨幣理論と金融政策</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マクロ経済理論と経済政策（A-7〜A-13）</a:t>
            </a:r>
          </a:p>
        </p:txBody>
      </p:sp>
      <p:sp>
        <p:nvSpPr>
          <p:cNvPr id="6" name="Rectangle 5"/>
          <p:cNvSpPr/>
          <p:nvPr/>
        </p:nvSpPr>
        <p:spPr>
          <a:xfrm>
            <a:off x="868680" y="2926080"/>
            <a:ext cx="10469880" cy="45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4048" y="1280160"/>
            <a:ext cx="2057400" cy="107899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1｜公開市場操作（オペレーション）
中央銀行が金融機関との間で国債などを売買することで、市中に出回る資金量を調…</a:t>
            </a:r>
          </a:p>
        </p:txBody>
      </p:sp>
      <p:sp>
        <p:nvSpPr>
          <p:cNvPr id="9" name="Oval 8"/>
          <p:cNvSpPr/>
          <p:nvPr/>
        </p:nvSpPr>
        <p:spPr>
          <a:xfrm>
            <a:off x="334899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26030" y="3401568"/>
            <a:ext cx="2057400" cy="1078992"/>
          </a:xfrm>
          <a:prstGeom prst="roundRect">
            <a:avLst/>
          </a:prstGeom>
          <a:solidFill>
            <a:srgbClr val="FFFF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2｜政策金利操作
中央銀行が誘導目標とする短期金利（日本では無担保コールレート翌日物）を操作…</a:t>
            </a:r>
          </a:p>
        </p:txBody>
      </p:sp>
      <p:sp>
        <p:nvSpPr>
          <p:cNvPr id="11" name="Oval 10"/>
          <p:cNvSpPr/>
          <p:nvPr/>
        </p:nvSpPr>
        <p:spPr>
          <a:xfrm>
            <a:off x="592074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97779" y="1280160"/>
            <a:ext cx="2057400" cy="107899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3｜預金準備率操作
金融機関に義務付けられている、預金の一定割合を中央銀行に預け入れる比率（準…</a:t>
            </a:r>
          </a:p>
        </p:txBody>
      </p:sp>
      <p:sp>
        <p:nvSpPr>
          <p:cNvPr id="13" name="Oval 12"/>
          <p:cNvSpPr/>
          <p:nvPr/>
        </p:nvSpPr>
        <p:spPr>
          <a:xfrm>
            <a:off x="849249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69529" y="3401568"/>
            <a:ext cx="2057400" cy="1078992"/>
          </a:xfrm>
          <a:prstGeom prst="roundRect">
            <a:avLst/>
          </a:prstGeom>
          <a:solidFill>
            <a:srgbClr val="FFFF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4｜量的緩和政策（QE）
政策金利がほぼゼロまで下がり、これ以上金利を下げる余地がなくなった場合に…</a:t>
            </a:r>
          </a:p>
        </p:txBody>
      </p:sp>
      <p:sp>
        <p:nvSpPr>
          <p:cNvPr id="15" name="Oval 14"/>
          <p:cNvSpPr/>
          <p:nvPr/>
        </p:nvSpPr>
        <p:spPr>
          <a:xfrm>
            <a:off x="1106424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85248" y="1280160"/>
            <a:ext cx="2057400" cy="107899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5｜マイナス金利政策
金融機関が中央銀行に預ける当座預金の一部にマイナスの金利を適用し、金融機関…</a:t>
            </a:r>
          </a:p>
        </p:txBody>
      </p:sp>
      <p:sp>
        <p:nvSpPr>
          <p:cNvPr id="17" name="Rounded Rectangle 1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日本銀行が「買いオペ」で国債を買い入れると、その代金が金融機関に支払われ、市中に出回る資金量（マネタリーベース）が増加します。これにより短期金利に低下圧力がかかり、企業の資金調達コストが下がることで設備投資が…</a:t>
            </a:r>
          </a:p>
        </p:txBody>
      </p:sp>
      <p:sp>
        <p:nvSpPr>
          <p:cNvPr id="18" name="Rounded Rectangle 1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注意｜「買いオペは資金を吸収する政策である」という記述は誤りで、買いオペは中央銀行が資金を「供給する」（金融緩和的な）政策です。「売りオペ」との方向を逆に覚えないよう注意してください。</a:t>
            </a:r>
          </a:p>
        </p:txBody>
      </p:sp>
      <p:sp>
        <p:nvSpPr>
          <p:cNvPr id="19" name="Rectangle 1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21" name="TextBox 2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A-12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雇用と物価水準（フィリップス曲線等）</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マクロ経済理論と経済政策（A-7〜A-13）</a:t>
            </a:r>
          </a:p>
        </p:txBody>
      </p:sp>
      <p:sp>
        <p:nvSpPr>
          <p:cNvPr id="6" name="Rectangle 5"/>
          <p:cNvSpPr/>
          <p:nvPr/>
        </p:nvSpPr>
        <p:spPr>
          <a:xfrm>
            <a:off x="868680" y="2926080"/>
            <a:ext cx="10469880" cy="45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4048" y="1280160"/>
            <a:ext cx="2057400" cy="107899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1｜フィリップス曲線
は、縦軸にインフレ率（賃金上昇率）、横軸に失業率をとったときに、両者が右下…</a:t>
            </a:r>
          </a:p>
        </p:txBody>
      </p:sp>
      <p:sp>
        <p:nvSpPr>
          <p:cNvPr id="9" name="Oval 8"/>
          <p:cNvSpPr/>
          <p:nvPr/>
        </p:nvSpPr>
        <p:spPr>
          <a:xfrm>
            <a:off x="334899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26030" y="3401568"/>
            <a:ext cx="2057400" cy="1078992"/>
          </a:xfrm>
          <a:prstGeom prst="roundRect">
            <a:avLst/>
          </a:prstGeom>
          <a:solidFill>
            <a:srgbClr val="FFFF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2｜自然失業率仮説（期待修正フィリップ…
です。この理論では、人々が「これから物価が上がるだろう」という期待（予想イ…</a:t>
            </a:r>
          </a:p>
        </p:txBody>
      </p:sp>
      <p:sp>
        <p:nvSpPr>
          <p:cNvPr id="11" name="Oval 10"/>
          <p:cNvSpPr/>
          <p:nvPr/>
        </p:nvSpPr>
        <p:spPr>
          <a:xfrm>
            <a:off x="592074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97779" y="1280160"/>
            <a:ext cx="2057400" cy="107899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3｜当初
「失業率を下げようとすると（金融緩和などで需要を刺激すると）、インフレ率が…</a:t>
            </a:r>
          </a:p>
        </p:txBody>
      </p:sp>
      <p:sp>
        <p:nvSpPr>
          <p:cNvPr id="13" name="Oval 12"/>
          <p:cNvSpPr/>
          <p:nvPr/>
        </p:nvSpPr>
        <p:spPr>
          <a:xfrm>
            <a:off x="849249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69529" y="3401568"/>
            <a:ext cx="2057400" cy="1078992"/>
          </a:xfrm>
          <a:prstGeom prst="roundRect">
            <a:avLst/>
          </a:prstGeom>
          <a:solidFill>
            <a:srgbClr val="FFFF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4｜しかし、1970年代に不況とインフ…
</a:t>
            </a:r>
          </a:p>
        </p:txBody>
      </p:sp>
      <p:sp>
        <p:nvSpPr>
          <p:cNvPr id="15" name="Oval 14"/>
          <p:cNvSpPr/>
          <p:nvPr/>
        </p:nvSpPr>
        <p:spPr>
          <a:xfrm>
            <a:off x="1106424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85248" y="1280160"/>
            <a:ext cx="2057400" cy="107899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5｜これを説明するために提示されたのが…
</a:t>
            </a:r>
          </a:p>
        </p:txBody>
      </p:sp>
      <p:sp>
        <p:nvSpPr>
          <p:cNvPr id="17" name="Rounded Rectangle 1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1970年代の石油危機後の先進国では、原油価格高騰によるコスト上昇で物価が上昇する一方、不況で失業率も高止まりする「スタグフレーション」が生じ、「不況ならインフレ率は下がるはず」という単純なフィリップス曲線の…</a:t>
            </a:r>
          </a:p>
        </p:txBody>
      </p:sp>
      <p:sp>
        <p:nvSpPr>
          <p:cNvPr id="18" name="Rounded Rectangle 1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フィリップス曲線が示すインフレ率と失業率のトレードオフは、長期においても常に安定的に成立する」という記述は誤りです。自然失業率仮説では、このトレードオフは人々が物価上昇を予想していない「短期」にのみ成立し…</a:t>
            </a:r>
          </a:p>
        </p:txBody>
      </p:sp>
      <p:sp>
        <p:nvSpPr>
          <p:cNvPr id="19" name="Rectangle 1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21" name="TextBox 2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A-13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景気変動と景気循環</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マクロ経済理論と経済政策（A-7〜A-13）</a:t>
            </a:r>
          </a:p>
        </p:txBody>
      </p:sp>
      <p:sp>
        <p:nvSpPr>
          <p:cNvPr id="6" name="Oval 5"/>
          <p:cNvSpPr/>
          <p:nvPr/>
        </p:nvSpPr>
        <p:spPr>
          <a:xfrm>
            <a:off x="4892040" y="2304288"/>
            <a:ext cx="2395728" cy="141732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700" b="1">
                <a:solidFill>
                  <a:srgbClr val="FFFFFF"/>
                </a:solidFill>
                <a:latin typeface="WenQuanYi Micro Hei"/>
              </a:rPr>
              <a:t>循環して
改善・定着</a:t>
            </a:r>
          </a:p>
        </p:txBody>
      </p:sp>
      <p:sp>
        <p:nvSpPr>
          <p:cNvPr id="7" name="Rounded Rectangle 6"/>
          <p:cNvSpPr/>
          <p:nvPr/>
        </p:nvSpPr>
        <p:spPr>
          <a:xfrm>
            <a:off x="4526280" y="1051560"/>
            <a:ext cx="2907792" cy="1024128"/>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26280" y="1051560"/>
            <a:ext cx="73152" cy="10241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7448" y="1143000"/>
            <a:ext cx="2587752"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キチン・サイクル</a:t>
            </a:r>
          </a:p>
        </p:txBody>
      </p:sp>
      <p:sp>
        <p:nvSpPr>
          <p:cNvPr id="10" name="TextBox 9"/>
          <p:cNvSpPr txBox="1"/>
          <p:nvPr/>
        </p:nvSpPr>
        <p:spPr>
          <a:xfrm>
            <a:off x="4727448" y="147218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約40か月（約3〜4年、短期） / 企業の在庫投資の変動</a:t>
            </a:r>
          </a:p>
        </p:txBody>
      </p:sp>
      <p:cxnSp>
        <p:nvCxnSpPr>
          <p:cNvPr id="11" name="Connector 10"/>
          <p:cNvCxnSpPr/>
          <p:nvPr/>
        </p:nvCxnSpPr>
        <p:spPr>
          <a:xfrm>
            <a:off x="5980176" y="1563624"/>
            <a:ext cx="3447288" cy="1234440"/>
          </a:xfrm>
          <a:prstGeom prst="line">
            <a:avLst/>
          </a:prstGeom>
          <a:ln w="22860">
            <a:solidFill>
              <a:srgbClr val="8D87EE"/>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973568" y="2286000"/>
            <a:ext cx="2907792" cy="1024128"/>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73568" y="2286000"/>
            <a:ext cx="73152" cy="10241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74736" y="2377440"/>
            <a:ext cx="2587752"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ジュグラー・サイクル</a:t>
            </a:r>
          </a:p>
        </p:txBody>
      </p:sp>
      <p:sp>
        <p:nvSpPr>
          <p:cNvPr id="15" name="TextBox 14"/>
          <p:cNvSpPr txBox="1"/>
          <p:nvPr/>
        </p:nvSpPr>
        <p:spPr>
          <a:xfrm>
            <a:off x="8174736" y="270662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約7〜10年（中期） / 企業の設備投資（生産設備の更新）の変動</a:t>
            </a:r>
          </a:p>
        </p:txBody>
      </p:sp>
      <p:cxnSp>
        <p:nvCxnSpPr>
          <p:cNvPr id="16" name="Connector 15"/>
          <p:cNvCxnSpPr/>
          <p:nvPr/>
        </p:nvCxnSpPr>
        <p:spPr>
          <a:xfrm flipH="1">
            <a:off x="5980176" y="2798064"/>
            <a:ext cx="3447288" cy="1508760"/>
          </a:xfrm>
          <a:prstGeom prst="line">
            <a:avLst/>
          </a:prstGeom>
          <a:ln w="22860">
            <a:solidFill>
              <a:srgbClr val="8D87EE"/>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526280" y="3794760"/>
            <a:ext cx="2907792" cy="1024128"/>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26280" y="3794760"/>
            <a:ext cx="73152" cy="10241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27448" y="3886200"/>
            <a:ext cx="2587752"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クズネッツの波（建築循環）</a:t>
            </a:r>
          </a:p>
        </p:txBody>
      </p:sp>
      <p:sp>
        <p:nvSpPr>
          <p:cNvPr id="20" name="TextBox 19"/>
          <p:cNvSpPr txBox="1"/>
          <p:nvPr/>
        </p:nvSpPr>
        <p:spPr>
          <a:xfrm>
            <a:off x="4727448" y="421538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約15〜25年（約20年） / 住宅・商工業建築物の建て替え需要の変動</a:t>
            </a:r>
          </a:p>
        </p:txBody>
      </p:sp>
      <p:cxnSp>
        <p:nvCxnSpPr>
          <p:cNvPr id="21" name="Connector 20"/>
          <p:cNvCxnSpPr/>
          <p:nvPr/>
        </p:nvCxnSpPr>
        <p:spPr>
          <a:xfrm flipH="1" flipV="1">
            <a:off x="2532888" y="2798064"/>
            <a:ext cx="3447288" cy="1508760"/>
          </a:xfrm>
          <a:prstGeom prst="line">
            <a:avLst/>
          </a:prstGeom>
          <a:ln w="22860">
            <a:solidFill>
              <a:srgbClr val="8D87EE"/>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078992" y="2286000"/>
            <a:ext cx="2907792" cy="1024128"/>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78992" y="2286000"/>
            <a:ext cx="73152" cy="10241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2377440"/>
            <a:ext cx="2587752"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コンドラチェフ・サイクル</a:t>
            </a:r>
          </a:p>
        </p:txBody>
      </p:sp>
      <p:sp>
        <p:nvSpPr>
          <p:cNvPr id="25" name="TextBox 24"/>
          <p:cNvSpPr txBox="1"/>
          <p:nvPr/>
        </p:nvSpPr>
        <p:spPr>
          <a:xfrm>
            <a:off x="1280160" y="270662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約50年（長期） / 鉄道・電力・情報通信技術のような大規模な技術革新の普及</a:t>
            </a:r>
          </a:p>
        </p:txBody>
      </p:sp>
      <p:cxnSp>
        <p:nvCxnSpPr>
          <p:cNvPr id="26" name="Connector 25"/>
          <p:cNvCxnSpPr/>
          <p:nvPr/>
        </p:nvCxnSpPr>
        <p:spPr>
          <a:xfrm flipV="1">
            <a:off x="2532888" y="1563624"/>
            <a:ext cx="3447288" cy="1234440"/>
          </a:xfrm>
          <a:prstGeom prst="line">
            <a:avLst/>
          </a:prstGeom>
          <a:ln w="22860">
            <a:solidFill>
              <a:srgbClr val="8D87EE"/>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企業が売れ行き予測を誤って在庫を積みすぎ、その後在庫調整のために生産を絞る、という数年単位のサイクルはキチン・サイクルの典型例です。一方、鉄道網の普及や電力の普及のような産業革命級の技術革新が経済全体を長期に…</a:t>
            </a:r>
          </a:p>
        </p:txBody>
      </p:sp>
      <p:sp>
        <p:nvSpPr>
          <p:cNvPr id="28" name="Rounded Rectangle 2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各サイクルの「周期の長さ」と「原因」を入れ替えた誤答パターンが頻出です（例えば「キチン・サイクルは約20年周期で建築循環に起因する」という記述は、実際にはクズネッツの波の説明であり誤り）。周期の長さの順番（キ…</a:t>
            </a:r>
          </a:p>
        </p:txBody>
      </p:sp>
      <p:sp>
        <p:nvSpPr>
          <p:cNvPr id="29" name="Rectangle 2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1" name="TextBox 3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EEF2FF"/>
          </a:solidFill>
          <a:ln w="25400">
            <a:solidFill>
              <a:srgbClr val="9E99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4F46E5"/>
                </a:solidFill>
                <a:latin typeface="WenQuanYi Micro Hei"/>
              </a:rPr>
              <a:t>SECTION 03</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国際経済と経済政策</a:t>
            </a:r>
          </a:p>
        </p:txBody>
      </p:sp>
      <p:sp>
        <p:nvSpPr>
          <p:cNvPr id="6" name="Rounded Rectangle 5"/>
          <p:cNvSpPr/>
          <p:nvPr/>
        </p:nvSpPr>
        <p:spPr>
          <a:xfrm>
            <a:off x="4261104" y="3968496"/>
            <a:ext cx="3657600" cy="749808"/>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4 論点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A-14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比較生産費説と貿易理論</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国際経済と経済政策（A-14〜A-17）</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比較生産費説（比較優位論）</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相対的に</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得意な財」に特化して貿易すれば、貿易を行わない場合よりも両国全体の生産量（消費できる量）が増える、という点です。この「相対…</a:t>
            </a:r>
          </a:p>
        </p:txBody>
      </p:sp>
      <p:sp>
        <p:nvSpPr>
          <p:cNvPr id="15" name="Rounded Rectangle 14"/>
          <p:cNvSpPr/>
          <p:nvPr/>
        </p:nvSpPr>
        <p:spPr>
          <a:xfrm>
            <a:off x="566928"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低い</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財に特化することで、貿易の利益（両国合計の生産量の増加）が生まれます。</a:t>
            </a:r>
          </a:p>
        </p:txBody>
      </p:sp>
      <p:sp>
        <p:nvSpPr>
          <p:cNvPr id="19" name="Rounded Rectangle 18"/>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A国のカカオ1単位の機会費用＝5÷10＝0.5単…</a:t>
            </a:r>
          </a:p>
        </p:txBody>
      </p:sp>
      <p:sp>
        <p:nvSpPr>
          <p:cNvPr id="23" name="Rounded Rectangle 22"/>
          <p:cNvSpPr/>
          <p:nvPr/>
        </p:nvSpPr>
        <p:spPr>
          <a:xfrm>
            <a:off x="6217920"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B国のカカオ1単位の機会費用＝4÷2＝2単位の大豆</a:t>
            </a:r>
          </a:p>
        </p:txBody>
      </p:sp>
      <p:sp>
        <p:nvSpPr>
          <p:cNvPr id="26" name="Rounded Rectangle 25"/>
          <p:cNvSpPr/>
          <p:nvPr/>
        </p:nvSpPr>
        <p:spPr>
          <a:xfrm>
            <a:off x="6217920"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A国はカカオに比較優位</a:t>
            </a:r>
          </a:p>
        </p:txBody>
      </p:sp>
      <p:sp>
        <p:nvSpPr>
          <p:cNvPr id="29" name="TextBox 28"/>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を持ち、逆にB国は大豆に比較優位を持ちます。両国がそれぞれ比較優位を持つ財の生産に完全特化し、貿易を行うことで、特化前より…</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具体例｜上記のA国・B国の例で、当初両国がカカオ・大豆をそれぞれ40単位ずつ生産していたとします。A国の総労働量は40×5＋40×10＝600、B国の総労働量は40×4＋40×2＝240です。それぞれが比較優位のある…</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比較生産費説の計算問題では、「機会費用＝自国の労働量÷もう一方の財の労働量」という式を正確に、かつどちらの財についての機会費用を聞かれているかを取り違えずに使うことが最重要です。「A国の方がどちらの財も効率的…</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A-15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貿易政策（関税・非関税障壁）</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国際経済と経済政策（A-14〜A-17）</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関税</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輸入品に課す税金。輸入品の国内価格を引き上げ、消費者にとっては高い買い物になりますが、国内生産者は保護されます（国内生産者…</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非関税障壁</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関税以外の方法で輸入を制限する手段。代表的なものに、輸入できる数量の上限を定める輸入数量割当（クオータ）、相手国が自主的に…</a:t>
            </a:r>
          </a:p>
        </p:txBody>
      </p:sp>
      <p:sp>
        <p:nvSpPr>
          <p:cNvPr id="15" name="Rounded Rectangle 14"/>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16" name="Rounded Rectangle 15"/>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自由貿易</a:t>
            </a:r>
          </a:p>
        </p:txBody>
      </p:sp>
      <p:sp>
        <p:nvSpPr>
          <p:cNvPr id="19" name="TextBox 18"/>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理論上、両国全体の余剰（A-23で学ぶ「経済余剰」）を最大化しますが、各国政府は国内産業を保護するためにさまざまな貿易…</a:t>
            </a:r>
          </a:p>
        </p:txBody>
      </p:sp>
      <p:sp>
        <p:nvSpPr>
          <p:cNvPr id="20" name="Rounded Rectangle 1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国が輸入農産物に高い関税をかけると、国内の消費者は割高な価格でその農産物を買うことになり消費者余剰は減少しますが、国内農家は価格競争にさらされにくくなり生産者余剰が増加し、政府には関税収入が入ります。ただ…</a:t>
            </a:r>
          </a:p>
        </p:txBody>
      </p:sp>
      <p:sp>
        <p:nvSpPr>
          <p:cNvPr id="21" name="Rounded Rectangle 2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関税は「政府の収入になる」点で、単純な生産量の制限である「輸入数量割当」とは経済効果が異なります（割当の場合、本来関税収入になるはずの部分が、輸入枠を得た業者の利益として発生することがあります）。関税・非関税…</a:t>
            </a:r>
          </a:p>
        </p:txBody>
      </p:sp>
      <p:sp>
        <p:nvSpPr>
          <p:cNvPr id="22" name="Rectangle 2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24" name="TextBox 2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A-16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国際収支と為替レート決定理論</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国際経済と経済政策（A-14〜A-17）</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購買力平価説（PPP）</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「同じ商品はどの国でも同じ価格になるはずだ」という一物一価の考え方を国全体に広げたもので、二国間の物価上昇率（インフレ率）…</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金利平価説</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投資家は自国と外国のどちらの資産で運用しても期待収益が等しくなるように行動するはずだ、という考え方に基づき、内外の金利差が…</a:t>
            </a:r>
          </a:p>
        </p:txBody>
      </p:sp>
      <p:sp>
        <p:nvSpPr>
          <p:cNvPr id="15" name="Rounded Rectangle 14"/>
          <p:cNvSpPr/>
          <p:nvPr/>
        </p:nvSpPr>
        <p:spPr>
          <a:xfrm>
            <a:off x="566928"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マーシャル＝ラーナー条件</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です。円建ての貿易収支をNX＝PX(e)－eP＊M(e)（Pは輸出財の円建て価格、P＊は輸入財のドル建て価格、eは円建て為…</a:t>
            </a:r>
          </a:p>
        </p:txBody>
      </p:sp>
      <p:sp>
        <p:nvSpPr>
          <p:cNvPr id="19" name="Rounded Rectangle 18"/>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貿易収支は悪化</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します。</a:t>
            </a:r>
          </a:p>
        </p:txBody>
      </p:sp>
      <p:sp>
        <p:nvSpPr>
          <p:cNvPr id="24" name="Rounded Rectangle 23"/>
          <p:cNvSpPr/>
          <p:nvPr/>
        </p:nvSpPr>
        <p:spPr>
          <a:xfrm>
            <a:off x="6217920"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和が1より大きい</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場合、円安による輸出数量の増加・輸入数量の減少という「数量効果」が、円安による輸入代金の割高化という「価格効果」を上回り…</a:t>
            </a:r>
          </a:p>
        </p:txBody>
      </p:sp>
      <p:sp>
        <p:nvSpPr>
          <p:cNvPr id="28" name="Rounded Rectangle 27"/>
          <p:cNvSpPr/>
          <p:nvPr/>
        </p:nvSpPr>
        <p:spPr>
          <a:xfrm>
            <a:off x="6217920"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変化しません</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（弾力性の和が1未満であれば悪化します）。</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急激な円安が進行した直後は、輸入企業が原油や原材料を円安前の契約数量のまま購入し続けるため輸入代金（円換算）が膨らみ、貿易収支が一時的に悪化することがあります（Jカーブ効果の「谷」の局面）。その後、時間をかけ…</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マーシャル＝ラーナー条件の「弾力性の和＝1」の場合を「貿易収支が悪化する」としてしまう誤りが典型的です。正しくは「変化しない（中立）」です。弾力性の和と1との大小関係（＞1なら改善、＝1なら不変、＜1なら悪化…</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A-17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国際マクロ経済の理論と政策</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国際経済と経済政策（A-14〜A-17）</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マンデル＝フレミング・モデル</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です。特に、国際的な資本移動が自由な小国（自国の政策が世界の金利水準に影響を与えられないほど小さい国）を想定した場合、為替…</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変動相場制</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の場合：財政政策（政府支出の拡大）を行うと、国内利子率が上昇し、海外からその国の資産を求めて資金が流入します。これにより自…</a:t>
            </a:r>
          </a:p>
        </p:txBody>
      </p:sp>
      <p:sp>
        <p:nvSpPr>
          <p:cNvPr id="15" name="Rounded Rectangle 14"/>
          <p:cNvSpPr/>
          <p:nvPr/>
        </p:nvSpPr>
        <p:spPr>
          <a:xfrm>
            <a:off x="566928"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固定相場制</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の場合：財政政策で国内利子率が上昇すると、資金流入によって自国通貨に増価圧力がかかりますが、固定相場を維持するために中央銀…</a:t>
            </a:r>
          </a:p>
        </p:txBody>
      </p:sp>
      <p:sp>
        <p:nvSpPr>
          <p:cNvPr id="19" name="Rounded Rectangle 18"/>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A-9で学んだIS-LM分析を、貿易や国際的な資…</a:t>
            </a:r>
          </a:p>
        </p:txBody>
      </p:sp>
      <p:sp>
        <p:nvSpPr>
          <p:cNvPr id="23" name="Rounded Rectangle 22"/>
          <p:cNvSpPr/>
          <p:nvPr/>
        </p:nvSpPr>
        <p:spPr>
          <a:xfrm>
            <a:off x="6217920"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特に、国際的な資本移動が自由な小国（自国の政策が…</a:t>
            </a:r>
          </a:p>
        </p:txBody>
      </p:sp>
      <p:sp>
        <p:nvSpPr>
          <p:cNvPr id="26" name="Rounded Rectangle 2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資本移動が自由で変動相場制を採用している国が財政拡大を行うと、金利上昇→自国通貨高→純輸出の減少という経路を通じて、当初期待したGDP拡大効果の多くが相殺されてしまう、というのがマンデル＝フレミング・モデルの…</a:t>
            </a:r>
          </a:p>
        </p:txBody>
      </p:sp>
      <p:sp>
        <p:nvSpPr>
          <p:cNvPr id="27" name="Rounded Rectangle 2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変動相場制のもとでは財政政策も金融政策もどちらも有効である」という記述は誤りです。資本移動が自由な小国の変動相場制のもとでは、財政政策は効果が弱く、金融政策は効果が強い、固定相場制のもとではその逆（財政政策…</a:t>
            </a:r>
          </a:p>
        </p:txBody>
      </p:sp>
      <p:sp>
        <p:nvSpPr>
          <p:cNvPr id="28" name="Rectangle 2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0" name="TextBox 2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EEF2FF"/>
          </a:solidFill>
          <a:ln w="25400">
            <a:solidFill>
              <a:srgbClr val="9E99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4F46E5"/>
                </a:solidFill>
                <a:latin typeface="WenQuanYi Micro Hei"/>
              </a:rPr>
              <a:t>SECTION 04</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主要経済理論</a:t>
            </a:r>
          </a:p>
        </p:txBody>
      </p:sp>
      <p:sp>
        <p:nvSpPr>
          <p:cNvPr id="6" name="Rounded Rectangle 5"/>
          <p:cNvSpPr/>
          <p:nvPr/>
        </p:nvSpPr>
        <p:spPr>
          <a:xfrm>
            <a:off x="4261104" y="3968496"/>
            <a:ext cx="3657600" cy="749808"/>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3 論点</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A-18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ケインズ理論</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主要経済理論（A-18〜A-20）</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ケインズ経済学</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は、1930年代の世界恐慌を背景に、イギリスの経済学者ケインズが打ち立てた理論体系で、現代マクロ経済学（A-7〜A-13で…</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有効需要の原理</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GDP（国民所得）の水準は、供給側の事情ではなく、モノやサービスへの需要（有効需要）の大きさによって決まる。</a:t>
            </a:r>
          </a:p>
        </p:txBody>
      </p:sp>
      <p:sp>
        <p:nvSpPr>
          <p:cNvPr id="15" name="Rounded Rectangle 14"/>
          <p:cNvSpPr/>
          <p:nvPr/>
        </p:nvSpPr>
        <p:spPr>
          <a:xfrm>
            <a:off x="566928"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市場の自動調整には限界があり、非自発的失業が発…</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賃金や価格がすぐには十分に伸縮的に動かない（下方硬直的である）ため、不況時には「働きたくても仕事がない」という非自発的失業…</a:t>
            </a:r>
          </a:p>
        </p:txBody>
      </p:sp>
      <p:sp>
        <p:nvSpPr>
          <p:cNvPr id="19" name="Rounded Rectangle 18"/>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ケインズ理論の中心的な考え方</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次の2点に整理できます。</a:t>
            </a:r>
          </a:p>
        </p:txBody>
      </p:sp>
      <p:sp>
        <p:nvSpPr>
          <p:cNvPr id="24" name="Rounded Rectangle 23"/>
          <p:cNvSpPr/>
          <p:nvPr/>
        </p:nvSpPr>
        <p:spPr>
          <a:xfrm>
            <a:off x="6217920"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この考え方から、不況期に</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政府が公共投資などで需要を作り出すべきだという「政府の積極的な経済への介入」を肯定する立場が導かれます。</a:t>
            </a:r>
          </a:p>
        </p:txBody>
      </p:sp>
      <p:sp>
        <p:nvSpPr>
          <p:cNvPr id="28" name="Rounded Rectangle 27"/>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具体例｜世界恐慌下でアメリカが実施したニューディール政策（公共事業による雇用創出）は、ケインズ理論が唱える「政府による有効需要の創出」を体現した政策の代表例として語られます。</a:t>
            </a:r>
          </a:p>
        </p:txBody>
      </p:sp>
      <p:sp>
        <p:nvSpPr>
          <p:cNvPr id="29" name="Rounded Rectangle 28"/>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ケインズ理論は「市場に任せておけば、賃金・価格の調整によって自動的に完全雇用が実現する」という考え方（A-19の古典派の立場）とは対照的な立場です。「非自発的失業は存在しない」とする主張は古典派的な立場であり…</a:t>
            </a:r>
          </a:p>
        </p:txBody>
      </p:sp>
      <p:sp>
        <p:nvSpPr>
          <p:cNvPr id="30" name="Rectangle 29"/>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2" name="TextBox 31"/>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A-19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古典派・新古典派の理論</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主要経済理論（A-18〜A-20）</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古典派経済学</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（アダム・スミス以来の伝統的な経済学、ケインズ以前の主流派）は、ケインズ理論とは対照的に、市場メカニズム（価格の伸縮性）を…</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セイの法則</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「供給はそれ自体の需要を創造する」という考え方。生産されたものは、生産に関わった人々の所得となり、それがそのまま支出（需要…</a:t>
            </a:r>
          </a:p>
        </p:txBody>
      </p:sp>
      <p:sp>
        <p:nvSpPr>
          <p:cNvPr id="15" name="Rounded Rectangle 14"/>
          <p:cNvSpPr/>
          <p:nvPr/>
        </p:nvSpPr>
        <p:spPr>
          <a:xfrm>
            <a:off x="566928"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価格の伸縮性による自動調整</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仮に一時的に失業が発生しても、賃金が下がることで労働需要が回復し、市場メカニズムを通じて自動的に完全雇用が実現する、と考え…</a:t>
            </a:r>
          </a:p>
        </p:txBody>
      </p:sp>
      <p:sp>
        <p:nvSpPr>
          <p:cNvPr id="19" name="Rounded Rectangle 18"/>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古典派の二分法</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実物部門（生産量、雇用量などの実物経済変数）と貨幣部門（物価水準などの名目変数）は互いに独立しており、貨幣供給量の変化は物…</a:t>
            </a:r>
          </a:p>
        </p:txBody>
      </p:sp>
      <p:sp>
        <p:nvSpPr>
          <p:cNvPr id="24" name="Rounded Rectangle 23"/>
          <p:cNvSpPr/>
          <p:nvPr/>
        </p:nvSpPr>
        <p:spPr>
          <a:xfrm>
            <a:off x="6217920"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古典派経済学（アダム・スミス以来の伝統的な経済学…</a:t>
            </a:r>
          </a:p>
        </p:txBody>
      </p:sp>
      <p:sp>
        <p:nvSpPr>
          <p:cNvPr id="27" name="Rounded Rectangle 26"/>
          <p:cNvSpPr/>
          <p:nvPr/>
        </p:nvSpPr>
        <p:spPr>
          <a:xfrm>
            <a:off x="6217920"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中心的な考え方に次のものがあります。</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古典派の考え方に立つと、不況時に賃金水準が伸縮的に下がりさえすれば、企業はより多くの労働者を雇うようになり、失業は自然に解消されるはずだ、と説明されます（ケインズは、現実には賃金の下方硬直性があるため、このよ…</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古典派の理論では、貨幣供給量の変化は実質GDPなどの実物変数にも影響を与える」という記述は誤りです。古典派の二分法（貨幣の中立性）のもとでは、貨幣供給量の変化は物価水準のみに影響し、実物変数には影響しない…</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A-20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マネタリズム</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主要経済理論（A-18〜A-20）</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マネタリズム</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は、フリードマンを中心に発展した経済学の一派で、「経済の安定にとって最も重要なのは貨幣供給量（マネーストック）のコントロー…</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k%ルール</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）で機械的に増加させるべきだ、と主張しました。裁量的な政策は、政策の効果が実際に現れるまでのタイムラグの不確実性などにより…</a:t>
            </a:r>
          </a:p>
        </p:txBody>
      </p:sp>
      <p:sp>
        <p:nvSpPr>
          <p:cNvPr id="15" name="Rounded Rectangle 14"/>
          <p:cNvSpPr/>
          <p:nvPr/>
        </p:nvSpPr>
        <p:spPr>
          <a:xfrm>
            <a:off x="566928"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その理論的な土台になっているのが貨幣数量説で、次…</a:t>
            </a:r>
          </a:p>
        </p:txBody>
      </p:sp>
      <p:sp>
        <p:nvSpPr>
          <p:cNvPr id="18" name="Rounded Rectangle 17"/>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19" name="Rounded Rectangle 18"/>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（M</a:t>
            </a:r>
          </a:p>
        </p:txBody>
      </p:sp>
      <p:sp>
        <p:nvSpPr>
          <p:cNvPr id="22" name="TextBox 21"/>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貨幣供給量、V：貨幣の流通速度、P：物価水準、T：取引量）</a:t>
            </a:r>
          </a:p>
        </p:txBody>
      </p:sp>
      <p:sp>
        <p:nvSpPr>
          <p:cNvPr id="23" name="Rounded Rectangle 22"/>
          <p:cNvSpPr/>
          <p:nvPr/>
        </p:nvSpPr>
        <p:spPr>
          <a:xfrm>
            <a:off x="6217920"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マネタリズムで</a:t>
            </a:r>
          </a:p>
        </p:txBody>
      </p:sp>
      <p:sp>
        <p:nvSpPr>
          <p:cNvPr id="26" name="TextBox 25"/>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貨幣の流通速度Vと取引量Tは比較的安定していると仮定するため、貨幣供給量Mを増やせば、それはほぼそのまま物価水準Pの上…</a:t>
            </a:r>
          </a:p>
        </p:txBody>
      </p:sp>
      <p:sp>
        <p:nvSpPr>
          <p:cNvPr id="27" name="Rounded Rectangle 26"/>
          <p:cNvSpPr/>
          <p:nvPr/>
        </p:nvSpPr>
        <p:spPr>
          <a:xfrm>
            <a:off x="6217920"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この考え方から、マネタリズム</a:t>
            </a:r>
          </a:p>
        </p:txBody>
      </p:sp>
      <p:sp>
        <p:nvSpPr>
          <p:cNvPr id="30" name="TextBox 29"/>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「政府や中央銀行が景気の状況を見ながらその都度、財政政策・金融政策を発動する（裁量的な政策運営を行う）」ことに否定的で…</a:t>
            </a:r>
          </a:p>
        </p:txBody>
      </p:sp>
      <p:sp>
        <p:nvSpPr>
          <p:cNvPr id="31" name="Rounded Rectangle 3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マネタリズムの立場からは、「不況が来るたびに政府が財政出動を発動する」というケインズ的な政策運営ではなく、「毎年、経済成長率に見合った一定の率（例えば年率3%など）で貨幣供給量を増やし続ける」という機械的なル…</a:t>
            </a:r>
          </a:p>
        </p:txBody>
      </p:sp>
      <p:sp>
        <p:nvSpPr>
          <p:cNvPr id="32" name="Rounded Rectangle 3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マネタリズムは「政府による裁量的な財政政策・金融政策を積極的に活用すべきだ」とするケインズ的な立場とは正反対の立場である点に注意しましょう。「貨幣供給量のコントロールよりも財政政策を重視する」という記述はマネ…</a:t>
            </a:r>
          </a:p>
        </p:txBody>
      </p:sp>
      <p:sp>
        <p:nvSpPr>
          <p:cNvPr id="33" name="Rectangle 3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5" name="TextBox 3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EEF2FF"/>
          </a:solidFill>
          <a:ln w="25400">
            <a:solidFill>
              <a:srgbClr val="9E99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4F46E5"/>
                </a:solidFill>
                <a:latin typeface="WenQuanYi Micro Hei"/>
              </a:rPr>
              <a:t>SECTION 05</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市場メカニズム</a:t>
            </a:r>
          </a:p>
        </p:txBody>
      </p:sp>
      <p:sp>
        <p:nvSpPr>
          <p:cNvPr id="6" name="Rounded Rectangle 5"/>
          <p:cNvSpPr/>
          <p:nvPr/>
        </p:nvSpPr>
        <p:spPr>
          <a:xfrm>
            <a:off x="4261104" y="3968496"/>
            <a:ext cx="3657600" cy="749808"/>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4 論点</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A-21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市場均衡・不均衡</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市場メカニズム（A-21〜A-24）</a:t>
            </a:r>
          </a:p>
        </p:txBody>
      </p:sp>
      <p:sp>
        <p:nvSpPr>
          <p:cNvPr id="6" name="Rounded Rectangle 5"/>
          <p:cNvSpPr/>
          <p:nvPr/>
        </p:nvSpPr>
        <p:spPr>
          <a:xfrm>
            <a:off x="566928" y="1444752"/>
            <a:ext cx="1779422" cy="3063240"/>
          </a:xfrm>
          <a:prstGeom prst="roundRect">
            <a:avLst/>
          </a:prstGeom>
          <a:solidFill>
            <a:srgbClr val="EEF2FF"/>
          </a:solidFill>
          <a:ln w="177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4F46E5"/>
                </a:solidFill>
                <a:latin typeface="WenQuanYi Micro Hei"/>
              </a:rPr>
              <a:t>均衡価格・均衡数量</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と呼びます。</a:t>
            </a:r>
          </a:p>
        </p:txBody>
      </p:sp>
      <p:sp>
        <p:nvSpPr>
          <p:cNvPr id="10" name="Chevron 9"/>
          <p:cNvSpPr/>
          <p:nvPr/>
        </p:nvSpPr>
        <p:spPr>
          <a:xfrm>
            <a:off x="2456078" y="2596896"/>
            <a:ext cx="310896" cy="640080"/>
          </a:xfrm>
          <a:prstGeom prst="chevron">
            <a:avLst/>
          </a:prstGeom>
          <a:solidFill>
            <a:srgbClr val="807A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4F46E5"/>
                </a:solidFill>
                <a:latin typeface="WenQuanYi Micro Hei"/>
              </a:rPr>
              <a:t>超過需要</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価格が均衡価格より低く、需要量が供給量を上回っている状態（品不足）。通常は価格が上…</a:t>
            </a:r>
          </a:p>
        </p:txBody>
      </p:sp>
      <p:sp>
        <p:nvSpPr>
          <p:cNvPr id="15" name="Chevron 14"/>
          <p:cNvSpPr/>
          <p:nvPr/>
        </p:nvSpPr>
        <p:spPr>
          <a:xfrm>
            <a:off x="4765852" y="2596896"/>
            <a:ext cx="310896" cy="640080"/>
          </a:xfrm>
          <a:prstGeom prst="chevron">
            <a:avLst/>
          </a:prstGeom>
          <a:solidFill>
            <a:srgbClr val="807A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EEF2FF"/>
          </a:solidFill>
          <a:ln w="177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4F46E5"/>
                </a:solidFill>
                <a:latin typeface="WenQuanYi Micro Hei"/>
              </a:rPr>
              <a:t>超過供給</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価格が均衡価格より高く、供給量が需要量を上回っている状態（売れ残り）。通常は価格が…</a:t>
            </a:r>
          </a:p>
        </p:txBody>
      </p:sp>
      <p:sp>
        <p:nvSpPr>
          <p:cNvPr id="20" name="Chevron 19"/>
          <p:cNvSpPr/>
          <p:nvPr/>
        </p:nvSpPr>
        <p:spPr>
          <a:xfrm>
            <a:off x="7075627" y="2596896"/>
            <a:ext cx="310896" cy="640080"/>
          </a:xfrm>
          <a:prstGeom prst="chevron">
            <a:avLst/>
          </a:prstGeom>
          <a:solidFill>
            <a:srgbClr val="807A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4F46E5"/>
                </a:solidFill>
                <a:latin typeface="WenQuanYi Micro Hei"/>
              </a:rPr>
              <a:t>価格メカニズム（市場メカニズム）</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と呼びます。しかし、政府が家賃統制のように価格の上限を法律で定める（価格の上限規制…</a:t>
            </a:r>
          </a:p>
        </p:txBody>
      </p:sp>
      <p:sp>
        <p:nvSpPr>
          <p:cNvPr id="25" name="Chevron 24"/>
          <p:cNvSpPr/>
          <p:nvPr/>
        </p:nvSpPr>
        <p:spPr>
          <a:xfrm>
            <a:off x="9385401" y="2596896"/>
            <a:ext cx="310896" cy="640080"/>
          </a:xfrm>
          <a:prstGeom prst="chevron">
            <a:avLst/>
          </a:prstGeom>
          <a:solidFill>
            <a:srgbClr val="807A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EEF2FF"/>
          </a:solidFill>
          <a:ln w="1778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4F46E5"/>
                </a:solidFill>
                <a:latin typeface="WenQuanYi Micro Hei"/>
              </a:rPr>
              <a:t>ある商品の市場で</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価格が高いほど消費者が買いたい量（需要量）は減り、価格が高いほど生産者が売りたい量…</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人気コンサートのチケットに定価（上限規制に近い状態）が設定されていると、定価では需要が供給を大幅に上回り（超過需要）、転売市場でチケットが定価の何倍もの価格で取引される、という現象が生じます。これは価格の上限…</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超過需要が発生すると価格は下落する」という記述は逆で、正しくは超過需要（品不足）は価格の上昇によって解消に向かいます。超過需要と超過供給、それぞれが価格をどちらの方向に動かすかを取り違えないようにしましょう。</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A-22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弾力性の概念（価格弾力性等）</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市場メカニズム（A-21〜A-24）</a:t>
            </a:r>
          </a:p>
        </p:txBody>
      </p:sp>
      <p:sp>
        <p:nvSpPr>
          <p:cNvPr id="6" name="Rectangle 5"/>
          <p:cNvSpPr/>
          <p:nvPr/>
        </p:nvSpPr>
        <p:spPr>
          <a:xfrm>
            <a:off x="868680" y="2926080"/>
            <a:ext cx="10469880" cy="45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4048" y="1280160"/>
            <a:ext cx="2057400" cy="107899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1｜弾力性 ＞ 1（弾力的）
価格の変化率より需要量の変化率の方が大きい / 増加する（値下げで売上増）</a:t>
            </a:r>
          </a:p>
        </p:txBody>
      </p:sp>
      <p:sp>
        <p:nvSpPr>
          <p:cNvPr id="9" name="Oval 8"/>
          <p:cNvSpPr/>
          <p:nvPr/>
        </p:nvSpPr>
        <p:spPr>
          <a:xfrm>
            <a:off x="334899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26030" y="3401568"/>
            <a:ext cx="2057400" cy="1078992"/>
          </a:xfrm>
          <a:prstGeom prst="roundRect">
            <a:avLst/>
          </a:prstGeom>
          <a:solidFill>
            <a:srgbClr val="FFFF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2｜弾力性 ＝ 1（単位弾力的）
価格の変化率と需要量の変化率が等しい / 変化しない</a:t>
            </a:r>
          </a:p>
        </p:txBody>
      </p:sp>
      <p:sp>
        <p:nvSpPr>
          <p:cNvPr id="11" name="Oval 10"/>
          <p:cNvSpPr/>
          <p:nvPr/>
        </p:nvSpPr>
        <p:spPr>
          <a:xfrm>
            <a:off x="592074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97779" y="1280160"/>
            <a:ext cx="2057400" cy="107899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3｜弾力性 ＜ 1（非弾力的）
価格の変化率より需要量の変化率の方が小さい / 減少する（値下げしても売上…</a:t>
            </a:r>
          </a:p>
        </p:txBody>
      </p:sp>
      <p:sp>
        <p:nvSpPr>
          <p:cNvPr id="13" name="Oval 12"/>
          <p:cNvSpPr/>
          <p:nvPr/>
        </p:nvSpPr>
        <p:spPr>
          <a:xfrm>
            <a:off x="849249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69529" y="3401568"/>
            <a:ext cx="2057400" cy="1078992"/>
          </a:xfrm>
          <a:prstGeom prst="roundRect">
            <a:avLst/>
          </a:prstGeom>
          <a:solidFill>
            <a:srgbClr val="FFFF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4｜弾力性 ＝ 0（完全非弾力的）
価格が変化しても需要量は全く変化しない / 価格に比例してそのまま増減する</a:t>
            </a:r>
          </a:p>
        </p:txBody>
      </p:sp>
      <p:sp>
        <p:nvSpPr>
          <p:cNvPr id="15" name="Oval 14"/>
          <p:cNvSpPr/>
          <p:nvPr/>
        </p:nvSpPr>
        <p:spPr>
          <a:xfrm>
            <a:off x="1106424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85248" y="1280160"/>
            <a:ext cx="2057400" cy="107899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5｜弾力性 ＝ ∞（完全弾力的）
価格がわずかでも動くと需要量が無限に変化する / －</a:t>
            </a:r>
          </a:p>
        </p:txBody>
      </p:sp>
      <p:sp>
        <p:nvSpPr>
          <p:cNvPr id="17" name="Rounded Rectangle 1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生活必需品（米、電気など）は代替が利きにくいため需要の価格弾力性が低く（非弾力的）、価格が上がっても消費者は購入量をあまり減らさないため、企業は値上げによって売上を増やしやすくなります。逆に、嗜好品やブランド…</a:t>
            </a:r>
          </a:p>
        </p:txBody>
      </p:sp>
      <p:sp>
        <p:nvSpPr>
          <p:cNvPr id="18" name="Rounded Rectangle 1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需要の価格弾力性がゼロであれば、価格が上昇しても消費者の支出総額は変化しない」という記述は誤りです。弾力性がゼロ（数量が全く変化しない）のときに価格が上昇すれば、支出総額（価格×数量）はそのまま増加します…</a:t>
            </a:r>
          </a:p>
        </p:txBody>
      </p:sp>
      <p:sp>
        <p:nvSpPr>
          <p:cNvPr id="19" name="Rectangle 1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21" name="TextBox 2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A-23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経済余剰（消費者余剰・生産者余剰）</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市場メカニズム（A-21〜A-24）</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経済余剰</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消費者余剰</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消費者が「支払ってもよい」と思っていた金額（需要曲線の高さ）から、実際に支払った金額（市場価格）を差し引いた差額の合計。グ…</a:t>
            </a:r>
          </a:p>
        </p:txBody>
      </p:sp>
      <p:sp>
        <p:nvSpPr>
          <p:cNvPr id="15" name="Rounded Rectangle 14"/>
          <p:cNvSpPr/>
          <p:nvPr/>
        </p:nvSpPr>
        <p:spPr>
          <a:xfrm>
            <a:off x="566928"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生産者余剰</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生産者が実際に受け取った金額（市場価格）から、「これ以上安くては売りたくない」という最低ラインの金額（供給曲線の高さ、限界…</a:t>
            </a:r>
          </a:p>
        </p:txBody>
      </p:sp>
      <p:sp>
        <p:nvSpPr>
          <p:cNvPr id="19" name="Rounded Rectangle 18"/>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総余剰（社会的余剰）</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＝消費者余剰＋生産者余剰。</a:t>
            </a:r>
          </a:p>
        </p:txBody>
      </p:sp>
      <p:sp>
        <p:nvSpPr>
          <p:cNvPr id="24" name="Rounded Rectangle 23"/>
          <p:cNvSpPr/>
          <p:nvPr/>
        </p:nvSpPr>
        <p:spPr>
          <a:xfrm>
            <a:off x="6217920"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最大化</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されます。これが「市場メカニズムは資源配分上、効率的である」（A-24）とされる理論的な根拠です。</a:t>
            </a:r>
          </a:p>
        </p:txBody>
      </p:sp>
      <p:sp>
        <p:nvSpPr>
          <p:cNvPr id="28" name="Rounded Rectangle 27"/>
          <p:cNvSpPr/>
          <p:nvPr/>
        </p:nvSpPr>
        <p:spPr>
          <a:xfrm>
            <a:off x="6217920"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死荷重（デッドウェイトロス、超過負担）</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と呼びます。</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商品に新たに物品税が課されると、税負担分だけ実質的な取引価格差が生じて取引量が減少します。消費者余剰と生産者余剰はともに減少し、その減少分の一部は政府の税収として社会に残りますが、残りの一部はどこにも帰属…</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死荷重は「消費者余剰の減少分と生産者余剰の減少分の合計」ではなく、「消費者余剰と生産者余剰の減少分の合計から、税収などの形で社会に残った部分を差し引いた、純粋に失われた部分」である点に注意しましょう。総余剰（…</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A-24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競争的市場の資源配分機能・市場の失敗</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市場メカニズム（A-21〜A-24）</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パレート効率性</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）が実現するとされています。</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市場の失敗</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」と呼ばれるケースがいくつかあります。</a:t>
            </a:r>
          </a:p>
        </p:txBody>
      </p:sp>
      <p:sp>
        <p:nvSpPr>
          <p:cNvPr id="15" name="Rounded Rectangle 14"/>
          <p:cNvSpPr/>
          <p:nvPr/>
        </p:nvSpPr>
        <p:spPr>
          <a:xfrm>
            <a:off x="566928"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外部性</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ある経済主体の活動が、市場での取引（対価のやり取り）を通さずに、第三者に影響を与えること。工場の排煙による公害のように第三…</a:t>
            </a:r>
          </a:p>
        </p:txBody>
      </p:sp>
      <p:sp>
        <p:nvSpPr>
          <p:cNvPr id="19" name="Rounded Rectangle 18"/>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公共財</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国防や一般道路のように、「非競合性」（誰かが消費しても他の人の消費量が減らない）と「非排除性」（対価を払わない人を利用から…</a:t>
            </a:r>
          </a:p>
        </p:txBody>
      </p:sp>
      <p:sp>
        <p:nvSpPr>
          <p:cNvPr id="24" name="Rounded Rectangle 23"/>
          <p:cNvSpPr/>
          <p:nvPr/>
        </p:nvSpPr>
        <p:spPr>
          <a:xfrm>
            <a:off x="6217920"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独占・寡占</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A-31で扱う通り、少数の供給者が価格支配力を持つと、生産量が過少・価格が過大になり、総余剰が減少します。</a:t>
            </a:r>
          </a:p>
        </p:txBody>
      </p:sp>
      <p:sp>
        <p:nvSpPr>
          <p:cNvPr id="28" name="Rounded Rectangle 27"/>
          <p:cNvSpPr/>
          <p:nvPr/>
        </p:nvSpPr>
        <p:spPr>
          <a:xfrm>
            <a:off x="6217920"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情報の非対称性</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A-29で扱う、取引の当事者間で保有する情報に格差があること。</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工場の排煙で近隣住民に健康被害（外部不経済）が生じている場合、政府がその工場の排出量に応じて税金（ピグー税）を課すことで、工場に排出削減のインセンティブを与え、社会的に望ましい生産量に近づけることができます。</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公共財の「非競合性」と「非排除性」は似た言葉ですが別の性質です。非競合性は「消費の際に他人と奪い合いにならないか」、非排除性は「対価を払わない人を締め出せるか」という別々の問いに対応する概念であるため、それぞ…</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EEF2FF"/>
          </a:solidFill>
          <a:ln w="25400">
            <a:solidFill>
              <a:srgbClr val="9E99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4F46E5"/>
                </a:solidFill>
                <a:latin typeface="WenQuanYi Micro Hei"/>
              </a:rPr>
              <a:t>SECTION 06</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消費と生産の理論</a:t>
            </a:r>
          </a:p>
        </p:txBody>
      </p:sp>
      <p:sp>
        <p:nvSpPr>
          <p:cNvPr id="6" name="Rounded Rectangle 5"/>
          <p:cNvSpPr/>
          <p:nvPr/>
        </p:nvSpPr>
        <p:spPr>
          <a:xfrm>
            <a:off x="4261104" y="3968496"/>
            <a:ext cx="3657600" cy="749808"/>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4 論点</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A-25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効用理論・予算制約と消費者行動</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消費と生産の理論（A-25〜A-28）</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効用</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）が最大になるようにモノやサービスの購入量を決めている、と考えるのが消費者理論の出発点です。</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無差別曲線</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と呼びます。無差別曲線は通常、原点に対して凸型の右下がりの曲線として描かれ、原点から遠いほど（右上にあるほど）効用水準が高…</a:t>
            </a:r>
          </a:p>
        </p:txBody>
      </p:sp>
      <p:sp>
        <p:nvSpPr>
          <p:cNvPr id="15" name="Rounded Rectangle 14"/>
          <p:cNvSpPr/>
          <p:nvPr/>
        </p:nvSpPr>
        <p:spPr>
          <a:xfrm>
            <a:off x="566928"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限界代替率（MRS）</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と呼びます。これは「X財を1単位多く消費する代わりに、同じ効用水準を保つためにY財をどれだけ手放してもよいか」という交換比…</a:t>
            </a:r>
          </a:p>
        </p:txBody>
      </p:sp>
      <p:sp>
        <p:nvSpPr>
          <p:cNvPr id="19" name="Rounded Rectangle 18"/>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予算制約線</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上（またはそれより内側）に限られます。</a:t>
            </a:r>
          </a:p>
        </p:txBody>
      </p:sp>
      <p:sp>
        <p:nvSpPr>
          <p:cNvPr id="24" name="Rounded Rectangle 23"/>
          <p:cNvSpPr/>
          <p:nvPr/>
        </p:nvSpPr>
        <p:spPr>
          <a:xfrm>
            <a:off x="6217920"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限界代替率＝価格比（P_X / P_Y）</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が成り立つ点）が、効用を最大化する消費者の最適な購入量の組み合わせ（消費者均衡）になります。</a:t>
            </a:r>
          </a:p>
        </p:txBody>
      </p:sp>
      <p:sp>
        <p:nvSpPr>
          <p:cNvPr id="28" name="Rounded Rectangle 27"/>
          <p:cNvSpPr/>
          <p:nvPr/>
        </p:nvSpPr>
        <p:spPr>
          <a:xfrm>
            <a:off x="6217920"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消費者</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限られた所得（予算）の中で、自分の満足度（効用）が最大になるようにモノやサービスの購入量を決めている、と考えるのが消費…</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人が月々のお小遣いの中で、コーヒーとパンをどう買うか考えるとき、コーヒーを1杯増やす代わりにパンを何個まで我慢できるか（限界代替率）と、実際の価格比（コーヒー1杯の値段÷パン1個の値段）が一致するところで…</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限界代替率逓減の法則は「1つの財を持てば持つほど、その財1単位を追加で得ることの価値（他の財で言えば手放してもよい量）が小さくなっていく」という考え方です。これを「限界効用逓減の法則」（1つの財の消費量が増え…</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A-26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需要曲線の導出</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消費と生産の理論（A-25〜A-28）</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上級財（正常財）</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所得が増えると需要量も増える通常の財 / 代替効果・所得効果とも需要量を増やす方向 → 需要曲線は右下がり</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下級財（劣等財）</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所得が増えるとかえって需要量が減る財（例：発泡酒のような節約志向の財） / 代替効果は需要量を増やすが、所得効果はそれを打…</a:t>
            </a:r>
          </a:p>
        </p:txBody>
      </p:sp>
      <p:sp>
        <p:nvSpPr>
          <p:cNvPr id="15" name="Rounded Rectangle 14"/>
          <p:cNvSpPr/>
          <p:nvPr/>
        </p:nvSpPr>
        <p:spPr>
          <a:xfrm>
            <a:off x="566928"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ギッフェン財</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下級財の中でも特殊な例外で、所得効果が代替効果を上回ってしまう財 / 価格が下がるとかえって需要量が減少する（右上がりの「…</a:t>
            </a:r>
          </a:p>
        </p:txBody>
      </p:sp>
      <p:sp>
        <p:nvSpPr>
          <p:cNvPr id="19" name="Rounded Rectangle 18"/>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需要曲線</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（価格と需要量の関係を示す曲線）を導くことができます。</a:t>
            </a:r>
          </a:p>
        </p:txBody>
      </p:sp>
      <p:sp>
        <p:nvSpPr>
          <p:cNvPr id="24" name="Rounded Rectangle 23"/>
          <p:cNvSpPr/>
          <p:nvPr/>
        </p:nvSpPr>
        <p:spPr>
          <a:xfrm>
            <a:off x="6217920"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代替効果</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ある財の価格が下がると、他の財に比べて相対的に割安になるため、その財をより多く購入しようとする効果。価格下落に対して、代替…</a:t>
            </a:r>
          </a:p>
        </p:txBody>
      </p:sp>
      <p:sp>
        <p:nvSpPr>
          <p:cNvPr id="28" name="Rounded Rectangle 27"/>
          <p:cNvSpPr/>
          <p:nvPr/>
        </p:nvSpPr>
        <p:spPr>
          <a:xfrm>
            <a:off x="6217920"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所得効果</a:t>
            </a:r>
          </a:p>
        </p:txBody>
      </p:sp>
      <p:sp>
        <p:nvSpPr>
          <p:cNvPr id="31" name="TextBox 30"/>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価格が下がると、同じ予算でより多くのモノが買えるようになる（実質的な購買力が上がる）ため、消費行動が変化する効果。所得効果…</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所得が上がるにつれて食べる量が減っていく「下級財」の代表例としてしばしば挙げられるのが、より高価なブランド米に切り替えるために消費が減る「格安な代替米」のような財です。ただし、通常の下級財では価格が下がれば需…</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下級財であれば、価格が下がったときに必ず需要量が減少する（右上がりの需要曲線になる）」という記述は誤りです。下級財であっても、通常は代替効果が所得効果を上回るため需要曲線は右下がりのままであり、代替効果を所…</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A-27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生産関数・費用関数</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消費と生産の理論（A-25〜A-28）</a:t>
            </a:r>
          </a:p>
        </p:txBody>
      </p:sp>
      <p:graphicFrame>
        <p:nvGraphicFramePr>
          <p:cNvPr id="6" name="Table 5"/>
          <p:cNvGraphicFramePr>
            <a:graphicFrameLocks noGrp="1"/>
          </p:cNvGraphicFramePr>
          <p:nvPr/>
        </p:nvGraphicFramePr>
        <p:xfrm>
          <a:off x="594360" y="1115568"/>
          <a:ext cx="11000232" cy="3931920"/>
        </p:xfrm>
        <a:graphic>
          <a:graphicData uri="http://schemas.openxmlformats.org/drawingml/2006/table">
            <a:tbl>
              <a:tblPr firstRow="1" bandRow="1">
                <a:tableStyleId>{5C22544A-7EE6-4342-B048-85BDC9FD1C3A}</a:tableStyleId>
              </a:tblPr>
              <a:tblGrid>
                <a:gridCol w="5500116"/>
                <a:gridCol w="5500116"/>
              </a:tblGrid>
              <a:tr h="786384">
                <a:tc>
                  <a:txBody>
                    <a:bodyPr wrap="square" lIns="54864" rIns="54864" tIns="54864" bIns="54864" anchor="ctr"/>
                    <a:lstStyle/>
                    <a:p>
                      <a:pPr algn="ctr">
                        <a:spcAft>
                          <a:spcPts val="0"/>
                        </a:spcAft>
                      </a:pPr>
                      <a:r>
                        <a:rPr sz="1150" b="1">
                          <a:solidFill>
                            <a:srgbClr val="FFFFFF"/>
                          </a:solidFill>
                          <a:latin typeface="WenQuanYi Micro Hei"/>
                        </a:rPr>
                        <a:t>費用の種類</a:t>
                      </a:r>
                    </a:p>
                  </a:txBody>
                  <a:tcPr marL="73152" marR="73152">
                    <a:solidFill>
                      <a:srgbClr val="4F46E5"/>
                    </a:solidFill>
                  </a:tcPr>
                </a:tc>
                <a:tc>
                  <a:txBody>
                    <a:bodyPr wrap="square" lIns="54864" rIns="54864" tIns="54864" bIns="54864" anchor="ctr"/>
                    <a:lstStyle/>
                    <a:p>
                      <a:pPr algn="ctr">
                        <a:spcAft>
                          <a:spcPts val="0"/>
                        </a:spcAft>
                      </a:pPr>
                      <a:r>
                        <a:rPr sz="1150" b="1">
                          <a:solidFill>
                            <a:srgbClr val="FFFFFF"/>
                          </a:solidFill>
                          <a:latin typeface="WenQuanYi Micro Hei"/>
                        </a:rPr>
                        <a:t>定義</a:t>
                      </a:r>
                    </a:p>
                  </a:txBody>
                  <a:tcPr marL="73152" marR="73152">
                    <a:solidFill>
                      <a:srgbClr val="4F46E5"/>
                    </a:solidFill>
                  </a:tcPr>
                </a:tc>
              </a:tr>
              <a:tr h="786384">
                <a:tc>
                  <a:txBody>
                    <a:bodyPr wrap="square" lIns="54864" rIns="54864" tIns="54864" bIns="54864" anchor="ctr"/>
                    <a:lstStyle/>
                    <a:p>
                      <a:pPr algn="ctr">
                        <a:spcAft>
                          <a:spcPts val="0"/>
                        </a:spcAft>
                      </a:pPr>
                      <a:r>
                        <a:rPr sz="1150" b="1">
                          <a:solidFill>
                            <a:srgbClr val="172033"/>
                          </a:solidFill>
                          <a:latin typeface="WenQuanYi Micro Hei"/>
                        </a:rPr>
                        <a:t>総費用（TC）</a:t>
                      </a:r>
                    </a:p>
                  </a:txBody>
                  <a:tcPr marL="73152" marR="73152">
                    <a:solidFill>
                      <a:srgbClr val="EEF2FF"/>
                    </a:solidFill>
                  </a:tcPr>
                </a:tc>
                <a:tc>
                  <a:txBody>
                    <a:bodyPr wrap="square" lIns="54864" rIns="54864" tIns="54864" bIns="54864" anchor="ctr"/>
                    <a:lstStyle/>
                    <a:p>
                      <a:pPr algn="ctr">
                        <a:spcAft>
                          <a:spcPts val="0"/>
                        </a:spcAft>
                      </a:pPr>
                      <a:r>
                        <a:rPr sz="1150" b="0">
                          <a:solidFill>
                            <a:srgbClr val="172033"/>
                          </a:solidFill>
                          <a:latin typeface="WenQuanYi Micro Hei"/>
                        </a:rPr>
                        <a:t>固定費用＋可変費用</a:t>
                      </a:r>
                    </a:p>
                  </a:txBody>
                  <a:tcPr marL="73152" marR="73152">
                    <a:solidFill>
                      <a:srgbClr val="EEF2FF"/>
                    </a:solidFill>
                  </a:tcPr>
                </a:tc>
              </a:tr>
              <a:tr h="786384">
                <a:tc>
                  <a:txBody>
                    <a:bodyPr wrap="square" lIns="54864" rIns="54864" tIns="54864" bIns="54864" anchor="ctr"/>
                    <a:lstStyle/>
                    <a:p>
                      <a:pPr algn="ctr">
                        <a:spcAft>
                          <a:spcPts val="0"/>
                        </a:spcAft>
                      </a:pPr>
                      <a:r>
                        <a:rPr sz="1150" b="1">
                          <a:solidFill>
                            <a:srgbClr val="172033"/>
                          </a:solidFill>
                          <a:latin typeface="WenQuanYi Micro Hei"/>
                        </a:rPr>
                        <a:t>平均費用（AC）</a:t>
                      </a:r>
                    </a:p>
                  </a:txBody>
                  <a:tcPr marL="73152" marR="73152">
                    <a:solidFill>
                      <a:srgbClr val="FFFFFF"/>
                    </a:solidFill>
                  </a:tcPr>
                </a:tc>
                <a:tc>
                  <a:txBody>
                    <a:bodyPr wrap="square" lIns="54864" rIns="54864" tIns="54864" bIns="54864" anchor="ctr"/>
                    <a:lstStyle/>
                    <a:p>
                      <a:pPr algn="ctr">
                        <a:spcAft>
                          <a:spcPts val="0"/>
                        </a:spcAft>
                      </a:pPr>
                      <a:r>
                        <a:rPr sz="1150" b="0">
                          <a:solidFill>
                            <a:srgbClr val="172033"/>
                          </a:solidFill>
                          <a:latin typeface="WenQuanYi Micro Hei"/>
                        </a:rPr>
                        <a:t>総費用÷生産量（1単位あたりの総費用）</a:t>
                      </a:r>
                    </a:p>
                  </a:txBody>
                  <a:tcPr marL="73152" marR="73152">
                    <a:solidFill>
                      <a:srgbClr val="FFFFFF"/>
                    </a:solidFill>
                  </a:tcPr>
                </a:tc>
              </a:tr>
              <a:tr h="786384">
                <a:tc>
                  <a:txBody>
                    <a:bodyPr wrap="square" lIns="54864" rIns="54864" tIns="54864" bIns="54864" anchor="ctr"/>
                    <a:lstStyle/>
                    <a:p>
                      <a:pPr algn="ctr">
                        <a:spcAft>
                          <a:spcPts val="0"/>
                        </a:spcAft>
                      </a:pPr>
                      <a:r>
                        <a:rPr sz="1150" b="1">
                          <a:solidFill>
                            <a:srgbClr val="172033"/>
                          </a:solidFill>
                          <a:latin typeface="WenQuanYi Micro Hei"/>
                        </a:rPr>
                        <a:t>平均可変費用（AVC）</a:t>
                      </a:r>
                    </a:p>
                  </a:txBody>
                  <a:tcPr marL="73152" marR="73152">
                    <a:solidFill>
                      <a:srgbClr val="EEF2FF"/>
                    </a:solidFill>
                  </a:tcPr>
                </a:tc>
                <a:tc>
                  <a:txBody>
                    <a:bodyPr wrap="square" lIns="54864" rIns="54864" tIns="54864" bIns="54864" anchor="ctr"/>
                    <a:lstStyle/>
                    <a:p>
                      <a:pPr algn="ctr">
                        <a:spcAft>
                          <a:spcPts val="0"/>
                        </a:spcAft>
                      </a:pPr>
                      <a:r>
                        <a:rPr sz="1150" b="0">
                          <a:solidFill>
                            <a:srgbClr val="172033"/>
                          </a:solidFill>
                          <a:latin typeface="WenQuanYi Micro Hei"/>
                        </a:rPr>
                        <a:t>可変費用÷生産量</a:t>
                      </a:r>
                    </a:p>
                  </a:txBody>
                  <a:tcPr marL="73152" marR="73152">
                    <a:solidFill>
                      <a:srgbClr val="EEF2FF"/>
                    </a:solidFill>
                  </a:tcPr>
                </a:tc>
              </a:tr>
              <a:tr h="786384">
                <a:tc>
                  <a:txBody>
                    <a:bodyPr wrap="square" lIns="54864" rIns="54864" tIns="54864" bIns="54864" anchor="ctr"/>
                    <a:lstStyle/>
                    <a:p>
                      <a:pPr algn="ctr">
                        <a:spcAft>
                          <a:spcPts val="0"/>
                        </a:spcAft>
                      </a:pPr>
                      <a:r>
                        <a:rPr sz="1150" b="1">
                          <a:solidFill>
                            <a:srgbClr val="172033"/>
                          </a:solidFill>
                          <a:latin typeface="WenQuanYi Micro Hei"/>
                        </a:rPr>
                        <a:t>限界費用（MC）</a:t>
                      </a:r>
                    </a:p>
                  </a:txBody>
                  <a:tcPr marL="73152" marR="73152">
                    <a:solidFill>
                      <a:srgbClr val="FFFFFF"/>
                    </a:solidFill>
                  </a:tcPr>
                </a:tc>
                <a:tc>
                  <a:txBody>
                    <a:bodyPr wrap="square" lIns="54864" rIns="54864" tIns="54864" bIns="54864" anchor="ctr"/>
                    <a:lstStyle/>
                    <a:p>
                      <a:pPr algn="ctr">
                        <a:spcAft>
                          <a:spcPts val="0"/>
                        </a:spcAft>
                      </a:pPr>
                      <a:r>
                        <a:rPr sz="1150" b="0">
                          <a:solidFill>
                            <a:srgbClr val="172033"/>
                          </a:solidFill>
                          <a:latin typeface="WenQuanYi Micro Hei"/>
                        </a:rPr>
                        <a:t>生産量を1単位追加的に増やすときに必要な追加的な費用</a:t>
                      </a:r>
                    </a:p>
                  </a:txBody>
                  <a:tcPr marL="73152" marR="73152">
                    <a:solidFill>
                      <a:srgbClr val="FFFFFF"/>
                    </a:solidFill>
                  </a:tcPr>
                </a:tc>
              </a:tr>
            </a:tbl>
          </a:graphicData>
        </a:graphic>
      </p:graphicFrame>
      <p:sp>
        <p:nvSpPr>
          <p:cNvPr id="7" name="Rounded Rectangle 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パン屋がオーブン（資本）の台数を変えずにアルバイト（労働）の人数だけを増やしていくと、当初は効率よく生産量が増えますが、やがてオーブンの数がボトルネックとなり、アルバイトを増やしても1人あたりの生産量の伸びは…</a:t>
            </a:r>
          </a:p>
        </p:txBody>
      </p:sp>
      <p:sp>
        <p:nvSpPr>
          <p:cNvPr id="8" name="Rounded Rectangle 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固定費用は「生産量がゼロであっても発生する費用」であり、生産量に応じて金額が変わりません。「固定費用も生産量に応じて増減する」という記述は誤りです。また、平均費用（AC）と限界費用（MC）の関係として、限界費…</a:t>
            </a:r>
          </a:p>
        </p:txBody>
      </p:sp>
      <p:sp>
        <p:nvSpPr>
          <p:cNvPr id="9" name="Rectangle 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11" name="TextBox 1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A-28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利潤最大化と供給曲線</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消費と生産の理論（A-25〜A-28）</a:t>
            </a:r>
          </a:p>
        </p:txBody>
      </p:sp>
      <p:sp>
        <p:nvSpPr>
          <p:cNvPr id="6" name="Rounded Rectangle 5"/>
          <p:cNvSpPr/>
          <p:nvPr/>
        </p:nvSpPr>
        <p:spPr>
          <a:xfrm>
            <a:off x="777240" y="1188720"/>
            <a:ext cx="10634472" cy="117043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200" b="1">
                <a:solidFill>
                  <a:srgbClr val="4F46E5"/>
                </a:solidFill>
                <a:latin typeface="WenQuanYi Micro Hei"/>
              </a:rPr>
              <a:t>限界収入（MR） = 限界費用（MC）</a:t>
            </a:r>
          </a:p>
        </p:txBody>
      </p:sp>
      <p:sp>
        <p:nvSpPr>
          <p:cNvPr id="7" name="Rounded Rectangle 6"/>
          <p:cNvSpPr/>
          <p:nvPr/>
        </p:nvSpPr>
        <p:spPr>
          <a:xfrm>
            <a:off x="777240" y="2670048"/>
            <a:ext cx="3401568" cy="201168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670048"/>
            <a:ext cx="73152" cy="20116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761488"/>
            <a:ext cx="30815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価格＝限界費用（P＝MC）</a:t>
            </a:r>
          </a:p>
        </p:txBody>
      </p:sp>
      <p:sp>
        <p:nvSpPr>
          <p:cNvPr id="10" name="TextBox 9"/>
          <p:cNvSpPr txBox="1"/>
          <p:nvPr/>
        </p:nvSpPr>
        <p:spPr>
          <a:xfrm>
            <a:off x="978408"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」となります。</a:t>
            </a:r>
          </a:p>
        </p:txBody>
      </p:sp>
      <p:sp>
        <p:nvSpPr>
          <p:cNvPr id="11" name="Rounded Rectangle 10"/>
          <p:cNvSpPr/>
          <p:nvPr/>
        </p:nvSpPr>
        <p:spPr>
          <a:xfrm>
            <a:off x="4370832" y="2670048"/>
            <a:ext cx="3401568" cy="201168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2670048"/>
            <a:ext cx="73152" cy="20116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761488"/>
            <a:ext cx="30815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供給曲線</a:t>
            </a:r>
          </a:p>
        </p:txBody>
      </p:sp>
      <p:sp>
        <p:nvSpPr>
          <p:cNvPr id="14" name="TextBox 13"/>
          <p:cNvSpPr txBox="1"/>
          <p:nvPr/>
        </p:nvSpPr>
        <p:spPr>
          <a:xfrm>
            <a:off x="4572000"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は、その企業の限界費用曲線そのもの（ただし、生産を続けるべきか撤退すべきかの判断基準となる平均可変費用を上回る部分に限る）…</a:t>
            </a:r>
          </a:p>
        </p:txBody>
      </p:sp>
      <p:sp>
        <p:nvSpPr>
          <p:cNvPr id="15" name="Rounded Rectangle 14"/>
          <p:cNvSpPr/>
          <p:nvPr/>
        </p:nvSpPr>
        <p:spPr>
          <a:xfrm>
            <a:off x="7964424" y="2670048"/>
            <a:ext cx="3401568" cy="201168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64424" y="2670048"/>
            <a:ext cx="73152" cy="20116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2761488"/>
            <a:ext cx="30815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企業</a:t>
            </a:r>
          </a:p>
        </p:txBody>
      </p:sp>
      <p:sp>
        <p:nvSpPr>
          <p:cNvPr id="18" name="TextBox 17"/>
          <p:cNvSpPr txBox="1"/>
          <p:nvPr/>
        </p:nvSpPr>
        <p:spPr>
          <a:xfrm>
            <a:off x="8165592"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利潤（収入－費用）を最大化するように生産量を決定すると考えられています。</a:t>
            </a:r>
          </a:p>
        </p:txBody>
      </p:sp>
      <p:sp>
        <p:nvSpPr>
          <p:cNvPr id="19" name="Rounded Rectangle 18"/>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市場価格のもとで、企業の限界費用が市場価格を下回っている生産量では、もう1単位作って売れば利益が上乗せされるため、企業は生産量を増やそうとします。逆に限界費用が市場価格を上回る生産量まで来ると、それ以上作…</a:t>
            </a:r>
          </a:p>
        </p:txBody>
      </p:sp>
      <p:sp>
        <p:nvSpPr>
          <p:cNvPr id="20" name="Rounded Rectangle 19"/>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企業は平均費用が最小になる生産量で利潤を最大化する」という記述は誤りです。利潤最大化の条件はあくまで「限界収入＝限界費用」であり、平均費用が最小になる生産量とは一般に一致しません。「限界」の概念と「平均」の…</a:t>
            </a:r>
          </a:p>
        </p:txBody>
      </p:sp>
      <p:sp>
        <p:nvSpPr>
          <p:cNvPr id="21" name="Rectangle 20"/>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23" name="TextBox 22"/>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EEF2FF"/>
          </a:solidFill>
          <a:ln w="25400">
            <a:solidFill>
              <a:srgbClr val="9E99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4F46E5"/>
                </a:solidFill>
                <a:latin typeface="WenQuanYi Micro Hei"/>
              </a:rPr>
              <a:t>SECTION 07</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組織と戦略の経済学</a:t>
            </a:r>
          </a:p>
        </p:txBody>
      </p:sp>
      <p:sp>
        <p:nvSpPr>
          <p:cNvPr id="6" name="Rounded Rectangle 5"/>
          <p:cNvSpPr/>
          <p:nvPr/>
        </p:nvSpPr>
        <p:spPr>
          <a:xfrm>
            <a:off x="4261104" y="3968496"/>
            <a:ext cx="3657600" cy="749808"/>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5 論点</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A-29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情報の不完全性（情報の非対称性）</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組織と戦略の経済学（A-29〜A-33）</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情報の非対称性</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とは、取引の当事者の一方が、もう一方よりも多くの（または質の良い）情報を持っている状態のことです。この情報格差は、市場取引…</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逆選択（アドバース・セレクション）</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契約を結ぶ前の段階で生じる問題。売り手だけが商品の質を知っている（買い手は知らない）ような市場では、買い手は「平均的な質」…</a:t>
            </a:r>
          </a:p>
        </p:txBody>
      </p:sp>
      <p:sp>
        <p:nvSpPr>
          <p:cNvPr id="15" name="Rounded Rectangle 14"/>
          <p:cNvSpPr/>
          <p:nvPr/>
        </p:nvSpPr>
        <p:spPr>
          <a:xfrm>
            <a:off x="566928"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モラルハザード</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契約を結んだ後の段階で生じる問題。契約後に、相手から行動を観察されにくい（情報の非対称性がある）ことをよいことに、注意義務…</a:t>
            </a:r>
          </a:p>
        </p:txBody>
      </p:sp>
      <p:sp>
        <p:nvSpPr>
          <p:cNvPr id="19" name="Rounded Rectangle 18"/>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シグナリング</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（例：中古車販売店が保証を付ける、就職活動で学歴や資格を提示する）や、情報を持たない側が質問や条件設定を通じて相手の情報を…</a:t>
            </a:r>
          </a:p>
        </p:txBody>
      </p:sp>
      <p:sp>
        <p:nvSpPr>
          <p:cNvPr id="24" name="Rounded Rectangle 23"/>
          <p:cNvSpPr/>
          <p:nvPr/>
        </p:nvSpPr>
        <p:spPr>
          <a:xfrm>
            <a:off x="6217920"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この情報格差</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市場取引に2種類の問題を引き起こすことが知られています。</a:t>
            </a:r>
          </a:p>
        </p:txBody>
      </p:sp>
      <p:sp>
        <p:nvSpPr>
          <p:cNvPr id="28" name="Rounded Rectangle 27"/>
          <p:cNvSpPr/>
          <p:nvPr/>
        </p:nvSpPr>
        <p:spPr>
          <a:xfrm>
            <a:off x="6217920"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これらの問題への対策として、情報を持つ側が自ら情…</a:t>
            </a:r>
          </a:p>
        </p:txBody>
      </p:sp>
      <p:sp>
        <p:nvSpPr>
          <p:cNvPr id="31" name="Rounded Rectangle 3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中古車市場では、売り手（元の所有者）は車の実際の状態（事故歴、故障の有無など）をよく知っていますが、買い手はそれを外見だけでは判断できません。買い手が「平均的な質の中古車の価格」しか支払おうとしないと、質の良…</a:t>
            </a:r>
          </a:p>
        </p:txBody>
      </p:sp>
      <p:sp>
        <p:nvSpPr>
          <p:cNvPr id="32" name="Rounded Rectangle 3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逆選択とモラルハザードは、どちらも「情報の非対称性」から生じる問題ですが、発生するタイミング（契約前か、契約後か）が異なる点が最大の判別ポイントです。「保険加入後に不摂生になる」のはモラルハザード（契約後）…</a:t>
            </a:r>
          </a:p>
        </p:txBody>
      </p:sp>
      <p:sp>
        <p:nvSpPr>
          <p:cNvPr id="33" name="Rectangle 3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5" name="TextBox 3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A-30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ゲーム理論（ナッシュ均衡、囚人のジレンマ等）</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組織と戦略の経済学（A-29〜A-33）</a:t>
            </a:r>
          </a:p>
        </p:txBody>
      </p:sp>
      <p:sp>
        <p:nvSpPr>
          <p:cNvPr id="6" name="Rounded Rectangle 5"/>
          <p:cNvSpPr/>
          <p:nvPr/>
        </p:nvSpPr>
        <p:spPr>
          <a:xfrm>
            <a:off x="731520" y="1143000"/>
            <a:ext cx="5230368" cy="162763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143000"/>
            <a:ext cx="73152" cy="16276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234440"/>
            <a:ext cx="49103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ゲーム理論</a:t>
            </a:r>
          </a:p>
        </p:txBody>
      </p:sp>
      <p:sp>
        <p:nvSpPr>
          <p:cNvPr id="9" name="TextBox 8"/>
          <p:cNvSpPr txBox="1"/>
          <p:nvPr/>
        </p:nvSpPr>
        <p:spPr>
          <a:xfrm>
            <a:off x="932688"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は、複数のプレイヤー（企業や個人）が、互いの行動を読み合いながら意思決定を行う状況を分析する理論です。中小企業診断士試験で…</a:t>
            </a:r>
          </a:p>
        </p:txBody>
      </p:sp>
      <p:sp>
        <p:nvSpPr>
          <p:cNvPr id="10" name="Oval 9"/>
          <p:cNvSpPr/>
          <p:nvPr/>
        </p:nvSpPr>
        <p:spPr>
          <a:xfrm>
            <a:off x="548640" y="1014983"/>
            <a:ext cx="438912" cy="438912"/>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1</a:t>
            </a:r>
          </a:p>
        </p:txBody>
      </p:sp>
      <p:sp>
        <p:nvSpPr>
          <p:cNvPr id="11" name="Rounded Rectangle 10"/>
          <p:cNvSpPr/>
          <p:nvPr/>
        </p:nvSpPr>
        <p:spPr>
          <a:xfrm>
            <a:off x="6236208" y="1143000"/>
            <a:ext cx="5230368" cy="162763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1143000"/>
            <a:ext cx="73152" cy="16276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234440"/>
            <a:ext cx="49103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ナッシュ均衡</a:t>
            </a:r>
          </a:p>
        </p:txBody>
      </p:sp>
      <p:sp>
        <p:nvSpPr>
          <p:cNvPr id="14" name="TextBox 13"/>
          <p:cNvSpPr txBox="1"/>
          <p:nvPr/>
        </p:nvSpPr>
        <p:spPr>
          <a:xfrm>
            <a:off x="6437376"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とは、相手の戦略を所与としたとき、自分だけが戦略を変えても自分の利得が改善しない（＝お互いが、相手の出方に対する最適な対応…</a:t>
            </a:r>
          </a:p>
        </p:txBody>
      </p:sp>
      <p:sp>
        <p:nvSpPr>
          <p:cNvPr id="15" name="Oval 14"/>
          <p:cNvSpPr/>
          <p:nvPr/>
        </p:nvSpPr>
        <p:spPr>
          <a:xfrm>
            <a:off x="6053328" y="1014983"/>
            <a:ext cx="438912" cy="438912"/>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2</a:t>
            </a:r>
          </a:p>
        </p:txBody>
      </p:sp>
      <p:sp>
        <p:nvSpPr>
          <p:cNvPr id="16" name="Rounded Rectangle 15"/>
          <p:cNvSpPr/>
          <p:nvPr/>
        </p:nvSpPr>
        <p:spPr>
          <a:xfrm>
            <a:off x="731520" y="3063240"/>
            <a:ext cx="5230368" cy="162763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063240"/>
            <a:ext cx="73152" cy="16276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154680"/>
            <a:ext cx="49103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最適反応</a:t>
            </a:r>
          </a:p>
        </p:txBody>
      </p:sp>
      <p:sp>
        <p:nvSpPr>
          <p:cNvPr id="19" name="TextBox 18"/>
          <p:cNvSpPr txBox="1"/>
          <p:nvPr/>
        </p:nvSpPr>
        <p:spPr>
          <a:xfrm>
            <a:off x="932688"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）を求める（両プレイヤーについて行う）。</a:t>
            </a:r>
          </a:p>
        </p:txBody>
      </p:sp>
      <p:sp>
        <p:nvSpPr>
          <p:cNvPr id="20" name="Oval 19"/>
          <p:cNvSpPr/>
          <p:nvPr/>
        </p:nvSpPr>
        <p:spPr>
          <a:xfrm>
            <a:off x="548640" y="2935224"/>
            <a:ext cx="438912" cy="438912"/>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3</a:t>
            </a:r>
          </a:p>
        </p:txBody>
      </p:sp>
      <p:sp>
        <p:nvSpPr>
          <p:cNvPr id="21" name="Rounded Rectangle 20"/>
          <p:cNvSpPr/>
          <p:nvPr/>
        </p:nvSpPr>
        <p:spPr>
          <a:xfrm>
            <a:off x="6236208" y="3063240"/>
            <a:ext cx="5230368" cy="162763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6208" y="3063240"/>
            <a:ext cx="73152" cy="16276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154680"/>
            <a:ext cx="49103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双方の最適反応が一致する（＝お互いに相手の戦略に…</a:t>
            </a:r>
          </a:p>
        </p:txBody>
      </p:sp>
      <p:sp>
        <p:nvSpPr>
          <p:cNvPr id="24" name="Oval 23"/>
          <p:cNvSpPr/>
          <p:nvPr/>
        </p:nvSpPr>
        <p:spPr>
          <a:xfrm>
            <a:off x="6053328" y="2935224"/>
            <a:ext cx="438912" cy="438912"/>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4</a:t>
            </a:r>
          </a:p>
        </p:txBody>
      </p:sp>
      <p:sp>
        <p:nvSpPr>
          <p:cNvPr id="25" name="Rounded Rectangle 24"/>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2つの企業が、価格カルテル（同一価格で足並みを揃える約束）を結んでいるとします。両社ともカルテルを守れば、双方とも中程度の利潤（例：50、40）を得られます。しかし、相手が「カルテルを守る」と信じて自分だけ「…</a:t>
            </a:r>
          </a:p>
        </p:txBody>
      </p:sp>
      <p:sp>
        <p:nvSpPr>
          <p:cNvPr id="26" name="Rounded Rectangle 25"/>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両者にとって最も利得の合計が大きい組み合わせ（本例ではカルテルを守り合う組み合わせ）が、必ずナッシュ均衡になる」という思い込みは誤りです。ナッシュ均衡は「社会的に最も望ましい組み合わせ」ではなく、あくまで「…</a:t>
            </a:r>
          </a:p>
        </p:txBody>
      </p:sp>
      <p:sp>
        <p:nvSpPr>
          <p:cNvPr id="27" name="Rectangle 26"/>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29" name="TextBox 28"/>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A-31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独占の弊害と寡占化の協調行動</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組織と戦略の経済学（A-29〜A-33）</a:t>
            </a:r>
          </a:p>
        </p:txBody>
      </p:sp>
      <p:sp>
        <p:nvSpPr>
          <p:cNvPr id="6" name="Rounded Rectangle 5"/>
          <p:cNvSpPr/>
          <p:nvPr/>
        </p:nvSpPr>
        <p:spPr>
          <a:xfrm>
            <a:off x="731520" y="1143000"/>
            <a:ext cx="5230368" cy="162763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143000"/>
            <a:ext cx="73152" cy="16276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234440"/>
            <a:ext cx="49103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独占市場</a:t>
            </a:r>
          </a:p>
        </p:txBody>
      </p:sp>
      <p:sp>
        <p:nvSpPr>
          <p:cNvPr id="9" name="TextBox 8"/>
          <p:cNvSpPr txBox="1"/>
          <p:nvPr/>
        </p:nvSpPr>
        <p:spPr>
          <a:xfrm>
            <a:off x="932688"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は、ある財の供給者が1社しか存在しない市場です。独占企業は、完全競争企業とは異なり「価格受容者」ではなく「価格支配者（プラ…</a:t>
            </a:r>
          </a:p>
        </p:txBody>
      </p:sp>
      <p:sp>
        <p:nvSpPr>
          <p:cNvPr id="10" name="Oval 9"/>
          <p:cNvSpPr/>
          <p:nvPr/>
        </p:nvSpPr>
        <p:spPr>
          <a:xfrm>
            <a:off x="548640" y="1014983"/>
            <a:ext cx="438912" cy="438912"/>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1</a:t>
            </a:r>
          </a:p>
        </p:txBody>
      </p:sp>
      <p:sp>
        <p:nvSpPr>
          <p:cNvPr id="11" name="Rounded Rectangle 10"/>
          <p:cNvSpPr/>
          <p:nvPr/>
        </p:nvSpPr>
        <p:spPr>
          <a:xfrm>
            <a:off x="6236208" y="1143000"/>
            <a:ext cx="5230368" cy="162763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1143000"/>
            <a:ext cx="73152" cy="16276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234440"/>
            <a:ext cx="49103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寡占市場</a:t>
            </a:r>
          </a:p>
        </p:txBody>
      </p:sp>
      <p:sp>
        <p:nvSpPr>
          <p:cNvPr id="14" name="TextBox 13"/>
          <p:cNvSpPr txBox="1"/>
          <p:nvPr/>
        </p:nvSpPr>
        <p:spPr>
          <a:xfrm>
            <a:off x="6437376"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は、少数の企業が市場の大部分を占める市場です。寡占企業同士の駆け引きを分析する代表的なモデルに次のものがあります。</a:t>
            </a:r>
          </a:p>
        </p:txBody>
      </p:sp>
      <p:sp>
        <p:nvSpPr>
          <p:cNvPr id="15" name="Oval 14"/>
          <p:cNvSpPr/>
          <p:nvPr/>
        </p:nvSpPr>
        <p:spPr>
          <a:xfrm>
            <a:off x="6053328" y="1014983"/>
            <a:ext cx="438912" cy="438912"/>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2</a:t>
            </a:r>
          </a:p>
        </p:txBody>
      </p:sp>
      <p:sp>
        <p:nvSpPr>
          <p:cNvPr id="16" name="Rounded Rectangle 15"/>
          <p:cNvSpPr/>
          <p:nvPr/>
        </p:nvSpPr>
        <p:spPr>
          <a:xfrm>
            <a:off x="731520" y="3063240"/>
            <a:ext cx="5230368" cy="162763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063240"/>
            <a:ext cx="73152" cy="16276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154680"/>
            <a:ext cx="49103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クールノー・モデル</a:t>
            </a:r>
          </a:p>
        </p:txBody>
      </p:sp>
      <p:sp>
        <p:nvSpPr>
          <p:cNvPr id="19" name="TextBox 18"/>
          <p:cNvSpPr txBox="1"/>
          <p:nvPr/>
        </p:nvSpPr>
        <p:spPr>
          <a:xfrm>
            <a:off x="932688"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各企業が、相手企業の生産量を所与として、自社の最適な生産量を決定する（数量競争）モデル。</a:t>
            </a:r>
          </a:p>
        </p:txBody>
      </p:sp>
      <p:sp>
        <p:nvSpPr>
          <p:cNvPr id="20" name="Oval 19"/>
          <p:cNvSpPr/>
          <p:nvPr/>
        </p:nvSpPr>
        <p:spPr>
          <a:xfrm>
            <a:off x="548640" y="2935224"/>
            <a:ext cx="438912" cy="438912"/>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3</a:t>
            </a:r>
          </a:p>
        </p:txBody>
      </p:sp>
      <p:sp>
        <p:nvSpPr>
          <p:cNvPr id="21" name="Rounded Rectangle 20"/>
          <p:cNvSpPr/>
          <p:nvPr/>
        </p:nvSpPr>
        <p:spPr>
          <a:xfrm>
            <a:off x="6236208" y="3063240"/>
            <a:ext cx="5230368" cy="162763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6208" y="3063240"/>
            <a:ext cx="73152" cy="16276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154680"/>
            <a:ext cx="49103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ベルトラン・モデル</a:t>
            </a:r>
          </a:p>
        </p:txBody>
      </p:sp>
      <p:sp>
        <p:nvSpPr>
          <p:cNvPr id="24" name="TextBox 23"/>
          <p:cNvSpPr txBox="1"/>
          <p:nvPr/>
        </p:nvSpPr>
        <p:spPr>
          <a:xfrm>
            <a:off x="6437376"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各企業が、相手企業の価格を所与として、自社の最適な価格を決定する（価格競争）モデル。</a:t>
            </a:r>
          </a:p>
        </p:txBody>
      </p:sp>
      <p:sp>
        <p:nvSpPr>
          <p:cNvPr id="25" name="Oval 24"/>
          <p:cNvSpPr/>
          <p:nvPr/>
        </p:nvSpPr>
        <p:spPr>
          <a:xfrm>
            <a:off x="6053328" y="2935224"/>
            <a:ext cx="438912" cy="438912"/>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4</a:t>
            </a:r>
          </a:p>
        </p:txBody>
      </p:sp>
      <p:sp>
        <p:nvSpPr>
          <p:cNvPr id="26" name="Rounded Rectangle 2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電力や水道のような自然独占（設備投資が巨額で1社が供給する方が効率的な事業）では、規制がなければ独占企業が価格を高く設定し、供給量を絞ることで超過利潤を得ようとするため、政府による価格規制（公共料金の認可制な…</a:t>
            </a:r>
          </a:p>
        </p:txBody>
      </p:sp>
      <p:sp>
        <p:nvSpPr>
          <p:cNvPr id="27" name="Rounded Rectangle 2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独占市場において、独占企業の生産量は「限界収入＝限界費用」で決まりますが、実際に販売される「価格」は、その生産量に対応する需要曲線上の高さで決まります（独占企業の価格は限界収入と等しいのではなく、需要曲線の高…</a:t>
            </a:r>
          </a:p>
        </p:txBody>
      </p:sp>
      <p:sp>
        <p:nvSpPr>
          <p:cNvPr id="28" name="Rectangle 2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0" name="TextBox 2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A-32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製品差別化と独占的競争</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組織と戦略の経済学（A-29〜A-33）</a:t>
            </a:r>
          </a:p>
        </p:txBody>
      </p:sp>
      <p:sp>
        <p:nvSpPr>
          <p:cNvPr id="6" name="Rectangle 5"/>
          <p:cNvSpPr/>
          <p:nvPr/>
        </p:nvSpPr>
        <p:spPr>
          <a:xfrm>
            <a:off x="868680" y="2926080"/>
            <a:ext cx="10469880" cy="45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4048" y="1280160"/>
            <a:ext cx="2057400" cy="107899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1｜独占的競争市場
は、完全競争と独占の中間的な性質を持つ市場です。次の特徴があります。</a:t>
            </a:r>
          </a:p>
        </p:txBody>
      </p:sp>
      <p:sp>
        <p:nvSpPr>
          <p:cNvPr id="9" name="Oval 8"/>
          <p:cNvSpPr/>
          <p:nvPr/>
        </p:nvSpPr>
        <p:spPr>
          <a:xfrm>
            <a:off x="334899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26030" y="3401568"/>
            <a:ext cx="2057400" cy="1078992"/>
          </a:xfrm>
          <a:prstGeom prst="roundRect">
            <a:avLst/>
          </a:prstGeom>
          <a:solidFill>
            <a:srgbClr val="FFFF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2｜多数の企業
が存在する（完全競争と同様）</a:t>
            </a:r>
          </a:p>
        </p:txBody>
      </p:sp>
      <p:sp>
        <p:nvSpPr>
          <p:cNvPr id="11" name="Oval 10"/>
          <p:cNvSpPr/>
          <p:nvPr/>
        </p:nvSpPr>
        <p:spPr>
          <a:xfrm>
            <a:off x="592074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97779" y="1280160"/>
            <a:ext cx="2057400" cy="107899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3｜差別化された
）製品を提供しているため、それぞれの企業がある程度の価格支配力を持つ（独占…</a:t>
            </a:r>
          </a:p>
        </p:txBody>
      </p:sp>
      <p:sp>
        <p:nvSpPr>
          <p:cNvPr id="13" name="Oval 12"/>
          <p:cNvSpPr/>
          <p:nvPr/>
        </p:nvSpPr>
        <p:spPr>
          <a:xfrm>
            <a:off x="849249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69529" y="3401568"/>
            <a:ext cx="2057400" cy="1078992"/>
          </a:xfrm>
          <a:prstGeom prst="roundRect">
            <a:avLst/>
          </a:prstGeom>
          <a:solidFill>
            <a:srgbClr val="FFFF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4｜参入・退出が自由
である（完全競争と同様）</a:t>
            </a:r>
          </a:p>
        </p:txBody>
      </p:sp>
      <p:sp>
        <p:nvSpPr>
          <p:cNvPr id="15" name="Oval 14"/>
          <p:cNvSpPr/>
          <p:nvPr/>
        </p:nvSpPr>
        <p:spPr>
          <a:xfrm>
            <a:off x="11064240" y="276148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85248" y="1280160"/>
            <a:ext cx="2057400" cy="107899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5｜長期的に利潤がゼロになる水準
（需要曲線が平均費用曲線に接する点）まで参入が続きます。つまり、独占的競争…</a:t>
            </a:r>
          </a:p>
        </p:txBody>
      </p:sp>
      <p:sp>
        <p:nvSpPr>
          <p:cNvPr id="17" name="Rounded Rectangle 1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同じラーメンという商品カテゴリーの中でも、店ごとにスープの味・盛り付け・接客・立地などで差別化されており、それぞれの店はある程度自分の価格を設定できます（完全な価格競争にはならない）。しかし、繁盛している人気…</a:t>
            </a:r>
          </a:p>
        </p:txBody>
      </p:sp>
      <p:sp>
        <p:nvSpPr>
          <p:cNvPr id="18" name="Rounded Rectangle 1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独占的競争市場は「独占市場と同じように、長期的にも高い超過利潤を得続けられる」市場ではありません。参入が自由であるため、独占市場とは異なり、長期的には利潤がゼロに収束していく点が独占的競争の重要な特徴です。「…</a:t>
            </a:r>
          </a:p>
        </p:txBody>
      </p:sp>
      <p:sp>
        <p:nvSpPr>
          <p:cNvPr id="19" name="Rectangle 1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21" name="TextBox 2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A-33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規模の経済性・範囲の経済性</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組織と戦略の経済学（A-29〜A-33）</a:t>
            </a:r>
          </a:p>
        </p:txBody>
      </p:sp>
      <p:sp>
        <p:nvSpPr>
          <p:cNvPr id="6" name="Rounded Rectangle 5"/>
          <p:cNvSpPr/>
          <p:nvPr/>
        </p:nvSpPr>
        <p:spPr>
          <a:xfrm>
            <a:off x="502920" y="1024128"/>
            <a:ext cx="5500116" cy="192024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5180076"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規模の経済性（スケール・メリット）</a:t>
            </a:r>
          </a:p>
        </p:txBody>
      </p:sp>
      <p:sp>
        <p:nvSpPr>
          <p:cNvPr id="9" name="TextBox 8"/>
          <p:cNvSpPr txBox="1"/>
          <p:nvPr/>
        </p:nvSpPr>
        <p:spPr>
          <a:xfrm>
            <a:off x="704088"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生産量（事業規模）が大きくなるほど、製品1単位あたりの平均費用が低下していく現象。工場の建設費や大型設備の導入費用など、生…</a:t>
            </a:r>
          </a:p>
        </p:txBody>
      </p:sp>
      <p:sp>
        <p:nvSpPr>
          <p:cNvPr id="10" name="Rounded Rectangle 9"/>
          <p:cNvSpPr/>
          <p:nvPr/>
        </p:nvSpPr>
        <p:spPr>
          <a:xfrm>
            <a:off x="6204203" y="1024128"/>
            <a:ext cx="5500116" cy="192024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4203" y="1024128"/>
            <a:ext cx="73152" cy="19202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5371" y="1115568"/>
            <a:ext cx="5180076"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範囲の経済性</a:t>
            </a:r>
          </a:p>
        </p:txBody>
      </p:sp>
      <p:sp>
        <p:nvSpPr>
          <p:cNvPr id="13" name="TextBox 12"/>
          <p:cNvSpPr txBox="1"/>
          <p:nvPr/>
        </p:nvSpPr>
        <p:spPr>
          <a:xfrm>
            <a:off x="6405371"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ある企業が複数の異なる製品・事業を1つの企業内で手がける方が、それぞれを別々の企業が独立して手がけるよりも、合計の総費用が…</a:t>
            </a:r>
          </a:p>
        </p:txBody>
      </p:sp>
      <p:sp>
        <p:nvSpPr>
          <p:cNvPr id="14" name="Rounded Rectangle 13"/>
          <p:cNvSpPr/>
          <p:nvPr/>
        </p:nvSpPr>
        <p:spPr>
          <a:xfrm>
            <a:off x="502920" y="3145536"/>
            <a:ext cx="5500116" cy="192024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145536"/>
            <a:ext cx="73152" cy="19202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3236976"/>
            <a:ext cx="5180076"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規模の経済性</a:t>
            </a:r>
          </a:p>
        </p:txBody>
      </p:sp>
      <p:sp>
        <p:nvSpPr>
          <p:cNvPr id="17" name="TextBox 16"/>
          <p:cNvSpPr txBox="1"/>
          <p:nvPr/>
        </p:nvSpPr>
        <p:spPr>
          <a:xfrm>
            <a:off x="704088" y="3566160"/>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「同一製品の生産量」に着目した概念、範囲の経済性は「複数の異なる製品・事業の組み合わせ」に着目した概念、という違いに注…</a:t>
            </a:r>
          </a:p>
        </p:txBody>
      </p:sp>
      <p:sp>
        <p:nvSpPr>
          <p:cNvPr id="18" name="Rounded Rectangle 17"/>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自動車メーカーが生産台数を増やすほど、1台あたりの工場設備費・研究開発費の負担が薄まり、原価が下がっていくのが規模の経済性です。一方、同じ工場やエンジン技術、部品の共通化を活かして、乗用車だけでなくトラックや…</a:t>
            </a:r>
          </a:p>
        </p:txBody>
      </p:sp>
      <p:sp>
        <p:nvSpPr>
          <p:cNvPr id="19" name="Rounded Rectangle 18"/>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規模の経済性」と「範囲の経済性」を、どちらも単に「大きい会社ほど有利」という意味で混同しないようにしましょう。前者は「同じ製品をたくさん作ること」による効果、後者は「複数の異なる製品を一緒に作ること」による…</a:t>
            </a:r>
          </a:p>
        </p:txBody>
      </p:sp>
      <p:sp>
        <p:nvSpPr>
          <p:cNvPr id="20" name="Rectangle 19"/>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22" name="TextBox 21"/>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EEF2FF"/>
          </a:solidFill>
          <a:ln w="25400">
            <a:solidFill>
              <a:srgbClr val="9E99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4F46E5"/>
                </a:solidFill>
                <a:latin typeface="WenQuanYi Micro Hei"/>
              </a:rPr>
              <a:t>SECTION 08</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所得分配</a:t>
            </a:r>
          </a:p>
        </p:txBody>
      </p:sp>
      <p:sp>
        <p:nvSpPr>
          <p:cNvPr id="6" name="Rounded Rectangle 5"/>
          <p:cNvSpPr/>
          <p:nvPr/>
        </p:nvSpPr>
        <p:spPr>
          <a:xfrm>
            <a:off x="4261104" y="3968496"/>
            <a:ext cx="3657600" cy="749808"/>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3 論点</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A-34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公正性・公平性の概念</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所得分配（A-34〜A-36）</a:t>
            </a:r>
          </a:p>
        </p:txBody>
      </p:sp>
      <p:sp>
        <p:nvSpPr>
          <p:cNvPr id="6" name="Rounded Rectangle 5"/>
          <p:cNvSpPr/>
          <p:nvPr/>
        </p:nvSpPr>
        <p:spPr>
          <a:xfrm>
            <a:off x="502920" y="1024128"/>
            <a:ext cx="3599688" cy="192024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ローレンツ曲線</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とジニ係数です。</a:t>
            </a:r>
          </a:p>
        </p:txBody>
      </p:sp>
      <p:sp>
        <p:nvSpPr>
          <p:cNvPr id="10" name="Rounded Rectangle 9"/>
          <p:cNvSpPr/>
          <p:nvPr/>
        </p:nvSpPr>
        <p:spPr>
          <a:xfrm>
            <a:off x="4303776" y="1024128"/>
            <a:ext cx="3599688" cy="192024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ジニ係数</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均等分配線とローレンツ曲線に囲まれた面積の大きさをもとに算出される指標で、0（完全平等）から1（完全不平等、1人がすべての…</a:t>
            </a:r>
          </a:p>
        </p:txBody>
      </p:sp>
      <p:sp>
        <p:nvSpPr>
          <p:cNvPr id="14" name="Rounded Rectangle 13"/>
          <p:cNvSpPr/>
          <p:nvPr/>
        </p:nvSpPr>
        <p:spPr>
          <a:xfrm>
            <a:off x="8104632" y="1024128"/>
            <a:ext cx="3599688" cy="192024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垂直的公平</a:t>
            </a:r>
          </a:p>
        </p:txBody>
      </p:sp>
      <p:sp>
        <p:nvSpPr>
          <p:cNvPr id="17" name="TextBox 16"/>
          <p:cNvSpPr txBox="1"/>
          <p:nvPr/>
        </p:nvSpPr>
        <p:spPr>
          <a:xfrm>
            <a:off x="8305800"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経済状況（所得水準など）が異なる人には、異なる扱いをすべきだという考え方（例：所得の高い人ほど税率が高くなる累進課税）。</a:t>
            </a:r>
          </a:p>
        </p:txBody>
      </p:sp>
      <p:sp>
        <p:nvSpPr>
          <p:cNvPr id="18" name="Rounded Rectangle 17"/>
          <p:cNvSpPr/>
          <p:nvPr/>
        </p:nvSpPr>
        <p:spPr>
          <a:xfrm>
            <a:off x="502920" y="3145536"/>
            <a:ext cx="3599688" cy="192024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45536"/>
            <a:ext cx="73152" cy="19202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水平的公平</a:t>
            </a:r>
          </a:p>
        </p:txBody>
      </p:sp>
      <p:sp>
        <p:nvSpPr>
          <p:cNvPr id="21" name="TextBox 20"/>
          <p:cNvSpPr txBox="1"/>
          <p:nvPr/>
        </p:nvSpPr>
        <p:spPr>
          <a:xfrm>
            <a:off x="704088"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経済状況が同じ人には、同じ扱いをすべきだという考え方（例：同じ所得水準の人には同じ税負担を求める）。</a:t>
            </a:r>
          </a:p>
        </p:txBody>
      </p:sp>
      <p:sp>
        <p:nvSpPr>
          <p:cNvPr id="22" name="Rounded Rectangle 21"/>
          <p:cNvSpPr/>
          <p:nvPr/>
        </p:nvSpPr>
        <p:spPr>
          <a:xfrm>
            <a:off x="4303776" y="3145536"/>
            <a:ext cx="3599688" cy="192024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03776" y="3145536"/>
            <a:ext cx="73152" cy="19202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所得分配の「公平性」を測る代表的な道具がローレン…</a:t>
            </a:r>
          </a:p>
        </p:txBody>
      </p:sp>
      <p:sp>
        <p:nvSpPr>
          <p:cNvPr id="25" name="Rounded Rectangle 24"/>
          <p:cNvSpPr/>
          <p:nvPr/>
        </p:nvSpPr>
        <p:spPr>
          <a:xfrm>
            <a:off x="8104632" y="3145536"/>
            <a:ext cx="3599688" cy="192024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04632" y="3145536"/>
            <a:ext cx="73152" cy="19202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05800" y="3236976"/>
            <a:ext cx="327964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公平性の考え方に</a:t>
            </a:r>
          </a:p>
        </p:txBody>
      </p:sp>
      <p:sp>
        <p:nvSpPr>
          <p:cNvPr id="28" name="TextBox 27"/>
          <p:cNvSpPr txBox="1"/>
          <p:nvPr/>
        </p:nvSpPr>
        <p:spPr>
          <a:xfrm>
            <a:off x="8305800"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次の2つの軸があります。</a:t>
            </a:r>
          </a:p>
        </p:txBody>
      </p:sp>
      <p:sp>
        <p:nvSpPr>
          <p:cNvPr id="29" name="Rounded Rectangle 28"/>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国のジニ係数が0.3から0.4に上昇したとすれば、その国の所得格差が拡大していることを意味します。ローレンツ曲線で見れば、均等分配線からより大きく下に膨らんだ形に変化した、ということになります。</a:t>
            </a:r>
          </a:p>
        </p:txBody>
      </p:sp>
      <p:sp>
        <p:nvSpPr>
          <p:cNvPr id="30" name="Rounded Rectangle 29"/>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ジニ係数が1に近いほど所得は平等である」という記述は逆で、正しくはジニ係数が0に近いほど平等、1に近いほど不平等です。ローレンツ曲線が均等分配線に近い（面積が小さい）ほどジニ係数は小さくなる、という対応関係…</a:t>
            </a:r>
          </a:p>
        </p:txBody>
      </p:sp>
      <p:sp>
        <p:nvSpPr>
          <p:cNvPr id="31" name="Rectangle 30"/>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3" name="TextBox 32"/>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A-35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生産要素市場と生産要素報酬</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所得分配（A-34〜A-36）</a:t>
            </a:r>
          </a:p>
        </p:txBody>
      </p:sp>
      <p:sp>
        <p:nvSpPr>
          <p:cNvPr id="6" name="Rounded Rectangle 5"/>
          <p:cNvSpPr/>
          <p:nvPr/>
        </p:nvSpPr>
        <p:spPr>
          <a:xfrm>
            <a:off x="777240" y="1188720"/>
            <a:ext cx="10634472" cy="1170432"/>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200" b="1">
                <a:solidFill>
                  <a:srgbClr val="4F46E5"/>
                </a:solidFill>
                <a:latin typeface="WenQuanYi Micro Hei"/>
              </a:rPr>
              <a:t>賃金率 = 労働の限界生産力価値（＝労働の限界生産物 × 製品価格）</a:t>
            </a:r>
          </a:p>
        </p:txBody>
      </p:sp>
      <p:sp>
        <p:nvSpPr>
          <p:cNvPr id="7" name="Rounded Rectangle 6"/>
          <p:cNvSpPr/>
          <p:nvPr/>
        </p:nvSpPr>
        <p:spPr>
          <a:xfrm>
            <a:off x="777240" y="2670048"/>
            <a:ext cx="3401568" cy="201168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670048"/>
            <a:ext cx="73152" cy="20116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761488"/>
            <a:ext cx="30815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生産要素</a:t>
            </a:r>
          </a:p>
        </p:txBody>
      </p:sp>
      <p:sp>
        <p:nvSpPr>
          <p:cNvPr id="10" name="TextBox 9"/>
          <p:cNvSpPr txBox="1"/>
          <p:nvPr/>
        </p:nvSpPr>
        <p:spPr>
          <a:xfrm>
            <a:off x="978408"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（生産に使われる資源）そのものが取引される市場もあります。企業は、生産要素市場において労働者を雇い（賃金を支払い）、資本を…</a:t>
            </a:r>
          </a:p>
        </p:txBody>
      </p:sp>
      <p:sp>
        <p:nvSpPr>
          <p:cNvPr id="11" name="Rounded Rectangle 10"/>
          <p:cNvSpPr/>
          <p:nvPr/>
        </p:nvSpPr>
        <p:spPr>
          <a:xfrm>
            <a:off x="4370832" y="2670048"/>
            <a:ext cx="3401568" cy="201168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0832" y="2670048"/>
            <a:ext cx="73152" cy="20116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761488"/>
            <a:ext cx="30815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労働の限界生産力価値（限界生産物の価値）</a:t>
            </a:r>
          </a:p>
        </p:txBody>
      </p:sp>
      <p:sp>
        <p:nvSpPr>
          <p:cNvPr id="14" name="TextBox 13"/>
          <p:cNvSpPr txBox="1"/>
          <p:nvPr/>
        </p:nvSpPr>
        <p:spPr>
          <a:xfrm>
            <a:off x="4572000"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と呼びます。</a:t>
            </a:r>
          </a:p>
        </p:txBody>
      </p:sp>
      <p:sp>
        <p:nvSpPr>
          <p:cNvPr id="15" name="Rounded Rectangle 14"/>
          <p:cNvSpPr/>
          <p:nvPr/>
        </p:nvSpPr>
        <p:spPr>
          <a:xfrm>
            <a:off x="7964424" y="2670048"/>
            <a:ext cx="3401568" cy="2011680"/>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64424" y="2670048"/>
            <a:ext cx="73152" cy="20116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2761488"/>
            <a:ext cx="3081528"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限界生産力説</a:t>
            </a:r>
          </a:p>
        </p:txBody>
      </p:sp>
      <p:sp>
        <p:nvSpPr>
          <p:cNvPr id="18" name="TextBox 17"/>
          <p:cNvSpPr txBox="1"/>
          <p:nvPr/>
        </p:nvSpPr>
        <p:spPr>
          <a:xfrm>
            <a:off x="8165592" y="3090672"/>
            <a:ext cx="3081528" cy="150876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）。同様の理屈は資本市場にも当てはまり、資本のレンタル価格（利子率に相当）は資本の限界生産力によって決まると考えられます。</a:t>
            </a:r>
          </a:p>
        </p:txBody>
      </p:sp>
      <p:sp>
        <p:nvSpPr>
          <p:cNvPr id="19" name="Rounded Rectangle 18"/>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工場で、追加的にもう1人従業員を雇うことで得られる生産物の増加分の市場価値が月30万円だとすれば、企業がその従業員に支払ってよい賃金の上限はおおよそ月30万円になる、というのが労働の限界生産力価値の考え方…</a:t>
            </a:r>
          </a:p>
        </p:txBody>
      </p:sp>
      <p:sp>
        <p:nvSpPr>
          <p:cNvPr id="20" name="Rounded Rectangle 19"/>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賃金は労働者の生活費（必要経費）を基準に決まる」という考え方と、経済学における「賃金は労働の限界生産力（その労働者が生み出す追加的な価値）によって決まる」という考え方（限界生産力説）を混同しないようにしまし…</a:t>
            </a:r>
          </a:p>
        </p:txBody>
      </p:sp>
      <p:sp>
        <p:nvSpPr>
          <p:cNvPr id="21" name="Rectangle 20"/>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23" name="TextBox 22"/>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A-36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所得再分配と税制・補助金</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4F46E5"/>
                </a:solidFill>
                <a:latin typeface="WenQuanYi Micro Hei"/>
              </a:rPr>
              <a:t>所得分配（A-34〜A-36）</a:t>
            </a:r>
          </a:p>
        </p:txBody>
      </p:sp>
      <p:sp>
        <p:nvSpPr>
          <p:cNvPr id="6" name="Rounded Rectangle 5"/>
          <p:cNvSpPr/>
          <p:nvPr/>
        </p:nvSpPr>
        <p:spPr>
          <a:xfrm>
            <a:off x="566928" y="1051560"/>
            <a:ext cx="5394960" cy="420624"/>
          </a:xfrm>
          <a:prstGeom prst="roundRect">
            <a:avLst/>
          </a:prstGeom>
          <a:solidFill>
            <a:srgbClr val="4F46E5"/>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累進課税制度</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所得が高くなるほど税率も高くなる仕組み（垂直的公平の実現手段）。高所得者からより多くの税を徴収し、それを財源に低所得者向け…</a:t>
            </a:r>
          </a:p>
        </p:txBody>
      </p:sp>
      <p:sp>
        <p:nvSpPr>
          <p:cNvPr id="11" name="Rounded Rectangle 10"/>
          <p:cNvSpPr/>
          <p:nvPr/>
        </p:nvSpPr>
        <p:spPr>
          <a:xfrm>
            <a:off x="566928"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社会保障制度</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年金、医療保険、生活保護、失業給付などを通じた所得移転。</a:t>
            </a:r>
          </a:p>
        </p:txBody>
      </p:sp>
      <p:sp>
        <p:nvSpPr>
          <p:cNvPr id="15" name="Rounded Rectangle 14"/>
          <p:cNvSpPr/>
          <p:nvPr/>
        </p:nvSpPr>
        <p:spPr>
          <a:xfrm>
            <a:off x="566928"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負の所得税</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一定の所得水準を下回る世帯に対して、税を徴収する代わりに逆に給付を行う（マイナスの税を課す）という考え方の制度案。低所得者…</a:t>
            </a:r>
          </a:p>
        </p:txBody>
      </p:sp>
      <p:sp>
        <p:nvSpPr>
          <p:cNvPr id="19" name="Rounded Rectangle 18"/>
          <p:cNvSpPr/>
          <p:nvPr/>
        </p:nvSpPr>
        <p:spPr>
          <a:xfrm>
            <a:off x="6217920" y="1051560"/>
            <a:ext cx="5394960" cy="42062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4F46E5"/>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市場メカニズムに任せた結果として生じる所得格差（…</a:t>
            </a:r>
          </a:p>
        </p:txBody>
      </p:sp>
      <p:sp>
        <p:nvSpPr>
          <p:cNvPr id="23" name="Rounded Rectangle 22"/>
          <p:cNvSpPr/>
          <p:nvPr/>
        </p:nvSpPr>
        <p:spPr>
          <a:xfrm>
            <a:off x="6217920" y="279806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279806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代表的な手段に</a:t>
            </a:r>
          </a:p>
        </p:txBody>
      </p:sp>
      <p:sp>
        <p:nvSpPr>
          <p:cNvPr id="26" name="TextBox 25"/>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次のものがあります。</a:t>
            </a:r>
          </a:p>
        </p:txBody>
      </p:sp>
      <p:sp>
        <p:nvSpPr>
          <p:cNvPr id="27" name="Rounded Rectangle 26"/>
          <p:cNvSpPr/>
          <p:nvPr/>
        </p:nvSpPr>
        <p:spPr>
          <a:xfrm>
            <a:off x="6217920" y="3986783"/>
            <a:ext cx="5394960" cy="1078992"/>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3986783"/>
            <a:ext cx="73152" cy="107899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所得再分配政策に</a:t>
            </a:r>
          </a:p>
        </p:txBody>
      </p:sp>
      <p:sp>
        <p:nvSpPr>
          <p:cNvPr id="30" name="TextBox 29"/>
          <p:cNvSpPr txBox="1"/>
          <p:nvPr/>
        </p:nvSpPr>
        <p:spPr>
          <a:xfrm>
            <a:off x="6419088"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格差を是正するという利点がある一方で、高い累進課税は高所得者の勤労意欲や投資意欲を削いでしまう可能性がある、というトレ…</a:t>
            </a:r>
          </a:p>
        </p:txBody>
      </p:sp>
      <p:sp>
        <p:nvSpPr>
          <p:cNvPr id="31" name="Rounded Rectangle 3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日本の所得税は累進課税制度を採用しており、課税所得が高くなるほど段階的に高い税率が適用されます。国税庁の統計などで「再分配前のジニ係数」と「税・社会保障による再分配後のジニ係数」を比較すると、再分配後の方が値…</a:t>
            </a:r>
          </a:p>
        </p:txBody>
      </p:sp>
      <p:sp>
        <p:nvSpPr>
          <p:cNvPr id="32" name="Rounded Rectangle 3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消費税のような税は、高所得者ほど負担割合が高くなる累進的な税である」という記述は誤りです。消費税は、所得に占める消費支出の割合が低所得者ほど高くなる傾向があるため、一般に逆進的（低所得者ほど所得に対する負担…</a:t>
            </a:r>
          </a:p>
        </p:txBody>
      </p:sp>
      <p:sp>
        <p:nvSpPr>
          <p:cNvPr id="33" name="Rectangle 3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docs/textbook/A_economics_textbook.md</a:t>
            </a:r>
          </a:p>
        </p:txBody>
      </p:sp>
      <p:sp>
        <p:nvSpPr>
          <p:cNvPr id="35" name="TextBox 3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4F46E5"/>
                </a:solidFill>
                <a:latin typeface="WenQuanYi Micro He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0972800" cy="502920"/>
          </a:xfrm>
          <a:prstGeom prst="rect">
            <a:avLst/>
          </a:prstGeom>
          <a:noFill/>
        </p:spPr>
        <p:txBody>
          <a:bodyPr wrap="square" tIns="91440" bIns="91440" anchor="ctr">
            <a:spAutoFit/>
          </a:bodyPr>
          <a:lstStyle/>
          <a:p>
            <a:pPr algn="l">
              <a:spcAft>
                <a:spcPts val="0"/>
              </a:spcAft>
            </a:pPr>
            <a:r>
              <a:rPr sz="2700" b="1">
                <a:solidFill>
                  <a:srgbClr val="172033"/>
                </a:solidFill>
                <a:latin typeface="WenQuanYi Micro Hei"/>
              </a:rPr>
              <a:t>経済学・経済政策｜学習のまとめ</a:t>
            </a:r>
          </a:p>
        </p:txBody>
      </p:sp>
      <p:sp>
        <p:nvSpPr>
          <p:cNvPr id="4" name="Oval 3"/>
          <p:cNvSpPr/>
          <p:nvPr/>
        </p:nvSpPr>
        <p:spPr>
          <a:xfrm>
            <a:off x="4892040" y="2304288"/>
            <a:ext cx="2395728" cy="141732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700" b="1">
                <a:solidFill>
                  <a:srgbClr val="FFFFFF"/>
                </a:solidFill>
                <a:latin typeface="WenQuanYi Micro Hei"/>
              </a:rPr>
              <a:t>循環して
改善・定着</a:t>
            </a:r>
          </a:p>
        </p:txBody>
      </p:sp>
      <p:sp>
        <p:nvSpPr>
          <p:cNvPr id="5" name="Rounded Rectangle 4"/>
          <p:cNvSpPr/>
          <p:nvPr/>
        </p:nvSpPr>
        <p:spPr>
          <a:xfrm>
            <a:off x="4526280" y="1051560"/>
            <a:ext cx="2907792" cy="1024128"/>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26280" y="1051560"/>
            <a:ext cx="73152" cy="10241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27448" y="1143000"/>
            <a:ext cx="2587752"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この教科書で、36論点それぞれの基本概念・グラフ…</a:t>
            </a:r>
          </a:p>
        </p:txBody>
      </p:sp>
      <p:cxnSp>
        <p:nvCxnSpPr>
          <p:cNvPr id="8" name="Connector 7"/>
          <p:cNvCxnSpPr/>
          <p:nvPr/>
        </p:nvCxnSpPr>
        <p:spPr>
          <a:xfrm>
            <a:off x="5980176" y="1563624"/>
            <a:ext cx="3447288" cy="1234440"/>
          </a:xfrm>
          <a:prstGeom prst="line">
            <a:avLst/>
          </a:prstGeom>
          <a:ln w="22860">
            <a:solidFill>
              <a:srgbClr val="8D87E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973568" y="2286000"/>
            <a:ext cx="2907792" cy="1024128"/>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2286000"/>
            <a:ext cx="73152" cy="10241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74736" y="2377440"/>
            <a:ext cx="2587752"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problem_sets/1st_stage/e…</a:t>
            </a:r>
          </a:p>
        </p:txBody>
      </p:sp>
      <p:cxnSp>
        <p:nvCxnSpPr>
          <p:cNvPr id="12" name="Connector 11"/>
          <p:cNvCxnSpPr/>
          <p:nvPr/>
        </p:nvCxnSpPr>
        <p:spPr>
          <a:xfrm flipH="1">
            <a:off x="5980176" y="2798064"/>
            <a:ext cx="3447288" cy="1508760"/>
          </a:xfrm>
          <a:prstGeom prst="line">
            <a:avLst/>
          </a:prstGeom>
          <a:ln w="22860">
            <a:solidFill>
              <a:srgbClr val="8D87E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526280" y="3794760"/>
            <a:ext cx="2907792" cy="1024128"/>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26280" y="3794760"/>
            <a:ext cx="73152" cy="10241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27448" y="3886200"/>
            <a:ext cx="2587752"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problem_sets/1st_stage/A…</a:t>
            </a:r>
          </a:p>
        </p:txBody>
      </p:sp>
      <p:cxnSp>
        <p:nvCxnSpPr>
          <p:cNvPr id="16" name="Connector 15"/>
          <p:cNvCxnSpPr/>
          <p:nvPr/>
        </p:nvCxnSpPr>
        <p:spPr>
          <a:xfrm flipH="1" flipV="1">
            <a:off x="2532888" y="2798064"/>
            <a:ext cx="3447288" cy="1508760"/>
          </a:xfrm>
          <a:prstGeom prst="line">
            <a:avLst/>
          </a:prstGeom>
          <a:ln w="22860">
            <a:solidFill>
              <a:srgbClr val="8D87EE"/>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78992" y="2286000"/>
            <a:ext cx="2907792" cy="1024128"/>
          </a:xfrm>
          <a:prstGeom prst="roundRect">
            <a:avLst/>
          </a:prstGeom>
          <a:solidFill>
            <a:srgbClr val="FFFFFF"/>
          </a:solidFill>
          <a:ln w="15240">
            <a:solidFill>
              <a:srgbClr val="B0A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78992" y="2286000"/>
            <a:ext cx="73152" cy="102412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2377440"/>
            <a:ext cx="2587752" cy="310896"/>
          </a:xfrm>
          <a:prstGeom prst="rect">
            <a:avLst/>
          </a:prstGeom>
          <a:noFill/>
        </p:spPr>
        <p:txBody>
          <a:bodyPr wrap="square" tIns="91440" bIns="91440" anchor="t">
            <a:spAutoFit/>
          </a:bodyPr>
          <a:lstStyle/>
          <a:p>
            <a:pPr algn="l">
              <a:spcAft>
                <a:spcPts val="0"/>
              </a:spcAft>
            </a:pPr>
            <a:r>
              <a:rPr sz="1500" b="1">
                <a:solidFill>
                  <a:srgbClr val="4F46E5"/>
                </a:solidFill>
                <a:latin typeface="WenQuanYi Micro Hei"/>
              </a:rPr>
              <a:t>演習がまだ用意されていない論点（A-1〜A-8…</a:t>
            </a:r>
          </a:p>
        </p:txBody>
      </p:sp>
      <p:cxnSp>
        <p:nvCxnSpPr>
          <p:cNvPr id="20" name="Connector 19"/>
          <p:cNvCxnSpPr/>
          <p:nvPr/>
        </p:nvCxnSpPr>
        <p:spPr>
          <a:xfrm flipV="1">
            <a:off x="2532888" y="1563624"/>
            <a:ext cx="3447288" cy="1234440"/>
          </a:xfrm>
          <a:prstGeom prst="line">
            <a:avLst/>
          </a:prstGeom>
          <a:ln w="22860">
            <a:solidFill>
              <a:srgbClr val="8D87EE"/>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77240" y="5074920"/>
            <a:ext cx="10652760" cy="969264"/>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50" b="1">
                <a:solidFill>
                  <a:srgbClr val="4F46E5"/>
                </a:solidFill>
                <a:latin typeface="WenQuanYi Micro Hei"/>
              </a:rPr>
              <a:t>次の一歩｜problem_sets/1st_stage/ の論点表と exercises/ の演習で、36論点を定着させる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経済学・経済政策 図解スライド</dc:title>
  <dc:subject>中小企業診断士 第1次試験</dc:subject>
  <dc:creator>SMEC Project</dc:creator>
  <cp:keywords>中小企業診断士, 教科書, 図解, スライド</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