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909560" y="685800"/>
            <a:ext cx="3840480" cy="3840480"/>
          </a:xfrm>
          <a:prstGeom prst="ellipse">
            <a:avLst/>
          </a:prstGeom>
          <a:solidFill>
            <a:srgbClr val="EEF2FF"/>
          </a:solidFill>
          <a:ln w="25400">
            <a:solidFill>
              <a:srgbClr val="A7A2F2"/>
            </a:solid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5400" b="1">
                <a:solidFill>
                  <a:srgbClr val="4F46E5"/>
                </a:solidFill>
                <a:latin typeface="WenQuanYi Micro Hei"/>
              </a:rPr>
              <a:t>A</a:t>
            </a:r>
          </a:p>
        </p:txBody>
      </p:sp>
      <p:sp>
        <p:nvSpPr>
          <p:cNvPr id="4" name="TextBox 3"/>
          <p:cNvSpPr txBox="1"/>
          <p:nvPr/>
        </p:nvSpPr>
        <p:spPr>
          <a:xfrm>
            <a:off x="685800" y="1280160"/>
            <a:ext cx="7086600" cy="502920"/>
          </a:xfrm>
          <a:prstGeom prst="rect">
            <a:avLst/>
          </a:prstGeom>
          <a:noFill/>
        </p:spPr>
        <p:txBody>
          <a:bodyPr wrap="square" tIns="91440" bIns="91440" anchor="ctr">
            <a:spAutoFit/>
          </a:bodyPr>
          <a:lstStyle/>
          <a:p>
            <a:pPr algn="l">
              <a:spcAft>
                <a:spcPts val="0"/>
              </a:spcAft>
            </a:pPr>
            <a:r>
              <a:rPr sz="1700" b="1">
                <a:solidFill>
                  <a:srgbClr val="4F46E5"/>
                </a:solidFill>
                <a:latin typeface="WenQuanYi Micro Hei"/>
              </a:rPr>
              <a:t>中小企業診断士 第1次試験</a:t>
            </a:r>
          </a:p>
        </p:txBody>
      </p:sp>
      <p:sp>
        <p:nvSpPr>
          <p:cNvPr id="5" name="TextBox 4"/>
          <p:cNvSpPr txBox="1"/>
          <p:nvPr/>
        </p:nvSpPr>
        <p:spPr>
          <a:xfrm>
            <a:off x="658368" y="1874519"/>
            <a:ext cx="7406640" cy="1234440"/>
          </a:xfrm>
          <a:prstGeom prst="rect">
            <a:avLst/>
          </a:prstGeom>
          <a:noFill/>
        </p:spPr>
        <p:txBody>
          <a:bodyPr wrap="square" tIns="91440" bIns="91440" anchor="t">
            <a:spAutoFit/>
          </a:bodyPr>
          <a:lstStyle/>
          <a:p>
            <a:pPr algn="l">
              <a:spcAft>
                <a:spcPts val="0"/>
              </a:spcAft>
            </a:pPr>
            <a:r>
              <a:rPr sz="3600" b="1">
                <a:solidFill>
                  <a:srgbClr val="172033"/>
                </a:solidFill>
                <a:latin typeface="WenQuanYi Micro Hei"/>
              </a:rPr>
              <a:t>経済学・経済政策</a:t>
            </a:r>
          </a:p>
        </p:txBody>
      </p:sp>
      <p:sp>
        <p:nvSpPr>
          <p:cNvPr id="6" name="TextBox 5"/>
          <p:cNvSpPr txBox="1"/>
          <p:nvPr/>
        </p:nvSpPr>
        <p:spPr>
          <a:xfrm>
            <a:off x="685800" y="3337560"/>
            <a:ext cx="6766560" cy="640080"/>
          </a:xfrm>
          <a:prstGeom prst="rect">
            <a:avLst/>
          </a:prstGeom>
          <a:noFill/>
        </p:spPr>
        <p:txBody>
          <a:bodyPr wrap="square" tIns="91440" bIns="91440" anchor="ctr">
            <a:spAutoFit/>
          </a:bodyPr>
          <a:lstStyle/>
          <a:p>
            <a:pPr algn="l">
              <a:spcAft>
                <a:spcPts val="0"/>
              </a:spcAft>
            </a:pPr>
            <a:r>
              <a:rPr sz="2000" b="0">
                <a:solidFill>
                  <a:srgbClr val="667085"/>
                </a:solidFill>
                <a:latin typeface="WenQuanYi Micro Hei"/>
              </a:rPr>
              <a:t>図解スライド｜全論点を「構造・比較・流れ」で理解する</a:t>
            </a:r>
          </a:p>
        </p:txBody>
      </p:sp>
      <p:sp>
        <p:nvSpPr>
          <p:cNvPr id="7" name="Rounded Rectangle 6"/>
          <p:cNvSpPr/>
          <p:nvPr/>
        </p:nvSpPr>
        <p:spPr>
          <a:xfrm>
            <a:off x="685800" y="4617720"/>
            <a:ext cx="3246120" cy="658368"/>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000" b="1">
                <a:solidFill>
                  <a:srgbClr val="FFFFFF"/>
                </a:solidFill>
                <a:latin typeface="WenQuanYi Micro Hei"/>
              </a:rPr>
              <a:t>36 論点</a:t>
            </a:r>
          </a:p>
        </p:txBody>
      </p:sp>
      <p:sp>
        <p:nvSpPr>
          <p:cNvPr id="8" name="Rounded Rectangle 7"/>
          <p:cNvSpPr/>
          <p:nvPr/>
        </p:nvSpPr>
        <p:spPr>
          <a:xfrm>
            <a:off x="4096512" y="4617720"/>
            <a:ext cx="3246120" cy="658368"/>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2000" b="1">
                <a:solidFill>
                  <a:srgbClr val="4F46E5"/>
                </a:solidFill>
                <a:latin typeface="WenQuanYi Micro Hei"/>
              </a:rPr>
              <a:t>8 セクション</a:t>
            </a:r>
          </a:p>
        </p:txBody>
      </p:sp>
      <p:sp>
        <p:nvSpPr>
          <p:cNvPr id="9" name="TextBox 8"/>
          <p:cNvSpPr txBox="1"/>
          <p:nvPr/>
        </p:nvSpPr>
        <p:spPr>
          <a:xfrm>
            <a:off x="685800" y="5879592"/>
            <a:ext cx="10881360" cy="256032"/>
          </a:xfrm>
          <a:prstGeom prst="rect">
            <a:avLst/>
          </a:prstGeom>
          <a:noFill/>
        </p:spPr>
        <p:txBody>
          <a:bodyPr wrap="square" tIns="91440" bIns="91440" anchor="ctr">
            <a:spAutoFit/>
          </a:bodyPr>
          <a:lstStyle/>
          <a:p>
            <a:pPr algn="l">
              <a:spcAft>
                <a:spcPts val="0"/>
              </a:spcAft>
            </a:pPr>
            <a:r>
              <a:rPr sz="1100" b="0">
                <a:solidFill>
                  <a:srgbClr val="667085"/>
                </a:solidFill>
                <a:latin typeface="WenQuanYi Micro Hei"/>
              </a:rPr>
              <a:t>SMEC 教科書シリーズ｜教科書本文を基に自動生成</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OVERVIEW</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経済学・経済政策｜科目全体マップ＆学習のツボ</a:t>
            </a:r>
          </a:p>
        </p:txBody>
      </p:sp>
      <p:sp>
        <p:nvSpPr>
          <p:cNvPr id="5" name="TextBox 4"/>
          <p:cNvSpPr txBox="1"/>
          <p:nvPr/>
        </p:nvSpPr>
        <p:spPr>
          <a:xfrm>
            <a:off x="9601200" y="685800"/>
            <a:ext cx="1920240"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全8セクション・36論点</a:t>
            </a:r>
          </a:p>
        </p:txBody>
      </p:sp>
      <p:sp>
        <p:nvSpPr>
          <p:cNvPr id="6" name="Rounded Rectangle 5"/>
          <p:cNvSpPr/>
          <p:nvPr/>
        </p:nvSpPr>
        <p:spPr>
          <a:xfrm>
            <a:off x="502920" y="1024128"/>
            <a:ext cx="5500116"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24128"/>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115568"/>
            <a:ext cx="5180076"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第1部〜第4部</a:t>
            </a:r>
          </a:p>
        </p:txBody>
      </p:sp>
      <p:sp>
        <p:nvSpPr>
          <p:cNvPr id="9" name="TextBox 8"/>
          <p:cNvSpPr txBox="1"/>
          <p:nvPr/>
        </p:nvSpPr>
        <p:spPr>
          <a:xfrm>
            <a:off x="704088" y="1444752"/>
            <a:ext cx="5180076"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マクロ経済学：GDP決定、IS-LM、貿易・為替、主要学派の対比</a:t>
            </a:r>
          </a:p>
        </p:txBody>
      </p:sp>
      <p:sp>
        <p:nvSpPr>
          <p:cNvPr id="10" name="Rounded Rectangle 9"/>
          <p:cNvSpPr/>
          <p:nvPr/>
        </p:nvSpPr>
        <p:spPr>
          <a:xfrm>
            <a:off x="6204203" y="1024128"/>
            <a:ext cx="5500116"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04203" y="1024128"/>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5371" y="1115568"/>
            <a:ext cx="5180076"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第5部〜第6部</a:t>
            </a:r>
          </a:p>
        </p:txBody>
      </p:sp>
      <p:sp>
        <p:nvSpPr>
          <p:cNvPr id="13" name="TextBox 12"/>
          <p:cNvSpPr txBox="1"/>
          <p:nvPr/>
        </p:nvSpPr>
        <p:spPr>
          <a:xfrm>
            <a:off x="6405371" y="1444752"/>
            <a:ext cx="5180076"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ミクロ経済学（基礎）：需要供給均衡、余剰分析、効用・費用関数</a:t>
            </a:r>
          </a:p>
        </p:txBody>
      </p:sp>
      <p:sp>
        <p:nvSpPr>
          <p:cNvPr id="14" name="Rounded Rectangle 13"/>
          <p:cNvSpPr/>
          <p:nvPr/>
        </p:nvSpPr>
        <p:spPr>
          <a:xfrm>
            <a:off x="502920" y="3145536"/>
            <a:ext cx="5500116"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 y="3145536"/>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04088" y="3236976"/>
            <a:ext cx="5180076"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第7部〜第8部</a:t>
            </a:r>
          </a:p>
        </p:txBody>
      </p:sp>
      <p:sp>
        <p:nvSpPr>
          <p:cNvPr id="17" name="TextBox 16"/>
          <p:cNvSpPr txBox="1"/>
          <p:nvPr/>
        </p:nvSpPr>
        <p:spPr>
          <a:xfrm>
            <a:off x="704088" y="3566160"/>
            <a:ext cx="5180076"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ミクロ経済学（応用）：不完全競争、ゲーム理論、外部性、所得分配</a:t>
            </a:r>
          </a:p>
        </p:txBody>
      </p:sp>
      <p:sp>
        <p:nvSpPr>
          <p:cNvPr id="18" name="Rounded Rectangle 17"/>
          <p:cNvSpPr/>
          <p:nvPr/>
        </p:nvSpPr>
        <p:spPr>
          <a:xfrm>
            <a:off x="6204203" y="3145536"/>
            <a:ext cx="5500116" cy="1920240"/>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04203" y="3145536"/>
            <a:ext cx="73152" cy="19202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5371" y="3236976"/>
            <a:ext cx="5180076" cy="310896"/>
          </a:xfrm>
          <a:prstGeom prst="rect">
            <a:avLst/>
          </a:prstGeom>
          <a:noFill/>
        </p:spPr>
        <p:txBody>
          <a:bodyPr wrap="square" tIns="91440" bIns="91440" anchor="t">
            <a:spAutoFit/>
          </a:bodyPr>
          <a:lstStyle/>
          <a:p>
            <a:pPr algn="l">
              <a:spcAft>
                <a:spcPts val="0"/>
              </a:spcAft>
            </a:pPr>
            <a:r>
              <a:rPr sz="1500" b="1">
                <a:solidFill>
                  <a:srgbClr val="4F46E5"/>
                </a:solidFill>
                <a:latin typeface="WenQuanYi Micro Hei"/>
              </a:rPr>
              <a:t>学習の鉄則</a:t>
            </a:r>
          </a:p>
        </p:txBody>
      </p:sp>
      <p:sp>
        <p:nvSpPr>
          <p:cNvPr id="21" name="TextBox 20"/>
          <p:cNvSpPr txBox="1"/>
          <p:nvPr/>
        </p:nvSpPr>
        <p:spPr>
          <a:xfrm>
            <a:off x="6405371" y="3566160"/>
            <a:ext cx="5180076" cy="1417320"/>
          </a:xfrm>
          <a:prstGeom prst="rect">
            <a:avLst/>
          </a:prstGeom>
          <a:noFill/>
        </p:spPr>
        <p:txBody>
          <a:bodyPr wrap="square" tIns="91440" bIns="91440" anchor="t">
            <a:spAutoFit/>
          </a:bodyPr>
          <a:lstStyle/>
          <a:p>
            <a:pPr algn="l">
              <a:spcAft>
                <a:spcPts val="0"/>
              </a:spcAft>
            </a:pPr>
            <a:r>
              <a:rPr sz="1250" b="0">
                <a:solidFill>
                  <a:srgbClr val="172033"/>
                </a:solidFill>
                <a:latin typeface="WenQuanYi Micro Hei"/>
              </a:rPr>
              <a:t>用語の定義を正確に暗記 × グラフのシフト方向を自分で描く</a:t>
            </a:r>
          </a:p>
        </p:txBody>
      </p:sp>
      <p:sp>
        <p:nvSpPr>
          <p:cNvPr id="22" name="Rounded Rectangle 21"/>
          <p:cNvSpPr/>
          <p:nvPr/>
        </p:nvSpPr>
        <p:spPr>
          <a:xfrm>
            <a:off x="502920" y="5330952"/>
            <a:ext cx="11183112" cy="978408"/>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300" b="1">
                <a:solidFill>
                  <a:srgbClr val="4F46E5"/>
                </a:solidFill>
                <a:latin typeface="WenQuanYi Micro Hei"/>
              </a:rPr>
              <a:t>攻略のツボ｜出題パターンは定型的。「45度線・IS-LM・余剰・ナッシュ均衡・比較優位」の5大頻出モデルを手を動かして解けるようにする。</a:t>
            </a:r>
          </a:p>
        </p:txBody>
      </p:sp>
      <p:sp>
        <p:nvSpPr>
          <p:cNvPr id="23" name="Rectangle 22"/>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5" name="TextBox 24"/>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SEC 01</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第1部：経済指標の見方や読み方</a:t>
            </a:r>
          </a:p>
        </p:txBody>
      </p:sp>
      <p:sp>
        <p:nvSpPr>
          <p:cNvPr id="5" name="TextBox 4"/>
          <p:cNvSpPr txBox="1"/>
          <p:nvPr/>
        </p:nvSpPr>
        <p:spPr>
          <a:xfrm>
            <a:off x="9326880" y="685800"/>
            <a:ext cx="2194560"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A-1〜A-6 (6論点)</a:t>
            </a:r>
          </a:p>
        </p:txBody>
      </p:sp>
      <p:sp>
        <p:nvSpPr>
          <p:cNvPr id="6" name="Rounded Rectangle 5"/>
          <p:cNvSpPr/>
          <p:nvPr/>
        </p:nvSpPr>
        <p:spPr>
          <a:xfrm>
            <a:off x="502920" y="1051560"/>
            <a:ext cx="3599688"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A-1</a:t>
            </a:r>
          </a:p>
        </p:txBody>
      </p:sp>
      <p:sp>
        <p:nvSpPr>
          <p:cNvPr id="9" name="TextBox 8"/>
          <p:cNvSpPr txBox="1"/>
          <p:nvPr/>
        </p:nvSpPr>
        <p:spPr>
          <a:xfrm>
            <a:off x="1490472" y="1143000"/>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国民経済計算の概念・国民所得統計</a:t>
            </a:r>
          </a:p>
        </p:txBody>
      </p:sp>
      <p:sp>
        <p:nvSpPr>
          <p:cNvPr id="10" name="TextBox 9"/>
          <p:cNvSpPr txBox="1"/>
          <p:nvPr/>
        </p:nvSpPr>
        <p:spPr>
          <a:xfrm>
            <a:off x="649224" y="1527048"/>
            <a:ext cx="3343656"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GDP（国内総生産、Gross Domestic Product）とは、一定期間（通常は1年間、または四半期）に、国内で新たに生み出された付加価値の合計です…</a:t>
            </a:r>
          </a:p>
        </p:txBody>
      </p:sp>
      <p:sp>
        <p:nvSpPr>
          <p:cNvPr id="11" name="Rounded Rectangle 10"/>
          <p:cNvSpPr/>
          <p:nvPr/>
        </p:nvSpPr>
        <p:spPr>
          <a:xfrm>
            <a:off x="4303776" y="1051560"/>
            <a:ext cx="3599688"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03776"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50080"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A-2</a:t>
            </a:r>
          </a:p>
        </p:txBody>
      </p:sp>
      <p:sp>
        <p:nvSpPr>
          <p:cNvPr id="14" name="TextBox 13"/>
          <p:cNvSpPr txBox="1"/>
          <p:nvPr/>
        </p:nvSpPr>
        <p:spPr>
          <a:xfrm>
            <a:off x="5291328" y="1143000"/>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雇用統計（失業率、有効求人倍率等）</a:t>
            </a:r>
          </a:p>
        </p:txBody>
      </p:sp>
      <p:sp>
        <p:nvSpPr>
          <p:cNvPr id="15" name="TextBox 14"/>
          <p:cNvSpPr txBox="1"/>
          <p:nvPr/>
        </p:nvSpPr>
        <p:spPr>
          <a:xfrm>
            <a:off x="4450080" y="1527048"/>
            <a:ext cx="3343656"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15歳以上の人口は、まず「労働力人口」（働く意思のある人）と「非労働力人口」（学生、家事専業者、高齢で働く意思のない人など）に分けられます。さらに労働力人口は…</a:t>
            </a:r>
          </a:p>
        </p:txBody>
      </p:sp>
      <p:sp>
        <p:nvSpPr>
          <p:cNvPr id="16" name="Rounded Rectangle 15"/>
          <p:cNvSpPr/>
          <p:nvPr/>
        </p:nvSpPr>
        <p:spPr>
          <a:xfrm>
            <a:off x="8104632" y="1051560"/>
            <a:ext cx="3599688"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4632"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50936"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A-3</a:t>
            </a:r>
          </a:p>
        </p:txBody>
      </p:sp>
      <p:sp>
        <p:nvSpPr>
          <p:cNvPr id="19" name="TextBox 18"/>
          <p:cNvSpPr txBox="1"/>
          <p:nvPr/>
        </p:nvSpPr>
        <p:spPr>
          <a:xfrm>
            <a:off x="9092184" y="1143000"/>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物価指数（CPI、GDPデフレーター等）</a:t>
            </a:r>
          </a:p>
        </p:txBody>
      </p:sp>
      <p:sp>
        <p:nvSpPr>
          <p:cNvPr id="20" name="TextBox 19"/>
          <p:cNvSpPr txBox="1"/>
          <p:nvPr/>
        </p:nvSpPr>
        <p:spPr>
          <a:xfrm>
            <a:off x="8250936" y="1527048"/>
            <a:ext cx="3343656"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物価の動きを測る代表的な指数には次のものがあります。 消費者物価指数（CPI：Consumer Price Index）：総務省が公表。消費者が実際に購入する…</a:t>
            </a:r>
          </a:p>
        </p:txBody>
      </p:sp>
      <p:sp>
        <p:nvSpPr>
          <p:cNvPr id="21" name="Rounded Rectangle 20"/>
          <p:cNvSpPr/>
          <p:nvPr/>
        </p:nvSpPr>
        <p:spPr>
          <a:xfrm>
            <a:off x="502920" y="3168396"/>
            <a:ext cx="3599688"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9224"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A-4</a:t>
            </a:r>
          </a:p>
        </p:txBody>
      </p:sp>
      <p:sp>
        <p:nvSpPr>
          <p:cNvPr id="24" name="TextBox 23"/>
          <p:cNvSpPr txBox="1"/>
          <p:nvPr/>
        </p:nvSpPr>
        <p:spPr>
          <a:xfrm>
            <a:off x="1490472" y="3259836"/>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景気動向指数（DI・CI）</a:t>
            </a:r>
          </a:p>
        </p:txBody>
      </p:sp>
      <p:sp>
        <p:nvSpPr>
          <p:cNvPr id="25" name="TextBox 24"/>
          <p:cNvSpPr txBox="1"/>
          <p:nvPr/>
        </p:nvSpPr>
        <p:spPr>
          <a:xfrm>
            <a:off x="649224" y="3643884"/>
            <a:ext cx="3343656"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景気動向指数は、内閣府が毎月公表する、景気の現状を数値化した指標で、DI（ディフュージョン・インデックス）とCI（コンポジット・インデックス）の2種類がありま…</a:t>
            </a:r>
          </a:p>
        </p:txBody>
      </p:sp>
      <p:sp>
        <p:nvSpPr>
          <p:cNvPr id="26" name="Rounded Rectangle 25"/>
          <p:cNvSpPr/>
          <p:nvPr/>
        </p:nvSpPr>
        <p:spPr>
          <a:xfrm>
            <a:off x="4303776" y="3168396"/>
            <a:ext cx="3599688"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03776"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450080"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A-5</a:t>
            </a:r>
          </a:p>
        </p:txBody>
      </p:sp>
      <p:sp>
        <p:nvSpPr>
          <p:cNvPr id="29" name="TextBox 28"/>
          <p:cNvSpPr txBox="1"/>
          <p:nvPr/>
        </p:nvSpPr>
        <p:spPr>
          <a:xfrm>
            <a:off x="5291328" y="3259836"/>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マネーストック統計</a:t>
            </a:r>
          </a:p>
        </p:txBody>
      </p:sp>
      <p:sp>
        <p:nvSpPr>
          <p:cNvPr id="30" name="TextBox 29"/>
          <p:cNvSpPr txBox="1"/>
          <p:nvPr/>
        </p:nvSpPr>
        <p:spPr>
          <a:xfrm>
            <a:off x="4450080" y="3643884"/>
            <a:ext cx="3343656"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マネーストック統計は、金融機関・中央政府（日本銀行を含む）を除く経済主体（一般法人、個人、地方公共団体など）が保有する通貨量の残高を示す統計で、日本銀行が公表…</a:t>
            </a:r>
          </a:p>
        </p:txBody>
      </p:sp>
      <p:sp>
        <p:nvSpPr>
          <p:cNvPr id="31" name="Rounded Rectangle 30"/>
          <p:cNvSpPr/>
          <p:nvPr/>
        </p:nvSpPr>
        <p:spPr>
          <a:xfrm>
            <a:off x="8104632" y="3168396"/>
            <a:ext cx="3599688"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04632"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250936"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A-6</a:t>
            </a:r>
          </a:p>
        </p:txBody>
      </p:sp>
      <p:sp>
        <p:nvSpPr>
          <p:cNvPr id="34" name="TextBox 33"/>
          <p:cNvSpPr txBox="1"/>
          <p:nvPr/>
        </p:nvSpPr>
        <p:spPr>
          <a:xfrm>
            <a:off x="9092184" y="3259836"/>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国際収支・為替レート</a:t>
            </a:r>
          </a:p>
        </p:txBody>
      </p:sp>
      <p:sp>
        <p:nvSpPr>
          <p:cNvPr id="35" name="TextBox 34"/>
          <p:cNvSpPr txBox="1"/>
          <p:nvPr/>
        </p:nvSpPr>
        <p:spPr>
          <a:xfrm>
            <a:off x="8250936" y="3643884"/>
            <a:ext cx="3343656"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国際収支統計は、一国が一定期間に外国と行った取引（モノ・サービスの取引、お金の貸し借り、投資など）を記録したもので、次の大項目で構成されます。 経常収支 +…</a:t>
            </a:r>
          </a:p>
        </p:txBody>
      </p:sp>
      <p:sp>
        <p:nvSpPr>
          <p:cNvPr id="36" name="Rounded Rectangle 35"/>
          <p:cNvSpPr/>
          <p:nvPr/>
        </p:nvSpPr>
        <p:spPr>
          <a:xfrm>
            <a:off x="502920" y="5330952"/>
            <a:ext cx="11183112" cy="978408"/>
          </a:xfrm>
          <a:prstGeom prst="roundRect">
            <a:avLst/>
          </a:prstGeom>
          <a:solidFill>
            <a:srgbClr val="EEF2FF"/>
          </a:solidFill>
          <a:ln w="127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2033"/>
                </a:solidFill>
                <a:latin typeface="WenQuanYi Micro Hei"/>
              </a:rPr>
              <a:t>重要ポイント｜日本経済は今どんな状態にあるのか。それを客観的に把握するための「ものさし」が経済指標です。ニュースで「GDPが○%成長」「失業率が○%」と聞いたときに、その数字が何を意味しているかを正確に理解することが第1部のゴールです。</a:t>
            </a:r>
          </a:p>
        </p:txBody>
      </p:sp>
      <p:sp>
        <p:nvSpPr>
          <p:cNvPr id="37" name="Rectangle 36"/>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9" name="TextBox 38"/>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SEC 02</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第2部：マクロ経済理論と経済政策</a:t>
            </a:r>
          </a:p>
        </p:txBody>
      </p:sp>
      <p:sp>
        <p:nvSpPr>
          <p:cNvPr id="5" name="TextBox 4"/>
          <p:cNvSpPr txBox="1"/>
          <p:nvPr/>
        </p:nvSpPr>
        <p:spPr>
          <a:xfrm>
            <a:off x="9326880" y="685800"/>
            <a:ext cx="2194560"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A-7〜A-13 (7論点)</a:t>
            </a:r>
          </a:p>
        </p:txBody>
      </p:sp>
      <p:sp>
        <p:nvSpPr>
          <p:cNvPr id="6" name="Rounded Rectangle 5"/>
          <p:cNvSpPr/>
          <p:nvPr/>
        </p:nvSpPr>
        <p:spPr>
          <a:xfrm>
            <a:off x="502920" y="1051560"/>
            <a:ext cx="3599688" cy="1246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51560"/>
            <a:ext cx="73152" cy="1246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A-7</a:t>
            </a:r>
          </a:p>
        </p:txBody>
      </p:sp>
      <p:sp>
        <p:nvSpPr>
          <p:cNvPr id="9" name="TextBox 8"/>
          <p:cNvSpPr txBox="1"/>
          <p:nvPr/>
        </p:nvSpPr>
        <p:spPr>
          <a:xfrm>
            <a:off x="1490472" y="1143000"/>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生産物市場とGDP決定理論</a:t>
            </a:r>
          </a:p>
        </p:txBody>
      </p:sp>
      <p:sp>
        <p:nvSpPr>
          <p:cNvPr id="10" name="TextBox 9"/>
          <p:cNvSpPr txBox="1"/>
          <p:nvPr/>
        </p:nvSpPr>
        <p:spPr>
          <a:xfrm>
            <a:off x="649224" y="1527048"/>
            <a:ext cx="3343656" cy="716280"/>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ケインズ経済学の基本的な考え方は、GDP（国民所得）の水準は、モノやサービスへの需要（有効需要）の大きさによって決まるというものです。これを「有効需要の原理」…</a:t>
            </a:r>
          </a:p>
        </p:txBody>
      </p:sp>
      <p:sp>
        <p:nvSpPr>
          <p:cNvPr id="11" name="Rounded Rectangle 10"/>
          <p:cNvSpPr/>
          <p:nvPr/>
        </p:nvSpPr>
        <p:spPr>
          <a:xfrm>
            <a:off x="4303776" y="1051560"/>
            <a:ext cx="3599688" cy="1246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03776" y="1051560"/>
            <a:ext cx="73152" cy="1246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50080"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A-8</a:t>
            </a:r>
          </a:p>
        </p:txBody>
      </p:sp>
      <p:sp>
        <p:nvSpPr>
          <p:cNvPr id="14" name="TextBox 13"/>
          <p:cNvSpPr txBox="1"/>
          <p:nvPr/>
        </p:nvSpPr>
        <p:spPr>
          <a:xfrm>
            <a:off x="5291328" y="1143000"/>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貨幣市場と利子率</a:t>
            </a:r>
          </a:p>
        </p:txBody>
      </p:sp>
      <p:sp>
        <p:nvSpPr>
          <p:cNvPr id="15" name="TextBox 14"/>
          <p:cNvSpPr txBox="1"/>
          <p:nvPr/>
        </p:nvSpPr>
        <p:spPr>
          <a:xfrm>
            <a:off x="4450080" y="1527048"/>
            <a:ext cx="3343656" cy="716280"/>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ケインズは、人々がお金（貨幣）を持ちたがる動機（貨幣需要）を3つに整理しました（流動性選好理論）。 取引動機：日々の買い物などの決済のためにお金を持つ需要。所…</a:t>
            </a:r>
          </a:p>
        </p:txBody>
      </p:sp>
      <p:sp>
        <p:nvSpPr>
          <p:cNvPr id="16" name="Rounded Rectangle 15"/>
          <p:cNvSpPr/>
          <p:nvPr/>
        </p:nvSpPr>
        <p:spPr>
          <a:xfrm>
            <a:off x="8104632" y="1051560"/>
            <a:ext cx="3599688" cy="1246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4632" y="1051560"/>
            <a:ext cx="73152" cy="1246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50936"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A-9</a:t>
            </a:r>
          </a:p>
        </p:txBody>
      </p:sp>
      <p:sp>
        <p:nvSpPr>
          <p:cNvPr id="19" name="TextBox 18"/>
          <p:cNvSpPr txBox="1"/>
          <p:nvPr/>
        </p:nvSpPr>
        <p:spPr>
          <a:xfrm>
            <a:off x="9092184" y="1143000"/>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IS-LM曲線・分析</a:t>
            </a:r>
          </a:p>
        </p:txBody>
      </p:sp>
      <p:sp>
        <p:nvSpPr>
          <p:cNvPr id="20" name="TextBox 19"/>
          <p:cNvSpPr txBox="1"/>
          <p:nvPr/>
        </p:nvSpPr>
        <p:spPr>
          <a:xfrm>
            <a:off x="8250936" y="1527048"/>
            <a:ext cx="3343656" cy="716280"/>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IS-LM分析は、A-7の「財市場」とA-8の「貨幣市場」を同時に満たす、GDP（Y）と利子率（r）の組み合わせを分析する、マクロ経済学で最も重要な分析ツール…</a:t>
            </a:r>
          </a:p>
        </p:txBody>
      </p:sp>
      <p:sp>
        <p:nvSpPr>
          <p:cNvPr id="21" name="Rounded Rectangle 20"/>
          <p:cNvSpPr/>
          <p:nvPr/>
        </p:nvSpPr>
        <p:spPr>
          <a:xfrm>
            <a:off x="502920" y="2462784"/>
            <a:ext cx="3599688" cy="1246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2462784"/>
            <a:ext cx="73152" cy="1246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9224" y="2572512"/>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A-10</a:t>
            </a:r>
          </a:p>
        </p:txBody>
      </p:sp>
      <p:sp>
        <p:nvSpPr>
          <p:cNvPr id="24" name="TextBox 23"/>
          <p:cNvSpPr txBox="1"/>
          <p:nvPr/>
        </p:nvSpPr>
        <p:spPr>
          <a:xfrm>
            <a:off x="1490472" y="2554224"/>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政府支出・租税と財政政策</a:t>
            </a:r>
          </a:p>
        </p:txBody>
      </p:sp>
      <p:sp>
        <p:nvSpPr>
          <p:cNvPr id="25" name="TextBox 24"/>
          <p:cNvSpPr txBox="1"/>
          <p:nvPr/>
        </p:nvSpPr>
        <p:spPr>
          <a:xfrm>
            <a:off x="649224" y="2938272"/>
            <a:ext cx="3343656" cy="716280"/>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財政政策とは、政府が歳出（政府支出）や歳入（租税）を通じて景気を調整する政策です。不況期には政府支出の拡大や減税で需要を刺激し（拡張的財政政策）、好況で過熱気…</a:t>
            </a:r>
          </a:p>
        </p:txBody>
      </p:sp>
      <p:sp>
        <p:nvSpPr>
          <p:cNvPr id="26" name="Rounded Rectangle 25"/>
          <p:cNvSpPr/>
          <p:nvPr/>
        </p:nvSpPr>
        <p:spPr>
          <a:xfrm>
            <a:off x="4303776" y="2462784"/>
            <a:ext cx="3599688" cy="1246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03776" y="2462784"/>
            <a:ext cx="73152" cy="1246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450080" y="2572512"/>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A-11</a:t>
            </a:r>
          </a:p>
        </p:txBody>
      </p:sp>
      <p:sp>
        <p:nvSpPr>
          <p:cNvPr id="29" name="TextBox 28"/>
          <p:cNvSpPr txBox="1"/>
          <p:nvPr/>
        </p:nvSpPr>
        <p:spPr>
          <a:xfrm>
            <a:off x="5291328" y="2554224"/>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貨幣理論と金融政策</a:t>
            </a:r>
          </a:p>
        </p:txBody>
      </p:sp>
      <p:sp>
        <p:nvSpPr>
          <p:cNvPr id="30" name="TextBox 29"/>
          <p:cNvSpPr txBox="1"/>
          <p:nvPr/>
        </p:nvSpPr>
        <p:spPr>
          <a:xfrm>
            <a:off x="4450080" y="2938272"/>
            <a:ext cx="3343656" cy="716280"/>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金融政策とは、中央銀行（日本銀行）が金利や通貨量を調整して物価の安定や景気の調整を図る政策です。代表的な手段には次のものがあります。 公開市場操作（オペレーシ…</a:t>
            </a:r>
          </a:p>
        </p:txBody>
      </p:sp>
      <p:sp>
        <p:nvSpPr>
          <p:cNvPr id="31" name="Rounded Rectangle 30"/>
          <p:cNvSpPr/>
          <p:nvPr/>
        </p:nvSpPr>
        <p:spPr>
          <a:xfrm>
            <a:off x="8104632" y="2462784"/>
            <a:ext cx="3599688" cy="1246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04632" y="2462784"/>
            <a:ext cx="73152" cy="1246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250936" y="2572512"/>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A-12</a:t>
            </a:r>
          </a:p>
        </p:txBody>
      </p:sp>
      <p:sp>
        <p:nvSpPr>
          <p:cNvPr id="34" name="TextBox 33"/>
          <p:cNvSpPr txBox="1"/>
          <p:nvPr/>
        </p:nvSpPr>
        <p:spPr>
          <a:xfrm>
            <a:off x="9092184" y="2554224"/>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雇用と物価水準（フィリップス曲線等）</a:t>
            </a:r>
          </a:p>
        </p:txBody>
      </p:sp>
      <p:sp>
        <p:nvSpPr>
          <p:cNvPr id="35" name="TextBox 34"/>
          <p:cNvSpPr txBox="1"/>
          <p:nvPr/>
        </p:nvSpPr>
        <p:spPr>
          <a:xfrm>
            <a:off x="8250936" y="2938272"/>
            <a:ext cx="3343656" cy="716280"/>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フィリップス曲線は、縦軸にインフレ率（賃金上昇率）、横軸に失業率をとったときに、両者が右下がりの関係（トレードオフの関係）にあることを示す曲線です。当初は「失…</a:t>
            </a:r>
          </a:p>
        </p:txBody>
      </p:sp>
      <p:sp>
        <p:nvSpPr>
          <p:cNvPr id="36" name="Rounded Rectangle 35"/>
          <p:cNvSpPr/>
          <p:nvPr/>
        </p:nvSpPr>
        <p:spPr>
          <a:xfrm>
            <a:off x="502920" y="3874007"/>
            <a:ext cx="3599688" cy="1246632"/>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02920" y="3874007"/>
            <a:ext cx="73152" cy="1246632"/>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49224" y="3983736"/>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A-13</a:t>
            </a:r>
          </a:p>
        </p:txBody>
      </p:sp>
      <p:sp>
        <p:nvSpPr>
          <p:cNvPr id="39" name="TextBox 38"/>
          <p:cNvSpPr txBox="1"/>
          <p:nvPr/>
        </p:nvSpPr>
        <p:spPr>
          <a:xfrm>
            <a:off x="1490472" y="3965447"/>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景気変動と景気循環</a:t>
            </a:r>
          </a:p>
        </p:txBody>
      </p:sp>
      <p:sp>
        <p:nvSpPr>
          <p:cNvPr id="40" name="TextBox 39"/>
          <p:cNvSpPr txBox="1"/>
          <p:nvPr/>
        </p:nvSpPr>
        <p:spPr>
          <a:xfrm>
            <a:off x="649224" y="4349495"/>
            <a:ext cx="3343656" cy="716280"/>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景気は好況と不況を波のように繰り返します（景気循環）。景気循環にはいくつかの周期の異なるパターンがあることが知られており、周期の短い順に整理すると次のようにな…</a:t>
            </a:r>
          </a:p>
        </p:txBody>
      </p:sp>
      <p:sp>
        <p:nvSpPr>
          <p:cNvPr id="41" name="Rounded Rectangle 40"/>
          <p:cNvSpPr/>
          <p:nvPr/>
        </p:nvSpPr>
        <p:spPr>
          <a:xfrm>
            <a:off x="502920" y="5330952"/>
            <a:ext cx="11183112" cy="978408"/>
          </a:xfrm>
          <a:prstGeom prst="roundRect">
            <a:avLst/>
          </a:prstGeom>
          <a:solidFill>
            <a:srgbClr val="EEF2FF"/>
          </a:solidFill>
          <a:ln w="127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2033"/>
                </a:solidFill>
                <a:latin typeface="WenQuanYi Micro Hei"/>
              </a:rPr>
              <a:t>重要ポイント｜第2部では、一国全体の経済がどのように動くかを理論的に説明する「マクロ経済学」の基礎を学びます。ここは第1次試験A科目の中で最も出題数が多く、かつ計算問題・グラフ問題が集中する山場です。</a:t>
            </a:r>
          </a:p>
        </p:txBody>
      </p:sp>
      <p:sp>
        <p:nvSpPr>
          <p:cNvPr id="42" name="Rectangle 4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44" name="TextBox 4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SEC 03</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第3部：国際経済と経済政策</a:t>
            </a:r>
          </a:p>
        </p:txBody>
      </p:sp>
      <p:sp>
        <p:nvSpPr>
          <p:cNvPr id="5" name="TextBox 4"/>
          <p:cNvSpPr txBox="1"/>
          <p:nvPr/>
        </p:nvSpPr>
        <p:spPr>
          <a:xfrm>
            <a:off x="9326880" y="685800"/>
            <a:ext cx="2194560"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A-14〜A-17 (4論点)</a:t>
            </a:r>
          </a:p>
        </p:txBody>
      </p:sp>
      <p:sp>
        <p:nvSpPr>
          <p:cNvPr id="6" name="Rounded Rectangle 5"/>
          <p:cNvSpPr/>
          <p:nvPr/>
        </p:nvSpPr>
        <p:spPr>
          <a:xfrm>
            <a:off x="502920" y="1051560"/>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A-14</a:t>
            </a:r>
          </a:p>
        </p:txBody>
      </p:sp>
      <p:sp>
        <p:nvSpPr>
          <p:cNvPr id="9" name="TextBox 8"/>
          <p:cNvSpPr txBox="1"/>
          <p:nvPr/>
        </p:nvSpPr>
        <p:spPr>
          <a:xfrm>
            <a:off x="1490472" y="1143000"/>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比較生産費説と貿易理論</a:t>
            </a:r>
          </a:p>
        </p:txBody>
      </p:sp>
      <p:sp>
        <p:nvSpPr>
          <p:cNvPr id="10" name="TextBox 9"/>
          <p:cNvSpPr txBox="1"/>
          <p:nvPr/>
        </p:nvSpPr>
        <p:spPr>
          <a:xfrm>
            <a:off x="649224" y="1527048"/>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なぜ国と国の間で貿易（自由貿易）を行うことに意味があるのでしょうか。これを説明する古典的な理論が、リカードが提唱した比較生産費説（比較優位論）です。 ポイント…</a:t>
            </a:r>
          </a:p>
        </p:txBody>
      </p:sp>
      <p:sp>
        <p:nvSpPr>
          <p:cNvPr id="11" name="Rounded Rectangle 10"/>
          <p:cNvSpPr/>
          <p:nvPr/>
        </p:nvSpPr>
        <p:spPr>
          <a:xfrm>
            <a:off x="6204203" y="1051560"/>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4203"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7"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A-15</a:t>
            </a:r>
          </a:p>
        </p:txBody>
      </p:sp>
      <p:sp>
        <p:nvSpPr>
          <p:cNvPr id="14" name="TextBox 13"/>
          <p:cNvSpPr txBox="1"/>
          <p:nvPr/>
        </p:nvSpPr>
        <p:spPr>
          <a:xfrm>
            <a:off x="7191755" y="1143000"/>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貿易政策（関税・非関税障壁）</a:t>
            </a:r>
          </a:p>
        </p:txBody>
      </p:sp>
      <p:sp>
        <p:nvSpPr>
          <p:cNvPr id="15" name="TextBox 14"/>
          <p:cNvSpPr txBox="1"/>
          <p:nvPr/>
        </p:nvSpPr>
        <p:spPr>
          <a:xfrm>
            <a:off x="6350507" y="1527048"/>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自由貿易は理論上、両国全体の余剰（A-23で学ぶ「経済余剰」）を最大化しますが、各国政府は国内産業を保護するためにさまざまな貿易政策（保護貿易政策）をとること…</a:t>
            </a:r>
          </a:p>
        </p:txBody>
      </p:sp>
      <p:sp>
        <p:nvSpPr>
          <p:cNvPr id="16" name="Rounded Rectangle 15"/>
          <p:cNvSpPr/>
          <p:nvPr/>
        </p:nvSpPr>
        <p:spPr>
          <a:xfrm>
            <a:off x="502920" y="3168396"/>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9224"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A-16</a:t>
            </a:r>
          </a:p>
        </p:txBody>
      </p:sp>
      <p:sp>
        <p:nvSpPr>
          <p:cNvPr id="19" name="TextBox 18"/>
          <p:cNvSpPr txBox="1"/>
          <p:nvPr/>
        </p:nvSpPr>
        <p:spPr>
          <a:xfrm>
            <a:off x="1490472" y="3259836"/>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国際収支と為替レート決定理論</a:t>
            </a:r>
          </a:p>
        </p:txBody>
      </p:sp>
      <p:sp>
        <p:nvSpPr>
          <p:cNvPr id="20" name="TextBox 19"/>
          <p:cNvSpPr txBox="1"/>
          <p:nvPr/>
        </p:nvSpPr>
        <p:spPr>
          <a:xfrm>
            <a:off x="649224" y="3643884"/>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為替レートがどのような要因で決まるかを説明する代表的な理論に次のものがあります。 購買力平価説（PPP）：「同じ商品はどの国でも同じ価格になるはずだ」という一…</a:t>
            </a:r>
          </a:p>
        </p:txBody>
      </p:sp>
      <p:sp>
        <p:nvSpPr>
          <p:cNvPr id="21" name="Rounded Rectangle 20"/>
          <p:cNvSpPr/>
          <p:nvPr/>
        </p:nvSpPr>
        <p:spPr>
          <a:xfrm>
            <a:off x="6204203" y="3168396"/>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4203"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50507"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A-17</a:t>
            </a:r>
          </a:p>
        </p:txBody>
      </p:sp>
      <p:sp>
        <p:nvSpPr>
          <p:cNvPr id="24" name="TextBox 23"/>
          <p:cNvSpPr txBox="1"/>
          <p:nvPr/>
        </p:nvSpPr>
        <p:spPr>
          <a:xfrm>
            <a:off x="7191755" y="3259836"/>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国際マクロ経済の理論と政策</a:t>
            </a:r>
          </a:p>
        </p:txBody>
      </p:sp>
      <p:sp>
        <p:nvSpPr>
          <p:cNvPr id="25" name="TextBox 24"/>
          <p:cNvSpPr txBox="1"/>
          <p:nvPr/>
        </p:nvSpPr>
        <p:spPr>
          <a:xfrm>
            <a:off x="6350507" y="3643884"/>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A-9で学んだIS-LM分析を、貿易や国際的な資金移動がある「開放経済」に拡張したモデルがマンデル＝フレミング・モデルです。特に、国際的な資本移動が自由な小国…</a:t>
            </a:r>
          </a:p>
        </p:txBody>
      </p:sp>
      <p:sp>
        <p:nvSpPr>
          <p:cNvPr id="26" name="Rounded Rectangle 25"/>
          <p:cNvSpPr/>
          <p:nvPr/>
        </p:nvSpPr>
        <p:spPr>
          <a:xfrm>
            <a:off x="502920" y="5330952"/>
            <a:ext cx="11183112" cy="978408"/>
          </a:xfrm>
          <a:prstGeom prst="roundRect">
            <a:avLst/>
          </a:prstGeom>
          <a:solidFill>
            <a:srgbClr val="EEF2FF"/>
          </a:solidFill>
          <a:ln w="127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2033"/>
                </a:solidFill>
                <a:latin typeface="WenQuanYi Micro Hei"/>
              </a:rPr>
              <a:t>重要ポイント｜グローバル化した現代経済では、一国だけで経済を完結させて考えることはできません。第3部では、貿易がなぜ両国にとって得になるのか、為替レートがどう決まるのか、開放経済における財政・金融政策の効果はどう変わるのかを学びます。</a:t>
            </a:r>
          </a:p>
        </p:txBody>
      </p:sp>
      <p:sp>
        <p:nvSpPr>
          <p:cNvPr id="27" name="Rectangle 26"/>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9" name="TextBox 28"/>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SEC 04</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第4部：主要経済理論</a:t>
            </a:r>
          </a:p>
        </p:txBody>
      </p:sp>
      <p:sp>
        <p:nvSpPr>
          <p:cNvPr id="5" name="TextBox 4"/>
          <p:cNvSpPr txBox="1"/>
          <p:nvPr/>
        </p:nvSpPr>
        <p:spPr>
          <a:xfrm>
            <a:off x="9326880" y="685800"/>
            <a:ext cx="2194560"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A-18〜A-20 (3論点)</a:t>
            </a:r>
          </a:p>
        </p:txBody>
      </p:sp>
      <p:sp>
        <p:nvSpPr>
          <p:cNvPr id="6" name="Rounded Rectangle 5"/>
          <p:cNvSpPr/>
          <p:nvPr/>
        </p:nvSpPr>
        <p:spPr>
          <a:xfrm>
            <a:off x="502920" y="1051560"/>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A-18</a:t>
            </a:r>
          </a:p>
        </p:txBody>
      </p:sp>
      <p:sp>
        <p:nvSpPr>
          <p:cNvPr id="9" name="TextBox 8"/>
          <p:cNvSpPr txBox="1"/>
          <p:nvPr/>
        </p:nvSpPr>
        <p:spPr>
          <a:xfrm>
            <a:off x="1490472" y="1143000"/>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ケインズ理論</a:t>
            </a:r>
          </a:p>
        </p:txBody>
      </p:sp>
      <p:sp>
        <p:nvSpPr>
          <p:cNvPr id="10" name="TextBox 9"/>
          <p:cNvSpPr txBox="1"/>
          <p:nvPr/>
        </p:nvSpPr>
        <p:spPr>
          <a:xfrm>
            <a:off x="649224" y="1527048"/>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ケインズ経済学は、1930年代の世界恐慌を背景に、イギリスの経済学者ケインズが打ち立てた理論体系で、現代マクロ経済学（A-7〜A-13で学んだ内容の多く）の土…</a:t>
            </a:r>
          </a:p>
        </p:txBody>
      </p:sp>
      <p:sp>
        <p:nvSpPr>
          <p:cNvPr id="11" name="Rounded Rectangle 10"/>
          <p:cNvSpPr/>
          <p:nvPr/>
        </p:nvSpPr>
        <p:spPr>
          <a:xfrm>
            <a:off x="6204203" y="1051560"/>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4203"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7"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A-19</a:t>
            </a:r>
          </a:p>
        </p:txBody>
      </p:sp>
      <p:sp>
        <p:nvSpPr>
          <p:cNvPr id="14" name="TextBox 13"/>
          <p:cNvSpPr txBox="1"/>
          <p:nvPr/>
        </p:nvSpPr>
        <p:spPr>
          <a:xfrm>
            <a:off x="7191755" y="1143000"/>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古典派・新古典派の理論</a:t>
            </a:r>
          </a:p>
        </p:txBody>
      </p:sp>
      <p:sp>
        <p:nvSpPr>
          <p:cNvPr id="15" name="TextBox 14"/>
          <p:cNvSpPr txBox="1"/>
          <p:nvPr/>
        </p:nvSpPr>
        <p:spPr>
          <a:xfrm>
            <a:off x="6350507" y="1527048"/>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古典派経済学（アダム・スミス以来の伝統的な経済学、ケインズ以前の主流派）は、ケインズ理論とは対照的に、市場メカニズム（価格の伸縮性）を信頼する立場です。中心的…</a:t>
            </a:r>
          </a:p>
        </p:txBody>
      </p:sp>
      <p:sp>
        <p:nvSpPr>
          <p:cNvPr id="16" name="Rounded Rectangle 15"/>
          <p:cNvSpPr/>
          <p:nvPr/>
        </p:nvSpPr>
        <p:spPr>
          <a:xfrm>
            <a:off x="502920" y="3168396"/>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9224"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A-20</a:t>
            </a:r>
          </a:p>
        </p:txBody>
      </p:sp>
      <p:sp>
        <p:nvSpPr>
          <p:cNvPr id="19" name="TextBox 18"/>
          <p:cNvSpPr txBox="1"/>
          <p:nvPr/>
        </p:nvSpPr>
        <p:spPr>
          <a:xfrm>
            <a:off x="1490472" y="3259836"/>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マネタリズム</a:t>
            </a:r>
          </a:p>
        </p:txBody>
      </p:sp>
      <p:sp>
        <p:nvSpPr>
          <p:cNvPr id="20" name="TextBox 19"/>
          <p:cNvSpPr txBox="1"/>
          <p:nvPr/>
        </p:nvSpPr>
        <p:spPr>
          <a:xfrm>
            <a:off x="649224" y="3643884"/>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マネタリズムは、フリードマンを中心に発展した経済学の一派で、「経済の安定にとって最も重要なのは貨幣供給量（マネーストック）のコントロールである」と主張します…</a:t>
            </a:r>
          </a:p>
        </p:txBody>
      </p:sp>
      <p:sp>
        <p:nvSpPr>
          <p:cNvPr id="21" name="Rounded Rectangle 20"/>
          <p:cNvSpPr/>
          <p:nvPr/>
        </p:nvSpPr>
        <p:spPr>
          <a:xfrm>
            <a:off x="502920" y="5330952"/>
            <a:ext cx="11183112" cy="978408"/>
          </a:xfrm>
          <a:prstGeom prst="roundRect">
            <a:avLst/>
          </a:prstGeom>
          <a:solidFill>
            <a:srgbClr val="EEF2FF"/>
          </a:solidFill>
          <a:ln w="127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2033"/>
                </a:solidFill>
                <a:latin typeface="WenQuanYi Micro Hei"/>
              </a:rPr>
              <a:t>重要ポイント｜第4部では、マクロ経済学の考え方の違いを生んだ、代表的な学派（ケインズ派・古典派・マネタリズム）の基本的な立場の違いを整理します。個別の学派の名前と主張を対応させて覚えることが中心になります。</a:t>
            </a:r>
          </a:p>
        </p:txBody>
      </p:sp>
      <p:sp>
        <p:nvSpPr>
          <p:cNvPr id="22" name="Rectangle 2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4" name="TextBox 2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SEC 05</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第5部：市場メカニズム</a:t>
            </a:r>
          </a:p>
        </p:txBody>
      </p:sp>
      <p:sp>
        <p:nvSpPr>
          <p:cNvPr id="5" name="TextBox 4"/>
          <p:cNvSpPr txBox="1"/>
          <p:nvPr/>
        </p:nvSpPr>
        <p:spPr>
          <a:xfrm>
            <a:off x="9326880" y="685800"/>
            <a:ext cx="2194560"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A-21〜A-24 (4論点)</a:t>
            </a:r>
          </a:p>
        </p:txBody>
      </p:sp>
      <p:sp>
        <p:nvSpPr>
          <p:cNvPr id="6" name="Rounded Rectangle 5"/>
          <p:cNvSpPr/>
          <p:nvPr/>
        </p:nvSpPr>
        <p:spPr>
          <a:xfrm>
            <a:off x="502920" y="1051560"/>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A-21</a:t>
            </a:r>
          </a:p>
        </p:txBody>
      </p:sp>
      <p:sp>
        <p:nvSpPr>
          <p:cNvPr id="9" name="TextBox 8"/>
          <p:cNvSpPr txBox="1"/>
          <p:nvPr/>
        </p:nvSpPr>
        <p:spPr>
          <a:xfrm>
            <a:off x="1490472" y="1143000"/>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市場均衡・不均衡</a:t>
            </a:r>
          </a:p>
        </p:txBody>
      </p:sp>
      <p:sp>
        <p:nvSpPr>
          <p:cNvPr id="10" name="TextBox 9"/>
          <p:cNvSpPr txBox="1"/>
          <p:nvPr/>
        </p:nvSpPr>
        <p:spPr>
          <a:xfrm>
            <a:off x="649224" y="1527048"/>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ある商品の市場では、価格が高いほど消費者が買いたい量（需要量）は減り、価格が高いほど生産者が売りたい量（供給量）は増える、という関係にあります。これをグラフに…</a:t>
            </a:r>
          </a:p>
        </p:txBody>
      </p:sp>
      <p:sp>
        <p:nvSpPr>
          <p:cNvPr id="11" name="Rounded Rectangle 10"/>
          <p:cNvSpPr/>
          <p:nvPr/>
        </p:nvSpPr>
        <p:spPr>
          <a:xfrm>
            <a:off x="6204203" y="1051560"/>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4203"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7"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A-22</a:t>
            </a:r>
          </a:p>
        </p:txBody>
      </p:sp>
      <p:sp>
        <p:nvSpPr>
          <p:cNvPr id="14" name="TextBox 13"/>
          <p:cNvSpPr txBox="1"/>
          <p:nvPr/>
        </p:nvSpPr>
        <p:spPr>
          <a:xfrm>
            <a:off x="7191755" y="1143000"/>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弾力性の概念（価格弾力性等）</a:t>
            </a:r>
          </a:p>
        </p:txBody>
      </p:sp>
      <p:sp>
        <p:nvSpPr>
          <p:cNvPr id="15" name="TextBox 14"/>
          <p:cNvSpPr txBox="1"/>
          <p:nvPr/>
        </p:nvSpPr>
        <p:spPr>
          <a:xfrm>
            <a:off x="6350507" y="1527048"/>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需要の価格弾力性とは、価格が変化したときに、需要量がどれだけ敏感に反応するかを示す指標で、次の式で計算されます（符号を無視した絶対値で考えるのが通例です）…</a:t>
            </a:r>
          </a:p>
        </p:txBody>
      </p:sp>
      <p:sp>
        <p:nvSpPr>
          <p:cNvPr id="16" name="Rounded Rectangle 15"/>
          <p:cNvSpPr/>
          <p:nvPr/>
        </p:nvSpPr>
        <p:spPr>
          <a:xfrm>
            <a:off x="502920" y="3168396"/>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9224"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A-23</a:t>
            </a:r>
          </a:p>
        </p:txBody>
      </p:sp>
      <p:sp>
        <p:nvSpPr>
          <p:cNvPr id="19" name="TextBox 18"/>
          <p:cNvSpPr txBox="1"/>
          <p:nvPr/>
        </p:nvSpPr>
        <p:spPr>
          <a:xfrm>
            <a:off x="1490472" y="3259836"/>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経済余剰（消費者余剰・生産者余剰）</a:t>
            </a:r>
          </a:p>
        </p:txBody>
      </p:sp>
      <p:sp>
        <p:nvSpPr>
          <p:cNvPr id="20" name="TextBox 19"/>
          <p:cNvSpPr txBox="1"/>
          <p:nvPr/>
        </p:nvSpPr>
        <p:spPr>
          <a:xfrm>
            <a:off x="649224" y="3643884"/>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市場取引によって、消費者・生産者それぞれがどれだけ「得」をしているかを表す概念が経済余剰です。 消費者余剰：消費者が「支払ってもよい」と思っていた金額（需要曲…</a:t>
            </a:r>
          </a:p>
        </p:txBody>
      </p:sp>
      <p:sp>
        <p:nvSpPr>
          <p:cNvPr id="21" name="Rounded Rectangle 20"/>
          <p:cNvSpPr/>
          <p:nvPr/>
        </p:nvSpPr>
        <p:spPr>
          <a:xfrm>
            <a:off x="6204203" y="3168396"/>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4203"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50507"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A-24</a:t>
            </a:r>
          </a:p>
        </p:txBody>
      </p:sp>
      <p:sp>
        <p:nvSpPr>
          <p:cNvPr id="24" name="TextBox 23"/>
          <p:cNvSpPr txBox="1"/>
          <p:nvPr/>
        </p:nvSpPr>
        <p:spPr>
          <a:xfrm>
            <a:off x="7191755" y="3259836"/>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競争的市場の資源配分機能・市場の失敗</a:t>
            </a:r>
          </a:p>
        </p:txBody>
      </p:sp>
      <p:sp>
        <p:nvSpPr>
          <p:cNvPr id="25" name="TextBox 24"/>
          <p:cNvSpPr txBox="1"/>
          <p:nvPr/>
        </p:nvSpPr>
        <p:spPr>
          <a:xfrm>
            <a:off x="6350507" y="3643884"/>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完全競争市場（多数の売り手・買い手が存在し、誰も価格に影響を与えられず、情報が完全に行き渡っている市場）では、A-23で見たように総余剰が最大化され、資源が最…</a:t>
            </a:r>
          </a:p>
        </p:txBody>
      </p:sp>
      <p:sp>
        <p:nvSpPr>
          <p:cNvPr id="26" name="Rounded Rectangle 25"/>
          <p:cNvSpPr/>
          <p:nvPr/>
        </p:nvSpPr>
        <p:spPr>
          <a:xfrm>
            <a:off x="502920" y="5330952"/>
            <a:ext cx="11183112" cy="978408"/>
          </a:xfrm>
          <a:prstGeom prst="roundRect">
            <a:avLst/>
          </a:prstGeom>
          <a:solidFill>
            <a:srgbClr val="EEF2FF"/>
          </a:solidFill>
          <a:ln w="127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2033"/>
                </a:solidFill>
                <a:latin typeface="WenQuanYi Micro Hei"/>
              </a:rPr>
              <a:t>重要ポイント｜第5部からはミクロ経済学に入ります。個別の商品市場において、価格や数量がどのように決まり、その結果どれだけの「豊かさ（余剰）」が生まれるのか、また市場メカニズムがうまく機能しない場合（市場の失敗）にはどう対処すべきかを学びます。</a:t>
            </a:r>
          </a:p>
        </p:txBody>
      </p:sp>
      <p:sp>
        <p:nvSpPr>
          <p:cNvPr id="27" name="Rectangle 26"/>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9" name="TextBox 28"/>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SEC 06</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第6部：消費と生産の理論</a:t>
            </a:r>
          </a:p>
        </p:txBody>
      </p:sp>
      <p:sp>
        <p:nvSpPr>
          <p:cNvPr id="5" name="TextBox 4"/>
          <p:cNvSpPr txBox="1"/>
          <p:nvPr/>
        </p:nvSpPr>
        <p:spPr>
          <a:xfrm>
            <a:off x="9326880" y="685800"/>
            <a:ext cx="2194560"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A-25〜A-28 (4論点)</a:t>
            </a:r>
          </a:p>
        </p:txBody>
      </p:sp>
      <p:sp>
        <p:nvSpPr>
          <p:cNvPr id="6" name="Rounded Rectangle 5"/>
          <p:cNvSpPr/>
          <p:nvPr/>
        </p:nvSpPr>
        <p:spPr>
          <a:xfrm>
            <a:off x="502920" y="1051560"/>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A-25</a:t>
            </a:r>
          </a:p>
        </p:txBody>
      </p:sp>
      <p:sp>
        <p:nvSpPr>
          <p:cNvPr id="9" name="TextBox 8"/>
          <p:cNvSpPr txBox="1"/>
          <p:nvPr/>
        </p:nvSpPr>
        <p:spPr>
          <a:xfrm>
            <a:off x="1490472" y="1143000"/>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効用理論・予算制約と消費者行動</a:t>
            </a:r>
          </a:p>
        </p:txBody>
      </p:sp>
      <p:sp>
        <p:nvSpPr>
          <p:cNvPr id="10" name="TextBox 9"/>
          <p:cNvSpPr txBox="1"/>
          <p:nvPr/>
        </p:nvSpPr>
        <p:spPr>
          <a:xfrm>
            <a:off x="649224" y="1527048"/>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消費者は、限られた所得（予算）の中で、自分の満足度（効用）が最大になるようにモノやサービスの購入量を決めている、と考えるのが消費者理論の出発点です。 2つの財…</a:t>
            </a:r>
          </a:p>
        </p:txBody>
      </p:sp>
      <p:sp>
        <p:nvSpPr>
          <p:cNvPr id="11" name="Rounded Rectangle 10"/>
          <p:cNvSpPr/>
          <p:nvPr/>
        </p:nvSpPr>
        <p:spPr>
          <a:xfrm>
            <a:off x="6204203" y="1051560"/>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4203"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7"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A-26</a:t>
            </a:r>
          </a:p>
        </p:txBody>
      </p:sp>
      <p:sp>
        <p:nvSpPr>
          <p:cNvPr id="14" name="TextBox 13"/>
          <p:cNvSpPr txBox="1"/>
          <p:nvPr/>
        </p:nvSpPr>
        <p:spPr>
          <a:xfrm>
            <a:off x="7191755" y="1143000"/>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需要曲線の導出</a:t>
            </a:r>
          </a:p>
        </p:txBody>
      </p:sp>
      <p:sp>
        <p:nvSpPr>
          <p:cNvPr id="15" name="TextBox 14"/>
          <p:cNvSpPr txBox="1"/>
          <p:nvPr/>
        </p:nvSpPr>
        <p:spPr>
          <a:xfrm>
            <a:off x="6350507" y="1527048"/>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A-25の消費者均衡の考え方をもとに、ある財の価格を変化させたときに消費者の最適な購入量がどう変化するかを追跡すると、需要曲線（価格と需要量の関係を示す曲線）…</a:t>
            </a:r>
          </a:p>
        </p:txBody>
      </p:sp>
      <p:sp>
        <p:nvSpPr>
          <p:cNvPr id="16" name="Rounded Rectangle 15"/>
          <p:cNvSpPr/>
          <p:nvPr/>
        </p:nvSpPr>
        <p:spPr>
          <a:xfrm>
            <a:off x="502920" y="3168396"/>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9224"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A-27</a:t>
            </a:r>
          </a:p>
        </p:txBody>
      </p:sp>
      <p:sp>
        <p:nvSpPr>
          <p:cNvPr id="19" name="TextBox 18"/>
          <p:cNvSpPr txBox="1"/>
          <p:nvPr/>
        </p:nvSpPr>
        <p:spPr>
          <a:xfrm>
            <a:off x="1490472" y="3259836"/>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生産関数・費用関数</a:t>
            </a:r>
          </a:p>
        </p:txBody>
      </p:sp>
      <p:sp>
        <p:nvSpPr>
          <p:cNvPr id="20" name="TextBox 19"/>
          <p:cNvSpPr txBox="1"/>
          <p:nvPr/>
        </p:nvSpPr>
        <p:spPr>
          <a:xfrm>
            <a:off x="649224" y="3643884"/>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企業は、労働（L）や資本（K）といった生産要素を投入して製品を生産します。この投入量と生産量の関係を表したものが生産関数です。 短期（少なくとも1つの生産要素…</a:t>
            </a:r>
          </a:p>
        </p:txBody>
      </p:sp>
      <p:sp>
        <p:nvSpPr>
          <p:cNvPr id="21" name="Rounded Rectangle 20"/>
          <p:cNvSpPr/>
          <p:nvPr/>
        </p:nvSpPr>
        <p:spPr>
          <a:xfrm>
            <a:off x="6204203" y="3168396"/>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4203"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350507"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A-28</a:t>
            </a:r>
          </a:p>
        </p:txBody>
      </p:sp>
      <p:sp>
        <p:nvSpPr>
          <p:cNvPr id="24" name="TextBox 23"/>
          <p:cNvSpPr txBox="1"/>
          <p:nvPr/>
        </p:nvSpPr>
        <p:spPr>
          <a:xfrm>
            <a:off x="7191755" y="3259836"/>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利潤最大化と供給曲線</a:t>
            </a:r>
          </a:p>
        </p:txBody>
      </p:sp>
      <p:sp>
        <p:nvSpPr>
          <p:cNvPr id="25" name="TextBox 24"/>
          <p:cNvSpPr txBox="1"/>
          <p:nvPr/>
        </p:nvSpPr>
        <p:spPr>
          <a:xfrm>
            <a:off x="6350507" y="3643884"/>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企業は、利潤（収入－費用）を最大化するように生産量を決定すると考えられています。利潤を最大化する生産量の条件は、次の式で表されます。 限界収入（MR） = 限…</a:t>
            </a:r>
          </a:p>
        </p:txBody>
      </p:sp>
      <p:sp>
        <p:nvSpPr>
          <p:cNvPr id="26" name="Rounded Rectangle 25"/>
          <p:cNvSpPr/>
          <p:nvPr/>
        </p:nvSpPr>
        <p:spPr>
          <a:xfrm>
            <a:off x="502920" y="5330952"/>
            <a:ext cx="11183112" cy="978408"/>
          </a:xfrm>
          <a:prstGeom prst="roundRect">
            <a:avLst/>
          </a:prstGeom>
          <a:solidFill>
            <a:srgbClr val="EEF2FF"/>
          </a:solidFill>
          <a:ln w="127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2033"/>
                </a:solidFill>
                <a:latin typeface="WenQuanYi Micro Hei"/>
              </a:rPr>
              <a:t>重要ポイント｜第6部は、市場に登場する「消費者」と「企業」それぞれの内部の意思決定メカニズムを扱うミクロ経済学の基礎理論です。グラフ・数式が多く登場しますが、いずれも「何を最大化しようとしているか」という視点で読み解くと理解しやすくなります。</a:t>
            </a:r>
          </a:p>
        </p:txBody>
      </p:sp>
      <p:sp>
        <p:nvSpPr>
          <p:cNvPr id="27" name="Rectangle 26"/>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9" name="TextBox 28"/>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SEC 07</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第7部：組織と戦略の経済学</a:t>
            </a:r>
          </a:p>
        </p:txBody>
      </p:sp>
      <p:sp>
        <p:nvSpPr>
          <p:cNvPr id="5" name="TextBox 4"/>
          <p:cNvSpPr txBox="1"/>
          <p:nvPr/>
        </p:nvSpPr>
        <p:spPr>
          <a:xfrm>
            <a:off x="9326880" y="685800"/>
            <a:ext cx="2194560"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A-29〜A-33 (5論点)</a:t>
            </a:r>
          </a:p>
        </p:txBody>
      </p:sp>
      <p:sp>
        <p:nvSpPr>
          <p:cNvPr id="6" name="Rounded Rectangle 5"/>
          <p:cNvSpPr/>
          <p:nvPr/>
        </p:nvSpPr>
        <p:spPr>
          <a:xfrm>
            <a:off x="502920" y="1051560"/>
            <a:ext cx="3599688"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A-29</a:t>
            </a:r>
          </a:p>
        </p:txBody>
      </p:sp>
      <p:sp>
        <p:nvSpPr>
          <p:cNvPr id="9" name="TextBox 8"/>
          <p:cNvSpPr txBox="1"/>
          <p:nvPr/>
        </p:nvSpPr>
        <p:spPr>
          <a:xfrm>
            <a:off x="1490472" y="1143000"/>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情報の不完全性（情報の非対称性）</a:t>
            </a:r>
          </a:p>
        </p:txBody>
      </p:sp>
      <p:sp>
        <p:nvSpPr>
          <p:cNvPr id="10" name="TextBox 9"/>
          <p:cNvSpPr txBox="1"/>
          <p:nvPr/>
        </p:nvSpPr>
        <p:spPr>
          <a:xfrm>
            <a:off x="649224" y="1527048"/>
            <a:ext cx="3343656"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情報の非対称性とは、取引の当事者の一方が、もう一方よりも多くの（または質の良い）情報を持っている状態のことです。この情報格差は、市場取引に2種類の問題を引き起…</a:t>
            </a:r>
          </a:p>
        </p:txBody>
      </p:sp>
      <p:sp>
        <p:nvSpPr>
          <p:cNvPr id="11" name="Rounded Rectangle 10"/>
          <p:cNvSpPr/>
          <p:nvPr/>
        </p:nvSpPr>
        <p:spPr>
          <a:xfrm>
            <a:off x="4303776" y="1051560"/>
            <a:ext cx="3599688"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03776"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50080"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A-30</a:t>
            </a:r>
          </a:p>
        </p:txBody>
      </p:sp>
      <p:sp>
        <p:nvSpPr>
          <p:cNvPr id="14" name="TextBox 13"/>
          <p:cNvSpPr txBox="1"/>
          <p:nvPr/>
        </p:nvSpPr>
        <p:spPr>
          <a:xfrm>
            <a:off x="5291328" y="1143000"/>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ゲーム理論（ナッシュ均衡、囚人のジレンマ等）</a:t>
            </a:r>
          </a:p>
        </p:txBody>
      </p:sp>
      <p:sp>
        <p:nvSpPr>
          <p:cNvPr id="15" name="TextBox 14"/>
          <p:cNvSpPr txBox="1"/>
          <p:nvPr/>
        </p:nvSpPr>
        <p:spPr>
          <a:xfrm>
            <a:off x="4450080" y="1527048"/>
            <a:ext cx="3343656"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ゲーム理論は、複数のプレイヤー（企業や個人）が、互いの行動を読み合いながら意思決定を行う状況を分析する理論です。中小企業診断士試験では、2つのプレイヤーがそれ…</a:t>
            </a:r>
          </a:p>
        </p:txBody>
      </p:sp>
      <p:sp>
        <p:nvSpPr>
          <p:cNvPr id="16" name="Rounded Rectangle 15"/>
          <p:cNvSpPr/>
          <p:nvPr/>
        </p:nvSpPr>
        <p:spPr>
          <a:xfrm>
            <a:off x="8104632" y="1051560"/>
            <a:ext cx="3599688"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4632"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250936"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A-31</a:t>
            </a:r>
          </a:p>
        </p:txBody>
      </p:sp>
      <p:sp>
        <p:nvSpPr>
          <p:cNvPr id="19" name="TextBox 18"/>
          <p:cNvSpPr txBox="1"/>
          <p:nvPr/>
        </p:nvSpPr>
        <p:spPr>
          <a:xfrm>
            <a:off x="9092184" y="1143000"/>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独占の弊害と寡占化の協調行動</a:t>
            </a:r>
          </a:p>
        </p:txBody>
      </p:sp>
      <p:sp>
        <p:nvSpPr>
          <p:cNvPr id="20" name="TextBox 19"/>
          <p:cNvSpPr txBox="1"/>
          <p:nvPr/>
        </p:nvSpPr>
        <p:spPr>
          <a:xfrm>
            <a:off x="8250936" y="1527048"/>
            <a:ext cx="3343656"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独占市場は、ある財の供給者が1社しか存在しない市場です。独占企業は、完全競争企業とは異なり「価格受容者」ではなく「価格支配者（プライス・メイカー）」として振る…</a:t>
            </a:r>
          </a:p>
        </p:txBody>
      </p:sp>
      <p:sp>
        <p:nvSpPr>
          <p:cNvPr id="21" name="Rounded Rectangle 20"/>
          <p:cNvSpPr/>
          <p:nvPr/>
        </p:nvSpPr>
        <p:spPr>
          <a:xfrm>
            <a:off x="502920" y="3168396"/>
            <a:ext cx="3599688"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9224"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A-32</a:t>
            </a:r>
          </a:p>
        </p:txBody>
      </p:sp>
      <p:sp>
        <p:nvSpPr>
          <p:cNvPr id="24" name="TextBox 23"/>
          <p:cNvSpPr txBox="1"/>
          <p:nvPr/>
        </p:nvSpPr>
        <p:spPr>
          <a:xfrm>
            <a:off x="1490472" y="3259836"/>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製品差別化と独占的競争</a:t>
            </a:r>
          </a:p>
        </p:txBody>
      </p:sp>
      <p:sp>
        <p:nvSpPr>
          <p:cNvPr id="25" name="TextBox 24"/>
          <p:cNvSpPr txBox="1"/>
          <p:nvPr/>
        </p:nvSpPr>
        <p:spPr>
          <a:xfrm>
            <a:off x="649224" y="3643884"/>
            <a:ext cx="3343656"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独占的競争市場は、完全競争と独占の中間的な性質を持つ市場です。次の特徴があります。 市場に多数の企業が存在する（完全競争と同様） 各企業が、ブランドやデザイン…</a:t>
            </a:r>
          </a:p>
        </p:txBody>
      </p:sp>
      <p:sp>
        <p:nvSpPr>
          <p:cNvPr id="26" name="Rounded Rectangle 25"/>
          <p:cNvSpPr/>
          <p:nvPr/>
        </p:nvSpPr>
        <p:spPr>
          <a:xfrm>
            <a:off x="4303776" y="3168396"/>
            <a:ext cx="3599688"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03776"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450080"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A-33</a:t>
            </a:r>
          </a:p>
        </p:txBody>
      </p:sp>
      <p:sp>
        <p:nvSpPr>
          <p:cNvPr id="29" name="TextBox 28"/>
          <p:cNvSpPr txBox="1"/>
          <p:nvPr/>
        </p:nvSpPr>
        <p:spPr>
          <a:xfrm>
            <a:off x="5291328" y="3259836"/>
            <a:ext cx="2520696"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規模の経済性・範囲の経済性</a:t>
            </a:r>
          </a:p>
        </p:txBody>
      </p:sp>
      <p:sp>
        <p:nvSpPr>
          <p:cNvPr id="30" name="TextBox 29"/>
          <p:cNvSpPr txBox="1"/>
          <p:nvPr/>
        </p:nvSpPr>
        <p:spPr>
          <a:xfrm>
            <a:off x="4450080" y="3643884"/>
            <a:ext cx="3343656"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規模の経済性（スケール・メリット）：生産量（事業規模）が大きくなるほど、製品1単位あたりの平均費用が低下していく現象。工場の建設費や大型設備の導入費用など、生…</a:t>
            </a:r>
          </a:p>
        </p:txBody>
      </p:sp>
      <p:sp>
        <p:nvSpPr>
          <p:cNvPr id="31" name="Rounded Rectangle 30"/>
          <p:cNvSpPr/>
          <p:nvPr/>
        </p:nvSpPr>
        <p:spPr>
          <a:xfrm>
            <a:off x="502920" y="5330952"/>
            <a:ext cx="11183112" cy="978408"/>
          </a:xfrm>
          <a:prstGeom prst="roundRect">
            <a:avLst/>
          </a:prstGeom>
          <a:solidFill>
            <a:srgbClr val="EEF2FF"/>
          </a:solidFill>
          <a:ln w="127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2033"/>
                </a:solidFill>
                <a:latin typeface="WenQuanYi Micro Hei"/>
              </a:rPr>
              <a:t>重要ポイント｜第7部では、完全競争市場という理想的な状況から離れ、現実の市場でよく見られる「情報の格差がある」「少数の企業しか存在しない」といった状況を分析するミクロ経済学の応用分野を学びます。企業経営理論（C科目）とも重なりが大きい分野です。</a:t>
            </a:r>
          </a:p>
        </p:txBody>
      </p:sp>
      <p:sp>
        <p:nvSpPr>
          <p:cNvPr id="32" name="Rectangle 3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34" name="TextBox 3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38912" y="256032"/>
            <a:ext cx="1024128" cy="365760"/>
          </a:xfrm>
          <a:prstGeom prst="roundRect">
            <a:avLst/>
          </a:prstGeom>
          <a:solidFill>
            <a:srgbClr val="4F46E5"/>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200" b="1">
                <a:solidFill>
                  <a:srgbClr val="FFFFFF"/>
                </a:solidFill>
                <a:latin typeface="WenQuanYi Micro Hei"/>
              </a:rPr>
              <a:t>SEC 08</a:t>
            </a:r>
          </a:p>
        </p:txBody>
      </p:sp>
      <p:sp>
        <p:nvSpPr>
          <p:cNvPr id="4" name="TextBox 3"/>
          <p:cNvSpPr txBox="1"/>
          <p:nvPr/>
        </p:nvSpPr>
        <p:spPr>
          <a:xfrm>
            <a:off x="1600200" y="228600"/>
            <a:ext cx="8961120" cy="438912"/>
          </a:xfrm>
          <a:prstGeom prst="rect">
            <a:avLst/>
          </a:prstGeom>
          <a:noFill/>
        </p:spPr>
        <p:txBody>
          <a:bodyPr wrap="square" tIns="91440" bIns="91440" anchor="ctr">
            <a:spAutoFit/>
          </a:bodyPr>
          <a:lstStyle/>
          <a:p>
            <a:pPr algn="l">
              <a:spcAft>
                <a:spcPts val="0"/>
              </a:spcAft>
            </a:pPr>
            <a:r>
              <a:rPr sz="2200" b="1">
                <a:solidFill>
                  <a:srgbClr val="172033"/>
                </a:solidFill>
                <a:latin typeface="WenQuanYi Micro Hei"/>
              </a:rPr>
              <a:t>第8部：所得分配</a:t>
            </a:r>
          </a:p>
        </p:txBody>
      </p:sp>
      <p:sp>
        <p:nvSpPr>
          <p:cNvPr id="5" name="TextBox 4"/>
          <p:cNvSpPr txBox="1"/>
          <p:nvPr/>
        </p:nvSpPr>
        <p:spPr>
          <a:xfrm>
            <a:off x="9326880" y="685800"/>
            <a:ext cx="2194560" cy="201168"/>
          </a:xfrm>
          <a:prstGeom prst="rect">
            <a:avLst/>
          </a:prstGeom>
          <a:noFill/>
        </p:spPr>
        <p:txBody>
          <a:bodyPr wrap="square" tIns="91440" bIns="91440" anchor="ctr">
            <a:spAutoFit/>
          </a:bodyPr>
          <a:lstStyle/>
          <a:p>
            <a:pPr algn="r">
              <a:spcAft>
                <a:spcPts val="0"/>
              </a:spcAft>
            </a:pPr>
            <a:r>
              <a:rPr sz="950" b="1">
                <a:solidFill>
                  <a:srgbClr val="4F46E5"/>
                </a:solidFill>
                <a:latin typeface="WenQuanYi Micro Hei"/>
              </a:rPr>
              <a:t>A-34〜A-36 (3論点)</a:t>
            </a:r>
          </a:p>
        </p:txBody>
      </p:sp>
      <p:sp>
        <p:nvSpPr>
          <p:cNvPr id="6" name="Rounded Rectangle 5"/>
          <p:cNvSpPr/>
          <p:nvPr/>
        </p:nvSpPr>
        <p:spPr>
          <a:xfrm>
            <a:off x="502920" y="1051560"/>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9224"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A-34</a:t>
            </a:r>
          </a:p>
        </p:txBody>
      </p:sp>
      <p:sp>
        <p:nvSpPr>
          <p:cNvPr id="9" name="TextBox 8"/>
          <p:cNvSpPr txBox="1"/>
          <p:nvPr/>
        </p:nvSpPr>
        <p:spPr>
          <a:xfrm>
            <a:off x="1490472" y="1143000"/>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公正性・公平性の概念</a:t>
            </a:r>
          </a:p>
        </p:txBody>
      </p:sp>
      <p:sp>
        <p:nvSpPr>
          <p:cNvPr id="10" name="TextBox 9"/>
          <p:cNvSpPr txBox="1"/>
          <p:nvPr/>
        </p:nvSpPr>
        <p:spPr>
          <a:xfrm>
            <a:off x="649224" y="1527048"/>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所得分配の「公平性」を測る代表的な道具がローレンツ曲線とジニ係数です。 ローレンツ曲線：横軸に「所得の低い人から並べた世帯の累積比率」、縦軸に「その世帯までの…</a:t>
            </a:r>
          </a:p>
        </p:txBody>
      </p:sp>
      <p:sp>
        <p:nvSpPr>
          <p:cNvPr id="11" name="Rounded Rectangle 10"/>
          <p:cNvSpPr/>
          <p:nvPr/>
        </p:nvSpPr>
        <p:spPr>
          <a:xfrm>
            <a:off x="6204203" y="1051560"/>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4203" y="1051560"/>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0507" y="1161288"/>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A-35</a:t>
            </a:r>
          </a:p>
        </p:txBody>
      </p:sp>
      <p:sp>
        <p:nvSpPr>
          <p:cNvPr id="14" name="TextBox 13"/>
          <p:cNvSpPr txBox="1"/>
          <p:nvPr/>
        </p:nvSpPr>
        <p:spPr>
          <a:xfrm>
            <a:off x="7191755" y="1143000"/>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生産要素市場と生産要素報酬</a:t>
            </a:r>
          </a:p>
        </p:txBody>
      </p:sp>
      <p:sp>
        <p:nvSpPr>
          <p:cNvPr id="15" name="TextBox 14"/>
          <p:cNvSpPr txBox="1"/>
          <p:nvPr/>
        </p:nvSpPr>
        <p:spPr>
          <a:xfrm>
            <a:off x="6350507" y="1527048"/>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これまでの部で見てきた「モノやサービスが取引される市場」に対し、労働・資本といった生産要素（生産に使われる資源）そのものが取引される市場もあります。企業は、生…</a:t>
            </a:r>
          </a:p>
        </p:txBody>
      </p:sp>
      <p:sp>
        <p:nvSpPr>
          <p:cNvPr id="16" name="Rounded Rectangle 15"/>
          <p:cNvSpPr/>
          <p:nvPr/>
        </p:nvSpPr>
        <p:spPr>
          <a:xfrm>
            <a:off x="502920" y="3168396"/>
            <a:ext cx="5500116" cy="1952244"/>
          </a:xfrm>
          <a:prstGeom prst="roundRect">
            <a:avLst/>
          </a:prstGeom>
          <a:solidFill>
            <a:srgbClr val="FFFFFF"/>
          </a:solidFill>
          <a:ln w="15240">
            <a:solidFill>
              <a:srgbClr val="B0AC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02920" y="3168396"/>
            <a:ext cx="73152" cy="1952244"/>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9224" y="3278124"/>
            <a:ext cx="777240" cy="292608"/>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spcAft>
                <a:spcPts val="0"/>
              </a:spcAft>
            </a:pPr>
            <a:r>
              <a:rPr sz="1100" b="1">
                <a:solidFill>
                  <a:srgbClr val="FFFFFF"/>
                </a:solidFill>
                <a:latin typeface="WenQuanYi Micro Hei"/>
              </a:rPr>
              <a:t>A-36</a:t>
            </a:r>
          </a:p>
        </p:txBody>
      </p:sp>
      <p:sp>
        <p:nvSpPr>
          <p:cNvPr id="19" name="TextBox 18"/>
          <p:cNvSpPr txBox="1"/>
          <p:nvPr/>
        </p:nvSpPr>
        <p:spPr>
          <a:xfrm>
            <a:off x="1490472" y="3259836"/>
            <a:ext cx="4421124" cy="329184"/>
          </a:xfrm>
          <a:prstGeom prst="rect">
            <a:avLst/>
          </a:prstGeom>
          <a:noFill/>
        </p:spPr>
        <p:txBody>
          <a:bodyPr wrap="square" tIns="91440" bIns="91440" anchor="t">
            <a:spAutoFit/>
          </a:bodyPr>
          <a:lstStyle/>
          <a:p>
            <a:pPr algn="l">
              <a:spcAft>
                <a:spcPts val="0"/>
              </a:spcAft>
            </a:pPr>
            <a:r>
              <a:rPr sz="1350" b="1">
                <a:solidFill>
                  <a:srgbClr val="172033"/>
                </a:solidFill>
                <a:latin typeface="WenQuanYi Micro Hei"/>
              </a:rPr>
              <a:t>所得再分配と税制・補助金</a:t>
            </a:r>
          </a:p>
        </p:txBody>
      </p:sp>
      <p:sp>
        <p:nvSpPr>
          <p:cNvPr id="20" name="TextBox 19"/>
          <p:cNvSpPr txBox="1"/>
          <p:nvPr/>
        </p:nvSpPr>
        <p:spPr>
          <a:xfrm>
            <a:off x="649224" y="3643884"/>
            <a:ext cx="5244083" cy="1421892"/>
          </a:xfrm>
          <a:prstGeom prst="rect">
            <a:avLst/>
          </a:prstGeom>
          <a:noFill/>
        </p:spPr>
        <p:txBody>
          <a:bodyPr wrap="square" tIns="91440" bIns="91440" anchor="t">
            <a:spAutoFit/>
          </a:bodyPr>
          <a:lstStyle/>
          <a:p>
            <a:pPr algn="l">
              <a:spcAft>
                <a:spcPts val="0"/>
              </a:spcAft>
            </a:pPr>
            <a:r>
              <a:rPr sz="1150" b="0">
                <a:solidFill>
                  <a:srgbClr val="667085"/>
                </a:solidFill>
                <a:latin typeface="WenQuanYi Micro Hei"/>
              </a:rPr>
              <a:t>市場メカニズムに任せた結果として生じる所得格差（A-34）を是正するために、政府は税制や社会保障制度を通じて所得の再分配を行います。代表的な手段には次のものが…</a:t>
            </a:r>
          </a:p>
        </p:txBody>
      </p:sp>
      <p:sp>
        <p:nvSpPr>
          <p:cNvPr id="21" name="Rounded Rectangle 20"/>
          <p:cNvSpPr/>
          <p:nvPr/>
        </p:nvSpPr>
        <p:spPr>
          <a:xfrm>
            <a:off x="502920" y="5330952"/>
            <a:ext cx="11183112" cy="978408"/>
          </a:xfrm>
          <a:prstGeom prst="roundRect">
            <a:avLst/>
          </a:prstGeom>
          <a:solidFill>
            <a:srgbClr val="EEF2FF"/>
          </a:solidFill>
          <a:ln w="12700">
            <a:solidFill>
              <a:srgbClr val="9E99F1"/>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l">
              <a:spcAft>
                <a:spcPts val="0"/>
              </a:spcAft>
            </a:pPr>
            <a:r>
              <a:rPr sz="1250" b="0">
                <a:solidFill>
                  <a:srgbClr val="172033"/>
                </a:solidFill>
                <a:latin typeface="WenQuanYi Micro Hei"/>
              </a:rPr>
              <a:t>重要ポイント｜第8部では、経済全体で生み出された所得が、社会の中でどのように分配され、政府がその分配のあり方にどう関与するかを学びます。</a:t>
            </a:r>
          </a:p>
        </p:txBody>
      </p:sp>
      <p:sp>
        <p:nvSpPr>
          <p:cNvPr id="22" name="Rectangle 21"/>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4" name="TextBox 23"/>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84048"/>
            <a:ext cx="10972800" cy="502920"/>
          </a:xfrm>
          <a:prstGeom prst="rect">
            <a:avLst/>
          </a:prstGeom>
          <a:noFill/>
        </p:spPr>
        <p:txBody>
          <a:bodyPr wrap="square" tIns="91440" bIns="91440" anchor="ctr">
            <a:spAutoFit/>
          </a:bodyPr>
          <a:lstStyle/>
          <a:p>
            <a:pPr algn="l">
              <a:spcAft>
                <a:spcPts val="0"/>
              </a:spcAft>
            </a:pPr>
            <a:r>
              <a:rPr sz="2700" b="1">
                <a:solidFill>
                  <a:srgbClr val="172033"/>
                </a:solidFill>
                <a:latin typeface="WenQuanYi Micro Hei"/>
              </a:rPr>
              <a:t>経済学・経済政策｜学習のまとめ</a:t>
            </a:r>
          </a:p>
        </p:txBody>
      </p:sp>
      <p:sp>
        <p:nvSpPr>
          <p:cNvPr id="4" name="Rounded Rectangle 3"/>
          <p:cNvSpPr/>
          <p:nvPr/>
        </p:nvSpPr>
        <p:spPr>
          <a:xfrm>
            <a:off x="566928" y="1444752"/>
            <a:ext cx="2356866" cy="3063240"/>
          </a:xfrm>
          <a:prstGeom prst="roundRect">
            <a:avLst/>
          </a:prstGeom>
          <a:solidFill>
            <a:srgbClr val="EEF2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489329"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1</a:t>
            </a:r>
          </a:p>
        </p:txBody>
      </p:sp>
      <p:sp>
        <p:nvSpPr>
          <p:cNvPr id="6" name="TextBox 5"/>
          <p:cNvSpPr txBox="1"/>
          <p:nvPr/>
        </p:nvSpPr>
        <p:spPr>
          <a:xfrm>
            <a:off x="685800" y="1810512"/>
            <a:ext cx="2119122"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理解</a:t>
            </a:r>
          </a:p>
        </p:txBody>
      </p:sp>
      <p:sp>
        <p:nvSpPr>
          <p:cNvPr id="7" name="TextBox 6"/>
          <p:cNvSpPr txBox="1"/>
          <p:nvPr/>
        </p:nvSpPr>
        <p:spPr>
          <a:xfrm>
            <a:off x="713232" y="2542032"/>
            <a:ext cx="2064258"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図で概念同士の関係とグラフの動く向きを捉える</a:t>
            </a:r>
          </a:p>
        </p:txBody>
      </p:sp>
      <p:sp>
        <p:nvSpPr>
          <p:cNvPr id="8" name="Chevron 7"/>
          <p:cNvSpPr/>
          <p:nvPr/>
        </p:nvSpPr>
        <p:spPr>
          <a:xfrm>
            <a:off x="3033522" y="2596896"/>
            <a:ext cx="310896" cy="640080"/>
          </a:xfrm>
          <a:prstGeom prst="chevron">
            <a:avLst/>
          </a:prstGeom>
          <a:solidFill>
            <a:srgbClr val="807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54146" y="1444752"/>
            <a:ext cx="2356866" cy="3063240"/>
          </a:xfrm>
          <a:prstGeom prst="roundRect">
            <a:avLst/>
          </a:prstGeom>
          <a:solidFill>
            <a:srgbClr val="FFFF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4376547"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2</a:t>
            </a:r>
          </a:p>
        </p:txBody>
      </p:sp>
      <p:sp>
        <p:nvSpPr>
          <p:cNvPr id="11" name="TextBox 10"/>
          <p:cNvSpPr txBox="1"/>
          <p:nvPr/>
        </p:nvSpPr>
        <p:spPr>
          <a:xfrm>
            <a:off x="3573018" y="1810512"/>
            <a:ext cx="2119122"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確認</a:t>
            </a:r>
          </a:p>
        </p:txBody>
      </p:sp>
      <p:sp>
        <p:nvSpPr>
          <p:cNvPr id="12" name="TextBox 11"/>
          <p:cNvSpPr txBox="1"/>
          <p:nvPr/>
        </p:nvSpPr>
        <p:spPr>
          <a:xfrm>
            <a:off x="3600450" y="2542032"/>
            <a:ext cx="2064258"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教科書本文で定義と適用条件を確認する</a:t>
            </a:r>
          </a:p>
        </p:txBody>
      </p:sp>
      <p:sp>
        <p:nvSpPr>
          <p:cNvPr id="13" name="Chevron 12"/>
          <p:cNvSpPr/>
          <p:nvPr/>
        </p:nvSpPr>
        <p:spPr>
          <a:xfrm>
            <a:off x="5920740" y="2596896"/>
            <a:ext cx="310896" cy="640080"/>
          </a:xfrm>
          <a:prstGeom prst="chevron">
            <a:avLst/>
          </a:prstGeom>
          <a:solidFill>
            <a:srgbClr val="807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1364" y="1444752"/>
            <a:ext cx="2356866" cy="3063240"/>
          </a:xfrm>
          <a:prstGeom prst="roundRect">
            <a:avLst/>
          </a:prstGeom>
          <a:solidFill>
            <a:srgbClr val="EEF2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263764"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3</a:t>
            </a:r>
          </a:p>
        </p:txBody>
      </p:sp>
      <p:sp>
        <p:nvSpPr>
          <p:cNvPr id="16" name="TextBox 15"/>
          <p:cNvSpPr txBox="1"/>
          <p:nvPr/>
        </p:nvSpPr>
        <p:spPr>
          <a:xfrm>
            <a:off x="6460236" y="1810512"/>
            <a:ext cx="2119122"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演習</a:t>
            </a:r>
          </a:p>
        </p:txBody>
      </p:sp>
      <p:sp>
        <p:nvSpPr>
          <p:cNvPr id="17" name="TextBox 16"/>
          <p:cNvSpPr txBox="1"/>
          <p:nvPr/>
        </p:nvSpPr>
        <p:spPr>
          <a:xfrm>
            <a:off x="6487668" y="2542032"/>
            <a:ext cx="2064258"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problem_setsの過去問演習で知識を使える形にする</a:t>
            </a:r>
          </a:p>
        </p:txBody>
      </p:sp>
      <p:sp>
        <p:nvSpPr>
          <p:cNvPr id="18" name="Chevron 17"/>
          <p:cNvSpPr/>
          <p:nvPr/>
        </p:nvSpPr>
        <p:spPr>
          <a:xfrm>
            <a:off x="8807957" y="2596896"/>
            <a:ext cx="310896" cy="640080"/>
          </a:xfrm>
          <a:prstGeom prst="chevron">
            <a:avLst/>
          </a:prstGeom>
          <a:solidFill>
            <a:srgbClr val="807A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228582" y="1444752"/>
            <a:ext cx="2356866" cy="3063240"/>
          </a:xfrm>
          <a:prstGeom prst="roundRect">
            <a:avLst/>
          </a:prstGeom>
          <a:solidFill>
            <a:srgbClr val="FFFFFF"/>
          </a:solidFill>
          <a:ln w="1778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150983" y="1225296"/>
            <a:ext cx="512064" cy="512064"/>
          </a:xfrm>
          <a:prstGeom prst="ellipse">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bIns="91440"/>
          <a:lstStyle/>
          <a:p>
            <a:pPr algn="ctr">
              <a:spcAft>
                <a:spcPts val="0"/>
              </a:spcAft>
            </a:pPr>
            <a:r>
              <a:rPr sz="1300" b="1">
                <a:solidFill>
                  <a:srgbClr val="FFFFFF"/>
                </a:solidFill>
                <a:latin typeface="WenQuanYi Micro Hei"/>
              </a:rPr>
              <a:t>4</a:t>
            </a:r>
          </a:p>
        </p:txBody>
      </p:sp>
      <p:sp>
        <p:nvSpPr>
          <p:cNvPr id="21" name="TextBox 20"/>
          <p:cNvSpPr txBox="1"/>
          <p:nvPr/>
        </p:nvSpPr>
        <p:spPr>
          <a:xfrm>
            <a:off x="9347454" y="1810512"/>
            <a:ext cx="2119122" cy="676656"/>
          </a:xfrm>
          <a:prstGeom prst="rect">
            <a:avLst/>
          </a:prstGeom>
          <a:noFill/>
        </p:spPr>
        <p:txBody>
          <a:bodyPr wrap="square" tIns="91440" bIns="91440" anchor="ctr">
            <a:spAutoFit/>
          </a:bodyPr>
          <a:lstStyle/>
          <a:p>
            <a:pPr algn="ctr">
              <a:spcAft>
                <a:spcPts val="0"/>
              </a:spcAft>
            </a:pPr>
            <a:r>
              <a:rPr sz="1350" b="1">
                <a:solidFill>
                  <a:srgbClr val="4F46E5"/>
                </a:solidFill>
                <a:latin typeface="WenQuanYi Micro Hei"/>
              </a:rPr>
              <a:t>復習</a:t>
            </a:r>
          </a:p>
        </p:txBody>
      </p:sp>
      <p:sp>
        <p:nvSpPr>
          <p:cNvPr id="22" name="TextBox 21"/>
          <p:cNvSpPr txBox="1"/>
          <p:nvPr/>
        </p:nvSpPr>
        <p:spPr>
          <a:xfrm>
            <a:off x="9374886" y="2542032"/>
            <a:ext cx="2064258" cy="1554480"/>
          </a:xfrm>
          <a:prstGeom prst="rect">
            <a:avLst/>
          </a:prstGeom>
          <a:noFill/>
        </p:spPr>
        <p:txBody>
          <a:bodyPr wrap="square" tIns="91440" bIns="91440" anchor="t">
            <a:spAutoFit/>
          </a:bodyPr>
          <a:lstStyle/>
          <a:p>
            <a:pPr algn="ctr">
              <a:spcAft>
                <a:spcPts val="0"/>
              </a:spcAft>
            </a:pPr>
            <a:r>
              <a:rPr sz="1150" b="0">
                <a:solidFill>
                  <a:srgbClr val="172033"/>
                </a:solidFill>
                <a:latin typeface="WenQuanYi Micro Hei"/>
              </a:rPr>
              <a:t>ひっかけ注意ポイントから弱点を再確認する</a:t>
            </a:r>
          </a:p>
        </p:txBody>
      </p:sp>
      <p:sp>
        <p:nvSpPr>
          <p:cNvPr id="23" name="Rounded Rectangle 22"/>
          <p:cNvSpPr/>
          <p:nvPr/>
        </p:nvSpPr>
        <p:spPr>
          <a:xfrm>
            <a:off x="777240" y="5074920"/>
            <a:ext cx="10652760" cy="969264"/>
          </a:xfrm>
          <a:prstGeom prst="roundRect">
            <a:avLst/>
          </a:prstGeom>
          <a:solidFill>
            <a:srgbClr val="EEF2FF"/>
          </a:solidFill>
          <a:ln w="12700">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wrap="square" lIns="118872" rIns="118872" tIns="118872" bIns="118872"/>
          <a:lstStyle/>
          <a:p>
            <a:pPr algn="ctr">
              <a:spcAft>
                <a:spcPts val="0"/>
              </a:spcAft>
            </a:pPr>
            <a:r>
              <a:rPr sz="1450" b="1">
                <a:solidFill>
                  <a:srgbClr val="4F46E5"/>
                </a:solidFill>
                <a:latin typeface="WenQuanYi Micro Hei"/>
              </a:rPr>
              <a:t>次の一歩｜problem_sets/1st_stage/ の論点表と exercises/ の演習で、36論点を定着させる</a:t>
            </a:r>
          </a:p>
        </p:txBody>
      </p:sp>
      <p:sp>
        <p:nvSpPr>
          <p:cNvPr id="24" name="Rectangle 23"/>
          <p:cNvSpPr/>
          <p:nvPr/>
        </p:nvSpPr>
        <p:spPr>
          <a:xfrm>
            <a:off x="411480" y="6537960"/>
            <a:ext cx="11384280" cy="9144"/>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 y="6565392"/>
            <a:ext cx="9875520" cy="182880"/>
          </a:xfrm>
          <a:prstGeom prst="rect">
            <a:avLst/>
          </a:prstGeom>
          <a:noFill/>
        </p:spPr>
        <p:txBody>
          <a:bodyPr wrap="square" tIns="91440" bIns="91440" anchor="ctr">
            <a:spAutoFit/>
          </a:bodyPr>
          <a:lstStyle/>
          <a:p>
            <a:pPr algn="l">
              <a:spcAft>
                <a:spcPts val="0"/>
              </a:spcAft>
            </a:pPr>
            <a:r>
              <a:rPr sz="850" b="0">
                <a:solidFill>
                  <a:srgbClr val="667085"/>
                </a:solidFill>
                <a:latin typeface="WenQuanYi Micro Hei"/>
              </a:rPr>
              <a:t>出典: docs/textbook/A_economics_textbook.md</a:t>
            </a:r>
          </a:p>
        </p:txBody>
      </p:sp>
      <p:sp>
        <p:nvSpPr>
          <p:cNvPr id="26" name="TextBox 25"/>
          <p:cNvSpPr txBox="1"/>
          <p:nvPr/>
        </p:nvSpPr>
        <p:spPr>
          <a:xfrm>
            <a:off x="10744200" y="6547104"/>
            <a:ext cx="822960" cy="201168"/>
          </a:xfrm>
          <a:prstGeom prst="rect">
            <a:avLst/>
          </a:prstGeom>
          <a:noFill/>
        </p:spPr>
        <p:txBody>
          <a:bodyPr wrap="square" tIns="91440" bIns="91440" anchor="ctr">
            <a:spAutoFit/>
          </a:bodyPr>
          <a:lstStyle/>
          <a:p>
            <a:pPr algn="r">
              <a:spcAft>
                <a:spcPts val="0"/>
              </a:spcAft>
            </a:pPr>
            <a:r>
              <a:rPr sz="900" b="1">
                <a:solidFill>
                  <a:srgbClr val="4F46E5"/>
                </a:solidFill>
                <a:latin typeface="WenQuanYi Micro Hei"/>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経済学・経済政策 図解スライド</dc:title>
  <dc:subject>中小企業診断士 第1次試験</dc:subject>
  <dc:creator>SMEC Project</dc:creator>
  <cp:keywords>中小企業診断士, 教科書, 図解, スライド</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