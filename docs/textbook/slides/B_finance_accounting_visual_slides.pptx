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09560" y="685800"/>
            <a:ext cx="3840480" cy="3840480"/>
          </a:xfrm>
          <a:prstGeom prst="ellipse">
            <a:avLst/>
          </a:prstGeom>
          <a:solidFill>
            <a:srgbClr val="ECFDF5"/>
          </a:solidFill>
          <a:ln w="25400">
            <a:solidFill>
              <a:srgbClr val="87BAB6"/>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5400" b="1">
                <a:solidFill>
                  <a:srgbClr val="0F766E"/>
                </a:solidFill>
                <a:latin typeface="WenQuanYi Micro Hei"/>
              </a:rPr>
              <a:t>B</a:t>
            </a:r>
          </a:p>
        </p:txBody>
      </p:sp>
      <p:sp>
        <p:nvSpPr>
          <p:cNvPr id="4" name="TextBox 3"/>
          <p:cNvSpPr txBox="1"/>
          <p:nvPr/>
        </p:nvSpPr>
        <p:spPr>
          <a:xfrm>
            <a:off x="685800" y="1280160"/>
            <a:ext cx="7086600" cy="502920"/>
          </a:xfrm>
          <a:prstGeom prst="rect">
            <a:avLst/>
          </a:prstGeom>
          <a:noFill/>
        </p:spPr>
        <p:txBody>
          <a:bodyPr wrap="square" tIns="91440" bIns="91440" anchor="ctr">
            <a:spAutoFit/>
          </a:bodyPr>
          <a:lstStyle/>
          <a:p>
            <a:pPr algn="l">
              <a:spcAft>
                <a:spcPts val="0"/>
              </a:spcAft>
            </a:pPr>
            <a:r>
              <a:rPr sz="1700" b="1">
                <a:solidFill>
                  <a:srgbClr val="0F766E"/>
                </a:solidFill>
                <a:latin typeface="WenQuanYi Micro Hei"/>
              </a:rPr>
              <a:t>中小企業診断士 第1次試験</a:t>
            </a:r>
          </a:p>
        </p:txBody>
      </p:sp>
      <p:sp>
        <p:nvSpPr>
          <p:cNvPr id="5" name="TextBox 4"/>
          <p:cNvSpPr txBox="1"/>
          <p:nvPr/>
        </p:nvSpPr>
        <p:spPr>
          <a:xfrm>
            <a:off x="658368" y="1874519"/>
            <a:ext cx="7406640" cy="1234440"/>
          </a:xfrm>
          <a:prstGeom prst="rect">
            <a:avLst/>
          </a:prstGeom>
          <a:noFill/>
        </p:spPr>
        <p:txBody>
          <a:bodyPr wrap="square" tIns="91440" bIns="91440" anchor="t">
            <a:spAutoFit/>
          </a:bodyPr>
          <a:lstStyle/>
          <a:p>
            <a:pPr algn="l">
              <a:spcAft>
                <a:spcPts val="0"/>
              </a:spcAft>
            </a:pPr>
            <a:r>
              <a:rPr sz="3600" b="1">
                <a:solidFill>
                  <a:srgbClr val="172033"/>
                </a:solidFill>
                <a:latin typeface="WenQuanYi Micro Hei"/>
              </a:rPr>
              <a:t>財務・会計</a:t>
            </a:r>
          </a:p>
        </p:txBody>
      </p:sp>
      <p:sp>
        <p:nvSpPr>
          <p:cNvPr id="6" name="TextBox 5"/>
          <p:cNvSpPr txBox="1"/>
          <p:nvPr/>
        </p:nvSpPr>
        <p:spPr>
          <a:xfrm>
            <a:off x="685800" y="3337560"/>
            <a:ext cx="6766560" cy="640080"/>
          </a:xfrm>
          <a:prstGeom prst="rect">
            <a:avLst/>
          </a:prstGeom>
          <a:noFill/>
        </p:spPr>
        <p:txBody>
          <a:bodyPr wrap="square" tIns="91440" bIns="91440" anchor="ctr">
            <a:spAutoFit/>
          </a:bodyPr>
          <a:lstStyle/>
          <a:p>
            <a:pPr algn="l">
              <a:spcAft>
                <a:spcPts val="0"/>
              </a:spcAft>
            </a:pPr>
            <a:r>
              <a:rPr sz="2000" b="0">
                <a:solidFill>
                  <a:srgbClr val="667085"/>
                </a:solidFill>
                <a:latin typeface="WenQuanYi Micro Hei"/>
              </a:rPr>
              <a:t>図解スライド｜全論点を「構造・比較・流れ」で理解する</a:t>
            </a:r>
          </a:p>
        </p:txBody>
      </p:sp>
      <p:sp>
        <p:nvSpPr>
          <p:cNvPr id="7" name="Rounded Rectangle 6"/>
          <p:cNvSpPr/>
          <p:nvPr/>
        </p:nvSpPr>
        <p:spPr>
          <a:xfrm>
            <a:off x="685800" y="4617720"/>
            <a:ext cx="3246120" cy="65836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FFFFFF"/>
                </a:solidFill>
                <a:latin typeface="WenQuanYi Micro Hei"/>
              </a:rPr>
              <a:t>34 論点</a:t>
            </a:r>
          </a:p>
        </p:txBody>
      </p:sp>
      <p:sp>
        <p:nvSpPr>
          <p:cNvPr id="8" name="Rounded Rectangle 7"/>
          <p:cNvSpPr/>
          <p:nvPr/>
        </p:nvSpPr>
        <p:spPr>
          <a:xfrm>
            <a:off x="4096512" y="4617720"/>
            <a:ext cx="3246120" cy="658368"/>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0F766E"/>
                </a:solidFill>
                <a:latin typeface="WenQuanYi Micro Hei"/>
              </a:rPr>
              <a:t>9 セクション</a:t>
            </a:r>
          </a:p>
        </p:txBody>
      </p:sp>
      <p:sp>
        <p:nvSpPr>
          <p:cNvPr id="9" name="TextBox 8"/>
          <p:cNvSpPr txBox="1"/>
          <p:nvPr/>
        </p:nvSpPr>
        <p:spPr>
          <a:xfrm>
            <a:off x="685800" y="5879592"/>
            <a:ext cx="10881360" cy="256032"/>
          </a:xfrm>
          <a:prstGeom prst="rect">
            <a:avLst/>
          </a:prstGeom>
          <a:noFill/>
        </p:spPr>
        <p:txBody>
          <a:bodyPr wrap="square" tIns="91440" bIns="91440" anchor="ctr">
            <a:spAutoFit/>
          </a:bodyPr>
          <a:lstStyle/>
          <a:p>
            <a:pPr algn="l">
              <a:spcAft>
                <a:spcPts val="0"/>
              </a:spcAft>
            </a:pPr>
            <a:r>
              <a:rPr sz="1100" b="0">
                <a:solidFill>
                  <a:srgbClr val="667085"/>
                </a:solidFill>
                <a:latin typeface="WenQuanYi Micro Hei"/>
              </a:rPr>
              <a:t>SMEC 教科書シリーズ｜教科書本文を基に自動生成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800" b="1">
                <a:solidFill>
                  <a:srgbClr val="172033"/>
                </a:solidFill>
                <a:latin typeface="WenQuanYi Micro Hei"/>
              </a:rPr>
              <a:t>このスライドの使い方</a:t>
            </a:r>
          </a:p>
        </p:txBody>
      </p:sp>
      <p:sp>
        <p:nvSpPr>
          <p:cNvPr id="4" name="Oval 3"/>
          <p:cNvSpPr/>
          <p:nvPr/>
        </p:nvSpPr>
        <p:spPr>
          <a:xfrm>
            <a:off x="1499616" y="1261872"/>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1</a:t>
            </a:r>
          </a:p>
        </p:txBody>
      </p:sp>
      <p:sp>
        <p:nvSpPr>
          <p:cNvPr id="5" name="Rounded Rectangle 4"/>
          <p:cNvSpPr/>
          <p:nvPr/>
        </p:nvSpPr>
        <p:spPr>
          <a:xfrm>
            <a:off x="658368" y="2121408"/>
            <a:ext cx="2377440" cy="157276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21408"/>
            <a:ext cx="73152" cy="15727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212848"/>
            <a:ext cx="205740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全体像</a:t>
            </a:r>
          </a:p>
        </p:txBody>
      </p:sp>
      <p:sp>
        <p:nvSpPr>
          <p:cNvPr id="8" name="TextBox 7"/>
          <p:cNvSpPr txBox="1"/>
          <p:nvPr/>
        </p:nvSpPr>
        <p:spPr>
          <a:xfrm>
            <a:off x="859536"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まず図の関係性を眺める</a:t>
            </a:r>
          </a:p>
        </p:txBody>
      </p:sp>
      <p:sp>
        <p:nvSpPr>
          <p:cNvPr id="9" name="Chevron 8"/>
          <p:cNvSpPr/>
          <p:nvPr/>
        </p:nvSpPr>
        <p:spPr>
          <a:xfrm>
            <a:off x="3099815" y="2615184"/>
            <a:ext cx="347472" cy="502920"/>
          </a:xfrm>
          <a:prstGeom prst="chevron">
            <a:avLst/>
          </a:prstGeom>
          <a:solidFill>
            <a:srgbClr val="579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52544" y="1261872"/>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2</a:t>
            </a:r>
          </a:p>
        </p:txBody>
      </p:sp>
      <p:sp>
        <p:nvSpPr>
          <p:cNvPr id="11" name="Rounded Rectangle 10"/>
          <p:cNvSpPr/>
          <p:nvPr/>
        </p:nvSpPr>
        <p:spPr>
          <a:xfrm>
            <a:off x="3511296" y="2121408"/>
            <a:ext cx="2377440" cy="157276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2121408"/>
            <a:ext cx="73152" cy="15727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212848"/>
            <a:ext cx="205740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具体例</a:t>
            </a:r>
          </a:p>
        </p:txBody>
      </p:sp>
      <p:sp>
        <p:nvSpPr>
          <p:cNvPr id="14" name="TextBox 13"/>
          <p:cNvSpPr txBox="1"/>
          <p:nvPr/>
        </p:nvSpPr>
        <p:spPr>
          <a:xfrm>
            <a:off x="3712463"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身近な場面へ置き換える</a:t>
            </a:r>
          </a:p>
        </p:txBody>
      </p:sp>
      <p:sp>
        <p:nvSpPr>
          <p:cNvPr id="15" name="Chevron 14"/>
          <p:cNvSpPr/>
          <p:nvPr/>
        </p:nvSpPr>
        <p:spPr>
          <a:xfrm>
            <a:off x="5952744" y="2615184"/>
            <a:ext cx="347472" cy="502920"/>
          </a:xfrm>
          <a:prstGeom prst="chevron">
            <a:avLst/>
          </a:prstGeom>
          <a:solidFill>
            <a:srgbClr val="579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5472" y="1261872"/>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3</a:t>
            </a:r>
          </a:p>
        </p:txBody>
      </p:sp>
      <p:sp>
        <p:nvSpPr>
          <p:cNvPr id="17" name="Rounded Rectangle 16"/>
          <p:cNvSpPr/>
          <p:nvPr/>
        </p:nvSpPr>
        <p:spPr>
          <a:xfrm>
            <a:off x="6364224" y="2121408"/>
            <a:ext cx="2377440" cy="157276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121408"/>
            <a:ext cx="73152" cy="15727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12848"/>
            <a:ext cx="205740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注意</a:t>
            </a:r>
          </a:p>
        </p:txBody>
      </p:sp>
      <p:sp>
        <p:nvSpPr>
          <p:cNvPr id="20" name="TextBox 19"/>
          <p:cNvSpPr txBox="1"/>
          <p:nvPr/>
        </p:nvSpPr>
        <p:spPr>
          <a:xfrm>
            <a:off x="6565392"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誤答パターンを見分ける</a:t>
            </a:r>
          </a:p>
        </p:txBody>
      </p:sp>
      <p:sp>
        <p:nvSpPr>
          <p:cNvPr id="21" name="Chevron 20"/>
          <p:cNvSpPr/>
          <p:nvPr/>
        </p:nvSpPr>
        <p:spPr>
          <a:xfrm>
            <a:off x="8805672" y="2615184"/>
            <a:ext cx="347472" cy="502920"/>
          </a:xfrm>
          <a:prstGeom prst="chevron">
            <a:avLst/>
          </a:prstGeom>
          <a:solidFill>
            <a:srgbClr val="579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0" y="1261872"/>
            <a:ext cx="685800" cy="68580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4</a:t>
            </a:r>
          </a:p>
        </p:txBody>
      </p:sp>
      <p:sp>
        <p:nvSpPr>
          <p:cNvPr id="23" name="Rounded Rectangle 22"/>
          <p:cNvSpPr/>
          <p:nvPr/>
        </p:nvSpPr>
        <p:spPr>
          <a:xfrm>
            <a:off x="9217152" y="2121408"/>
            <a:ext cx="2377440" cy="157276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17152" y="2121408"/>
            <a:ext cx="73152" cy="15727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212848"/>
            <a:ext cx="205740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演習</a:t>
            </a:r>
          </a:p>
        </p:txBody>
      </p:sp>
      <p:sp>
        <p:nvSpPr>
          <p:cNvPr id="26" name="TextBox 25"/>
          <p:cNvSpPr txBox="1"/>
          <p:nvPr/>
        </p:nvSpPr>
        <p:spPr>
          <a:xfrm>
            <a:off x="9418320"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教科書の参照先で定着させる</a:t>
            </a:r>
          </a:p>
        </p:txBody>
      </p:sp>
      <p:sp>
        <p:nvSpPr>
          <p:cNvPr id="27" name="Rounded Rectangle 26"/>
          <p:cNvSpPr/>
          <p:nvPr/>
        </p:nvSpPr>
        <p:spPr>
          <a:xfrm>
            <a:off x="685800" y="4251960"/>
            <a:ext cx="10817352" cy="1280160"/>
          </a:xfrm>
          <a:prstGeom prst="roundRect">
            <a:avLst/>
          </a:prstGeom>
          <a:solidFill>
            <a:srgbClr val="ECFDF5"/>
          </a:solidFill>
          <a:ln w="127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500" b="0">
                <a:solidFill>
                  <a:srgbClr val="172033"/>
                </a:solidFill>
                <a:latin typeface="WenQuanYi Micro Hei"/>
              </a:rPr>
              <a:t>財務・会計は、簿記の知識がゼロの状態から入ると最初につまずきやすい科目です。しかし「仕訳」「貸借対照表・損益計算書の構造」「経営分析の指標」「投資評価の計算」など、押さえるべきパターンは実は限られています。この教科書は problem_sets/1st_stage/B_finance_accounting.md の論点（B-1〜B-34、全34論点）に沿っ…</a:t>
            </a:r>
          </a:p>
        </p:txBody>
      </p:sp>
      <p:sp>
        <p:nvSpPr>
          <p:cNvPr id="28" name="TextBox 27"/>
          <p:cNvSpPr txBox="1"/>
          <p:nvPr/>
        </p:nvSpPr>
        <p:spPr>
          <a:xfrm>
            <a:off x="713232" y="5760720"/>
            <a:ext cx="10698480" cy="320040"/>
          </a:xfrm>
          <a:prstGeom prst="rect">
            <a:avLst/>
          </a:prstGeom>
          <a:noFill/>
        </p:spPr>
        <p:txBody>
          <a:bodyPr wrap="square" tIns="91440" bIns="91440" anchor="ctr">
            <a:spAutoFit/>
          </a:bodyPr>
          <a:lstStyle/>
          <a:p>
            <a:pPr algn="ctr">
              <a:spcAft>
                <a:spcPts val="0"/>
              </a:spcAft>
            </a:pPr>
            <a:r>
              <a:rPr sz="1100" b="0">
                <a:solidFill>
                  <a:srgbClr val="B42318"/>
                </a:solidFill>
                <a:latin typeface="WenQuanYi Micro Hei"/>
              </a:rPr>
              <a:t>※ 数値・法令・制度は出題年度によって変わる場合があります。最新の公式情報も確認してください。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01</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簿記・会計の基礎</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9 論点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簿記の基礎：簿記原理・会計帳簿</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資産</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会社が持っている財産 / 現金、売掛金、建物、商品 / 借方（左側）</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負債</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会社が将来払う義務（借金） / 買掛金、借入金 / 貸方（右側）</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純資産（資本）</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資産から負債を引いた「正味の元手」 / 資本金、利益剰余金 / 貸方（右側）</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収益</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会社の儲けの元になるもの / 売上高、受取利息 / 貸方（右側）</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費用</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儲けを生むためにかかったコスト / 仕入、給料、家賃 / 借方（左側）</a:t>
            </a:r>
          </a:p>
        </p:txBody>
      </p:sp>
      <p:sp>
        <p:nvSpPr>
          <p:cNvPr id="28" name="Rounded Rectangle 27"/>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会社の取引（お金・モノの動き）を、一定のルール…</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です。中小企業診断士試験で使う簿記は「複式簿記」と呼ばれる方式で、1つの取引を必ず「原因」と「結果」の2つの側面から記録し…</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架空の個人商店「さくら商店」の取引を仕訳してみましょう。簿記が初めての人は、まず「その取引で、何が増えて、何が減ったか」を日本語で考えてから、上の表に当てはめると分かりやすくなります。 現金100万円を元手に…</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資産が増えたら借方」「負債・純資産・収益が増えたら貸方」という基本パターンをまず体に覚え込ませることが最優先です。過去問では「この取引の仕訳として正しいものはどれか」という形式で、借方・貸方が逆になっている…</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簿記の基礎：決算処理一巡（試算表・精算表・決算仕訳）</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ectangle 5"/>
          <p:cNvSpPr/>
          <p:nvPr/>
        </p:nvSpPr>
        <p:spPr>
          <a:xfrm>
            <a:off x="868680" y="2926080"/>
            <a:ext cx="1046988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1｜期中の取引を仕訳し、総勘定元帳に転…
（B-1の作業を1年間続ける）</a:t>
            </a:r>
          </a:p>
        </p:txBody>
      </p:sp>
      <p:sp>
        <p:nvSpPr>
          <p:cNvPr id="9" name="Oval 8"/>
          <p:cNvSpPr/>
          <p:nvPr/>
        </p:nvSpPr>
        <p:spPr>
          <a:xfrm>
            <a:off x="334899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2｜（決算整理前）残高試算表を作成する
各勘定科目の残高を一覧にして、借方合計＝貸方合計になっているか検算する表</a:t>
            </a:r>
          </a:p>
        </p:txBody>
      </p:sp>
      <p:sp>
        <p:nvSpPr>
          <p:cNvPr id="11" name="Oval 10"/>
          <p:cNvSpPr/>
          <p:nvPr/>
        </p:nvSpPr>
        <p:spPr>
          <a:xfrm>
            <a:off x="592074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3｜決算整理仕訳を行う
期中の記録だけでは反映されていない項目を修正する仕訳（後述）</a:t>
            </a:r>
          </a:p>
        </p:txBody>
      </p:sp>
      <p:sp>
        <p:nvSpPr>
          <p:cNvPr id="13" name="Oval 12"/>
          <p:cNvSpPr/>
          <p:nvPr/>
        </p:nvSpPr>
        <p:spPr>
          <a:xfrm>
            <a:off x="849249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4｜精算表を作成する
試算表→決算整理→損益計算書・貸借対照表への流れを1枚の表にまとめたもの（…</a:t>
            </a:r>
          </a:p>
        </p:txBody>
      </p:sp>
      <p:sp>
        <p:nvSpPr>
          <p:cNvPr id="15" name="Oval 14"/>
          <p:cNvSpPr/>
          <p:nvPr/>
        </p:nvSpPr>
        <p:spPr>
          <a:xfrm>
            <a:off x="1106424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5｜財務諸表（損益計算書・貸借対照表）…
</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具体例｜さくら商店が、期首に建物1,000万円（残存価額0円、耐用年数20年、定額法）を取得したとします。定額法の減価償却費は次の式で計算します。 減価償却費 = 取得原価 - 残存価額 ÷ 耐用年数 このケースでは…</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試算表は「借方合計＝貸方合計」という検算のための表であり、それ自体は財務諸表ではありません。精算表の作成順序（試算表欄→整理記入欄→損益計算書欄・貸借対照表欄）を問う問題や、決算整理仕訳（減価償却、貸倒引当金…</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簿記の基礎：貸借対照表・損益計算書の作成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777240" y="1188720"/>
            <a:ext cx="10634472" cy="117043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0F766E"/>
                </a:solidFill>
                <a:latin typeface="WenQuanYi Micro Hei"/>
              </a:rPr>
              <a:t>収益・費用の勘定科目 → 損益計算書へ（収益－費用＝当期純利益。この当期純利益は貸借対照表の純資産（利益剰余金）に加算される）</a:t>
            </a:r>
          </a:p>
        </p:txBody>
      </p:sp>
      <p:sp>
        <p:nvSpPr>
          <p:cNvPr id="7" name="Rounded Rectangle 6"/>
          <p:cNvSpPr/>
          <p:nvPr/>
        </p:nvSpPr>
        <p:spPr>
          <a:xfrm>
            <a:off x="777240"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資産・負債・純資産</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の勘定科目 → 貸借対照表へ</a:t>
            </a:r>
          </a:p>
        </p:txBody>
      </p:sp>
      <p:sp>
        <p:nvSpPr>
          <p:cNvPr id="11" name="Rounded Rectangle 10"/>
          <p:cNvSpPr/>
          <p:nvPr/>
        </p:nvSpPr>
        <p:spPr>
          <a:xfrm>
            <a:off x="4370832"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収益・費用</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の勘定科目 → 損益計算書へ（収益－費用＝当期純利益。この当期純利益は貸借対照表の純資産（利益剰余金）に加算される）</a:t>
            </a:r>
          </a:p>
        </p:txBody>
      </p:sp>
      <p:sp>
        <p:nvSpPr>
          <p:cNvPr id="15" name="Rounded Rectangle 14"/>
          <p:cNvSpPr/>
          <p:nvPr/>
        </p:nvSpPr>
        <p:spPr>
          <a:xfrm>
            <a:off x="7964424"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B-1・B-2で記録した仕訳の集大成が、貸借対照…</a:t>
            </a:r>
          </a:p>
        </p:txBody>
      </p:sp>
      <p:sp>
        <p:nvSpPr>
          <p:cNvPr id="18" name="Rounded Rectangle 1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具体例｜さくら商店の決算整理後残高試算表（一部を簡略化）が次のとおりだったとします。 収益・費用のグループを損益計算書に集めると「売上1,200,000円－仕入800,000円＝当期純利益400,000円」となります…</a:t>
            </a:r>
          </a:p>
        </p:txBody>
      </p:sp>
      <p:sp>
        <p:nvSpPr>
          <p:cNvPr id="19" name="Rounded Rectangle 1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当期純利益は貸借対照表のどこに反映されるか」（→純資産の利益剰余金に加算される）という、P/LとB/Sのつながりを問う問題が頻出です。単に2つの表を別々に暗記するのではなく、「P/Lで計算した儲けが、B/S…</a:t>
            </a:r>
          </a:p>
        </p:txBody>
      </p:sp>
      <p:sp>
        <p:nvSpPr>
          <p:cNvPr id="20" name="Rectangle 1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2" name="TextBox 2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企業会計の基礎：損益計算書（収益・費用の会計）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① 売上総利益</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売上高 － 売上原価 / いわゆる「粗利」。商品そのものの儲け</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② 営業利益</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売上総利益 － 販売費及び一般管理費 / 本業でどれだけ儲けたか</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③ 経常利益</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営業利益 ＋ 営業外収益 － 営業外費用 / 本業＋財務活動（利息の受払等）を含めた通常の儲け</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④ 税引前当期純利益</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経常利益 ＋ 特別利益 － 特別損失 / 臨時的な損益（固定資産売却益など）も含めた最終的な儲け</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⑤ 当期純利益</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税引前当期純利益 － 法人税等 / 税金を払った後、株主に帰属する最終利益</a:t>
            </a:r>
          </a:p>
        </p:txBody>
      </p:sp>
      <p:sp>
        <p:nvSpPr>
          <p:cNvPr id="28" name="Rounded Rectangle 27"/>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1年間の会社の経営成績（儲かったか損したか）</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を表す書類です。日本の損益計算書は、儲けの種類ごとに5段階の利益を積み上げる形式になっています。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具体例｜町のパン屋「ひまわりベーカリー」の1年間の損益計算書が次のとおりだったとします。 売上高：5,000万円 売上原価（小麦粉・バターなどの材料費）：2,000万円 販売費及び一般管理費（店員の給料・家賃・広告費…</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本業の儲け」を見たいときは営業利益、「財務活動まで含めた通常の儲け」を見たいときは経常利益、というように、どの利益がどんな性格を表しているかを区別することが重要です。例えば「借入金の支払利息が増えて経常利益…</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企業会計の基礎：貸借対照表（資産・負債・純資産の会計）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流動資産</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1年以内に現金化される資産 / 現金、売掛金、棚卸資産（在庫）</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固定資産</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1年を超えて使用・保有する資産 / 建物、機械、土地、投資有価証券</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流動負債</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1年以内に支払う負債 / 買掛金、短期借入金</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固定負債</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1年を超えて返済する負債 / 長期借入金、社債</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純資産</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株主からの出資と利益の蓄積 / 資本金、資本剰余金、利益剰余金</a:t>
            </a:r>
          </a:p>
        </p:txBody>
      </p:sp>
      <p:sp>
        <p:nvSpPr>
          <p:cNvPr id="28" name="Rounded Rectangle 27"/>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決算日時点での会社の財政状態（何を持っていて…</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を表す書類です。次の等式が必ず成り立ちます。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具体例｜ひまわりベーカリーの決算日の貸借対照表が次のとおりだったとします（単位：万円）。 資産合計3,300万円＝負債合計1,500万円＋純資産合計1,800万円、で一致していることを確認してください。この表は、B-…</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利益剰余金」は現金そのものではなく、過去の儲けの蓄積を純資産の中に記録した金額です。「利益剰余金が多い＝現金をたくさん持っている」と短絡的に考えないよう注意してください（現金は資産の部に「現金預金」として別…</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企業会計の基礎：キャッシュ・フロー計算書</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566928"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営業活動によるキャッシュ・フロ…</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本業の営業活動から生じた現金の増減（商品の販売・仕入など）</a:t>
            </a:r>
          </a:p>
        </p:txBody>
      </p:sp>
      <p:sp>
        <p:nvSpPr>
          <p:cNvPr id="10" name="Chevron 9"/>
          <p:cNvSpPr/>
          <p:nvPr/>
        </p:nvSpPr>
        <p:spPr>
          <a:xfrm>
            <a:off x="2456078"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投資活動によるキャッシュ・フロ…</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設備投資や有価証券の売買など、将来のための投資から生じた現金の増減</a:t>
            </a:r>
          </a:p>
        </p:txBody>
      </p:sp>
      <p:sp>
        <p:nvSpPr>
          <p:cNvPr id="15" name="Chevron 14"/>
          <p:cNvSpPr/>
          <p:nvPr/>
        </p:nvSpPr>
        <p:spPr>
          <a:xfrm>
            <a:off x="4765852"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財務活動によるキャッシュ・フロ…</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借入・返済、増資、配当の支払いなど、資金調達・返済から生じた現金の増減</a:t>
            </a:r>
          </a:p>
        </p:txBody>
      </p:sp>
      <p:sp>
        <p:nvSpPr>
          <p:cNvPr id="20" name="Chevron 19"/>
          <p:cNvSpPr/>
          <p:nvPr/>
        </p:nvSpPr>
        <p:spPr>
          <a:xfrm>
            <a:off x="7075627"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キャッシュ・フロー計算書（C/…</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で、次の3つの区分に分けて表示します。</a:t>
            </a:r>
          </a:p>
        </p:txBody>
      </p:sp>
      <p:sp>
        <p:nvSpPr>
          <p:cNvPr id="25" name="Chevron 24"/>
          <p:cNvSpPr/>
          <p:nvPr/>
        </p:nvSpPr>
        <p:spPr>
          <a:xfrm>
            <a:off x="9385401"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減価償却費</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費用として計上されるが実際の現金支出はない（非資金費用）→ 当期純利益に加算</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具体例｜ある会社の当期純利益が300万円、減価償却費50万円、売上債権が前期より40万円増加、棚卸資産が前期より20万円増加、仕入債務が前期より30万円増加した場合の営業CFは次のとおりです。 営業CF＝300万円（…</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減価償却費は現金支出を伴わないので加算」「資産（売上債権・棚卸資産）の増加は現金が出ていったのと同じ効果なので減算」「負債（仕入債務）の増加は現金の支払いを先延ばしできているので加算」という向きを逆に覚えて…</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企業会計の基礎：企業結合（合併・分割・連結決算）</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566928"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合併</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複数の会社が1つの会社になること。既存の会社が存続し相手を吸収する「吸収合併」と…</a:t>
            </a:r>
          </a:p>
        </p:txBody>
      </p:sp>
      <p:sp>
        <p:nvSpPr>
          <p:cNvPr id="10" name="Chevron 9"/>
          <p:cNvSpPr/>
          <p:nvPr/>
        </p:nvSpPr>
        <p:spPr>
          <a:xfrm>
            <a:off x="2456078"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会社分割</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会社の事業の一部を切り離して、別の会社に承継させること。既存の会社に承継させる「吸…</a:t>
            </a:r>
          </a:p>
        </p:txBody>
      </p:sp>
      <p:sp>
        <p:nvSpPr>
          <p:cNvPr id="15" name="Chevron 14"/>
          <p:cNvSpPr/>
          <p:nvPr/>
        </p:nvSpPr>
        <p:spPr>
          <a:xfrm>
            <a:off x="4765852"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連結決算</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親会社が子会社（議決権の過半数を持つなど、実質的に支配している会社）を含めて、グル…</a:t>
            </a:r>
          </a:p>
        </p:txBody>
      </p:sp>
      <p:sp>
        <p:nvSpPr>
          <p:cNvPr id="20" name="Chevron 19"/>
          <p:cNvSpPr/>
          <p:nvPr/>
        </p:nvSpPr>
        <p:spPr>
          <a:xfrm>
            <a:off x="7075627"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パーチェス法</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という方法で会計処理します。買収先の資産・負債を時価で評価し直し、支払った買収額（…</a:t>
            </a:r>
          </a:p>
        </p:txBody>
      </p:sp>
      <p:sp>
        <p:nvSpPr>
          <p:cNvPr id="25" name="Chevron 24"/>
          <p:cNvSpPr/>
          <p:nvPr/>
        </p:nvSpPr>
        <p:spPr>
          <a:xfrm>
            <a:off x="9385401"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会社同士が一つになったり、グル…</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具体例｜A社がB社を買収し、買収額（取得原価）は1,200万円でした。B社の資産・負債を時価で評価し直した結果、純資産（時価）は1,000万円だったとします。 のれん＝取得原価1,200万円－時価純資産1,000万円…</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取得原価＜時価純資産」の場合に生じる「負ののれん」は、資産としてではなく、発生した期の利益（特別利益）として一括計上する点が「のれん（資産計上して償却）」と非対称であることに注意してください。また、連結決算…</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企業会計の基礎：会計ディスクロージャー</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502920" y="1024128"/>
            <a:ext cx="3599688" cy="192024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有価証券報告書</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金融商品取引法に基づき、上場会社等が事業年度ごとに作成・提出する、最も詳細で公的な開示書類</a:t>
            </a:r>
          </a:p>
        </p:txBody>
      </p:sp>
      <p:sp>
        <p:nvSpPr>
          <p:cNvPr id="10" name="Rounded Rectangle 9"/>
          <p:cNvSpPr/>
          <p:nvPr/>
        </p:nvSpPr>
        <p:spPr>
          <a:xfrm>
            <a:off x="4303776" y="1024128"/>
            <a:ext cx="3599688" cy="192024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決算短信</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証券取引所のルールに基づき、決算発表時に投資家へ最速で開示する速報資料。有価証券報告書より作成・開示が早い</a:t>
            </a:r>
          </a:p>
        </p:txBody>
      </p:sp>
      <p:sp>
        <p:nvSpPr>
          <p:cNvPr id="14" name="Rounded Rectangle 13"/>
          <p:cNvSpPr/>
          <p:nvPr/>
        </p:nvSpPr>
        <p:spPr>
          <a:xfrm>
            <a:off x="8104632" y="1024128"/>
            <a:ext cx="3599688" cy="192024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半期報告書</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金融商品取引法に基づく開示書類。なお、従来あった四半期報告書制度は2024年4月以後に開始する事業年度から廃止され、第1…</a:t>
            </a:r>
          </a:p>
        </p:txBody>
      </p:sp>
      <p:sp>
        <p:nvSpPr>
          <p:cNvPr id="18" name="Rounded Rectangle 17"/>
          <p:cNvSpPr/>
          <p:nvPr/>
        </p:nvSpPr>
        <p:spPr>
          <a:xfrm>
            <a:off x="502920" y="3145536"/>
            <a:ext cx="3599688" cy="192024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会計ディスクロージャー（情報開示）</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会社が利害関係者（株主、投資家、債権者など）に対して、財務状況を適切に開示する制度です。</a:t>
            </a:r>
          </a:p>
        </p:txBody>
      </p:sp>
      <p:sp>
        <p:nvSpPr>
          <p:cNvPr id="22" name="Rounded Rectangle 21"/>
          <p:cNvSpPr/>
          <p:nvPr/>
        </p:nvSpPr>
        <p:spPr>
          <a:xfrm>
            <a:off x="4303776" y="3145536"/>
            <a:ext cx="3599688" cy="192024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日本の上場企業に</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主に次の開示義務があります。</a:t>
            </a:r>
          </a:p>
        </p:txBody>
      </p:sp>
      <p:sp>
        <p:nvSpPr>
          <p:cNvPr id="26" name="Rounded Rectangle 25"/>
          <p:cNvSpPr/>
          <p:nvPr/>
        </p:nvSpPr>
        <p:spPr>
          <a:xfrm>
            <a:off x="8104632" y="3145536"/>
            <a:ext cx="3599688" cy="192024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会社法上も、株主総会に提出する計算書類（貸借対照…</a:t>
            </a:r>
          </a:p>
        </p:txBody>
      </p:sp>
      <p:sp>
        <p:nvSpPr>
          <p:cNvPr id="29" name="Rounded Rectangle 2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投資家がある上場企業の業績をいち早く知りたい場合は、公表が最も早い「決算短信」をまず確認し、より詳細な内容（事業のリスク情報や役員報酬の詳細など）を知りたい場合は、後日提出される「有価証券報告書」を確認する…</a:t>
            </a:r>
          </a:p>
        </p:txBody>
      </p:sp>
      <p:sp>
        <p:nvSpPr>
          <p:cNvPr id="30" name="Rounded Rectangle 2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各開示書類の「根拠法令（金融商品取引法か、取引所規則か、会社法か）」と「開示のタイミング（速報性）」の対応関係が問われやすいポイントです。特に2024年度の四半期報告書廃止という制度変更は、今後の出題で問われ…</a:t>
            </a:r>
          </a:p>
        </p:txBody>
      </p:sp>
      <p:sp>
        <p:nvSpPr>
          <p:cNvPr id="31" name="Rectangle 3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3" name="TextBox 3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税務会計の基礎：益金と損金・課税所得と税額の計算・税効果会計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簿記・会計の基礎（B-1〜B-9）</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課税所得</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に税率をかけて計算します。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益金算入</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会計上は収益でないが税法上は益金になる → 加算</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益金不算入</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会計上は収益だが税法上は益金にならない（例：受取配当金の一部）→ 減算</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損金算入</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会計上は費用でないが税法上は損金になる → 減算</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損金不算入</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会計上は費用だが税法上は損金にならない（例：交際費の一部、超過した減価償却費）→ 加算</a:t>
            </a:r>
          </a:p>
        </p:txBody>
      </p:sp>
      <p:sp>
        <p:nvSpPr>
          <p:cNvPr id="28" name="Rounded Rectangle 27"/>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将来において解消されるもの（一時差異）</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については、税効果会計という手続きで調整します。一時差異には2種類あります。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法人税等の実効税率を30％とします。ある会社が、税務上は損金にできない「賞与引当金」を、前期末に3,000千円計上していました（会計上は費用だが、実際に支払うまでは税務上の損金にならない＝将来減算一時差異）…</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将来減算一時差異→繰延税金資産」「将来加算一時差異→繰延税金負債」という対応関係を、逆に覚えてしまうミスが非常に多い論点です。「将来、税金の支払いが減る（＝得をする）権利がある」から「資産」、「将来、税金の…</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02</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原価計算</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2 論点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原価計算：原価概念・原価計算の種類と方法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原価計算（B-10〜B-11）</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生産形態による分類</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個別原価計算 vs 総合原価計算 / 個別受注生産（造船、建設）は個別原価計算、大量見込生産（食品、化学製品）は総合原価計算</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原価の算定タイミングによる分類</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実際原価計算 vs 標準原価計算 / 実際にかかったコストを事後的に集計するのが実際原価計算、あらかじめ目標となる原価（標…</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固定費の扱いによる分類</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全部原価計算 vs 直接原価計算 / 製造原価を変動費・固定費に分けずに全額を製品原価に含めるのが全部原価計算（財務諸表の…</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原価の3要素</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）に分解できます。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材料費</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製品の材料そのものにかかる費用（例：パンの小麦粉代）</a:t>
            </a:r>
          </a:p>
        </p:txBody>
      </p:sp>
      <p:sp>
        <p:nvSpPr>
          <p:cNvPr id="28" name="Rounded Rectangle 27"/>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労務費</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製品を作る人にかかる費用（例：パン職人の給料）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具体例｜パン屋が今月、小麦粉などの材料費200万円、パン職人の給料150万円、工場家賃50万円をかけて、10,000個のパンを作ったとします。原価の3要素はそれぞれ材料費200万円・労務費150万円・経費50万円で…</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全部原価計算・直接原価計算」の違いは、あくまで固定費を製品原価に含めるかどうかという一点に集約されます（全部＝含める、直接＝含めない）。財務諸表の作成には全部原価計算が使われる（直接原価計算は制度会計として…</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原価計算：原価情報の利用</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原価計算（B-10〜B-11）</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差額原価収益分析</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複数の選択肢を比較する際、どちらを選んでも変わらないコスト・収益は無視し、選択肢によって変化する（差が出る）コスト・収益だ…</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埋没原価（サンクコスト）</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既に支払ってしまい、どの選択肢を選んでも回収できない過去の支出。意思決定には影響させてはいけないコスト</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機会原価</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ある選択肢を選んだことで、失ってしまった「他の選択肢を選んでいたら得られたはずの利益」</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原価計算で集めた情報</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経営上の意思決定に活用します。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代表的な考え方が次の2つです。</a:t>
            </a:r>
          </a:p>
        </p:txBody>
      </p:sp>
      <p:sp>
        <p:nvSpPr>
          <p:cNvPr id="27" name="Rounded Rectangle 2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場が、通常の生産ラインで手一杯の状況で「特別注文（追加1,000個、1個あたり300円で購入したいという申し出）」を受けるかどうか判断する場面を考えます。もしこの1,000個を作るための追加の変動費が1…</a:t>
            </a:r>
          </a:p>
        </p:txBody>
      </p:sp>
      <p:sp>
        <p:nvSpPr>
          <p:cNvPr id="28" name="Rounded Rectangle 2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埋没原価は意思決定に影響させてはいけない」という原則を忘れ、既に支払った過去のコスト（例えば以前に購入して失敗した設備投資額）を「もったいないから」という理由で将来の判断に引きずってしまう誤り（サンクコスト…</a:t>
            </a:r>
          </a:p>
        </p:txBody>
      </p:sp>
      <p:sp>
        <p:nvSpPr>
          <p:cNvPr id="29" name="Rectangle 2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1" name="TextBox 3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03</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経営分析</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経営分析：収益性分析（ROA、ROE、売上高利益率等）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経営分析（B-12〜B-15）</a:t>
            </a:r>
          </a:p>
        </p:txBody>
      </p:sp>
      <p:sp>
        <p:nvSpPr>
          <p:cNvPr id="6" name="Rounded Rectangle 5"/>
          <p:cNvSpPr/>
          <p:nvPr/>
        </p:nvSpPr>
        <p:spPr>
          <a:xfrm>
            <a:off x="777240" y="1188720"/>
            <a:ext cx="10634472" cy="117043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0F766E"/>
                </a:solidFill>
                <a:latin typeface="WenQuanYi Micro Hei"/>
              </a:rPr>
              <a:t>売上高総利益率 ＝ 売上総利益 ÷ 売上高 × 100</a:t>
            </a:r>
          </a:p>
        </p:txBody>
      </p:sp>
      <p:sp>
        <p:nvSpPr>
          <p:cNvPr id="7" name="Rounded Rectangle 6"/>
          <p:cNvSpPr/>
          <p:nvPr/>
        </p:nvSpPr>
        <p:spPr>
          <a:xfrm>
            <a:off x="777240"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売上高総利益率 ＝ 売上総利益 ÷ 売上高 ×…</a:t>
            </a:r>
          </a:p>
        </p:txBody>
      </p:sp>
      <p:sp>
        <p:nvSpPr>
          <p:cNvPr id="10" name="Rounded Rectangle 9"/>
          <p:cNvSpPr/>
          <p:nvPr/>
        </p:nvSpPr>
        <p:spPr>
          <a:xfrm>
            <a:off x="4370832"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売上高営業利益率 ＝ 営業利益 ÷ 売上高 ×…</a:t>
            </a:r>
          </a:p>
        </p:txBody>
      </p:sp>
      <p:sp>
        <p:nvSpPr>
          <p:cNvPr id="13" name="Rounded Rectangle 12"/>
          <p:cNvSpPr/>
          <p:nvPr/>
        </p:nvSpPr>
        <p:spPr>
          <a:xfrm>
            <a:off x="7964424"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64424"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ROA（総資産利益率）＝ 当期純利益（または経…</a:t>
            </a:r>
          </a:p>
        </p:txBody>
      </p:sp>
      <p:sp>
        <p:nvSpPr>
          <p:cNvPr id="16" name="TextBox 15"/>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会社が持つ資産全体を使って、どれだけ効率よく利益を生み出したか</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具体例｜ある会社の売上高が1億円、当期純利益が500万円、総資産が5,000万円、自己資本（純資産）が2,500万円だったとします。 売上高純利益率＝500万円÷1億円＝5％ ROA＝500万円÷5,000万円×10…</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ROAは「総資産」に対する利益率であるのに対し、ROEは自己資本（総資産から負債を除いた部分）に対する利益率です。負債を多く使っている（財務レバレッジが高い）会社ほど、ROEはROAより大きく上振れしやすい点…</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経営分析：安全性分析（流動比率、自己資本比率等）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経営分析（B-12〜B-15）</a:t>
            </a:r>
          </a:p>
        </p:txBody>
      </p:sp>
      <p:sp>
        <p:nvSpPr>
          <p:cNvPr id="6" name="Rectangle 5"/>
          <p:cNvSpPr/>
          <p:nvPr/>
        </p:nvSpPr>
        <p:spPr>
          <a:xfrm>
            <a:off x="868680" y="2926080"/>
            <a:ext cx="1046988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1｜流動比率 ＝ 流動資産 ÷ 流動負…
短期的な支払い能力を見る指標。一般に200％以上が望ましいとされる</a:t>
            </a:r>
          </a:p>
        </p:txBody>
      </p:sp>
      <p:sp>
        <p:nvSpPr>
          <p:cNvPr id="9" name="Oval 8"/>
          <p:cNvSpPr/>
          <p:nvPr/>
        </p:nvSpPr>
        <p:spPr>
          <a:xfrm>
            <a:off x="334899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2｜当座比率 ＝ 当座資産 ÷ 流動負…
流動資産のうち、すぐ現金化しやすい「当座資産」（現金預金、売掛金など。棚卸…</a:t>
            </a:r>
          </a:p>
        </p:txBody>
      </p:sp>
      <p:sp>
        <p:nvSpPr>
          <p:cNvPr id="11" name="Oval 10"/>
          <p:cNvSpPr/>
          <p:nvPr/>
        </p:nvSpPr>
        <p:spPr>
          <a:xfrm>
            <a:off x="592074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3｜自己資本比率 ＝ 自己資本 ÷ 総…
総資産のうち、返済不要の自己資本がどれだけあるか。高いほど財務的に安定</a:t>
            </a:r>
          </a:p>
        </p:txBody>
      </p:sp>
      <p:sp>
        <p:nvSpPr>
          <p:cNvPr id="13" name="Oval 12"/>
          <p:cNvSpPr/>
          <p:nvPr/>
        </p:nvSpPr>
        <p:spPr>
          <a:xfrm>
            <a:off x="849249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4｜固定比率 ＝ 固定資産 ÷ 自己資…
固定資産（長期間使う資産）を、返済不要の自己資本でどれだけ賄えているか。低…</a:t>
            </a:r>
          </a:p>
        </p:txBody>
      </p:sp>
      <p:sp>
        <p:nvSpPr>
          <p:cNvPr id="15" name="Oval 14"/>
          <p:cNvSpPr/>
          <p:nvPr/>
        </p:nvSpPr>
        <p:spPr>
          <a:xfrm>
            <a:off x="11064240" y="276148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5｜固定長期適合率 ＝ 固定資産 ÷…
固定比率よりやや緩やかに、固定資産を「自己資本＋長期の借入（固定負債）」で…</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具体例｜B-5で示したひまわりベーカリーの貸借対照表（流動資産1,300万円、流動負債500万円、固定資産2,000万円、固定負債1,000万円、純資産1,800万円、総資産3,300万円）を使って計算してみましょう…</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固定比率が100％を超えていても、固定長期適合率が100％以下であれば、直ちに危険というわけではありません（固定資産の一部を長期借入で賄うこと自体は一般的な財務戦略です）。むしろ危険なのは「固定長期適合率が1…</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経営分析：生産性・成長性分析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経営分析（B-12〜B-15）</a:t>
            </a:r>
          </a:p>
        </p:txBody>
      </p:sp>
      <p:sp>
        <p:nvSpPr>
          <p:cNvPr id="6" name="Rounded Rectangle 5"/>
          <p:cNvSpPr/>
          <p:nvPr/>
        </p:nvSpPr>
        <p:spPr>
          <a:xfrm>
            <a:off x="777240" y="1188720"/>
            <a:ext cx="10634472" cy="117043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0F766E"/>
                </a:solidFill>
                <a:latin typeface="WenQuanYi Micro Hei"/>
              </a:rPr>
              <a:t>「付加価値」とは、会社が外部から購入した材料・部品などに対して、自社が新たに付け加えた価値のことです。付加価値の計算方法には2つの考え方があります。 - 控除法：付加価値 ＝ 売上高 －…</a:t>
            </a:r>
          </a:p>
        </p:txBody>
      </p:sp>
      <p:sp>
        <p:nvSpPr>
          <p:cNvPr id="7" name="Rounded Rectangle 6"/>
          <p:cNvSpPr/>
          <p:nvPr/>
        </p:nvSpPr>
        <p:spPr>
          <a:xfrm>
            <a:off x="777240"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生産性分析</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は「限られた経営資源（ヒト・モノ・カネ）から、どれだけ付加価値を生み出したか」を見る分析です。中心となる指標が労働生産性で…</a:t>
            </a:r>
          </a:p>
        </p:txBody>
      </p:sp>
      <p:sp>
        <p:nvSpPr>
          <p:cNvPr id="11" name="Rounded Rectangle 10"/>
          <p:cNvSpPr/>
          <p:nvPr/>
        </p:nvSpPr>
        <p:spPr>
          <a:xfrm>
            <a:off x="4370832"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控除法</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付加価値 ＝ 売上高 － 外部購入価値（材料費・外注費など、社外から買ってきたコスト）</a:t>
            </a:r>
          </a:p>
        </p:txBody>
      </p:sp>
      <p:sp>
        <p:nvSpPr>
          <p:cNvPr id="15" name="Rounded Rectangle 14"/>
          <p:cNvSpPr/>
          <p:nvPr/>
        </p:nvSpPr>
        <p:spPr>
          <a:xfrm>
            <a:off x="7964424"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加算法</a:t>
            </a:r>
          </a:p>
        </p:txBody>
      </p:sp>
      <p:sp>
        <p:nvSpPr>
          <p:cNvPr id="18" name="TextBox 17"/>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付加価値 ＝ 経常利益 ＋ 人件費 ＋ 金融費用（支払利息等）＋ 賃借料 ＋ 租税公課 ＋ 減価償却費（会社の中で生み出さ…</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具体例｜ある製造業の会社が、売上高3億円、外部購入価値（材料費・外注費）1億8,000万円、従業員数20人だったとします。 控除法による付加価値＝3億円－1億8,000万円＝1億2,000万円 労働生産性＝1億2,0…</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労働生産性は「従業員1人あたりがどれだけ付加価値を生んでいるか」を示す指標であり、労働生産性が高いからといって従業員の給料（人件費）が高いとは限りません（利益として会社に残っている場合もあります）。控除法・加…</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経営分析：CVP分析（損益分岐点分析）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経営分析（B-12〜B-15）</a:t>
            </a:r>
          </a:p>
        </p:txBody>
      </p:sp>
      <p:sp>
        <p:nvSpPr>
          <p:cNvPr id="6" name="Rounded Rectangle 5"/>
          <p:cNvSpPr/>
          <p:nvPr/>
        </p:nvSpPr>
        <p:spPr>
          <a:xfrm>
            <a:off x="777240" y="1188720"/>
            <a:ext cx="10634472" cy="1170432"/>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0F766E"/>
                </a:solidFill>
                <a:latin typeface="WenQuanYi Micro Hei"/>
              </a:rPr>
              <a:t>限界利益 ＝ 売上高 － 変動費（売上が1単位増えるごとに、固定費の回収・利益に貢献する部分）</a:t>
            </a:r>
          </a:p>
        </p:txBody>
      </p:sp>
      <p:sp>
        <p:nvSpPr>
          <p:cNvPr id="7" name="Rounded Rectangle 6"/>
          <p:cNvSpPr/>
          <p:nvPr/>
        </p:nvSpPr>
        <p:spPr>
          <a:xfrm>
            <a:off x="777240"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限界利益 ＝ 売上高 － 変動費</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（売上が1単位増えるごとに、固定費の回収・利益に貢献する部分）</a:t>
            </a:r>
          </a:p>
        </p:txBody>
      </p:sp>
      <p:sp>
        <p:nvSpPr>
          <p:cNvPr id="11" name="Rounded Rectangle 10"/>
          <p:cNvSpPr/>
          <p:nvPr/>
        </p:nvSpPr>
        <p:spPr>
          <a:xfrm>
            <a:off x="4370832"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限界利益率 ＝ (売上高 － 変動費) ÷ 売…</a:t>
            </a:r>
          </a:p>
        </p:txBody>
      </p:sp>
      <p:sp>
        <p:nvSpPr>
          <p:cNvPr id="14" name="Rounded Rectangle 13"/>
          <p:cNvSpPr/>
          <p:nvPr/>
        </p:nvSpPr>
        <p:spPr>
          <a:xfrm>
            <a:off x="7964424" y="2670048"/>
            <a:ext cx="3401568" cy="2011680"/>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64424" y="2670048"/>
            <a:ext cx="73152" cy="20116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損益分岐点売上高 ＝ 固定費 ÷ 限界利益率</a:t>
            </a:r>
          </a:p>
        </p:txBody>
      </p:sp>
      <p:sp>
        <p:nvSpPr>
          <p:cNvPr id="17" name="TextBox 16"/>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（利益がちょうどゼロになる売上高）</a:t>
            </a:r>
          </a:p>
        </p:txBody>
      </p:sp>
      <p:sp>
        <p:nvSpPr>
          <p:cNvPr id="18" name="Rounded Rectangle 1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具体例｜ある飲食店の月間売上高が500万円、変動費（材料費など）が200万円、固定費（家賃・人件費など）が240万円だったとします。 限界利益＝500万円－200万円＝300万円 限界利益率＝300万円÷500万円＝…</a:t>
            </a:r>
          </a:p>
        </p:txBody>
      </p:sp>
      <p:sp>
        <p:nvSpPr>
          <p:cNvPr id="19" name="Rounded Rectangle 1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営業レバレッジが低い（固定費比率が低く、変動費中心の費用構造の）企業は、売上高が減少しても利益が減少しにくいという性質を持ちます。逆に「固定費を削減して変動費を増やす」と、営業レバレッジはむしろ低下します。ま…</a:t>
            </a:r>
          </a:p>
        </p:txBody>
      </p:sp>
      <p:sp>
        <p:nvSpPr>
          <p:cNvPr id="20" name="Rectangle 1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2" name="TextBox 2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04</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利益と資金の管理</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利益と資金の管理：利益計画（限界利益、貢献利益、プロダクト・ミックス）</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利益と資金の管理（B-16〜B-19）</a:t>
            </a:r>
          </a:p>
        </p:txBody>
      </p:sp>
      <p:sp>
        <p:nvSpPr>
          <p:cNvPr id="6" name="Rounded Rectangle 5"/>
          <p:cNvSpPr/>
          <p:nvPr/>
        </p:nvSpPr>
        <p:spPr>
          <a:xfrm>
            <a:off x="566928" y="1444752"/>
            <a:ext cx="5244084"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932938"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5006340"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プロダクト・ミックス</a:t>
            </a:r>
          </a:p>
        </p:txBody>
      </p:sp>
      <p:sp>
        <p:nvSpPr>
          <p:cNvPr id="9" name="TextBox 8"/>
          <p:cNvSpPr txBox="1"/>
          <p:nvPr/>
        </p:nvSpPr>
        <p:spPr>
          <a:xfrm>
            <a:off x="713232" y="2542032"/>
            <a:ext cx="4951476"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）を決める際は、単純な「1個あたりの限界利益が高い製品を優先する」のではなく、制約…</a:t>
            </a:r>
          </a:p>
        </p:txBody>
      </p:sp>
      <p:sp>
        <p:nvSpPr>
          <p:cNvPr id="10" name="Chevron 9"/>
          <p:cNvSpPr/>
          <p:nvPr/>
        </p:nvSpPr>
        <p:spPr>
          <a:xfrm>
            <a:off x="5920740"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41364" y="1444752"/>
            <a:ext cx="5244084"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07374"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6460236" y="1810512"/>
            <a:ext cx="5006340"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複数の製品を作っている会社が…</a:t>
            </a:r>
          </a:p>
        </p:txBody>
      </p:sp>
      <p:sp>
        <p:nvSpPr>
          <p:cNvPr id="14" name="TextBox 13"/>
          <p:cNvSpPr txBox="1"/>
          <p:nvPr/>
        </p:nvSpPr>
        <p:spPr>
          <a:xfrm>
            <a:off x="6487668" y="2542032"/>
            <a:ext cx="4951476"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15" name="Rounded Rectangle 1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具体例｜ある工場に、1日8時間（480分）しか使えない特殊な加工機械（ボトルネック）があり、製品Xと製品Yを作っているとします。 1個あたりの限界利益だけを見ると製品Yの方が高く見えますが、ボトルネックである機械の稼…</a:t>
            </a:r>
          </a:p>
        </p:txBody>
      </p:sp>
      <p:sp>
        <p:nvSpPr>
          <p:cNvPr id="16" name="Rounded Rectangle 1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1個あたりの限界利益が高い製品を優先すべき」という単純な発想は、制約条件（ボトルネック）がある場合には誤りになります。必ず「制約となっている資源1単位あたりの限界利益（または貢献利益）」で比較する、という視…</a:t>
            </a:r>
          </a:p>
        </p:txBody>
      </p:sp>
      <p:sp>
        <p:nvSpPr>
          <p:cNvPr id="17" name="Rectangle 1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19" name="TextBox 1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利益と資金の管理：予算・実績差異分析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利益と資金の管理（B-16〜B-19）</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標準原価計算における差異分析</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で、材料費の差異は次の2つに分解します。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価格差異 ＝ (実際価格 － 標準価格) ×…</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仕入価格が予定と違ったことによる差異</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数量差異 ＝ (実際消費量 － 標準消費量)…</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材料の使用量が予定と違ったことによる差異</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会社</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事前に立てた予算（標準原価等）と、実際の結果（実績）を比較し、その差（差異）がなぜ生じたのかを分析します。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代表的なのが標準原価計算における差異分析で、材料…</a:t>
            </a:r>
          </a:p>
        </p:txBody>
      </p:sp>
      <p:sp>
        <p:nvSpPr>
          <p:cNvPr id="27" name="Rounded Rectangle 26"/>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労務費についても同様に、賃率が予定と違ったことに…</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具体例｜ある製品の標準原価は「材料1kgあたり標準価格500円、1個あたり標準消費量2kg」と設定されていました。実際には、材料を1kgあたり520円で仕入れ、1個あたり2.2kg消費したとします。 価格差異＝(52…</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価格差異は「実際価格と標準価格の差」に「実際消費量」を掛け、数量差異は「実際消費量と標準消費量の差」に「標準価格」を掛ける、という掛け合わせる数量（実際か標準か）の組み合わせを逆にしてしまうミスが頻出です。「…</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利益と資金の管理：資金繰りと資金計画</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利益と資金の管理（B-16〜B-19）</a:t>
            </a:r>
          </a:p>
        </p:txBody>
      </p:sp>
      <p:sp>
        <p:nvSpPr>
          <p:cNvPr id="6" name="Rounded Rectangle 5"/>
          <p:cNvSpPr/>
          <p:nvPr/>
        </p:nvSpPr>
        <p:spPr>
          <a:xfrm>
            <a:off x="566928"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運転資金</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の考え方です。</a:t>
            </a:r>
          </a:p>
        </p:txBody>
      </p:sp>
      <p:sp>
        <p:nvSpPr>
          <p:cNvPr id="10" name="Chevron 9"/>
          <p:cNvSpPr/>
          <p:nvPr/>
        </p:nvSpPr>
        <p:spPr>
          <a:xfrm>
            <a:off x="2456078"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黒字倒産</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の典型パターン）。</a:t>
            </a:r>
          </a:p>
        </p:txBody>
      </p:sp>
      <p:sp>
        <p:nvSpPr>
          <p:cNvPr id="15" name="Chevron 14"/>
          <p:cNvSpPr/>
          <p:nvPr/>
        </p:nvSpPr>
        <p:spPr>
          <a:xfrm>
            <a:off x="4765852"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資金繰り</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会社が事業を継続するために必要な現金を、いつ・いくら必要になるかを予測し、資金がシ…</a:t>
            </a:r>
          </a:p>
        </p:txBody>
      </p:sp>
      <p:sp>
        <p:nvSpPr>
          <p:cNvPr id="20" name="Chevron 19"/>
          <p:cNvSpPr/>
          <p:nvPr/>
        </p:nvSpPr>
        <p:spPr>
          <a:xfrm>
            <a:off x="7075627"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特に重要なのが運転資金の考え方…</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Chevron 24"/>
          <p:cNvSpPr/>
          <p:nvPr/>
        </p:nvSpPr>
        <p:spPr>
          <a:xfrm>
            <a:off x="9385401"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売上が急拡大している会社ほど…</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具体例｜ある卸売業の会社で、売上債権（売掛金）が2,000万円、棚卸資産（在庫）が1,500万円、仕入債務（買掛金）が1,200万円だったとします。 運転資金＝2,000万円＋1,500万円－1,200万円＝2,30…</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利益が出ている＝現金に余裕がある」とは限らない点が、資金繰り管理の核心です。特に売上が急成長している局面ほど運転資金の必要額が増え、資金がショートしやすいという「勘定合って銭足らず」の状況を理解しておきまし…</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B-19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利益と資金の管理：キャッシュ・フロー管理（FCF、運転資金管理）</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利益と資金の管理（B-16〜B-19）</a:t>
            </a:r>
          </a:p>
        </p:txBody>
      </p:sp>
      <p:sp>
        <p:nvSpPr>
          <p:cNvPr id="6" name="Oval 5"/>
          <p:cNvSpPr/>
          <p:nvPr/>
        </p:nvSpPr>
        <p:spPr>
          <a:xfrm>
            <a:off x="4892040" y="2304288"/>
            <a:ext cx="2395728" cy="141732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フリー・キャッシュフロー（FCF）</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とは、会社が本業で稼いだ現金から、事業を維持・成長させるために必要な投資額を差し引いた、自由に使える現金のことです。</a:t>
            </a:r>
          </a:p>
        </p:txBody>
      </p:sp>
      <p:cxnSp>
        <p:nvCxnSpPr>
          <p:cNvPr id="11" name="Connector 10"/>
          <p:cNvCxnSpPr/>
          <p:nvPr/>
        </p:nvCxnSpPr>
        <p:spPr>
          <a:xfrm>
            <a:off x="5980176" y="1563624"/>
            <a:ext cx="3447288" cy="123444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キャッシュ・コンバージョン・サイクル（CCC）</a:t>
            </a:r>
          </a:p>
        </p:txBody>
      </p:sp>
      <p:sp>
        <p:nvSpPr>
          <p:cNvPr id="15" name="TextBox 14"/>
          <p:cNvSpPr txBox="1"/>
          <p:nvPr/>
        </p:nvSpPr>
        <p:spPr>
          <a:xfrm>
            <a:off x="8174736"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があります。</a:t>
            </a:r>
          </a:p>
        </p:txBody>
      </p:sp>
      <p:cxnSp>
        <p:nvCxnSpPr>
          <p:cNvPr id="16" name="Connector 15"/>
          <p:cNvCxnSpPr/>
          <p:nvPr/>
        </p:nvCxnSpPr>
        <p:spPr>
          <a:xfrm flipH="1">
            <a:off x="5980176" y="2798064"/>
            <a:ext cx="3447288" cy="150876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26280" y="379476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379476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FCFがプラスであれば、借入の返済や株主への配当…</a:t>
            </a:r>
          </a:p>
        </p:txBody>
      </p:sp>
      <p:cxnSp>
        <p:nvCxnSpPr>
          <p:cNvPr id="20" name="Connector 19"/>
          <p:cNvCxnSpPr/>
          <p:nvPr/>
        </p:nvCxnSpPr>
        <p:spPr>
          <a:xfrm flipH="1" flipV="1">
            <a:off x="2532888" y="2798064"/>
            <a:ext cx="3447288" cy="150876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78992" y="228600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228600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FCFの計算で</a:t>
            </a:r>
          </a:p>
        </p:txBody>
      </p:sp>
      <p:sp>
        <p:nvSpPr>
          <p:cNvPr id="24" name="TextBox 23"/>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B-6で学んだ間接法の考え方（当期純利益に非資金費用を加算し、運転資本の増減を調整する）がベースになります。</a:t>
            </a:r>
          </a:p>
        </p:txBody>
      </p:sp>
      <p:cxnSp>
        <p:nvCxnSpPr>
          <p:cNvPr id="25" name="Connector 24"/>
          <p:cNvCxnSpPr/>
          <p:nvPr/>
        </p:nvCxnSpPr>
        <p:spPr>
          <a:xfrm flipV="1">
            <a:off x="2532888" y="1563624"/>
            <a:ext cx="3447288" cy="123444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具体例｜税金は存在しないと仮定します。当期純利益が1,000万円、減価償却費（非資金費用）が200万円、売上債権が150万円増加、仕入債務が80万円増加、設備投資額が300万円だったとします。 営業CF＝1,000万…</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売上債権の増加額は当期純利益に加算される」「減価償却費は当期純利益から減算される」「設備投資額は当期純利益に加算される」といった記述は、いずれもB-6で説明した加減算の向きを逆にした典型的な誤りです。売上債…</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05</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資金調達と配当政策</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資金調達と配当政策：資金調達の形態（内部・外部、直接・間接金融）</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資金調達と配当政策（B-20〜B-23）</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調達元による分類</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内部金融 / 会社の内部から生み出す資金（内部留保、減価償却費など）</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資金の流れによる分類</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直接金融 / 株式や社債を発行し、投資家から直接資金を調達する方法</a:t>
            </a:r>
          </a:p>
        </p:txBody>
      </p:sp>
      <p:sp>
        <p:nvSpPr>
          <p:cNvPr id="15" name="Rounded Rectangle 14"/>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資金調達の方法</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次の2つの軸で整理できます。</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が新工場を建てるために、①これまで貯めてきた利益（内部留保）を取り崩す、②銀行から融資を受ける、③新株を発行して投資家から出資を募る、という3つの選択肢を検討しているとします。①は内部金融、②は間接金…</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銀行借入」は外部金融であると同時に間接金融です。「社債発行」は外部金融であると同時に直接金融です。「外部金融＝間接金融」と誤って結びつけないよう、2つの軸（内部・外部／直接・間接）は独立した分類であることを…</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資金調達と配当政策：資本コスト（負債・自己資本・WACC）</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資金調達と配当政策（B-20〜B-23）</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負債コスト</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借入の利率（負債利子率）そのもの。ただし、支払利息は税務上損金に算入できる（節税効果がある）ため、実質的な負債コストは「税…</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自己資本コスト</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株主が期待するリターン。配当割引モデル（B-30で詳しく学びます）を使う場合は「自己資本コスト＝1株当たり予想配当 ÷ 株…</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加重平均資本コスト（WACC）</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で表します。</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会社が資金を調達するに</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必ず「コスト」がかかります。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借入をすれば利息を払う必要があり（負債コスト）…</a:t>
            </a:r>
          </a:p>
        </p:txBody>
      </p:sp>
      <p:sp>
        <p:nvSpPr>
          <p:cNvPr id="27" name="Rounded Rectangle 26"/>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会社全体としての資金調達コスト</a:t>
            </a:r>
          </a:p>
        </p:txBody>
      </p:sp>
      <p:sp>
        <p:nvSpPr>
          <p:cNvPr id="30" name="TextBox 29"/>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負債コストと自己資本コストを、それぞれの調達額（時価）の割合で加重平均した加重平均資本コスト（WACC）で表します。</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の負債（時価）が5,000万円、株主資本（時価）が5,000万円、発行済株式数が100万株、毎期の1株当たり配当金が5円、税引前の負債コストが4％、法人税等の実効税率が30％だったとします（配当割引モ…</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負債コストを税引後にせず、そのまま(税引前の値で)加重平均してしまう計算ミスが最頻出です。必ず「負債コスト×(1－実効税率)」の税引後の値を使ってください。また、負債が増えるほど倒産（債務不履行）の可能性が高…</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資金調達と配当政策：ペイアウト政策（配当政策、自社株買い）</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資金調達と配当政策（B-20〜B-23）</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ペイアウト政策</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）には主に2つの方法があります。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配当</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利益の一部を現金で株主に分配する</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自社株買い</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会社が市場に出回っている自社の株式を買い戻す。発行済株式数が減るため、1株当たり利益（EPS）や1株当たり純資産（BPS）…</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配当性向 ＝ 配当金総額 ÷ 当期純利益 ×…</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です。残りは内部留保として会社に蓄積され、将来の投資の原資になります。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会社が稼いだ利益を、どのように株主に還元するか（…</a:t>
            </a:r>
          </a:p>
        </p:txBody>
      </p:sp>
      <p:sp>
        <p:nvSpPr>
          <p:cNvPr id="27" name="Rounded Rectangle 26"/>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利益のうち、どれだけを配当に回すかを示す指標が配…</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の当期純利益が10億円、発行済株式数が1,000万株だったとします。配当金総額を3億円とした場合、配当性向＝3億円÷10億円×100＝30％です。もしこの会社が、配当を増やす代わりに3億円で自社株買い…</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自社株買いは「株主への還元」という点で配当と似た効果を持ちますが、現金を直接受け取る配当とは異なり、株価の上昇（1株当たり利益・純資産の向上）という形で株主に還元される点が異なります。配当性向が高い＝良い会社…</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資金調達と配当政策：最適資本構成（財務レバレッジ、MM理論）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資金調達と配当政策（B-20〜B-23）</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MM理論（モジリアーニ・ミラーの定理）</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MM理論（法人税がない完全資本市場を仮定した場…</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資本構成（負債と自己資本の比率）を変えても、企業価値は変化しない（無関連命題）。負債比率が高まると財務リスクが上昇し自己資…</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法人税がある場合の修正MM理論</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負債の支払利息には節税効果（損金算入による税負担の軽減）があるため、負債を増やすほど（節税効果の分だけ）企業価値は増加する…</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トレードオフ理論</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現実には、負債を増やしすぎると倒産の可能性が高まり、それに伴う倒産コスト（信用低下、取引先の離反など）も増加します。「負債…</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財務レバレッジ</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とは、負債を利用することで自己資本に対する利益率（ROE）を高める効果のことです（B-12のデュポン分解での「総資産÷自己…</a:t>
            </a:r>
          </a:p>
        </p:txBody>
      </p:sp>
      <p:sp>
        <p:nvSpPr>
          <p:cNvPr id="28" name="Rounded Rectangle 27"/>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会社の資金調達における「負債と自己資本の組み合わ…</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が、総資産10億円の事業に投資し、総資産営業利益率（事業そのものの利回り）が8％だったとします。全額自己資本（負債ゼロ）で調達した場合と、半分を負債（借入利率4％）で調達した場合を比較します（税金は無…</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負債を増やせば増やすほど、無条件にROEが上がり企業価値も上がる」という理解は誤りです。MM理論（無税の場合）では資本構成は企業価値に無関連であり、法人税を考慮しても、負債を増やしすぎれば倒産リスク・倒産コ…</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06</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実物投資</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実物投資：貨幣の時間価値とDCF</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実物投資（B-24〜B-27）</a:t>
            </a:r>
          </a:p>
        </p:txBody>
      </p:sp>
      <p:sp>
        <p:nvSpPr>
          <p:cNvPr id="6" name="Rounded Rectangle 5"/>
          <p:cNvSpPr/>
          <p:nvPr/>
        </p:nvSpPr>
        <p:spPr>
          <a:xfrm>
            <a:off x="566928"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貨幣の時間価値</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と呼びます。将来のお金を「今の価値」に割り引いて評価する手法がDCF（Discou…</a:t>
            </a:r>
          </a:p>
        </p:txBody>
      </p:sp>
      <p:sp>
        <p:nvSpPr>
          <p:cNvPr id="10" name="Chevron 9"/>
          <p:cNvSpPr/>
          <p:nvPr/>
        </p:nvSpPr>
        <p:spPr>
          <a:xfrm>
            <a:off x="2456078"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「今日の100万円」と「1年後…</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同じ金額でも価値が異なります。</a:t>
            </a:r>
          </a:p>
        </p:txBody>
      </p:sp>
      <p:sp>
        <p:nvSpPr>
          <p:cNvPr id="15" name="Chevron 14"/>
          <p:cNvSpPr/>
          <p:nvPr/>
        </p:nvSpPr>
        <p:spPr>
          <a:xfrm>
            <a:off x="4765852"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今日の100万円</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今すぐ運用に回せば1年後には利息がついて増えているはずだからです。</a:t>
            </a:r>
          </a:p>
        </p:txBody>
      </p:sp>
      <p:sp>
        <p:nvSpPr>
          <p:cNvPr id="20" name="Chevron 19"/>
          <p:cNvSpPr/>
          <p:nvPr/>
        </p:nvSpPr>
        <p:spPr>
          <a:xfrm>
            <a:off x="7075627"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この考え方を貨幣の時間価値と呼…</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Chevron 24"/>
          <p:cNvSpPr/>
          <p:nvPr/>
        </p:nvSpPr>
        <p:spPr>
          <a:xfrm>
            <a:off x="9385401"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将来のお金を「今の価値」に割り…</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具体例｜割引率（資本コスト）が6％のとき、2年後に受け取る220万円の現在価値を考えます。複利現価係数表で2年・6％の係数が0.88と与えられている場合、 現在価値＝220万円×0.88＝193.6万円 つまり「2年…</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複利現価係数表が与えられる問題では、係数と金額の掛け算自体は単純ですが、「何年後のキャッシュフローに、何年の係数を掛けるか」を取り違えるミスが多発します。キャッシュフローが発生するタイミング（期首か期末か、何…</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実物投資：投資評価基準（回収期間法、会計的投資利益率法）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実物投資（B-24〜B-27）</a:t>
            </a:r>
          </a:p>
        </p:txBody>
      </p:sp>
      <p:sp>
        <p:nvSpPr>
          <p:cNvPr id="6" name="Rounded Rectangle 5"/>
          <p:cNvSpPr/>
          <p:nvPr/>
        </p:nvSpPr>
        <p:spPr>
          <a:xfrm>
            <a:off x="566928" y="1444752"/>
            <a:ext cx="331927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70532"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308152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回収期間法</a:t>
            </a:r>
          </a:p>
        </p:txBody>
      </p:sp>
      <p:sp>
        <p:nvSpPr>
          <p:cNvPr id="9" name="TextBox 8"/>
          <p:cNvSpPr txBox="1"/>
          <p:nvPr/>
        </p:nvSpPr>
        <p:spPr>
          <a:xfrm>
            <a:off x="713232"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投資額を、その投資から得られるキャッシュフローで何年かけて回収できるかを計算する方…</a:t>
            </a:r>
          </a:p>
        </p:txBody>
      </p:sp>
      <p:sp>
        <p:nvSpPr>
          <p:cNvPr id="10" name="Chevron 9"/>
          <p:cNvSpPr/>
          <p:nvPr/>
        </p:nvSpPr>
        <p:spPr>
          <a:xfrm>
            <a:off x="3995928"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6552" y="1444752"/>
            <a:ext cx="331927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20156"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4535424" y="1810512"/>
            <a:ext cx="308152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会計的投資利益率法（ARR：A…</a:t>
            </a:r>
          </a:p>
        </p:txBody>
      </p:sp>
      <p:sp>
        <p:nvSpPr>
          <p:cNvPr id="14" name="TextBox 13"/>
          <p:cNvSpPr txBox="1"/>
          <p:nvPr/>
        </p:nvSpPr>
        <p:spPr>
          <a:xfrm>
            <a:off x="4562856"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会計上の利益を基準にした投資利益率。ARR = 平均年間利益 ÷ 平均投資額（また…</a:t>
            </a:r>
          </a:p>
        </p:txBody>
      </p:sp>
      <p:sp>
        <p:nvSpPr>
          <p:cNvPr id="15" name="Chevron 14"/>
          <p:cNvSpPr/>
          <p:nvPr/>
        </p:nvSpPr>
        <p:spPr>
          <a:xfrm>
            <a:off x="7845552"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66175" y="1444752"/>
            <a:ext cx="331927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69780"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8385048" y="1810512"/>
            <a:ext cx="308152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投資評価に</a:t>
            </a:r>
          </a:p>
        </p:txBody>
      </p:sp>
      <p:sp>
        <p:nvSpPr>
          <p:cNvPr id="19" name="TextBox 18"/>
          <p:cNvSpPr txBox="1"/>
          <p:nvPr/>
        </p:nvSpPr>
        <p:spPr>
          <a:xfrm>
            <a:off x="8412480"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貨幣の時間価値を考慮しない簡便な方法もあります。</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具体例｜初期投資額が1,000万円で、毎年200万円のキャッシュフローが得られる投資案の場合、回収期間＝1,000万円÷200万円＝5年です。もし別の投資案Bが、初期投資額600万円で毎年150万円のキャッシュフロー…</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回収期間法・会計的投資利益率法は、いずれも「貨幣の時間価値を考慮しない」という共通の弱点を持ちます。「5年目以降にどれだけ稼ぐか」という情報を無視してしまうため、長期的に見ると本来より有利な投資案を過小評価し…</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実物投資：投資評価基準（IRR法、NPV法、収益性指数法）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実物投資（B-24〜B-27）</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正味現在価値法（NPV：Net Present…</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投資から得られる将来のキャッシュフローを現在価値に割り引いた合計額から、初期投資額を差し引いた金額。NPV = \sum…</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内部収益率法（IRR：Internal Rat…</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NPVがちょうどゼロになる割引率のこと。その投資案が生み出す実質的な利回りを意味する。IRR＞資本コストであれば、その投資…</a:t>
            </a:r>
          </a:p>
        </p:txBody>
      </p:sp>
      <p:sp>
        <p:nvSpPr>
          <p:cNvPr id="15" name="Rounded Rectangle 14"/>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収益性指数法（PI：Profitability…</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PI = 将来キャッシュフローの現在価値 ÷ 初期投資額。PI＞1であれば、その投資は実行すべきと判断する（投資額に対する…</a:t>
            </a:r>
          </a:p>
        </p:txBody>
      </p:sp>
      <p:sp>
        <p:nvSpPr>
          <p:cNvPr id="20" name="Rounded Rectangle 19"/>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貨幣の時間価値を考慮した、より精緻な投資評価方法…</a:t>
            </a:r>
          </a:p>
        </p:txBody>
      </p:sp>
      <p:sp>
        <p:nvSpPr>
          <p:cNvPr id="23" name="Rounded Rectangle 22"/>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具体例｜ある投資案は、初期投資額2,200万円（第1期首に投資）、第1期末のキャッシュフローが1,100万円、第2期末のキャッシュフローが2,200万円、資本コストが6％（複利現価係数：1年＝0.94、2年＝0.88…</a:t>
            </a:r>
          </a:p>
        </p:txBody>
      </p:sp>
      <p:sp>
        <p:nvSpPr>
          <p:cNvPr id="24" name="Rounded Rectangle 23"/>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NPV法とIRR法は、単独の投資案の採否を判断する場面では同じ結論になることが多いですが、投資規模が大きく異なる複数の投資案を比較する場合には、NPVとIRRで優劣の判断が逆転することがある点に注意が必要です…</a:t>
            </a:r>
          </a:p>
        </p:txBody>
      </p:sp>
      <p:sp>
        <p:nvSpPr>
          <p:cNvPr id="25" name="Rectangle 24"/>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7" name="TextBox 26"/>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実物投資：不確実性下の投資決定</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実物投資（B-24〜B-27）</a:t>
            </a:r>
          </a:p>
        </p:txBody>
      </p:sp>
      <p:sp>
        <p:nvSpPr>
          <p:cNvPr id="6" name="Rounded Rectangle 5"/>
          <p:cNvSpPr/>
          <p:nvPr/>
        </p:nvSpPr>
        <p:spPr>
          <a:xfrm>
            <a:off x="566928"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期待値法</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将来起こりうる複数のシナリオ（好況・不況など）それぞれの発生確率とキャッシュフロー…</a:t>
            </a:r>
          </a:p>
        </p:txBody>
      </p:sp>
      <p:sp>
        <p:nvSpPr>
          <p:cNvPr id="10" name="Chevron 9"/>
          <p:cNvSpPr/>
          <p:nvPr/>
        </p:nvSpPr>
        <p:spPr>
          <a:xfrm>
            <a:off x="2456078"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感応度分析</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売上高や原価などの前提条件を変化させたとき、投資評価の結果（NPV等）がどれだけ変…</a:t>
            </a:r>
          </a:p>
        </p:txBody>
      </p:sp>
      <p:sp>
        <p:nvSpPr>
          <p:cNvPr id="15" name="Chevron 14"/>
          <p:cNvSpPr/>
          <p:nvPr/>
        </p:nvSpPr>
        <p:spPr>
          <a:xfrm>
            <a:off x="4765852"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デシジョンツリー（意思決定樹）…</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複数の意思決定のタイミングと、それぞれの分岐で発生しうる不確実な事象を樹形図に整理…</a:t>
            </a:r>
          </a:p>
        </p:txBody>
      </p:sp>
      <p:sp>
        <p:nvSpPr>
          <p:cNvPr id="20" name="Chevron 19"/>
          <p:cNvSpPr/>
          <p:nvPr/>
        </p:nvSpPr>
        <p:spPr>
          <a:xfrm>
            <a:off x="7075627"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将来のキャッシュフロー</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不確実性を伴います。</a:t>
            </a:r>
          </a:p>
        </p:txBody>
      </p:sp>
      <p:sp>
        <p:nvSpPr>
          <p:cNvPr id="25" name="Chevron 24"/>
          <p:cNvSpPr/>
          <p:nvPr/>
        </p:nvSpPr>
        <p:spPr>
          <a:xfrm>
            <a:off x="9385401"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この不確実性を投資判断に織り込…</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具体例｜ある新製品の投資案について、市場が好況になる確率が60％で得られるキャッシュフローが3,000万円、不況になる確率が40％で得られるキャッシュフローが500万円と見積もられたとします。 期待キャッシュフロー＝…</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期待値だけで判断すると、実際に発生しうる「最悪のシナリオでどれだけ損失が出るか」というリスクの大きさが見えなくなる点に注意が必要です。期待値が同じでも、シナリオごとのばらつき（リスク）が大きい投資案と小さい投…</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07</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証券投資</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2 論点</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証券投資：ポートフォリオ理論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証券投資（B-28〜B-29）</a:t>
            </a:r>
          </a:p>
        </p:txBody>
      </p:sp>
      <p:sp>
        <p:nvSpPr>
          <p:cNvPr id="6" name="Rounded Rectangle 5"/>
          <p:cNvSpPr/>
          <p:nvPr/>
        </p:nvSpPr>
        <p:spPr>
          <a:xfrm>
            <a:off x="731520" y="114300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ポートフォリオ理論</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は「複数の証券に分散して投資することで、リスクを減らせる」という考え方を数学的に整理した理論です。証券投資の world…</a:t>
            </a:r>
          </a:p>
        </p:txBody>
      </p:sp>
      <p:sp>
        <p:nvSpPr>
          <p:cNvPr id="10" name="Oval 9"/>
          <p:cNvSpPr/>
          <p:nvPr/>
        </p:nvSpPr>
        <p:spPr>
          <a:xfrm>
            <a:off x="548640" y="1014983"/>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分散投資効果</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と呼びます。分散投資効果の大きさは、組み合わせる証券同士の値動きの連動性を表す相関係数（－1から＋1の値をとる）によって決…</a:t>
            </a:r>
          </a:p>
        </p:txBody>
      </p:sp>
      <p:sp>
        <p:nvSpPr>
          <p:cNvPr id="15" name="Oval 14"/>
          <p:cNvSpPr/>
          <p:nvPr/>
        </p:nvSpPr>
        <p:spPr>
          <a:xfrm>
            <a:off x="6053328" y="1014983"/>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相関係数が＋1（完全に同じ値動き）に近いほど →…</a:t>
            </a:r>
          </a:p>
        </p:txBody>
      </p:sp>
      <p:sp>
        <p:nvSpPr>
          <p:cNvPr id="19" name="Oval 18"/>
          <p:cNvSpPr/>
          <p:nvPr/>
        </p:nvSpPr>
        <p:spPr>
          <a:xfrm>
            <a:off x="548640" y="2935224"/>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0" name="Rounded Rectangle 19"/>
          <p:cNvSpPr/>
          <p:nvPr/>
        </p:nvSpPr>
        <p:spPr>
          <a:xfrm>
            <a:off x="6236208" y="306324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6208" y="306324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相関係数が－1（完全に逆の値動き）に近いほど →…</a:t>
            </a:r>
          </a:p>
        </p:txBody>
      </p:sp>
      <p:sp>
        <p:nvSpPr>
          <p:cNvPr id="23" name="Oval 22"/>
          <p:cNvSpPr/>
          <p:nvPr/>
        </p:nvSpPr>
        <p:spPr>
          <a:xfrm>
            <a:off x="6053328" y="2935224"/>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4" name="Rounded Rectangle 23"/>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傘メーカーの株式」と「日焼け止めメーカーの株式」を考えてみましょう。雨の日が多い年は傘メーカーの業績が良くなる一方、日焼け止めメーカーの業績は悪くなりがちです（逆に、晴天が多い年はその逆）。この2社の株価は…</a:t>
            </a:r>
          </a:p>
        </p:txBody>
      </p:sp>
      <p:sp>
        <p:nvSpPr>
          <p:cNvPr id="25" name="Rounded Rectangle 24"/>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分散投資をすればリスクはゼロにできる」というのは誤りです。分散投資で消せるのは個別リスクだけであり、市場全体が動くことによる市場リスクは、どれだけ銘柄数を増やしても残り続けます。この「消せないリスク（市場リ…</a:t>
            </a:r>
          </a:p>
        </p:txBody>
      </p:sp>
      <p:sp>
        <p:nvSpPr>
          <p:cNvPr id="26" name="Rectangle 25"/>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8" name="TextBox 27"/>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B-29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証券投資：資本市場理論（効率的市場仮説、CAPM）</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証券投資（B-28〜B-29）</a:t>
            </a:r>
          </a:p>
        </p:txBody>
      </p:sp>
      <p:sp>
        <p:nvSpPr>
          <p:cNvPr id="6" name="Rounded Rectangle 5"/>
          <p:cNvSpPr/>
          <p:nvPr/>
        </p:nvSpPr>
        <p:spPr>
          <a:xfrm>
            <a:off x="731520" y="114300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ウィーク型</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過去の株価・出来高の情報 / 過去の値動きを分析（テクニカル分析）しても超過収益は得られない</a:t>
            </a:r>
          </a:p>
        </p:txBody>
      </p:sp>
      <p:sp>
        <p:nvSpPr>
          <p:cNvPr id="10" name="Oval 9"/>
          <p:cNvSpPr/>
          <p:nvPr/>
        </p:nvSpPr>
        <p:spPr>
          <a:xfrm>
            <a:off x="548640" y="1014983"/>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セミストロング型</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公表されている全ての情報（決算発表等） / 公開情報の分析（ファンダメンタルズ分析）をしても超過収益は得られない</a:t>
            </a:r>
          </a:p>
        </p:txBody>
      </p:sp>
      <p:sp>
        <p:nvSpPr>
          <p:cNvPr id="15" name="Oval 14"/>
          <p:cNvSpPr/>
          <p:nvPr/>
        </p:nvSpPr>
        <p:spPr>
          <a:xfrm>
            <a:off x="6053328" y="1014983"/>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ストロング型</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未公表の内部情報も含む全ての情報 / インサイダー情報を使っても超過収益は得られない</a:t>
            </a:r>
          </a:p>
        </p:txBody>
      </p:sp>
      <p:sp>
        <p:nvSpPr>
          <p:cNvPr id="20" name="Oval 19"/>
          <p:cNvSpPr/>
          <p:nvPr/>
        </p:nvSpPr>
        <p:spPr>
          <a:xfrm>
            <a:off x="548640" y="2935224"/>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効率的市場仮説</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とは、株式市場において、入手可能な情報はすぐに株価に反映されるため、その情報を使って継続的に市場平均を上回るリターン（超過…</a:t>
            </a:r>
          </a:p>
        </p:txBody>
      </p:sp>
      <p:sp>
        <p:nvSpPr>
          <p:cNvPr id="25" name="Oval 24"/>
          <p:cNvSpPr/>
          <p:nvPr/>
        </p:nvSpPr>
        <p:spPr>
          <a:xfrm>
            <a:off x="6053328" y="2935224"/>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具体例｜リスクフリー・レートが2％、市場全体の期待収益率が8％、ある会社の株式のβが1.5だったとします。 自己資本コスト＝2％＋1.5×(8％－2％)＝2％＋1.5×6％＝2％＋9％＝11％ この会社の株式は、市場…</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株主資本コストのリスクプレミアムには市場リスクが反映されていない」という記述は誤りです。CAPMの式そのものが「リスクフリー・レート＋β×市場リスクプレミアム」という形で、市場リスクを明確に組み込んでいます…</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08</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企業価値</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3 論点</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B-30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企業価値：株主価値の算定（配当割引モデル、PER、PBR）</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企業価値（B-30〜B-32）</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配当割引モデル（DDM：Dividend Di…</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です。株式の価値は、将来受け取る配当を、株主資本コストで割り引いた現在価値の合計だと考えます。配当が毎期一定率gで成長し続…</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PER（株価収益率）＝ 株価 ÷ 1株当たり利…</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株価が1株当たり利益の何倍まで買われているかを示す。低いほど割安と判断されることが多い</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PBR（株価純資産倍率）＝ 株価 ÷ 1株当た…</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株価が1株当たり純資産（会社の解散価値に近い概念）の何倍まで買われているかを示す。PBRが1倍を下回る場合、理論上は会社を…</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株主にとっての企業価値（株価）を算定する代表的な…</a:t>
            </a:r>
          </a:p>
        </p:txBody>
      </p:sp>
      <p:sp>
        <p:nvSpPr>
          <p:cNvPr id="23" name="Rounded Rectangle 22"/>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株式の価値</a:t>
            </a:r>
          </a:p>
        </p:txBody>
      </p:sp>
      <p:sp>
        <p:nvSpPr>
          <p:cNvPr id="26" name="TextBox 25"/>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将来受け取る配当を、株主資本コストで割り引いた現在価値の合計だと考えます。</a:t>
            </a:r>
          </a:p>
        </p:txBody>
      </p:sp>
      <p:sp>
        <p:nvSpPr>
          <p:cNvPr id="27" name="Rounded Rectangle 26"/>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配当が毎期一定率gで成長し続けると仮定するモデル…</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具体例｜ある会社の来期の予想配当が1株当たり30円、株主資本コストが8％、配当成長率が3％だと見積もられたとします。 株価＝30円÷(8％－3％)＝30円÷5％＝600円 また、この会社の1株当たり利益（EPS）が5…</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配当割引モデルの分母は「株主資本コスト－配当成長率」であり、配当成長率が株主資本コストを上回る（分母がマイナスになる）ケースは理論上想定されない（成長率は資本コストより低いことが前提）点に注意してください。ま…</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B-31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企業価値：企業価値評価モデル（残余利益、DCF）</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企業価値（B-30〜B-32）</a:t>
            </a:r>
          </a:p>
        </p:txBody>
      </p:sp>
      <p:sp>
        <p:nvSpPr>
          <p:cNvPr id="6" name="Rounded Rectangle 5"/>
          <p:cNvSpPr/>
          <p:nvPr/>
        </p:nvSpPr>
        <p:spPr>
          <a:xfrm>
            <a:off x="566928" y="1444752"/>
            <a:ext cx="331927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70532"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308152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DCF法（企業価値版）</a:t>
            </a:r>
          </a:p>
        </p:txBody>
      </p:sp>
      <p:sp>
        <p:nvSpPr>
          <p:cNvPr id="9" name="TextBox 8"/>
          <p:cNvSpPr txBox="1"/>
          <p:nvPr/>
        </p:nvSpPr>
        <p:spPr>
          <a:xfrm>
            <a:off x="713232"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会社が将来生み出すフリー・キャッシュフロー（FCF）を、WACC（B-21）で割り…</a:t>
            </a:r>
          </a:p>
        </p:txBody>
      </p:sp>
      <p:sp>
        <p:nvSpPr>
          <p:cNvPr id="10" name="Chevron 9"/>
          <p:cNvSpPr/>
          <p:nvPr/>
        </p:nvSpPr>
        <p:spPr>
          <a:xfrm>
            <a:off x="3995928"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6552" y="1444752"/>
            <a:ext cx="3319272" cy="3063240"/>
          </a:xfrm>
          <a:prstGeom prst="roundRect">
            <a:avLst/>
          </a:prstGeom>
          <a:solidFill>
            <a:srgbClr val="FFFFFF"/>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20156"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4535424" y="1810512"/>
            <a:ext cx="308152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残余利益モデル（RIM：Res…</a:t>
            </a:r>
          </a:p>
        </p:txBody>
      </p:sp>
      <p:sp>
        <p:nvSpPr>
          <p:cNvPr id="14" name="TextBox 13"/>
          <p:cNvSpPr txBox="1"/>
          <p:nvPr/>
        </p:nvSpPr>
        <p:spPr>
          <a:xfrm>
            <a:off x="4562856"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会計上の利益から、投下した自己資本に対する期待リターン（資本コスト相当額）を差し引…</a:t>
            </a:r>
          </a:p>
        </p:txBody>
      </p:sp>
      <p:sp>
        <p:nvSpPr>
          <p:cNvPr id="15" name="Chevron 14"/>
          <p:cNvSpPr/>
          <p:nvPr/>
        </p:nvSpPr>
        <p:spPr>
          <a:xfrm>
            <a:off x="7845552" y="2596896"/>
            <a:ext cx="310896" cy="640080"/>
          </a:xfrm>
          <a:prstGeom prst="chevron">
            <a:avLst/>
          </a:prstGeom>
          <a:solidFill>
            <a:srgbClr val="529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66175" y="1444752"/>
            <a:ext cx="3319272" cy="3063240"/>
          </a:xfrm>
          <a:prstGeom prst="roundRect">
            <a:avLst/>
          </a:prstGeom>
          <a:solidFill>
            <a:srgbClr val="ECFD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69780" y="1225296"/>
            <a:ext cx="512064" cy="5120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8385048" y="1810512"/>
            <a:ext cx="3081528" cy="676656"/>
          </a:xfrm>
          <a:prstGeom prst="rect">
            <a:avLst/>
          </a:prstGeom>
          <a:noFill/>
        </p:spPr>
        <p:txBody>
          <a:bodyPr wrap="square" tIns="91440" bIns="91440" anchor="ctr">
            <a:spAutoFit/>
          </a:bodyPr>
          <a:lstStyle/>
          <a:p>
            <a:pPr algn="ctr">
              <a:spcAft>
                <a:spcPts val="0"/>
              </a:spcAft>
            </a:pPr>
            <a:r>
              <a:rPr sz="1350" b="1">
                <a:solidFill>
                  <a:srgbClr val="0F766E"/>
                </a:solidFill>
                <a:latin typeface="WenQuanYi Micro Hei"/>
              </a:rPr>
              <a:t>会社全体の価値（企業価値）を評…</a:t>
            </a:r>
          </a:p>
        </p:txBody>
      </p:sp>
      <p:sp>
        <p:nvSpPr>
          <p:cNvPr id="19" name="TextBox 18"/>
          <p:cNvSpPr txBox="1"/>
          <p:nvPr/>
        </p:nvSpPr>
        <p:spPr>
          <a:xfrm>
            <a:off x="8412480"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具体例｜ある会社の将来のFCFの現在価値の合計（事業価値）が20億円、現預金など非事業用資産が3億円、有利子負債が8億円だったとします。 企業価値＝事業価値20億円＋非事業用資産3億円＝23億円 株主価値＝企業価値2…</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企業価値」と「株主価値」を混同しないようにしましょう。企業価値は「事業全体（株主＋債権者の取り分の合計）」の価値であるのに対し、株主価値はそこから有利子負債（債権者の取り分）を差し引いた、株主だけの取り分で…</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B-32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企業価値：M&amp;Aにおける企業評価（収益還元、純資産、乗数法）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企業価値（B-30〜B-32）</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コストアプローチ（純資産方式）</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対象会社の貸借対照表上の純資産（簿価、または時価に評価し直した時価純資産）を基準に企業価値を評価する方法。計算がシンプルで…</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マーケットアプローチ（類似会社比較法・乗数法）</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類似する上場企業の株価指標（PER、PBR、EBITDA倍率など）を参考にして、対象会社の利益や純資産に一定の倍率（マルチ…</a:t>
            </a:r>
          </a:p>
        </p:txBody>
      </p:sp>
      <p:sp>
        <p:nvSpPr>
          <p:cNvPr id="15" name="Rounded Rectangle 14"/>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インカムアプローチ（収益還元法・DCF法）</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対象会社が将来生み出す利益・キャッシュフローを基準に評価する方法。DCF法（B-31）のほか、毎期一定の利益が続くと仮定し…</a:t>
            </a:r>
          </a:p>
        </p:txBody>
      </p:sp>
      <p:sp>
        <p:nvSpPr>
          <p:cNvPr id="20" name="Rounded Rectangle 19"/>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M&amp;A（合併・買収）の際、買収対象の企業価値をど…</a:t>
            </a:r>
          </a:p>
        </p:txBody>
      </p:sp>
      <p:sp>
        <p:nvSpPr>
          <p:cNvPr id="23" name="Rounded Rectangle 22"/>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対象会社の直近の税引後利益が毎期安定して2,000万円続くと見込まれ、資本還元率（要求利回り）を10％とする場合、収益還元法による企業価値＝2,000万円÷10％＝2億円と算定できます。同じ会社の貸借対照表上…</a:t>
            </a:r>
          </a:p>
        </p:txBody>
      </p:sp>
      <p:sp>
        <p:nvSpPr>
          <p:cNvPr id="24" name="Rounded Rectangle 23"/>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3つのアプローチはそれぞれ異なる前提・視点に基づいており、同じ会社でも評価額が一致するとは限りません。実務のM&amp;Aでは、これら複数の手法を併用し、評価額に幅を持たせて交渉の土台とすることが一般的です。「どれか…</a:t>
            </a:r>
          </a:p>
        </p:txBody>
      </p:sp>
      <p:sp>
        <p:nvSpPr>
          <p:cNvPr id="25" name="Rectangle 24"/>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7" name="TextBox 26"/>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CFDF5"/>
          </a:solidFill>
          <a:ln w="25400">
            <a:solidFill>
              <a:srgbClr val="7BB4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F766E"/>
                </a:solidFill>
                <a:latin typeface="WenQuanYi Micro Hei"/>
              </a:rPr>
              <a:t>SECTION 09</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デリバティブとリスク管理</a:t>
            </a:r>
          </a:p>
        </p:txBody>
      </p:sp>
      <p:sp>
        <p:nvSpPr>
          <p:cNvPr id="6" name="Rounded Rectangle 5"/>
          <p:cNvSpPr/>
          <p:nvPr/>
        </p:nvSpPr>
        <p:spPr>
          <a:xfrm>
            <a:off x="4261104" y="3968496"/>
            <a:ext cx="3657600" cy="7498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2 論点</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B-33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デリバティブとリスク管理：オプション取引（コール、プット）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デリバティブとリスク管理（B-33〜B-34）</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コール・オプション</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原資産を、あらかじめ決めた価格で「買う権利」</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プット・オプション</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原資産を、あらかじめ決めた価格で「売る権利」</a:t>
            </a:r>
          </a:p>
        </p:txBody>
      </p:sp>
      <p:sp>
        <p:nvSpPr>
          <p:cNvPr id="15" name="Rounded Rectangle 14"/>
          <p:cNvSpPr/>
          <p:nvPr/>
        </p:nvSpPr>
        <p:spPr>
          <a:xfrm>
            <a:off x="566928"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オプション料（プレミアム）</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で、次の2つの要素で構成されます。</a:t>
            </a:r>
          </a:p>
        </p:txBody>
      </p:sp>
      <p:sp>
        <p:nvSpPr>
          <p:cNvPr id="19" name="Rounded Rectangle 18"/>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本質的価値</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今すぐ権利行使した場合に得られる価値（原資産価格と権利行使価格の差額）。ゼロになることはあっても、マイナスになることはない</a:t>
            </a:r>
          </a:p>
        </p:txBody>
      </p:sp>
      <p:sp>
        <p:nvSpPr>
          <p:cNvPr id="24" name="Rounded Rectangle 23"/>
          <p:cNvSpPr/>
          <p:nvPr/>
        </p:nvSpPr>
        <p:spPr>
          <a:xfrm>
            <a:off x="6217920"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時間的価値</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満期までの時間があることによる「将来値上がり（値下がり）するかもしれない」という期待に基づく価値。満期に近づくほど小さくな…</a:t>
            </a:r>
          </a:p>
        </p:txBody>
      </p:sp>
      <p:sp>
        <p:nvSpPr>
          <p:cNvPr id="28" name="Rounded Rectangle 27"/>
          <p:cNvSpPr/>
          <p:nvPr/>
        </p:nvSpPr>
        <p:spPr>
          <a:xfrm>
            <a:off x="6217920" y="398678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オプション取引</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「将来のある期日（または期間内）に、あらかじめ決めた価格（権利行使価格）で、原資産を売買する『権利』」を売買する取引で…</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具体例｜ある株式のコール・オプション（権利行使価格1,000円、プレミアム50円）を購入したとします。満期時点の株価が1,200円になった場合、権利行使して1,000円で株式を買い、市場で1,200円で売れば200円…</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オプションの「買い手」の損失は、常にプレミアム（オプション料）に限定される一方、オプションの「売り手」は、相手が権利行使すれば理論上無限大の損失を被る可能性がある、という非対称なリスク構造を理解しておきましょ…</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B-34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デリバティブとリスク管理：先物取引・スワップ</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F766E"/>
                </a:solidFill>
                <a:latin typeface="WenQuanYi Micro Hei"/>
              </a:rPr>
              <a:t>デリバティブとリスク管理（B-33〜B-34）</a:t>
            </a:r>
          </a:p>
        </p:txBody>
      </p:sp>
      <p:sp>
        <p:nvSpPr>
          <p:cNvPr id="6" name="Rounded Rectangle 5"/>
          <p:cNvSpPr/>
          <p:nvPr/>
        </p:nvSpPr>
        <p:spPr>
          <a:xfrm>
            <a:off x="566928" y="1051560"/>
            <a:ext cx="5394960" cy="420624"/>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先物取引</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将来のある期日に、あらかじめ決めた価格・数量で原資産を売買することを、現時点で約束する取引。オプション取引と異なり、権利で…</a:t>
            </a:r>
          </a:p>
        </p:txBody>
      </p:sp>
      <p:sp>
        <p:nvSpPr>
          <p:cNvPr id="11" name="Rounded Rectangle 10"/>
          <p:cNvSpPr/>
          <p:nvPr/>
        </p:nvSpPr>
        <p:spPr>
          <a:xfrm>
            <a:off x="566928" y="2798063"/>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為替予約</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外国為替の先物取引の一種。将来の外貨受け払いのレートをあらかじめ固定することで、為替変動リスクを回避（ヘッジ）する目的でよ…</a:t>
            </a:r>
          </a:p>
        </p:txBody>
      </p:sp>
      <p:sp>
        <p:nvSpPr>
          <p:cNvPr id="15" name="Rounded Rectangle 14"/>
          <p:cNvSpPr/>
          <p:nvPr/>
        </p:nvSpPr>
        <p:spPr>
          <a:xfrm>
            <a:off x="6217920" y="1051560"/>
            <a:ext cx="5394960" cy="42062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F766E"/>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スワップ取引</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将来にわたって発生する2つのキャッシュフローを、当事者間で交換する取引。代表的なものに、同一通貨の異なるタイプの金利（固定…</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輸出企業が、3か月後に1万ドルの輸出代金を受け取る予定があるとします。現在の為替レートは1ドル150円ですが、3か月後に円高（例えば1ドル140円）になっていると、受取額が日本円換算で150万円から140万円…</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先物取引・為替予約は「義務」であり、将来の価格が予約時点より有利な方向に動いた場合でも、予約したレート・価格での取引が確定してしまう（オプション取引のように「権利放棄」はできない）点が、B-33のオプション取…</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docs/textbook/B_finance_accounting_textbook.md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F766E"/>
                </a:solidFill>
                <a:latin typeface="WenQuanYi Micro He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700" b="1">
                <a:solidFill>
                  <a:srgbClr val="172033"/>
                </a:solidFill>
                <a:latin typeface="WenQuanYi Micro Hei"/>
              </a:rPr>
              <a:t>財務・会計｜学習のまとめ</a:t>
            </a:r>
          </a:p>
        </p:txBody>
      </p:sp>
      <p:sp>
        <p:nvSpPr>
          <p:cNvPr id="4" name="Oval 3"/>
          <p:cNvSpPr/>
          <p:nvPr/>
        </p:nvSpPr>
        <p:spPr>
          <a:xfrm>
            <a:off x="4892040" y="2304288"/>
            <a:ext cx="2395728" cy="1417320"/>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5" name="Rounded Rectangle 4"/>
          <p:cNvSpPr/>
          <p:nvPr/>
        </p:nvSpPr>
        <p:spPr>
          <a:xfrm>
            <a:off x="4526280" y="105156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80" y="105156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簿記の基礎（B-1〜B-9）を最優先で固める</a:t>
            </a:r>
          </a:p>
        </p:txBody>
      </p:sp>
      <p:sp>
        <p:nvSpPr>
          <p:cNvPr id="8" name="TextBox 7"/>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仕訳・貸借対照表・損益計算書の構造が理解できていないと、それ以降の経営分析・投資評価はすべて土台のない暗記になってしま…</a:t>
            </a:r>
          </a:p>
        </p:txBody>
      </p:sp>
      <p:cxnSp>
        <p:nvCxnSpPr>
          <p:cNvPr id="9" name="Connector 8"/>
          <p:cNvCxnSpPr/>
          <p:nvPr/>
        </p:nvCxnSpPr>
        <p:spPr>
          <a:xfrm>
            <a:off x="5980176" y="1563624"/>
            <a:ext cx="3447288" cy="123444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973568" y="228600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73568" y="228600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この教科書で全体像・計算式の意味を理解したら、p…</a:t>
            </a:r>
          </a:p>
        </p:txBody>
      </p:sp>
      <p:cxnSp>
        <p:nvCxnSpPr>
          <p:cNvPr id="13" name="Connector 12"/>
          <p:cNvCxnSpPr/>
          <p:nvPr/>
        </p:nvCxnSpPr>
        <p:spPr>
          <a:xfrm flipH="1">
            <a:off x="5980176" y="2798064"/>
            <a:ext cx="3447288" cy="150876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26280" y="379476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26280" y="379476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problem_sets/1st_stage/B…</a:t>
            </a:r>
          </a:p>
        </p:txBody>
      </p:sp>
      <p:cxnSp>
        <p:nvCxnSpPr>
          <p:cNvPr id="17" name="Connector 16"/>
          <p:cNvCxnSpPr/>
          <p:nvPr/>
        </p:nvCxnSpPr>
        <p:spPr>
          <a:xfrm flipH="1" flipV="1">
            <a:off x="2532888" y="2798064"/>
            <a:ext cx="3447288" cy="150876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78992" y="2286000"/>
            <a:ext cx="2907792" cy="1024128"/>
          </a:xfrm>
          <a:prstGeom prst="roundRect">
            <a:avLst/>
          </a:prstGeom>
          <a:solidFill>
            <a:srgbClr val="FFFFFF"/>
          </a:solidFill>
          <a:ln w="15240">
            <a:solidFill>
              <a:srgbClr val="93C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78992" y="2286000"/>
            <a:ext cx="73152" cy="10241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0F766E"/>
                </a:solidFill>
                <a:latin typeface="WenQuanYi Micro Hei"/>
              </a:rPr>
              <a:t>過去問本体（past_exams/1st_sta…</a:t>
            </a:r>
          </a:p>
        </p:txBody>
      </p:sp>
      <p:cxnSp>
        <p:nvCxnSpPr>
          <p:cNvPr id="21" name="Connector 20"/>
          <p:cNvCxnSpPr/>
          <p:nvPr/>
        </p:nvCxnSpPr>
        <p:spPr>
          <a:xfrm flipV="1">
            <a:off x="2532888" y="1563624"/>
            <a:ext cx="3447288" cy="1234440"/>
          </a:xfrm>
          <a:prstGeom prst="line">
            <a:avLst/>
          </a:prstGeom>
          <a:ln w="22860">
            <a:solidFill>
              <a:srgbClr val="63A6A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5074920"/>
            <a:ext cx="10652760" cy="969264"/>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50" b="1">
                <a:solidFill>
                  <a:srgbClr val="0F766E"/>
                </a:solidFill>
                <a:latin typeface="WenQuanYi Micro Hei"/>
              </a:rPr>
              <a:t>次の一歩｜problem_sets/1st_stage/ の論点表と exercises/ の演習で、34論点を定着させる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財務・会計 図解スライド</dc:title>
  <dc:subject>中小企業診断士 第1次試験</dc:subject>
  <dc:creator>SMEC Project</dc:creator>
  <cp:keywords>中小企業診断士, 教科書, 図解, スライド</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