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FAF5FF"/>
          </a:solidFill>
          <a:ln w="25400">
            <a:solidFill>
              <a:srgbClr val="BE90E6"/>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7E22CE"/>
                </a:solidFill>
                <a:latin typeface="WenQuanYi Micro Hei"/>
              </a:rPr>
              <a:t>E</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7E22CE"/>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経営法務</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27 論点</a:t>
            </a:r>
          </a:p>
        </p:txBody>
      </p:sp>
      <p:sp>
        <p:nvSpPr>
          <p:cNvPr id="8" name="Rounded Rectangle 7"/>
          <p:cNvSpPr/>
          <p:nvPr/>
        </p:nvSpPr>
        <p:spPr>
          <a:xfrm>
            <a:off x="4096512" y="4617720"/>
            <a:ext cx="3246120" cy="658368"/>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7E22CE"/>
                </a:solidFill>
                <a:latin typeface="WenQuanYi Micro Hei"/>
              </a:rPr>
              <a:t>5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A564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A564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A564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FAF5FF"/>
          </a:solidFill>
          <a:ln w="12700">
            <a:solidFill>
              <a:srgbClr val="B885E4"/>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経営法務は、中小企業診断士が経営者に助言する際に必要な「法律の最低限の実務知識」を問う科目です。会社法・民法・知的財産権法・独占禁止法など、範囲は広く条文も細かいですが、出題の多くは「基本的な制度趣旨を理解していれば正誤判断できる」問題です。逆に言えば、丸暗記だけでは似た制度（会社分割と事業譲渡、特許と実用新案、著作権と著作隣接権など）の比較問題でひっかか…</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AF5FF"/>
          </a:solidFill>
          <a:ln w="25400">
            <a:solidFill>
              <a:srgbClr val="B88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7E22CE"/>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事業開始、会社設立及び倒産等</a:t>
            </a:r>
          </a:p>
        </p:txBody>
      </p:sp>
      <p:sp>
        <p:nvSpPr>
          <p:cNvPr id="6" name="Rounded Rectangle 5"/>
          <p:cNvSpPr/>
          <p:nvPr/>
        </p:nvSpPr>
        <p:spPr>
          <a:xfrm>
            <a:off x="4261104" y="3968496"/>
            <a:ext cx="3657600" cy="749808"/>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5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個人の事業開始（個人事業の特徴、開業準備）</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事業開始、会社設立及び倒産等（E-1〜E-5）</a:t>
            </a:r>
          </a:p>
        </p:txBody>
      </p:sp>
      <p:sp>
        <p:nvSpPr>
          <p:cNvPr id="6" name="Rounded Rectangle 5"/>
          <p:cNvSpPr/>
          <p:nvPr/>
        </p:nvSpPr>
        <p:spPr>
          <a:xfrm>
            <a:off x="566928"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設立手続</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税務署への「開業届」提出のみで足り、登記は不要 / 定款作成・公証人の認証・法務局…</a:t>
            </a:r>
          </a:p>
        </p:txBody>
      </p:sp>
      <p:sp>
        <p:nvSpPr>
          <p:cNvPr id="10" name="Chevron 9"/>
          <p:cNvSpPr/>
          <p:nvPr/>
        </p:nvSpPr>
        <p:spPr>
          <a:xfrm>
            <a:off x="2456078"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責任の範囲</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無限責任（事業の借金を個人の財産で返済する義務を負う） / 出資者（株主）は原則…</a:t>
            </a:r>
          </a:p>
        </p:txBody>
      </p:sp>
      <p:sp>
        <p:nvSpPr>
          <p:cNvPr id="15" name="Chevron 14"/>
          <p:cNvSpPr/>
          <p:nvPr/>
        </p:nvSpPr>
        <p:spPr>
          <a:xfrm>
            <a:off x="4765852"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税金</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所得税（利益が増えるほど税率が上がる累進課税） / 法人税（税率は所得税ほど急に上…</a:t>
            </a:r>
          </a:p>
        </p:txBody>
      </p:sp>
      <p:sp>
        <p:nvSpPr>
          <p:cNvPr id="20" name="Chevron 19"/>
          <p:cNvSpPr/>
          <p:nvPr/>
        </p:nvSpPr>
        <p:spPr>
          <a:xfrm>
            <a:off x="7075627"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社会的信用</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法人に比べて劣後することが多い / 取引先・金融機関からの信用を得やすい</a:t>
            </a:r>
          </a:p>
        </p:txBody>
      </p:sp>
      <p:sp>
        <p:nvSpPr>
          <p:cNvPr id="25" name="Chevron 24"/>
          <p:cNvSpPr/>
          <p:nvPr/>
        </p:nvSpPr>
        <p:spPr>
          <a:xfrm>
            <a:off x="9385401"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個人事業（個人事業主）</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です。法人を設立する場合と比べて、次のような違いがあります。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個人でラーメン店を始める場合、税務署に開業届を出せばその日から「個人事業主」として営業できます。しかし、店の経営が悪化して借金を返せなくなった場合、店主は自宅の財産を売ってでも返済する義務を負います（無限責任…</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個人事業は登記が不要で手続が簡単」という点と、「有限責任か無限責任か」という責任の範囲の違いを混同しないこと。個人事業は「簡単に始められる代わりに、失敗したときのリスクが大きい」という表裏の関係にあります。</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法人の事業開始（会社の設立と登記）</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事業開始、会社設立及び倒産等（E-1〜E-5）</a:t>
            </a:r>
          </a:p>
        </p:txBody>
      </p:sp>
      <p:sp>
        <p:nvSpPr>
          <p:cNvPr id="6" name="Rounded Rectangle 5"/>
          <p:cNvSpPr/>
          <p:nvPr/>
        </p:nvSpPr>
        <p:spPr>
          <a:xfrm>
            <a:off x="566928"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定款の作成</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会社の基本ルールを定めた文書。会社法27条により、次の5つは必ず記載しなければなら…</a:t>
            </a:r>
          </a:p>
        </p:txBody>
      </p:sp>
      <p:sp>
        <p:nvSpPr>
          <p:cNvPr id="10" name="Chevron 9"/>
          <p:cNvSpPr/>
          <p:nvPr/>
        </p:nvSpPr>
        <p:spPr>
          <a:xfrm>
            <a:off x="2456078"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目的（何を事業とするか）</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15" name="Chevron 14"/>
          <p:cNvSpPr/>
          <p:nvPr/>
        </p:nvSpPr>
        <p:spPr>
          <a:xfrm>
            <a:off x="4765852"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商号（会社の名前）</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0" name="Chevron 19"/>
          <p:cNvSpPr/>
          <p:nvPr/>
        </p:nvSpPr>
        <p:spPr>
          <a:xfrm>
            <a:off x="7075627"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本店の所在地</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設立に際して出資される財産の価…</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その最低額</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3人の仲間でITベンチャーを立ち上げる場合、まず3人（発起人）で定款を作成し、「目的：ソフトウェアの企画・開発及び販売」「商号：株式会社〇〇」などを記載します。公証人の認証を受けた後、3人がそれぞれ出資金を払…</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発行可能株式総数（会社が将来発行できる株式の上限数）は、会社法27条の絶対的記載事項には含まれません。定款に記載されていなくても定款自体は無効になりませんが、会社の成立時までに（発起人全員の同意等で）必ず定め…</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届出・手続（許認可、労働保険・社会保険、税務上の届出）</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事業開始、会社設立及び倒産等（E-1〜E-5）</a:t>
            </a:r>
          </a:p>
        </p:txBody>
      </p:sp>
      <p:sp>
        <p:nvSpPr>
          <p:cNvPr id="6" name="Rounded Rectangle 5"/>
          <p:cNvSpPr/>
          <p:nvPr/>
        </p:nvSpPr>
        <p:spPr>
          <a:xfrm>
            <a:off x="566928" y="1444752"/>
            <a:ext cx="2356866"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9329"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2119122"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許認可</a:t>
            </a:r>
          </a:p>
        </p:txBody>
      </p:sp>
      <p:sp>
        <p:nvSpPr>
          <p:cNvPr id="9" name="TextBox 8"/>
          <p:cNvSpPr txBox="1"/>
          <p:nvPr/>
        </p:nvSpPr>
        <p:spPr>
          <a:xfrm>
            <a:off x="713232"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が必要な業種は、事前に行政の許可・届出を得る必要があります。</a:t>
            </a:r>
          </a:p>
        </p:txBody>
      </p:sp>
      <p:sp>
        <p:nvSpPr>
          <p:cNvPr id="10" name="Chevron 9"/>
          <p:cNvSpPr/>
          <p:nvPr/>
        </p:nvSpPr>
        <p:spPr>
          <a:xfrm>
            <a:off x="3033522"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4146" y="1444752"/>
            <a:ext cx="2356866"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76547"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3573018" y="1810512"/>
            <a:ext cx="2119122"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会社を設立しただけで</a:t>
            </a:r>
          </a:p>
        </p:txBody>
      </p:sp>
      <p:sp>
        <p:nvSpPr>
          <p:cNvPr id="14" name="TextBox 13"/>
          <p:cNvSpPr txBox="1"/>
          <p:nvPr/>
        </p:nvSpPr>
        <p:spPr>
          <a:xfrm>
            <a:off x="3600450"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事業を始められない業種があります。</a:t>
            </a:r>
          </a:p>
        </p:txBody>
      </p:sp>
      <p:sp>
        <p:nvSpPr>
          <p:cNvPr id="15" name="Chevron 14"/>
          <p:cNvSpPr/>
          <p:nvPr/>
        </p:nvSpPr>
        <p:spPr>
          <a:xfrm>
            <a:off x="5920740"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1364" y="1444752"/>
            <a:ext cx="2356866"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63764"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6460236" y="1810512"/>
            <a:ext cx="2119122"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飲食業（保健所の営業許可）、建…</a:t>
            </a:r>
          </a:p>
        </p:txBody>
      </p:sp>
      <p:sp>
        <p:nvSpPr>
          <p:cNvPr id="19" name="TextBox 18"/>
          <p:cNvSpPr txBox="1"/>
          <p:nvPr/>
        </p:nvSpPr>
        <p:spPr>
          <a:xfrm>
            <a:off x="6487668"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0" name="Chevron 19"/>
          <p:cNvSpPr/>
          <p:nvPr/>
        </p:nvSpPr>
        <p:spPr>
          <a:xfrm>
            <a:off x="8807957"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28582" y="1444752"/>
            <a:ext cx="2356866"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50983"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9347454" y="1810512"/>
            <a:ext cx="2119122"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また、従業員を雇用する場合</a:t>
            </a:r>
          </a:p>
        </p:txBody>
      </p:sp>
      <p:sp>
        <p:nvSpPr>
          <p:cNvPr id="24" name="TextBox 23"/>
          <p:cNvSpPr txBox="1"/>
          <p:nvPr/>
        </p:nvSpPr>
        <p:spPr>
          <a:xfrm>
            <a:off x="9374886"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労働保険（労災保険・雇用保険）や社会保険（健康保険・厚生年金保険）への加入手続、税…</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飲食店を新規開業する場合、保健所への「飲食店営業許可」の申請が必須です。無許可で営業すると食品衛生法違反になります。また、従業員を1人でも雇えば、労働基準監督署・公共職業安定所（ハローワーク）への労働保険の加…</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業種によって「許可」「認可」「届出」「登録」など求められる手続の性質が異なります（許可制は原則禁止を特定の場合に解除するもの、届出制は行政への通知で足りるもの、という違い）。個々の業種の詳細な要件を暗記するよ…</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合併等の手続（合併・営業（事業）譲渡、組織変更）</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事業開始、会社設立及び倒産等（E-1〜E-5）</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事業（営業）譲渡</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個々の財産・契約を個別に移転する「特定承継」 / 契約の相手方（取引先）の個別の同意が必要 / 会社法上の規定なし（ただし…</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会社分割（吸収分割・新設分割）</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分割契約・分割計画に定めた権利義務がまとめて移転する「包括承継」 / 契約の相手方の個別の同意は不要 / 原則として必要（…</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合併（吸収合併・新設合併）</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消滅会社の権利義務の全部が存続会社・新設会社に移転する「包括承継」 / 個別の同意は不要 / 原則として必要</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経営法務で最も出題されやすい論点</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「包括承継か特定承継か」「契約相手方の同意の要…</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の3点をセットで押さえるのがコツです。事業譲渡は「バラ売り」のイメージ、会社分割・合併は「まるごと引っ越し」のイメージを持…</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会社の事業を他社に譲渡・統合する方法</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複数あり、それぞれ法的な性質が大きく異なります。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具体例｜A社がその一部門（B事業）をC社に引き継がせたいとします。 事業譲渡を選ぶと、B事業に関する個々の契約（取引先との契約、リース契約など）を一つひとつ「契約の相手方の同意を得て」C社名義に切り替える必要がありま…</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事業譲渡も会社分割も包括承継だから同意は不要」という誤り、逆に「会社分割にも債権者保護手続は不要」という誤りの両方が過去問で問われています。事業譲渡＝特定承継（個別の同意が必要、債権者保護手続の規定なし）…</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倒産等の手続（会社更生法、民事再生法、会社法の解散・清算）</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事業開始、会社設立及び倒産等（E-1〜E-5）</a:t>
            </a:r>
          </a:p>
        </p:txBody>
      </p:sp>
      <p:sp>
        <p:nvSpPr>
          <p:cNvPr id="6" name="Rounded Rectangle 5"/>
          <p:cNvSpPr/>
          <p:nvPr/>
        </p:nvSpPr>
        <p:spPr>
          <a:xfrm>
            <a:off x="566928"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民事再生法</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再建型 / 株式会社に限らず、個人・各種法人も利用可（中小企業の再建でよく使われる…</a:t>
            </a:r>
          </a:p>
        </p:txBody>
      </p:sp>
      <p:sp>
        <p:nvSpPr>
          <p:cNvPr id="10" name="Chevron 9"/>
          <p:cNvSpPr/>
          <p:nvPr/>
        </p:nvSpPr>
        <p:spPr>
          <a:xfrm>
            <a:off x="2456078"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会社更生法</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再建型 / 株式会社のみ / 裁判所が選任する更生管財人が経営権を握り、現経営陣は…</a:t>
            </a:r>
          </a:p>
        </p:txBody>
      </p:sp>
      <p:sp>
        <p:nvSpPr>
          <p:cNvPr id="15" name="Chevron 14"/>
          <p:cNvSpPr/>
          <p:nvPr/>
        </p:nvSpPr>
        <p:spPr>
          <a:xfrm>
            <a:off x="4765852"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破産法（破産手続）</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清算型 / 個人・法人問わず / 裁判所が選任する破産管財人が財産を換価し、債権者…</a:t>
            </a:r>
          </a:p>
        </p:txBody>
      </p:sp>
      <p:sp>
        <p:nvSpPr>
          <p:cNvPr id="20" name="Chevron 19"/>
          <p:cNvSpPr/>
          <p:nvPr/>
        </p:nvSpPr>
        <p:spPr>
          <a:xfrm>
            <a:off x="7075627"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会社法上の解散・清算（通常清算…</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清算型 / 株式会社 / 株主総会の決議等で会社を解散し、清算人が残余財産を整理す…</a:t>
            </a:r>
          </a:p>
        </p:txBody>
      </p:sp>
      <p:sp>
        <p:nvSpPr>
          <p:cNvPr id="25" name="Chevron 24"/>
          <p:cNvSpPr/>
          <p:nvPr/>
        </p:nvSpPr>
        <p:spPr>
          <a:xfrm>
            <a:off x="9385401"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「再建型」</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（会社を存続させながら立て直す）と「清算型」（会社をたたむ）があります。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地方の老舗旅館が経営難に陥った場合、事業自体には将来性があると判断すれば、経営陣が引き続き経営しながら再建を目指す民事再生を申し立てることが多いです。逆に大手航空会社のように規模が大きく利害関係者が多い場合は…</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会社更生法は株式会社に限られる」のに対し、「民事再生法は株式会社以外（個人、医療法人、学校法人なども含む）でも利用できる」という対象の違いが頻出です。また、民事再生では経営者が原則として経営を続けられる（D…</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AF5FF"/>
          </a:solidFill>
          <a:ln w="25400">
            <a:solidFill>
              <a:srgbClr val="B88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7E22CE"/>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知的財産権</a:t>
            </a:r>
          </a:p>
        </p:txBody>
      </p:sp>
      <p:sp>
        <p:nvSpPr>
          <p:cNvPr id="6" name="Rounded Rectangle 5"/>
          <p:cNvSpPr/>
          <p:nvPr/>
        </p:nvSpPr>
        <p:spPr>
          <a:xfrm>
            <a:off x="4261104" y="3968496"/>
            <a:ext cx="3657600" cy="749808"/>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7 論点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産業財産権の内容と取得方法（特許権）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ectangle 5"/>
          <p:cNvSpPr/>
          <p:nvPr/>
        </p:nvSpPr>
        <p:spPr>
          <a:xfrm>
            <a:off x="868680" y="2926080"/>
            <a:ext cx="10469880" cy="4572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1｜特許権
は「発明」（自然法則を利用した技術的思想の創作のうち高度なもの）を保護する…</a:t>
            </a:r>
          </a:p>
        </p:txBody>
      </p:sp>
      <p:sp>
        <p:nvSpPr>
          <p:cNvPr id="9" name="Oval 8"/>
          <p:cNvSpPr/>
          <p:nvPr/>
        </p:nvSpPr>
        <p:spPr>
          <a:xfrm>
            <a:off x="334899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2｜存続期間
特許出願の日から20年（原則）。ただし、審査に時間がかかった場合の遅延を補…</a:t>
            </a:r>
          </a:p>
        </p:txBody>
      </p:sp>
      <p:sp>
        <p:nvSpPr>
          <p:cNvPr id="11" name="Oval 10"/>
          <p:cNvSpPr/>
          <p:nvPr/>
        </p:nvSpPr>
        <p:spPr>
          <a:xfrm>
            <a:off x="59207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3｜新規性・進歩性
特許を受けるには、その発明が世の中にまだ知られていない新しいもの（新規性）…</a:t>
            </a:r>
          </a:p>
        </p:txBody>
      </p:sp>
      <p:sp>
        <p:nvSpPr>
          <p:cNvPr id="13" name="Oval 12"/>
          <p:cNvSpPr/>
          <p:nvPr/>
        </p:nvSpPr>
        <p:spPr>
          <a:xfrm>
            <a:off x="849249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4｜新規性喪失の例外
発明者の意に反して、あるいは自ら学会発表・展示会出展などで発明を公開してし…</a:t>
            </a:r>
          </a:p>
        </p:txBody>
      </p:sp>
      <p:sp>
        <p:nvSpPr>
          <p:cNvPr id="15" name="Oval 14"/>
          <p:cNvSpPr/>
          <p:nvPr/>
        </p:nvSpPr>
        <p:spPr>
          <a:xfrm>
            <a:off x="110642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5｜職務発明
会社員が仕事の中で発明をした場合（職務発明）、特許を受ける権利は原則として…</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食品メーカーの研究員が、会社の設備・費用を使って業務時間中に新しい保存技術を発明した場合、これは「職務発明」に当たります。会社の勤務規則で「職務発明について特許を受ける権利は会社に帰属する」と定めていれば、会…</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職務発明の使用者等の通常実施権は、登録しなくても法律上当然に発生し、その後に特許権を譲り受けた第三者にも対抗できます（登録が効力発生要件ではない）。「登録しなければ効力を生じない」という記述は誤りです。また…</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産業財産権の内容と取得方法（商標権）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ectangle 5"/>
          <p:cNvSpPr/>
          <p:nvPr/>
        </p:nvSpPr>
        <p:spPr>
          <a:xfrm>
            <a:off x="868680" y="2926080"/>
            <a:ext cx="10469880" cy="4572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1｜商標権
は、商品・サービス（役務）に使用する文字・図形・記号・色彩などの「マーク（…</a:t>
            </a:r>
          </a:p>
        </p:txBody>
      </p:sp>
      <p:sp>
        <p:nvSpPr>
          <p:cNvPr id="9" name="Oval 8"/>
          <p:cNvSpPr/>
          <p:nvPr/>
        </p:nvSpPr>
        <p:spPr>
          <a:xfrm>
            <a:off x="334899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2｜存続期間
登録日から10年。ただし更新登録によって何度でも延長でき、事実上半永久的に…</a:t>
            </a:r>
          </a:p>
        </p:txBody>
      </p:sp>
      <p:sp>
        <p:nvSpPr>
          <p:cNvPr id="11" name="Oval 10"/>
          <p:cNvSpPr/>
          <p:nvPr/>
        </p:nvSpPr>
        <p:spPr>
          <a:xfrm>
            <a:off x="59207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3｜保護対象の広がり
文字・図形の商標に加え、立体商標（商品や容器の立体的な形状）、音商標、色彩…</a:t>
            </a:r>
          </a:p>
        </p:txBody>
      </p:sp>
      <p:sp>
        <p:nvSpPr>
          <p:cNvPr id="13" name="Oval 12"/>
          <p:cNvSpPr/>
          <p:nvPr/>
        </p:nvSpPr>
        <p:spPr>
          <a:xfrm>
            <a:off x="849249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4｜先使用権
他人が商標登録する前から、自分がすでにその商標を使用しており、それが需要者…</a:t>
            </a:r>
          </a:p>
        </p:txBody>
      </p:sp>
      <p:sp>
        <p:nvSpPr>
          <p:cNvPr id="15" name="Oval 14"/>
          <p:cNvSpPr/>
          <p:nvPr/>
        </p:nvSpPr>
        <p:spPr>
          <a:xfrm>
            <a:off x="110642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5｜不使用取消審判
（商標法50条）：登録された商標を、正当な理由なく継続して3年以上、日本国…</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社が長年使ってきた鞄のブランド名について、他社が先に同一の名称・同一の指定商品で商標登録をしていたことが後から判明したとします。他社がその商標を全く使用していなければ、不使用取消審判を請求することで、その登…</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不使用取消審判の要件は「3年」であり、「2年」ではありません（特許の新規性喪失の例外の「1年」や、後述する著作権・時効の年数と混同しないよう注意）。また、請求できるのは「利害関係人のみ」ではなく「何人も」です…</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産業財産権の内容と取得方法（意匠権・実用新案権）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ectangle 5"/>
          <p:cNvSpPr/>
          <p:nvPr/>
        </p:nvSpPr>
        <p:spPr>
          <a:xfrm>
            <a:off x="868680" y="2926080"/>
            <a:ext cx="10469880" cy="4572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1｜意匠権
は、物品・建築物・画像などの「デザイン（形状・模様・色彩の組み合わせ）」を…</a:t>
            </a:r>
          </a:p>
        </p:txBody>
      </p:sp>
      <p:sp>
        <p:nvSpPr>
          <p:cNvPr id="9" name="Oval 8"/>
          <p:cNvSpPr/>
          <p:nvPr/>
        </p:nvSpPr>
        <p:spPr>
          <a:xfrm>
            <a:off x="334899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2｜存続期間
出願日から25年（令和2年〔2020年〕4月1日以降の出願。それ以前の出願…</a:t>
            </a:r>
          </a:p>
        </p:txBody>
      </p:sp>
      <p:sp>
        <p:nvSpPr>
          <p:cNvPr id="11" name="Oval 10"/>
          <p:cNvSpPr/>
          <p:nvPr/>
        </p:nvSpPr>
        <p:spPr>
          <a:xfrm>
            <a:off x="59207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3｜秘密意匠制度
意匠は登録されると公報で公開されますが、デザインを模倣されたくない場合、出…</a:t>
            </a:r>
          </a:p>
        </p:txBody>
      </p:sp>
      <p:sp>
        <p:nvSpPr>
          <p:cNvPr id="13" name="Oval 12"/>
          <p:cNvSpPr/>
          <p:nvPr/>
        </p:nvSpPr>
        <p:spPr>
          <a:xfrm>
            <a:off x="849249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4｜関連意匠制度
同じデザインコンセプトから生まれた複数のバリエーションデザイン（本意匠に似…</a:t>
            </a:r>
          </a:p>
        </p:txBody>
      </p:sp>
      <p:sp>
        <p:nvSpPr>
          <p:cNvPr id="15" name="Oval 14"/>
          <p:cNvSpPr/>
          <p:nvPr/>
        </p:nvSpPr>
        <p:spPr>
          <a:xfrm>
            <a:off x="11064240" y="2761488"/>
            <a:ext cx="384048" cy="384048"/>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5｜内装の意匠
2020年の意匠法改正により、店舗・オフィスなどの内装デザイン全体も意匠登…</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家電メーカーが、新しい掃除機の「独特な曲線フォルム」を保護したい場合は意匠権、「ノズルの構造を工夫して吸引力を高めた仕組み」を保護したい場合は実用新案権（考案としての水準であれば）または特許権（発明として…</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存続期間の起算点と年数を混同しないことが最重要です。特許＝出願から20年、実用新案＝出願から10年、意匠＝出願から25年（2020年4月以降の出願）、商標＝登録から10年（更新可）。「意匠権は登録から20年」…</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著作権の内容（著作者人格権、著作権、著作隣接権）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著作権</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は、小説・音楽・絵画・プログラムなど「思想又は感情を創作的に表現したもの（著作物）」を保護する権利です。特許権等と違い、出…</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著作権（財産権）</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複製権、上演権、公衆送信権など、著作物を経済的に利用する権利。他人に譲渡できる。</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著作者人格権</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氏名表示権（著作者名を表示するかどうかを決める権利）、同一性保持権（著作物を無断で改変されない権利）、公表権（未公表の著作…</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著作隣接権</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が認められます。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職務著作</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（法人著作）：会社の発意に基づき、従業員が職務上作成し、会社名義で公表される著作物（プログラムの著作物は公表を要件としない…</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特許権等と違い、出願や登録の手続なしに、著作物を…</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ソフトウェア会社の社員が、会社の指示で業務時間中に業務用ソフトウェアのプログラムを作成した場合、就業規則等に特段の定めがなければ、そのプログラムの著作者は会社になります（職務著作）。一方、その社員が休日に趣味…</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特許の職務発明」は発明者本人（従業員）が原則の権利者になるのに対し、「著作権の職務著作」は要件を満たせば会社自身が著作者になる点が対照的です。両者を混同した出題（「著作権も特許と同様に従業員が原始的に権利者…</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著作権の成立と保護（保護期間、侵害への措置）</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保護期間</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は次の通りです（2018年12月30日施行の改正で、それまでの「死後50年」から延長されました）。</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原則</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著作者の死後70年</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無名・変名の著作物、法人（団体）名義の著作物</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公表後70年</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映画の著作物</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公表後70年</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無方式主義</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）ため、©マークの表示や登録は権利発生の要件ではありません（©表示は国際的な取引上の慣行・注意喚起の意味合いです）。</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差止請求</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（侵害行為をやめさせる）、損害賠償請求、名誉回復措置の請求などができます。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作家が1970年に死亡した場合、その作品の著作権は原則として死後70年、つまり2040年まで保護されます（保護期間の計算は死亡した年の翌年1月1日から起算するのが原則です）。一方、会社が組織として発表した…</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著作者が個人か法人か、公表されているかどうかによって起算点（死後か公表後か）が変わる点が頻出です。「すべて死後70年」と単純に覚えると、無名・変名・法人名義・映画の著作物（いずれも公表後70年が基準）で誤答し…</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知的財産権に関する契約（移転契約、ライセンス契約）</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著作権譲渡契約</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著作権（財産権）は譲渡できますが、著作者人格権は譲渡できません。譲渡契約書に単に「著作権を譲渡する」とだけ書いた場合、翻訳…</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特許のライセンス契約</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特許権者が他人に特許発明の実施を許諾する契約で、大きく2種類あります。</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専用実施権</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特許庁への登録によって設定する、独占的な実施権。設定した範囲では、特許権者自身もその範囲では実施できなくなるほど強い権利で…</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通常実施権</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特許権者が複数の相手に重ねて許諾できる、非独占的な実施権。登録は効力発生要件ではない（当事者間の契約だけで効力が生じる）。</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知的財産権</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他人に譲渡したり、使用を許諾（ライセンス）したりすることができます。</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工場が保有する特許技術について、A社にのみ独占的に実施させたい場合は「専用実施権」を設定します（特許庁への登録が必要）。一方、複数の会社に同時にライセンスを許諾して幅広くロイヤリティ収入を得たい場合は「…</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専用実施権は登録が効力発生要件（登録しないと効力が生じない）ですが、通常実施権は登録が不要（当事者の契約のみで効力が生じる）です。前述のE-6の職務発明の法定通常実施権（使用者等が当然に取得するもの）も、この…</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トレードシークレット・国際条約</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知的財産権（E-6〜E-12）</a:t>
            </a:r>
          </a:p>
        </p:txBody>
      </p:sp>
      <p:sp>
        <p:nvSpPr>
          <p:cNvPr id="6" name="Rounded Rectangle 5"/>
          <p:cNvSpPr/>
          <p:nvPr/>
        </p:nvSpPr>
        <p:spPr>
          <a:xfrm>
            <a:off x="502920" y="1024128"/>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営業秘密</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（トレードシークレット）は、不正競争防止法によって保護されます。特許のように出願・登録するわけではなく、次の3要件をすべて…</a:t>
            </a:r>
          </a:p>
        </p:txBody>
      </p:sp>
      <p:sp>
        <p:nvSpPr>
          <p:cNvPr id="10" name="Rounded Rectangle 9"/>
          <p:cNvSpPr/>
          <p:nvPr/>
        </p:nvSpPr>
        <p:spPr>
          <a:xfrm>
            <a:off x="4303776" y="1024128"/>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秘密管理性</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会社がその情報を秘密として管理する意思を持ち、それが従業員等にも客観的に認識できる状態（アクセス制限、「社外秘」表示など）…</a:t>
            </a:r>
          </a:p>
        </p:txBody>
      </p:sp>
      <p:sp>
        <p:nvSpPr>
          <p:cNvPr id="14" name="Rounded Rectangle 13"/>
          <p:cNvSpPr/>
          <p:nvPr/>
        </p:nvSpPr>
        <p:spPr>
          <a:xfrm>
            <a:off x="8104632" y="1024128"/>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有用性</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生産方法・販売方法など、事業活動に役立つ技術上または営業上の情報であること</a:t>
            </a:r>
          </a:p>
        </p:txBody>
      </p:sp>
      <p:sp>
        <p:nvSpPr>
          <p:cNvPr id="18" name="Rounded Rectangle 17"/>
          <p:cNvSpPr/>
          <p:nvPr/>
        </p:nvSpPr>
        <p:spPr>
          <a:xfrm>
            <a:off x="502920" y="3145536"/>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非公知性</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一般に知られておらず、容易に知ることができない状態にあること</a:t>
            </a:r>
          </a:p>
        </p:txBody>
      </p:sp>
      <p:sp>
        <p:nvSpPr>
          <p:cNvPr id="22" name="Rounded Rectangle 21"/>
          <p:cNvSpPr/>
          <p:nvPr/>
        </p:nvSpPr>
        <p:spPr>
          <a:xfrm>
            <a:off x="4303776" y="3145536"/>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知的財産に関する主な国際条約</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もこの論点で扱われます。</a:t>
            </a:r>
          </a:p>
        </p:txBody>
      </p:sp>
      <p:sp>
        <p:nvSpPr>
          <p:cNvPr id="26" name="Rounded Rectangle 25"/>
          <p:cNvSpPr/>
          <p:nvPr/>
        </p:nvSpPr>
        <p:spPr>
          <a:xfrm>
            <a:off x="8104632" y="3145536"/>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パリ条約</a:t>
            </a:r>
          </a:p>
        </p:txBody>
      </p:sp>
      <p:sp>
        <p:nvSpPr>
          <p:cNvPr id="29" name="TextBox 28"/>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内国民待遇の原則（外国人にも自国民と同等の保護を与える）、優先権制度（最初の出願国での出願日から一定期間内〔特許・実用新案…</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食品メーカーが独自に開発した「秘伝のタレの配合レシピ」は、それ自体を特許出願すると内容が公開されてしまうため、あえて特許出願せず、社内で厳重にアクセス制限をかけて管理する（営業秘密として保護する）という選択が…</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3要件のうち1つでも欠けると営業秘密としての保護を受けられません。例えば「業界内で広く知れ渡っているノウハウ」は有用性があっても非公知性を欠き、「秘密として管理されていない社内資料」は秘密管理性を欠くため、い…</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AF5FF"/>
          </a:solidFill>
          <a:ln w="25400">
            <a:solidFill>
              <a:srgbClr val="B88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7E22CE"/>
                </a:solidFill>
                <a:latin typeface="WenQuanYi Micro Hei"/>
              </a:rPr>
              <a:t>SECTION 03</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取引関係に関する法務知識</a:t>
            </a:r>
          </a:p>
        </p:txBody>
      </p:sp>
      <p:sp>
        <p:nvSpPr>
          <p:cNvPr id="6" name="Rounded Rectangle 5"/>
          <p:cNvSpPr/>
          <p:nvPr/>
        </p:nvSpPr>
        <p:spPr>
          <a:xfrm>
            <a:off x="4261104" y="3968496"/>
            <a:ext cx="3657600" cy="749808"/>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契約に関する基礎知識（成立要件、有効要件）</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取引関係に関する法務知識（E-13〜E-16）</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定型約款</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の制度も重要です。不特定多数の相手方と行う取引で、契約内容の全部または一部が画一的であることが双方にとって合理的なもの（例…</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契約</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当事者の一方の「申込み」と、他方の「承諾」という意思表示が合致した時点で成立します（民法上、書面の作成は原則として契約…</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口頭の合意でも契約</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成立します。</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ただし保証契約のように書面〔電磁的記録を含む〕を…</a:t>
            </a:r>
          </a:p>
        </p:txBody>
      </p:sp>
      <p:sp>
        <p:nvSpPr>
          <p:cNvPr id="23" name="Rounded Rectangle 22"/>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近年の民法改正で新設された定型約款の制度も重要で…</a:t>
            </a:r>
          </a:p>
        </p:txBody>
      </p:sp>
      <p:sp>
        <p:nvSpPr>
          <p:cNvPr id="26" name="Rounded Rectangle 25"/>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不特定多数の相手方と行う取引で、契約内容の全部ま…</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インターネット通販サイトで買い物をする際、多くの消費者は「利用規約」を細部まで読まずに「同意する」ボタンを押しています。この利用規約が定型約款に該当する場合、個々の条項を消費者が具体的に認識していなくても、原…</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契約は書面がなければ成立しない」という誤解に注意してください。民法上、契約の成立に書面は原則として不要です（口頭でも成立します）。ただし、例外的に保証契約は書面〔または電磁的記録〕でしなければ効力を生じない…</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契約の類型（秘密保持、共同開発、売買、フランチャイズ）</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取引関係に関する法務知識（E-13〜E-16）</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秘密保持契約（NDA）</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取引の検討段階などで開示する秘密情報を、目的外に使用したり第三者に漏らしたりしないことを約束する契約。M&amp;Aの検討や共同開…</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共同開発契約</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複数の会社が共同で技術開発を行う際、開発の役割分担、費用負担、開発成果（知的財産権）の帰属をあらかじめ定める契約。</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システム開発契約</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情報システムの開発を外部に委託する契約で、法的性質として請負契約（成果物の完成を約束し、完成させる義務を負う）か準委任契約…</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フランチャイズ契約</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本部（フランチャイザー）が、加盟店（フランチャイジー）に対し、商標・ノウハウの使用や継続的な経営指導を許諾する対価としてロ…</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中小企業の実務でよく登場する契約類型を押さえます。</a:t>
            </a:r>
          </a:p>
        </p:txBody>
      </p: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のパン屋が、大手コンビニチェーンのフランチャイズに加盟する場合、本部の商標・ノウハウを使う許可を得る代わりに、毎月の売上に応じたロイヤリティを本部に支払います。契約前には、本部が加盟希望者に対し、契約内…</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システム開発契約の性質（請負か準委任か）によって、受託側が負う義務の重さ（完成義務の有無、契約不適合責任の有無）が変わる点に注意してください。「準委任契約なのに完成義務を負う」といった誤った組み合わせの出題に…</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外国企業との取引・英文契約</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取引関係に関する法務知識（E-13〜E-16）</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準拠法条項（Governing Law）</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契約の解釈・履行についてどの国の法律を適用するかを定める条項。</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仲裁条項（Arbitration）</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紛争が生じた場合に、裁判ではなく仲裁機関の仲裁で解決すると定める条項。仲裁は非公開で進められ、原則として一審制（不服申立て…</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完全合意条項（Entire Agreement）</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契約書に書かれた内容がその契約に関する当事者間の完全な合意であり、それ以前の口頭・書面での合意はすべて効力を失う、と定める…</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解除条項（Termination）</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どのような場合に契約を解除できるかを定める条項。</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保証条項（Representations an…</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当事者が一定の事実を保証する条項。</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不可抗力条項（Force Majeure）</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天災地変など当事者の責によらない事由で契約が履行できない場合の免責を定める条項。</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のメーカーがアメリカの卸売業者と継続的な取引基本契約を結ぶ際、「本契約に関する紛争は、シンガポールにおける仲裁により最終的に解決する」という仲裁条項を入れておけば、万一トラブルが生じても、両国の裁判所では…</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英文契約の条項解釈問題は、法律用語というより「契約書の一般的な読み方」を問う問題が多く出題されます。仲裁は「非公開・一審制」、訴訟は「原則公開・審級（控訴・上告）あり」という対比を押さえておくと、条項の趣旨を…</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紛争解決方法（訴訟、仲裁、調停）</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取引関係に関する法務知識（E-13〜E-16）</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訴訟</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裁判所が判決によって強制的に紛争を解決する手続。原則公開で、控訴・上告という審級制度があります。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少額訴訟</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60万円以下の金銭の支払いを求める場合に利用できる、簡易裁判所での簡易・迅速な訴訟手続。原則として1回の期日で審理を終え…</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民事調停</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裁判所が関与しつつ、当事者間の話し合いによる合意（調停）で紛争を解決する手続。訴訟よりも柔軟・簡易で、話し合いがまとまれば…</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仲裁</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当事者があらかじめ合意した仲裁機関の仲裁人が判断を下す、裁判外紛争解決手続（ADR）の一種。非公開・原則一審制。</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契約トラブルなどの紛争を解決する主な方法に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次のようなものがあります。</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取引先との間で30万円程度の未払い代金トラブルが生じた場合、通常の訴訟よりも簡易・迅速に解決したいのであれば、簡易裁判所の少額訴訟制度を利用する方法が考えられます。一方、当事者双方が対立を避けて柔軟な解決を望…</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少額訴訟の対象は「60万円以下」の金銭請求に限られる点、同一の簡易裁判所において同一年内に利用できる回数に制限（年10回まで）がある点などが問われることがあります。仲裁・調停・訴訟それぞれの「公開・非公開」「…</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AF5FF"/>
          </a:solidFill>
          <a:ln w="25400">
            <a:solidFill>
              <a:srgbClr val="B88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7E22CE"/>
                </a:solidFill>
                <a:latin typeface="WenQuanYi Micro Hei"/>
              </a:rPr>
              <a:t>SECTION 04</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企業活動に関する法律知識</a:t>
            </a:r>
          </a:p>
        </p:txBody>
      </p:sp>
      <p:sp>
        <p:nvSpPr>
          <p:cNvPr id="6" name="Rounded Rectangle 5"/>
          <p:cNvSpPr/>
          <p:nvPr/>
        </p:nvSpPr>
        <p:spPr>
          <a:xfrm>
            <a:off x="4261104" y="3968496"/>
            <a:ext cx="3657600" cy="749808"/>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8 論点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民法（物権、債権、相続）</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消滅時効</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2020年施行の民法改正により、一般の債権の消滅時効は「権利を行使できることを知った時（主観的起算点）から5年」または「権…</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保証</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他人の債務を保証する契約。個人が事業用の融資等の保証人になる「個人根保証契約」では、保証人が支払う責任の上限額（極度額）を…</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契約不適合責任</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2020年施行の改正民法で、従来の「瑕疵担保責任」に代わって導入された制度。売買の目的物が種類・品質・数量に関して契約の内…</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共有</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複数人で1つの物を所有する状態。共有物の保存行為（現状維持のための行為）は各共有者が単独でできますが、管理行為（利用・改良…</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遺留分</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被相続人の財産のうち、一定の相続人に法律上必ず留保される最低限の取り分。遺留分が認められるのは配偶者・子（代襲相続人を含む…</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経営法務で最頻出の分野の一つが民法です。</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先代経営者が亡くなり、後継者である長男に自社株式のほとんどを生前贈与していた場合、他の相続人（兄弟姉妹ではなく、例えば長女）は遺留分を侵害されたとして、長男に対し遺留分侵害額請求権を行使できます。この請求は裁…</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注意｜遺留分侵害額請求権の時効の起算点は「相続開始の時」ではなく「相続開始及び侵害する贈与・遺贈があったことを知った時」からの1年です。 遺留分の放棄については、「相続開始前」の放棄には家庭裁判所の許可が必要ですが…</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会社法（会社の種類、株式、機関設計）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838047" y="1024128"/>
            <a:ext cx="10515600" cy="640080"/>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1｜会社の種類　会社法上の会社には、株式会社と、持分会社（合同会社・合名会社・合資会社）があります。合同会社は出資者全員が有…</a:t>
            </a:r>
          </a:p>
        </p:txBody>
      </p:sp>
      <p:sp>
        <p:nvSpPr>
          <p:cNvPr id="7" name="Rounded Rectangle 6"/>
          <p:cNvSpPr/>
          <p:nvPr/>
        </p:nvSpPr>
        <p:spPr>
          <a:xfrm>
            <a:off x="1409547" y="1828800"/>
            <a:ext cx="9372600" cy="640080"/>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2｜機関設計　株式会社は、規模や上場の有無に応じて、どの機関（株主総会、取締役、取締役会、監査役、監査役会、会計参与、会計…</a:t>
            </a:r>
          </a:p>
        </p:txBody>
      </p:sp>
      <p:sp>
        <p:nvSpPr>
          <p:cNvPr id="8" name="Rounded Rectangle 7"/>
          <p:cNvSpPr/>
          <p:nvPr/>
        </p:nvSpPr>
        <p:spPr>
          <a:xfrm>
            <a:off x="1981047" y="2633472"/>
            <a:ext cx="8229600" cy="640080"/>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3｜株主総会　と取締役（1名以上）を置く必要があります。</a:t>
            </a:r>
          </a:p>
        </p:txBody>
      </p:sp>
      <p:sp>
        <p:nvSpPr>
          <p:cNvPr id="9" name="Rounded Rectangle 8"/>
          <p:cNvSpPr/>
          <p:nvPr/>
        </p:nvSpPr>
        <p:spPr>
          <a:xfrm>
            <a:off x="2552547" y="3438144"/>
            <a:ext cx="7086600" cy="640080"/>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4｜取締役会　を設置する場合は、原則として3名以上の取締役と、監査役（または委員会等）を置く必要があります。</a:t>
            </a:r>
          </a:p>
        </p:txBody>
      </p:sp>
      <p:sp>
        <p:nvSpPr>
          <p:cNvPr id="10" name="Rounded Rectangle 9"/>
          <p:cNvSpPr/>
          <p:nvPr/>
        </p:nvSpPr>
        <p:spPr>
          <a:xfrm>
            <a:off x="3124047" y="4242816"/>
            <a:ext cx="5943600" cy="640080"/>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5｜大会社　（資本金5億円以上、または負債総額200億円以上のいずれかに該当する株式会社）は、原則として会計監査人の設置…</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資本金1,000万円の中小企業（非大会社）が取締役会を設置している場合、監査役を1名置けば法律上の要件を満たせます。一方、資本金10億円の大会社であれば、会計監査人の設置が義務付けられます。また、この会社の取…</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注意｜取締役会の招集通知期間（1週間）は「定款で短縮できる」のが正しく、「定款によっても短縮できない」という記述は誤りです。 職務執行状況の報告義務（3か月に1回以上）は、書面決議によって省略することができません…</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会社法（会社の計算、合併、取締役の忠実義務）</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会社の計算</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株式会社は毎事業年度、貸借対照表・損益計算書などの計算書類を作成する義務があります。株主への剰余金の配当は、原則として株主…</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資本金組入れ</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株式の発行によって払い込まれた金額は、原則としてその全額を資本金に組み入れますが、払込金額の2分の1を超えない額は、資本金…</a:t>
            </a:r>
          </a:p>
        </p:txBody>
      </p:sp>
      <p:sp>
        <p:nvSpPr>
          <p:cNvPr id="15" name="Rounded Rectangle 14"/>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取締役の義務</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取締役は会社に対して善管注意義務（善良な管理者の注意をもって職務を行う義務）と忠実義務を負います（会社法355条）。また…</a:t>
            </a:r>
          </a:p>
        </p:txBody>
      </p:sp>
      <p:sp>
        <p:nvSpPr>
          <p:cNvPr id="20" name="Rounded Rectangle 19"/>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株価算定</a:t>
            </a:r>
          </a:p>
        </p:txBody>
      </p:sp>
      <p:sp>
        <p:nvSpPr>
          <p:cNvPr id="23" name="TextBox 22"/>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非上場会社の株式の価値を算定する手法として、純資産に着目する「純資産価額方式」、類似する上場企業と比較する「類似業種比準方…</a:t>
            </a:r>
          </a:p>
        </p:txBody>
      </p:sp>
      <p:sp>
        <p:nvSpPr>
          <p:cNvPr id="24" name="Rounded Rectangle 23"/>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取締役が、自分が個人的に経営する別会社に対して、勤務先の会社の商品を優先的に有利な条件で卸すよう手配した場合、これは会社との利益相反行為（間接取引）に当たる可能性があり、取締役会の承認を得ていなければ、会社に…</a:t>
            </a:r>
          </a:p>
        </p:txBody>
      </p:sp>
      <p:sp>
        <p:nvSpPr>
          <p:cNvPr id="25" name="Rounded Rectangle 24"/>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注意｜資本準備金への組入れは「払込金額の2分の1を超えない額」まで認められる、という上限を正確に覚えておきましょう（「全額を資本準備金にできる」という誤りに注意）。</a:t>
            </a:r>
          </a:p>
        </p:txBody>
      </p:sp>
      <p:sp>
        <p:nvSpPr>
          <p:cNvPr id="26" name="Rectangle 25"/>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8" name="TextBox 27"/>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金融商品取引法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502920" y="1024128"/>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発行開示</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（新たに証券を発行する際の有価証券届出書等）と継続開示（有価証券報告書等）の両方が義務付けられています（開示書類の詳細はE…</a:t>
            </a:r>
          </a:p>
        </p:txBody>
      </p:sp>
      <p:sp>
        <p:nvSpPr>
          <p:cNvPr id="10" name="Rounded Rectangle 9"/>
          <p:cNvSpPr/>
          <p:nvPr/>
        </p:nvSpPr>
        <p:spPr>
          <a:xfrm>
            <a:off x="6204203" y="1024128"/>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金融商品取引法</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株式・社債などの有価証券の発行・流通、金融商品取引業者（証券会社等）の規制などを定める法律で、投資家保護を主な目的とし…</a:t>
            </a:r>
          </a:p>
        </p:txBody>
      </p:sp>
      <p:sp>
        <p:nvSpPr>
          <p:cNvPr id="14" name="Rounded Rectangle 13"/>
          <p:cNvSpPr/>
          <p:nvPr/>
        </p:nvSpPr>
        <p:spPr>
          <a:xfrm>
            <a:off x="502920" y="3145536"/>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上場会社等に</a:t>
            </a:r>
          </a:p>
        </p:txBody>
      </p:sp>
      <p:sp>
        <p:nvSpPr>
          <p:cNvPr id="17" name="TextBox 16"/>
          <p:cNvSpPr txBox="1"/>
          <p:nvPr/>
        </p:nvSpPr>
        <p:spPr>
          <a:xfrm>
            <a:off x="704088"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投資家が適切な投資判断をできるよう、発行開示（新たに証券を発行する際の有価証券届出書等）と継続開示（有価証券報告書等）…</a:t>
            </a:r>
          </a:p>
        </p:txBody>
      </p:sp>
      <p:sp>
        <p:nvSpPr>
          <p:cNvPr id="18" name="Rounded Rectangle 17"/>
          <p:cNvSpPr/>
          <p:nvPr/>
        </p:nvSpPr>
        <p:spPr>
          <a:xfrm>
            <a:off x="6204203" y="3145536"/>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4203"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5371" y="3236976"/>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また、インサイダー取引規制（未公表の重要事実を知…</a:t>
            </a:r>
          </a:p>
        </p:txBody>
      </p:sp>
      <p:sp>
        <p:nvSpPr>
          <p:cNvPr id="21" name="Rounded Rectangle 2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具体例｜上場企業の役員が、公表前の業績の大幅下方修正の情報を知った上で、公表前に自社株を売り抜けた場合、インサイダー取引規制に違反する可能性があります。</a:t>
            </a:r>
          </a:p>
        </p:txBody>
      </p:sp>
      <p:sp>
        <p:nvSpPr>
          <p:cNvPr id="22" name="Rounded Rectangle 2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注意｜直近10年間、この論点単独での出題はありませんが、関連する開示書類名（有価証券届出書・有価証券報告書等）についてはE-26に集約する形で出題されています。E-26と合わせて学習してください。</a:t>
            </a:r>
          </a:p>
        </p:txBody>
      </p:sp>
      <p:sp>
        <p:nvSpPr>
          <p:cNvPr id="23" name="Rectangle 2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5" name="TextBox 2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独占禁止法・不正競争防止法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周知表示混同惹起行為（2条1項1号）</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他人の周知の商品等表示と同一・類似のものを使用し、混同を生じさせる行為</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著名表示冒用行為（2条1項2号）</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他人の著名な商品等表示と同一・類似のものを使用する行為（混同を生じさせることは要件ではない）</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営業秘密の不正取得・使用等（2条1項4〜10号）</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前述（E-12）の3要件を満たす営業秘密の不正な取得・使用・開示</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不正の目的によるドメイン名取得等（2条1項19…</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不正の利益を得る目的等で他人の特定商品等表示と同一・類似のドメイン名を取得・使用する行為（周知・著名性は要件ではない）</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独占禁止法</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は、公正で自由な競争を確保するための法律で、主に3つの行為類型を規制しています。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私的独占</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市場を支配し、他社の事業活動を排除・支配する行為</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無名の町工場が偶然、有名な高級ブランドと似たロゴを製品に使い始めた場合、「著名表示冒用行為」（2条1項2号）に該当する可能性があります。この場合、実際に消費者が混同していなくても（つまり「あの高級ブランドの製…</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注意｜「著名表示冒用行為（2号）は混同を要件とする」という記述は誤りです。混同要件があるのは1号（周知表示混同惹起行為）で、2号は著名性のみで足ります。 「商品等表示の"商標"には役務商標は含まれない」という記述も…</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製造物責任法・消費者保護法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838047" y="1024128"/>
            <a:ext cx="10515600" cy="640080"/>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1｜製造物責任法（PL法）　は、製造物の「欠陥」によって生命・身体・財産に損害が生じた場合、被害者が製造業者等に対し、過失を証明しなくて…</a:t>
            </a:r>
          </a:p>
        </p:txBody>
      </p:sp>
      <p:sp>
        <p:nvSpPr>
          <p:cNvPr id="7" name="Rounded Rectangle 6"/>
          <p:cNvSpPr/>
          <p:nvPr/>
        </p:nvSpPr>
        <p:spPr>
          <a:xfrm>
            <a:off x="1409547" y="1828800"/>
            <a:ext cx="9372600" cy="640080"/>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2｜対象　「製造又は加工された動産」が対象で、未加工の農林畜水産物や不動産、ソフトウェア単体（機器に組み込まれていない…</a:t>
            </a:r>
          </a:p>
        </p:txBody>
      </p:sp>
      <p:sp>
        <p:nvSpPr>
          <p:cNvPr id="8" name="Rounded Rectangle 7"/>
          <p:cNvSpPr/>
          <p:nvPr/>
        </p:nvSpPr>
        <p:spPr>
          <a:xfrm>
            <a:off x="1981047" y="2633472"/>
            <a:ext cx="8229600" cy="640080"/>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3｜欠陥の3類型　設計上の欠陥、製造上の欠陥、指示・警告上の欠陥（使用上の注意表示が不十分など）。</a:t>
            </a:r>
          </a:p>
        </p:txBody>
      </p:sp>
      <p:sp>
        <p:nvSpPr>
          <p:cNvPr id="9" name="Rounded Rectangle 8"/>
          <p:cNvSpPr/>
          <p:nvPr/>
        </p:nvSpPr>
        <p:spPr>
          <a:xfrm>
            <a:off x="2552547" y="3438144"/>
            <a:ext cx="7086600" cy="640080"/>
          </a:xfrm>
          <a:prstGeom prst="roundRect">
            <a:avLst/>
          </a:prstGeom>
          <a:solidFill>
            <a:srgbClr val="FFFF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4｜損害賠償請求権の期間制限　被害者又はその法定代理人が損害及び賠償義務者を知った時から3年（生命・身体の侵害の場合は5年）、また製造業者…</a:t>
            </a:r>
          </a:p>
        </p:txBody>
      </p:sp>
      <p:sp>
        <p:nvSpPr>
          <p:cNvPr id="10" name="Rounded Rectangle 9"/>
          <p:cNvSpPr/>
          <p:nvPr/>
        </p:nvSpPr>
        <p:spPr>
          <a:xfrm>
            <a:off x="3124047" y="4242816"/>
            <a:ext cx="5943600" cy="640080"/>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5｜消費者契約法　事業者が消費者に対し、不実告知（事実と異なることを告げる）、断定的判断の提供（将来値上がりする等と決めつけて…</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家電メーカーが製造した電気ケトルの製造工程での不具合（製造上の欠陥）が原因で発火し、利用者が火傷を負った場合、利用者はPL法に基づき、メーカーの過失を証明しなくても損害賠償を請求できます。生命・身体への損害な…</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PL法の損害賠償請求権の期間制限は「3年」が原則ですが、生命・身体の侵害の場合は5年に延長される点、また「引渡しから10年」という長期の期間制限（除斥期間に相当）も別途存在する点を押さえておきましょう。「一律…</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事業承継に関する法（経営承継円滑化法）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566928"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遺留分</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（E-17参照）を侵害してしまい、後継者が遺留分侵害額請求を受けて経営に必要な自社…</a:t>
            </a:r>
          </a:p>
        </p:txBody>
      </p:sp>
      <p:sp>
        <p:nvSpPr>
          <p:cNvPr id="10" name="Chevron 9"/>
          <p:cNvSpPr/>
          <p:nvPr/>
        </p:nvSpPr>
        <p:spPr>
          <a:xfrm>
            <a:off x="2456078"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除外合意</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先代経営者が後継者に贈与した自社株式・事業用資産の価額を、遺留分を算定するための財…</a:t>
            </a:r>
          </a:p>
        </p:txBody>
      </p:sp>
      <p:sp>
        <p:nvSpPr>
          <p:cNvPr id="15" name="Chevron 14"/>
          <p:cNvSpPr/>
          <p:nvPr/>
        </p:nvSpPr>
        <p:spPr>
          <a:xfrm>
            <a:off x="4765852"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固定合意</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遺留分を算定する際の自社株式の評価額を、合意時の時価に固定する合意（自社株式のみに…</a:t>
            </a:r>
          </a:p>
        </p:txBody>
      </p:sp>
      <p:sp>
        <p:nvSpPr>
          <p:cNvPr id="20" name="Chevron 19"/>
          <p:cNvSpPr/>
          <p:nvPr/>
        </p:nvSpPr>
        <p:spPr>
          <a:xfrm>
            <a:off x="7075627"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推定相続人全員の合意</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に基づき、経済産業大臣の確認と家庭裁判所の許可を経て効力が生じます。</a:t>
            </a:r>
          </a:p>
        </p:txBody>
      </p:sp>
      <p:sp>
        <p:nvSpPr>
          <p:cNvPr id="25" name="Chevron 24"/>
          <p:cNvSpPr/>
          <p:nvPr/>
        </p:nvSpPr>
        <p:spPr>
          <a:xfrm>
            <a:off x="9385401" y="2596896"/>
            <a:ext cx="310896" cy="640080"/>
          </a:xfrm>
          <a:prstGeom prst="chevron">
            <a:avLst/>
          </a:prstGeom>
          <a:solidFill>
            <a:srgbClr val="A26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AF5FF"/>
          </a:solidFill>
          <a:ln w="1778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7E22CE"/>
                </a:solidFill>
                <a:latin typeface="WenQuanYi Micro Hei"/>
              </a:rPr>
              <a:t>事業承継税制</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や、金融支援措置も定められています。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先代経営者が保有する自社株式（時価3,000万円）のほぼ全部を後継者である長男に生前贈与した場合、他の相続人（次男）が将来、遺留分侵害額請求をしてくると、長男は多額の金銭を次男に支払わなければならなくなり、経…</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除外合意」と「固定合意」の違い（対象財産を計算から除外するのか、評価額を固定するのか）を混同しないこと。また、固定合意は自社株式についてのみ利用でき、事業用不動産などには使えない点にも注意しましょう。</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企業活動に関する国際条約</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企業活動に関する法律知識（E-17〜E-24）</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ウィーン売買条約（CISG）</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などがあり、国境を越えた取引を行う際には、契約書で準拠法を定めていない場合にどの国のルールが適用されるかに影響します。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企業活動に関連する国際条約のうち、知的財産に関す…</a:t>
            </a:r>
          </a:p>
        </p:txBody>
      </p:sp>
      <p:sp>
        <p:nvSpPr>
          <p:cNvPr id="14" name="Rounded Rectangle 13"/>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15" name="Rounded Rectangle 14"/>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それ以外にも、国際的な物品売買契約に適用されるル…</a:t>
            </a:r>
          </a:p>
        </p:txBody>
      </p:sp>
      <p:sp>
        <p:nvSpPr>
          <p:cNvPr id="18" name="Rounded Rectangle 1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企業とアメリカ企業が国際物品売買契約を結ぶ際、契約書に準拠法条項（E-15参照）を明記していないと、両国がともにウィーン売買条約の加盟国であれば、同条約が適用される可能性があります。実務上はこうした不確実…</a:t>
            </a:r>
          </a:p>
        </p:txBody>
      </p:sp>
      <p:sp>
        <p:nvSpPr>
          <p:cNvPr id="19" name="Rounded Rectangle 1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直近10年間、この論点単独での出題はなく、知財関連の国際条約についての出題はE-12に集約されています。E-12・E-15と合わせて学習し、「国際取引では、自国の民法・会社法がそのまま適用されるとは限らない」…</a:t>
            </a:r>
          </a:p>
        </p:txBody>
      </p:sp>
      <p:sp>
        <p:nvSpPr>
          <p:cNvPr id="20" name="Rectangle 1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2" name="TextBox 2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AF5FF"/>
          </a:solidFill>
          <a:ln w="25400">
            <a:solidFill>
              <a:srgbClr val="B88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7E22CE"/>
                </a:solidFill>
                <a:latin typeface="WenQuanYi Micro Hei"/>
              </a:rPr>
              <a:t>SECTION 05</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資本市場へのアクセスと手続</a:t>
            </a:r>
          </a:p>
        </p:txBody>
      </p:sp>
      <p:sp>
        <p:nvSpPr>
          <p:cNvPr id="6" name="Rounded Rectangle 5"/>
          <p:cNvSpPr/>
          <p:nvPr/>
        </p:nvSpPr>
        <p:spPr>
          <a:xfrm>
            <a:off x="4261104" y="3968496"/>
            <a:ext cx="3657600" cy="749808"/>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3 論点</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資本市場に関する基礎知識</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資本市場へのアクセスと手続（E-25〜E-27）</a:t>
            </a:r>
          </a:p>
        </p:txBody>
      </p:sp>
      <p:sp>
        <p:nvSpPr>
          <p:cNvPr id="6" name="Rounded Rectangle 5"/>
          <p:cNvSpPr/>
          <p:nvPr/>
        </p:nvSpPr>
        <p:spPr>
          <a:xfrm>
            <a:off x="502920" y="1024128"/>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間接金融</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）のほか、株式や社債を発行して投資家から直接資金を集める（直接金融）方法があります。証券取引所に株式を上場することで、投資…</a:t>
            </a:r>
          </a:p>
        </p:txBody>
      </p:sp>
      <p:sp>
        <p:nvSpPr>
          <p:cNvPr id="10" name="Rounded Rectangle 9"/>
          <p:cNvSpPr/>
          <p:nvPr/>
        </p:nvSpPr>
        <p:spPr>
          <a:xfrm>
            <a:off x="6204203" y="1024128"/>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企業が資金を調達する方法に</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金融機関からの借入（間接金融）のほか、株式や社債を発行して投資家から直接資金を集める（直接金融）方法があります。</a:t>
            </a:r>
          </a:p>
        </p:txBody>
      </p:sp>
      <p:sp>
        <p:nvSpPr>
          <p:cNvPr id="14" name="Rounded Rectangle 13"/>
          <p:cNvSpPr/>
          <p:nvPr/>
        </p:nvSpPr>
        <p:spPr>
          <a:xfrm>
            <a:off x="502920" y="3145536"/>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証券取引所に株式を上場することで、投資家が株式を…</a:t>
            </a:r>
          </a:p>
        </p:txBody>
      </p:sp>
      <p:sp>
        <p:nvSpPr>
          <p:cNvPr id="17" name="Rounded Rectangle 16"/>
          <p:cNvSpPr/>
          <p:nvPr/>
        </p:nvSpPr>
        <p:spPr>
          <a:xfrm>
            <a:off x="6204203" y="3145536"/>
            <a:ext cx="5500116"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4203"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236976"/>
            <a:ext cx="5180076"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上場によって知名度・信用力が向上する一方、継続的…</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創業間もない企業が、銀行融資（間接金融）だけでなく、ベンチャーキャピタルからの出資（直接金融）を受け入れることで、返済義務のない資金を調達しつつ、経営のアドバイスも得られるというメリットがあります。</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注意｜直近10年間、この論点単独での出題はありません。「直接金融と間接金融の違い」という基礎知識として押さえ、E-26・E-27の前提知識としましょう。</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有価証券報告書とディスクロージャー</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資本市場へのアクセスと手続（E-25〜E-27）</a:t>
            </a:r>
          </a:p>
        </p:txBody>
      </p:sp>
      <p:sp>
        <p:nvSpPr>
          <p:cNvPr id="6" name="Rounded Rectangle 5"/>
          <p:cNvSpPr/>
          <p:nvPr/>
        </p:nvSpPr>
        <p:spPr>
          <a:xfrm>
            <a:off x="502920" y="1024128"/>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発行開示</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新たに有価証券を発行して資金調達する際の開示。一定額以上の募集・売出しを行う場合、有価証券届出書を提出しなければなりません。</a:t>
            </a:r>
          </a:p>
        </p:txBody>
      </p:sp>
      <p:sp>
        <p:nvSpPr>
          <p:cNvPr id="10" name="Rounded Rectangle 9"/>
          <p:cNvSpPr/>
          <p:nvPr/>
        </p:nvSpPr>
        <p:spPr>
          <a:xfrm>
            <a:off x="4303776" y="1024128"/>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継続開示</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すでに発行された有価証券が市場で流通している間、継続的に行う開示。上場会社等は、各事業年度終了後原則3か月以内に有価証券報…</a:t>
            </a:r>
          </a:p>
        </p:txBody>
      </p:sp>
      <p:sp>
        <p:nvSpPr>
          <p:cNvPr id="14" name="Rounded Rectangle 13"/>
          <p:cNvSpPr/>
          <p:nvPr/>
        </p:nvSpPr>
        <p:spPr>
          <a:xfrm>
            <a:off x="8104632" y="1024128"/>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金融商品取引法</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投資家保護のため、証券を発行する企業に情報開示（ディスクロージャー）を義務付けています。</a:t>
            </a:r>
          </a:p>
        </p:txBody>
      </p:sp>
      <p:sp>
        <p:nvSpPr>
          <p:cNvPr id="18" name="Rounded Rectangle 17"/>
          <p:cNvSpPr/>
          <p:nvPr/>
        </p:nvSpPr>
        <p:spPr>
          <a:xfrm>
            <a:off x="502920" y="3145536"/>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開示</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大きく2つの場面に分かれます。</a:t>
            </a:r>
          </a:p>
        </p:txBody>
      </p:sp>
      <p:sp>
        <p:nvSpPr>
          <p:cNvPr id="22" name="Rounded Rectangle 21"/>
          <p:cNvSpPr/>
          <p:nvPr/>
        </p:nvSpPr>
        <p:spPr>
          <a:xfrm>
            <a:off x="4303776" y="3145536"/>
            <a:ext cx="3599688" cy="1920240"/>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有価証券報告書の提出義務</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上場会社だけでなく、過去に有価証券届出書を提出したことがある会社や、株主数が一定数以上（1,000人以上等）になったこ…</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上場企業が決算を発表する際、決算短信（証券取引所の規則に基づく速報的な開示）を先に公表し、その後、より詳細な内容を記載した有価証券報告書を事業年度終了後3か月以内に提出する、という2段階の開示が一般的です。</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有価証券届出書」（新規発行時の開示）と「有価証券報告書」（継続開示）の役割の違いを混同しないこと。また、有価証券報告書の提出義務は上場会社に限られず、一定の非上場会社にも及ぶ場合がある点に注意しましょう。</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E-27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社債発行・株式公開手続</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7E22CE"/>
                </a:solidFill>
                <a:latin typeface="WenQuanYi Micro Hei"/>
              </a:rPr>
              <a:t>資本市場へのアクセスと手続（E-25〜E-27）</a:t>
            </a:r>
          </a:p>
        </p:txBody>
      </p:sp>
      <p:sp>
        <p:nvSpPr>
          <p:cNvPr id="6" name="Rounded Rectangle 5"/>
          <p:cNvSpPr/>
          <p:nvPr/>
        </p:nvSpPr>
        <p:spPr>
          <a:xfrm>
            <a:off x="566928" y="1051560"/>
            <a:ext cx="5394960" cy="420624"/>
          </a:xfrm>
          <a:prstGeom prst="roundRect">
            <a:avLst/>
          </a:prstGeom>
          <a:solidFill>
            <a:srgbClr val="7E22CE"/>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社債</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は、会社が投資家から資金を借り入れるために発行する債券で、株式とは異なり、投資家（社債権者）は会社の「債権者」であり「株主…</a:t>
            </a:r>
          </a:p>
        </p:txBody>
      </p:sp>
      <p:sp>
        <p:nvSpPr>
          <p:cNvPr id="11" name="Rounded Rectangle 10"/>
          <p:cNvSpPr/>
          <p:nvPr/>
        </p:nvSpPr>
        <p:spPr>
          <a:xfrm>
            <a:off x="566928"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株式公開（IPO：新規上場）</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を目指す企業は、証券取引所が定める上場審査基準をクリアする必要があります。審査基準には、形式的に数値で判断される形式基準（…</a:t>
            </a:r>
          </a:p>
        </p:txBody>
      </p:sp>
      <p:sp>
        <p:nvSpPr>
          <p:cNvPr id="15" name="Rounded Rectangle 14"/>
          <p:cNvSpPr/>
          <p:nvPr/>
        </p:nvSpPr>
        <p:spPr>
          <a:xfrm>
            <a:off x="566928"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社債を発行するに</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取締役会（取締役会設置会社の場合）で募集事項を決定し、社債権者を保護するための機関として、一定の場合に社債管理者（銀行…</a:t>
            </a:r>
          </a:p>
        </p:txBody>
      </p:sp>
      <p:sp>
        <p:nvSpPr>
          <p:cNvPr id="19" name="Rounded Rectangle 18"/>
          <p:cNvSpPr/>
          <p:nvPr/>
        </p:nvSpPr>
        <p:spPr>
          <a:xfrm>
            <a:off x="6217920" y="1051560"/>
            <a:ext cx="5394960" cy="42062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7E22C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株式公開（IPO</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新規上場）を目指す企業は、証券取引所が定める上場審査基準をクリアする必要があります。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審査基準に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形式的に数値で判断される形式基準（株主数、流通株式数・時価総額、事業継続年数、純資産額など）と、実質的に経営の健全性…</a:t>
            </a:r>
          </a:p>
        </p:txBody>
      </p:sp>
      <p:sp>
        <p:nvSpPr>
          <p:cNvPr id="28" name="Rounded Rectangle 27"/>
          <p:cNvSpPr/>
          <p:nvPr/>
        </p:nvSpPr>
        <p:spPr>
          <a:xfrm>
            <a:off x="6217920" y="3986783"/>
            <a:ext cx="5394960" cy="1078992"/>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上場によって資金調達力・社会的信用</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高まりますが、前述の継続開示義務やガバナンス体制の整備といったコストも発生します。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急成長中のITベンチャーが東京証券取引所グロース市場への上場を目指す場合、形式基準（株主数や流通株式時価総額など、市場ごとに定められた数値基準）を満たすことに加え、実質基準として「企業経営の健全性」「企業のコ…</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社債権者は「株主」ではなく「債権者」である点、社債には原則として議決権がない点を混同しないようにしましょう。また、上場審査基準には「形式基準」と「実質基準」の両方があり、数値基準（形式基準）さえ満たせば上場で…</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docs/textbook/E_business_law_textbook.md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7E22CE"/>
                </a:solidFill>
                <a:latin typeface="WenQuanYi Micro He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経営法務｜学習のまとめ</a:t>
            </a:r>
          </a:p>
        </p:txBody>
      </p:sp>
      <p:sp>
        <p:nvSpPr>
          <p:cNvPr id="4" name="Oval 3"/>
          <p:cNvSpPr/>
          <p:nvPr/>
        </p:nvSpPr>
        <p:spPr>
          <a:xfrm>
            <a:off x="4892040" y="2304288"/>
            <a:ext cx="2395728" cy="1417320"/>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知的財産権の4類型（特許・実用新案・意匠・商標）…</a:t>
            </a:r>
          </a:p>
        </p:txBody>
      </p:sp>
      <p:cxnSp>
        <p:nvCxnSpPr>
          <p:cNvPr id="8" name="Connector 7"/>
          <p:cNvCxnSpPr/>
          <p:nvPr/>
        </p:nvCxnSpPr>
        <p:spPr>
          <a:xfrm>
            <a:off x="5980176" y="1563624"/>
            <a:ext cx="3447288" cy="1234440"/>
          </a:xfrm>
          <a:prstGeom prst="line">
            <a:avLst/>
          </a:prstGeom>
          <a:ln w="22860">
            <a:solidFill>
              <a:srgbClr val="AB6FD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73568" y="2286000"/>
            <a:ext cx="2907792" cy="102412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2286000"/>
            <a:ext cx="73152" cy="102412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事業譲渡 vs 会社分割・合併</a:t>
            </a:r>
          </a:p>
        </p:txBody>
      </p:sp>
      <p:sp>
        <p:nvSpPr>
          <p:cNvPr id="12" name="TextBox 11"/>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包括承継か特定承継か、契約相手方の同意の要否、債権者保護手続の要否</a:t>
            </a:r>
          </a:p>
        </p:txBody>
      </p:sp>
      <p:cxnSp>
        <p:nvCxnSpPr>
          <p:cNvPr id="13" name="Connector 12"/>
          <p:cNvCxnSpPr/>
          <p:nvPr/>
        </p:nvCxnSpPr>
        <p:spPr>
          <a:xfrm flipH="1">
            <a:off x="5980176" y="2798064"/>
            <a:ext cx="3447288" cy="1508760"/>
          </a:xfrm>
          <a:prstGeom prst="line">
            <a:avLst/>
          </a:prstGeom>
          <a:ln w="22860">
            <a:solidFill>
              <a:srgbClr val="AB6FD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26280" y="3794760"/>
            <a:ext cx="2907792" cy="102412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3794760"/>
            <a:ext cx="73152" cy="102412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民事再生 vs 会社更生</a:t>
            </a:r>
          </a:p>
        </p:txBody>
      </p:sp>
      <p:sp>
        <p:nvSpPr>
          <p:cNvPr id="17" name="TextBox 16"/>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対象（株式会社限定か否か）、経営権の帰趨</a:t>
            </a:r>
          </a:p>
        </p:txBody>
      </p:sp>
      <p:cxnSp>
        <p:nvCxnSpPr>
          <p:cNvPr id="18" name="Connector 17"/>
          <p:cNvCxnSpPr/>
          <p:nvPr/>
        </p:nvCxnSpPr>
        <p:spPr>
          <a:xfrm flipH="1" flipV="1">
            <a:off x="2532888" y="2798064"/>
            <a:ext cx="3447288" cy="1508760"/>
          </a:xfrm>
          <a:prstGeom prst="line">
            <a:avLst/>
          </a:prstGeom>
          <a:ln w="22860">
            <a:solidFill>
              <a:srgbClr val="AB6FD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78992" y="2286000"/>
            <a:ext cx="2907792" cy="1024128"/>
          </a:xfrm>
          <a:prstGeom prst="roundRect">
            <a:avLst/>
          </a:prstGeom>
          <a:solidFill>
            <a:srgbClr val="FFFFFF"/>
          </a:solidFill>
          <a:ln w="15240">
            <a:solidFill>
              <a:srgbClr val="C59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8992" y="2286000"/>
            <a:ext cx="73152" cy="102412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7E22CE"/>
                </a:solidFill>
                <a:latin typeface="WenQuanYi Micro Hei"/>
              </a:rPr>
              <a:t>株主総会 vs 取締役会</a:t>
            </a:r>
          </a:p>
        </p:txBody>
      </p:sp>
      <p:sp>
        <p:nvSpPr>
          <p:cNvPr id="22" name="TextBox 21"/>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議決権の代理行使の可否、決議省略の範囲</a:t>
            </a:r>
          </a:p>
        </p:txBody>
      </p:sp>
      <p:cxnSp>
        <p:nvCxnSpPr>
          <p:cNvPr id="23" name="Connector 22"/>
          <p:cNvCxnSpPr/>
          <p:nvPr/>
        </p:nvCxnSpPr>
        <p:spPr>
          <a:xfrm flipV="1">
            <a:off x="2532888" y="1563624"/>
            <a:ext cx="3447288" cy="1234440"/>
          </a:xfrm>
          <a:prstGeom prst="line">
            <a:avLst/>
          </a:prstGeom>
          <a:ln w="22860">
            <a:solidFill>
              <a:srgbClr val="AB6FD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77240" y="5074920"/>
            <a:ext cx="10652760" cy="969264"/>
          </a:xfrm>
          <a:prstGeom prst="roundRect">
            <a:avLst/>
          </a:prstGeom>
          <a:solidFill>
            <a:srgbClr val="FAF5FF"/>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7E22CE"/>
                </a:solidFill>
                <a:latin typeface="WenQuanYi Micro Hei"/>
              </a:rPr>
              <a:t>次の一歩｜problem_sets/1st_stage/ の論点表と exercises/ の演習で、27論点を定着させる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経営法務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