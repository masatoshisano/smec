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909560" y="685800"/>
            <a:ext cx="3840480" cy="3840480"/>
          </a:xfrm>
          <a:prstGeom prst="ellipse">
            <a:avLst/>
          </a:prstGeom>
          <a:solidFill>
            <a:srgbClr val="FFF1F2"/>
          </a:solidFill>
          <a:ln w="25400">
            <a:solidFill>
              <a:srgbClr val="DE889E"/>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5400" b="1">
                <a:solidFill>
                  <a:srgbClr val="BE123C"/>
                </a:solidFill>
                <a:latin typeface="WenQuanYi Micro Hei"/>
              </a:rPr>
              <a:t>G</a:t>
            </a:r>
          </a:p>
        </p:txBody>
      </p:sp>
      <p:sp>
        <p:nvSpPr>
          <p:cNvPr id="4" name="TextBox 3"/>
          <p:cNvSpPr txBox="1"/>
          <p:nvPr/>
        </p:nvSpPr>
        <p:spPr>
          <a:xfrm>
            <a:off x="685800" y="1280160"/>
            <a:ext cx="7086600" cy="502920"/>
          </a:xfrm>
          <a:prstGeom prst="rect">
            <a:avLst/>
          </a:prstGeom>
          <a:noFill/>
        </p:spPr>
        <p:txBody>
          <a:bodyPr wrap="square" tIns="91440" bIns="91440" anchor="ctr">
            <a:spAutoFit/>
          </a:bodyPr>
          <a:lstStyle/>
          <a:p>
            <a:pPr algn="l">
              <a:spcAft>
                <a:spcPts val="0"/>
              </a:spcAft>
            </a:pPr>
            <a:r>
              <a:rPr sz="1700" b="1">
                <a:solidFill>
                  <a:srgbClr val="BE123C"/>
                </a:solidFill>
                <a:latin typeface="WenQuanYi Micro Hei"/>
              </a:rPr>
              <a:t>中小企業診断士 第1次試験</a:t>
            </a:r>
          </a:p>
        </p:txBody>
      </p:sp>
      <p:sp>
        <p:nvSpPr>
          <p:cNvPr id="5" name="TextBox 4"/>
          <p:cNvSpPr txBox="1"/>
          <p:nvPr/>
        </p:nvSpPr>
        <p:spPr>
          <a:xfrm>
            <a:off x="658368" y="1874519"/>
            <a:ext cx="7406640" cy="1234440"/>
          </a:xfrm>
          <a:prstGeom prst="rect">
            <a:avLst/>
          </a:prstGeom>
          <a:noFill/>
        </p:spPr>
        <p:txBody>
          <a:bodyPr wrap="square" tIns="91440" bIns="91440" anchor="t">
            <a:spAutoFit/>
          </a:bodyPr>
          <a:lstStyle/>
          <a:p>
            <a:pPr algn="l">
              <a:spcAft>
                <a:spcPts val="0"/>
              </a:spcAft>
            </a:pPr>
            <a:r>
              <a:rPr sz="3600" b="1">
                <a:solidFill>
                  <a:srgbClr val="172033"/>
                </a:solidFill>
                <a:latin typeface="WenQuanYi Micro Hei"/>
              </a:rPr>
              <a:t>中小企業経営・中小企業政策</a:t>
            </a:r>
          </a:p>
        </p:txBody>
      </p:sp>
      <p:sp>
        <p:nvSpPr>
          <p:cNvPr id="6" name="TextBox 5"/>
          <p:cNvSpPr txBox="1"/>
          <p:nvPr/>
        </p:nvSpPr>
        <p:spPr>
          <a:xfrm>
            <a:off x="685800" y="3337560"/>
            <a:ext cx="6766560" cy="640080"/>
          </a:xfrm>
          <a:prstGeom prst="rect">
            <a:avLst/>
          </a:prstGeom>
          <a:noFill/>
        </p:spPr>
        <p:txBody>
          <a:bodyPr wrap="square" tIns="91440" bIns="91440" anchor="ctr">
            <a:spAutoFit/>
          </a:bodyPr>
          <a:lstStyle/>
          <a:p>
            <a:pPr algn="l">
              <a:spcAft>
                <a:spcPts val="0"/>
              </a:spcAft>
            </a:pPr>
            <a:r>
              <a:rPr sz="2000" b="0">
                <a:solidFill>
                  <a:srgbClr val="667085"/>
                </a:solidFill>
                <a:latin typeface="WenQuanYi Micro Hei"/>
              </a:rPr>
              <a:t>図解スライド｜全論点を「構造・比較・流れ」で理解する</a:t>
            </a:r>
          </a:p>
        </p:txBody>
      </p:sp>
      <p:sp>
        <p:nvSpPr>
          <p:cNvPr id="7" name="Rounded Rectangle 6"/>
          <p:cNvSpPr/>
          <p:nvPr/>
        </p:nvSpPr>
        <p:spPr>
          <a:xfrm>
            <a:off x="685800" y="4617720"/>
            <a:ext cx="3246120" cy="658368"/>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FFFFFF"/>
                </a:solidFill>
                <a:latin typeface="WenQuanYi Micro Hei"/>
              </a:rPr>
              <a:t>28 論点</a:t>
            </a:r>
          </a:p>
        </p:txBody>
      </p:sp>
      <p:sp>
        <p:nvSpPr>
          <p:cNvPr id="8" name="Rounded Rectangle 7"/>
          <p:cNvSpPr/>
          <p:nvPr/>
        </p:nvSpPr>
        <p:spPr>
          <a:xfrm>
            <a:off x="4096512" y="4617720"/>
            <a:ext cx="3246120" cy="658368"/>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BE123C"/>
                </a:solidFill>
                <a:latin typeface="WenQuanYi Micro Hei"/>
              </a:rPr>
              <a:t>2 セクション</a:t>
            </a:r>
          </a:p>
        </p:txBody>
      </p:sp>
      <p:sp>
        <p:nvSpPr>
          <p:cNvPr id="9" name="TextBox 8"/>
          <p:cNvSpPr txBox="1"/>
          <p:nvPr/>
        </p:nvSpPr>
        <p:spPr>
          <a:xfrm>
            <a:off x="685800" y="5879592"/>
            <a:ext cx="10881360" cy="256032"/>
          </a:xfrm>
          <a:prstGeom prst="rect">
            <a:avLst/>
          </a:prstGeom>
          <a:noFill/>
        </p:spPr>
        <p:txBody>
          <a:bodyPr wrap="square" tIns="91440" bIns="91440" anchor="ctr">
            <a:spAutoFit/>
          </a:bodyPr>
          <a:lstStyle/>
          <a:p>
            <a:pPr algn="l">
              <a:spcAft>
                <a:spcPts val="0"/>
              </a:spcAft>
            </a:pPr>
            <a:r>
              <a:rPr sz="1100" b="0">
                <a:solidFill>
                  <a:srgbClr val="667085"/>
                </a:solidFill>
                <a:latin typeface="WenQuanYi Micro Hei"/>
              </a:rPr>
              <a:t>SMEC 教科書シリーズ｜教科書本文を基に自動生成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800" b="1">
                <a:solidFill>
                  <a:srgbClr val="172033"/>
                </a:solidFill>
                <a:latin typeface="WenQuanYi Micro Hei"/>
              </a:rPr>
              <a:t>このスライドの使い方</a:t>
            </a:r>
          </a:p>
        </p:txBody>
      </p:sp>
      <p:sp>
        <p:nvSpPr>
          <p:cNvPr id="4" name="Oval 3"/>
          <p:cNvSpPr/>
          <p:nvPr/>
        </p:nvSpPr>
        <p:spPr>
          <a:xfrm>
            <a:off x="1499616" y="1261872"/>
            <a:ext cx="685800" cy="685800"/>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1</a:t>
            </a:r>
          </a:p>
        </p:txBody>
      </p:sp>
      <p:sp>
        <p:nvSpPr>
          <p:cNvPr id="5" name="Rounded Rectangle 4"/>
          <p:cNvSpPr/>
          <p:nvPr/>
        </p:nvSpPr>
        <p:spPr>
          <a:xfrm>
            <a:off x="658368" y="2121408"/>
            <a:ext cx="2377440" cy="1572768"/>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121408"/>
            <a:ext cx="73152" cy="1572768"/>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212848"/>
            <a:ext cx="205740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全体像</a:t>
            </a:r>
          </a:p>
        </p:txBody>
      </p:sp>
      <p:sp>
        <p:nvSpPr>
          <p:cNvPr id="8" name="TextBox 7"/>
          <p:cNvSpPr txBox="1"/>
          <p:nvPr/>
        </p:nvSpPr>
        <p:spPr>
          <a:xfrm>
            <a:off x="859536"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まず図の関係性を眺める</a:t>
            </a:r>
          </a:p>
        </p:txBody>
      </p:sp>
      <p:sp>
        <p:nvSpPr>
          <p:cNvPr id="9" name="Chevron 8"/>
          <p:cNvSpPr/>
          <p:nvPr/>
        </p:nvSpPr>
        <p:spPr>
          <a:xfrm>
            <a:off x="3099815" y="2615184"/>
            <a:ext cx="347472" cy="502920"/>
          </a:xfrm>
          <a:prstGeom prst="chevron">
            <a:avLst/>
          </a:prstGeom>
          <a:solidFill>
            <a:srgbClr val="D25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52544" y="1261872"/>
            <a:ext cx="685800" cy="685800"/>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2</a:t>
            </a:r>
          </a:p>
        </p:txBody>
      </p:sp>
      <p:sp>
        <p:nvSpPr>
          <p:cNvPr id="11" name="Rounded Rectangle 10"/>
          <p:cNvSpPr/>
          <p:nvPr/>
        </p:nvSpPr>
        <p:spPr>
          <a:xfrm>
            <a:off x="3511296" y="2121408"/>
            <a:ext cx="2377440" cy="1572768"/>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11296" y="2121408"/>
            <a:ext cx="73152" cy="1572768"/>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12463" y="2212848"/>
            <a:ext cx="205740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具体例</a:t>
            </a:r>
          </a:p>
        </p:txBody>
      </p:sp>
      <p:sp>
        <p:nvSpPr>
          <p:cNvPr id="14" name="TextBox 13"/>
          <p:cNvSpPr txBox="1"/>
          <p:nvPr/>
        </p:nvSpPr>
        <p:spPr>
          <a:xfrm>
            <a:off x="3712463"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身近な場面へ置き換える</a:t>
            </a:r>
          </a:p>
        </p:txBody>
      </p:sp>
      <p:sp>
        <p:nvSpPr>
          <p:cNvPr id="15" name="Chevron 14"/>
          <p:cNvSpPr/>
          <p:nvPr/>
        </p:nvSpPr>
        <p:spPr>
          <a:xfrm>
            <a:off x="5952744" y="2615184"/>
            <a:ext cx="347472" cy="502920"/>
          </a:xfrm>
          <a:prstGeom prst="chevron">
            <a:avLst/>
          </a:prstGeom>
          <a:solidFill>
            <a:srgbClr val="D25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05472" y="1261872"/>
            <a:ext cx="685800" cy="685800"/>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3</a:t>
            </a:r>
          </a:p>
        </p:txBody>
      </p:sp>
      <p:sp>
        <p:nvSpPr>
          <p:cNvPr id="17" name="Rounded Rectangle 16"/>
          <p:cNvSpPr/>
          <p:nvPr/>
        </p:nvSpPr>
        <p:spPr>
          <a:xfrm>
            <a:off x="6364224" y="2121408"/>
            <a:ext cx="2377440" cy="1572768"/>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64224" y="2121408"/>
            <a:ext cx="73152" cy="1572768"/>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212848"/>
            <a:ext cx="205740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注意</a:t>
            </a:r>
          </a:p>
        </p:txBody>
      </p:sp>
      <p:sp>
        <p:nvSpPr>
          <p:cNvPr id="20" name="TextBox 19"/>
          <p:cNvSpPr txBox="1"/>
          <p:nvPr/>
        </p:nvSpPr>
        <p:spPr>
          <a:xfrm>
            <a:off x="6565392"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誤答パターンを見分ける</a:t>
            </a:r>
          </a:p>
        </p:txBody>
      </p:sp>
      <p:sp>
        <p:nvSpPr>
          <p:cNvPr id="21" name="Chevron 20"/>
          <p:cNvSpPr/>
          <p:nvPr/>
        </p:nvSpPr>
        <p:spPr>
          <a:xfrm>
            <a:off x="8805672" y="2615184"/>
            <a:ext cx="347472" cy="502920"/>
          </a:xfrm>
          <a:prstGeom prst="chevron">
            <a:avLst/>
          </a:prstGeom>
          <a:solidFill>
            <a:srgbClr val="D25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0" y="1261872"/>
            <a:ext cx="685800" cy="685800"/>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4</a:t>
            </a:r>
          </a:p>
        </p:txBody>
      </p:sp>
      <p:sp>
        <p:nvSpPr>
          <p:cNvPr id="23" name="Rounded Rectangle 22"/>
          <p:cNvSpPr/>
          <p:nvPr/>
        </p:nvSpPr>
        <p:spPr>
          <a:xfrm>
            <a:off x="9217152" y="2121408"/>
            <a:ext cx="2377440" cy="1572768"/>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17152" y="2121408"/>
            <a:ext cx="73152" cy="1572768"/>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0" y="2212848"/>
            <a:ext cx="205740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演習</a:t>
            </a:r>
          </a:p>
        </p:txBody>
      </p:sp>
      <p:sp>
        <p:nvSpPr>
          <p:cNvPr id="26" name="TextBox 25"/>
          <p:cNvSpPr txBox="1"/>
          <p:nvPr/>
        </p:nvSpPr>
        <p:spPr>
          <a:xfrm>
            <a:off x="9418320"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教科書の参照先で定着させる</a:t>
            </a:r>
          </a:p>
        </p:txBody>
      </p:sp>
      <p:sp>
        <p:nvSpPr>
          <p:cNvPr id="27" name="Rounded Rectangle 26"/>
          <p:cNvSpPr/>
          <p:nvPr/>
        </p:nvSpPr>
        <p:spPr>
          <a:xfrm>
            <a:off x="685800" y="4251960"/>
            <a:ext cx="10817352" cy="1280160"/>
          </a:xfrm>
          <a:prstGeom prst="roundRect">
            <a:avLst/>
          </a:prstGeom>
          <a:solidFill>
            <a:srgbClr val="FFF1F2"/>
          </a:solidFill>
          <a:ln w="12700">
            <a:solidFill>
              <a:srgbClr val="DB7D94"/>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500" b="0">
                <a:solidFill>
                  <a:srgbClr val="172033"/>
                </a:solidFill>
                <a:latin typeface="WenQuanYi Micro Hei"/>
              </a:rPr>
              <a:t>「中小企業経営・中小企業政策」は、中小企業診断士がまさに診断・助言の対象とする「中小企業」そのものについて学ぶ科目です。他の6科目（経済学、財務・会計、企業経営理論、運営管理、経営法務、経営情報システム）が普遍的な理論・知識を扱うのに対し、この科目だけは当年度の中小企業白書・中小企業施策総覧の内容がそのまま出題される、実務色・時事色の強い科目です。この教科…</a:t>
            </a:r>
          </a:p>
        </p:txBody>
      </p:sp>
      <p:sp>
        <p:nvSpPr>
          <p:cNvPr id="28" name="TextBox 27"/>
          <p:cNvSpPr txBox="1"/>
          <p:nvPr/>
        </p:nvSpPr>
        <p:spPr>
          <a:xfrm>
            <a:off x="713232" y="5760720"/>
            <a:ext cx="10698480" cy="320040"/>
          </a:xfrm>
          <a:prstGeom prst="rect">
            <a:avLst/>
          </a:prstGeom>
          <a:noFill/>
        </p:spPr>
        <p:txBody>
          <a:bodyPr wrap="square" tIns="91440" bIns="91440" anchor="ctr">
            <a:spAutoFit/>
          </a:bodyPr>
          <a:lstStyle/>
          <a:p>
            <a:pPr algn="ctr">
              <a:spcAft>
                <a:spcPts val="0"/>
              </a:spcAft>
            </a:pPr>
            <a:r>
              <a:rPr sz="1100" b="0">
                <a:solidFill>
                  <a:srgbClr val="B42318"/>
                </a:solidFill>
                <a:latin typeface="WenQuanYi Micro Hei"/>
              </a:rPr>
              <a:t>※ 数値・法令・制度は出題年度によって変わる場合があります。最新の公式情報も確認してください。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FF1F2"/>
          </a:solidFill>
          <a:ln w="25400">
            <a:solidFill>
              <a:srgbClr val="DB7D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BE123C"/>
                </a:solidFill>
                <a:latin typeface="WenQuanYi Micro Hei"/>
              </a:rPr>
              <a:t>SECTION 01</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中小企業経営</a:t>
            </a:r>
          </a:p>
        </p:txBody>
      </p:sp>
      <p:sp>
        <p:nvSpPr>
          <p:cNvPr id="6" name="Rounded Rectangle 5"/>
          <p:cNvSpPr/>
          <p:nvPr/>
        </p:nvSpPr>
        <p:spPr>
          <a:xfrm>
            <a:off x="4261104" y="3968496"/>
            <a:ext cx="3657600" cy="749808"/>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17 論点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経済・産業における中小企業の役割、位置づけ（中小企業基本法の定義）</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838047" y="1024128"/>
            <a:ext cx="10515600" cy="640080"/>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1｜製造業・建設業・運輸業その他（下記を除く）　3億円以下 / 300人以下</a:t>
            </a:r>
          </a:p>
        </p:txBody>
      </p:sp>
      <p:sp>
        <p:nvSpPr>
          <p:cNvPr id="7" name="Rounded Rectangle 6"/>
          <p:cNvSpPr/>
          <p:nvPr/>
        </p:nvSpPr>
        <p:spPr>
          <a:xfrm>
            <a:off x="1409547" y="1828800"/>
            <a:ext cx="9372600" cy="640080"/>
          </a:xfrm>
          <a:prstGeom prst="roundRect">
            <a:avLst/>
          </a:prstGeom>
          <a:solidFill>
            <a:srgbClr val="FFFFFF"/>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2｜卸売業　1億円以下 / 100人以下</a:t>
            </a:r>
          </a:p>
        </p:txBody>
      </p:sp>
      <p:sp>
        <p:nvSpPr>
          <p:cNvPr id="8" name="Rounded Rectangle 7"/>
          <p:cNvSpPr/>
          <p:nvPr/>
        </p:nvSpPr>
        <p:spPr>
          <a:xfrm>
            <a:off x="1981047" y="2633472"/>
            <a:ext cx="8229600" cy="640080"/>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3｜サービス業　5,000万円以下 / 100人以下</a:t>
            </a:r>
          </a:p>
        </p:txBody>
      </p:sp>
      <p:sp>
        <p:nvSpPr>
          <p:cNvPr id="9" name="Rounded Rectangle 8"/>
          <p:cNvSpPr/>
          <p:nvPr/>
        </p:nvSpPr>
        <p:spPr>
          <a:xfrm>
            <a:off x="2552547" y="3438144"/>
            <a:ext cx="7086600" cy="640080"/>
          </a:xfrm>
          <a:prstGeom prst="roundRect">
            <a:avLst/>
          </a:prstGeom>
          <a:solidFill>
            <a:srgbClr val="FFFFFF"/>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4｜小売業（飲食店業を含む）　5,000万円以下 / 50人以下</a:t>
            </a:r>
          </a:p>
        </p:txBody>
      </p:sp>
      <p:sp>
        <p:nvSpPr>
          <p:cNvPr id="10" name="Rounded Rectangle 9"/>
          <p:cNvSpPr/>
          <p:nvPr/>
        </p:nvSpPr>
        <p:spPr>
          <a:xfrm>
            <a:off x="3124047" y="4242816"/>
            <a:ext cx="5943600" cy="640080"/>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5｜中小企業基本法第2条　が定める明確な基準に当てはまる会社・個人事業主のことです。基準は「資本金の額（または出資の総額）」と「常時使…</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常時使用する従業員数が80人、資本金6,000万円の旅館があるとします。旅館業は施行令上の特例業種で従業員基準が200人以下に緩和されているため、資本金基準（通常のサービス業なら5,000万円以下）は超えてい…</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注意｜資本金基準と従業員基準を「AND条件（両方満たす必要がある）」と誤解しないこと。正しくは「OR条件（どちらか一方でよい）」です。 飲食店業は日常感覚では「サービス業」のようですが、法律上は「小売業」に分類され…</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各種統計にみる中小企業の動向</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502920" y="1024128"/>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経済センサス（活動調査）</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日本国内のすべての事業所・企業を対象にした国の基幹統計。企業数・従業者数・売上高などの基礎データを網羅的に把握する。</a:t>
            </a:r>
          </a:p>
        </p:txBody>
      </p:sp>
      <p:sp>
        <p:nvSpPr>
          <p:cNvPr id="10" name="Rounded Rectangle 9"/>
          <p:cNvSpPr/>
          <p:nvPr/>
        </p:nvSpPr>
        <p:spPr>
          <a:xfrm>
            <a:off x="4303776" y="1024128"/>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中小企業実態基本調査</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中小企業庁が中小企業（法人・個人事業者）を対象に実施する調査で、財務データ（付加価値額など）の把握に使われる。</a:t>
            </a:r>
          </a:p>
        </p:txBody>
      </p:sp>
      <p:sp>
        <p:nvSpPr>
          <p:cNvPr id="14" name="Rounded Rectangle 13"/>
          <p:cNvSpPr/>
          <p:nvPr/>
        </p:nvSpPr>
        <p:spPr>
          <a:xfrm>
            <a:off x="8104632" y="1024128"/>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法人企業統計調査</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財務省が実施する調査で、企業の財務諸表データ（資本金階級別の統計を含む）を集計する。</a:t>
            </a:r>
          </a:p>
        </p:txBody>
      </p:sp>
      <p:sp>
        <p:nvSpPr>
          <p:cNvPr id="18" name="Rounded Rectangle 17"/>
          <p:cNvSpPr/>
          <p:nvPr/>
        </p:nvSpPr>
        <p:spPr>
          <a:xfrm>
            <a:off x="502920" y="3145536"/>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大部分</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（企業数ベースで99％台）を占め、従業者数でも大きな割合を占める一方、付加価値額（GDPに近い概念）でのシェアは企業数の割…</a:t>
            </a:r>
          </a:p>
        </p:txBody>
      </p:sp>
      <p:sp>
        <p:nvSpPr>
          <p:cNvPr id="22" name="Rounded Rectangle 21"/>
          <p:cNvSpPr/>
          <p:nvPr/>
        </p:nvSpPr>
        <p:spPr>
          <a:xfrm>
            <a:off x="4303776" y="3145536"/>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注意</a:t>
            </a:r>
          </a:p>
        </p:txBody>
      </p:sp>
      <p:sp>
        <p:nvSpPr>
          <p:cNvPr id="25" name="TextBox 24"/>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具体的なパーセンテージ（企業数の何％、従業者数の何％等）は年度により更新されるため、この教科書では暗記すべき正確な数値は示…</a:t>
            </a:r>
          </a:p>
        </p:txBody>
      </p:sp>
      <p:sp>
        <p:nvSpPr>
          <p:cNvPr id="26" name="Rounded Rectangle 25"/>
          <p:cNvSpPr/>
          <p:nvPr/>
        </p:nvSpPr>
        <p:spPr>
          <a:xfrm>
            <a:off x="8104632" y="3145536"/>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04632" y="3145536"/>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05800" y="3236976"/>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中小企業の実態</a:t>
            </a:r>
          </a:p>
        </p:txBody>
      </p:sp>
      <p:sp>
        <p:nvSpPr>
          <p:cNvPr id="29" name="TextBox 28"/>
          <p:cNvSpPr txBox="1"/>
          <p:nvPr/>
        </p:nvSpPr>
        <p:spPr>
          <a:xfrm>
            <a:off x="8305800"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いくつかの公的統計から把握します。</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具体例｜「中小企業は日本の企業数の大部分を占めるが、付加価値額（生み出す経済的価値）のシェアは、企業数の割合ほど大きくない」という White paper の記述を見たときに、「数のわりに一社あたりの生産性・稼ぐ力は…</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統計問題は「具体的な数値そのもの」を問うタイプと、「増加傾向か減少傾向か」「大企業と比べて高いか低いか」という方向性を問うタイプがあります。数値を覚えきれない場合でも、白書のメインメッセージ（docs/06_…</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産業構造と中小企業、中小企業性業種</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566928"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中小企業性業種</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とは、大企業の参入・進出があまり見られず、その業種の生産・事業活動の大部分を中小企…</a:t>
            </a:r>
          </a:p>
        </p:txBody>
      </p:sp>
      <p:sp>
        <p:nvSpPr>
          <p:cNvPr id="10" name="Chevron 9"/>
          <p:cNvSpPr/>
          <p:nvPr/>
        </p:nvSpPr>
        <p:spPr>
          <a:xfrm>
            <a:off x="2456078"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伝統的に</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印刷業、木材・木製品製造業、繊維工業、家具製造業、各種の伝統的工芸品産業などが代表…</a:t>
            </a:r>
          </a:p>
        </p:txBody>
      </p:sp>
      <p:sp>
        <p:nvSpPr>
          <p:cNvPr id="15" name="Chevron 14"/>
          <p:cNvSpPr/>
          <p:nvPr/>
        </p:nvSpPr>
        <p:spPr>
          <a:xfrm>
            <a:off x="4765852"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これらの業種</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多品種少量生産に向いていたり、地域の資源・技術に根ざしていたりするため、大企業によ…</a:t>
            </a:r>
          </a:p>
        </p:txBody>
      </p:sp>
      <p:sp>
        <p:nvSpPr>
          <p:cNvPr id="20" name="Chevron 19"/>
          <p:cNvSpPr/>
          <p:nvPr/>
        </p:nvSpPr>
        <p:spPr>
          <a:xfrm>
            <a:off x="7075627"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逆に、装置産業（巨額の設備投資…</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25" name="Chevron 24"/>
          <p:cNvSpPr/>
          <p:nvPr/>
        </p:nvSpPr>
        <p:spPr>
          <a:xfrm>
            <a:off x="9385401"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例</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鉄鋼、石油化学、電力）は、大企業が中心となる業種の代表例です。</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伝統的な酒蔵や陶磁器の産地は、地域固有の技術・原材料・ブランドに依存するため、大企業が同じやり方で大量生産に乗り出しにくく、中小企業（零細な蔵元・窯元）が中心的な担い手になっています。これは中小企業性業種の典…</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中小企業性業種＝斜陽産業（衰退産業）」ではありません。中小企業性業種であっても、独自の付加価値（ブランド、地域性、匠の技術）を武器に高い収益性を実現している企業は存在します。業種特性と個々の企業の業績を混同…</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地域社会・地域産業と中小企業</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502920" y="1024128"/>
            <a:ext cx="5500116"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産地</a:t>
            </a:r>
          </a:p>
        </p:txBody>
      </p:sp>
      <p:sp>
        <p:nvSpPr>
          <p:cNvPr id="9" name="TextBox 8"/>
          <p:cNvSpPr txBox="1"/>
          <p:nvPr/>
        </p:nvSpPr>
        <p:spPr>
          <a:xfrm>
            <a:off x="704088"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）を形成することがあります。産地とは、同じ業種の中小企業が特定の地域に集積し、原材料の調達から加工・製造・販売までの分業体…</a:t>
            </a:r>
          </a:p>
        </p:txBody>
      </p:sp>
      <p:sp>
        <p:nvSpPr>
          <p:cNvPr id="10" name="Rounded Rectangle 9"/>
          <p:cNvSpPr/>
          <p:nvPr/>
        </p:nvSpPr>
        <p:spPr>
          <a:xfrm>
            <a:off x="6204203" y="1024128"/>
            <a:ext cx="5500116"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4203" y="1024128"/>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a:t>
            </a:r>
          </a:p>
        </p:txBody>
      </p:sp>
      <p:sp>
        <p:nvSpPr>
          <p:cNvPr id="13" name="TextBox 12"/>
          <p:cNvSpPr txBox="1"/>
          <p:nvPr/>
        </p:nvSpPr>
        <p:spPr>
          <a:xfrm>
            <a:off x="6405371"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地域経済・地域社会において雇用の受け皿となるだけでなく、地域独自の産業集積（産地）を形成することがあります。</a:t>
            </a:r>
          </a:p>
        </p:txBody>
      </p:sp>
      <p:sp>
        <p:nvSpPr>
          <p:cNvPr id="14" name="Rounded Rectangle 13"/>
          <p:cNvSpPr/>
          <p:nvPr/>
        </p:nvSpPr>
        <p:spPr>
          <a:xfrm>
            <a:off x="502920" y="3145536"/>
            <a:ext cx="5500116"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145536"/>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3236976"/>
            <a:ext cx="5180076"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また、特定の大企業（親工場）を中心に、その下請企…</a:t>
            </a:r>
          </a:p>
        </p:txBody>
      </p:sp>
      <p:sp>
        <p:nvSpPr>
          <p:cNvPr id="17" name="Rounded Rectangle 16"/>
          <p:cNvSpPr/>
          <p:nvPr/>
        </p:nvSpPr>
        <p:spPr>
          <a:xfrm>
            <a:off x="6204203" y="3145536"/>
            <a:ext cx="5500116"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4203" y="3145536"/>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5371" y="3236976"/>
            <a:ext cx="5180076"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近年</a:t>
            </a:r>
          </a:p>
        </p:txBody>
      </p:sp>
      <p:sp>
        <p:nvSpPr>
          <p:cNvPr id="20" name="TextBox 19"/>
          <p:cNvSpPr txBox="1"/>
          <p:nvPr/>
        </p:nvSpPr>
        <p:spPr>
          <a:xfrm>
            <a:off x="6405371" y="3566160"/>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地域の中小企業が地域外の企業・大学・金融機関等と連携し、地域資源（農産品、観光資源、伝統技術）を活用した新たな事業を創…</a:t>
            </a:r>
          </a:p>
        </p:txBody>
      </p:sp>
      <p:sp>
        <p:nvSpPr>
          <p:cNvPr id="21" name="Rounded Rectangle 2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地方都市に、金属加工の中小企業が数十社集積しており、それぞれが「切削」「メッキ」「組立」など異なる工程を分業して受け持つことで、地域全体として一つの製造ラインのような機能を果たしている状態は、産地型の産業…</a:t>
            </a:r>
          </a:p>
        </p:txBody>
      </p:sp>
      <p:sp>
        <p:nvSpPr>
          <p:cNvPr id="22" name="Rounded Rectangle 2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注意｜「産地」は同業種の中小企業が集積するタイプ、「企業城下町」は特定の大企業（親工場）を頂点とする下請構造が地域に根付くタイプ、という違いを区別しましょう。</a:t>
            </a:r>
          </a:p>
        </p:txBody>
      </p:sp>
      <p:sp>
        <p:nvSpPr>
          <p:cNvPr id="23" name="Rectangle 2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25" name="TextBox 2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中小企業の経営指標（各種統計）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566928"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ローカルベンチマーク（通称：ロ…</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です。ローカルベンチマークは「企業の健康診断」に例えられるツールで、企業の経営状態…</a:t>
            </a:r>
          </a:p>
        </p:txBody>
      </p:sp>
      <p:sp>
        <p:nvSpPr>
          <p:cNvPr id="10" name="Chevron 9"/>
          <p:cNvSpPr/>
          <p:nvPr/>
        </p:nvSpPr>
        <p:spPr>
          <a:xfrm>
            <a:off x="2456078"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財務情報（6つの指標）</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①売上高増加率、②営業利益率、③労働生産性、④EBITDA有利子負債倍率、⑤営業運…</a:t>
            </a:r>
          </a:p>
        </p:txBody>
      </p:sp>
      <p:sp>
        <p:nvSpPr>
          <p:cNvPr id="15" name="Chevron 14"/>
          <p:cNvSpPr/>
          <p:nvPr/>
        </p:nvSpPr>
        <p:spPr>
          <a:xfrm>
            <a:off x="4765852"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非財務情報（4つの視点）</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①経営者への着目、②事業への着目、③関係者への着目、④内部管理体制への着目、の4つ…</a:t>
            </a:r>
          </a:p>
        </p:txBody>
      </p:sp>
      <p:sp>
        <p:nvSpPr>
          <p:cNvPr id="20" name="Chevron 19"/>
          <p:cNvSpPr/>
          <p:nvPr/>
        </p:nvSpPr>
        <p:spPr>
          <a:xfrm>
            <a:off x="7075627"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中小企業診断士が実務で使う代表…</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25" name="Chevron 24"/>
          <p:cNvSpPr/>
          <p:nvPr/>
        </p:nvSpPr>
        <p:spPr>
          <a:xfrm>
            <a:off x="9385401"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ローカルベンチマーク</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「企業の健康診断」に例えられるツールで、企業の経営状態を「財務情報」と「非財務情報…</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中小企業診断士がある製造業の企業を診断する際、決算書の数字（財務情報の6指標）だけでなく、経営者の資質や後継者の有無（経営者への着目）、主要取引先との関係性（関係者への着目）、社内の情報共有の仕組み（内部管理…</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財務の「6つの指標」に「売上高人件費比率」や「総資本回転率」のような、それらしいが実際には含まれない指標を紛れ込ませる出題パターンが頻出です。6つの指標の正確な名称（特に「EBITDA有利子負債倍率」「営業運…</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中小企業経営の特質と課題（経営基盤、経営の多様性）</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502920" y="1024128"/>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経営の多様性</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）である点も中小企業の特徴です。中小企業経営の代表的な課題として、次のようなものが繰り返し指摘されます。</a:t>
            </a:r>
          </a:p>
        </p:txBody>
      </p:sp>
      <p:sp>
        <p:nvSpPr>
          <p:cNvPr id="10" name="Rounded Rectangle 9"/>
          <p:cNvSpPr/>
          <p:nvPr/>
        </p:nvSpPr>
        <p:spPr>
          <a:xfrm>
            <a:off x="4303776" y="1024128"/>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資金調達力の弱さ</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信用力が大企業より低く、金融機関からの借入（間接金融）に依存しがちで、株式・社債による直接金融は限定的</a:t>
            </a:r>
          </a:p>
        </p:txBody>
      </p:sp>
      <p:sp>
        <p:nvSpPr>
          <p:cNvPr id="14" name="Rounded Rectangle 13"/>
          <p:cNvSpPr/>
          <p:nvPr/>
        </p:nvSpPr>
        <p:spPr>
          <a:xfrm>
            <a:off x="8104632" y="1024128"/>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人材確保の難しさ</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知名度・待遇面で大企業に見劣りし、採用競争で不利になりやすい</a:t>
            </a:r>
          </a:p>
        </p:txBody>
      </p:sp>
      <p:sp>
        <p:nvSpPr>
          <p:cNvPr id="18" name="Rounded Rectangle 17"/>
          <p:cNvSpPr/>
          <p:nvPr/>
        </p:nvSpPr>
        <p:spPr>
          <a:xfrm>
            <a:off x="502920" y="3145536"/>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情報収集力の限界</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市場動向・法改正・技術動向などの情報を収集・分析する専任部署を持てないことが多い</a:t>
            </a:r>
          </a:p>
        </p:txBody>
      </p:sp>
      <p:sp>
        <p:nvSpPr>
          <p:cNvPr id="22" name="Rounded Rectangle 21"/>
          <p:cNvSpPr/>
          <p:nvPr/>
        </p:nvSpPr>
        <p:spPr>
          <a:xfrm>
            <a:off x="4303776" y="3145536"/>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経営者への依存度の高さ</a:t>
            </a:r>
          </a:p>
        </p:txBody>
      </p:sp>
      <p:sp>
        <p:nvSpPr>
          <p:cNvPr id="25" name="TextBox 24"/>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オーナー経営者の能力・健康状態が経営全体を大きく左右する</a:t>
            </a:r>
          </a:p>
        </p:txBody>
      </p:sp>
      <p:sp>
        <p:nvSpPr>
          <p:cNvPr id="26" name="Rounded Rectangle 25"/>
          <p:cNvSpPr/>
          <p:nvPr/>
        </p:nvSpPr>
        <p:spPr>
          <a:xfrm>
            <a:off x="8104632" y="3145536"/>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04632" y="3145536"/>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05800" y="3236976"/>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a:t>
            </a:r>
          </a:p>
        </p:txBody>
      </p:sp>
      <p:sp>
        <p:nvSpPr>
          <p:cNvPr id="29" name="TextBox 28"/>
          <p:cNvSpPr txBox="1"/>
          <p:nvPr/>
        </p:nvSpPr>
        <p:spPr>
          <a:xfrm>
            <a:off x="8305800"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大企業と比べ、「経営資源（ヒト・モノ・カネ・情報）が乏しい」という共通の制約を抱えていますが、その一方で業種・規模・経…</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小さな製造業の経営者が高齢で急病になった場合、後継者や幹部社員が育っていなければ、会社全体の意思決定が止まってしまうことがあります。これは「経営者への依存度の高さ」という中小企業特有の経営基盤の脆弱性を示…</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中小企業は一律に弱い存在」という単純化した記述には注意が必要です。白書でも近年強調されているとおり、成長投資やDXに積極的に取り組む中小企業は、大企業と遜色ない生産性・収益性を実現している例も少なくありませ…</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業種・業態別経営特質と課題（建設・製造・卸小売・サービス業等）</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graphicFrame>
        <p:nvGraphicFramePr>
          <p:cNvPr id="6" name="Table 5"/>
          <p:cNvGraphicFramePr>
            <a:graphicFrameLocks noGrp="1"/>
          </p:cNvGraphicFramePr>
          <p:nvPr/>
        </p:nvGraphicFramePr>
        <p:xfrm>
          <a:off x="594360" y="1115568"/>
          <a:ext cx="11000232" cy="3931920"/>
        </p:xfrm>
        <a:graphic>
          <a:graphicData uri="http://schemas.openxmlformats.org/drawingml/2006/table">
            <a:tbl>
              <a:tblPr firstRow="1" bandRow="1">
                <a:tableStyleId>{5C22544A-7EE6-4342-B048-85BDC9FD1C3A}</a:tableStyleId>
              </a:tblPr>
              <a:tblGrid>
                <a:gridCol w="5500116"/>
                <a:gridCol w="5500116"/>
              </a:tblGrid>
              <a:tr h="655320">
                <a:tc>
                  <a:txBody>
                    <a:bodyPr wrap="square" lIns="54864" rIns="54864" tIns="54864" bIns="54864" anchor="ctr"/>
                    <a:lstStyle/>
                    <a:p>
                      <a:pPr algn="ctr">
                        <a:spcAft>
                          <a:spcPts val="0"/>
                        </a:spcAft>
                      </a:pPr>
                      <a:r>
                        <a:rPr sz="1150" b="1">
                          <a:solidFill>
                            <a:srgbClr val="FFFFFF"/>
                          </a:solidFill>
                          <a:latin typeface="WenQuanYi Micro Hei"/>
                        </a:rPr>
                        <a:t>業種</a:t>
                      </a:r>
                    </a:p>
                  </a:txBody>
                  <a:tcPr marL="73152" marR="73152">
                    <a:solidFill>
                      <a:srgbClr val="BE123C"/>
                    </a:solidFill>
                  </a:tcPr>
                </a:tc>
                <a:tc>
                  <a:txBody>
                    <a:bodyPr wrap="square" lIns="54864" rIns="54864" tIns="54864" bIns="54864" anchor="ctr"/>
                    <a:lstStyle/>
                    <a:p>
                      <a:pPr algn="ctr">
                        <a:spcAft>
                          <a:spcPts val="0"/>
                        </a:spcAft>
                      </a:pPr>
                      <a:r>
                        <a:rPr sz="1150" b="1">
                          <a:solidFill>
                            <a:srgbClr val="FFFFFF"/>
                          </a:solidFill>
                          <a:latin typeface="WenQuanYi Micro Hei"/>
                        </a:rPr>
                        <a:t>経営上の特徴・課題</a:t>
                      </a:r>
                    </a:p>
                  </a:txBody>
                  <a:tcPr marL="73152" marR="73152">
                    <a:solidFill>
                      <a:srgbClr val="BE123C"/>
                    </a:solidFill>
                  </a:tcPr>
                </a:tc>
              </a:tr>
              <a:tr h="655320">
                <a:tc>
                  <a:txBody>
                    <a:bodyPr wrap="square" lIns="54864" rIns="54864" tIns="54864" bIns="54864" anchor="ctr"/>
                    <a:lstStyle/>
                    <a:p>
                      <a:pPr algn="ctr">
                        <a:spcAft>
                          <a:spcPts val="0"/>
                        </a:spcAft>
                      </a:pPr>
                      <a:r>
                        <a:rPr sz="1150" b="1">
                          <a:solidFill>
                            <a:srgbClr val="172033"/>
                          </a:solidFill>
                          <a:latin typeface="WenQuanYi Micro Hei"/>
                        </a:rPr>
                        <a:t>建設業</a:t>
                      </a:r>
                    </a:p>
                  </a:txBody>
                  <a:tcPr marL="73152" marR="73152">
                    <a:solidFill>
                      <a:srgbClr val="FFF1F2"/>
                    </a:solidFill>
                  </a:tcPr>
                </a:tc>
                <a:tc>
                  <a:txBody>
                    <a:bodyPr wrap="square" lIns="54864" rIns="54864" tIns="54864" bIns="54864" anchor="ctr"/>
                    <a:lstStyle/>
                    <a:p>
                      <a:pPr algn="ctr">
                        <a:spcAft>
                          <a:spcPts val="0"/>
                        </a:spcAft>
                      </a:pPr>
                      <a:r>
                        <a:rPr sz="1150" b="0">
                          <a:solidFill>
                            <a:srgbClr val="172033"/>
                          </a:solidFill>
                          <a:latin typeface="WenQuanYi Micro Hei"/>
                        </a:rPr>
                        <a:t>元請・下請・孫請という重層下請構造が一般的。受注生産（一品一様）で価格転嫁や工期管理が…</a:t>
                      </a:r>
                    </a:p>
                  </a:txBody>
                  <a:tcPr marL="73152" marR="73152">
                    <a:solidFill>
                      <a:srgbClr val="FFF1F2"/>
                    </a:solidFill>
                  </a:tcPr>
                </a:tc>
              </a:tr>
              <a:tr h="655320">
                <a:tc>
                  <a:txBody>
                    <a:bodyPr wrap="square" lIns="54864" rIns="54864" tIns="54864" bIns="54864" anchor="ctr"/>
                    <a:lstStyle/>
                    <a:p>
                      <a:pPr algn="ctr">
                        <a:spcAft>
                          <a:spcPts val="0"/>
                        </a:spcAft>
                      </a:pPr>
                      <a:r>
                        <a:rPr sz="1150" b="1">
                          <a:solidFill>
                            <a:srgbClr val="172033"/>
                          </a:solidFill>
                          <a:latin typeface="WenQuanYi Micro Hei"/>
                        </a:rPr>
                        <a:t>製造業</a:t>
                      </a:r>
                    </a:p>
                  </a:txBody>
                  <a:tcPr marL="73152" marR="73152">
                    <a:solidFill>
                      <a:srgbClr val="FFFFFF"/>
                    </a:solidFill>
                  </a:tcPr>
                </a:tc>
                <a:tc>
                  <a:txBody>
                    <a:bodyPr wrap="square" lIns="54864" rIns="54864" tIns="54864" bIns="54864" anchor="ctr"/>
                    <a:lstStyle/>
                    <a:p>
                      <a:pPr algn="ctr">
                        <a:spcAft>
                          <a:spcPts val="0"/>
                        </a:spcAft>
                      </a:pPr>
                      <a:r>
                        <a:rPr sz="1150" b="0">
                          <a:solidFill>
                            <a:srgbClr val="172033"/>
                          </a:solidFill>
                          <a:latin typeface="WenQuanYi Micro Hei"/>
                        </a:rPr>
                        <a:t>大企業の系列・下請として特定の発注元に依存する構造が多い。近年は下請からの脱却（自社製…</a:t>
                      </a:r>
                    </a:p>
                  </a:txBody>
                  <a:tcPr marL="73152" marR="73152">
                    <a:solidFill>
                      <a:srgbClr val="FFFFFF"/>
                    </a:solidFill>
                  </a:tcPr>
                </a:tc>
              </a:tr>
              <a:tr h="655320">
                <a:tc>
                  <a:txBody>
                    <a:bodyPr wrap="square" lIns="54864" rIns="54864" tIns="54864" bIns="54864" anchor="ctr"/>
                    <a:lstStyle/>
                    <a:p>
                      <a:pPr algn="ctr">
                        <a:spcAft>
                          <a:spcPts val="0"/>
                        </a:spcAft>
                      </a:pPr>
                      <a:r>
                        <a:rPr sz="1150" b="1">
                          <a:solidFill>
                            <a:srgbClr val="172033"/>
                          </a:solidFill>
                          <a:latin typeface="WenQuanYi Micro Hei"/>
                        </a:rPr>
                        <a:t>卸売業</a:t>
                      </a:r>
                    </a:p>
                  </a:txBody>
                  <a:tcPr marL="73152" marR="73152">
                    <a:solidFill>
                      <a:srgbClr val="FFF1F2"/>
                    </a:solidFill>
                  </a:tcPr>
                </a:tc>
                <a:tc>
                  <a:txBody>
                    <a:bodyPr wrap="square" lIns="54864" rIns="54864" tIns="54864" bIns="54864" anchor="ctr"/>
                    <a:lstStyle/>
                    <a:p>
                      <a:pPr algn="ctr">
                        <a:spcAft>
                          <a:spcPts val="0"/>
                        </a:spcAft>
                      </a:pPr>
                      <a:r>
                        <a:rPr sz="1150" b="0">
                          <a:solidFill>
                            <a:srgbClr val="172033"/>
                          </a:solidFill>
                          <a:latin typeface="WenQuanYi Micro Hei"/>
                        </a:rPr>
                        <a:t>メーカーと小売の間の「中間流通」を担うが、メーカーの直接取引拡大やEC化により「中抜き…</a:t>
                      </a:r>
                    </a:p>
                  </a:txBody>
                  <a:tcPr marL="73152" marR="73152">
                    <a:solidFill>
                      <a:srgbClr val="FFF1F2"/>
                    </a:solidFill>
                  </a:tcPr>
                </a:tc>
              </a:tr>
              <a:tr h="655320">
                <a:tc>
                  <a:txBody>
                    <a:bodyPr wrap="square" lIns="54864" rIns="54864" tIns="54864" bIns="54864" anchor="ctr"/>
                    <a:lstStyle/>
                    <a:p>
                      <a:pPr algn="ctr">
                        <a:spcAft>
                          <a:spcPts val="0"/>
                        </a:spcAft>
                      </a:pPr>
                      <a:r>
                        <a:rPr sz="1150" b="1">
                          <a:solidFill>
                            <a:srgbClr val="172033"/>
                          </a:solidFill>
                          <a:latin typeface="WenQuanYi Micro Hei"/>
                        </a:rPr>
                        <a:t>小売業</a:t>
                      </a:r>
                    </a:p>
                  </a:txBody>
                  <a:tcPr marL="73152" marR="73152">
                    <a:solidFill>
                      <a:srgbClr val="FFFFFF"/>
                    </a:solidFill>
                  </a:tcPr>
                </a:tc>
                <a:tc>
                  <a:txBody>
                    <a:bodyPr wrap="square" lIns="54864" rIns="54864" tIns="54864" bIns="54864" anchor="ctr"/>
                    <a:lstStyle/>
                    <a:p>
                      <a:pPr algn="ctr">
                        <a:spcAft>
                          <a:spcPts val="0"/>
                        </a:spcAft>
                      </a:pPr>
                      <a:r>
                        <a:rPr sz="1150" b="0">
                          <a:solidFill>
                            <a:srgbClr val="172033"/>
                          </a:solidFill>
                          <a:latin typeface="WenQuanYi Micro Hei"/>
                        </a:rPr>
                        <a:t>大型店・ネット通販との競争が激化。まちづくり三法（後述G-26）など立地規制とも関係が…</a:t>
                      </a:r>
                    </a:p>
                  </a:txBody>
                  <a:tcPr marL="73152" marR="73152">
                    <a:solidFill>
                      <a:srgbClr val="FFFFFF"/>
                    </a:solidFill>
                  </a:tcPr>
                </a:tc>
              </a:tr>
              <a:tr h="655320">
                <a:tc>
                  <a:txBody>
                    <a:bodyPr wrap="square" lIns="54864" rIns="54864" tIns="54864" bIns="54864" anchor="ctr"/>
                    <a:lstStyle/>
                    <a:p>
                      <a:pPr algn="ctr">
                        <a:spcAft>
                          <a:spcPts val="0"/>
                        </a:spcAft>
                      </a:pPr>
                      <a:r>
                        <a:rPr sz="1150" b="1">
                          <a:solidFill>
                            <a:srgbClr val="172033"/>
                          </a:solidFill>
                          <a:latin typeface="WenQuanYi Micro Hei"/>
                        </a:rPr>
                        <a:t>サービス業</a:t>
                      </a:r>
                    </a:p>
                  </a:txBody>
                  <a:tcPr marL="73152" marR="73152">
                    <a:solidFill>
                      <a:srgbClr val="FFF1F2"/>
                    </a:solidFill>
                  </a:tcPr>
                </a:tc>
                <a:tc>
                  <a:txBody>
                    <a:bodyPr wrap="square" lIns="54864" rIns="54864" tIns="54864" bIns="54864" anchor="ctr"/>
                    <a:lstStyle/>
                    <a:p>
                      <a:pPr algn="ctr">
                        <a:spcAft>
                          <a:spcPts val="0"/>
                        </a:spcAft>
                      </a:pPr>
                      <a:r>
                        <a:rPr sz="1150" b="0">
                          <a:solidFill>
                            <a:srgbClr val="172033"/>
                          </a:solidFill>
                          <a:latin typeface="WenQuanYi Micro Hei"/>
                        </a:rPr>
                        <a:t>労働集約的（人手に頼る割合が高い）業種が多く、労働生産性の向上が特に大きな政策課題</a:t>
                      </a:r>
                    </a:p>
                  </a:txBody>
                  <a:tcPr marL="73152" marR="73152">
                    <a:solidFill>
                      <a:srgbClr val="FFF1F2"/>
                    </a:solidFill>
                  </a:tcPr>
                </a:tc>
              </a:tr>
            </a:tbl>
          </a:graphicData>
        </a:graphic>
      </p:graphicFrame>
      <p:sp>
        <p:nvSpPr>
          <p:cNvPr id="7" name="Rounded Rectangle 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建設業の中小企業が、大手ゼネコンの下請として工事の一部を受注している場合、資材価格が高騰しても、元請との契約上、価格転嫁が思うようにできないことがあります。これは重層下請構造ゆえの建設業特有の経営課題です。</a:t>
            </a:r>
          </a:p>
        </p:txBody>
      </p:sp>
      <p:sp>
        <p:nvSpPr>
          <p:cNvPr id="8" name="Rounded Rectangle 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業種特性の設問は、白書内の業種別分析（製造業／非製造業、あるいは建設業・卸売業・小売業・サービス業別の集計データ）を根拠に出題されることが多く、「どの業種が」「どんな課題を」抱えているかを取り違えないようにす…</a:t>
            </a:r>
          </a:p>
        </p:txBody>
      </p:sp>
      <p:sp>
        <p:nvSpPr>
          <p:cNvPr id="9" name="Rectangle 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11" name="TextBox 1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中小企業の経営環境と経営革新（グローバル化、サプライチェーン）</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566928" y="1444752"/>
            <a:ext cx="2356866"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89329"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2119122"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グローバル化の進展と反動</a:t>
            </a:r>
          </a:p>
        </p:txBody>
      </p:sp>
      <p:sp>
        <p:nvSpPr>
          <p:cNvPr id="9" name="TextBox 8"/>
          <p:cNvSpPr txBox="1"/>
          <p:nvPr/>
        </p:nvSpPr>
        <p:spPr>
          <a:xfrm>
            <a:off x="713232"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海外との貿易・投資の拡大が進む一方、地政学リスク（米中対立等）や感染症の拡大を経験…</a:t>
            </a:r>
          </a:p>
        </p:txBody>
      </p:sp>
      <p:sp>
        <p:nvSpPr>
          <p:cNvPr id="10" name="Chevron 9"/>
          <p:cNvSpPr/>
          <p:nvPr/>
        </p:nvSpPr>
        <p:spPr>
          <a:xfrm>
            <a:off x="3033522"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54146" y="1444752"/>
            <a:ext cx="2356866" cy="3063240"/>
          </a:xfrm>
          <a:prstGeom prst="roundRect">
            <a:avLst/>
          </a:prstGeom>
          <a:solidFill>
            <a:srgbClr val="FFFFFF"/>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76547"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3573018" y="1810512"/>
            <a:ext cx="2119122"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サプライチェーンの強靱化（レジ…</a:t>
            </a:r>
          </a:p>
        </p:txBody>
      </p:sp>
      <p:sp>
        <p:nvSpPr>
          <p:cNvPr id="14" name="TextBox 13"/>
          <p:cNvSpPr txBox="1"/>
          <p:nvPr/>
        </p:nvSpPr>
        <p:spPr>
          <a:xfrm>
            <a:off x="3600450"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調達先の分散、国内回帰（リショアリング）、在庫の適正化など、供給網を途絶させないた…</a:t>
            </a:r>
          </a:p>
        </p:txBody>
      </p:sp>
      <p:sp>
        <p:nvSpPr>
          <p:cNvPr id="15" name="Chevron 14"/>
          <p:cNvSpPr/>
          <p:nvPr/>
        </p:nvSpPr>
        <p:spPr>
          <a:xfrm>
            <a:off x="5920740"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41364" y="1444752"/>
            <a:ext cx="2356866"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63764"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6460236" y="1810512"/>
            <a:ext cx="2119122"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価格転嫁の推進</a:t>
            </a:r>
          </a:p>
        </p:txBody>
      </p:sp>
      <p:sp>
        <p:nvSpPr>
          <p:cNvPr id="19" name="TextBox 18"/>
          <p:cNvSpPr txBox="1"/>
          <p:nvPr/>
        </p:nvSpPr>
        <p:spPr>
          <a:xfrm>
            <a:off x="6487668"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原材料費・エネルギー価格・人件費の上昇分を、取引価格に適切に反映させること（詳細は…</a:t>
            </a:r>
          </a:p>
        </p:txBody>
      </p:sp>
      <p:sp>
        <p:nvSpPr>
          <p:cNvPr id="20" name="Chevron 19"/>
          <p:cNvSpPr/>
          <p:nvPr/>
        </p:nvSpPr>
        <p:spPr>
          <a:xfrm>
            <a:off x="8807957"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228582" y="1444752"/>
            <a:ext cx="2356866" cy="3063240"/>
          </a:xfrm>
          <a:prstGeom prst="roundRect">
            <a:avLst/>
          </a:prstGeom>
          <a:solidFill>
            <a:srgbClr val="FFFFFF"/>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150983"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9347454" y="1810512"/>
            <a:ext cx="2119122"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近年の中小企業を取り巻く経営環…</a:t>
            </a:r>
          </a:p>
        </p:txBody>
      </p:sp>
      <p:sp>
        <p:nvSpPr>
          <p:cNvPr id="24" name="TextBox 23"/>
          <p:cNvSpPr txBox="1"/>
          <p:nvPr/>
        </p:nvSpPr>
        <p:spPr>
          <a:xfrm>
            <a:off x="9374886"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25" name="Rounded Rectangle 2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海外の特定国からの部品調達に依存していた製造業が、感染症の流行や国際情勢の変化で部品が届かなくなった経験から、調達先を複数の国・地域に分散させたり、一部の生産を国内に戻したりする対応を取ることは、サプライチェ…</a:t>
            </a:r>
          </a:p>
        </p:txBody>
      </p:sp>
      <p:sp>
        <p:nvSpPr>
          <p:cNvPr id="26" name="Rounded Rectangle 2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注意｜「グローバル化＝海外進出を進めることが常に望ましい」という単純化ではなく、供給網のリスク管理（分散・強靱化）という文脈でグローバル化が語られる点に注意しましょう。</a:t>
            </a:r>
          </a:p>
        </p:txBody>
      </p:sp>
      <p:sp>
        <p:nvSpPr>
          <p:cNvPr id="27" name="Rectangle 2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29" name="TextBox 2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金融・信用保証、税制</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502920" y="1024128"/>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直接金融</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よりも、銀行等からの借入である間接金融に大きく依存しているのが特徴です。中小企業は大企業に比べて信用力（担保力・情報開示力…</a:t>
            </a:r>
          </a:p>
        </p:txBody>
      </p:sp>
      <p:sp>
        <p:nvSpPr>
          <p:cNvPr id="10" name="Rounded Rectangle 9"/>
          <p:cNvSpPr/>
          <p:nvPr/>
        </p:nvSpPr>
        <p:spPr>
          <a:xfrm>
            <a:off x="4303776" y="1024128"/>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税制上の優遇措置の対象範囲は、必ずしも「中小企…</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ということです。多くの租税特別措置法上の優遇（軽減税率、交際費特例、少額減価償却資産の特例など）は、業種を問わず資本金1億…</a:t>
            </a:r>
          </a:p>
        </p:txBody>
      </p:sp>
      <p:sp>
        <p:nvSpPr>
          <p:cNvPr id="14" name="Rounded Rectangle 13"/>
          <p:cNvSpPr/>
          <p:nvPr/>
        </p:nvSpPr>
        <p:spPr>
          <a:xfrm>
            <a:off x="8104632" y="1024128"/>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中小企業の資金調達</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株式・社債による直接金融よりも、銀行等からの借入である間接金融に大きく依存しているのが特徴です。</a:t>
            </a:r>
          </a:p>
        </p:txBody>
      </p:sp>
      <p:sp>
        <p:nvSpPr>
          <p:cNvPr id="18" name="Rounded Rectangle 17"/>
          <p:cNvSpPr/>
          <p:nvPr/>
        </p:nvSpPr>
        <p:spPr>
          <a:xfrm>
            <a:off x="502920" y="3145536"/>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大企業に比べて信用力（担保力・情報開示力）が乏しいことが多いため、金融機関からの借入を後押しする仕組みとして「信用保証…</a:t>
            </a:r>
          </a:p>
        </p:txBody>
      </p:sp>
      <p:sp>
        <p:nvSpPr>
          <p:cNvPr id="22" name="Rounded Rectangle 21"/>
          <p:cNvSpPr/>
          <p:nvPr/>
        </p:nvSpPr>
        <p:spPr>
          <a:xfrm>
            <a:off x="4303776" y="3145536"/>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詳細</a:t>
            </a:r>
          </a:p>
        </p:txBody>
      </p:sp>
      <p:sp>
        <p:nvSpPr>
          <p:cNvPr id="25" name="TextBox 24"/>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G-24）が整備されています。</a:t>
            </a:r>
          </a:p>
        </p:txBody>
      </p:sp>
      <p:sp>
        <p:nvSpPr>
          <p:cNvPr id="26" name="Rounded Rectangle 25"/>
          <p:cNvSpPr/>
          <p:nvPr/>
        </p:nvSpPr>
        <p:spPr>
          <a:xfrm>
            <a:off x="8104632" y="3145536"/>
            <a:ext cx="3599688"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04632" y="3145536"/>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05800" y="3236976"/>
            <a:ext cx="3279648"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税制面で</a:t>
            </a:r>
          </a:p>
        </p:txBody>
      </p:sp>
      <p:sp>
        <p:nvSpPr>
          <p:cNvPr id="29" name="TextBox 28"/>
          <p:cNvSpPr txBox="1"/>
          <p:nvPr/>
        </p:nvSpPr>
        <p:spPr>
          <a:xfrm>
            <a:off x="8305800"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中小企業（の一部）に対して法人税の軽減税率や、交際費の損金算入特例など、さまざまな優遇措置が設けられています。</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法人税法上、交際費等は原則として全額が損金不算入（経費として認められない）ですが、租税特別措置法により、資本金（出資金）1億円以下の法人（ただし資本金5億円以上の大法人の100％子会社等は除く）については、①…</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中小企業基本法上の中小企業者」（業種別に資本金額または従業員数のいずれかで判定）と、「租税特別措置法上の中小法人」（原則、業種を問わず資本金1億円以下で一律判定）は別の概念であるという点が最頻出のひっかけで…</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G-10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労働・雇用・人材育成</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838047" y="1024128"/>
            <a:ext cx="10515600" cy="640080"/>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1｜多様な人材の活用　女性、高齢者、外国人材、副業・兼業人材など、これまで十分に活用されてこなかった層の労働参加を促す</a:t>
            </a:r>
          </a:p>
        </p:txBody>
      </p:sp>
      <p:sp>
        <p:nvSpPr>
          <p:cNvPr id="7" name="Rounded Rectangle 6"/>
          <p:cNvSpPr/>
          <p:nvPr/>
        </p:nvSpPr>
        <p:spPr>
          <a:xfrm>
            <a:off x="1409547" y="1828800"/>
            <a:ext cx="9372600" cy="640080"/>
          </a:xfrm>
          <a:prstGeom prst="roundRect">
            <a:avLst/>
          </a:prstGeom>
          <a:solidFill>
            <a:srgbClr val="FFFFFF"/>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2｜省力化・生産性向上による労働投入量の最適化　人手そのものを増やすのではなく、DXや設備投資によって少ない人手でも成果を上げられるようにする</a:t>
            </a:r>
          </a:p>
        </p:txBody>
      </p:sp>
      <p:sp>
        <p:nvSpPr>
          <p:cNvPr id="8" name="Rounded Rectangle 7"/>
          <p:cNvSpPr/>
          <p:nvPr/>
        </p:nvSpPr>
        <p:spPr>
          <a:xfrm>
            <a:off x="1981047" y="2633472"/>
            <a:ext cx="8229600" cy="640080"/>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3｜中小企業にとって「人手不足」　近年最も深刻な経営課題の一つです。</a:t>
            </a:r>
          </a:p>
        </p:txBody>
      </p:sp>
      <p:sp>
        <p:nvSpPr>
          <p:cNvPr id="9" name="Rounded Rectangle 8"/>
          <p:cNvSpPr/>
          <p:nvPr/>
        </p:nvSpPr>
        <p:spPr>
          <a:xfrm>
            <a:off x="2552547" y="3438144"/>
            <a:ext cx="7086600" cy="640080"/>
          </a:xfrm>
          <a:prstGeom prst="roundRect">
            <a:avLst/>
          </a:prstGeom>
          <a:solidFill>
            <a:srgbClr val="FFFFFF"/>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4｜中小企業白書でも繰り返し指摘されているとおり、労働供給…　</a:t>
            </a:r>
          </a:p>
        </p:txBody>
      </p:sp>
      <p:sp>
        <p:nvSpPr>
          <p:cNvPr id="10" name="Rounded Rectangle 9"/>
          <p:cNvSpPr/>
          <p:nvPr/>
        </p:nvSpPr>
        <p:spPr>
          <a:xfrm>
            <a:off x="3124047" y="4242816"/>
            <a:ext cx="5943600" cy="640080"/>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5｜この課題に対応するための代表的な方向性が次の2つです。　</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深刻な人手不足に直面する運送業の中小企業が、荷物の積み下ろし作業を自動化する機器を導入し、少ない人数でも従来と同じ業務量をこなせるようにするのは、「省力化による労働投入量の最適化」の具体例です。</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人手不足への対応＝採用を増やすことだけ」と短絡的に考えないこと。白書の問題意識は、採用強化に加えて「省力化」「多様な人材の活用」「賃上げによる定着率向上」を組み合わせた総合的な対応を重視しています。</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G-11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環境対応・エネルギー対応</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502920" y="1024128"/>
            <a:ext cx="5500116" cy="4041648"/>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4041648"/>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気候変動対策（カーボンニュートラル、2050年ま…</a:t>
            </a:r>
          </a:p>
        </p:txBody>
      </p:sp>
      <p:sp>
        <p:nvSpPr>
          <p:cNvPr id="9" name="Rounded Rectangle 8"/>
          <p:cNvSpPr/>
          <p:nvPr/>
        </p:nvSpPr>
        <p:spPr>
          <a:xfrm>
            <a:off x="6204203" y="1024128"/>
            <a:ext cx="5500116" cy="4041648"/>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04203" y="1024128"/>
            <a:ext cx="73152" cy="4041648"/>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中小企業の環境対応として</a:t>
            </a:r>
          </a:p>
        </p:txBody>
      </p:sp>
      <p:sp>
        <p:nvSpPr>
          <p:cNvPr id="12" name="TextBox 11"/>
          <p:cNvSpPr txBox="1"/>
          <p:nvPr/>
        </p:nvSpPr>
        <p:spPr>
          <a:xfrm>
            <a:off x="6405371" y="1444752"/>
            <a:ext cx="5180076" cy="353872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省エネルギー設備への投資、再生可能エネルギーの導入、GX（グリーントランスフォーメーション）関連の補助金活用などが挙げ…</a:t>
            </a:r>
          </a:p>
        </p:txBody>
      </p:sp>
      <p:sp>
        <p:nvSpPr>
          <p:cNvPr id="13" name="Rounded Rectangle 12"/>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大手自動車メーカーがサプライチェーン全体でのCO2排出量削減を取引先（部品を供給する中小企業）に求めるようになると、部品メーカーである中小企業も自社工場の省エネ化やCO2排出量の把握・開示に取り組まざるを得な…</a:t>
            </a:r>
          </a:p>
        </p:txBody>
      </p:sp>
      <p:sp>
        <p:nvSpPr>
          <p:cNvPr id="14" name="Rounded Rectangle 13"/>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環境対応は「コスト増要因」としてだけでなく、「取引先からの要請に応えられないと取引を失うリスク」「エネルギーコスト削減による収益改善」という複数の側面から出題されることがあります。単純に「負担が増えるだけ」と…</a:t>
            </a:r>
          </a:p>
        </p:txBody>
      </p:sp>
      <p:sp>
        <p:nvSpPr>
          <p:cNvPr id="15" name="Rectangle 14"/>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17" name="TextBox 16"/>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G-12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経営革新・事業創造、生産性向上の取り組み</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ectangle 5"/>
          <p:cNvSpPr/>
          <p:nvPr/>
        </p:nvSpPr>
        <p:spPr>
          <a:xfrm>
            <a:off x="868680" y="2926080"/>
            <a:ext cx="10469880" cy="4572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1｜稼ぐ力
」（付加価値を生み出す力）の向上を重要テーマとして掲げています。稼ぐ力を高…</a:t>
            </a:r>
          </a:p>
        </p:txBody>
      </p:sp>
      <p:sp>
        <p:nvSpPr>
          <p:cNvPr id="9" name="Oval 8"/>
          <p:cNvSpPr/>
          <p:nvPr/>
        </p:nvSpPr>
        <p:spPr>
          <a:xfrm>
            <a:off x="3348990" y="2761488"/>
            <a:ext cx="384048" cy="384048"/>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2｜付加価値額の増加
価格転嫁の推進、成長投資、新事業展開、事業承継・M&amp;Aによる事業再編など</a:t>
            </a:r>
          </a:p>
        </p:txBody>
      </p:sp>
      <p:sp>
        <p:nvSpPr>
          <p:cNvPr id="11" name="Oval 10"/>
          <p:cNvSpPr/>
          <p:nvPr/>
        </p:nvSpPr>
        <p:spPr>
          <a:xfrm>
            <a:off x="5920740" y="2761488"/>
            <a:ext cx="384048" cy="384048"/>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3｜労働投入量の最適化
省力化投資、DXの推進による生産性向上</a:t>
            </a:r>
          </a:p>
        </p:txBody>
      </p:sp>
      <p:sp>
        <p:nvSpPr>
          <p:cNvPr id="13" name="Oval 12"/>
          <p:cNvSpPr/>
          <p:nvPr/>
        </p:nvSpPr>
        <p:spPr>
          <a:xfrm>
            <a:off x="8492490" y="2761488"/>
            <a:ext cx="384048" cy="384048"/>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4｜中小企業白書
一貫して「稼ぐ力」（付加価値を生み出す力）の向上を重要テーマとして掲げてい…</a:t>
            </a:r>
          </a:p>
        </p:txBody>
      </p:sp>
      <p:sp>
        <p:nvSpPr>
          <p:cNvPr id="15" name="Oval 14"/>
          <p:cNvSpPr/>
          <p:nvPr/>
        </p:nvSpPr>
        <p:spPr>
          <a:xfrm>
            <a:off x="11064240" y="2761488"/>
            <a:ext cx="384048" cy="384048"/>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5｜稼ぐ力を高める方法
大きく2つに整理されます。</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原材料費が高騰した際に、取引先との価格交渉を避けて自社の利益を削って対応する（現状維持）のではなく、コスト上昇分を適正に価格に転嫁する交渉を行い、浮いた資金を新しい機械設備への投資に回す、という選択が「稼ぐ力…</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生産性向上＝人員削減」という短絡的な理解は誤りです。白書が重視する生産性向上は、限られた人手をより付加価値の高い業務に振り向けること（省力化による労働投入量の最適化）であり、単なるリストラとは異なります。</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G-13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中小企業経営に係る最近の動向：情報技術の活用・DX</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566928" y="1444752"/>
            <a:ext cx="5244084"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932938"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5006340"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DX（デジタルトランスフォーメ…</a:t>
            </a:r>
          </a:p>
        </p:txBody>
      </p:sp>
      <p:sp>
        <p:nvSpPr>
          <p:cNvPr id="9" name="TextBox 8"/>
          <p:cNvSpPr txBox="1"/>
          <p:nvPr/>
        </p:nvSpPr>
        <p:spPr>
          <a:xfrm>
            <a:off x="713232" y="2542032"/>
            <a:ext cx="4951476"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とは、単にパソコンやITツールを導入する（デジタイゼーション）だけでなく、デジタル…</a:t>
            </a:r>
          </a:p>
        </p:txBody>
      </p:sp>
      <p:sp>
        <p:nvSpPr>
          <p:cNvPr id="10" name="Chevron 9"/>
          <p:cNvSpPr/>
          <p:nvPr/>
        </p:nvSpPr>
        <p:spPr>
          <a:xfrm>
            <a:off x="5920740"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41364" y="1444752"/>
            <a:ext cx="5244084" cy="3063240"/>
          </a:xfrm>
          <a:prstGeom prst="roundRect">
            <a:avLst/>
          </a:prstGeom>
          <a:solidFill>
            <a:srgbClr val="FFFFFF"/>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07374"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6460236" y="1810512"/>
            <a:ext cx="5006340"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中小企業のDX</a:t>
            </a:r>
          </a:p>
        </p:txBody>
      </p:sp>
      <p:sp>
        <p:nvSpPr>
          <p:cNvPr id="14" name="TextBox 13"/>
          <p:cNvSpPr txBox="1"/>
          <p:nvPr/>
        </p:nvSpPr>
        <p:spPr>
          <a:xfrm>
            <a:off x="6487668" y="2542032"/>
            <a:ext cx="4951476"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大企業に比べて人材・予算の制約から遅れがちであることが白書でも繰り返し指摘されてお…</a:t>
            </a:r>
          </a:p>
        </p:txBody>
      </p:sp>
      <p:sp>
        <p:nvSpPr>
          <p:cNvPr id="15" name="Rounded Rectangle 1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紙の受発注伝票をFAXでやり取りしていた卸売業が、受発注システムを電子化するだけでなく、蓄積した受発注データを分析して在庫の適正化や新商品の企画に活用するようになれば、単なるデジタル化（デジタイゼーション）を…</a:t>
            </a:r>
          </a:p>
        </p:txBody>
      </p:sp>
      <p:sp>
        <p:nvSpPr>
          <p:cNvPr id="16" name="Rounded Rectangle 1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ITツールの導入＝DX」という理解は不十分です。ツール導入はDXの手段の一つに過ぎず、業務プロセスや事業モデルの変革を伴って初めてDXと呼べる、という段階の違い（デジタイゼーション→デジタライゼーション→D…</a:t>
            </a:r>
          </a:p>
        </p:txBody>
      </p:sp>
      <p:sp>
        <p:nvSpPr>
          <p:cNvPr id="17" name="Rectangle 1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19" name="TextBox 1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G-14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中小企業経営に係る最近の動向：事業承継・M&amp;A</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566928" y="1051560"/>
            <a:ext cx="5394960" cy="420624"/>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親族内承継</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経営者の子どもなど親族に引き継ぐ</a:t>
            </a:r>
          </a:p>
        </p:txBody>
      </p:sp>
      <p:sp>
        <p:nvSpPr>
          <p:cNvPr id="11" name="Rounded Rectangle 10"/>
          <p:cNvSpPr/>
          <p:nvPr/>
        </p:nvSpPr>
        <p:spPr>
          <a:xfrm>
            <a:off x="566928"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親族外承継（従業員承継）</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役員・従業員に引き継ぐ</a:t>
            </a:r>
          </a:p>
        </p:txBody>
      </p:sp>
      <p:sp>
        <p:nvSpPr>
          <p:cNvPr id="15" name="Rounded Rectangle 14"/>
          <p:cNvSpPr/>
          <p:nvPr/>
        </p:nvSpPr>
        <p:spPr>
          <a:xfrm>
            <a:off x="566928" y="398678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社外への引継ぎ（M&amp;A・第三者承継）</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外部の企業や個人に会社・事業を譲渡する</a:t>
            </a:r>
          </a:p>
        </p:txBody>
      </p:sp>
      <p:sp>
        <p:nvSpPr>
          <p:cNvPr id="19" name="Rounded Rectangle 18"/>
          <p:cNvSpPr/>
          <p:nvPr/>
        </p:nvSpPr>
        <p:spPr>
          <a:xfrm>
            <a:off x="6217920" y="1051560"/>
            <a:ext cx="5394960" cy="420624"/>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BE123C"/>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日本の中小企業</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経営者の高齢化が進んでおり、後継者不在のまま廃業を迎える企業が少なくないことが長年の政策課題です。</a:t>
            </a:r>
          </a:p>
        </p:txBody>
      </p:sp>
      <p:sp>
        <p:nvSpPr>
          <p:cNvPr id="24" name="Rounded Rectangle 23"/>
          <p:cNvSpPr/>
          <p:nvPr/>
        </p:nvSpPr>
        <p:spPr>
          <a:xfrm>
            <a:off x="6217920"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事業承継の方法</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大きく3つに分類されます（企業経営理論C-14でも扱う内容です）。</a:t>
            </a:r>
          </a:p>
        </p:txBody>
      </p:sp>
      <p:sp>
        <p:nvSpPr>
          <p:cNvPr id="28" name="Rounded Rectangle 27"/>
          <p:cNvSpPr/>
          <p:nvPr/>
        </p:nvSpPr>
        <p:spPr>
          <a:xfrm>
            <a:off x="6217920" y="398678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近年</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後継者不在の中小企業が増える中で、第三者承継（M&amp;A）を活用した事業引継ぎが政策的に強く後押しされています（支援策の詳…</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具体例｜後継者のいない金属加工業の経営者が、廃業して従業員を解雇するのではなく、同業の企業に会社を売却（M&amp;A）することで、雇用と技術を存続させるケースが近年増加しています。</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事業承継は「後継者を誰にするか」という属人的な問題だけでなく、経営権（議決権）と資産（自社株式・事業用資産）の両方を計画的に引き継ぐ必要がある点、また税負担（事業承継税制、G-25）が承継の障害になりうる点も…</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G-15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中小企業経営に係る最近の動向：海外展開</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566928" y="1051560"/>
            <a:ext cx="5394960" cy="420624"/>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中小企業の海外展開の形態</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企業経営理論のC-12（海外進出形態）と同様、輸出、ライセンス供与、海外直接投資（現地法人・工場の設立）などの段階があ…</a:t>
            </a:r>
          </a:p>
        </p:txBody>
      </p:sp>
      <p:sp>
        <p:nvSpPr>
          <p:cNvPr id="11" name="Rounded Rectangle 10"/>
          <p:cNvSpPr/>
          <p:nvPr/>
        </p:nvSpPr>
        <p:spPr>
          <a:xfrm>
            <a:off x="566928"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中小企業の場合、大企業に比べて海外展開のノウハウ…</a:t>
            </a:r>
          </a:p>
        </p:txBody>
      </p:sp>
      <p:sp>
        <p:nvSpPr>
          <p:cNvPr id="14" name="Rounded Rectangle 13"/>
          <p:cNvSpPr/>
          <p:nvPr/>
        </p:nvSpPr>
        <p:spPr>
          <a:xfrm>
            <a:off x="6217920" y="1051560"/>
            <a:ext cx="5394960" cy="420624"/>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BE123C"/>
                </a:solidFill>
                <a:latin typeface="WenQuanYi Micro Hei"/>
              </a:rPr>
              <a:t>視点 B</a:t>
            </a:r>
          </a:p>
        </p:txBody>
      </p:sp>
      <p:sp>
        <p:nvSpPr>
          <p:cNvPr id="15" name="Rounded Rectangle 14"/>
          <p:cNvSpPr/>
          <p:nvPr/>
        </p:nvSpPr>
        <p:spPr>
          <a:xfrm>
            <a:off x="6217920"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近年</a:t>
            </a:r>
          </a:p>
        </p:txBody>
      </p:sp>
      <p:sp>
        <p:nvSpPr>
          <p:cNvPr id="18" name="TextBox 17"/>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いきなり現地生産に乗り出すのではなく、まず輸出から始めて海外市場の反応を見る、という手堅いアプローチが重視される傾向に…</a:t>
            </a:r>
          </a:p>
        </p:txBody>
      </p:sp>
      <p:sp>
        <p:nvSpPr>
          <p:cNvPr id="19" name="Rounded Rectangle 1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国内市場の縮小に直面した地方の食品メーカーが、まずはJETROの支援を受けて海外の見本市に出展し、輸出による海外販路開拓から着手する、というのが中小企業の典型的な海外展開のステップです。</a:t>
            </a:r>
          </a:p>
        </p:txBody>
      </p:sp>
      <p:sp>
        <p:nvSpPr>
          <p:cNvPr id="20" name="Rounded Rectangle 1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海外展開の論点は、「新規輸出1万者支援プログラム」のような当年度の政策事業名（G-22・第2部で扱う）と組み合わせて出題されることが多いため、経営面の一般的な考え方（G-15）と、支援施策の名称（G-22）を…</a:t>
            </a:r>
          </a:p>
        </p:txBody>
      </p:sp>
      <p:sp>
        <p:nvSpPr>
          <p:cNvPr id="21" name="Rectangle 2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23" name="TextBox 2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G-16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中小企業経営に係る最近の動向：創業・アントレプレナーシップ</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566928" y="1051560"/>
            <a:ext cx="5394960" cy="420624"/>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アントレプレナーシップ（起業家精神）</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は、リスクを取って新しい事業に挑戦する姿勢そのものを指し、創業支援策（G-19で扱う）だけでなく、学校教育や社会人向けの啓…</a:t>
            </a:r>
          </a:p>
        </p:txBody>
      </p:sp>
      <p:sp>
        <p:nvSpPr>
          <p:cNvPr id="11" name="Rounded Rectangle 10"/>
          <p:cNvSpPr/>
          <p:nvPr/>
        </p:nvSpPr>
        <p:spPr>
          <a:xfrm>
            <a:off x="566928"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日本</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諸外国と比較して、新しく会社を立ち上げる比率（開業率）が低い水準にあると指摘されてきました。</a:t>
            </a:r>
          </a:p>
        </p:txBody>
      </p:sp>
      <p:sp>
        <p:nvSpPr>
          <p:cNvPr id="15" name="Rounded Rectangle 14"/>
          <p:cNvSpPr/>
          <p:nvPr/>
        </p:nvSpPr>
        <p:spPr>
          <a:xfrm>
            <a:off x="6217920" y="1051560"/>
            <a:ext cx="5394960" cy="420624"/>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BE123C"/>
                </a:solidFill>
                <a:latin typeface="WenQuanYi Micro Hei"/>
              </a:rPr>
              <a:t>視点 B</a:t>
            </a:r>
          </a:p>
        </p:txBody>
      </p:sp>
      <p:sp>
        <p:nvSpPr>
          <p:cNvPr id="16" name="Rounded Rectangle 15"/>
          <p:cNvSpPr/>
          <p:nvPr/>
        </p:nvSpPr>
        <p:spPr>
          <a:xfrm>
            <a:off x="6217920"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政策的に</a:t>
            </a:r>
          </a:p>
        </p:txBody>
      </p:sp>
      <p:sp>
        <p:nvSpPr>
          <p:cNvPr id="19" name="TextBox 18"/>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開業率を高め、新規性の高い挑戦を行う「スタートアップ」を含む創業の裾野を広げることが重要課題とされています。</a:t>
            </a:r>
          </a:p>
        </p:txBody>
      </p:sp>
      <p:sp>
        <p:nvSpPr>
          <p:cNvPr id="20" name="Rounded Rectangle 1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大学発のベンチャー企業が、大学の研究成果（技術シーズ）を事業化するために起業し、公的な創業支援策や投資家からの出資を受けながら成長していくプロセスは、アントレプレナーシップと創業支援策が結びついた典型例です。</a:t>
            </a:r>
          </a:p>
        </p:txBody>
      </p:sp>
      <p:sp>
        <p:nvSpPr>
          <p:cNvPr id="21" name="Rounded Rectangle 2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創業」と「第二創業（既存企業が新分野に進出すること）」は異なる概念です。創業支援策の対象が「新規開業者」なのか「既存の中小企業の新事業展開」なのかを区別して読む必要があります（後者はG-20の経営革新・新事…</a:t>
            </a:r>
          </a:p>
        </p:txBody>
      </p:sp>
      <p:sp>
        <p:nvSpPr>
          <p:cNvPr id="22" name="Rectangle 2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24" name="TextBox 2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G-17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中小企業経営に係る最近の動向：知的財産権・無形資産の活用</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中小企業経営（G-1〜G-17）</a:t>
            </a:r>
          </a:p>
        </p:txBody>
      </p:sp>
      <p:sp>
        <p:nvSpPr>
          <p:cNvPr id="6" name="Rounded Rectangle 5"/>
          <p:cNvSpPr/>
          <p:nvPr/>
        </p:nvSpPr>
        <p:spPr>
          <a:xfrm>
            <a:off x="502920" y="1024128"/>
            <a:ext cx="5500116"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無形資産</a:t>
            </a:r>
          </a:p>
        </p:txBody>
      </p:sp>
      <p:sp>
        <p:nvSpPr>
          <p:cNvPr id="9" name="TextBox 8"/>
          <p:cNvSpPr txBox="1"/>
          <p:nvPr/>
        </p:nvSpPr>
        <p:spPr>
          <a:xfrm>
            <a:off x="704088"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」の重要性が高まっています。中小企業にとっても、独自の技術やブランドといった無形資産を経営戦略に明確に位置づけ、積極的に活…</a:t>
            </a:r>
          </a:p>
        </p:txBody>
      </p:sp>
      <p:sp>
        <p:nvSpPr>
          <p:cNvPr id="10" name="Rounded Rectangle 9"/>
          <p:cNvSpPr/>
          <p:nvPr/>
        </p:nvSpPr>
        <p:spPr>
          <a:xfrm>
            <a:off x="6204203" y="1024128"/>
            <a:ext cx="5500116"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4203" y="1024128"/>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近年、企業の競争力の源泉として、特許・商標などの…</a:t>
            </a:r>
          </a:p>
        </p:txBody>
      </p:sp>
      <p:sp>
        <p:nvSpPr>
          <p:cNvPr id="13" name="Rounded Rectangle 12"/>
          <p:cNvSpPr/>
          <p:nvPr/>
        </p:nvSpPr>
        <p:spPr>
          <a:xfrm>
            <a:off x="502920" y="3145536"/>
            <a:ext cx="5500116"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145536"/>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236976"/>
            <a:ext cx="5180076"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中小企業にとっても、独自の技術やブランドといった…</a:t>
            </a:r>
          </a:p>
        </p:txBody>
      </p:sp>
      <p:sp>
        <p:nvSpPr>
          <p:cNvPr id="16" name="Rounded Rectangle 15"/>
          <p:cNvSpPr/>
          <p:nvPr/>
        </p:nvSpPr>
        <p:spPr>
          <a:xfrm>
            <a:off x="6204203" y="3145536"/>
            <a:ext cx="5500116" cy="1920240"/>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4203" y="3145536"/>
            <a:ext cx="73152" cy="19202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5371" y="3236976"/>
            <a:ext cx="5180076"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地域の特産品などを保護・活用する「地域団体商標」…</a:t>
            </a:r>
          </a:p>
        </p:txBody>
      </p:sp>
      <p:sp>
        <p:nvSpPr>
          <p:cNvPr id="19" name="Rounded Rectangle 1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具体例｜地方の伝統工芸品の産地組合が、産地の名称を冠したブランド（地域団体商標）を取得し、模倣品との差別化や、産地全体のブランド価値向上に活用するのは、無形資産を経営に活かす典型例です。</a:t>
            </a:r>
          </a:p>
        </p:txBody>
      </p:sp>
      <p:sp>
        <p:nvSpPr>
          <p:cNvPr id="20" name="Rounded Rectangle 1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知的財産権そのものの制度内容（特許権・商標権の要件など）は経営法務科目（E科目）の範囲であり、G科目で問われるのは「中小企業の経営における知的財産・無形資産の活用のあり方」という、より経営寄りの視点です。両科…</a:t>
            </a:r>
          </a:p>
        </p:txBody>
      </p:sp>
      <p:sp>
        <p:nvSpPr>
          <p:cNvPr id="21" name="Rectangle 2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23" name="TextBox 2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FF1F2"/>
          </a:solidFill>
          <a:ln w="25400">
            <a:solidFill>
              <a:srgbClr val="DB7D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BE123C"/>
                </a:solidFill>
                <a:latin typeface="WenQuanYi Micro Hei"/>
              </a:rPr>
              <a:t>SECTION 02</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中小企業政策</a:t>
            </a:r>
          </a:p>
        </p:txBody>
      </p:sp>
      <p:sp>
        <p:nvSpPr>
          <p:cNvPr id="6" name="Rounded Rectangle 5"/>
          <p:cNvSpPr/>
          <p:nvPr/>
        </p:nvSpPr>
        <p:spPr>
          <a:xfrm>
            <a:off x="4261104" y="3968496"/>
            <a:ext cx="3657600" cy="749808"/>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11 論点</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G-18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中小企業関連法規（中小企業基本法、中小企業支援法等）</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中小企業政策（G-18〜G-28）</a:t>
            </a:r>
          </a:p>
        </p:txBody>
      </p:sp>
      <p:sp>
        <p:nvSpPr>
          <p:cNvPr id="6" name="Rounded Rectangle 5"/>
          <p:cNvSpPr/>
          <p:nvPr/>
        </p:nvSpPr>
        <p:spPr>
          <a:xfrm>
            <a:off x="566928" y="1051560"/>
            <a:ext cx="5394960" cy="420624"/>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中小企業基本法</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中小企業政策の理念・基本方針を定める、いわば中小企業政策の「憲法」に当たる法律。中小企業者・小規模企業者の定義（G-1）も…</a:t>
            </a:r>
          </a:p>
        </p:txBody>
      </p:sp>
      <p:sp>
        <p:nvSpPr>
          <p:cNvPr id="11" name="Rounded Rectangle 10"/>
          <p:cNvSpPr/>
          <p:nvPr/>
        </p:nvSpPr>
        <p:spPr>
          <a:xfrm>
            <a:off x="566928"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中小企業支援法</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都道府県等中小企業支援センターなど、中小企業を支援する体制の整備について定める法律（G-27で詳しく扱う）</a:t>
            </a:r>
          </a:p>
        </p:txBody>
      </p:sp>
      <p:sp>
        <p:nvSpPr>
          <p:cNvPr id="15" name="Rounded Rectangle 14"/>
          <p:cNvSpPr/>
          <p:nvPr/>
        </p:nvSpPr>
        <p:spPr>
          <a:xfrm>
            <a:off x="6217920" y="1051560"/>
            <a:ext cx="5394960" cy="420624"/>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BE123C"/>
                </a:solidFill>
                <a:latin typeface="WenQuanYi Micro Hei"/>
              </a:rPr>
              <a:t>視点 B</a:t>
            </a:r>
          </a:p>
        </p:txBody>
      </p:sp>
      <p:sp>
        <p:nvSpPr>
          <p:cNvPr id="16" name="Rounded Rectangle 15"/>
          <p:cNvSpPr/>
          <p:nvPr/>
        </p:nvSpPr>
        <p:spPr>
          <a:xfrm>
            <a:off x="6217920"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中小企業等経営強化法</a:t>
            </a:r>
          </a:p>
        </p:txBody>
      </p:sp>
      <p:sp>
        <p:nvSpPr>
          <p:cNvPr id="19" name="TextBox 18"/>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経営革新計画・経営力向上計画など、個々の中小企業の生産性向上・新事業展開の取り組みを国・都道府県が認定し支援する枠組みを定…</a:t>
            </a:r>
          </a:p>
        </p:txBody>
      </p:sp>
      <p:sp>
        <p:nvSpPr>
          <p:cNvPr id="20" name="Rounded Rectangle 19"/>
          <p:cNvSpPr/>
          <p:nvPr/>
        </p:nvSpPr>
        <p:spPr>
          <a:xfrm>
            <a:off x="6217920"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中小企業政策の土台となる法律を整理します。</a:t>
            </a:r>
          </a:p>
        </p:txBody>
      </p:sp>
      <p:sp>
        <p:nvSpPr>
          <p:cNvPr id="23" name="Rounded Rectangle 22"/>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中小企業が新しい事業活動に取り組む計画を都道府県に申請し承認を受けると（経営革新計画、中小企業等経営強化法に基づく）、日本政策金融公庫の低利融資や信用保証の特例といった支援を受けられます。このように、個々…</a:t>
            </a:r>
          </a:p>
        </p:txBody>
      </p:sp>
      <p:sp>
        <p:nvSpPr>
          <p:cNvPr id="24" name="Rounded Rectangle 23"/>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法律名が似ているため混同しやすい点に注意しましょう。「中小企業基本法」（理念・定義）、「中小企業支援法」（支援体制の整備）、「中小企業等経営強化法」（個別企業の計画認定・支援）は、それぞれ役割が異なる別の法律…</a:t>
            </a:r>
          </a:p>
        </p:txBody>
      </p:sp>
      <p:sp>
        <p:nvSpPr>
          <p:cNvPr id="25" name="Rectangle 24"/>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27" name="TextBox 26"/>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G-19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経営サポート：創業・ベンチャー支援</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中小企業政策（G-18〜G-28）</a:t>
            </a:r>
          </a:p>
        </p:txBody>
      </p:sp>
      <p:sp>
        <p:nvSpPr>
          <p:cNvPr id="6" name="Rounded Rectangle 5"/>
          <p:cNvSpPr/>
          <p:nvPr/>
        </p:nvSpPr>
        <p:spPr>
          <a:xfrm>
            <a:off x="566928" y="1051560"/>
            <a:ext cx="5394960" cy="420624"/>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日本政策金融公庫の創業融資</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（新規開業・スタートアップ支援資金等）：新規開業しようとする者、または開業して間もない者向けの融資制度。女性、若年者、高齢…</a:t>
            </a:r>
          </a:p>
        </p:txBody>
      </p:sp>
      <p:sp>
        <p:nvSpPr>
          <p:cNvPr id="11" name="Rounded Rectangle 10"/>
          <p:cNvSpPr/>
          <p:nvPr/>
        </p:nvSpPr>
        <p:spPr>
          <a:xfrm>
            <a:off x="566928"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創業支援等事業計画</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市区町村が民間の創業支援機関（商工会議所等）と連携して策定する計画で、認定を受けた計画に基づく支援を受けた創業者には、会社…</a:t>
            </a:r>
          </a:p>
        </p:txBody>
      </p:sp>
      <p:sp>
        <p:nvSpPr>
          <p:cNvPr id="15" name="Rounded Rectangle 14"/>
          <p:cNvSpPr/>
          <p:nvPr/>
        </p:nvSpPr>
        <p:spPr>
          <a:xfrm>
            <a:off x="6217920" y="1051560"/>
            <a:ext cx="5394960" cy="420624"/>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BE123C"/>
                </a:solidFill>
                <a:latin typeface="WenQuanYi Micro Hei"/>
              </a:rPr>
              <a:t>視点 B</a:t>
            </a:r>
          </a:p>
        </p:txBody>
      </p:sp>
      <p:sp>
        <p:nvSpPr>
          <p:cNvPr id="16" name="Rounded Rectangle 15"/>
          <p:cNvSpPr/>
          <p:nvPr/>
        </p:nvSpPr>
        <p:spPr>
          <a:xfrm>
            <a:off x="6217920"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創業予定者・創業間もない事業者向けの代表的な支援…</a:t>
            </a:r>
          </a:p>
        </p:txBody>
      </p:sp>
      <p:sp>
        <p:nvSpPr>
          <p:cNvPr id="19" name="Rounded Rectangle 1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日本政策金融公庫国民生活事業が実施する新規開業・スタートアップ支援資金では、女性、または若年者（令和7年度時点で35歳未満）・高齢者（令和7年度時点で55歳以上）に該当する創業者に対し、運転資金・設備資金（土…</a:t>
            </a:r>
          </a:p>
        </p:txBody>
      </p:sp>
      <p:sp>
        <p:nvSpPr>
          <p:cNvPr id="20" name="Rounded Rectangle 1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年齢要件（若年者・高齢者の線引き）は選択肢の中で数値を微妙にずらして出題される定番パターンです。正確な数値を覚えるとともに、「制度は改定されうる」という前提も忘れないようにしましょう。</a:t>
            </a:r>
          </a:p>
        </p:txBody>
      </p:sp>
      <p:sp>
        <p:nvSpPr>
          <p:cNvPr id="21" name="Rectangle 2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23" name="TextBox 2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G-20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経営サポート：経営革新支援、新事業展開支援</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中小企業政策（G-18〜G-28）</a:t>
            </a:r>
          </a:p>
        </p:txBody>
      </p:sp>
      <p:sp>
        <p:nvSpPr>
          <p:cNvPr id="6" name="Rounded Rectangle 5"/>
          <p:cNvSpPr/>
          <p:nvPr/>
        </p:nvSpPr>
        <p:spPr>
          <a:xfrm>
            <a:off x="566928" y="1051560"/>
            <a:ext cx="5394960" cy="420624"/>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経営革新計画</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は、中小企業等経営強化法に基づき、中小企業者等が「新事業活動」に取り組んで経営の相当程度の向上を図ることを内容とする計画を…</a:t>
            </a:r>
          </a:p>
        </p:txBody>
      </p:sp>
      <p:sp>
        <p:nvSpPr>
          <p:cNvPr id="11" name="Rounded Rectangle 10"/>
          <p:cNvSpPr/>
          <p:nvPr/>
        </p:nvSpPr>
        <p:spPr>
          <a:xfrm>
            <a:off x="566928"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5類型</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のいずれかに該当する取り組みを指します。</a:t>
            </a:r>
          </a:p>
        </p:txBody>
      </p:sp>
      <p:sp>
        <p:nvSpPr>
          <p:cNvPr id="15" name="Rounded Rectangle 14"/>
          <p:cNvSpPr/>
          <p:nvPr/>
        </p:nvSpPr>
        <p:spPr>
          <a:xfrm>
            <a:off x="566928" y="398678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新商品の開発又</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生産</a:t>
            </a:r>
          </a:p>
        </p:txBody>
      </p:sp>
      <p:sp>
        <p:nvSpPr>
          <p:cNvPr id="19" name="Rounded Rectangle 18"/>
          <p:cNvSpPr/>
          <p:nvPr/>
        </p:nvSpPr>
        <p:spPr>
          <a:xfrm>
            <a:off x="6217920" y="1051560"/>
            <a:ext cx="5394960" cy="420624"/>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BE123C"/>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新役務（サービス）の開発又</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提供</a:t>
            </a:r>
          </a:p>
        </p:txBody>
      </p:sp>
      <p:sp>
        <p:nvSpPr>
          <p:cNvPr id="24" name="Rounded Rectangle 23"/>
          <p:cNvSpPr/>
          <p:nvPr/>
        </p:nvSpPr>
        <p:spPr>
          <a:xfrm>
            <a:off x="6217920"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商品の新たな生産又</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販売の方式の導入</a:t>
            </a:r>
          </a:p>
        </p:txBody>
      </p:sp>
      <p:sp>
        <p:nvSpPr>
          <p:cNvPr id="28" name="Rounded Rectangle 27"/>
          <p:cNvSpPr/>
          <p:nvPr/>
        </p:nvSpPr>
        <p:spPr>
          <a:xfrm>
            <a:off x="6217920" y="398678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役務の新たな提供の方式の導入</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町工場が「これまで扱ってこなかった新しい加工方式を自社に導入する」計画を立てた場合、その加工方式が既に他の工場で広く使われているものであっても、自社にとって新しい取り組みであれば、経営革新計画の「新事業活…</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注意｜「新事業活動の新規性は全国初でなければならない」という記述は誤りです。自社にとって新しければよいという点が繰り返し問われます。 経営革新計画（新事業活動、都道府県知事等の承認）と経営力向上計画（生産性向上の取…</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G-21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経営サポート：知的財産支援、再生支援</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中小企業政策（G-18〜G-28）</a:t>
            </a:r>
          </a:p>
        </p:txBody>
      </p:sp>
      <p:sp>
        <p:nvSpPr>
          <p:cNvPr id="6" name="Rounded Rectangle 5"/>
          <p:cNvSpPr/>
          <p:nvPr/>
        </p:nvSpPr>
        <p:spPr>
          <a:xfrm>
            <a:off x="566928"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中小企業活性化協議会</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が中心的な役割を担います。中小企業活性化協議会は、資金繰りに窮した中小企業からの相…</a:t>
            </a:r>
          </a:p>
        </p:txBody>
      </p:sp>
      <p:sp>
        <p:nvSpPr>
          <p:cNvPr id="10" name="Chevron 9"/>
          <p:cNvSpPr/>
          <p:nvPr/>
        </p:nvSpPr>
        <p:spPr>
          <a:xfrm>
            <a:off x="2456078"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事業承継・引継ぎ支援センター</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も各都道府県に設置されています。</a:t>
            </a:r>
          </a:p>
        </p:txBody>
      </p:sp>
      <p:sp>
        <p:nvSpPr>
          <p:cNvPr id="15" name="Chevron 14"/>
          <p:cNvSpPr/>
          <p:nvPr/>
        </p:nvSpPr>
        <p:spPr>
          <a:xfrm>
            <a:off x="4765852"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知的財産支援として</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中小企業が特許出願する際の審査請求料・特許料の減免制度など、コスト面での支援が用意…</a:t>
            </a:r>
          </a:p>
        </p:txBody>
      </p:sp>
      <p:sp>
        <p:nvSpPr>
          <p:cNvPr id="20" name="Chevron 19"/>
          <p:cNvSpPr/>
          <p:nvPr/>
        </p:nvSpPr>
        <p:spPr>
          <a:xfrm>
            <a:off x="7075627"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再生支援について</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経営が悪化した中小企業の事業再生を支援する体制として、各都道府県に設置される中小企…</a:t>
            </a:r>
          </a:p>
        </p:txBody>
      </p:sp>
      <p:sp>
        <p:nvSpPr>
          <p:cNvPr id="25" name="Chevron 24"/>
          <p:cNvSpPr/>
          <p:nvPr/>
        </p:nvSpPr>
        <p:spPr>
          <a:xfrm>
            <a:off x="9385401"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事業承継の第三者承継（M&amp;A）…</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業績が悪化し、金融機関への返済負担が重くなった中小企業が、中小企業活性化協議会に相談し、専門家の支援を受けながら金融機関との返済条件の見直し（リスケジュール）を含む経営改善計画を策定するのは、再生支援の典型的…</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再生支援＝中小企業活性化協議会」「事業承継のM&amp;Aマッチング＝事業承継・引継ぎ支援センター」というように、支援機関の名称と主な機能を対応させて覚えましょう。両者は連携することも多いですが、役割の重心が異なり…</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G-22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経営サポート：雇用人材支援、海外展開支援</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中小企業政策（G-18〜G-28）</a:t>
            </a:r>
          </a:p>
        </p:txBody>
      </p:sp>
      <p:sp>
        <p:nvSpPr>
          <p:cNvPr id="6" name="Rounded Rectangle 5"/>
          <p:cNvSpPr/>
          <p:nvPr/>
        </p:nvSpPr>
        <p:spPr>
          <a:xfrm>
            <a:off x="566928" y="1051560"/>
            <a:ext cx="5394960" cy="420624"/>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JETRO（日本貿易振興機構）</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が中小企業の海外進出・輸出を後押しする中核機関として、海外市場調査、商談会・見本市への出展支援、現地情報の提供などを行って…</a:t>
            </a:r>
          </a:p>
        </p:txBody>
      </p:sp>
      <p:sp>
        <p:nvSpPr>
          <p:cNvPr id="11" name="Rounded Rectangle 10"/>
          <p:cNvSpPr/>
          <p:nvPr/>
        </p:nvSpPr>
        <p:spPr>
          <a:xfrm>
            <a:off x="566928"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雇用・人材面の支援として</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中小企業が人材を確保・育成するための各種助成金（雇用調整助成金、人材確保等支援助成金等）や、生産性向上に資する人材育成…</a:t>
            </a:r>
          </a:p>
        </p:txBody>
      </p:sp>
      <p:sp>
        <p:nvSpPr>
          <p:cNvPr id="15" name="Rounded Rectangle 14"/>
          <p:cNvSpPr/>
          <p:nvPr/>
        </p:nvSpPr>
        <p:spPr>
          <a:xfrm>
            <a:off x="6217920" y="1051560"/>
            <a:ext cx="5394960" cy="420624"/>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BE123C"/>
                </a:solidFill>
                <a:latin typeface="WenQuanYi Micro Hei"/>
              </a:rPr>
              <a:t>視点 B</a:t>
            </a:r>
          </a:p>
        </p:txBody>
      </p:sp>
      <p:sp>
        <p:nvSpPr>
          <p:cNvPr id="16" name="Rounded Rectangle 15"/>
          <p:cNvSpPr/>
          <p:nvPr/>
        </p:nvSpPr>
        <p:spPr>
          <a:xfrm>
            <a:off x="6217920"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海外展開支援で</a:t>
            </a:r>
          </a:p>
        </p:txBody>
      </p:sp>
      <p:sp>
        <p:nvSpPr>
          <p:cNvPr id="19" name="TextBox 18"/>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JETRO（日本貿易振興機構）が中小企業の海外進出・輸出を後押しする中核機関として、海外市場調査、商談会・見本市への出…</a:t>
            </a:r>
          </a:p>
        </p:txBody>
      </p:sp>
      <p:sp>
        <p:nvSpPr>
          <p:cNvPr id="20" name="Rounded Rectangle 19"/>
          <p:cNvSpPr/>
          <p:nvPr/>
        </p:nvSpPr>
        <p:spPr>
          <a:xfrm>
            <a:off x="6217920"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当年度の代表的な政策として「新規輸出1万者支援プ…</a:t>
            </a:r>
          </a:p>
        </p:txBody>
      </p:sp>
      <p:sp>
        <p:nvSpPr>
          <p:cNvPr id="23" name="Rounded Rectangle 22"/>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具体例｜海外進出のノウハウがない中小企業が、JETROが主催する海外見本市への出展支援を活用して現地バイヤーとの商談機会を得て、輸出契約につなげるのは、海外展開支援の典型的な活用例です。</a:t>
            </a:r>
          </a:p>
        </p:txBody>
      </p:sp>
      <p:sp>
        <p:nvSpPr>
          <p:cNvPr id="24" name="Rounded Rectangle 23"/>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海外展開支援策の当年度の名称・数値目標を問う設問は、必ず当年度の白書・施策総覧で確認する必要があります。「海外展開の一般的な考え方（G-15）」と「当年度の具体的な支援施策名（G-22）」を分けて整理しておく…</a:t>
            </a:r>
          </a:p>
        </p:txBody>
      </p:sp>
      <p:sp>
        <p:nvSpPr>
          <p:cNvPr id="25" name="Rectangle 24"/>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27" name="TextBox 26"/>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G-23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経営サポート：取引・官公需支援、小規模企業支援</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中小企業政策（G-18〜G-28）</a:t>
            </a:r>
          </a:p>
        </p:txBody>
      </p:sp>
      <p:sp>
        <p:nvSpPr>
          <p:cNvPr id="6" name="Rounded Rectangle 5"/>
          <p:cNvSpPr/>
          <p:nvPr/>
        </p:nvSpPr>
        <p:spPr>
          <a:xfrm>
            <a:off x="566928" y="1051560"/>
            <a:ext cx="5394960" cy="420624"/>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下請代金支払遅延等防止法（下請法）</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親事業者が下請事業者に対して行ってはいけない行為（代金の支払遅延、不当な減額、買いたたきなど）を規制する法律</a:t>
            </a:r>
          </a:p>
        </p:txBody>
      </p:sp>
      <p:sp>
        <p:nvSpPr>
          <p:cNvPr id="11" name="Rounded Rectangle 10"/>
          <p:cNvSpPr/>
          <p:nvPr/>
        </p:nvSpPr>
        <p:spPr>
          <a:xfrm>
            <a:off x="566928"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下請中小企業振興法</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下請中小企業の自立化・親事業者との取引の適正化を振興するための法律</a:t>
            </a:r>
          </a:p>
        </p:txBody>
      </p:sp>
      <p:sp>
        <p:nvSpPr>
          <p:cNvPr id="15" name="Rounded Rectangle 14"/>
          <p:cNvSpPr/>
          <p:nvPr/>
        </p:nvSpPr>
        <p:spPr>
          <a:xfrm>
            <a:off x="566928" y="398678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官公需についての中小企業者の受注の確保に関する…</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国や地方公共団体が物品・サービスを調達する際（官公需）、中小企業者の受注機会を確保するよう国等に努力義務を課す法律</a:t>
            </a:r>
          </a:p>
        </p:txBody>
      </p:sp>
      <p:sp>
        <p:nvSpPr>
          <p:cNvPr id="19" name="Rounded Rectangle 18"/>
          <p:cNvSpPr/>
          <p:nvPr/>
        </p:nvSpPr>
        <p:spPr>
          <a:xfrm>
            <a:off x="6217920" y="1051560"/>
            <a:ext cx="5394960" cy="420624"/>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BE123C"/>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小規模企業振興基本法</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（いわゆる「小規模基本法」）が2014年に制定され、小規模企業の持続的発展を支える政策の柱となっています。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大企業（発注元）との取引において立場が弱くなりがちです。</a:t>
            </a:r>
          </a:p>
        </p:txBody>
      </p:sp>
      <p:sp>
        <p:nvSpPr>
          <p:cNvPr id="28" name="Rounded Rectangle 27"/>
          <p:cNvSpPr/>
          <p:nvPr/>
        </p:nvSpPr>
        <p:spPr>
          <a:xfrm>
            <a:off x="6217920" y="398678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これを是正するための代表的な法律・制度が次の3つ…</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具体例｜大手メーカーが、下請の部品メーカーに対して、発注後に一方的に代金を減額したり、支払いを長期間遅延させたりする行為は、下請代金支払遅延等防止法で禁止される典型的な違反行為です。</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下請代金支払遅延等防止法」（個別の下請取引の適正化を直接規制）と「官公需法」（国・自治体の調達において中小企業の受注機会を確保）は、対象とする取引の相手方（民間の親事業者か、国・自治体か）が異なる別の法律で…</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G-24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金融サポート（信用保証制度、政府系金融機関）</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中小企業政策（G-18〜G-28）</a:t>
            </a:r>
          </a:p>
        </p:txBody>
      </p:sp>
      <p:sp>
        <p:nvSpPr>
          <p:cNvPr id="6" name="Rounded Rectangle 5"/>
          <p:cNvSpPr/>
          <p:nvPr/>
        </p:nvSpPr>
        <p:spPr>
          <a:xfrm>
            <a:off x="566928" y="1051560"/>
            <a:ext cx="5394960" cy="420624"/>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信用保証制度</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は、中小企業者が金融機関から融資を受ける際に、公的機関である信用保証協会が保証人となることで、金融機関がより融資をしやすく…</a:t>
            </a:r>
          </a:p>
        </p:txBody>
      </p:sp>
      <p:sp>
        <p:nvSpPr>
          <p:cNvPr id="11" name="Rounded Rectangle 10"/>
          <p:cNvSpPr/>
          <p:nvPr/>
        </p:nvSpPr>
        <p:spPr>
          <a:xfrm>
            <a:off x="566928"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普通保証</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限度額2億円以内</a:t>
            </a:r>
          </a:p>
        </p:txBody>
      </p:sp>
      <p:sp>
        <p:nvSpPr>
          <p:cNvPr id="15" name="Rounded Rectangle 14"/>
          <p:cNvSpPr/>
          <p:nvPr/>
        </p:nvSpPr>
        <p:spPr>
          <a:xfrm>
            <a:off x="566928" y="398678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無担保保証</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限度額8,000万円以内（担保を提供せずに利用できる）</a:t>
            </a:r>
          </a:p>
        </p:txBody>
      </p:sp>
      <p:sp>
        <p:nvSpPr>
          <p:cNvPr id="19" name="Rounded Rectangle 18"/>
          <p:cNvSpPr/>
          <p:nvPr/>
        </p:nvSpPr>
        <p:spPr>
          <a:xfrm>
            <a:off x="6217920" y="1051560"/>
            <a:ext cx="5394960" cy="420624"/>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BE123C"/>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政府系金融機関</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の代表格が日本政策金融公庫です。個人事業主・小規模事業者向けの「国民生活事業」と、中小企業向けの「中小企業事業」の2つの部…</a:t>
            </a:r>
          </a:p>
        </p:txBody>
      </p:sp>
      <p:sp>
        <p:nvSpPr>
          <p:cNvPr id="24" name="Rounded Rectangle 23"/>
          <p:cNvSpPr/>
          <p:nvPr/>
        </p:nvSpPr>
        <p:spPr>
          <a:xfrm>
            <a:off x="6217920" y="279806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小規模事業者経営改善資金融資制度</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」（通称：マル経融資）もあります。</a:t>
            </a:r>
          </a:p>
        </p:txBody>
      </p:sp>
      <p:sp>
        <p:nvSpPr>
          <p:cNvPr id="28" name="Rounded Rectangle 27"/>
          <p:cNvSpPr/>
          <p:nvPr/>
        </p:nvSpPr>
        <p:spPr>
          <a:xfrm>
            <a:off x="6217920" y="3986783"/>
            <a:ext cx="5394960" cy="1078992"/>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中小企業の資金調達を支える公的な金融支援に</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大きく分けて「信用保証制度」と「政府系金融機関による直接融資」の2種類があります。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自然災害で工場が被災し、売上が急減した中小企業が、通常の保証枠とは別に「セーフティネット保証」を利用して追加の運転資金を金融機関から借り入れるのは、信用保証制度の典型的な活用例です。</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普通保証（2億円以内）」「無担保保証（8,000万円以内）」「無担保無保証人保証（小口零細企業保証制度、より小規模向け）」という3種類の一般保証を、限度額と特徴のセットで正確に区別する必要があります。限度額…</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G-25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財務サポート（税制、事業承継税制）</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中小企業政策（G-18〜G-28）</a:t>
            </a:r>
          </a:p>
        </p:txBody>
      </p:sp>
      <p:sp>
        <p:nvSpPr>
          <p:cNvPr id="6" name="Rounded Rectangle 5"/>
          <p:cNvSpPr/>
          <p:nvPr/>
        </p:nvSpPr>
        <p:spPr>
          <a:xfrm>
            <a:off x="566928"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事業承継税制</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（法人版・個人版）です。これは、後継者が非上場株式等を先代経営者から贈与・相続で取…</a:t>
            </a:r>
          </a:p>
        </p:txBody>
      </p:sp>
      <p:sp>
        <p:nvSpPr>
          <p:cNvPr id="10" name="Chevron 9"/>
          <p:cNvSpPr/>
          <p:nvPr/>
        </p:nvSpPr>
        <p:spPr>
          <a:xfrm>
            <a:off x="2456078"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特例措置</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は、それまでの「一般措置」と比べて次の点が大幅に拡充されています。</a:t>
            </a:r>
          </a:p>
        </p:txBody>
      </p:sp>
      <p:sp>
        <p:nvSpPr>
          <p:cNvPr id="15" name="Chevron 14"/>
          <p:cNvSpPr/>
          <p:nvPr/>
        </p:nvSpPr>
        <p:spPr>
          <a:xfrm>
            <a:off x="4765852"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全株式</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が対象になる</a:t>
            </a:r>
          </a:p>
        </p:txBody>
      </p:sp>
      <p:sp>
        <p:nvSpPr>
          <p:cNvPr id="20" name="Chevron 19"/>
          <p:cNvSpPr/>
          <p:nvPr/>
        </p:nvSpPr>
        <p:spPr>
          <a:xfrm>
            <a:off x="7075627"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100％</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に引き上げられ、贈与税・相続税の負担が実質ゼロになりうる</a:t>
            </a:r>
          </a:p>
        </p:txBody>
      </p:sp>
      <p:sp>
        <p:nvSpPr>
          <p:cNvPr id="25" name="Chevron 24"/>
          <p:cNvSpPr/>
          <p:nvPr/>
        </p:nvSpPr>
        <p:spPr>
          <a:xfrm>
            <a:off x="9385401"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承継計画（特例承継計画）をあら…</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後継者不在ではないが、多額の相続税負担が事業承継の障害になっていた非上場の製造業で、先代経営者が特例承継計画を提出した上で後継者に自社株式を贈与すれば、対象株式数の上限がなく納税猶予割合も100％の特例措置に…</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一般措置と特例措置の違い（対象株式数の上限の有無、納税猶予割合80％か100％か）は頻出の比較ポイントです。また、特例措置の適用には「特例承継計画」の事前提出という手続き要件がある点も見落としやすいので注意し…</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G-26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商業・地域サポート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中小企業政策（G-18〜G-28）</a:t>
            </a:r>
          </a:p>
        </p:txBody>
      </p:sp>
      <p:sp>
        <p:nvSpPr>
          <p:cNvPr id="6" name="Rounded Rectangle 5"/>
          <p:cNvSpPr/>
          <p:nvPr/>
        </p:nvSpPr>
        <p:spPr>
          <a:xfrm>
            <a:off x="566928"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商店街活性化支援</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空き店舗対策、イベント開催支援など、商店街組合等が行う活性化事業への補助</a:t>
            </a:r>
          </a:p>
        </p:txBody>
      </p:sp>
      <p:sp>
        <p:nvSpPr>
          <p:cNvPr id="10" name="Chevron 9"/>
          <p:cNvSpPr/>
          <p:nvPr/>
        </p:nvSpPr>
        <p:spPr>
          <a:xfrm>
            <a:off x="2456078"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中心市街地活性化法</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（まちづくり三法の一つ）：郊外への大型店出店の増加により衰退した中心市街地の再生を…</a:t>
            </a:r>
          </a:p>
        </p:txBody>
      </p:sp>
      <p:sp>
        <p:nvSpPr>
          <p:cNvPr id="15" name="Chevron 14"/>
          <p:cNvSpPr/>
          <p:nvPr/>
        </p:nvSpPr>
        <p:spPr>
          <a:xfrm>
            <a:off x="4765852"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地域資源を活用した商業振興</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地元の農産物・観光資源等を活かした商業振興の取り組み</a:t>
            </a:r>
          </a:p>
        </p:txBody>
      </p:sp>
      <p:sp>
        <p:nvSpPr>
          <p:cNvPr id="20" name="Chevron 19"/>
          <p:cNvSpPr/>
          <p:nvPr/>
        </p:nvSpPr>
        <p:spPr>
          <a:xfrm>
            <a:off x="7075627"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商業・地域サポート</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商店街や中心市街地の活性化を通じて、地域の商業機能・にぎわいを維持・向上させること…</a:t>
            </a:r>
          </a:p>
        </p:txBody>
      </p:sp>
      <p:sp>
        <p:nvSpPr>
          <p:cNvPr id="25" name="Chevron 24"/>
          <p:cNvSpPr/>
          <p:nvPr/>
        </p:nvSpPr>
        <p:spPr>
          <a:xfrm>
            <a:off x="9385401" y="2596896"/>
            <a:ext cx="310896" cy="640080"/>
          </a:xfrm>
          <a:prstGeom prst="chevron">
            <a:avLst/>
          </a:prstGeom>
          <a:solidFill>
            <a:srgbClr val="D05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FF1F2"/>
          </a:solidFill>
          <a:ln w="1778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BE123C"/>
                </a:solidFill>
                <a:latin typeface="WenQuanYi Micro Hei"/>
              </a:rPr>
              <a:t>代表的な施策・法制度に次のよう…</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郊外に大型ショッピングモールが出店したことで衰退した中心市街地の商店街が、空き店舗を活用したチャレンジショップ（新規開業者向けの低家賃店舗）の誘致や、地域イベントの開催を通じて回遊性・にぎわいの回復を図る取り…</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まちづくり三法」を構成する3つの法律（大規模小売店舗立地法、中心市街地活性化法、改正都市計画法）それぞれの目的の違い（大型店の立地環境整備／中心市街地の再生／広域的な土地利用規制）を区別しておきましょう。</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G-27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中小企業支援事業の実施体制（中小機構、支援センター等）</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中小企業政策（G-18〜G-28）</a:t>
            </a:r>
          </a:p>
        </p:txBody>
      </p:sp>
      <p:sp>
        <p:nvSpPr>
          <p:cNvPr id="6" name="Rounded Rectangle 5"/>
          <p:cNvSpPr/>
          <p:nvPr/>
        </p:nvSpPr>
        <p:spPr>
          <a:xfrm>
            <a:off x="838047" y="1024128"/>
            <a:ext cx="10515600" cy="640080"/>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1｜中小企業基盤整備機構（中小機構）　中小企業政策を実施する全国唯一の中核的な独立行政法人。ファンド出資、専門家派遣、共済制度（小規模企業共済・経…</a:t>
            </a:r>
          </a:p>
        </p:txBody>
      </p:sp>
      <p:sp>
        <p:nvSpPr>
          <p:cNvPr id="7" name="Rounded Rectangle 6"/>
          <p:cNvSpPr/>
          <p:nvPr/>
        </p:nvSpPr>
        <p:spPr>
          <a:xfrm>
            <a:off x="1409547" y="1828800"/>
            <a:ext cx="9372600" cy="640080"/>
          </a:xfrm>
          <a:prstGeom prst="roundRect">
            <a:avLst/>
          </a:prstGeom>
          <a:solidFill>
            <a:srgbClr val="FFFFFF"/>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2｜よろず支援拠点　中小機構が各都道府県の専門機関に委託して設置する、経営に関する「あらゆる（よろず）」相談に無料で対応するワン…</a:t>
            </a:r>
          </a:p>
        </p:txBody>
      </p:sp>
      <p:sp>
        <p:nvSpPr>
          <p:cNvPr id="8" name="Rounded Rectangle 7"/>
          <p:cNvSpPr/>
          <p:nvPr/>
        </p:nvSpPr>
        <p:spPr>
          <a:xfrm>
            <a:off x="1981047" y="2633472"/>
            <a:ext cx="8229600" cy="640080"/>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3｜都道府県等中小企業支援センター　中小企業支援法に基づき、各都道府県に設置される支援機関（東京都中小企業振興公社など、地域により名称が異なる）</a:t>
            </a:r>
          </a:p>
        </p:txBody>
      </p:sp>
      <p:sp>
        <p:nvSpPr>
          <p:cNvPr id="9" name="Rounded Rectangle 8"/>
          <p:cNvSpPr/>
          <p:nvPr/>
        </p:nvSpPr>
        <p:spPr>
          <a:xfrm>
            <a:off x="2552547" y="3438144"/>
            <a:ext cx="7086600" cy="640080"/>
          </a:xfrm>
          <a:prstGeom prst="roundRect">
            <a:avLst/>
          </a:prstGeom>
          <a:solidFill>
            <a:srgbClr val="FFFFFF"/>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4｜商工会・商工会議所　地域の中小企業・小規模事業者への経営相談・記帳指導等を行う地域密着型の支援機関。商工会は主に町村部を管轄し中…</a:t>
            </a:r>
          </a:p>
        </p:txBody>
      </p:sp>
      <p:sp>
        <p:nvSpPr>
          <p:cNvPr id="10" name="Rounded Rectangle 9"/>
          <p:cNvSpPr/>
          <p:nvPr/>
        </p:nvSpPr>
        <p:spPr>
          <a:xfrm>
            <a:off x="3124047" y="4242816"/>
            <a:ext cx="5943600" cy="640080"/>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5｜中小企業を支援する機関　複数あり、それぞれ役割分担があります。</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創業を考えている個人が、まず地元の商工会議所で記帳や税務の基礎知識について相談し、その後、より専門的な販路開拓やITツール活用については「よろず支援拠点」で無料相談を受ける、というように、複数の支援機関を目的…</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商工会」と「商工会議所」は名前が似ていますが、根拠法・管轄地域・所管が異なる別組織です。また「よろず支援拠点」（幅広い経営相談のワンストップ窓口、中小機構が委託）と「都道府県等中小企業支援センター」（中小企…</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BE123C"/>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G-28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中小企業政策の役割と変遷（沿革）</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BE123C"/>
                </a:solidFill>
                <a:latin typeface="WenQuanYi Micro Hei"/>
              </a:rPr>
              <a:t>中小企業政策（G-18〜G-28）</a:t>
            </a:r>
          </a:p>
        </p:txBody>
      </p:sp>
      <p:sp>
        <p:nvSpPr>
          <p:cNvPr id="6" name="Rectangle 5"/>
          <p:cNvSpPr/>
          <p:nvPr/>
        </p:nvSpPr>
        <p:spPr>
          <a:xfrm>
            <a:off x="868680" y="2926080"/>
            <a:ext cx="10469880" cy="4572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1｜中小企業基本法の制定（1963年）
高度経済成長期、大企業と中小企業の間の生産性・賃金等の格差（「二重構造」と…</a:t>
            </a:r>
          </a:p>
        </p:txBody>
      </p:sp>
      <p:sp>
        <p:nvSpPr>
          <p:cNvPr id="9" name="Oval 8"/>
          <p:cNvSpPr/>
          <p:nvPr/>
        </p:nvSpPr>
        <p:spPr>
          <a:xfrm>
            <a:off x="3348990" y="2761488"/>
            <a:ext cx="384048" cy="384048"/>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2｜中小企業基本法の抜本改正（1999…
政策理念が大きく転換し、中小企業を「多様な事業の分野で特色ある事業活動を行…</a:t>
            </a:r>
          </a:p>
        </p:txBody>
      </p:sp>
      <p:sp>
        <p:nvSpPr>
          <p:cNvPr id="11" name="Oval 10"/>
          <p:cNvSpPr/>
          <p:nvPr/>
        </p:nvSpPr>
        <p:spPr>
          <a:xfrm>
            <a:off x="5920740" y="2761488"/>
            <a:ext cx="384048" cy="384048"/>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3｜小規模企業振興基本法
が制定されるなど（G-23参照）、中小企業の中でもとりわけ小規模な事業者へ…</a:t>
            </a:r>
          </a:p>
        </p:txBody>
      </p:sp>
      <p:sp>
        <p:nvSpPr>
          <p:cNvPr id="13" name="Oval 12"/>
          <p:cNvSpPr/>
          <p:nvPr/>
        </p:nvSpPr>
        <p:spPr>
          <a:xfrm>
            <a:off x="8492490" y="2761488"/>
            <a:ext cx="384048" cy="384048"/>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4｜中小企業政策の歴史的な変遷
この科目の中でもやや異色の「歴史」に関する論点です。</a:t>
            </a:r>
          </a:p>
        </p:txBody>
      </p:sp>
      <p:sp>
        <p:nvSpPr>
          <p:cNvPr id="15" name="Oval 14"/>
          <p:cNvSpPr/>
          <p:nvPr/>
        </p:nvSpPr>
        <p:spPr>
          <a:xfrm>
            <a:off x="11064240" y="2761488"/>
            <a:ext cx="384048" cy="384048"/>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5｜大きな転換点
次の2つです。</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1963年の中小企業基本法は「中小企業は大企業に比べて生産性が低く格差があるので、これを是正しなければならない」という発想が土台にありましたが、1999年の改正後は「中小企業は画一的な弱者ではなく、それぞれが…</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1963年の基本法制定」と「1999年の抜本改正」の順序、およびそれぞれの政策理念（格差是正型／自立支援型）を入れ替えて誤った選択肢が作られることがあります。年号そのものよりも、「制定時は弱者保護・格差是正…</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docs/textbook/G_sme_management_policy_textbook.md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BE123C"/>
                </a:solidFill>
                <a:latin typeface="WenQuanYi Micro He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700" b="1">
                <a:solidFill>
                  <a:srgbClr val="172033"/>
                </a:solidFill>
                <a:latin typeface="WenQuanYi Micro Hei"/>
              </a:rPr>
              <a:t>中小企業経営・中小企業政策｜学習のまとめ</a:t>
            </a:r>
          </a:p>
        </p:txBody>
      </p:sp>
      <p:sp>
        <p:nvSpPr>
          <p:cNvPr id="4" name="Oval 3"/>
          <p:cNvSpPr/>
          <p:nvPr/>
        </p:nvSpPr>
        <p:spPr>
          <a:xfrm>
            <a:off x="4892040" y="2304288"/>
            <a:ext cx="2395728" cy="1417320"/>
          </a:xfrm>
          <a:prstGeom prst="ellipse">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5" name="Rounded Rectangle 4"/>
          <p:cNvSpPr/>
          <p:nvPr/>
        </p:nvSpPr>
        <p:spPr>
          <a:xfrm>
            <a:off x="4526280" y="1051560"/>
            <a:ext cx="2907792" cy="1024128"/>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26280" y="1051560"/>
            <a:ext cx="73152" cy="1024128"/>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この教科書で、中小企業基本法の定義や各種制度の「…</a:t>
            </a:r>
          </a:p>
        </p:txBody>
      </p:sp>
      <p:cxnSp>
        <p:nvCxnSpPr>
          <p:cNvPr id="8" name="Connector 7"/>
          <p:cNvCxnSpPr/>
          <p:nvPr/>
        </p:nvCxnSpPr>
        <p:spPr>
          <a:xfrm>
            <a:off x="5980176" y="1563624"/>
            <a:ext cx="3447288" cy="1234440"/>
          </a:xfrm>
          <a:prstGeom prst="line">
            <a:avLst/>
          </a:prstGeom>
          <a:ln w="22860">
            <a:solidFill>
              <a:srgbClr val="D5658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973568" y="2286000"/>
            <a:ext cx="2907792" cy="1024128"/>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2286000"/>
            <a:ext cx="73152" cy="1024128"/>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problem_sets/1st_stage/e…</a:t>
            </a:r>
          </a:p>
        </p:txBody>
      </p:sp>
      <p:cxnSp>
        <p:nvCxnSpPr>
          <p:cNvPr id="12" name="Connector 11"/>
          <p:cNvCxnSpPr/>
          <p:nvPr/>
        </p:nvCxnSpPr>
        <p:spPr>
          <a:xfrm flipH="1">
            <a:off x="5980176" y="2798064"/>
            <a:ext cx="3447288" cy="1508760"/>
          </a:xfrm>
          <a:prstGeom prst="line">
            <a:avLst/>
          </a:prstGeom>
          <a:ln w="22860">
            <a:solidFill>
              <a:srgbClr val="D5658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26280" y="3794760"/>
            <a:ext cx="2907792" cy="1024128"/>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3794760"/>
            <a:ext cx="73152" cy="1024128"/>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problem_sets/1st_stage/G…</a:t>
            </a:r>
          </a:p>
        </p:txBody>
      </p:sp>
      <p:cxnSp>
        <p:nvCxnSpPr>
          <p:cNvPr id="16" name="Connector 15"/>
          <p:cNvCxnSpPr/>
          <p:nvPr/>
        </p:nvCxnSpPr>
        <p:spPr>
          <a:xfrm flipH="1" flipV="1">
            <a:off x="2532888" y="2798064"/>
            <a:ext cx="3447288" cy="1508760"/>
          </a:xfrm>
          <a:prstGeom prst="line">
            <a:avLst/>
          </a:prstGeom>
          <a:ln w="22860">
            <a:solidFill>
              <a:srgbClr val="D5658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78992" y="2286000"/>
            <a:ext cx="2907792" cy="1024128"/>
          </a:xfrm>
          <a:prstGeom prst="roundRect">
            <a:avLst/>
          </a:prstGeom>
          <a:solidFill>
            <a:srgbClr val="FFFFFF"/>
          </a:solidFill>
          <a:ln w="15240">
            <a:solidFill>
              <a:srgbClr val="E294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78992" y="2286000"/>
            <a:ext cx="73152" cy="1024128"/>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BE123C"/>
                </a:solidFill>
                <a:latin typeface="WenQuanYi Micro Hei"/>
              </a:rPr>
              <a:t>直前期に references/whitepap…</a:t>
            </a:r>
          </a:p>
        </p:txBody>
      </p:sp>
      <p:cxnSp>
        <p:nvCxnSpPr>
          <p:cNvPr id="20" name="Connector 19"/>
          <p:cNvCxnSpPr/>
          <p:nvPr/>
        </p:nvCxnSpPr>
        <p:spPr>
          <a:xfrm flipV="1">
            <a:off x="2532888" y="1563624"/>
            <a:ext cx="3447288" cy="1234440"/>
          </a:xfrm>
          <a:prstGeom prst="line">
            <a:avLst/>
          </a:prstGeom>
          <a:ln w="22860">
            <a:solidFill>
              <a:srgbClr val="D5658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7240" y="5074920"/>
            <a:ext cx="10652760" cy="969264"/>
          </a:xfrm>
          <a:prstGeom prst="roundRect">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50" b="1">
                <a:solidFill>
                  <a:srgbClr val="BE123C"/>
                </a:solidFill>
                <a:latin typeface="WenQuanYi Micro Hei"/>
              </a:rPr>
              <a:t>次の一歩｜problem_sets/1st_stage/ の論点表と exercises/ の演習で、28論点を定着させる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中小企業経営・中小企業政策 図解スライド</dc:title>
  <dc:subject>中小企業診断士 第1次試験</dc:subject>
  <dc:creator>SMEC Project</dc:creator>
  <cp:keywords>中小企業診断士, 教科書, 図解, スライド</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