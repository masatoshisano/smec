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909560" y="685800"/>
            <a:ext cx="3840480" cy="3840480"/>
          </a:xfrm>
          <a:prstGeom prst="ellipse">
            <a:avLst/>
          </a:prstGeom>
          <a:solidFill>
            <a:srgbClr val="FFF7ED"/>
          </a:solidFill>
          <a:ln w="25400">
            <a:solidFill>
              <a:srgbClr val="E0A086"/>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5400" b="1">
                <a:solidFill>
                  <a:srgbClr val="C2410C"/>
                </a:solidFill>
                <a:latin typeface="WenQuanYi Micro Hei"/>
              </a:rPr>
              <a:t>C</a:t>
            </a:r>
          </a:p>
        </p:txBody>
      </p:sp>
      <p:sp>
        <p:nvSpPr>
          <p:cNvPr id="4" name="TextBox 3"/>
          <p:cNvSpPr txBox="1"/>
          <p:nvPr/>
        </p:nvSpPr>
        <p:spPr>
          <a:xfrm>
            <a:off x="685800" y="1280160"/>
            <a:ext cx="7086600" cy="502920"/>
          </a:xfrm>
          <a:prstGeom prst="rect">
            <a:avLst/>
          </a:prstGeom>
          <a:noFill/>
        </p:spPr>
        <p:txBody>
          <a:bodyPr wrap="square" tIns="91440" bIns="91440" anchor="ctr">
            <a:spAutoFit/>
          </a:bodyPr>
          <a:lstStyle/>
          <a:p>
            <a:pPr algn="l">
              <a:spcAft>
                <a:spcPts val="0"/>
              </a:spcAft>
            </a:pPr>
            <a:r>
              <a:rPr sz="1700" b="1">
                <a:solidFill>
                  <a:srgbClr val="C2410C"/>
                </a:solidFill>
                <a:latin typeface="WenQuanYi Micro Hei"/>
              </a:rPr>
              <a:t>中小企業診断士 第1次試験</a:t>
            </a:r>
          </a:p>
        </p:txBody>
      </p:sp>
      <p:sp>
        <p:nvSpPr>
          <p:cNvPr id="5" name="TextBox 4"/>
          <p:cNvSpPr txBox="1"/>
          <p:nvPr/>
        </p:nvSpPr>
        <p:spPr>
          <a:xfrm>
            <a:off x="658368" y="1874519"/>
            <a:ext cx="7406640" cy="1234440"/>
          </a:xfrm>
          <a:prstGeom prst="rect">
            <a:avLst/>
          </a:prstGeom>
          <a:noFill/>
        </p:spPr>
        <p:txBody>
          <a:bodyPr wrap="square" tIns="91440" bIns="91440" anchor="t">
            <a:spAutoFit/>
          </a:bodyPr>
          <a:lstStyle/>
          <a:p>
            <a:pPr algn="l">
              <a:spcAft>
                <a:spcPts val="0"/>
              </a:spcAft>
            </a:pPr>
            <a:r>
              <a:rPr sz="3600" b="1">
                <a:solidFill>
                  <a:srgbClr val="172033"/>
                </a:solidFill>
                <a:latin typeface="WenQuanYi Micro Hei"/>
              </a:rPr>
              <a:t>企業経営理論</a:t>
            </a:r>
          </a:p>
        </p:txBody>
      </p:sp>
      <p:sp>
        <p:nvSpPr>
          <p:cNvPr id="6" name="TextBox 5"/>
          <p:cNvSpPr txBox="1"/>
          <p:nvPr/>
        </p:nvSpPr>
        <p:spPr>
          <a:xfrm>
            <a:off x="685800" y="3337560"/>
            <a:ext cx="6766560" cy="640080"/>
          </a:xfrm>
          <a:prstGeom prst="rect">
            <a:avLst/>
          </a:prstGeom>
          <a:noFill/>
        </p:spPr>
        <p:txBody>
          <a:bodyPr wrap="square" tIns="91440" bIns="91440" anchor="ctr">
            <a:spAutoFit/>
          </a:bodyPr>
          <a:lstStyle/>
          <a:p>
            <a:pPr algn="l">
              <a:spcAft>
                <a:spcPts val="0"/>
              </a:spcAft>
            </a:pPr>
            <a:r>
              <a:rPr sz="2000" b="0">
                <a:solidFill>
                  <a:srgbClr val="667085"/>
                </a:solidFill>
                <a:latin typeface="WenQuanYi Micro Hei"/>
              </a:rPr>
              <a:t>図解スライド｜全論点を「構造・比較・流れ」で理解する</a:t>
            </a:r>
          </a:p>
        </p:txBody>
      </p:sp>
      <p:sp>
        <p:nvSpPr>
          <p:cNvPr id="7" name="Rounded Rectangle 6"/>
          <p:cNvSpPr/>
          <p:nvPr/>
        </p:nvSpPr>
        <p:spPr>
          <a:xfrm>
            <a:off x="685800" y="4617720"/>
            <a:ext cx="3246120" cy="658368"/>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FFFFFF"/>
                </a:solidFill>
                <a:latin typeface="WenQuanYi Micro Hei"/>
              </a:rPr>
              <a:t>42 論点</a:t>
            </a:r>
          </a:p>
        </p:txBody>
      </p:sp>
      <p:sp>
        <p:nvSpPr>
          <p:cNvPr id="8" name="Rounded Rectangle 7"/>
          <p:cNvSpPr/>
          <p:nvPr/>
        </p:nvSpPr>
        <p:spPr>
          <a:xfrm>
            <a:off x="4096512" y="4617720"/>
            <a:ext cx="3246120" cy="658368"/>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000" b="1">
                <a:solidFill>
                  <a:srgbClr val="C2410C"/>
                </a:solidFill>
                <a:latin typeface="WenQuanYi Micro Hei"/>
              </a:rPr>
              <a:t>3 セクション</a:t>
            </a:r>
          </a:p>
        </p:txBody>
      </p:sp>
      <p:sp>
        <p:nvSpPr>
          <p:cNvPr id="9" name="TextBox 8"/>
          <p:cNvSpPr txBox="1"/>
          <p:nvPr/>
        </p:nvSpPr>
        <p:spPr>
          <a:xfrm>
            <a:off x="685800" y="5879592"/>
            <a:ext cx="10881360" cy="256032"/>
          </a:xfrm>
          <a:prstGeom prst="rect">
            <a:avLst/>
          </a:prstGeom>
          <a:noFill/>
        </p:spPr>
        <p:txBody>
          <a:bodyPr wrap="square" tIns="91440" bIns="91440" anchor="ctr">
            <a:spAutoFit/>
          </a:bodyPr>
          <a:lstStyle/>
          <a:p>
            <a:pPr algn="l">
              <a:spcAft>
                <a:spcPts val="0"/>
              </a:spcAft>
            </a:pPr>
            <a:r>
              <a:rPr sz="1100" b="0">
                <a:solidFill>
                  <a:srgbClr val="667085"/>
                </a:solidFill>
                <a:latin typeface="WenQuanYi Micro Hei"/>
              </a:rPr>
              <a:t>SMEC 教科書シリーズ｜教科書本文を基に自動生成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800" b="1">
                <a:solidFill>
                  <a:srgbClr val="172033"/>
                </a:solidFill>
                <a:latin typeface="WenQuanYi Micro Hei"/>
              </a:rPr>
              <a:t>このスライドの使い方</a:t>
            </a:r>
          </a:p>
        </p:txBody>
      </p:sp>
      <p:sp>
        <p:nvSpPr>
          <p:cNvPr id="4" name="Oval 3"/>
          <p:cNvSpPr/>
          <p:nvPr/>
        </p:nvSpPr>
        <p:spPr>
          <a:xfrm>
            <a:off x="1499616" y="1261872"/>
            <a:ext cx="685800" cy="68580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1</a:t>
            </a:r>
          </a:p>
        </p:txBody>
      </p:sp>
      <p:sp>
        <p:nvSpPr>
          <p:cNvPr id="5" name="Rounded Rectangle 4"/>
          <p:cNvSpPr/>
          <p:nvPr/>
        </p:nvSpPr>
        <p:spPr>
          <a:xfrm>
            <a:off x="658368" y="2121408"/>
            <a:ext cx="2377440" cy="157276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121408"/>
            <a:ext cx="73152" cy="157276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212848"/>
            <a:ext cx="205740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全体像</a:t>
            </a:r>
          </a:p>
        </p:txBody>
      </p:sp>
      <p:sp>
        <p:nvSpPr>
          <p:cNvPr id="8" name="TextBox 7"/>
          <p:cNvSpPr txBox="1"/>
          <p:nvPr/>
        </p:nvSpPr>
        <p:spPr>
          <a:xfrm>
            <a:off x="859536"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まず図の関係性を眺める</a:t>
            </a:r>
          </a:p>
        </p:txBody>
      </p:sp>
      <p:sp>
        <p:nvSpPr>
          <p:cNvPr id="9" name="Chevron 8"/>
          <p:cNvSpPr/>
          <p:nvPr/>
        </p:nvSpPr>
        <p:spPr>
          <a:xfrm>
            <a:off x="3099815" y="2615184"/>
            <a:ext cx="347472" cy="502920"/>
          </a:xfrm>
          <a:prstGeom prst="chevron">
            <a:avLst/>
          </a:prstGeom>
          <a:solidFill>
            <a:srgbClr val="D47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52544" y="1261872"/>
            <a:ext cx="685800" cy="68580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2</a:t>
            </a:r>
          </a:p>
        </p:txBody>
      </p:sp>
      <p:sp>
        <p:nvSpPr>
          <p:cNvPr id="11" name="Rounded Rectangle 10"/>
          <p:cNvSpPr/>
          <p:nvPr/>
        </p:nvSpPr>
        <p:spPr>
          <a:xfrm>
            <a:off x="3511296" y="2121408"/>
            <a:ext cx="2377440" cy="157276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11296" y="2121408"/>
            <a:ext cx="73152" cy="157276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2212848"/>
            <a:ext cx="205740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具体例</a:t>
            </a:r>
          </a:p>
        </p:txBody>
      </p:sp>
      <p:sp>
        <p:nvSpPr>
          <p:cNvPr id="14" name="TextBox 13"/>
          <p:cNvSpPr txBox="1"/>
          <p:nvPr/>
        </p:nvSpPr>
        <p:spPr>
          <a:xfrm>
            <a:off x="3712463"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身近な場面へ置き換える</a:t>
            </a:r>
          </a:p>
        </p:txBody>
      </p:sp>
      <p:sp>
        <p:nvSpPr>
          <p:cNvPr id="15" name="Chevron 14"/>
          <p:cNvSpPr/>
          <p:nvPr/>
        </p:nvSpPr>
        <p:spPr>
          <a:xfrm>
            <a:off x="5952744" y="2615184"/>
            <a:ext cx="347472" cy="502920"/>
          </a:xfrm>
          <a:prstGeom prst="chevron">
            <a:avLst/>
          </a:prstGeom>
          <a:solidFill>
            <a:srgbClr val="D47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05472" y="1261872"/>
            <a:ext cx="685800" cy="68580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3</a:t>
            </a:r>
          </a:p>
        </p:txBody>
      </p:sp>
      <p:sp>
        <p:nvSpPr>
          <p:cNvPr id="17" name="Rounded Rectangle 16"/>
          <p:cNvSpPr/>
          <p:nvPr/>
        </p:nvSpPr>
        <p:spPr>
          <a:xfrm>
            <a:off x="6364224" y="2121408"/>
            <a:ext cx="2377440" cy="157276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2121408"/>
            <a:ext cx="73152" cy="157276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212848"/>
            <a:ext cx="205740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注意</a:t>
            </a:r>
          </a:p>
        </p:txBody>
      </p:sp>
      <p:sp>
        <p:nvSpPr>
          <p:cNvPr id="20" name="TextBox 19"/>
          <p:cNvSpPr txBox="1"/>
          <p:nvPr/>
        </p:nvSpPr>
        <p:spPr>
          <a:xfrm>
            <a:off x="6565392"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誤答パターンを見分ける</a:t>
            </a:r>
          </a:p>
        </p:txBody>
      </p:sp>
      <p:sp>
        <p:nvSpPr>
          <p:cNvPr id="21" name="Chevron 20"/>
          <p:cNvSpPr/>
          <p:nvPr/>
        </p:nvSpPr>
        <p:spPr>
          <a:xfrm>
            <a:off x="8805672" y="2615184"/>
            <a:ext cx="347472" cy="502920"/>
          </a:xfrm>
          <a:prstGeom prst="chevron">
            <a:avLst/>
          </a:prstGeom>
          <a:solidFill>
            <a:srgbClr val="D47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400" y="1261872"/>
            <a:ext cx="685800" cy="68580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2000" b="1">
                <a:solidFill>
                  <a:srgbClr val="FFFFFF"/>
                </a:solidFill>
                <a:latin typeface="WenQuanYi Micro Hei"/>
              </a:rPr>
              <a:t>4</a:t>
            </a:r>
          </a:p>
        </p:txBody>
      </p:sp>
      <p:sp>
        <p:nvSpPr>
          <p:cNvPr id="23" name="Rounded Rectangle 22"/>
          <p:cNvSpPr/>
          <p:nvPr/>
        </p:nvSpPr>
        <p:spPr>
          <a:xfrm>
            <a:off x="9217152" y="2121408"/>
            <a:ext cx="2377440" cy="157276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17152" y="2121408"/>
            <a:ext cx="73152" cy="157276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0" y="2212848"/>
            <a:ext cx="205740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演習</a:t>
            </a:r>
          </a:p>
        </p:txBody>
      </p:sp>
      <p:sp>
        <p:nvSpPr>
          <p:cNvPr id="26" name="TextBox 25"/>
          <p:cNvSpPr txBox="1"/>
          <p:nvPr/>
        </p:nvSpPr>
        <p:spPr>
          <a:xfrm>
            <a:off x="9418320" y="2542032"/>
            <a:ext cx="2057400" cy="106984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教科書の参照先で定着させる</a:t>
            </a:r>
          </a:p>
        </p:txBody>
      </p:sp>
      <p:sp>
        <p:nvSpPr>
          <p:cNvPr id="27" name="Rounded Rectangle 26"/>
          <p:cNvSpPr/>
          <p:nvPr/>
        </p:nvSpPr>
        <p:spPr>
          <a:xfrm>
            <a:off x="685800" y="4251960"/>
            <a:ext cx="10817352" cy="1280160"/>
          </a:xfrm>
          <a:prstGeom prst="roundRect">
            <a:avLst/>
          </a:prstGeom>
          <a:solidFill>
            <a:srgbClr val="FFF7ED"/>
          </a:solidFill>
          <a:ln w="12700">
            <a:solidFill>
              <a:srgbClr val="DD9679"/>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500" b="0">
                <a:solidFill>
                  <a:srgbClr val="172033"/>
                </a:solidFill>
                <a:latin typeface="WenQuanYi Micro Hei"/>
              </a:rPr>
              <a:t>企業経営理論は「経営戦略論」「組織論」「マーケティング論」の3分野で構成される、第1次試験で最も出題数が多い科目（1年あたり33〜42問）です。この教科書は problem_sets/1st_stage/C_business_administration.md の論点（C-1〜C-42）に沿って、専門知識ゼロの状態からでも理解できるように、身近な例を使って…</a:t>
            </a:r>
          </a:p>
        </p:txBody>
      </p:sp>
      <p:sp>
        <p:nvSpPr>
          <p:cNvPr id="28" name="TextBox 27"/>
          <p:cNvSpPr txBox="1"/>
          <p:nvPr/>
        </p:nvSpPr>
        <p:spPr>
          <a:xfrm>
            <a:off x="713232" y="5760720"/>
            <a:ext cx="10698480" cy="320040"/>
          </a:xfrm>
          <a:prstGeom prst="rect">
            <a:avLst/>
          </a:prstGeom>
          <a:noFill/>
        </p:spPr>
        <p:txBody>
          <a:bodyPr wrap="square" tIns="91440" bIns="91440" anchor="ctr">
            <a:spAutoFit/>
          </a:bodyPr>
          <a:lstStyle/>
          <a:p>
            <a:pPr algn="ctr">
              <a:spcAft>
                <a:spcPts val="0"/>
              </a:spcAft>
            </a:pPr>
            <a:r>
              <a:rPr sz="1100" b="0">
                <a:solidFill>
                  <a:srgbClr val="B42318"/>
                </a:solidFill>
                <a:latin typeface="WenQuanYi Micro Hei"/>
              </a:rPr>
              <a:t>※ 数値・法令・制度は出題年度によって変わる場合があります。最新の公式情報も確認してください。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FF7ED"/>
          </a:solidFill>
          <a:ln w="25400">
            <a:solidFill>
              <a:srgbClr val="DD96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C2410C"/>
                </a:solidFill>
                <a:latin typeface="WenQuanYi Micro Hei"/>
              </a:rPr>
              <a:t>SECTION 01</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経営戦略論</a:t>
            </a:r>
          </a:p>
        </p:txBody>
      </p:sp>
      <p:sp>
        <p:nvSpPr>
          <p:cNvPr id="6" name="Rounded Rectangle 5"/>
          <p:cNvSpPr/>
          <p:nvPr/>
        </p:nvSpPr>
        <p:spPr>
          <a:xfrm>
            <a:off x="4261104" y="3968496"/>
            <a:ext cx="3657600" cy="749808"/>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14 論点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戦略の考え方・階層別戦略・VRIO</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731520" y="114300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企業戦略（全社戦略）</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会社全体として、どの事業を持つか / 「白物家電事業と、金融事業（家電ローン）の両方をやる」</a:t>
            </a:r>
          </a:p>
        </p:txBody>
      </p:sp>
      <p:sp>
        <p:nvSpPr>
          <p:cNvPr id="10" name="Oval 9"/>
          <p:cNvSpPr/>
          <p:nvPr/>
        </p:nvSpPr>
        <p:spPr>
          <a:xfrm>
            <a:off x="548640" y="1014983"/>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事業戦略</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個別の事業（事業部）で、どう戦うか / 「白物家電事業では高級路線で勝負する」</a:t>
            </a:r>
          </a:p>
        </p:txBody>
      </p:sp>
      <p:sp>
        <p:nvSpPr>
          <p:cNvPr id="15" name="Oval 14"/>
          <p:cNvSpPr/>
          <p:nvPr/>
        </p:nvSpPr>
        <p:spPr>
          <a:xfrm>
            <a:off x="6053328" y="1014983"/>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機能別戦略</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生産・販売・人事などの各機能で何をするか / 「生産部門はコスト削減を最優先する」</a:t>
            </a:r>
          </a:p>
        </p:txBody>
      </p:sp>
      <p:sp>
        <p:nvSpPr>
          <p:cNvPr id="20" name="Oval 19"/>
          <p:cNvSpPr/>
          <p:nvPr/>
        </p:nvSpPr>
        <p:spPr>
          <a:xfrm>
            <a:off x="548640" y="2935224"/>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VRIO分析</a:t>
            </a:r>
          </a:p>
        </p:txBody>
      </p:sp>
      <p:sp>
        <p:nvSpPr>
          <p:cNvPr id="24" name="TextBox 23"/>
          <p:cNvSpPr txBox="1"/>
          <p:nvPr/>
        </p:nvSpPr>
        <p:spPr>
          <a:xfrm>
            <a:off x="6437376"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です。VRIOは、自社が持つ経営資源（ヒト・モノ・カネ・情報・技術など）が「本当に競争力の源泉になっているか」を4つの視点…</a:t>
            </a:r>
          </a:p>
        </p:txBody>
      </p:sp>
      <p:sp>
        <p:nvSpPr>
          <p:cNvPr id="25" name="Oval 24"/>
          <p:cNvSpPr/>
          <p:nvPr/>
        </p:nvSpPr>
        <p:spPr>
          <a:xfrm>
            <a:off x="6053328" y="2935224"/>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具体例｜ある町の和菓子屋が「三代続く職人の技」を持っているとします。 価値：おいしい和菓子を作れる → あり 希少性：他の店にはない独自の技術 → あり 模倣困難性：何十年もかけて習得した技なので、他店がすぐには真似…</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模倣困難性を高める要因として過去問で問われるのは「長い歴史の積み重ね（経路依存性）」や「因果関係の曖昧さ（なぜ強いのか他社にはわからない）」です。逆に「価値の源泉が業界に知れ渡っている」「代替できる資源が外部…</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企業戦略：ドメイン（企業・事業ドメイン）</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566928" y="1444752"/>
            <a:ext cx="1779422" cy="3063240"/>
          </a:xfrm>
          <a:prstGeom prst="roundRect">
            <a:avLst/>
          </a:prstGeom>
          <a:solidFill>
            <a:srgbClr val="FFF7ED"/>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ドメイン</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とは、「自社が事業を営む領域」のことです。「うちの会社は何屋さんか」を定義すること…</a:t>
            </a:r>
          </a:p>
        </p:txBody>
      </p:sp>
      <p:sp>
        <p:nvSpPr>
          <p:cNvPr id="10" name="Chevron 9"/>
          <p:cNvSpPr/>
          <p:nvPr/>
        </p:nvSpPr>
        <p:spPr>
          <a:xfrm>
            <a:off x="2456078"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物理的定義</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作っている「モノ」で定義する（例：「うちは鉄道車両を作る会社だ」）</a:t>
            </a:r>
          </a:p>
        </p:txBody>
      </p:sp>
      <p:sp>
        <p:nvSpPr>
          <p:cNvPr id="15" name="Chevron 14"/>
          <p:cNvSpPr/>
          <p:nvPr/>
        </p:nvSpPr>
        <p:spPr>
          <a:xfrm>
            <a:off x="4765852"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FF7ED"/>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機能的定義</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提供している「価値・機能」で定義する（例：「うちは人や物を運ぶサービスを提供する会…</a:t>
            </a:r>
          </a:p>
        </p:txBody>
      </p:sp>
      <p:sp>
        <p:nvSpPr>
          <p:cNvPr id="20" name="Chevron 19"/>
          <p:cNvSpPr/>
          <p:nvPr/>
        </p:nvSpPr>
        <p:spPr>
          <a:xfrm>
            <a:off x="7075627"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「うちの会社</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何屋さんか」を定義することだと考えてください。</a:t>
            </a:r>
          </a:p>
        </p:txBody>
      </p:sp>
      <p:sp>
        <p:nvSpPr>
          <p:cNvPr id="25" name="Chevron 24"/>
          <p:cNvSpPr/>
          <p:nvPr/>
        </p:nvSpPr>
        <p:spPr>
          <a:xfrm>
            <a:off x="9385401"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FF7ED"/>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ドメインの決め方に</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2つのアプローチがあります。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コンビニチェーンが自社を「小売業」ではなく「生活インフラ業」と定義し直すと、公共料金の収納代行、ATM、宅配便の受付など、単なる「モノを売る」以上のサービス展開に踏み出しやすくなります。</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注意｜ドメインの決め方（物理的 vs 機能的）と、C-3の「多角化」の判断を混同しないこと。ドメインは「自社の立ち位置の定義」、多角化は「新しい事業領域への進出」という別の概念です。</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企業戦略：多角化（シナジー、関連型・非関連型）</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566928" y="1051560"/>
            <a:ext cx="5394960" cy="420624"/>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多角化</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とは、既存事業とは別の新しい事業に進出することです。多角化には2種類あります。</a:t>
            </a:r>
          </a:p>
        </p:txBody>
      </p:sp>
      <p:sp>
        <p:nvSpPr>
          <p:cNvPr id="11" name="Rounded Rectangle 10"/>
          <p:cNvSpPr/>
          <p:nvPr/>
        </p:nvSpPr>
        <p:spPr>
          <a:xfrm>
            <a:off x="566928"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関連型多角化</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既存事業と技術・顧客・販売チャネルなどで関連がある分野に進出（例：カメラメーカーが医療用内視鏡事業に進出。レンズ技術という…</a:t>
            </a:r>
          </a:p>
        </p:txBody>
      </p:sp>
      <p:sp>
        <p:nvSpPr>
          <p:cNvPr id="15" name="Rounded Rectangle 14"/>
          <p:cNvSpPr/>
          <p:nvPr/>
        </p:nvSpPr>
        <p:spPr>
          <a:xfrm>
            <a:off x="566928" y="398678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非関連型多角化</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既存事業とほとんど関連がない分野に進出（例：繊維会社が化粧品事業に進出）</a:t>
            </a:r>
          </a:p>
        </p:txBody>
      </p:sp>
      <p:sp>
        <p:nvSpPr>
          <p:cNvPr id="19" name="Rounded Rectangle 18"/>
          <p:cNvSpPr/>
          <p:nvPr/>
        </p:nvSpPr>
        <p:spPr>
          <a:xfrm>
            <a:off x="6217920" y="1051560"/>
            <a:ext cx="5394960" cy="420624"/>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C2410C"/>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シナジー（相乗効果）</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です。シナジーとは「1＋1が2ではなく3以上になる効果」のことです。技術やブランド、販売網を複数事業で共有することで、それ…</a:t>
            </a:r>
          </a:p>
        </p:txBody>
      </p:sp>
      <p:sp>
        <p:nvSpPr>
          <p:cNvPr id="24" name="Rounded Rectangle 23"/>
          <p:cNvSpPr/>
          <p:nvPr/>
        </p:nvSpPr>
        <p:spPr>
          <a:xfrm>
            <a:off x="6217920"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多角化に</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2種類あります。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多角化のメリットとしてよく挙げられるのがシナジー…</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富士フイルムは、写真フィルム事業で培った化学・材料技術（酸化を防ぐ技術など）を応用して、化粧品事業（アンチエイジング）に進出しました。これは一見畑違いに見えますが、実は技術的な関連性が高い「関連型多角化」の代…</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新しい市場に、新しい技術で進出する」ことが必ずしも「多角化」に当てはまるとは限りません。アンゾフの成長マトリクス（C-2の過去問参照）における「新製品×新市場」の組み合わせが多角化に該当します。既存製品のま…</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企業戦略：PPM（プロダクト・ポートフォリオ・マネジメント）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731520" y="114300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花形（スター）</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高い / 高い / 稼ぐが投資も必要。将来の主力候補</a:t>
            </a:r>
          </a:p>
        </p:txBody>
      </p:sp>
      <p:sp>
        <p:nvSpPr>
          <p:cNvPr id="10" name="Oval 9"/>
          <p:cNvSpPr/>
          <p:nvPr/>
        </p:nvSpPr>
        <p:spPr>
          <a:xfrm>
            <a:off x="548640" y="1014983"/>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金のなる木（キャッシュカウ）</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低い / 高い / あまり投資が要らず、安定して稼ぐ。他事業の資金源</a:t>
            </a:r>
          </a:p>
        </p:txBody>
      </p:sp>
      <p:sp>
        <p:nvSpPr>
          <p:cNvPr id="15" name="Oval 14"/>
          <p:cNvSpPr/>
          <p:nvPr/>
        </p:nvSpPr>
        <p:spPr>
          <a:xfrm>
            <a:off x="6053328" y="1014983"/>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問題児</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高い / 低い / 将来性はあるが今は稼げない。育てるか撤退か判断が必要</a:t>
            </a:r>
          </a:p>
        </p:txBody>
      </p:sp>
      <p:sp>
        <p:nvSpPr>
          <p:cNvPr id="20" name="Oval 19"/>
          <p:cNvSpPr/>
          <p:nvPr/>
        </p:nvSpPr>
        <p:spPr>
          <a:xfrm>
            <a:off x="548640" y="2935224"/>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負け犬</a:t>
            </a:r>
          </a:p>
        </p:txBody>
      </p:sp>
      <p:sp>
        <p:nvSpPr>
          <p:cNvPr id="24" name="TextBox 23"/>
          <p:cNvSpPr txBox="1"/>
          <p:nvPr/>
        </p:nvSpPr>
        <p:spPr>
          <a:xfrm>
            <a:off x="6437376"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低い / 低い / 稼げず将来性も薄い。撤退候補</a:t>
            </a:r>
          </a:p>
        </p:txBody>
      </p:sp>
      <p:sp>
        <p:nvSpPr>
          <p:cNvPr id="25" name="Oval 24"/>
          <p:cNvSpPr/>
          <p:nvPr/>
        </p:nvSpPr>
        <p:spPr>
          <a:xfrm>
            <a:off x="6053328" y="2935224"/>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食品メーカーが、①定番の醤油（低成長・高シェア＝金のなる木）、②急成長中の健康食品新ブランド（高成長・低シェア＝問題児）、③飽和した缶詰事業（低成長・低シェア＝負け犬）を持っているとします。醤油事業の利益…</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PPMは「市場の魅力度」と「自社の競争力」という2軸だけで単純化したモデルであり、事業間のシナジーや、社会的意義のある事業（あえて赤字でも続ける等）を考慮できないという限界があります。この「PPMの限界・弱み…</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企業戦略：垂直統合、M&amp;A、戦略的提携</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566928" y="1051560"/>
            <a:ext cx="5394960" cy="420624"/>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垂直統合</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自社のバリューチェーン（原材料調達→製造→販売という一連の流れ）の川上（原材料側）または川下（消費者側）を自社に取り込むこ…</a:t>
            </a:r>
          </a:p>
        </p:txBody>
      </p:sp>
      <p:sp>
        <p:nvSpPr>
          <p:cNvPr id="11" name="Rounded Rectangle 10"/>
          <p:cNvSpPr/>
          <p:nvPr/>
        </p:nvSpPr>
        <p:spPr>
          <a:xfrm>
            <a:off x="566928"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M&amp;A（合併・買収）</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他社を買収したり、他社と合併したりすること。自社にない技術・顧客・ブランドを一気に手に入れる手段。</a:t>
            </a:r>
          </a:p>
        </p:txBody>
      </p:sp>
      <p:sp>
        <p:nvSpPr>
          <p:cNvPr id="15" name="Rounded Rectangle 14"/>
          <p:cNvSpPr/>
          <p:nvPr/>
        </p:nvSpPr>
        <p:spPr>
          <a:xfrm>
            <a:off x="566928" y="398678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戦略的提携（アライアンス）</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資本を統合せず、契約ベースで他社と協力すること。ジョイントベンチャー（合弁会社）もこの一種。</a:t>
            </a:r>
          </a:p>
        </p:txBody>
      </p:sp>
      <p:sp>
        <p:nvSpPr>
          <p:cNvPr id="19" name="Rounded Rectangle 18"/>
          <p:cNvSpPr/>
          <p:nvPr/>
        </p:nvSpPr>
        <p:spPr>
          <a:xfrm>
            <a:off x="6217920" y="1051560"/>
            <a:ext cx="5394960" cy="420624"/>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C2410C"/>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TOB（株式公開買付け）</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（取引所を介さず株主から直接株式を買い集める手法）やMBO（経営陣による買収）（経営陣が自ら株式を買い取り会社を非公開化す…</a:t>
            </a:r>
          </a:p>
        </p:txBody>
      </p:sp>
      <p:sp>
        <p:nvSpPr>
          <p:cNvPr id="24" name="Rounded Rectangle 23"/>
          <p:cNvSpPr/>
          <p:nvPr/>
        </p:nvSpPr>
        <p:spPr>
          <a:xfrm>
            <a:off x="6217920"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会社が事業を拡大・強化する方法</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いくつかあります。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M&amp;Aの代表的な手法として、TOB（株式公開買付…</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自動車部品メーカーが原材料の鋼材メーカーを買収すれば「川上への垂直統合」、逆に完成車メーカーを買収すれば「川下への垂直統合」です。一方、2社が共同で新会社（ジョイントベンチャー）を設立して新技術を開発するのは…</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ジョイントベンチャーはM&amp;Aより情報共有の範囲が広い」という記述は誤りです。独立性を保つジョイントベンチャーの方が、経営統合するM&amp;Aよりも共有できる情報の範囲は一般に狭くなります。また、MBOは上場企業の…</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競争戦略：業界の構造分析（5フォース、価値連鎖）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Oval 5"/>
          <p:cNvSpPr/>
          <p:nvPr/>
        </p:nvSpPr>
        <p:spPr>
          <a:xfrm>
            <a:off x="4709160" y="1993392"/>
            <a:ext cx="2788920" cy="150876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600" b="1">
                <a:solidFill>
                  <a:srgbClr val="FFFFFF"/>
                </a:solidFill>
                <a:latin typeface="WenQuanYi Micro Hei"/>
              </a:rPr>
              <a:t>競争戦略：業界の構造分析</a:t>
            </a:r>
          </a:p>
        </p:txBody>
      </p:sp>
      <p:cxnSp>
        <p:nvCxnSpPr>
          <p:cNvPr id="7" name="Connector 6"/>
          <p:cNvCxnSpPr/>
          <p:nvPr/>
        </p:nvCxnSpPr>
        <p:spPr>
          <a:xfrm flipH="1" flipV="1">
            <a:off x="1920240" y="1508760"/>
            <a:ext cx="4178808" cy="123444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10515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0515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1430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5フォース分析</a:t>
            </a:r>
          </a:p>
        </p:txBody>
      </p:sp>
      <p:sp>
        <p:nvSpPr>
          <p:cNvPr id="11" name="TextBox 10"/>
          <p:cNvSpPr txBox="1"/>
          <p:nvPr/>
        </p:nvSpPr>
        <p:spPr>
          <a:xfrm>
            <a:off x="749808"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、マイケル・ポーター提唱）で決まると考えます。</a:t>
            </a:r>
          </a:p>
        </p:txBody>
      </p:sp>
      <p:cxnSp>
        <p:nvCxnSpPr>
          <p:cNvPr id="12" name="Connector 11"/>
          <p:cNvCxnSpPr/>
          <p:nvPr/>
        </p:nvCxnSpPr>
        <p:spPr>
          <a:xfrm flipV="1">
            <a:off x="6099048" y="1508760"/>
            <a:ext cx="4160520" cy="123444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887968" y="10515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87968" y="10515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9136" y="11430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既存競合の脅威</a:t>
            </a:r>
          </a:p>
        </p:txBody>
      </p:sp>
      <p:sp>
        <p:nvSpPr>
          <p:cNvPr id="16" name="TextBox 15"/>
          <p:cNvSpPr txBox="1"/>
          <p:nvPr/>
        </p:nvSpPr>
        <p:spPr>
          <a:xfrm>
            <a:off x="9089136"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同業他社との競争の激しさ</a:t>
            </a:r>
          </a:p>
        </p:txBody>
      </p:sp>
      <p:cxnSp>
        <p:nvCxnSpPr>
          <p:cNvPr id="17" name="Connector 16"/>
          <p:cNvCxnSpPr/>
          <p:nvPr/>
        </p:nvCxnSpPr>
        <p:spPr>
          <a:xfrm flipH="1">
            <a:off x="1920240" y="2743200"/>
            <a:ext cx="4178808" cy="128016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35661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576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新規参入の脅威</a:t>
            </a:r>
          </a:p>
        </p:txBody>
      </p:sp>
      <p:sp>
        <p:nvSpPr>
          <p:cNvPr id="21" name="TextBox 20"/>
          <p:cNvSpPr txBox="1"/>
          <p:nvPr/>
        </p:nvSpPr>
        <p:spPr>
          <a:xfrm>
            <a:off x="749808"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新しくこの業界に参入してくる会社の脅威（参入障壁が低いほど脅威が大きい）</a:t>
            </a:r>
          </a:p>
        </p:txBody>
      </p:sp>
      <p:cxnSp>
        <p:nvCxnSpPr>
          <p:cNvPr id="22" name="Connector 21"/>
          <p:cNvCxnSpPr/>
          <p:nvPr/>
        </p:nvCxnSpPr>
        <p:spPr>
          <a:xfrm>
            <a:off x="6099048" y="2743200"/>
            <a:ext cx="4160520" cy="128016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887968" y="35661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87968" y="35661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36576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代替品の脅威</a:t>
            </a:r>
          </a:p>
        </p:txBody>
      </p:sp>
      <p:sp>
        <p:nvSpPr>
          <p:cNvPr id="26" name="TextBox 25"/>
          <p:cNvSpPr txBox="1"/>
          <p:nvPr/>
        </p:nvSpPr>
        <p:spPr>
          <a:xfrm>
            <a:off x="9089136"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全く違う商品・サービスに顧客を奪われる脅威（例：紙の新聞にとってのニュースアプリ）</a:t>
            </a:r>
          </a:p>
        </p:txBody>
      </p:sp>
      <p:cxnSp>
        <p:nvCxnSpPr>
          <p:cNvPr id="27" name="Connector 26"/>
          <p:cNvCxnSpPr/>
          <p:nvPr/>
        </p:nvCxnSpPr>
        <p:spPr>
          <a:xfrm flipH="1">
            <a:off x="4160520" y="2743200"/>
            <a:ext cx="1938528" cy="1810512"/>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788920" y="4096512"/>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88920" y="4096512"/>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90088" y="4187952"/>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売り手（供給業者）の交渉力</a:t>
            </a:r>
          </a:p>
        </p:txBody>
      </p:sp>
      <p:sp>
        <p:nvSpPr>
          <p:cNvPr id="31" name="TextBox 30"/>
          <p:cNvSpPr txBox="1"/>
          <p:nvPr/>
        </p:nvSpPr>
        <p:spPr>
          <a:xfrm>
            <a:off x="2990088" y="4517136"/>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原材料の仕入先が強気な価格交渉をしてくる力</a:t>
            </a:r>
          </a:p>
        </p:txBody>
      </p:sp>
      <p:cxnSp>
        <p:nvCxnSpPr>
          <p:cNvPr id="32" name="Connector 31"/>
          <p:cNvCxnSpPr/>
          <p:nvPr/>
        </p:nvCxnSpPr>
        <p:spPr>
          <a:xfrm>
            <a:off x="6099048" y="2743200"/>
            <a:ext cx="1901952" cy="1810512"/>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629400" y="4096512"/>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29400" y="4096512"/>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0568" y="4187952"/>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買い手（顧客）の交渉力</a:t>
            </a:r>
          </a:p>
        </p:txBody>
      </p:sp>
      <p:sp>
        <p:nvSpPr>
          <p:cNvPr id="36" name="TextBox 35"/>
          <p:cNvSpPr txBox="1"/>
          <p:nvPr/>
        </p:nvSpPr>
        <p:spPr>
          <a:xfrm>
            <a:off x="6830568" y="4517136"/>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顧客が値下げを要求してくる力</a:t>
            </a:r>
          </a:p>
        </p:txBody>
      </p:sp>
      <p:sp>
        <p:nvSpPr>
          <p:cNvPr id="37" name="Rounded Rectangle 3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美容室業界は、開業に大きな設備投資が要らず資格取得のハードルもそこまで高くないため「新規参入の脅威」が高く、価格競争が起きやすい業界とされます。一方、電力業界は巨額の設備投資が必要なため「参入障壁」が高く、新…</a:t>
            </a:r>
          </a:p>
        </p:txBody>
      </p:sp>
      <p:sp>
        <p:nvSpPr>
          <p:cNvPr id="38" name="Rounded Rectangle 3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参入障壁が高く、撤退障壁が低い」業界のように、複数の条件を組み合わせた業界特性の問題は、単純な「障壁が高い＝儲かる」という発想だけでは正誤を判断しにくいことがあります。設問の前提条件（設備投資額、許認可の有…</a:t>
            </a:r>
          </a:p>
        </p:txBody>
      </p:sp>
      <p:sp>
        <p:nvSpPr>
          <p:cNvPr id="39" name="Rectangle 3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41" name="TextBox 4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競争戦略：競争優位の戦略（コスト・差別化・集中）</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838047" y="1024128"/>
            <a:ext cx="10515600" cy="640080"/>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1｜3つの基本戦略　）。</a:t>
            </a:r>
          </a:p>
        </p:txBody>
      </p:sp>
      <p:sp>
        <p:nvSpPr>
          <p:cNvPr id="7" name="Rounded Rectangle 6"/>
          <p:cNvSpPr/>
          <p:nvPr/>
        </p:nvSpPr>
        <p:spPr>
          <a:xfrm>
            <a:off x="1409547" y="1828800"/>
            <a:ext cx="9372600" cy="640080"/>
          </a:xfrm>
          <a:prstGeom prst="roundRect">
            <a:avLst/>
          </a:prstGeom>
          <a:solidFill>
            <a:srgbClr val="FFFFFF"/>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2｜コストリーダーシップ戦略　業界で最も低いコストを実現し、価格競争で勝つ戦略（例：格安航空会社）</a:t>
            </a:r>
          </a:p>
        </p:txBody>
      </p:sp>
      <p:sp>
        <p:nvSpPr>
          <p:cNvPr id="8" name="Rounded Rectangle 7"/>
          <p:cNvSpPr/>
          <p:nvPr/>
        </p:nvSpPr>
        <p:spPr>
          <a:xfrm>
            <a:off x="1981047" y="2633472"/>
            <a:ext cx="8229600" cy="640080"/>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3｜差別化戦略　価格以外の面（品質・ブランド・デザイン・サービス）で他社にはない価値を提供する戦略（例：高級ホテル）</a:t>
            </a:r>
          </a:p>
        </p:txBody>
      </p:sp>
      <p:sp>
        <p:nvSpPr>
          <p:cNvPr id="9" name="Rounded Rectangle 8"/>
          <p:cNvSpPr/>
          <p:nvPr/>
        </p:nvSpPr>
        <p:spPr>
          <a:xfrm>
            <a:off x="2552547" y="3438144"/>
            <a:ext cx="7086600" cy="640080"/>
          </a:xfrm>
          <a:prstGeom prst="roundRect">
            <a:avLst/>
          </a:prstGeom>
          <a:solidFill>
            <a:srgbClr val="FFFFFF"/>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4｜集中戦略　特定の狭い顧客層・地域に経営資源を集中する戦略。さらに「コスト集中」（特定層に絞ってコストで勝つ）と「差別化…</a:t>
            </a:r>
          </a:p>
        </p:txBody>
      </p:sp>
      <p:sp>
        <p:nvSpPr>
          <p:cNvPr id="10" name="Rounded Rectangle 9"/>
          <p:cNvSpPr/>
          <p:nvPr/>
        </p:nvSpPr>
        <p:spPr>
          <a:xfrm>
            <a:off x="3124047" y="4242816"/>
            <a:ext cx="5943600" cy="640080"/>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5｜ポーター　企業が競争に勝つための基本戦略を3つに整理しました（3つの基本戦略）。</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ユニクロは「高品質でありながら手頃な価格」を実現しており、一見コストと差別化を両立しているように見えますが、これはSPA（製造小売業、企画から販売まで一貫して手がける仕組み）という独自の仕組みによる効率化がベ…</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注意｜集中戦略は「狭い市場を狙う」戦略であり、コストリーダーシップや差別化そのものとは軸が異なる（「誰に売るか」の話）点を理解しておくこと。</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競争戦略：競争地位別戦略（リーダー・チャレンジャー・ニッチャー・フォロワー）</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566928" y="1051560"/>
            <a:ext cx="5394960" cy="420624"/>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リーダー（業界1位）</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最大シェアを持つ / 市場全体を拡大させる、他社の攻撃を防ぐ「全方位戦略」</a:t>
            </a:r>
          </a:p>
        </p:txBody>
      </p:sp>
      <p:sp>
        <p:nvSpPr>
          <p:cNvPr id="11" name="Rounded Rectangle 10"/>
          <p:cNvSpPr/>
          <p:nvPr/>
        </p:nvSpPr>
        <p:spPr>
          <a:xfrm>
            <a:off x="566928"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チャレンジャー（2位以下で1位を狙う）</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リーダーに挑戦する体力がある / リーダーとの「差別化」戦略。同じ土俵で戦うと体力負けするため</a:t>
            </a:r>
          </a:p>
        </p:txBody>
      </p:sp>
      <p:sp>
        <p:nvSpPr>
          <p:cNvPr id="15" name="Rounded Rectangle 14"/>
          <p:cNvSpPr/>
          <p:nvPr/>
        </p:nvSpPr>
        <p:spPr>
          <a:xfrm>
            <a:off x="566928" y="398678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ニッチャー（特定分野に特化）</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小さいが特定市場では強い / 特定のセグメントに経営資源を集中する「集中」戦略</a:t>
            </a:r>
          </a:p>
        </p:txBody>
      </p:sp>
      <p:sp>
        <p:nvSpPr>
          <p:cNvPr id="19" name="Rounded Rectangle 18"/>
          <p:cNvSpPr/>
          <p:nvPr/>
        </p:nvSpPr>
        <p:spPr>
          <a:xfrm>
            <a:off x="6217920" y="1051560"/>
            <a:ext cx="5394960" cy="420624"/>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C2410C"/>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フォロワー（追随者）</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シェアも体力もリーダー・チャレンジャーに劣る / リーダーの成功パターンを模倣し、低コストで生き残る</a:t>
            </a:r>
          </a:p>
        </p:txBody>
      </p:sp>
      <p:sp>
        <p:nvSpPr>
          <p:cNvPr id="24" name="Rounded Rectangle 23"/>
          <p:cNvSpPr/>
          <p:nvPr/>
        </p:nvSpPr>
        <p:spPr>
          <a:xfrm>
            <a:off x="6217920"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コトラー</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業界内での市場シェアの順位に応じて、企業が取るべき戦略を4つに分類しました。</a:t>
            </a:r>
          </a:p>
        </p:txBody>
      </p:sp>
      <p:sp>
        <p:nvSpPr>
          <p:cNvPr id="28" name="Rounded Rectangle 2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コンビニ業界で例えると、最大手（リーダー）は業界全体の需要拡大（新サービスの導入等）に努め、2位・3位手（チャレンジャー）は独自の強み（プライベートブランドの充実等）で差別化を図り、地方の小規模チェーン（ニッ…</a:t>
            </a:r>
          </a:p>
        </p:txBody>
      </p:sp>
      <p:sp>
        <p:nvSpPr>
          <p:cNvPr id="29" name="Rounded Rectangle 2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注意｜チャレンジャーが取るべきなのは「リーダーとの同質化（真似）」ではなく「差別化」です。同質化はむしろフォロワーの戦略に近い考え方であり、混同しないようにしましょう。</a:t>
            </a:r>
          </a:p>
        </p:txBody>
      </p:sp>
      <p:sp>
        <p:nvSpPr>
          <p:cNvPr id="30" name="Rectangle 2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2" name="TextBox 3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技術経営（MOT）：技術戦略、知財戦略</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Oval 5"/>
          <p:cNvSpPr/>
          <p:nvPr/>
        </p:nvSpPr>
        <p:spPr>
          <a:xfrm>
            <a:off x="4892040" y="2304288"/>
            <a:ext cx="2395728" cy="141732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7" name="Rounded Rectangle 6"/>
          <p:cNvSpPr/>
          <p:nvPr/>
        </p:nvSpPr>
        <p:spPr>
          <a:xfrm>
            <a:off x="4526280" y="105156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26280" y="105156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MOT（Management of Techn…</a:t>
            </a:r>
          </a:p>
        </p:txBody>
      </p:sp>
      <p:sp>
        <p:nvSpPr>
          <p:cNvPr id="10" name="TextBox 9"/>
          <p:cNvSpPr txBox="1"/>
          <p:nvPr/>
        </p:nvSpPr>
        <p:spPr>
          <a:xfrm>
            <a:off x="4727448" y="14721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は、技術力を経済的価値（利益）に変えるためのマネジメントです。技術戦略の代表的な考え方がコア技術戦略です。これは、特定の技…</a:t>
            </a:r>
          </a:p>
        </p:txBody>
      </p:sp>
      <p:cxnSp>
        <p:nvCxnSpPr>
          <p:cNvPr id="11" name="Connector 10"/>
          <p:cNvCxnSpPr/>
          <p:nvPr/>
        </p:nvCxnSpPr>
        <p:spPr>
          <a:xfrm>
            <a:off x="5980176" y="1563624"/>
            <a:ext cx="3447288" cy="123444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3568" y="228600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28600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知財戦略</a:t>
            </a:r>
          </a:p>
        </p:txBody>
      </p:sp>
      <p:sp>
        <p:nvSpPr>
          <p:cNvPr id="15" name="TextBox 14"/>
          <p:cNvSpPr txBox="1"/>
          <p:nvPr/>
        </p:nvSpPr>
        <p:spPr>
          <a:xfrm>
            <a:off x="8174736"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（特許・ノウハウの管理戦略）もこの論点に含まれます。技術を特許として公開して独占するか、あえて公開せずノウハウ（営業秘密）…</a:t>
            </a:r>
          </a:p>
        </p:txBody>
      </p:sp>
      <p:cxnSp>
        <p:nvCxnSpPr>
          <p:cNvPr id="16" name="Connector 15"/>
          <p:cNvCxnSpPr/>
          <p:nvPr/>
        </p:nvCxnSpPr>
        <p:spPr>
          <a:xfrm flipH="1">
            <a:off x="5980176" y="2798064"/>
            <a:ext cx="3447288" cy="150876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526280" y="379476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379476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MOT（Management of Techno…</a:t>
            </a:r>
          </a:p>
        </p:txBody>
      </p:sp>
      <p:cxnSp>
        <p:nvCxnSpPr>
          <p:cNvPr id="20" name="Connector 19"/>
          <p:cNvCxnSpPr/>
          <p:nvPr/>
        </p:nvCxnSpPr>
        <p:spPr>
          <a:xfrm flipH="1" flipV="1">
            <a:off x="2532888" y="2798064"/>
            <a:ext cx="3447288" cy="150876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78992" y="228600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8992" y="228600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技術戦略の代表的な考え方がコア技術戦略です。</a:t>
            </a:r>
          </a:p>
        </p:txBody>
      </p:sp>
      <p:cxnSp>
        <p:nvCxnSpPr>
          <p:cNvPr id="24" name="Connector 23"/>
          <p:cNvCxnSpPr/>
          <p:nvPr/>
        </p:nvCxnSpPr>
        <p:spPr>
          <a:xfrm flipV="1">
            <a:off x="2532888" y="1563624"/>
            <a:ext cx="3447288" cy="123444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工作機械メーカーが「精密加工技術」をコア技術として持っているとします。この技術を工作機械だけでなく、医療機器の精密部品、航空宇宙部品など複数の分野に展開し、それぞれの分野で得た知見（例：新しい素材への対応…</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コア技術戦略は「既存技術に固執し続けること」ではありません。技術が陳腐化したり模倣されたりした場合には、技術自体を進化させ続けることが前提です。「既存市場でのシェア拡大が最優先目標」という説明も誤りで、コア技…</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技術経営（MOT）：イノベーションマネジメント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838047" y="1024128"/>
            <a:ext cx="10515600" cy="640080"/>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1｜イノベーションのジレンマ　（クリステンセン提唱）：既存の優良企業が、既存顧客の声に真摯に応え続ける（持続的イノベーションに注力する）あ…</a:t>
            </a:r>
          </a:p>
        </p:txBody>
      </p:sp>
      <p:sp>
        <p:nvSpPr>
          <p:cNvPr id="7" name="Rounded Rectangle 6"/>
          <p:cNvSpPr/>
          <p:nvPr/>
        </p:nvSpPr>
        <p:spPr>
          <a:xfrm>
            <a:off x="1409547" y="1828800"/>
            <a:ext cx="9372600" cy="640080"/>
          </a:xfrm>
          <a:prstGeom prst="roundRect">
            <a:avLst/>
          </a:prstGeom>
          <a:solidFill>
            <a:srgbClr val="FFFFFF"/>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2｜オープンイノベーション　自社の内部だけでなく、社外（大学、他社、スタートアップなど）のアイデアや技術を積極的に取り込んで新しい価値を…</a:t>
            </a:r>
          </a:p>
        </p:txBody>
      </p:sp>
      <p:sp>
        <p:nvSpPr>
          <p:cNvPr id="8" name="Rounded Rectangle 7"/>
          <p:cNvSpPr/>
          <p:nvPr/>
        </p:nvSpPr>
        <p:spPr>
          <a:xfrm>
            <a:off x="1981047" y="2633472"/>
            <a:ext cx="8229600" cy="640080"/>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3｜ユーザー・イノベーション　（フォン・ヒッペル提唱）：企業ではなく、製品の「ユーザー」自身が改良・開発を行う現象。特に、市場の先端的なニ…</a:t>
            </a:r>
          </a:p>
        </p:txBody>
      </p:sp>
      <p:sp>
        <p:nvSpPr>
          <p:cNvPr id="9" name="Rounded Rectangle 8"/>
          <p:cNvSpPr/>
          <p:nvPr/>
        </p:nvSpPr>
        <p:spPr>
          <a:xfrm>
            <a:off x="2552547" y="3438144"/>
            <a:ext cx="7086600" cy="640080"/>
          </a:xfrm>
          <a:prstGeom prst="roundRect">
            <a:avLst/>
          </a:prstGeom>
          <a:solidFill>
            <a:srgbClr val="FFFFFF"/>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4｜イノベーション（革新）に関する重要な理論がいくつかあり…　</a:t>
            </a:r>
          </a:p>
        </p:txBody>
      </p:sp>
      <p:sp>
        <p:nvSpPr>
          <p:cNvPr id="10" name="Rounded Rectangle 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大手カメラメーカーがフィルムカメラの高性能化に注力している間に、性能は劣るが手軽なデジタルカメラを引っさげた新興メーカーが台頭し、最終的に市場が一変した、というのはイノベーションのジレンマの典型例としてよく語…</a:t>
            </a:r>
          </a:p>
        </p:txBody>
      </p:sp>
      <p:sp>
        <p:nvSpPr>
          <p:cNvPr id="11" name="Rounded Rectangle 1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ユーザー・イノベーションは「企業の開発者がアンケートで顧客ニーズを調べる」こととは違います。あくまでユーザー自身が製品・サービスを改良する主体である点を混同しないこと。また、個人単独より、知見が集まりやすいコ…</a:t>
            </a:r>
          </a:p>
        </p:txBody>
      </p:sp>
      <p:sp>
        <p:nvSpPr>
          <p:cNvPr id="12" name="Rectangle 1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14" name="TextBox 1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技術経営（MOT）：新規事業開発</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Oval 5"/>
          <p:cNvSpPr/>
          <p:nvPr/>
        </p:nvSpPr>
        <p:spPr>
          <a:xfrm>
            <a:off x="4892040" y="2304288"/>
            <a:ext cx="2395728" cy="141732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7" name="Rounded Rectangle 6"/>
          <p:cNvSpPr/>
          <p:nvPr/>
        </p:nvSpPr>
        <p:spPr>
          <a:xfrm>
            <a:off x="4526280" y="105156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26280" y="105156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リーン・スタートアップ</a:t>
            </a:r>
          </a:p>
        </p:txBody>
      </p:sp>
      <p:sp>
        <p:nvSpPr>
          <p:cNvPr id="10" name="TextBox 9"/>
          <p:cNvSpPr txBox="1"/>
          <p:nvPr/>
        </p:nvSpPr>
        <p:spPr>
          <a:xfrm>
            <a:off x="4727448" y="14721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（エリック・リース提唱）です。これは、新規性の高い（顧客が本当に存在するかもわからない）製品・サービスを開発する際、いきな…</a:t>
            </a:r>
          </a:p>
        </p:txBody>
      </p:sp>
      <p:cxnSp>
        <p:nvCxnSpPr>
          <p:cNvPr id="11" name="Connector 10"/>
          <p:cNvCxnSpPr/>
          <p:nvPr/>
        </p:nvCxnSpPr>
        <p:spPr>
          <a:xfrm>
            <a:off x="5980176" y="1563624"/>
            <a:ext cx="3447288" cy="123444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3568" y="228600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28600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新規事業を立ち上げる際の代表的な方法論がリーン…</a:t>
            </a:r>
          </a:p>
        </p:txBody>
      </p:sp>
      <p:cxnSp>
        <p:nvCxnSpPr>
          <p:cNvPr id="15" name="Connector 14"/>
          <p:cNvCxnSpPr/>
          <p:nvPr/>
        </p:nvCxnSpPr>
        <p:spPr>
          <a:xfrm flipH="1">
            <a:off x="5980176" y="2798064"/>
            <a:ext cx="3447288" cy="150876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26280" y="379476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379476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これ</a:t>
            </a:r>
          </a:p>
        </p:txBody>
      </p:sp>
      <p:sp>
        <p:nvSpPr>
          <p:cNvPr id="19" name="TextBox 18"/>
          <p:cNvSpPr txBox="1"/>
          <p:nvPr/>
        </p:nvSpPr>
        <p:spPr>
          <a:xfrm>
            <a:off x="4727448" y="421538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新規性の高い（顧客が本当に存在するかもわからない）製品・サービスを開発する際、いきなり完成品を作るのではなく、コストを…</a:t>
            </a:r>
          </a:p>
        </p:txBody>
      </p:sp>
      <p:cxnSp>
        <p:nvCxnSpPr>
          <p:cNvPr id="20" name="Connector 19"/>
          <p:cNvCxnSpPr/>
          <p:nvPr/>
        </p:nvCxnSpPr>
        <p:spPr>
          <a:xfrm flipH="1" flipV="1">
            <a:off x="2532888" y="2798064"/>
            <a:ext cx="3447288" cy="150876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78992" y="228600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8992" y="228600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確認</a:t>
            </a:r>
          </a:p>
        </p:txBody>
      </p:sp>
      <p:sp>
        <p:nvSpPr>
          <p:cNvPr id="24" name="TextBox 23"/>
          <p:cNvSpPr txBox="1"/>
          <p:nvPr/>
        </p:nvSpPr>
        <p:spPr>
          <a:xfrm>
            <a:off x="1280160" y="2706624"/>
            <a:ext cx="2587752" cy="52120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次の段階へ</a:t>
            </a:r>
          </a:p>
        </p:txBody>
      </p:sp>
      <p:cxnSp>
        <p:nvCxnSpPr>
          <p:cNvPr id="25" name="Connector 24"/>
          <p:cNvCxnSpPr/>
          <p:nvPr/>
        </p:nvCxnSpPr>
        <p:spPr>
          <a:xfrm flipV="1">
            <a:off x="2532888" y="1563624"/>
            <a:ext cx="3447288" cy="123444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しいアプリサービスを作るとき、いきなり全機能を実装するのではなく、まず最低限の機能だけを持つ試作版をリリースし、実際のユーザーの反応（使われる機能・使われない機能）を見てから本格開発の方向性を決める、という…</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リーン・スタートアップは「トヨタ生産方式」の考え方（ムダを省き、素早く改善サイクルを回す）から影響を受けています。また「アーリー・アダプター」（流行に敏感で自ら情報収集する層）を巻き込むことが推奨される点も押…</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国際経営戦略：海外進出形態</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566928" y="1051560"/>
            <a:ext cx="5394960" cy="420624"/>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輸出</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自国で作った製品を海外に売る（最も投資リスクが低い）</a:t>
            </a:r>
          </a:p>
        </p:txBody>
      </p:sp>
      <p:sp>
        <p:nvSpPr>
          <p:cNvPr id="11" name="Rounded Rectangle 10"/>
          <p:cNvSpPr/>
          <p:nvPr/>
        </p:nvSpPr>
        <p:spPr>
          <a:xfrm>
            <a:off x="566928"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ライセンス供与</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自社の技術・ブランドの使用権を海外企業に許諾し、ロイヤリティを得る</a:t>
            </a:r>
          </a:p>
        </p:txBody>
      </p:sp>
      <p:sp>
        <p:nvSpPr>
          <p:cNvPr id="15" name="Rounded Rectangle 14"/>
          <p:cNvSpPr/>
          <p:nvPr/>
        </p:nvSpPr>
        <p:spPr>
          <a:xfrm>
            <a:off x="566928" y="398678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98678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海外直接投資（FDI）</a:t>
            </a:r>
          </a:p>
        </p:txBody>
      </p:sp>
      <p:sp>
        <p:nvSpPr>
          <p:cNvPr id="18" name="TextBox 17"/>
          <p:cNvSpPr txBox="1"/>
          <p:nvPr/>
        </p:nvSpPr>
        <p:spPr>
          <a:xfrm>
            <a:off x="768096" y="440740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海外に子会社や工場を設立する（投資額・リスクは大きいが、現地でのコントロールが強い）</a:t>
            </a:r>
          </a:p>
        </p:txBody>
      </p:sp>
      <p:sp>
        <p:nvSpPr>
          <p:cNvPr id="19" name="Rounded Rectangle 18"/>
          <p:cNvSpPr/>
          <p:nvPr/>
        </p:nvSpPr>
        <p:spPr>
          <a:xfrm>
            <a:off x="6217920" y="1051560"/>
            <a:ext cx="5394960" cy="420624"/>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C2410C"/>
                </a:solidFill>
                <a:latin typeface="WenQuanYi Micro Hei"/>
              </a:rPr>
              <a:t>視点 B</a:t>
            </a:r>
          </a:p>
        </p:txBody>
      </p:sp>
      <p:sp>
        <p:nvSpPr>
          <p:cNvPr id="20" name="Rounded Rectangle 19"/>
          <p:cNvSpPr/>
          <p:nvPr/>
        </p:nvSpPr>
        <p:spPr>
          <a:xfrm>
            <a:off x="6217920"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ダニングの折衷理論（OLIパラダイム）</a:t>
            </a:r>
          </a:p>
        </p:txBody>
      </p:sp>
      <p:sp>
        <p:nvSpPr>
          <p:cNvPr id="23" name="TextBox 22"/>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です。これは、①所有優位性（O：自社が持つ技術・ブランドなどの強み）、②立地優位性（L：進出先の市場としての魅力）、③内部…</a:t>
            </a:r>
          </a:p>
        </p:txBody>
      </p:sp>
      <p:sp>
        <p:nvSpPr>
          <p:cNvPr id="24" name="Rounded Rectangle 23"/>
          <p:cNvSpPr/>
          <p:nvPr/>
        </p:nvSpPr>
        <p:spPr>
          <a:xfrm>
            <a:off x="6217920"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企業が海外に進出する形態に</a:t>
            </a:r>
          </a:p>
        </p:txBody>
      </p:sp>
      <p:sp>
        <p:nvSpPr>
          <p:cNvPr id="27" name="TextBox 26"/>
          <p:cNvSpPr txBox="1"/>
          <p:nvPr/>
        </p:nvSpPr>
        <p:spPr>
          <a:xfrm>
            <a:off x="6419088"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いくつかの段階があります。</a:t>
            </a:r>
          </a:p>
        </p:txBody>
      </p:sp>
      <p:sp>
        <p:nvSpPr>
          <p:cNvPr id="28" name="Rounded Rectangle 27"/>
          <p:cNvSpPr/>
          <p:nvPr/>
        </p:nvSpPr>
        <p:spPr>
          <a:xfrm>
            <a:off x="6217920" y="398678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398678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07822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なぜ企業が海外直接投資という高リスクな形態を選ぶ…</a:t>
            </a:r>
          </a:p>
        </p:txBody>
      </p:sp>
      <p:sp>
        <p:nvSpPr>
          <p:cNvPr id="31" name="Rounded Rectangle 3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自社に強いブランド力があり（所有優位性あり）、進出先の市場が有望で（立地優位性あり）、技術流出を防ぐために外部にライセンス供与するより自社で管理した方が得（内部化優位性あり）という条件が揃うと、企業は現地子会…</a:t>
            </a:r>
          </a:p>
        </p:txBody>
      </p:sp>
      <p:sp>
        <p:nvSpPr>
          <p:cNvPr id="32" name="Rounded Rectangle 3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3条件のうち一部しか揃わない場合の進出形態（輸出かライセンスか）を問う問題が頻出です。例えば「所有優位性はあるが内部化優位性がない」場合はライセンス供与が適切、というように、条件の組み合わせごとに最適な進出形…</a:t>
            </a:r>
          </a:p>
        </p:txBody>
      </p:sp>
      <p:sp>
        <p:nvSpPr>
          <p:cNvPr id="33" name="Rectangle 3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5" name="TextBox 3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企業の社会的責任：CSR・CSV・コーポレートガバナンス</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502920"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CSR（企業の社会的責任）</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企業が利益追求だけでなく、社会に対して果たすべき責任（環境保護、地域貢献など）を果たすこと</a:t>
            </a:r>
          </a:p>
        </p:txBody>
      </p:sp>
      <p:sp>
        <p:nvSpPr>
          <p:cNvPr id="10" name="Rounded Rectangle 9"/>
          <p:cNvSpPr/>
          <p:nvPr/>
        </p:nvSpPr>
        <p:spPr>
          <a:xfrm>
            <a:off x="6204203"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CSV（共有価値の創造）</a:t>
            </a:r>
          </a:p>
        </p:txBody>
      </p:sp>
      <p:sp>
        <p:nvSpPr>
          <p:cNvPr id="13" name="TextBox 12"/>
          <p:cNvSpPr txBox="1"/>
          <p:nvPr/>
        </p:nvSpPr>
        <p:spPr>
          <a:xfrm>
            <a:off x="6405371"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ポーターが提唱した考え方で、社会的課題の解決そのものを事業機会・利益創出につなげる考え方。「社会貢献のためにコストをかける…</a:t>
            </a:r>
          </a:p>
        </p:txBody>
      </p:sp>
      <p:sp>
        <p:nvSpPr>
          <p:cNvPr id="14" name="Rounded Rectangle 13"/>
          <p:cNvSpPr/>
          <p:nvPr/>
        </p:nvSpPr>
        <p:spPr>
          <a:xfrm>
            <a:off x="502920" y="3145536"/>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コーポレートガバナンス</a:t>
            </a:r>
          </a:p>
        </p:txBody>
      </p:sp>
      <p:sp>
        <p:nvSpPr>
          <p:cNvPr id="17" name="TextBox 16"/>
          <p:cNvSpPr txBox="1"/>
          <p:nvPr/>
        </p:nvSpPr>
        <p:spPr>
          <a:xfrm>
            <a:off x="704088" y="3566160"/>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株主や社会の利益を守るため、経営者の暴走を防ぐ企業統治の仕組み（社外取締役の設置、監査役制度など）</a:t>
            </a:r>
          </a:p>
        </p:txBody>
      </p:sp>
      <p:sp>
        <p:nvSpPr>
          <p:cNvPr id="18" name="Rounded Rectangle 1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農業支援を通じて質の高い原料を安定調達し、それが自社製品の品質向上と現地農家の所得向上の両方につながる、というような取り組みはCSVの典型例です。単なる寄付活動（CSR）とは異なり、事業戦略そのものに組み込ま…</a:t>
            </a:r>
          </a:p>
        </p:txBody>
      </p:sp>
      <p:sp>
        <p:nvSpPr>
          <p:cNvPr id="19" name="Rounded Rectangle 1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注意｜CSRとCSVは似ていますが、「コストか投資か」「本業と一体か切り離されているか」という観点で区別されます。混同しないよう注意しましょう。</a:t>
            </a:r>
          </a:p>
        </p:txBody>
      </p:sp>
      <p:sp>
        <p:nvSpPr>
          <p:cNvPr id="20" name="Rectangle 1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2" name="TextBox 2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ファミリービジネスの戦略：創業・事業承継</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経営戦略論（C-1〜C-14）</a:t>
            </a:r>
          </a:p>
        </p:txBody>
      </p:sp>
      <p:sp>
        <p:nvSpPr>
          <p:cNvPr id="6" name="Rounded Rectangle 5"/>
          <p:cNvSpPr/>
          <p:nvPr/>
        </p:nvSpPr>
        <p:spPr>
          <a:xfrm>
            <a:off x="566928" y="1444752"/>
            <a:ext cx="1779422" cy="3063240"/>
          </a:xfrm>
          <a:prstGeom prst="roundRect">
            <a:avLst/>
          </a:prstGeom>
          <a:solidFill>
            <a:srgbClr val="FFF7ED"/>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0607"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154167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事業承継</a:t>
            </a:r>
          </a:p>
        </p:txBody>
      </p:sp>
      <p:sp>
        <p:nvSpPr>
          <p:cNvPr id="9" name="TextBox 8"/>
          <p:cNvSpPr txBox="1"/>
          <p:nvPr/>
        </p:nvSpPr>
        <p:spPr>
          <a:xfrm>
            <a:off x="713232"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）があります。事業承継には大きく3つのパターンがあります。</a:t>
            </a:r>
          </a:p>
        </p:txBody>
      </p:sp>
      <p:sp>
        <p:nvSpPr>
          <p:cNvPr id="10" name="Chevron 9"/>
          <p:cNvSpPr/>
          <p:nvPr/>
        </p:nvSpPr>
        <p:spPr>
          <a:xfrm>
            <a:off x="2456078"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76702" y="1444752"/>
            <a:ext cx="1779422" cy="3063240"/>
          </a:xfrm>
          <a:prstGeom prst="roundRect">
            <a:avLst/>
          </a:prstGeom>
          <a:solidFill>
            <a:srgbClr val="FFFFFF"/>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10381"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2995574" y="1810512"/>
            <a:ext cx="154167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親族内承継</a:t>
            </a:r>
          </a:p>
        </p:txBody>
      </p:sp>
      <p:sp>
        <p:nvSpPr>
          <p:cNvPr id="14" name="TextBox 13"/>
          <p:cNvSpPr txBox="1"/>
          <p:nvPr/>
        </p:nvSpPr>
        <p:spPr>
          <a:xfrm>
            <a:off x="3023006"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子どもなど親族に引き継ぐ</a:t>
            </a:r>
          </a:p>
        </p:txBody>
      </p:sp>
      <p:sp>
        <p:nvSpPr>
          <p:cNvPr id="15" name="Chevron 14"/>
          <p:cNvSpPr/>
          <p:nvPr/>
        </p:nvSpPr>
        <p:spPr>
          <a:xfrm>
            <a:off x="4765852"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86476" y="1444752"/>
            <a:ext cx="1779422" cy="3063240"/>
          </a:xfrm>
          <a:prstGeom prst="roundRect">
            <a:avLst/>
          </a:prstGeom>
          <a:solidFill>
            <a:srgbClr val="FFF7ED"/>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0155"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5305348" y="1810512"/>
            <a:ext cx="154167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親族外承継（従業員承継）</a:t>
            </a:r>
          </a:p>
        </p:txBody>
      </p:sp>
      <p:sp>
        <p:nvSpPr>
          <p:cNvPr id="19" name="TextBox 18"/>
          <p:cNvSpPr txBox="1"/>
          <p:nvPr/>
        </p:nvSpPr>
        <p:spPr>
          <a:xfrm>
            <a:off x="5332780"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役員・従業員に引き継ぐ（MBOもこの一種になりうる）</a:t>
            </a:r>
          </a:p>
        </p:txBody>
      </p:sp>
      <p:sp>
        <p:nvSpPr>
          <p:cNvPr id="20" name="Chevron 19"/>
          <p:cNvSpPr/>
          <p:nvPr/>
        </p:nvSpPr>
        <p:spPr>
          <a:xfrm>
            <a:off x="7075627"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6251" y="1444752"/>
            <a:ext cx="1779422" cy="3063240"/>
          </a:xfrm>
          <a:prstGeom prst="roundRect">
            <a:avLst/>
          </a:prstGeom>
          <a:solidFill>
            <a:srgbClr val="FFFFFF"/>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29930"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7615123" y="1810512"/>
            <a:ext cx="154167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M&amp;A（第三者承継）</a:t>
            </a:r>
          </a:p>
        </p:txBody>
      </p:sp>
      <p:sp>
        <p:nvSpPr>
          <p:cNvPr id="24" name="TextBox 23"/>
          <p:cNvSpPr txBox="1"/>
          <p:nvPr/>
        </p:nvSpPr>
        <p:spPr>
          <a:xfrm>
            <a:off x="7642555"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外部の企業や個人に売却する</a:t>
            </a:r>
          </a:p>
        </p:txBody>
      </p:sp>
      <p:sp>
        <p:nvSpPr>
          <p:cNvPr id="25" name="Chevron 24"/>
          <p:cNvSpPr/>
          <p:nvPr/>
        </p:nvSpPr>
        <p:spPr>
          <a:xfrm>
            <a:off x="9385401"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06025" y="1444752"/>
            <a:ext cx="1779422" cy="3063240"/>
          </a:xfrm>
          <a:prstGeom prst="roundRect">
            <a:avLst/>
          </a:prstGeom>
          <a:solidFill>
            <a:srgbClr val="FFF7ED"/>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439704"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5</a:t>
            </a:r>
          </a:p>
        </p:txBody>
      </p:sp>
      <p:sp>
        <p:nvSpPr>
          <p:cNvPr id="28" name="TextBox 27"/>
          <p:cNvSpPr txBox="1"/>
          <p:nvPr/>
        </p:nvSpPr>
        <p:spPr>
          <a:xfrm>
            <a:off x="9924897" y="1810512"/>
            <a:ext cx="154167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日本の中小企業の多く</a:t>
            </a:r>
          </a:p>
        </p:txBody>
      </p:sp>
      <p:sp>
        <p:nvSpPr>
          <p:cNvPr id="29" name="TextBox 28"/>
          <p:cNvSpPr txBox="1"/>
          <p:nvPr/>
        </p:nvSpPr>
        <p:spPr>
          <a:xfrm>
            <a:off x="9952329" y="2542032"/>
            <a:ext cx="148681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家族経営（ファミリービジネス）です。</a:t>
            </a:r>
          </a:p>
        </p:txBody>
      </p:sp>
      <p:sp>
        <p:nvSpPr>
          <p:cNvPr id="30" name="Rounded Rectangle 2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具体例｜後継者不在の町工場が、長年勤めた工場長に経営を引き継がせる（従業員承継）ケースや、同業の大手企業に事業を売却する（M&amp;A）ケースが近年増加しています。</a:t>
            </a:r>
          </a:p>
        </p:txBody>
      </p:sp>
      <p:sp>
        <p:nvSpPr>
          <p:cNvPr id="31" name="Rounded Rectangle 3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ファミリービジネス特有の強み（長期的視点での意思決定、迅速な意思決定）と弱み（後継者育成の難しさ、身内経営によるガバナンスの脆弱化）を対比で理解しておきましょう。事業承継に関する法制度（経営承継円滑化法）は経…</a:t>
            </a:r>
          </a:p>
        </p:txBody>
      </p:sp>
      <p:sp>
        <p:nvSpPr>
          <p:cNvPr id="32" name="Rectangle 3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4" name="TextBox 3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FF7ED"/>
          </a:solidFill>
          <a:ln w="25400">
            <a:solidFill>
              <a:srgbClr val="DD96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C2410C"/>
                </a:solidFill>
                <a:latin typeface="WenQuanYi Micro Hei"/>
              </a:rPr>
              <a:t>SECTION 02</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組織論</a:t>
            </a:r>
          </a:p>
        </p:txBody>
      </p:sp>
      <p:sp>
        <p:nvSpPr>
          <p:cNvPr id="6" name="Rounded Rectangle 5"/>
          <p:cNvSpPr/>
          <p:nvPr/>
        </p:nvSpPr>
        <p:spPr>
          <a:xfrm>
            <a:off x="4261104" y="3968496"/>
            <a:ext cx="3657600" cy="749808"/>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15 論点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組織の考え方（組織目標、分業と調整、権限と責任）</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ounded Rectangle 5"/>
          <p:cNvSpPr/>
          <p:nvPr/>
        </p:nvSpPr>
        <p:spPr>
          <a:xfrm>
            <a:off x="502920"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分業</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仕事を細分化し、それぞれの担当者が専門的に担当すること（効率化につながる）</a:t>
            </a:r>
          </a:p>
        </p:txBody>
      </p:sp>
      <p:sp>
        <p:nvSpPr>
          <p:cNvPr id="10" name="Rounded Rectangle 9"/>
          <p:cNvSpPr/>
          <p:nvPr/>
        </p:nvSpPr>
        <p:spPr>
          <a:xfrm>
            <a:off x="4303776"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調整</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分業した仕事をバラバラにせず、全体としてまとまるように調整すること（会議、報告ライン、ルールなど）</a:t>
            </a:r>
          </a:p>
        </p:txBody>
      </p:sp>
      <p:sp>
        <p:nvSpPr>
          <p:cNvPr id="14" name="Rounded Rectangle 13"/>
          <p:cNvSpPr/>
          <p:nvPr/>
        </p:nvSpPr>
        <p:spPr>
          <a:xfrm>
            <a:off x="8104632"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権限と責任</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ある仕事を実行する「権限」（決定できる範囲）と、その結果に対する「責任」は、原則としてセットでなければならない（権限だけあ…</a:t>
            </a:r>
          </a:p>
        </p:txBody>
      </p:sp>
      <p:sp>
        <p:nvSpPr>
          <p:cNvPr id="18" name="Rounded Rectangle 17"/>
          <p:cNvSpPr/>
          <p:nvPr/>
        </p:nvSpPr>
        <p:spPr>
          <a:xfrm>
            <a:off x="502920"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組織</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「共通の目標のために、複数の人が協力する仕組み」です。</a:t>
            </a:r>
          </a:p>
        </p:txBody>
      </p:sp>
      <p:sp>
        <p:nvSpPr>
          <p:cNvPr id="22" name="Rounded Rectangle 21"/>
          <p:cNvSpPr/>
          <p:nvPr/>
        </p:nvSpPr>
        <p:spPr>
          <a:xfrm>
            <a:off x="4303776"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組織が機能するに</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次の要素が必要です。</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飲食店チェーンでは、各店舗の店長に「仕入れ量を決める権限」を与えると同時に、「食材ロスを一定以下に抑える責任」を負わせます。権限と責任が対応していないと（例えば権限だけ与えて責任は本部が負う）、店長の判断が甘…</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組織構造の形態（事業部制、職能別、マトリックス、ネットワーク）</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Oval 5"/>
          <p:cNvSpPr/>
          <p:nvPr/>
        </p:nvSpPr>
        <p:spPr>
          <a:xfrm>
            <a:off x="4709160" y="1993392"/>
            <a:ext cx="2788920" cy="150876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600" b="1">
                <a:solidFill>
                  <a:srgbClr val="FFFFFF"/>
                </a:solidFill>
                <a:latin typeface="WenQuanYi Micro Hei"/>
              </a:rPr>
              <a:t>組織構造の形態</a:t>
            </a:r>
          </a:p>
        </p:txBody>
      </p:sp>
      <p:cxnSp>
        <p:nvCxnSpPr>
          <p:cNvPr id="7" name="Connector 6"/>
          <p:cNvCxnSpPr/>
          <p:nvPr/>
        </p:nvCxnSpPr>
        <p:spPr>
          <a:xfrm flipH="1" flipV="1">
            <a:off x="1920240" y="1508760"/>
            <a:ext cx="4178808" cy="123444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10515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0515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1430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職能別組織</a:t>
            </a:r>
          </a:p>
        </p:txBody>
      </p:sp>
      <p:sp>
        <p:nvSpPr>
          <p:cNvPr id="11" name="TextBox 10"/>
          <p:cNvSpPr txBox="1"/>
          <p:nvPr/>
        </p:nvSpPr>
        <p:spPr>
          <a:xfrm>
            <a:off x="749808"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「営業部」「製造部」など機能ごとに部門化 / 専門性が高まる、効率的 / 部門間の連携が悪くなりがち、全社的な視点を持つ人…</a:t>
            </a:r>
          </a:p>
        </p:txBody>
      </p:sp>
      <p:cxnSp>
        <p:nvCxnSpPr>
          <p:cNvPr id="12" name="Connector 11"/>
          <p:cNvCxnSpPr/>
          <p:nvPr/>
        </p:nvCxnSpPr>
        <p:spPr>
          <a:xfrm flipV="1">
            <a:off x="6099048" y="1508760"/>
            <a:ext cx="4160520" cy="123444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887968" y="10515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87968" y="10515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9136" y="11430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事業部制組織</a:t>
            </a:r>
          </a:p>
        </p:txBody>
      </p:sp>
      <p:sp>
        <p:nvSpPr>
          <p:cNvPr id="16" name="TextBox 15"/>
          <p:cNvSpPr txBox="1"/>
          <p:nvPr/>
        </p:nvSpPr>
        <p:spPr>
          <a:xfrm>
            <a:off x="9089136"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「A事業部」「B事業部」など製品・地域ごとに部門化。各事業部が損益に責任を持つ / 事業ごとの意思決定が速い、経営者的な人…</a:t>
            </a:r>
          </a:p>
        </p:txBody>
      </p:sp>
      <p:cxnSp>
        <p:nvCxnSpPr>
          <p:cNvPr id="17" name="Connector 16"/>
          <p:cNvCxnSpPr/>
          <p:nvPr/>
        </p:nvCxnSpPr>
        <p:spPr>
          <a:xfrm flipH="1">
            <a:off x="1920240" y="2743200"/>
            <a:ext cx="4178808" cy="128016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35661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576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マトリックス組織</a:t>
            </a:r>
          </a:p>
        </p:txBody>
      </p:sp>
      <p:sp>
        <p:nvSpPr>
          <p:cNvPr id="21" name="TextBox 20"/>
          <p:cNvSpPr txBox="1"/>
          <p:nvPr/>
        </p:nvSpPr>
        <p:spPr>
          <a:xfrm>
            <a:off x="749808"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職能別と事業部制を組み合わせ、1人の社員が「機能の上司」と「事業の上司」の両方に報告する / 柔軟に人材を活用できる /…</a:t>
            </a:r>
          </a:p>
        </p:txBody>
      </p:sp>
      <p:cxnSp>
        <p:nvCxnSpPr>
          <p:cNvPr id="22" name="Connector 21"/>
          <p:cNvCxnSpPr/>
          <p:nvPr/>
        </p:nvCxnSpPr>
        <p:spPr>
          <a:xfrm>
            <a:off x="6099048" y="2743200"/>
            <a:ext cx="4160520" cy="128016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887968" y="35661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87968" y="35661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36576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ネットワーク組織</a:t>
            </a:r>
          </a:p>
        </p:txBody>
      </p:sp>
      <p:sp>
        <p:nvSpPr>
          <p:cNvPr id="26" name="TextBox 25"/>
          <p:cNvSpPr txBox="1"/>
          <p:nvPr/>
        </p:nvSpPr>
        <p:spPr>
          <a:xfrm>
            <a:off x="9089136"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独立した組織・個人が緩やかに連携する（社外パートナーとの協業なども含む） / 柔軟性が高い / 統制が効きにくい</a:t>
            </a:r>
          </a:p>
        </p:txBody>
      </p:sp>
      <p:cxnSp>
        <p:nvCxnSpPr>
          <p:cNvPr id="27" name="Connector 26"/>
          <p:cNvCxnSpPr/>
          <p:nvPr/>
        </p:nvCxnSpPr>
        <p:spPr>
          <a:xfrm flipH="1">
            <a:off x="4160520" y="2743200"/>
            <a:ext cx="1938528" cy="1810512"/>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788920" y="4096512"/>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88920" y="4096512"/>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90088" y="4187952"/>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会社の組織構造に</a:t>
            </a:r>
          </a:p>
        </p:txBody>
      </p:sp>
      <p:sp>
        <p:nvSpPr>
          <p:cNvPr id="31" name="TextBox 30"/>
          <p:cNvSpPr txBox="1"/>
          <p:nvPr/>
        </p:nvSpPr>
        <p:spPr>
          <a:xfrm>
            <a:off x="2990088" y="4517136"/>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代表的な型があります。</a:t>
            </a:r>
          </a:p>
        </p:txBody>
      </p:sp>
      <p:sp>
        <p:nvSpPr>
          <p:cNvPr id="32" name="Rounded Rectangle 3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大手電機メーカーが「テレビ事業部」「白物家電事業部」のように事業ごとに部門を分け、それぞれが独立採算で運営されているのは事業部制組織の典型です。一方、プロジェクト単位で複数部門から人を集めて働かせる体制はマト…</a:t>
            </a:r>
          </a:p>
        </p:txBody>
      </p:sp>
      <p:sp>
        <p:nvSpPr>
          <p:cNvPr id="33" name="Rounded Rectangle 3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組織は戦略に従う」（チャンドラー）という言葉が有名ですが、逆に「戦略は組織に従う」という考え方（既存の組織構造が戦略の選択肢を制約する）も存在します。どちらか一方が絶対的に正しいわけではなく、両方の視点があ…</a:t>
            </a:r>
          </a:p>
        </p:txBody>
      </p:sp>
      <p:sp>
        <p:nvSpPr>
          <p:cNvPr id="34" name="Rectangle 3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6" name="TextBox 3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組織文化（レベル、経営戦略との関係、変革）</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ounded Rectangle 5"/>
          <p:cNvSpPr/>
          <p:nvPr/>
        </p:nvSpPr>
        <p:spPr>
          <a:xfrm>
            <a:off x="838047" y="1024128"/>
            <a:ext cx="10515600" cy="640080"/>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1">
                <a:solidFill>
                  <a:srgbClr val="172033"/>
                </a:solidFill>
                <a:latin typeface="WenQuanYi Micro Hei"/>
              </a:rPr>
              <a:t>1｜組織文化　とは、その組織のメンバーに共有されている価値観・行動様式のことです。「うちの会社らしいやり方」といったもので…</a:t>
            </a:r>
          </a:p>
        </p:txBody>
      </p:sp>
      <p:sp>
        <p:nvSpPr>
          <p:cNvPr id="7" name="Rounded Rectangle 6"/>
          <p:cNvSpPr/>
          <p:nvPr/>
        </p:nvSpPr>
        <p:spPr>
          <a:xfrm>
            <a:off x="1409547" y="1828800"/>
            <a:ext cx="9372600" cy="640080"/>
          </a:xfrm>
          <a:prstGeom prst="roundRect">
            <a:avLst/>
          </a:prstGeom>
          <a:solidFill>
            <a:srgbClr val="FFFFFF"/>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2｜「うちの会社らしいやり方」といったものです。　</a:t>
            </a:r>
          </a:p>
        </p:txBody>
      </p:sp>
      <p:sp>
        <p:nvSpPr>
          <p:cNvPr id="8" name="Rounded Rectangle 7"/>
          <p:cNvSpPr/>
          <p:nvPr/>
        </p:nvSpPr>
        <p:spPr>
          <a:xfrm>
            <a:off x="1981047" y="2633472"/>
            <a:ext cx="8229600" cy="640080"/>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350" b="0">
                <a:solidFill>
                  <a:srgbClr val="172033"/>
                </a:solidFill>
                <a:latin typeface="WenQuanYi Micro Hei"/>
              </a:rPr>
              <a:t>3｜強い組織文化　メンバーの行動を統一し効率を高める一方、環境が変化したときに「今までのやり方」に固執させ、変革の足かせになる…</a:t>
            </a:r>
          </a:p>
        </p:txBody>
      </p:sp>
      <p:sp>
        <p:nvSpPr>
          <p:cNvPr id="9" name="Rounded Rectangle 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顧客第一主義」を掲げる会社で、社員全員がその考え方を当たり前のこととして行動している状態は、強い組織文化が根付いている例です。ただしこの文化が強すぎると、デジタル化のような新しい変化への対応が遅れることもあ…</a:t>
            </a:r>
          </a:p>
        </p:txBody>
      </p:sp>
      <p:sp>
        <p:nvSpPr>
          <p:cNvPr id="10" name="Rounded Rectangle 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11" name="Rectangle 1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13" name="TextBox 1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組織における個人：意思決定（限定合理性、認知バイアス）</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ounded Rectangle 5"/>
          <p:cNvSpPr/>
          <p:nvPr/>
        </p:nvSpPr>
        <p:spPr>
          <a:xfrm>
            <a:off x="502920"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限定合理性</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と呼びました。人間は、得られる情報・時間・認知能力に限界があるため、「最適な答え」を探すのではなく、「まあ十分満足できる答…</a:t>
            </a:r>
          </a:p>
        </p:txBody>
      </p:sp>
      <p:sp>
        <p:nvSpPr>
          <p:cNvPr id="10" name="Rounded Rectangle 9"/>
          <p:cNvSpPr/>
          <p:nvPr/>
        </p:nvSpPr>
        <p:spPr>
          <a:xfrm>
            <a:off x="4303776"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認知バイアス</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（思考の偏り）の影響を受けます。例えば「一度決めたことに固執してしまう」「都合の良い情報ばかり集めてしまう」といった傾向で…</a:t>
            </a:r>
          </a:p>
        </p:txBody>
      </p:sp>
      <p:sp>
        <p:nvSpPr>
          <p:cNvPr id="14" name="Rounded Rectangle 13"/>
          <p:cNvSpPr/>
          <p:nvPr/>
        </p:nvSpPr>
        <p:spPr>
          <a:xfrm>
            <a:off x="8104632"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人間</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経済学が想定するような「完全に合理的な意思決定」はできません。</a:t>
            </a:r>
          </a:p>
        </p:txBody>
      </p:sp>
      <p:sp>
        <p:nvSpPr>
          <p:cNvPr id="18" name="Rounded Rectangle 17"/>
          <p:cNvSpPr/>
          <p:nvPr/>
        </p:nvSpPr>
        <p:spPr>
          <a:xfrm>
            <a:off x="502920"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サイモン</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これを限定合理性と呼びました。</a:t>
            </a:r>
          </a:p>
        </p:txBody>
      </p:sp>
      <p:sp>
        <p:nvSpPr>
          <p:cNvPr id="22" name="Rounded Rectangle 21"/>
          <p:cNvSpPr/>
          <p:nvPr/>
        </p:nvSpPr>
        <p:spPr>
          <a:xfrm>
            <a:off x="4303776"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また、人間の判断</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様々な認知バイアス（思考の偏り）の影響を受けます。</a:t>
            </a:r>
          </a:p>
        </p:txBody>
      </p:sp>
      <p:sp>
        <p:nvSpPr>
          <p:cNvPr id="26" name="Rounded Rectangle 25"/>
          <p:cNvSpPr/>
          <p:nvPr/>
        </p:nvSpPr>
        <p:spPr>
          <a:xfrm>
            <a:off x="8104632"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4632"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例えば「一度決めたことに固執してしまう」「都合の…</a:t>
            </a:r>
          </a:p>
        </p:txBody>
      </p:sp>
      <p:sp>
        <p:nvSpPr>
          <p:cNvPr id="29" name="Rounded Rectangle 2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具体例｜新商品の企画会議で、本当は市場調査をもっと徹底すべきなのに、時間的な制約から「これくらいの情報で十分だろう」と判断して意思決定してしまうのは、限定合理性・満足化原理の表れです。</a:t>
            </a:r>
          </a:p>
        </p:txBody>
      </p:sp>
      <p:sp>
        <p:nvSpPr>
          <p:cNvPr id="30" name="Rounded Rectangle 2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31" name="Rectangle 3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3" name="TextBox 3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C-19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組織における個人：モチベーション理論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Trapezoid 5"/>
          <p:cNvSpPr/>
          <p:nvPr/>
        </p:nvSpPr>
        <p:spPr>
          <a:xfrm>
            <a:off x="4495647" y="1005840"/>
            <a:ext cx="3200400" cy="676656"/>
          </a:xfrm>
          <a:prstGeom prst="trapezoid">
            <a:avLst/>
          </a:prstGeom>
          <a:solidFill>
            <a:srgbClr val="FFF7ED"/>
          </a:solidFill>
          <a:ln>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50" b="0">
                <a:solidFill>
                  <a:srgbClr val="172033"/>
                </a:solidFill>
                <a:latin typeface="WenQuanYi Micro Hei"/>
              </a:rPr>
              <a:t>社員のやる気（モチベーション）を高…｜</a:t>
            </a:r>
          </a:p>
        </p:txBody>
      </p:sp>
      <p:sp>
        <p:nvSpPr>
          <p:cNvPr id="7" name="Trapezoid 6"/>
          <p:cNvSpPr/>
          <p:nvPr/>
        </p:nvSpPr>
        <p:spPr>
          <a:xfrm>
            <a:off x="3695547" y="1810512"/>
            <a:ext cx="4800600" cy="676656"/>
          </a:xfrm>
          <a:prstGeom prst="trapezoid">
            <a:avLst/>
          </a:prstGeom>
          <a:solidFill>
            <a:srgbClr val="FFFFFF"/>
          </a:solidFill>
          <a:ln>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50" b="0">
                <a:solidFill>
                  <a:srgbClr val="172033"/>
                </a:solidFill>
                <a:latin typeface="WenQuanYi Micro Hei"/>
              </a:rPr>
              <a:t>目標設定理論｜（ロック）：具体的で少し難易度の高い目標を設定する方が、曖昧な目標や簡単す…</a:t>
            </a:r>
          </a:p>
        </p:txBody>
      </p:sp>
      <p:sp>
        <p:nvSpPr>
          <p:cNvPr id="8" name="Trapezoid 7"/>
          <p:cNvSpPr/>
          <p:nvPr/>
        </p:nvSpPr>
        <p:spPr>
          <a:xfrm>
            <a:off x="2895447" y="2615184"/>
            <a:ext cx="6400800" cy="676656"/>
          </a:xfrm>
          <a:prstGeom prst="trapezoid">
            <a:avLst/>
          </a:prstGeom>
          <a:solidFill>
            <a:srgbClr val="FFF7ED"/>
          </a:solidFill>
          <a:ln>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50" b="0">
                <a:solidFill>
                  <a:srgbClr val="172033"/>
                </a:solidFill>
                <a:latin typeface="WenQuanYi Micro Hei"/>
              </a:rPr>
              <a:t>期待理論｜（ブルーム）：モチベーション＝「頑張れば達成できるという期待」×「達成すれ…</a:t>
            </a:r>
          </a:p>
        </p:txBody>
      </p:sp>
      <p:sp>
        <p:nvSpPr>
          <p:cNvPr id="9" name="Trapezoid 8"/>
          <p:cNvSpPr/>
          <p:nvPr/>
        </p:nvSpPr>
        <p:spPr>
          <a:xfrm>
            <a:off x="2095347" y="3419856"/>
            <a:ext cx="8001000" cy="676656"/>
          </a:xfrm>
          <a:prstGeom prst="trapezoid">
            <a:avLst/>
          </a:prstGeom>
          <a:solidFill>
            <a:srgbClr val="FFFFFF"/>
          </a:solidFill>
          <a:ln>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50" b="0">
                <a:solidFill>
                  <a:srgbClr val="172033"/>
                </a:solidFill>
                <a:latin typeface="WenQuanYi Micro Hei"/>
              </a:rPr>
              <a:t>ハーズバーグの動機づけ・衛生理論｜仕事の満足に関わる要因（動機づけ要因：達成感、承認、仕事そのもののやりがい…</a:t>
            </a:r>
          </a:p>
        </p:txBody>
      </p:sp>
      <p:sp>
        <p:nvSpPr>
          <p:cNvPr id="10" name="Trapezoid 9"/>
          <p:cNvSpPr/>
          <p:nvPr/>
        </p:nvSpPr>
        <p:spPr>
          <a:xfrm>
            <a:off x="1295247" y="4224528"/>
            <a:ext cx="9601200" cy="676656"/>
          </a:xfrm>
          <a:prstGeom prst="trapezoid">
            <a:avLst/>
          </a:prstGeom>
          <a:solidFill>
            <a:srgbClr val="FFF7ED"/>
          </a:solidFill>
          <a:ln>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50" b="0">
                <a:solidFill>
                  <a:srgbClr val="172033"/>
                </a:solidFill>
                <a:latin typeface="WenQuanYi Micro Hei"/>
              </a:rPr>
              <a:t>マズローの欲求段階説｜人間の欲求は「生理的欲求→安全欲求→社会的欲求（所属・愛情）→承認欲求→自…</a:t>
            </a:r>
          </a:p>
        </p:txBody>
      </p:sp>
      <p:sp>
        <p:nvSpPr>
          <p:cNvPr id="11" name="Rounded Rectangle 10"/>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給与を大幅に上げても社員の意欲があまり変わらないことがあります。ハーズバーグの理論に従えば、給与は「衛生要因」であり、不満を防ぐ効果はあっても、積極的な「やる気」を引き出すには、達成感や裁量権の拡大といった「…</a:t>
            </a:r>
          </a:p>
        </p:txBody>
      </p:sp>
      <p:sp>
        <p:nvSpPr>
          <p:cNvPr id="12" name="Rounded Rectangle 11"/>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注意｜この論点は10年間ほぼ毎年出題される最頻出論点です（problem_sets/1st_stage/C_business_administration.md C-19参照）。各理論の「提唱者名」と「理論の核心的…</a:t>
            </a:r>
          </a:p>
        </p:txBody>
      </p:sp>
      <p:sp>
        <p:nvSpPr>
          <p:cNvPr id="13" name="Rectangle 12"/>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15" name="TextBox 14"/>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組織の中の人間関係・集団：リーダーシップ理論</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ounded Rectangle 5"/>
          <p:cNvSpPr/>
          <p:nvPr/>
        </p:nvSpPr>
        <p:spPr>
          <a:xfrm>
            <a:off x="566928" y="1051560"/>
            <a:ext cx="5394960" cy="420624"/>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PM理論</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（三隅二不二）：リーダーの行動を「P機能」（目標達成に関わる機能：計画立案、指示、進捗管理）と「M機能」（集団維持に関わる…</a:t>
            </a:r>
          </a:p>
        </p:txBody>
      </p:sp>
      <p:sp>
        <p:nvSpPr>
          <p:cNvPr id="11" name="Rounded Rectangle 10"/>
          <p:cNvSpPr/>
          <p:nvPr/>
        </p:nvSpPr>
        <p:spPr>
          <a:xfrm>
            <a:off x="566928"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SL理論（状況対応型リーダーシップ）</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（ハーシー＆ブランチャード）：部下の成熟度（習熟度・意欲）に応じて、リーダーが取るべきスタイルを変えるべきだとする理論。部…</a:t>
            </a:r>
          </a:p>
        </p:txBody>
      </p:sp>
      <p:sp>
        <p:nvSpPr>
          <p:cNvPr id="15" name="Rounded Rectangle 14"/>
          <p:cNvSpPr/>
          <p:nvPr/>
        </p:nvSpPr>
        <p:spPr>
          <a:xfrm>
            <a:off x="6217920" y="1051560"/>
            <a:ext cx="5394960" cy="420624"/>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C2410C"/>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変革型リーダーシップ</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部下の内発的な動機づけを引き出し、組織の大きな変革を推進するタイプのリーダーシップ（対義語は、アメとムチで管理する「交換型…</a:t>
            </a:r>
          </a:p>
        </p:txBody>
      </p:sp>
      <p:sp>
        <p:nvSpPr>
          <p:cNvPr id="20" name="Rounded Rectangle 19"/>
          <p:cNvSpPr/>
          <p:nvPr/>
        </p:nvSpPr>
        <p:spPr>
          <a:xfrm>
            <a:off x="6217920"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リーダーシップに関する理論も複数あります。</a:t>
            </a:r>
          </a:p>
        </p:txBody>
      </p:sp>
      <p:sp>
        <p:nvSpPr>
          <p:cNvPr id="23" name="Rounded Rectangle 22"/>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入社員に対しては、業務の進め方を具体的に指示する「指示型」のマネジメントが適切ですが、経験を積んだベテラン社員に対しては、仕事の進め方を任せる「委任型」のマネジメントの方が本人のモチベーションを高めます。こ…</a:t>
            </a:r>
          </a:p>
        </p:txBody>
      </p:sp>
      <p:sp>
        <p:nvSpPr>
          <p:cNvPr id="24" name="Rounded Rectangle 23"/>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注意｜PM理論は「リーダーの行動の型」を分類する理論、SL理論は「部下の状況に応じてスタイルを変える」理論、という違いを区別しましょう。どちらも過去問で頻出です。</a:t>
            </a:r>
          </a:p>
        </p:txBody>
      </p:sp>
      <p:sp>
        <p:nvSpPr>
          <p:cNvPr id="25" name="Rectangle 24"/>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7" name="TextBox 26"/>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組織の中の人間関係・集団：パワーとコンフリクト</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ounded Rectangle 5"/>
          <p:cNvSpPr/>
          <p:nvPr/>
        </p:nvSpPr>
        <p:spPr>
          <a:xfrm>
            <a:off x="566928" y="1051560"/>
            <a:ext cx="5394960" cy="420624"/>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コンフリクト</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）が生じます。パワーの源泉には、地位に基づく「公式の権限」だけでなく、専門知識に基づく「専門性パワー」、人望に基づく「準拠…</a:t>
            </a:r>
          </a:p>
        </p:txBody>
      </p:sp>
      <p:sp>
        <p:nvSpPr>
          <p:cNvPr id="11" name="Rounded Rectangle 10"/>
          <p:cNvSpPr/>
          <p:nvPr/>
        </p:nvSpPr>
        <p:spPr>
          <a:xfrm>
            <a:off x="566928"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組織の中で</a:t>
            </a:r>
          </a:p>
        </p:txBody>
      </p:sp>
      <p:sp>
        <p:nvSpPr>
          <p:cNvPr id="14" name="TextBox 13"/>
          <p:cNvSpPr txBox="1"/>
          <p:nvPr/>
        </p:nvSpPr>
        <p:spPr>
          <a:xfrm>
            <a:off x="768096" y="3218687"/>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上下関係や部門間で「パワー（影響力）」の行使や、意見の対立（コンフリクト）が生じます。</a:t>
            </a:r>
          </a:p>
        </p:txBody>
      </p:sp>
      <p:sp>
        <p:nvSpPr>
          <p:cNvPr id="15" name="Rounded Rectangle 14"/>
          <p:cNvSpPr/>
          <p:nvPr/>
        </p:nvSpPr>
        <p:spPr>
          <a:xfrm>
            <a:off x="6217920" y="1051560"/>
            <a:ext cx="5394960" cy="420624"/>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C2410C"/>
                </a:solidFill>
                <a:latin typeface="WenQuanYi Micro Hei"/>
              </a:rPr>
              <a:t>視点 B</a:t>
            </a:r>
          </a:p>
        </p:txBody>
      </p:sp>
      <p:sp>
        <p:nvSpPr>
          <p:cNvPr id="16" name="Rounded Rectangle 15"/>
          <p:cNvSpPr/>
          <p:nvPr/>
        </p:nvSpPr>
        <p:spPr>
          <a:xfrm>
            <a:off x="6217920"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パワーの源泉に</a:t>
            </a:r>
          </a:p>
        </p:txBody>
      </p:sp>
      <p:sp>
        <p:nvSpPr>
          <p:cNvPr id="19" name="TextBox 18"/>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地位に基づく「公式の権限」だけでなく、専門知識に基づく「専門性パワー」、人望に基づく「準拠パワー」など複数の種類がある…</a:t>
            </a:r>
          </a:p>
        </p:txBody>
      </p:sp>
      <p:sp>
        <p:nvSpPr>
          <p:cNvPr id="20" name="Rounded Rectangle 1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人であっても、その分野で誰よりも詳しい専門知識を持っていれば、周囲から自然と意見を求められ、実質的な影響力（専門性パワー）を持つことがあります。これは役職に基づく公式のパワーとは別のパワーの源泉です。</a:t>
            </a:r>
          </a:p>
        </p:txBody>
      </p:sp>
      <p:sp>
        <p:nvSpPr>
          <p:cNvPr id="21" name="Rounded Rectangle 2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2" name="Rectangle 2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4" name="TextBox 2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組織の中の人間関係・集団：集団の心理</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ounded Rectangle 5"/>
          <p:cNvSpPr/>
          <p:nvPr/>
        </p:nvSpPr>
        <p:spPr>
          <a:xfrm>
            <a:off x="502920"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グループシンク（集団浅慮）</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集団の団結・和を重視するあまり、少数意見や反対意見が出しにくくなり、不合理な結論に至ってしまう現象</a:t>
            </a:r>
          </a:p>
        </p:txBody>
      </p:sp>
      <p:sp>
        <p:nvSpPr>
          <p:cNvPr id="10" name="Rounded Rectangle 9"/>
          <p:cNvSpPr/>
          <p:nvPr/>
        </p:nvSpPr>
        <p:spPr>
          <a:xfrm>
            <a:off x="6204203"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グループシフト</a:t>
            </a:r>
          </a:p>
        </p:txBody>
      </p:sp>
      <p:sp>
        <p:nvSpPr>
          <p:cNvPr id="13" name="TextBox 12"/>
          <p:cNvSpPr txBox="1"/>
          <p:nvPr/>
        </p:nvSpPr>
        <p:spPr>
          <a:xfrm>
            <a:off x="6405371"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集団での議論の結果、個人で考えるよりも極端な結論（よりリスクを取る、またはより慎重になる）に振れてしまう現象</a:t>
            </a:r>
          </a:p>
        </p:txBody>
      </p:sp>
      <p:sp>
        <p:nvSpPr>
          <p:cNvPr id="14" name="Rounded Rectangle 13"/>
          <p:cNvSpPr/>
          <p:nvPr/>
        </p:nvSpPr>
        <p:spPr>
          <a:xfrm>
            <a:off x="502920" y="3145536"/>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心理的安全性</a:t>
            </a:r>
          </a:p>
        </p:txBody>
      </p:sp>
      <p:sp>
        <p:nvSpPr>
          <p:cNvPr id="17" name="TextBox 16"/>
          <p:cNvSpPr txBox="1"/>
          <p:nvPr/>
        </p:nvSpPr>
        <p:spPr>
          <a:xfrm>
            <a:off x="704088" y="3566160"/>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チームの中で、自分の意見や懸念を安心して発言できる状態。Googleの調査でも、生産性の高いチームの共通要因として注目され…</a:t>
            </a:r>
          </a:p>
        </p:txBody>
      </p:sp>
      <p:sp>
        <p:nvSpPr>
          <p:cNvPr id="18" name="Rounded Rectangle 17"/>
          <p:cNvSpPr/>
          <p:nvPr/>
        </p:nvSpPr>
        <p:spPr>
          <a:xfrm>
            <a:off x="6204203" y="3145536"/>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4203"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5371" y="3236976"/>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集団で意思決定をすると、個人で</a:t>
            </a:r>
          </a:p>
        </p:txBody>
      </p:sp>
      <p:sp>
        <p:nvSpPr>
          <p:cNvPr id="21" name="TextBox 20"/>
          <p:cNvSpPr txBox="1"/>
          <p:nvPr/>
        </p:nvSpPr>
        <p:spPr>
          <a:xfrm>
            <a:off x="6405371" y="3566160"/>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起きない特有の心理現象が生じることがあります。</a:t>
            </a:r>
          </a:p>
        </p:txBody>
      </p:sp>
      <p:sp>
        <p:nvSpPr>
          <p:cNvPr id="22" name="Rounded Rectangle 21"/>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会議で上司の意見に誰も異を唱えず、結果的に危険な決定が承認されてしまうのはグループシンクの典型例です。逆に、誰もが率直に懸念を言い合える雰囲気（心理的安全性が高い状態）があれば、こうした失敗を防ぎやすくなりま…</a:t>
            </a:r>
          </a:p>
        </p:txBody>
      </p:sp>
      <p:sp>
        <p:nvSpPr>
          <p:cNvPr id="23" name="Rounded Rectangle 22"/>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4" name="Rectangle 23"/>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6" name="TextBox 25"/>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組織間関係：資源依存、取引コスト、クラスター</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Oval 5"/>
          <p:cNvSpPr/>
          <p:nvPr/>
        </p:nvSpPr>
        <p:spPr>
          <a:xfrm>
            <a:off x="4709160" y="1993392"/>
            <a:ext cx="2788920" cy="150876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600" b="1">
                <a:solidFill>
                  <a:srgbClr val="FFFFFF"/>
                </a:solidFill>
                <a:latin typeface="WenQuanYi Micro Hei"/>
              </a:rPr>
              <a:t>組織間関係：資源依存、取引コスト、クラスター</a:t>
            </a:r>
          </a:p>
        </p:txBody>
      </p:sp>
      <p:cxnSp>
        <p:nvCxnSpPr>
          <p:cNvPr id="7" name="Connector 6"/>
          <p:cNvCxnSpPr/>
          <p:nvPr/>
        </p:nvCxnSpPr>
        <p:spPr>
          <a:xfrm flipH="1" flipV="1">
            <a:off x="1920240" y="1508760"/>
            <a:ext cx="4178808" cy="123444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10515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0515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1430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資源依存理論</a:t>
            </a:r>
          </a:p>
        </p:txBody>
      </p:sp>
      <p:sp>
        <p:nvSpPr>
          <p:cNvPr id="11" name="TextBox 10"/>
          <p:cNvSpPr txBox="1"/>
          <p:nvPr/>
        </p:nvSpPr>
        <p:spPr>
          <a:xfrm>
            <a:off x="749808"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組織は自分に不足する経営資源を外部に依存しており、その依存関係がパワー関係を生む、という考え方（強く依存している相手には強…</a:t>
            </a:r>
          </a:p>
        </p:txBody>
      </p:sp>
      <p:cxnSp>
        <p:nvCxnSpPr>
          <p:cNvPr id="12" name="Connector 11"/>
          <p:cNvCxnSpPr/>
          <p:nvPr/>
        </p:nvCxnSpPr>
        <p:spPr>
          <a:xfrm flipV="1">
            <a:off x="6099048" y="1508760"/>
            <a:ext cx="4160520" cy="123444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887968" y="10515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87968" y="10515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9136" y="11430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取引コスト理論</a:t>
            </a:r>
          </a:p>
        </p:txBody>
      </p:sp>
      <p:sp>
        <p:nvSpPr>
          <p:cNvPr id="16" name="TextBox 15"/>
          <p:cNvSpPr txBox="1"/>
          <p:nvPr/>
        </p:nvSpPr>
        <p:spPr>
          <a:xfrm>
            <a:off x="9089136"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市場で取引する（他社から買う）か、自社内で行う（内製化・垂直統合する）かは、それぞれにかかる「取引コスト」（交渉、契約、監…</a:t>
            </a:r>
          </a:p>
        </p:txBody>
      </p:sp>
      <p:cxnSp>
        <p:nvCxnSpPr>
          <p:cNvPr id="17" name="Connector 16"/>
          <p:cNvCxnSpPr/>
          <p:nvPr/>
        </p:nvCxnSpPr>
        <p:spPr>
          <a:xfrm flipH="1">
            <a:off x="1920240" y="2743200"/>
            <a:ext cx="4178808" cy="128016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35661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661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576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産業クラスター</a:t>
            </a:r>
          </a:p>
        </p:txBody>
      </p:sp>
      <p:sp>
        <p:nvSpPr>
          <p:cNvPr id="21" name="TextBox 20"/>
          <p:cNvSpPr txBox="1"/>
          <p:nvPr/>
        </p:nvSpPr>
        <p:spPr>
          <a:xfrm>
            <a:off x="749808"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特定の地域に、関連する企業・大学・研究機関が集積することで、情報交換やイノベーションが起きやすくなる現象（例：シリコンバレ…</a:t>
            </a:r>
          </a:p>
        </p:txBody>
      </p:sp>
      <p:cxnSp>
        <p:nvCxnSpPr>
          <p:cNvPr id="22" name="Connector 21"/>
          <p:cNvCxnSpPr/>
          <p:nvPr/>
        </p:nvCxnSpPr>
        <p:spPr>
          <a:xfrm>
            <a:off x="6099048" y="2743200"/>
            <a:ext cx="4160520" cy="128016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887968" y="35661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87968" y="35661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89136" y="36576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会社</a:t>
            </a:r>
          </a:p>
        </p:txBody>
      </p:sp>
      <p:sp>
        <p:nvSpPr>
          <p:cNvPr id="26" name="TextBox 25"/>
          <p:cNvSpPr txBox="1"/>
          <p:nvPr/>
        </p:nvSpPr>
        <p:spPr>
          <a:xfrm>
            <a:off x="9089136"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単独で存在するのではなく、他の組織（取引先、競合、行政など）との関係の中で活動します。</a:t>
            </a:r>
          </a:p>
        </p:txBody>
      </p:sp>
      <p:sp>
        <p:nvSpPr>
          <p:cNvPr id="27" name="Rounded Rectangle 2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特定の部品を、他社との取引コスト（品質管理や納期調整の手間）が高すぎる場合には、自社で内製化（垂直統合）した方が効率的だと判断されることがあります。これは取引コスト理論の考え方です。</a:t>
            </a:r>
          </a:p>
        </p:txBody>
      </p:sp>
      <p:sp>
        <p:nvSpPr>
          <p:cNvPr id="28" name="Rounded Rectangle 2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9" name="Rectangle 2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1" name="TextBox 3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組織変革と組織成長</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ectangle 5"/>
          <p:cNvSpPr/>
          <p:nvPr/>
        </p:nvSpPr>
        <p:spPr>
          <a:xfrm>
            <a:off x="868680" y="2926080"/>
            <a:ext cx="10469880" cy="4572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1｜組織のライフサイクル
という考え方では、企業は「創業期→成長期→成熟期→（再生または衰退期）」と…</a:t>
            </a:r>
          </a:p>
        </p:txBody>
      </p:sp>
      <p:sp>
        <p:nvSpPr>
          <p:cNvPr id="9" name="Oval 8"/>
          <p:cNvSpPr/>
          <p:nvPr/>
        </p:nvSpPr>
        <p:spPr>
          <a:xfrm>
            <a:off x="3348990" y="2761488"/>
            <a:ext cx="384048" cy="384048"/>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2｜レヴィンの3段階モデル
です。</a:t>
            </a:r>
          </a:p>
        </p:txBody>
      </p:sp>
      <p:sp>
        <p:nvSpPr>
          <p:cNvPr id="11" name="Oval 10"/>
          <p:cNvSpPr/>
          <p:nvPr/>
        </p:nvSpPr>
        <p:spPr>
          <a:xfrm>
            <a:off x="5920740" y="2761488"/>
            <a:ext cx="384048" cy="384048"/>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3｜解凍（unfreezing）
現状維持の意識を崩し、変化の必要性を認識させる段階</a:t>
            </a:r>
          </a:p>
        </p:txBody>
      </p:sp>
      <p:sp>
        <p:nvSpPr>
          <p:cNvPr id="13" name="Oval 12"/>
          <p:cNvSpPr/>
          <p:nvPr/>
        </p:nvSpPr>
        <p:spPr>
          <a:xfrm>
            <a:off x="8492490" y="2761488"/>
            <a:ext cx="384048" cy="384048"/>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4｜変化（changing）
新しいやり方を実際に導入する段階</a:t>
            </a:r>
          </a:p>
        </p:txBody>
      </p:sp>
      <p:sp>
        <p:nvSpPr>
          <p:cNvPr id="15" name="Oval 14"/>
          <p:cNvSpPr/>
          <p:nvPr/>
        </p:nvSpPr>
        <p:spPr>
          <a:xfrm>
            <a:off x="11064240" y="2761488"/>
            <a:ext cx="384048" cy="384048"/>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5｜再凍結（refreezing）
新しいやり方を定着させ、元に戻らないようにする段階</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長年同じやり方を続けてきた会社が新システムを導入する際、いきなりシステムを入れ替えるのではなく、まず「今のままではまずい」という危機感を共有し（解凍）、新システムを試験導入し（変化）、最終的に新しい業務フロー…</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人的資源管理：労働関連法規</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graphicFrame>
        <p:nvGraphicFramePr>
          <p:cNvPr id="6" name="Table 5"/>
          <p:cNvGraphicFramePr>
            <a:graphicFrameLocks noGrp="1"/>
          </p:cNvGraphicFramePr>
          <p:nvPr/>
        </p:nvGraphicFramePr>
        <p:xfrm>
          <a:off x="594360" y="1115568"/>
          <a:ext cx="11000232" cy="3931920"/>
        </p:xfrm>
        <a:graphic>
          <a:graphicData uri="http://schemas.openxmlformats.org/drawingml/2006/table">
            <a:tbl>
              <a:tblPr firstRow="1" bandRow="1">
                <a:tableStyleId>{5C22544A-7EE6-4342-B048-85BDC9FD1C3A}</a:tableStyleId>
              </a:tblPr>
              <a:tblGrid>
                <a:gridCol w="5500116"/>
                <a:gridCol w="5500116"/>
              </a:tblGrid>
              <a:tr h="561702">
                <a:tc>
                  <a:txBody>
                    <a:bodyPr wrap="square" lIns="54864" rIns="54864" tIns="54864" bIns="54864" anchor="ctr"/>
                    <a:lstStyle/>
                    <a:p>
                      <a:pPr algn="ctr">
                        <a:spcAft>
                          <a:spcPts val="0"/>
                        </a:spcAft>
                      </a:pPr>
                      <a:r>
                        <a:rPr sz="1150" b="1">
                          <a:solidFill>
                            <a:srgbClr val="FFFFFF"/>
                          </a:solidFill>
                          <a:latin typeface="WenQuanYi Micro Hei"/>
                        </a:rPr>
                        <a:t>法律</a:t>
                      </a:r>
                    </a:p>
                  </a:txBody>
                  <a:tcPr marL="73152" marR="73152">
                    <a:solidFill>
                      <a:srgbClr val="C2410C"/>
                    </a:solidFill>
                  </a:tcPr>
                </a:tc>
                <a:tc>
                  <a:txBody>
                    <a:bodyPr wrap="square" lIns="54864" rIns="54864" tIns="54864" bIns="54864" anchor="ctr"/>
                    <a:lstStyle/>
                    <a:p>
                      <a:pPr algn="ctr">
                        <a:spcAft>
                          <a:spcPts val="0"/>
                        </a:spcAft>
                      </a:pPr>
                      <a:r>
                        <a:rPr sz="1150" b="1">
                          <a:solidFill>
                            <a:srgbClr val="FFFFFF"/>
                          </a:solidFill>
                          <a:latin typeface="WenQuanYi Micro Hei"/>
                        </a:rPr>
                        <a:t>主な内容</a:t>
                      </a:r>
                    </a:p>
                  </a:txBody>
                  <a:tcPr marL="73152" marR="73152">
                    <a:solidFill>
                      <a:srgbClr val="C2410C"/>
                    </a:solidFill>
                  </a:tcPr>
                </a:tc>
              </a:tr>
              <a:tr h="561702">
                <a:tc>
                  <a:txBody>
                    <a:bodyPr wrap="square" lIns="54864" rIns="54864" tIns="54864" bIns="54864" anchor="ctr"/>
                    <a:lstStyle/>
                    <a:p>
                      <a:pPr algn="ctr">
                        <a:spcAft>
                          <a:spcPts val="0"/>
                        </a:spcAft>
                      </a:pPr>
                      <a:r>
                        <a:rPr sz="1150" b="1">
                          <a:solidFill>
                            <a:srgbClr val="172033"/>
                          </a:solidFill>
                          <a:latin typeface="WenQuanYi Micro Hei"/>
                        </a:rPr>
                        <a:t>労働基準法</a:t>
                      </a:r>
                    </a:p>
                  </a:txBody>
                  <a:tcPr marL="73152" marR="73152">
                    <a:solidFill>
                      <a:srgbClr val="FFF7ED"/>
                    </a:solidFill>
                  </a:tcPr>
                </a:tc>
                <a:tc>
                  <a:txBody>
                    <a:bodyPr wrap="square" lIns="54864" rIns="54864" tIns="54864" bIns="54864" anchor="ctr"/>
                    <a:lstStyle/>
                    <a:p>
                      <a:pPr algn="ctr">
                        <a:spcAft>
                          <a:spcPts val="0"/>
                        </a:spcAft>
                      </a:pPr>
                      <a:r>
                        <a:rPr sz="1150" b="0">
                          <a:solidFill>
                            <a:srgbClr val="172033"/>
                          </a:solidFill>
                          <a:latin typeface="WenQuanYi Micro Hei"/>
                        </a:rPr>
                        <a:t>労働時間、休憩、休日、賃金の支払いなど労働条件の最低基準を定める</a:t>
                      </a:r>
                    </a:p>
                  </a:txBody>
                  <a:tcPr marL="73152" marR="73152">
                    <a:solidFill>
                      <a:srgbClr val="FFF7ED"/>
                    </a:solidFill>
                  </a:tcPr>
                </a:tc>
              </a:tr>
              <a:tr h="561702">
                <a:tc>
                  <a:txBody>
                    <a:bodyPr wrap="square" lIns="54864" rIns="54864" tIns="54864" bIns="54864" anchor="ctr"/>
                    <a:lstStyle/>
                    <a:p>
                      <a:pPr algn="ctr">
                        <a:spcAft>
                          <a:spcPts val="0"/>
                        </a:spcAft>
                      </a:pPr>
                      <a:r>
                        <a:rPr sz="1150" b="1">
                          <a:solidFill>
                            <a:srgbClr val="172033"/>
                          </a:solidFill>
                          <a:latin typeface="WenQuanYi Micro Hei"/>
                        </a:rPr>
                        <a:t>労働契約法</a:t>
                      </a:r>
                    </a:p>
                  </a:txBody>
                  <a:tcPr marL="73152" marR="73152">
                    <a:solidFill>
                      <a:srgbClr val="FFFFFF"/>
                    </a:solidFill>
                  </a:tcPr>
                </a:tc>
                <a:tc>
                  <a:txBody>
                    <a:bodyPr wrap="square" lIns="54864" rIns="54864" tIns="54864" bIns="54864" anchor="ctr"/>
                    <a:lstStyle/>
                    <a:p>
                      <a:pPr algn="ctr">
                        <a:spcAft>
                          <a:spcPts val="0"/>
                        </a:spcAft>
                      </a:pPr>
                      <a:r>
                        <a:rPr sz="1150" b="0">
                          <a:solidFill>
                            <a:srgbClr val="172033"/>
                          </a:solidFill>
                          <a:latin typeface="WenQuanYi Micro Hei"/>
                        </a:rPr>
                        <a:t>労働契約の締結・変更・終了に関するルール</a:t>
                      </a:r>
                    </a:p>
                  </a:txBody>
                  <a:tcPr marL="73152" marR="73152">
                    <a:solidFill>
                      <a:srgbClr val="FFFFFF"/>
                    </a:solidFill>
                  </a:tcPr>
                </a:tc>
              </a:tr>
              <a:tr h="561702">
                <a:tc>
                  <a:txBody>
                    <a:bodyPr wrap="square" lIns="54864" rIns="54864" tIns="54864" bIns="54864" anchor="ctr"/>
                    <a:lstStyle/>
                    <a:p>
                      <a:pPr algn="ctr">
                        <a:spcAft>
                          <a:spcPts val="0"/>
                        </a:spcAft>
                      </a:pPr>
                      <a:r>
                        <a:rPr sz="1150" b="1">
                          <a:solidFill>
                            <a:srgbClr val="172033"/>
                          </a:solidFill>
                          <a:latin typeface="WenQuanYi Micro Hei"/>
                        </a:rPr>
                        <a:t>男女雇用機会均等法</a:t>
                      </a:r>
                    </a:p>
                  </a:txBody>
                  <a:tcPr marL="73152" marR="73152">
                    <a:solidFill>
                      <a:srgbClr val="FFF7ED"/>
                    </a:solidFill>
                  </a:tcPr>
                </a:tc>
                <a:tc>
                  <a:txBody>
                    <a:bodyPr wrap="square" lIns="54864" rIns="54864" tIns="54864" bIns="54864" anchor="ctr"/>
                    <a:lstStyle/>
                    <a:p>
                      <a:pPr algn="ctr">
                        <a:spcAft>
                          <a:spcPts val="0"/>
                        </a:spcAft>
                      </a:pPr>
                      <a:r>
                        <a:rPr sz="1150" b="0">
                          <a:solidFill>
                            <a:srgbClr val="172033"/>
                          </a:solidFill>
                          <a:latin typeface="WenQuanYi Micro Hei"/>
                        </a:rPr>
                        <a:t>性別を理由とする差別的取扱いの禁止</a:t>
                      </a:r>
                    </a:p>
                  </a:txBody>
                  <a:tcPr marL="73152" marR="73152">
                    <a:solidFill>
                      <a:srgbClr val="FFF7ED"/>
                    </a:solidFill>
                  </a:tcPr>
                </a:tc>
              </a:tr>
              <a:tr h="561702">
                <a:tc>
                  <a:txBody>
                    <a:bodyPr wrap="square" lIns="54864" rIns="54864" tIns="54864" bIns="54864" anchor="ctr"/>
                    <a:lstStyle/>
                    <a:p>
                      <a:pPr algn="ctr">
                        <a:spcAft>
                          <a:spcPts val="0"/>
                        </a:spcAft>
                      </a:pPr>
                      <a:r>
                        <a:rPr sz="1150" b="1">
                          <a:solidFill>
                            <a:srgbClr val="172033"/>
                          </a:solidFill>
                          <a:latin typeface="WenQuanYi Micro Hei"/>
                        </a:rPr>
                        <a:t>育児・介護休業法</a:t>
                      </a:r>
                    </a:p>
                  </a:txBody>
                  <a:tcPr marL="73152" marR="73152">
                    <a:solidFill>
                      <a:srgbClr val="FFFFFF"/>
                    </a:solidFill>
                  </a:tcPr>
                </a:tc>
                <a:tc>
                  <a:txBody>
                    <a:bodyPr wrap="square" lIns="54864" rIns="54864" tIns="54864" bIns="54864" anchor="ctr"/>
                    <a:lstStyle/>
                    <a:p>
                      <a:pPr algn="ctr">
                        <a:spcAft>
                          <a:spcPts val="0"/>
                        </a:spcAft>
                      </a:pPr>
                      <a:r>
                        <a:rPr sz="1150" b="0">
                          <a:solidFill>
                            <a:srgbClr val="172033"/>
                          </a:solidFill>
                          <a:latin typeface="WenQuanYi Micro Hei"/>
                        </a:rPr>
                        <a:t>育児・介護のための休業制度</a:t>
                      </a:r>
                    </a:p>
                  </a:txBody>
                  <a:tcPr marL="73152" marR="73152">
                    <a:solidFill>
                      <a:srgbClr val="FFFFFF"/>
                    </a:solidFill>
                  </a:tcPr>
                </a:tc>
              </a:tr>
              <a:tr h="561702">
                <a:tc>
                  <a:txBody>
                    <a:bodyPr wrap="square" lIns="54864" rIns="54864" tIns="54864" bIns="54864" anchor="ctr"/>
                    <a:lstStyle/>
                    <a:p>
                      <a:pPr algn="ctr">
                        <a:spcAft>
                          <a:spcPts val="0"/>
                        </a:spcAft>
                      </a:pPr>
                      <a:r>
                        <a:rPr sz="1150" b="1">
                          <a:solidFill>
                            <a:srgbClr val="172033"/>
                          </a:solidFill>
                          <a:latin typeface="WenQuanYi Micro Hei"/>
                        </a:rPr>
                        <a:t>パートタイム・有期雇用労働法</a:t>
                      </a:r>
                    </a:p>
                  </a:txBody>
                  <a:tcPr marL="73152" marR="73152">
                    <a:solidFill>
                      <a:srgbClr val="FFF7ED"/>
                    </a:solidFill>
                  </a:tcPr>
                </a:tc>
                <a:tc>
                  <a:txBody>
                    <a:bodyPr wrap="square" lIns="54864" rIns="54864" tIns="54864" bIns="54864" anchor="ctr"/>
                    <a:lstStyle/>
                    <a:p>
                      <a:pPr algn="ctr">
                        <a:spcAft>
                          <a:spcPts val="0"/>
                        </a:spcAft>
                      </a:pPr>
                      <a:r>
                        <a:rPr sz="1150" b="0">
                          <a:solidFill>
                            <a:srgbClr val="172033"/>
                          </a:solidFill>
                          <a:latin typeface="WenQuanYi Micro Hei"/>
                        </a:rPr>
                        <a:t>正社員と非正規社員との不合理な待遇差の禁止（同一労働同一賃金）</a:t>
                      </a:r>
                    </a:p>
                  </a:txBody>
                  <a:tcPr marL="73152" marR="73152">
                    <a:solidFill>
                      <a:srgbClr val="FFF7ED"/>
                    </a:solidFill>
                  </a:tcPr>
                </a:tc>
              </a:tr>
              <a:tr h="561708">
                <a:tc>
                  <a:txBody>
                    <a:bodyPr wrap="square" lIns="54864" rIns="54864" tIns="54864" bIns="54864" anchor="ctr"/>
                    <a:lstStyle/>
                    <a:p>
                      <a:pPr algn="ctr">
                        <a:spcAft>
                          <a:spcPts val="0"/>
                        </a:spcAft>
                      </a:pPr>
                      <a:r>
                        <a:rPr sz="1150" b="1">
                          <a:solidFill>
                            <a:srgbClr val="172033"/>
                          </a:solidFill>
                          <a:latin typeface="WenQuanYi Micro Hei"/>
                        </a:rPr>
                        <a:t>労働安全衛生法</a:t>
                      </a:r>
                    </a:p>
                  </a:txBody>
                  <a:tcPr marL="73152" marR="73152">
                    <a:solidFill>
                      <a:srgbClr val="FFFFFF"/>
                    </a:solidFill>
                  </a:tcPr>
                </a:tc>
                <a:tc>
                  <a:txBody>
                    <a:bodyPr wrap="square" lIns="54864" rIns="54864" tIns="54864" bIns="54864" anchor="ctr"/>
                    <a:lstStyle/>
                    <a:p>
                      <a:pPr algn="ctr">
                        <a:spcAft>
                          <a:spcPts val="0"/>
                        </a:spcAft>
                      </a:pPr>
                      <a:r>
                        <a:rPr sz="1150" b="0">
                          <a:solidFill>
                            <a:srgbClr val="172033"/>
                          </a:solidFill>
                          <a:latin typeface="WenQuanYi Micro Hei"/>
                        </a:rPr>
                        <a:t>労働者の安全と健康の確保</a:t>
                      </a:r>
                    </a:p>
                  </a:txBody>
                  <a:tcPr marL="73152" marR="73152">
                    <a:solidFill>
                      <a:srgbClr val="FFFFFF"/>
                    </a:solidFill>
                  </a:tcPr>
                </a:tc>
              </a:tr>
            </a:tbl>
          </a:graphicData>
        </a:graphic>
      </p:graphicFrame>
      <p:sp>
        <p:nvSpPr>
          <p:cNvPr id="7" name="Rounded Rectangle 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具体例｜同じ仕事内容にもかかわらず、正社員と契約社員とで基本給や賞与に不合理な差をつけることは、パートタイム・有期雇用労働法（同一労働同一賃金のルール）に抵触するおそれがあります。</a:t>
            </a:r>
          </a:p>
        </p:txBody>
      </p:sp>
      <p:sp>
        <p:nvSpPr>
          <p:cNvPr id="8" name="Rounded Rectangle 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注意｜各法律の適用対象（正社員のみか、パート・派遣も含むか）や、義務か努力義務かの違いが問われることが多いため、法律名と規制内容を正確に対応させて覚えることが重要です。</a:t>
            </a:r>
          </a:p>
        </p:txBody>
      </p:sp>
      <p:sp>
        <p:nvSpPr>
          <p:cNvPr id="9" name="Rectangle 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11" name="TextBox 1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人的資源管理：雇用管理（採用、配置、人事異動）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ounded Rectangle 5"/>
          <p:cNvSpPr/>
          <p:nvPr/>
        </p:nvSpPr>
        <p:spPr>
          <a:xfrm>
            <a:off x="566928" y="1051560"/>
            <a:ext cx="5394960" cy="420624"/>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視点 A</a:t>
            </a:r>
          </a:p>
        </p:txBody>
      </p:sp>
      <p:sp>
        <p:nvSpPr>
          <p:cNvPr id="7" name="Rounded Rectangle 6"/>
          <p:cNvSpPr/>
          <p:nvPr/>
        </p:nvSpPr>
        <p:spPr>
          <a:xfrm>
            <a:off x="566928"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ジョブローテーション</a:t>
            </a:r>
          </a:p>
        </p:txBody>
      </p:sp>
      <p:sp>
        <p:nvSpPr>
          <p:cNvPr id="10" name="TextBox 9"/>
          <p:cNvSpPr txBox="1"/>
          <p:nvPr/>
        </p:nvSpPr>
        <p:spPr>
          <a:xfrm>
            <a:off x="768096"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（定期的な人事異動）があります。これは、社員に幅広い知識・経験を積ませ、会社全体を理解した人材（ゼネラリスト）を育成する狙…</a:t>
            </a:r>
          </a:p>
        </p:txBody>
      </p:sp>
      <p:sp>
        <p:nvSpPr>
          <p:cNvPr id="11" name="Rounded Rectangle 10"/>
          <p:cNvSpPr/>
          <p:nvPr/>
        </p:nvSpPr>
        <p:spPr>
          <a:xfrm>
            <a:off x="566928"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人材をどう採用し、どう配置するかという管理です。</a:t>
            </a:r>
          </a:p>
        </p:txBody>
      </p:sp>
      <p:sp>
        <p:nvSpPr>
          <p:cNvPr id="14" name="Rounded Rectangle 13"/>
          <p:cNvSpPr/>
          <p:nvPr/>
        </p:nvSpPr>
        <p:spPr>
          <a:xfrm>
            <a:off x="566928" y="398678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98678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407822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日本企業に特徴的な仕組みとして、特定の職務を限定…</a:t>
            </a:r>
          </a:p>
        </p:txBody>
      </p:sp>
      <p:sp>
        <p:nvSpPr>
          <p:cNvPr id="17" name="Rounded Rectangle 16"/>
          <p:cNvSpPr/>
          <p:nvPr/>
        </p:nvSpPr>
        <p:spPr>
          <a:xfrm>
            <a:off x="6217920" y="1051560"/>
            <a:ext cx="5394960" cy="420624"/>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C2410C"/>
                </a:solidFill>
                <a:latin typeface="WenQuanYi Micro Hei"/>
              </a:rPr>
              <a:t>視点 B</a:t>
            </a:r>
          </a:p>
        </p:txBody>
      </p:sp>
      <p:sp>
        <p:nvSpPr>
          <p:cNvPr id="18" name="Rounded Rectangle 17"/>
          <p:cNvSpPr/>
          <p:nvPr/>
        </p:nvSpPr>
        <p:spPr>
          <a:xfrm>
            <a:off x="6217920" y="1609344"/>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609344"/>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1700784"/>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これ</a:t>
            </a:r>
          </a:p>
        </p:txBody>
      </p:sp>
      <p:sp>
        <p:nvSpPr>
          <p:cNvPr id="21" name="TextBox 20"/>
          <p:cNvSpPr txBox="1"/>
          <p:nvPr/>
        </p:nvSpPr>
        <p:spPr>
          <a:xfrm>
            <a:off x="6419088" y="2029968"/>
            <a:ext cx="5074920" cy="576071"/>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社員に幅広い知識・経験を積ませ、会社全体を理解した人材（ゼネラリスト）を育成する狙いがあります。</a:t>
            </a:r>
          </a:p>
        </p:txBody>
      </p:sp>
      <p:sp>
        <p:nvSpPr>
          <p:cNvPr id="22" name="Rounded Rectangle 21"/>
          <p:cNvSpPr/>
          <p:nvPr/>
        </p:nvSpPr>
        <p:spPr>
          <a:xfrm>
            <a:off x="6217920" y="2798063"/>
            <a:ext cx="5394960" cy="107899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2798063"/>
            <a:ext cx="73152" cy="107899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2889503"/>
            <a:ext cx="507492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一方、欧米型の「ジョブ型雇用」（特定の職務・スキ…</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具体例｜入社した社員を営業部、経理部、製造部と数年おきに異動させ、幅広い業務知識を身につけさせるのは、日本型雇用に特徴的なジョブローテーションの一例です。</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人的資源管理：評価・処遇（人事評価、賃金体系）</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ounded Rectangle 5"/>
          <p:cNvSpPr/>
          <p:nvPr/>
        </p:nvSpPr>
        <p:spPr>
          <a:xfrm>
            <a:off x="502920"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年功給</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、職務の難易度・責任に応じて賃金を決める職務給、個人の持つ能力（職能）に応じて賃金を決める職能給があります。日本企業は伝統…</a:t>
            </a:r>
          </a:p>
        </p:txBody>
      </p:sp>
      <p:sp>
        <p:nvSpPr>
          <p:cNvPr id="10" name="Rounded Rectangle 9"/>
          <p:cNvSpPr/>
          <p:nvPr/>
        </p:nvSpPr>
        <p:spPr>
          <a:xfrm>
            <a:off x="4303776"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ハロー効果</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ある1つの優れた点に引きずられて全体を過大評価してしまう、など）に注意する必要があります。</a:t>
            </a:r>
          </a:p>
        </p:txBody>
      </p:sp>
      <p:sp>
        <p:nvSpPr>
          <p:cNvPr id="14" name="Rounded Rectangle 13"/>
          <p:cNvSpPr/>
          <p:nvPr/>
        </p:nvSpPr>
        <p:spPr>
          <a:xfrm>
            <a:off x="8104632"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社員の働きをどう評価し、どう賃金に反映するかとい…</a:t>
            </a:r>
          </a:p>
        </p:txBody>
      </p:sp>
      <p:sp>
        <p:nvSpPr>
          <p:cNvPr id="17" name="Rounded Rectangle 16"/>
          <p:cNvSpPr/>
          <p:nvPr/>
        </p:nvSpPr>
        <p:spPr>
          <a:xfrm>
            <a:off x="502920"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代表的な賃金体系に、勤続年数や年齢に応じて賃金が…</a:t>
            </a:r>
          </a:p>
        </p:txBody>
      </p:sp>
      <p:sp>
        <p:nvSpPr>
          <p:cNvPr id="20" name="Rounded Rectangle 19"/>
          <p:cNvSpPr/>
          <p:nvPr/>
        </p:nvSpPr>
        <p:spPr>
          <a:xfrm>
            <a:off x="4303776"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03776"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日本企業</a:t>
            </a:r>
          </a:p>
        </p:txBody>
      </p:sp>
      <p:sp>
        <p:nvSpPr>
          <p:cNvPr id="23" name="TextBox 22"/>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伝統的に年功給・職能給が中心でしたが、近年は成果や職務を重視する動きも進んでいます。</a:t>
            </a:r>
          </a:p>
        </p:txBody>
      </p:sp>
      <p:sp>
        <p:nvSpPr>
          <p:cNvPr id="24" name="Rounded Rectangle 23"/>
          <p:cNvSpPr/>
          <p:nvPr/>
        </p:nvSpPr>
        <p:spPr>
          <a:xfrm>
            <a:off x="8104632"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04632"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人事評価において</a:t>
            </a:r>
          </a:p>
        </p:txBody>
      </p:sp>
      <p:sp>
        <p:nvSpPr>
          <p:cNvPr id="27" name="TextBox 26"/>
          <p:cNvSpPr txBox="1"/>
          <p:nvPr/>
        </p:nvSpPr>
        <p:spPr>
          <a:xfrm>
            <a:off x="8305800"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評価者の主観による歪み（ハロー効果：ある1つの優れた点に引きずられて全体を過大評価してしまう、など）に注意する必要があ…</a:t>
            </a:r>
          </a:p>
        </p:txBody>
      </p:sp>
      <p:sp>
        <p:nvSpPr>
          <p:cNvPr id="28" name="Rounded Rectangle 27"/>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具体例｜「彼は有名大学出身だから仕事もできるはずだ」という先入観で高評価をつけてしまうのはハロー効果の典型例で、公正な人事評価を妨げる要因です。</a:t>
            </a:r>
          </a:p>
        </p:txBody>
      </p:sp>
      <p:sp>
        <p:nvSpPr>
          <p:cNvPr id="29" name="Rounded Rectangle 28"/>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30" name="Rectangle 29"/>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2" name="TextBox 31"/>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人的資源管理：人材育成</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ounded Rectangle 5"/>
          <p:cNvSpPr/>
          <p:nvPr/>
        </p:nvSpPr>
        <p:spPr>
          <a:xfrm>
            <a:off x="502920"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OJT（On the Job Training）</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と、業務を離れて研修などで学ぶOff-JT（Off the Job Training）があります。また、経験豊富な先輩社員…</a:t>
            </a:r>
          </a:p>
        </p:txBody>
      </p:sp>
      <p:sp>
        <p:nvSpPr>
          <p:cNvPr id="10" name="Rounded Rectangle 9"/>
          <p:cNvSpPr/>
          <p:nvPr/>
        </p:nvSpPr>
        <p:spPr>
          <a:xfrm>
            <a:off x="6204203"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人材育成の手法に</a:t>
            </a:r>
          </a:p>
        </p:txBody>
      </p:sp>
      <p:sp>
        <p:nvSpPr>
          <p:cNvPr id="13" name="TextBox 12"/>
          <p:cNvSpPr txBox="1"/>
          <p:nvPr/>
        </p:nvSpPr>
        <p:spPr>
          <a:xfrm>
            <a:off x="6405371"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実際の仕事を通じて学ぶOJT（On the Job Training）と、業務を離れて研修などで学ぶOff-JT（Of…</a:t>
            </a:r>
          </a:p>
        </p:txBody>
      </p:sp>
      <p:sp>
        <p:nvSpPr>
          <p:cNvPr id="14" name="Rounded Rectangle 13"/>
          <p:cNvSpPr/>
          <p:nvPr/>
        </p:nvSpPr>
        <p:spPr>
          <a:xfrm>
            <a:off x="502920" y="3145536"/>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また、経験豊富な先輩社員が若手を継続的に支援する…</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具体例｜新人が先輩社員に同行して営業の実務を学ぶのはOJT、外部の研修会社が実施する集合研修に参加するのはOff-JTです。</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C-29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人的資源管理：戦略的人的資源管理</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組織論（C-15〜C-29）</a:t>
            </a:r>
          </a:p>
        </p:txBody>
      </p:sp>
      <p:sp>
        <p:nvSpPr>
          <p:cNvPr id="6" name="Rounded Rectangle 5"/>
          <p:cNvSpPr/>
          <p:nvPr/>
        </p:nvSpPr>
        <p:spPr>
          <a:xfrm>
            <a:off x="502920" y="1024128"/>
            <a:ext cx="5500116" cy="404164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404164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戦略的人的資源管理（SHRM）</a:t>
            </a:r>
          </a:p>
        </p:txBody>
      </p:sp>
      <p:sp>
        <p:nvSpPr>
          <p:cNvPr id="9" name="TextBox 8"/>
          <p:cNvSpPr txBox="1"/>
          <p:nvPr/>
        </p:nvSpPr>
        <p:spPr>
          <a:xfrm>
            <a:off x="704088" y="1444752"/>
            <a:ext cx="5180076" cy="3538728"/>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とは、人事施策（採用・評価・育成・報酬など）を、場当たり的に行うのではなく、会社全体の経営戦略と一貫性を持たせて設計する考…</a:t>
            </a:r>
          </a:p>
        </p:txBody>
      </p:sp>
      <p:sp>
        <p:nvSpPr>
          <p:cNvPr id="10" name="Rounded Rectangle 9"/>
          <p:cNvSpPr/>
          <p:nvPr/>
        </p:nvSpPr>
        <p:spPr>
          <a:xfrm>
            <a:off x="6204203" y="1024128"/>
            <a:ext cx="5500116" cy="404164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404164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「どんな戦略を取るかによって、必要な人材像・評価…</a:t>
            </a:r>
          </a:p>
        </p:txBody>
      </p:sp>
      <p:sp>
        <p:nvSpPr>
          <p:cNvPr id="13" name="Rounded Rectangle 12"/>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コストリーダーシップ戦略（C-7参照）を取る会社では、効率性・生産性を重視した評価制度が合理的ですが、差別化戦略を取る会社では、創造性やイノベーションを促す評価制度の方が戦略と整合的です。</a:t>
            </a:r>
          </a:p>
        </p:txBody>
      </p:sp>
      <p:sp>
        <p:nvSpPr>
          <p:cNvPr id="14" name="Rounded Rectangle 13"/>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15" name="Rectangle 14"/>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17" name="TextBox 16"/>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77240" y="841248"/>
            <a:ext cx="10634472" cy="5074920"/>
          </a:xfrm>
          <a:prstGeom prst="roundRect">
            <a:avLst/>
          </a:prstGeom>
          <a:solidFill>
            <a:srgbClr val="FFF7ED"/>
          </a:solidFill>
          <a:ln w="25400">
            <a:solidFill>
              <a:srgbClr val="DD96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2011680" cy="384048"/>
          </a:xfrm>
          <a:prstGeom prst="rect">
            <a:avLst/>
          </a:prstGeom>
          <a:noFill/>
        </p:spPr>
        <p:txBody>
          <a:bodyPr wrap="square" tIns="91440" bIns="91440" anchor="ctr">
            <a:spAutoFit/>
          </a:bodyPr>
          <a:lstStyle/>
          <a:p>
            <a:pPr algn="l">
              <a:spcAft>
                <a:spcPts val="0"/>
              </a:spcAft>
            </a:pPr>
            <a:r>
              <a:rPr sz="1500" b="1">
                <a:solidFill>
                  <a:srgbClr val="C2410C"/>
                </a:solidFill>
                <a:latin typeface="WenQuanYi Micro Hei"/>
              </a:rPr>
              <a:t>SECTION 03</a:t>
            </a:r>
          </a:p>
        </p:txBody>
      </p:sp>
      <p:sp>
        <p:nvSpPr>
          <p:cNvPr id="5" name="TextBox 4"/>
          <p:cNvSpPr txBox="1"/>
          <p:nvPr/>
        </p:nvSpPr>
        <p:spPr>
          <a:xfrm>
            <a:off x="1188720" y="1993392"/>
            <a:ext cx="9784080" cy="1325880"/>
          </a:xfrm>
          <a:prstGeom prst="rect">
            <a:avLst/>
          </a:prstGeom>
          <a:noFill/>
        </p:spPr>
        <p:txBody>
          <a:bodyPr wrap="square" tIns="91440" bIns="91440" anchor="ctr">
            <a:spAutoFit/>
          </a:bodyPr>
          <a:lstStyle/>
          <a:p>
            <a:pPr algn="ctr">
              <a:spcAft>
                <a:spcPts val="0"/>
              </a:spcAft>
            </a:pPr>
            <a:r>
              <a:rPr sz="3300" b="1">
                <a:solidFill>
                  <a:srgbClr val="172033"/>
                </a:solidFill>
                <a:latin typeface="WenQuanYi Micro Hei"/>
              </a:rPr>
              <a:t>マーケティング論</a:t>
            </a:r>
          </a:p>
        </p:txBody>
      </p:sp>
      <p:sp>
        <p:nvSpPr>
          <p:cNvPr id="6" name="Rounded Rectangle 5"/>
          <p:cNvSpPr/>
          <p:nvPr/>
        </p:nvSpPr>
        <p:spPr>
          <a:xfrm>
            <a:off x="4261104" y="3968496"/>
            <a:ext cx="3657600" cy="749808"/>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2100" b="1">
                <a:solidFill>
                  <a:srgbClr val="FFFFFF"/>
                </a:solidFill>
                <a:latin typeface="WenQuanYi Micro Hei"/>
              </a:rPr>
              <a:t>13 論点</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マーケティングの基礎概念</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566928" y="1444752"/>
            <a:ext cx="2356866" cy="3063240"/>
          </a:xfrm>
          <a:prstGeom prst="roundRect">
            <a:avLst/>
          </a:prstGeom>
          <a:solidFill>
            <a:srgbClr val="FFF7ED"/>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489329"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2119122"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顧客が本当に求めている価値を理…</a:t>
            </a:r>
          </a:p>
        </p:txBody>
      </p:sp>
      <p:sp>
        <p:nvSpPr>
          <p:cNvPr id="9" name="TextBox 8"/>
          <p:cNvSpPr txBox="1"/>
          <p:nvPr/>
        </p:nvSpPr>
        <p:spPr>
          <a:xfrm>
            <a:off x="713232"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です。マーケティングの考え方は時代とともに変化してきました。かつては「作ったものを…</a:t>
            </a:r>
          </a:p>
        </p:txBody>
      </p:sp>
      <p:sp>
        <p:nvSpPr>
          <p:cNvPr id="10" name="Chevron 9"/>
          <p:cNvSpPr/>
          <p:nvPr/>
        </p:nvSpPr>
        <p:spPr>
          <a:xfrm>
            <a:off x="3033522"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54146" y="1444752"/>
            <a:ext cx="2356866" cy="3063240"/>
          </a:xfrm>
          <a:prstGeom prst="roundRect">
            <a:avLst/>
          </a:prstGeom>
          <a:solidFill>
            <a:srgbClr val="FFFFFF"/>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76547"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3573018" y="1810512"/>
            <a:ext cx="2119122"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マーケティング</a:t>
            </a:r>
          </a:p>
        </p:txBody>
      </p:sp>
      <p:sp>
        <p:nvSpPr>
          <p:cNvPr id="14" name="TextBox 13"/>
          <p:cNvSpPr txBox="1"/>
          <p:nvPr/>
        </p:nvSpPr>
        <p:spPr>
          <a:xfrm>
            <a:off x="3600450"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単に「モノを売る」ことではなく、顧客が本当に求めている価値を理解し、それを届ける仕…</a:t>
            </a:r>
          </a:p>
        </p:txBody>
      </p:sp>
      <p:sp>
        <p:nvSpPr>
          <p:cNvPr id="15" name="Chevron 14"/>
          <p:cNvSpPr/>
          <p:nvPr/>
        </p:nvSpPr>
        <p:spPr>
          <a:xfrm>
            <a:off x="5920740"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1364" y="1444752"/>
            <a:ext cx="2356866" cy="3063240"/>
          </a:xfrm>
          <a:prstGeom prst="roundRect">
            <a:avLst/>
          </a:prstGeom>
          <a:solidFill>
            <a:srgbClr val="FFF7ED"/>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63764"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6460236" y="1810512"/>
            <a:ext cx="2119122"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マーケティングの考え方</a:t>
            </a:r>
          </a:p>
        </p:txBody>
      </p:sp>
      <p:sp>
        <p:nvSpPr>
          <p:cNvPr id="19" name="TextBox 18"/>
          <p:cNvSpPr txBox="1"/>
          <p:nvPr/>
        </p:nvSpPr>
        <p:spPr>
          <a:xfrm>
            <a:off x="6487668"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時代とともに変化してきました。</a:t>
            </a:r>
          </a:p>
        </p:txBody>
      </p:sp>
      <p:sp>
        <p:nvSpPr>
          <p:cNvPr id="20" name="Chevron 19"/>
          <p:cNvSpPr/>
          <p:nvPr/>
        </p:nvSpPr>
        <p:spPr>
          <a:xfrm>
            <a:off x="8807957"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228582" y="1444752"/>
            <a:ext cx="2356866" cy="3063240"/>
          </a:xfrm>
          <a:prstGeom prst="roundRect">
            <a:avLst/>
          </a:prstGeom>
          <a:solidFill>
            <a:srgbClr val="FFFFFF"/>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50983"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4</a:t>
            </a:r>
          </a:p>
        </p:txBody>
      </p:sp>
      <p:sp>
        <p:nvSpPr>
          <p:cNvPr id="23" name="TextBox 22"/>
          <p:cNvSpPr txBox="1"/>
          <p:nvPr/>
        </p:nvSpPr>
        <p:spPr>
          <a:xfrm>
            <a:off x="9347454" y="1810512"/>
            <a:ext cx="2119122"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かつて</a:t>
            </a:r>
          </a:p>
        </p:txBody>
      </p:sp>
      <p:sp>
        <p:nvSpPr>
          <p:cNvPr id="24" name="TextBox 23"/>
          <p:cNvSpPr txBox="1"/>
          <p:nvPr/>
        </p:nvSpPr>
        <p:spPr>
          <a:xfrm>
            <a:off x="9374886" y="2542032"/>
            <a:ext cx="2064258"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「作ったものをいかに売るか」（販売志向）が中心でしたが、現在は「顧客が何を求めてい…</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工場をフル稼働させて作った商品を、広告と営業力で売りさばく」のが販売志向、「まず顧客のニーズを調査し、そのニーズに合った商品を企画・開発する」のが顧客志向（マーケティング・コンセプト）です。</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マーケティング計画と戦略（STP、4P）</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731520" y="114300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14300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3444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STP</a:t>
            </a:r>
          </a:p>
        </p:txBody>
      </p:sp>
      <p:sp>
        <p:nvSpPr>
          <p:cNvPr id="9" name="TextBox 8"/>
          <p:cNvSpPr txBox="1"/>
          <p:nvPr/>
        </p:nvSpPr>
        <p:spPr>
          <a:xfrm>
            <a:off x="932688"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と4Pです。</a:t>
            </a:r>
          </a:p>
        </p:txBody>
      </p:sp>
      <p:sp>
        <p:nvSpPr>
          <p:cNvPr id="10" name="Oval 9"/>
          <p:cNvSpPr/>
          <p:nvPr/>
        </p:nvSpPr>
        <p:spPr>
          <a:xfrm>
            <a:off x="548640" y="1014983"/>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1</a:t>
            </a:r>
          </a:p>
        </p:txBody>
      </p:sp>
      <p:sp>
        <p:nvSpPr>
          <p:cNvPr id="11" name="Rounded Rectangle 10"/>
          <p:cNvSpPr/>
          <p:nvPr/>
        </p:nvSpPr>
        <p:spPr>
          <a:xfrm>
            <a:off x="6236208" y="114300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14300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23444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セグメンテーション（S）</a:t>
            </a:r>
          </a:p>
        </p:txBody>
      </p:sp>
      <p:sp>
        <p:nvSpPr>
          <p:cNvPr id="14" name="TextBox 13"/>
          <p:cNvSpPr txBox="1"/>
          <p:nvPr/>
        </p:nvSpPr>
        <p:spPr>
          <a:xfrm>
            <a:off x="6437376" y="156362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市場を、年齢・地域・ライフスタイルなどの基準で細分化する</a:t>
            </a:r>
          </a:p>
        </p:txBody>
      </p:sp>
      <p:sp>
        <p:nvSpPr>
          <p:cNvPr id="15" name="Oval 14"/>
          <p:cNvSpPr/>
          <p:nvPr/>
        </p:nvSpPr>
        <p:spPr>
          <a:xfrm>
            <a:off x="6053328" y="1014983"/>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2</a:t>
            </a:r>
          </a:p>
        </p:txBody>
      </p:sp>
      <p:sp>
        <p:nvSpPr>
          <p:cNvPr id="16" name="Rounded Rectangle 15"/>
          <p:cNvSpPr/>
          <p:nvPr/>
        </p:nvSpPr>
        <p:spPr>
          <a:xfrm>
            <a:off x="731520" y="306324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06324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15468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ターゲティング（T）</a:t>
            </a:r>
          </a:p>
        </p:txBody>
      </p:sp>
      <p:sp>
        <p:nvSpPr>
          <p:cNvPr id="19" name="TextBox 18"/>
          <p:cNvSpPr txBox="1"/>
          <p:nvPr/>
        </p:nvSpPr>
        <p:spPr>
          <a:xfrm>
            <a:off x="932688"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細分化した市場（セグメント）の中から、自社が狙う市場を選ぶ</a:t>
            </a:r>
          </a:p>
        </p:txBody>
      </p:sp>
      <p:sp>
        <p:nvSpPr>
          <p:cNvPr id="20" name="Oval 19"/>
          <p:cNvSpPr/>
          <p:nvPr/>
        </p:nvSpPr>
        <p:spPr>
          <a:xfrm>
            <a:off x="548640" y="2935224"/>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3</a:t>
            </a:r>
          </a:p>
        </p:txBody>
      </p:sp>
      <p:sp>
        <p:nvSpPr>
          <p:cNvPr id="21" name="Rounded Rectangle 20"/>
          <p:cNvSpPr/>
          <p:nvPr/>
        </p:nvSpPr>
        <p:spPr>
          <a:xfrm>
            <a:off x="6236208" y="3063240"/>
            <a:ext cx="5230368" cy="1627632"/>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6208" y="3063240"/>
            <a:ext cx="73152" cy="16276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54680"/>
            <a:ext cx="491032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ポジショニング（P）</a:t>
            </a:r>
          </a:p>
        </p:txBody>
      </p:sp>
      <p:sp>
        <p:nvSpPr>
          <p:cNvPr id="24" name="TextBox 23"/>
          <p:cNvSpPr txBox="1"/>
          <p:nvPr/>
        </p:nvSpPr>
        <p:spPr>
          <a:xfrm>
            <a:off x="6437376" y="3483864"/>
            <a:ext cx="4910328" cy="1124712"/>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選んだ市場の中で、自社商品が競合と比べてどんな独自の位置づけ（強み）を持つかを明確にする</a:t>
            </a:r>
          </a:p>
        </p:txBody>
      </p:sp>
      <p:sp>
        <p:nvSpPr>
          <p:cNvPr id="25" name="Oval 24"/>
          <p:cNvSpPr/>
          <p:nvPr/>
        </p:nvSpPr>
        <p:spPr>
          <a:xfrm>
            <a:off x="6053328" y="2935224"/>
            <a:ext cx="438912" cy="438912"/>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200" b="1">
                <a:solidFill>
                  <a:srgbClr val="FFFFFF"/>
                </a:solidFill>
                <a:latin typeface="WenQuanYi Micro Hei"/>
              </a:rPr>
              <a:t>4</a:t>
            </a:r>
          </a:p>
        </p:txBody>
      </p:sp>
      <p:sp>
        <p:nvSpPr>
          <p:cNvPr id="26" name="Rounded Rectangle 2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しい健康ドリンクを売り出すとき、まず市場を「働き盛りの30〜40代男性」（セグメンテーション）に絞り込み、その中でも「デスクワーク中心で運動不足の人」（ターゲティング）を狙い、「手軽に飲めて集中力を高める」…</a:t>
            </a:r>
          </a:p>
        </p:txBody>
      </p:sp>
      <p:sp>
        <p:nvSpPr>
          <p:cNvPr id="27" name="Rounded Rectangle 2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8" name="Rectangle 2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0" name="TextBox 2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マーケティング・リサーチ</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502920"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マーケティング・リサーチ</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です。調査方法には、インタビューやアンケートで「なぜ」「どう思うか」を深掘りする定性調査と、多数のデータを集めて数値で傾向…</a:t>
            </a:r>
          </a:p>
        </p:txBody>
      </p:sp>
      <p:sp>
        <p:nvSpPr>
          <p:cNvPr id="10" name="Rounded Rectangle 9"/>
          <p:cNvSpPr/>
          <p:nvPr/>
        </p:nvSpPr>
        <p:spPr>
          <a:xfrm>
            <a:off x="6204203"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マーケティング施策を考える前に、市場や顧客を調査…</a:t>
            </a:r>
          </a:p>
        </p:txBody>
      </p:sp>
      <p:sp>
        <p:nvSpPr>
          <p:cNvPr id="13" name="Rounded Rectangle 12"/>
          <p:cNvSpPr/>
          <p:nvPr/>
        </p:nvSpPr>
        <p:spPr>
          <a:xfrm>
            <a:off x="502920" y="3145536"/>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調査方法に</a:t>
            </a:r>
          </a:p>
        </p:txBody>
      </p:sp>
      <p:sp>
        <p:nvSpPr>
          <p:cNvPr id="16" name="TextBox 15"/>
          <p:cNvSpPr txBox="1"/>
          <p:nvPr/>
        </p:nvSpPr>
        <p:spPr>
          <a:xfrm>
            <a:off x="704088" y="3566160"/>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インタビューやアンケートで「なぜ」「どう思うか」を深掘りする定性調査と、多数のデータを集めて数値で傾向を把握する定量調…</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商品のコンセプトを固める初期段階では少人数へのインタビュー（定性調査）でアイデアを練り、コンセプトがある程度固まった段階で大規模なアンケート（定量調査）を行い需要規模を検証する、という使い分けが一般的です。</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C-33</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各分野に展開したマーケティング：リレーションシップ・CRM</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Oval 5"/>
          <p:cNvSpPr/>
          <p:nvPr/>
        </p:nvSpPr>
        <p:spPr>
          <a:xfrm>
            <a:off x="4709160" y="1993392"/>
            <a:ext cx="2788920" cy="150876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600" b="1">
                <a:solidFill>
                  <a:srgbClr val="FFFFFF"/>
                </a:solidFill>
                <a:latin typeface="WenQuanYi Micro Hei"/>
              </a:rPr>
              <a:t>各分野に展開したマーケティング：リレーションシ…</a:t>
            </a:r>
          </a:p>
        </p:txBody>
      </p:sp>
      <p:cxnSp>
        <p:nvCxnSpPr>
          <p:cNvPr id="7" name="Connector 6"/>
          <p:cNvCxnSpPr/>
          <p:nvPr/>
        </p:nvCxnSpPr>
        <p:spPr>
          <a:xfrm flipH="1" flipV="1">
            <a:off x="1920240" y="1508760"/>
            <a:ext cx="4178808" cy="123444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10515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0515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1430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リレーションシップ・マーケティング</a:t>
            </a:r>
          </a:p>
        </p:txBody>
      </p:sp>
      <p:sp>
        <p:nvSpPr>
          <p:cNvPr id="11" name="TextBox 10"/>
          <p:cNvSpPr txBox="1"/>
          <p:nvPr/>
        </p:nvSpPr>
        <p:spPr>
          <a:xfrm>
            <a:off x="749808" y="14721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と呼びます。これを支えるシステムがCRM（顧客関係管理）で、顧客の購買履歴や属性データを一元管理し、個別対応や継続的な関係…</a:t>
            </a:r>
          </a:p>
        </p:txBody>
      </p:sp>
      <p:cxnSp>
        <p:nvCxnSpPr>
          <p:cNvPr id="12" name="Connector 11"/>
          <p:cNvCxnSpPr/>
          <p:nvPr/>
        </p:nvCxnSpPr>
        <p:spPr>
          <a:xfrm flipV="1">
            <a:off x="6099048" y="1508760"/>
            <a:ext cx="4160520" cy="123444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887968" y="10515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87968" y="10515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9136" y="11430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新規顧客の獲得だけでなく、既存顧客との長期的な関…</a:t>
            </a:r>
          </a:p>
        </p:txBody>
      </p:sp>
      <p:cxnSp>
        <p:nvCxnSpPr>
          <p:cNvPr id="16" name="Connector 15"/>
          <p:cNvCxnSpPr/>
          <p:nvPr/>
        </p:nvCxnSpPr>
        <p:spPr>
          <a:xfrm flipH="1">
            <a:off x="1920240" y="2743200"/>
            <a:ext cx="4178808" cy="128016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35661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661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6576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これを支えるシステムがCRM（顧客関係管理）で…</a:t>
            </a:r>
          </a:p>
        </p:txBody>
      </p:sp>
      <p:cxnSp>
        <p:nvCxnSpPr>
          <p:cNvPr id="20" name="Connector 19"/>
          <p:cNvCxnSpPr/>
          <p:nvPr/>
        </p:nvCxnSpPr>
        <p:spPr>
          <a:xfrm>
            <a:off x="6099048" y="2743200"/>
            <a:ext cx="4160520" cy="1280160"/>
          </a:xfrm>
          <a:prstGeom prst="line">
            <a:avLst/>
          </a:prstGeom>
          <a:ln w="19050">
            <a:solidFill>
              <a:srgbClr val="D7846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87968" y="3566160"/>
            <a:ext cx="2743200" cy="91440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87968" y="3566160"/>
            <a:ext cx="73152" cy="9144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89136" y="3657600"/>
            <a:ext cx="2423160"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新規顧客の獲得コスト</a:t>
            </a:r>
          </a:p>
        </p:txBody>
      </p:sp>
      <p:sp>
        <p:nvSpPr>
          <p:cNvPr id="24" name="TextBox 23"/>
          <p:cNvSpPr txBox="1"/>
          <p:nvPr/>
        </p:nvSpPr>
        <p:spPr>
          <a:xfrm>
            <a:off x="9089136" y="3986784"/>
            <a:ext cx="2423160" cy="411479"/>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既存顧客の維持コストより一般に高いとされ、既存顧客との関係強化は収益性の向上に直結します。</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具体例｜ある会員制ネットショップが、購買履歴に基づいて一人ひとりに合ったクーポンやレコメンドを送るのはCRMの活用例です。</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C-34</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各分野に展開したマーケティング：サービス・マーケティング</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502920"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製造業のサービス化</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」（例：機械を売るだけでなく、稼働状況を監視するメンテナンスサービスまで提供する）も重要なテーマです。</a:t>
            </a:r>
          </a:p>
        </p:txBody>
      </p:sp>
      <p:sp>
        <p:nvSpPr>
          <p:cNvPr id="10" name="Rounded Rectangle 9"/>
          <p:cNvSpPr/>
          <p:nvPr/>
        </p:nvSpPr>
        <p:spPr>
          <a:xfrm>
            <a:off x="4303776"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モノ（有形財）とサービス（無形財）</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性質が異なるため、サービスには特有のマーケティング上の課題があります。</a:t>
            </a:r>
          </a:p>
        </p:txBody>
      </p:sp>
      <p:sp>
        <p:nvSpPr>
          <p:cNvPr id="14" name="Rounded Rectangle 13"/>
          <p:cNvSpPr/>
          <p:nvPr/>
        </p:nvSpPr>
        <p:spPr>
          <a:xfrm>
            <a:off x="8104632"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サービスの特性として「無形性」（形がなく事前に確…</a:t>
            </a:r>
          </a:p>
        </p:txBody>
      </p:sp>
      <p:sp>
        <p:nvSpPr>
          <p:cNvPr id="17" name="Rounded Rectangle 16"/>
          <p:cNvSpPr/>
          <p:nvPr/>
        </p:nvSpPr>
        <p:spPr>
          <a:xfrm>
            <a:off x="502920"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例</a:t>
            </a:r>
          </a:p>
        </p:txBody>
      </p:sp>
      <p:sp>
        <p:nvSpPr>
          <p:cNvPr id="20" name="TextBox 19"/>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美容院の施術）、「非均質性」（提供者や状況によって品質にばらつきが出る）、「消滅性」（在庫できない。</a:t>
            </a:r>
          </a:p>
        </p:txBody>
      </p:sp>
      <p:sp>
        <p:nvSpPr>
          <p:cNvPr id="21" name="Rounded Rectangle 20"/>
          <p:cNvSpPr/>
          <p:nvPr/>
        </p:nvSpPr>
        <p:spPr>
          <a:xfrm>
            <a:off x="4303776"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03776"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近年</a:t>
            </a:r>
          </a:p>
        </p:txBody>
      </p:sp>
      <p:sp>
        <p:nvSpPr>
          <p:cNvPr id="24" name="TextBox 23"/>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モノを製造する企業がサービスも組み合わせて提供する「製造業のサービス化」（例：機械を売るだけでなく、稼働状況を監視する…</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美容院のカット技術は、その場でお客さんに提供されると同時に消費され（同時性）、担当美容師によって仕上がりが変わることがあります（非均質性）。また、その日に予約が埋まらなかった時間枠は、後から売ることができませ…</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C-35</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各分野に展開したマーケティング：デジタル・マーケティング</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502920"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AIDMA</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（Attention注意→Interest関心→Desire欲求→Memory記憶→Action購買）であるのに対し、イン…</a:t>
            </a:r>
          </a:p>
        </p:txBody>
      </p:sp>
      <p:sp>
        <p:nvSpPr>
          <p:cNvPr id="10" name="Rounded Rectangle 9"/>
          <p:cNvSpPr/>
          <p:nvPr/>
        </p:nvSpPr>
        <p:spPr>
          <a:xfrm>
            <a:off x="6204203"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インターネット・スマートフォンの普及により、消費…</a:t>
            </a:r>
          </a:p>
        </p:txBody>
      </p:sp>
      <p:sp>
        <p:nvSpPr>
          <p:cNvPr id="13" name="Rounded Rectangle 12"/>
          <p:cNvSpPr/>
          <p:nvPr/>
        </p:nvSpPr>
        <p:spPr>
          <a:xfrm>
            <a:off x="502920" y="3145536"/>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従来のマス広告時代の消費者行動モデルがAIDMA…</a:t>
            </a:r>
          </a:p>
        </p:txBody>
      </p:sp>
      <p:sp>
        <p:nvSpPr>
          <p:cNvPr id="16" name="Rounded Rectangle 15"/>
          <p:cNvSpPr/>
          <p:nvPr/>
        </p:nvSpPr>
        <p:spPr>
          <a:xfrm>
            <a:off x="6204203" y="3145536"/>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4203"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5371" y="3236976"/>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AISASで</a:t>
            </a:r>
          </a:p>
        </p:txBody>
      </p:sp>
      <p:sp>
        <p:nvSpPr>
          <p:cNvPr id="19" name="TextBox 18"/>
          <p:cNvSpPr txBox="1"/>
          <p:nvPr/>
        </p:nvSpPr>
        <p:spPr>
          <a:xfrm>
            <a:off x="6405371" y="3566160"/>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購買前に自分で情報を「検索」し、購買後にSNS等で感想を「共有」する行動が加わっている点が特徴です。</a:t>
            </a:r>
          </a:p>
        </p:txBody>
      </p:sp>
      <p:sp>
        <p:nvSpPr>
          <p:cNvPr id="20" name="Rounded Rectangle 1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具体例｜テレビCMを見て興味を持った商品について、購入前にスマートフォンでレビューを検索し（Search）、購入後にSNSに写真を投稿する（Share）という一連の行動は、AISASモデルそのものです。</a:t>
            </a:r>
          </a:p>
        </p:txBody>
      </p:sp>
      <p:sp>
        <p:nvSpPr>
          <p:cNvPr id="21" name="Rounded Rectangle 2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2" name="Rectangle 2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4" name="TextBox 2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C-36</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プロダクト・マネジメント：PLC、新製品開発</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ectangle 5"/>
          <p:cNvSpPr/>
          <p:nvPr/>
        </p:nvSpPr>
        <p:spPr>
          <a:xfrm>
            <a:off x="868680" y="2926080"/>
            <a:ext cx="10469880" cy="4572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761488"/>
            <a:ext cx="384048" cy="384048"/>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4048" y="1280160"/>
            <a:ext cx="2057400" cy="1078992"/>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1｜導入期
販売量少、認知度が低い / 製品の認知拡大に注力</a:t>
            </a:r>
          </a:p>
        </p:txBody>
      </p:sp>
      <p:sp>
        <p:nvSpPr>
          <p:cNvPr id="9" name="Oval 8"/>
          <p:cNvSpPr/>
          <p:nvPr/>
        </p:nvSpPr>
        <p:spPr>
          <a:xfrm>
            <a:off x="3348990" y="2761488"/>
            <a:ext cx="384048" cy="384048"/>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6030" y="3401568"/>
            <a:ext cx="2057400" cy="1078992"/>
          </a:xfrm>
          <a:prstGeom prst="roundRect">
            <a:avLst/>
          </a:prstGeom>
          <a:solidFill>
            <a:srgbClr val="FFFFFF"/>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2｜成長期
販売量が急拡大、競合が参入してくる / シェア拡大、販売網の拡大</a:t>
            </a:r>
          </a:p>
        </p:txBody>
      </p:sp>
      <p:sp>
        <p:nvSpPr>
          <p:cNvPr id="11" name="Oval 10"/>
          <p:cNvSpPr/>
          <p:nvPr/>
        </p:nvSpPr>
        <p:spPr>
          <a:xfrm>
            <a:off x="5920740" y="2761488"/>
            <a:ext cx="384048" cy="384048"/>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97779" y="1280160"/>
            <a:ext cx="2057400" cy="1078992"/>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3｜成熟期
販売量がピークで伸びが鈍化、競争激化 / 差別化、ブランド強化、コスト効率化</a:t>
            </a:r>
          </a:p>
        </p:txBody>
      </p:sp>
      <p:sp>
        <p:nvSpPr>
          <p:cNvPr id="13" name="Oval 12"/>
          <p:cNvSpPr/>
          <p:nvPr/>
        </p:nvSpPr>
        <p:spPr>
          <a:xfrm>
            <a:off x="8492490" y="2761488"/>
            <a:ext cx="384048" cy="384048"/>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69529" y="3401568"/>
            <a:ext cx="2057400" cy="1078992"/>
          </a:xfrm>
          <a:prstGeom prst="roundRect">
            <a:avLst/>
          </a:prstGeom>
          <a:solidFill>
            <a:srgbClr val="FFFFFF"/>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4｜衰退期
販売量が減少 / 撤退判断、または特定顧客層向けに縮小継続</a:t>
            </a:r>
          </a:p>
        </p:txBody>
      </p:sp>
      <p:sp>
        <p:nvSpPr>
          <p:cNvPr id="15" name="Oval 14"/>
          <p:cNvSpPr/>
          <p:nvPr/>
        </p:nvSpPr>
        <p:spPr>
          <a:xfrm>
            <a:off x="11064240" y="2761488"/>
            <a:ext cx="384048" cy="384048"/>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85248" y="1280160"/>
            <a:ext cx="2057400" cy="1078992"/>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200" b="0">
                <a:solidFill>
                  <a:srgbClr val="172033"/>
                </a:solidFill>
                <a:latin typeface="WenQuanYi Micro Hei"/>
              </a:rPr>
              <a:t>5｜プロダクト・ライフサイクル（PLC）
です。製品は「導入期→成長期→成熟期→衰退期」の4段階をたどり、各段階で有…</a:t>
            </a:r>
          </a:p>
        </p:txBody>
      </p:sp>
      <p:sp>
        <p:nvSpPr>
          <p:cNvPr id="17" name="Rounded Rectangle 16"/>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しいガジェットが発売直後（導入期）はアーリー・アダプター層に的を絞った訴求を行い、市場が拡大するにつれ（成長期）大量生産・販路拡大を進め、競合が増えて差別化が難しくなる時期（成熟期）にはブランドの独自性を強…</a:t>
            </a:r>
          </a:p>
        </p:txBody>
      </p:sp>
      <p:sp>
        <p:nvSpPr>
          <p:cNvPr id="18" name="Rounded Rectangle 17"/>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19" name="Rectangle 18"/>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1" name="TextBox 20"/>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C-37</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ブランディング</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502920"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ブランド・エクイティ</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とは、ブランドが持つ資産的な価値のことです。同じ機能の商品でも、ブランド力があれば高い価格でも選ばれたり、リピート購入され…</a:t>
            </a:r>
          </a:p>
        </p:txBody>
      </p:sp>
      <p:sp>
        <p:nvSpPr>
          <p:cNvPr id="10" name="Rounded Rectangle 9"/>
          <p:cNvSpPr/>
          <p:nvPr/>
        </p:nvSpPr>
        <p:spPr>
          <a:xfrm>
            <a:off x="6204203"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同じ機能の商品でも、ブランド力があれば高い価格で…</a:t>
            </a:r>
          </a:p>
        </p:txBody>
      </p:sp>
      <p:sp>
        <p:nvSpPr>
          <p:cNvPr id="13" name="Rounded Rectangle 12"/>
          <p:cNvSpPr/>
          <p:nvPr/>
        </p:nvSpPr>
        <p:spPr>
          <a:xfrm>
            <a:off x="502920" y="3145536"/>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ブランド・エクイティを構成する要素として、ブラン…</a:t>
            </a:r>
          </a:p>
        </p:txBody>
      </p:sp>
      <p:sp>
        <p:nvSpPr>
          <p:cNvPr id="16" name="Rounded Rectangle 1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具体例｜同じような機能のスニーカーでも、有名スポーツブランドのロゴが付いているだけで高い価格で売れるのは、そのブランドが持つブランド・エクイティ（ブランド価値）によるものです。</a:t>
            </a:r>
          </a:p>
        </p:txBody>
      </p:sp>
      <p:sp>
        <p:nvSpPr>
          <p:cNvPr id="17" name="Rounded Rectangle 1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18" name="Rectangle 1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0" name="TextBox 1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C-38</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消費者行動</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566928" y="1444752"/>
            <a:ext cx="3319272" cy="3063240"/>
          </a:xfrm>
          <a:prstGeom prst="roundRect">
            <a:avLst/>
          </a:prstGeom>
          <a:solidFill>
            <a:srgbClr val="FFF7ED"/>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970532"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1</a:t>
            </a:r>
          </a:p>
        </p:txBody>
      </p:sp>
      <p:sp>
        <p:nvSpPr>
          <p:cNvPr id="8" name="TextBox 7"/>
          <p:cNvSpPr txBox="1"/>
          <p:nvPr/>
        </p:nvSpPr>
        <p:spPr>
          <a:xfrm>
            <a:off x="685800" y="1810512"/>
            <a:ext cx="308152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消費者が商品を購入するまでの心…</a:t>
            </a:r>
          </a:p>
        </p:txBody>
      </p:sp>
      <p:sp>
        <p:nvSpPr>
          <p:cNvPr id="9" name="TextBox 8"/>
          <p:cNvSpPr txBox="1"/>
          <p:nvPr/>
        </p:nvSpPr>
        <p:spPr>
          <a:xfrm>
            <a:off x="713232" y="2542032"/>
            <a:ext cx="302666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
            </a:r>
          </a:p>
        </p:txBody>
      </p:sp>
      <p:sp>
        <p:nvSpPr>
          <p:cNvPr id="10" name="Chevron 9"/>
          <p:cNvSpPr/>
          <p:nvPr/>
        </p:nvSpPr>
        <p:spPr>
          <a:xfrm>
            <a:off x="3995928"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6552" y="1444752"/>
            <a:ext cx="3319272" cy="3063240"/>
          </a:xfrm>
          <a:prstGeom prst="roundRect">
            <a:avLst/>
          </a:prstGeom>
          <a:solidFill>
            <a:srgbClr val="FFFFFF"/>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20156"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2</a:t>
            </a:r>
          </a:p>
        </p:txBody>
      </p:sp>
      <p:sp>
        <p:nvSpPr>
          <p:cNvPr id="13" name="TextBox 12"/>
          <p:cNvSpPr txBox="1"/>
          <p:nvPr/>
        </p:nvSpPr>
        <p:spPr>
          <a:xfrm>
            <a:off x="4535424" y="1810512"/>
            <a:ext cx="308152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消費者の意思決定に</a:t>
            </a:r>
          </a:p>
        </p:txBody>
      </p:sp>
      <p:sp>
        <p:nvSpPr>
          <p:cNvPr id="14" name="TextBox 13"/>
          <p:cNvSpPr txBox="1"/>
          <p:nvPr/>
        </p:nvSpPr>
        <p:spPr>
          <a:xfrm>
            <a:off x="4562856" y="2542032"/>
            <a:ext cx="302666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じっくり検討する「高関与」の購買（住宅、自動車など）と、あまり深く考えない「低関与…</a:t>
            </a:r>
          </a:p>
        </p:txBody>
      </p:sp>
      <p:sp>
        <p:nvSpPr>
          <p:cNvPr id="15" name="Chevron 14"/>
          <p:cNvSpPr/>
          <p:nvPr/>
        </p:nvSpPr>
        <p:spPr>
          <a:xfrm>
            <a:off x="7845552" y="2596896"/>
            <a:ext cx="310896" cy="640080"/>
          </a:xfrm>
          <a:prstGeom prst="chevron">
            <a:avLst/>
          </a:prstGeom>
          <a:solidFill>
            <a:srgbClr val="D376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66175" y="1444752"/>
            <a:ext cx="3319272" cy="3063240"/>
          </a:xfrm>
          <a:prstGeom prst="roundRect">
            <a:avLst/>
          </a:prstGeom>
          <a:solidFill>
            <a:srgbClr val="FFF7ED"/>
          </a:solidFill>
          <a:ln w="1778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69780" y="1225296"/>
            <a:ext cx="512064" cy="512064"/>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300" b="1">
                <a:solidFill>
                  <a:srgbClr val="FFFFFF"/>
                </a:solidFill>
                <a:latin typeface="WenQuanYi Micro Hei"/>
              </a:rPr>
              <a:t>3</a:t>
            </a:r>
          </a:p>
        </p:txBody>
      </p:sp>
      <p:sp>
        <p:nvSpPr>
          <p:cNvPr id="18" name="TextBox 17"/>
          <p:cNvSpPr txBox="1"/>
          <p:nvPr/>
        </p:nvSpPr>
        <p:spPr>
          <a:xfrm>
            <a:off x="8385048" y="1810512"/>
            <a:ext cx="3081528" cy="676656"/>
          </a:xfrm>
          <a:prstGeom prst="rect">
            <a:avLst/>
          </a:prstGeom>
          <a:noFill/>
        </p:spPr>
        <p:txBody>
          <a:bodyPr wrap="square" tIns="91440" bIns="91440" anchor="ctr">
            <a:spAutoFit/>
          </a:bodyPr>
          <a:lstStyle/>
          <a:p>
            <a:pPr algn="ctr">
              <a:spcAft>
                <a:spcPts val="0"/>
              </a:spcAft>
            </a:pPr>
            <a:r>
              <a:rPr sz="1350" b="1">
                <a:solidFill>
                  <a:srgbClr val="C2410C"/>
                </a:solidFill>
                <a:latin typeface="WenQuanYi Micro Hei"/>
              </a:rPr>
              <a:t>また、消費者の認知に</a:t>
            </a:r>
          </a:p>
        </p:txBody>
      </p:sp>
      <p:sp>
        <p:nvSpPr>
          <p:cNvPr id="19" name="TextBox 18"/>
          <p:cNvSpPr txBox="1"/>
          <p:nvPr/>
        </p:nvSpPr>
        <p:spPr>
          <a:xfrm>
            <a:off x="8412480" y="2542032"/>
            <a:ext cx="3026664" cy="1554480"/>
          </a:xfrm>
          <a:prstGeom prst="rect">
            <a:avLst/>
          </a:prstGeom>
          <a:noFill/>
        </p:spPr>
        <p:txBody>
          <a:bodyPr wrap="square" tIns="91440" bIns="91440" anchor="t">
            <a:spAutoFit/>
          </a:bodyPr>
          <a:lstStyle/>
          <a:p>
            <a:pPr algn="ctr">
              <a:spcAft>
                <a:spcPts val="0"/>
              </a:spcAft>
            </a:pPr>
            <a:r>
              <a:rPr sz="1150" b="0">
                <a:solidFill>
                  <a:srgbClr val="172033"/>
                </a:solidFill>
                <a:latin typeface="WenQuanYi Micro Hei"/>
              </a:rPr>
              <a:t>外部要因（文化・社会的要因）と内部要因（個人の性格・価値観）の両方が影響します。</a:t>
            </a:r>
          </a:p>
        </p:txBody>
      </p:sp>
      <p:sp>
        <p:nvSpPr>
          <p:cNvPr id="20" name="Rounded Rectangle 19"/>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住宅の購入では、多くの情報を集めて比較検討する「高関与型」の意思決定が行われますが、コンビニでのお菓子の購入は、ほとんど検討せず習慣的に選ばれる「低関与型」の意思決定であることが多いです。</a:t>
            </a:r>
          </a:p>
        </p:txBody>
      </p:sp>
      <p:sp>
        <p:nvSpPr>
          <p:cNvPr id="21" name="Rounded Rectangle 20"/>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2" name="Rectangle 21"/>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4" name="TextBox 23"/>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C-39</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プライシング</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502920"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コストベース</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原価に一定の利益を上乗せして価格を決める</a:t>
            </a:r>
          </a:p>
        </p:txBody>
      </p:sp>
      <p:sp>
        <p:nvSpPr>
          <p:cNvPr id="10" name="Rounded Rectangle 9"/>
          <p:cNvSpPr/>
          <p:nvPr/>
        </p:nvSpPr>
        <p:spPr>
          <a:xfrm>
            <a:off x="4303776"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需要ベース</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顧客が「これくらいなら払ってもよい」と思う金額を基準に価格を決める</a:t>
            </a:r>
          </a:p>
        </p:txBody>
      </p:sp>
      <p:sp>
        <p:nvSpPr>
          <p:cNvPr id="14" name="Rounded Rectangle 13"/>
          <p:cNvSpPr/>
          <p:nvPr/>
        </p:nvSpPr>
        <p:spPr>
          <a:xfrm>
            <a:off x="8104632"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競争ベース</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競合の価格を基準に価格を決める</a:t>
            </a:r>
          </a:p>
        </p:txBody>
      </p:sp>
      <p:sp>
        <p:nvSpPr>
          <p:cNvPr id="18" name="Rounded Rectangle 17"/>
          <p:cNvSpPr/>
          <p:nvPr/>
        </p:nvSpPr>
        <p:spPr>
          <a:xfrm>
            <a:off x="502920"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端数価格</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（実際以上に安く感じさせる効果）などもよく出題されます。</a:t>
            </a:r>
          </a:p>
        </p:txBody>
      </p:sp>
      <p:sp>
        <p:nvSpPr>
          <p:cNvPr id="22" name="Rounded Rectangle 21"/>
          <p:cNvSpPr/>
          <p:nvPr/>
        </p:nvSpPr>
        <p:spPr>
          <a:xfrm>
            <a:off x="4303776"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価格の決め方（プライシング）に</a:t>
            </a:r>
          </a:p>
        </p:txBody>
      </p:sp>
      <p:sp>
        <p:nvSpPr>
          <p:cNvPr id="25" name="TextBox 24"/>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複数のアプローチがあります。</a:t>
            </a:r>
          </a:p>
        </p:txBody>
      </p:sp>
      <p:sp>
        <p:nvSpPr>
          <p:cNvPr id="26" name="Rounded Rectangle 25"/>
          <p:cNvSpPr/>
          <p:nvPr/>
        </p:nvSpPr>
        <p:spPr>
          <a:xfrm>
            <a:off x="8104632"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4632"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05800"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心理的な価格設定の工夫として、「1,000円」で…</a:t>
            </a:r>
          </a:p>
        </p:txBody>
      </p:sp>
      <p:sp>
        <p:nvSpPr>
          <p:cNvPr id="29" name="Rounded Rectangle 28"/>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高級ブランド品は、原価をベースにするのではなく「顧客がブランド価値に対してどれだけ払う意思があるか」（需要ベース）で価格が決められることが多く、あえて高価格を維持することでブランドイメージを守っています。</a:t>
            </a:r>
          </a:p>
        </p:txBody>
      </p:sp>
      <p:sp>
        <p:nvSpPr>
          <p:cNvPr id="30" name="Rounded Rectangle 29"/>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31" name="Rectangle 30"/>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33" name="TextBox 32"/>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C-40</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コミュニケーション</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502920"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マスメディア</a:t>
            </a:r>
          </a:p>
        </p:txBody>
      </p:sp>
      <p:sp>
        <p:nvSpPr>
          <p:cNvPr id="9" name="TextBox 8"/>
          <p:cNvSpPr txBox="1"/>
          <p:nvPr/>
        </p:nvSpPr>
        <p:spPr>
          <a:xfrm>
            <a:off x="704088" y="1444752"/>
            <a:ext cx="5180076"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を使った広告と、チラシ・ノベルティなどのSP（セールス・プロモーション）メディアがあります。広告の効果測定（どれだけ見られ…</a:t>
            </a:r>
          </a:p>
        </p:txBody>
      </p:sp>
      <p:sp>
        <p:nvSpPr>
          <p:cNvPr id="10" name="Rounded Rectangle 9"/>
          <p:cNvSpPr/>
          <p:nvPr/>
        </p:nvSpPr>
        <p:spPr>
          <a:xfrm>
            <a:off x="6204203" y="1024128"/>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4203"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5371" y="1115568"/>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企業が消費者に情報を伝える「コミュニケーション」…</a:t>
            </a:r>
          </a:p>
        </p:txBody>
      </p:sp>
      <p:sp>
        <p:nvSpPr>
          <p:cNvPr id="13" name="Rounded Rectangle 12"/>
          <p:cNvSpPr/>
          <p:nvPr/>
        </p:nvSpPr>
        <p:spPr>
          <a:xfrm>
            <a:off x="502920" y="3145536"/>
            <a:ext cx="5500116"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236976"/>
            <a:ext cx="5180076"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広告の効果測定（どれだけ見られたか、どれだけ購買…</a:t>
            </a:r>
          </a:p>
        </p:txBody>
      </p:sp>
      <p:sp>
        <p:nvSpPr>
          <p:cNvPr id="16" name="Rounded Rectangle 15"/>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具体例｜新商品のテレビCM（マスメディア広告）で認知を広げつつ、店頭でのポップやサンプリング（SPメディア）で最後の後押しをする、という組み合わせが一般的なコミュニケーション戦略です。</a:t>
            </a:r>
          </a:p>
        </p:txBody>
      </p:sp>
      <p:sp>
        <p:nvSpPr>
          <p:cNvPr id="17" name="Rounded Rectangle 16"/>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18" name="Rectangle 17"/>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0" name="TextBox 19"/>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C-41</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プロモーション</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502920"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人的販売</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営業担当者が直接顧客に働きかける（高額商品・法人営業で重要）</a:t>
            </a:r>
          </a:p>
        </p:txBody>
      </p:sp>
      <p:sp>
        <p:nvSpPr>
          <p:cNvPr id="10" name="Rounded Rectangle 9"/>
          <p:cNvSpPr/>
          <p:nvPr/>
        </p:nvSpPr>
        <p:spPr>
          <a:xfrm>
            <a:off x="4303776"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販売促進（セールスプロモーション）</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値引き、クーポン、サンプリングなど、短期的に購買を促す施策</a:t>
            </a:r>
          </a:p>
        </p:txBody>
      </p:sp>
      <p:sp>
        <p:nvSpPr>
          <p:cNvPr id="14" name="Rounded Rectangle 13"/>
          <p:cNvSpPr/>
          <p:nvPr/>
        </p:nvSpPr>
        <p:spPr>
          <a:xfrm>
            <a:off x="8104632"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PR（パブリック・リレーションズ）</a:t>
            </a:r>
          </a:p>
        </p:txBody>
      </p:sp>
      <p:sp>
        <p:nvSpPr>
          <p:cNvPr id="17" name="TextBox 16"/>
          <p:cNvSpPr txBox="1"/>
          <p:nvPr/>
        </p:nvSpPr>
        <p:spPr>
          <a:xfrm>
            <a:off x="8305800"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報道機関への情報提供などを通じて、間接的に自社の評判を高める活動（広告と違い、掲載の可否や内容を自社でコントロールできない）</a:t>
            </a:r>
          </a:p>
        </p:txBody>
      </p:sp>
      <p:sp>
        <p:nvSpPr>
          <p:cNvPr id="18" name="Rounded Rectangle 17"/>
          <p:cNvSpPr/>
          <p:nvPr/>
        </p:nvSpPr>
        <p:spPr>
          <a:xfrm>
            <a:off x="502920"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プロモーションに</a:t>
            </a:r>
          </a:p>
        </p:txBody>
      </p:sp>
      <p:sp>
        <p:nvSpPr>
          <p:cNvPr id="21" name="TextBox 20"/>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複数の手法があります。</a:t>
            </a:r>
          </a:p>
        </p:txBody>
      </p:sp>
      <p:sp>
        <p:nvSpPr>
          <p:cNvPr id="22" name="Rounded Rectangle 21"/>
          <p:cNvSpPr/>
          <p:nvPr/>
        </p:nvSpPr>
        <p:spPr>
          <a:xfrm>
            <a:off x="4303776"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03776"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また、企業が消費者に直接働きかける「プル戦略」（…</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具体例｜大手メーカーがテレビCMで消費者の関心を高め、消費者が店頭でその商品を探すようになるのはプル戦略、逆にメーカーの営業担当が小売店を回って陳列棚を確保してもらうのはプッシュ戦略です。</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 y="256032"/>
            <a:ext cx="868680" cy="365760"/>
          </a:xfrm>
          <a:prstGeom prst="roundRect">
            <a:avLst/>
          </a:prstGeom>
          <a:solidFill>
            <a:srgbClr val="C2410C"/>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00" b="1">
                <a:solidFill>
                  <a:srgbClr val="FFFFFF"/>
                </a:solidFill>
                <a:latin typeface="WenQuanYi Micro Hei"/>
              </a:rPr>
              <a:t>C-42</a:t>
            </a:r>
          </a:p>
        </p:txBody>
      </p:sp>
      <p:sp>
        <p:nvSpPr>
          <p:cNvPr id="4" name="TextBox 3"/>
          <p:cNvSpPr txBox="1"/>
          <p:nvPr/>
        </p:nvSpPr>
        <p:spPr>
          <a:xfrm>
            <a:off x="1444752" y="228600"/>
            <a:ext cx="10012680" cy="438912"/>
          </a:xfrm>
          <a:prstGeom prst="rect">
            <a:avLst/>
          </a:prstGeom>
          <a:noFill/>
        </p:spPr>
        <p:txBody>
          <a:bodyPr wrap="square" tIns="91440" bIns="91440" anchor="ctr">
            <a:spAutoFit/>
          </a:bodyPr>
          <a:lstStyle/>
          <a:p>
            <a:pPr algn="l">
              <a:spcAft>
                <a:spcPts val="0"/>
              </a:spcAft>
            </a:pPr>
            <a:r>
              <a:rPr sz="2300" b="1">
                <a:solidFill>
                  <a:srgbClr val="172033"/>
                </a:solidFill>
                <a:latin typeface="WenQuanYi Micro Hei"/>
              </a:rPr>
              <a:t>流通チャネル</a:t>
            </a:r>
          </a:p>
        </p:txBody>
      </p:sp>
      <p:sp>
        <p:nvSpPr>
          <p:cNvPr id="5" name="TextBox 4"/>
          <p:cNvSpPr txBox="1"/>
          <p:nvPr/>
        </p:nvSpPr>
        <p:spPr>
          <a:xfrm>
            <a:off x="9372600" y="667512"/>
            <a:ext cx="2148840" cy="219456"/>
          </a:xfrm>
          <a:prstGeom prst="rect">
            <a:avLst/>
          </a:prstGeom>
          <a:noFill/>
        </p:spPr>
        <p:txBody>
          <a:bodyPr wrap="square" tIns="91440" bIns="91440" anchor="ctr">
            <a:spAutoFit/>
          </a:bodyPr>
          <a:lstStyle/>
          <a:p>
            <a:pPr algn="r">
              <a:spcAft>
                <a:spcPts val="0"/>
              </a:spcAft>
            </a:pPr>
            <a:r>
              <a:rPr sz="950" b="1">
                <a:solidFill>
                  <a:srgbClr val="C2410C"/>
                </a:solidFill>
                <a:latin typeface="WenQuanYi Micro Hei"/>
              </a:rPr>
              <a:t>マーケティング論（C-30〜C-42）</a:t>
            </a:r>
          </a:p>
        </p:txBody>
      </p:sp>
      <p:sp>
        <p:nvSpPr>
          <p:cNvPr id="6" name="Rounded Rectangle 5"/>
          <p:cNvSpPr/>
          <p:nvPr/>
        </p:nvSpPr>
        <p:spPr>
          <a:xfrm>
            <a:off x="502920"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流通チャネル</a:t>
            </a:r>
          </a:p>
        </p:txBody>
      </p:sp>
      <p:sp>
        <p:nvSpPr>
          <p:cNvPr id="9" name="TextBox 8"/>
          <p:cNvSpPr txBox="1"/>
          <p:nvPr/>
        </p:nvSpPr>
        <p:spPr>
          <a:xfrm>
            <a:off x="704088"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と呼びます。チャネルの選び方には、多くの店舗に幅広く置いてもらう「開放的チャネル」、一定の基準を満たす店舗にのみ置く「選択…</a:t>
            </a:r>
          </a:p>
        </p:txBody>
      </p:sp>
      <p:sp>
        <p:nvSpPr>
          <p:cNvPr id="10" name="Rounded Rectangle 9"/>
          <p:cNvSpPr/>
          <p:nvPr/>
        </p:nvSpPr>
        <p:spPr>
          <a:xfrm>
            <a:off x="4303776"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3776"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4944"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オムニチャネル</a:t>
            </a:r>
          </a:p>
        </p:txBody>
      </p:sp>
      <p:sp>
        <p:nvSpPr>
          <p:cNvPr id="13" name="TextBox 12"/>
          <p:cNvSpPr txBox="1"/>
          <p:nvPr/>
        </p:nvSpPr>
        <p:spPr>
          <a:xfrm>
            <a:off x="4504944" y="1444752"/>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、オンラインでの行動をオフライン（実店舗）の購買に結びつけるO2O（Online to Offline）、オンラインとオフ…</a:t>
            </a:r>
          </a:p>
        </p:txBody>
      </p:sp>
      <p:sp>
        <p:nvSpPr>
          <p:cNvPr id="14" name="Rounded Rectangle 13"/>
          <p:cNvSpPr/>
          <p:nvPr/>
        </p:nvSpPr>
        <p:spPr>
          <a:xfrm>
            <a:off x="8104632" y="1024128"/>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4632" y="1024128"/>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5800" y="1115568"/>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商品が生産者から消費者に届くまでの経路を流通チャ…</a:t>
            </a:r>
          </a:p>
        </p:txBody>
      </p:sp>
      <p:sp>
        <p:nvSpPr>
          <p:cNvPr id="17" name="Rounded Rectangle 16"/>
          <p:cNvSpPr/>
          <p:nvPr/>
        </p:nvSpPr>
        <p:spPr>
          <a:xfrm>
            <a:off x="502920"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チャネルの選び方に</a:t>
            </a:r>
          </a:p>
        </p:txBody>
      </p:sp>
      <p:sp>
        <p:nvSpPr>
          <p:cNvPr id="20" name="TextBox 19"/>
          <p:cNvSpPr txBox="1"/>
          <p:nvPr/>
        </p:nvSpPr>
        <p:spPr>
          <a:xfrm>
            <a:off x="704088"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多くの店舗に幅広く置いてもらう「開放的チャネル」、一定の基準を満たす店舗にのみ置く「選択的チャネル」、特定の1社にのみ…</a:t>
            </a:r>
          </a:p>
        </p:txBody>
      </p:sp>
      <p:sp>
        <p:nvSpPr>
          <p:cNvPr id="21" name="Rounded Rectangle 20"/>
          <p:cNvSpPr/>
          <p:nvPr/>
        </p:nvSpPr>
        <p:spPr>
          <a:xfrm>
            <a:off x="4303776" y="3145536"/>
            <a:ext cx="3599688" cy="1920240"/>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03776" y="3145536"/>
            <a:ext cx="73152" cy="19202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04944" y="3236976"/>
            <a:ext cx="3279648"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近年</a:t>
            </a:r>
          </a:p>
        </p:txBody>
      </p:sp>
      <p:sp>
        <p:nvSpPr>
          <p:cNvPr id="24" name="TextBox 23"/>
          <p:cNvSpPr txBox="1"/>
          <p:nvPr/>
        </p:nvSpPr>
        <p:spPr>
          <a:xfrm>
            <a:off x="4504944" y="3566160"/>
            <a:ext cx="3279648" cy="1417320"/>
          </a:xfrm>
          <a:prstGeom prst="rect">
            <a:avLst/>
          </a:prstGeom>
          <a:noFill/>
        </p:spPr>
        <p:txBody>
          <a:bodyPr wrap="square" tIns="91440" bIns="91440" anchor="t">
            <a:spAutoFit/>
          </a:bodyPr>
          <a:lstStyle/>
          <a:p>
            <a:pPr algn="l">
              <a:spcAft>
                <a:spcPts val="0"/>
              </a:spcAft>
            </a:pPr>
            <a:r>
              <a:rPr sz="1250" b="0">
                <a:solidFill>
                  <a:srgbClr val="172033"/>
                </a:solidFill>
                <a:latin typeface="WenQuanYi Micro Hei"/>
              </a:rPr>
              <a:t>実店舗とネット通販の垣根をなくし、顧客がどちらでも同じようにスムーズに買い物できるようにするオムニチャネル、オンライン…</a:t>
            </a:r>
          </a:p>
        </p:txBody>
      </p:sp>
      <p:sp>
        <p:nvSpPr>
          <p:cNvPr id="25" name="Rounded Rectangle 24"/>
          <p:cNvSpPr/>
          <p:nvPr/>
        </p:nvSpPr>
        <p:spPr>
          <a:xfrm>
            <a:off x="502920" y="5330952"/>
            <a:ext cx="5513832" cy="978408"/>
          </a:xfrm>
          <a:prstGeom prst="roundRect">
            <a:avLst/>
          </a:prstGeom>
          <a:solidFill>
            <a:srgbClr val="EFF8FF"/>
          </a:solidFill>
          <a:ln w="12700">
            <a:solidFill>
              <a:srgbClr val="97B6E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175CD3"/>
                </a:solidFill>
                <a:latin typeface="WenQuanYi Micro Hei"/>
              </a:rPr>
              <a:t>具体例｜コンビニのような日用品は「開放的チャネル」（できるだけ多くの店に置く）、高級化粧品は「選択的チャネル」（百貨店やブランド専門店に限定）で販売されることが多いです。また、ネットで注文して店舗で受け取れるサービス…</a:t>
            </a:r>
          </a:p>
        </p:txBody>
      </p:sp>
      <p:sp>
        <p:nvSpPr>
          <p:cNvPr id="26" name="Rounded Rectangle 25"/>
          <p:cNvSpPr/>
          <p:nvPr/>
        </p:nvSpPr>
        <p:spPr>
          <a:xfrm>
            <a:off x="6172200" y="5330952"/>
            <a:ext cx="5513832" cy="978408"/>
          </a:xfrm>
          <a:prstGeom prst="roundRect">
            <a:avLst/>
          </a:prstGeom>
          <a:solidFill>
            <a:srgbClr val="FEF3F2"/>
          </a:solidFill>
          <a:ln w="12700">
            <a:solidFill>
              <a:srgbClr val="DD9C97"/>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spcAft>
                <a:spcPts val="0"/>
              </a:spcAft>
            </a:pPr>
            <a:r>
              <a:rPr sz="1250" b="0">
                <a:solidFill>
                  <a:srgbClr val="B42318"/>
                </a:solidFill>
                <a:latin typeface="WenQuanYi Micro Hei"/>
              </a:rPr>
              <a:t>注意｜用語の定義・適用条件を教科書本文で確認する</a:t>
            </a:r>
          </a:p>
        </p:txBody>
      </p:sp>
      <p:sp>
        <p:nvSpPr>
          <p:cNvPr id="27" name="Rectangle 26"/>
          <p:cNvSpPr/>
          <p:nvPr/>
        </p:nvSpPr>
        <p:spPr>
          <a:xfrm>
            <a:off x="411480" y="6537960"/>
            <a:ext cx="11384280" cy="9144"/>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6565392"/>
            <a:ext cx="9875520" cy="182880"/>
          </a:xfrm>
          <a:prstGeom prst="rect">
            <a:avLst/>
          </a:prstGeom>
          <a:noFill/>
        </p:spPr>
        <p:txBody>
          <a:bodyPr wrap="square" tIns="91440" bIns="91440" anchor="ctr">
            <a:spAutoFit/>
          </a:bodyPr>
          <a:lstStyle/>
          <a:p>
            <a:pPr algn="l">
              <a:spcAft>
                <a:spcPts val="0"/>
              </a:spcAft>
            </a:pPr>
            <a:r>
              <a:rPr sz="850" b="0">
                <a:solidFill>
                  <a:srgbClr val="667085"/>
                </a:solidFill>
                <a:latin typeface="WenQuanYi Micro Hei"/>
              </a:rPr>
              <a:t>出典: docs/textbook/C_business_administration_textbook.md</a:t>
            </a:r>
          </a:p>
        </p:txBody>
      </p:sp>
      <p:sp>
        <p:nvSpPr>
          <p:cNvPr id="29" name="TextBox 28"/>
          <p:cNvSpPr txBox="1"/>
          <p:nvPr/>
        </p:nvSpPr>
        <p:spPr>
          <a:xfrm>
            <a:off x="10744200" y="6547104"/>
            <a:ext cx="822960" cy="201168"/>
          </a:xfrm>
          <a:prstGeom prst="rect">
            <a:avLst/>
          </a:prstGeom>
          <a:noFill/>
        </p:spPr>
        <p:txBody>
          <a:bodyPr wrap="square" tIns="91440" bIns="91440" anchor="ctr">
            <a:spAutoFit/>
          </a:bodyPr>
          <a:lstStyle/>
          <a:p>
            <a:pPr algn="r">
              <a:spcAft>
                <a:spcPts val="0"/>
              </a:spcAft>
            </a:pPr>
            <a:r>
              <a:rPr sz="900" b="1">
                <a:solidFill>
                  <a:srgbClr val="C2410C"/>
                </a:solidFill>
                <a:latin typeface="WenQuanYi Micro He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0972800" cy="502920"/>
          </a:xfrm>
          <a:prstGeom prst="rect">
            <a:avLst/>
          </a:prstGeom>
          <a:noFill/>
        </p:spPr>
        <p:txBody>
          <a:bodyPr wrap="square" tIns="91440" bIns="91440" anchor="ctr">
            <a:spAutoFit/>
          </a:bodyPr>
          <a:lstStyle/>
          <a:p>
            <a:pPr algn="l">
              <a:spcAft>
                <a:spcPts val="0"/>
              </a:spcAft>
            </a:pPr>
            <a:r>
              <a:rPr sz="2700" b="1">
                <a:solidFill>
                  <a:srgbClr val="172033"/>
                </a:solidFill>
                <a:latin typeface="WenQuanYi Micro Hei"/>
              </a:rPr>
              <a:t>企業経営理論｜学習のまとめ</a:t>
            </a:r>
          </a:p>
        </p:txBody>
      </p:sp>
      <p:sp>
        <p:nvSpPr>
          <p:cNvPr id="4" name="Oval 3"/>
          <p:cNvSpPr/>
          <p:nvPr/>
        </p:nvSpPr>
        <p:spPr>
          <a:xfrm>
            <a:off x="4892040" y="2304288"/>
            <a:ext cx="2395728" cy="1417320"/>
          </a:xfrm>
          <a:prstGeom prst="ellipse">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0"/>
              </a:spcAft>
            </a:pPr>
            <a:r>
              <a:rPr sz="1700" b="1">
                <a:solidFill>
                  <a:srgbClr val="FFFFFF"/>
                </a:solidFill>
                <a:latin typeface="WenQuanYi Micro Hei"/>
              </a:rPr>
              <a:t>循環して
改善・定着</a:t>
            </a:r>
          </a:p>
        </p:txBody>
      </p:sp>
      <p:sp>
        <p:nvSpPr>
          <p:cNvPr id="5" name="Rounded Rectangle 4"/>
          <p:cNvSpPr/>
          <p:nvPr/>
        </p:nvSpPr>
        <p:spPr>
          <a:xfrm>
            <a:off x="4526280" y="105156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26280" y="105156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27448" y="114300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この教科書で全体像・用語の意味を理解する</a:t>
            </a:r>
          </a:p>
        </p:txBody>
      </p:sp>
      <p:cxnSp>
        <p:nvCxnSpPr>
          <p:cNvPr id="8" name="Connector 7"/>
          <p:cNvCxnSpPr/>
          <p:nvPr/>
        </p:nvCxnSpPr>
        <p:spPr>
          <a:xfrm>
            <a:off x="5980176" y="1563624"/>
            <a:ext cx="3447288" cy="123444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73568" y="228600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73568" y="228600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74736" y="237744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problem_sets/1st_stage/e…</a:t>
            </a:r>
          </a:p>
        </p:txBody>
      </p:sp>
      <p:cxnSp>
        <p:nvCxnSpPr>
          <p:cNvPr id="12" name="Connector 11"/>
          <p:cNvCxnSpPr/>
          <p:nvPr/>
        </p:nvCxnSpPr>
        <p:spPr>
          <a:xfrm flipH="1">
            <a:off x="5980176" y="2798064"/>
            <a:ext cx="3447288" cy="150876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26280" y="379476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80" y="379476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388620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problem_sets/1st_stage/C…</a:t>
            </a:r>
          </a:p>
        </p:txBody>
      </p:sp>
      <p:cxnSp>
        <p:nvCxnSpPr>
          <p:cNvPr id="16" name="Connector 15"/>
          <p:cNvCxnSpPr/>
          <p:nvPr/>
        </p:nvCxnSpPr>
        <p:spPr>
          <a:xfrm flipH="1" flipV="1">
            <a:off x="2532888" y="2798064"/>
            <a:ext cx="3447288" cy="150876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78992" y="2286000"/>
            <a:ext cx="2907792" cy="1024128"/>
          </a:xfrm>
          <a:prstGeom prst="roundRect">
            <a:avLst/>
          </a:prstGeom>
          <a:solidFill>
            <a:srgbClr val="FFFFFF"/>
          </a:solidFill>
          <a:ln w="15240">
            <a:solidFill>
              <a:srgbClr val="E4AA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78992" y="2286000"/>
            <a:ext cx="73152" cy="10241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2377440"/>
            <a:ext cx="2587752" cy="310896"/>
          </a:xfrm>
          <a:prstGeom prst="rect">
            <a:avLst/>
          </a:prstGeom>
          <a:noFill/>
        </p:spPr>
        <p:txBody>
          <a:bodyPr wrap="square" tIns="91440" bIns="91440" anchor="t">
            <a:spAutoFit/>
          </a:bodyPr>
          <a:lstStyle/>
          <a:p>
            <a:pPr algn="l">
              <a:spcAft>
                <a:spcPts val="0"/>
              </a:spcAft>
            </a:pPr>
            <a:r>
              <a:rPr sz="1500" b="1">
                <a:solidFill>
                  <a:srgbClr val="C2410C"/>
                </a:solidFill>
                <a:latin typeface="WenQuanYi Micro Hei"/>
              </a:rPr>
              <a:t>過去問本体（past_exams/1st_sta…</a:t>
            </a:r>
          </a:p>
        </p:txBody>
      </p:sp>
      <p:cxnSp>
        <p:nvCxnSpPr>
          <p:cNvPr id="20" name="Connector 19"/>
          <p:cNvCxnSpPr/>
          <p:nvPr/>
        </p:nvCxnSpPr>
        <p:spPr>
          <a:xfrm flipV="1">
            <a:off x="2532888" y="1563624"/>
            <a:ext cx="3447288" cy="1234440"/>
          </a:xfrm>
          <a:prstGeom prst="line">
            <a:avLst/>
          </a:prstGeom>
          <a:ln w="22860">
            <a:solidFill>
              <a:srgbClr val="D7846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 y="5074920"/>
            <a:ext cx="10652760" cy="969264"/>
          </a:xfrm>
          <a:prstGeom prst="round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ctr">
              <a:spcAft>
                <a:spcPts val="0"/>
              </a:spcAft>
            </a:pPr>
            <a:r>
              <a:rPr sz="1450" b="1">
                <a:solidFill>
                  <a:srgbClr val="C2410C"/>
                </a:solidFill>
                <a:latin typeface="WenQuanYi Micro Hei"/>
              </a:rPr>
              <a:t>次の一歩｜problem_sets/1st_stage/ の論点表と exercises/ の演習で、42論点を定着させる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企業経営理論 図解スライド</dc:title>
  <dc:subject>中小企業診断士 第1次試験</dc:subject>
  <dc:creator>SMEC Project</dc:creator>
  <cp:keywords>中小企業診断士, 教科書, 図解, スライド</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