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909560" y="685800"/>
            <a:ext cx="3840480" cy="3840480"/>
          </a:xfrm>
          <a:prstGeom prst="ellipse">
            <a:avLst/>
          </a:prstGeom>
          <a:solidFill>
            <a:srgbClr val="F0FDF4"/>
          </a:solidFill>
          <a:ln w="25400">
            <a:solidFill>
              <a:srgbClr val="8AC09E"/>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5400" b="1">
                <a:solidFill>
                  <a:srgbClr val="15803D"/>
                </a:solidFill>
                <a:latin typeface="WenQuanYi Micro Hei"/>
              </a:rPr>
              <a:t>D</a:t>
            </a:r>
          </a:p>
        </p:txBody>
      </p:sp>
      <p:sp>
        <p:nvSpPr>
          <p:cNvPr id="4" name="TextBox 3"/>
          <p:cNvSpPr txBox="1"/>
          <p:nvPr/>
        </p:nvSpPr>
        <p:spPr>
          <a:xfrm>
            <a:off x="685800" y="1280160"/>
            <a:ext cx="7086600" cy="502920"/>
          </a:xfrm>
          <a:prstGeom prst="rect">
            <a:avLst/>
          </a:prstGeom>
          <a:noFill/>
        </p:spPr>
        <p:txBody>
          <a:bodyPr wrap="square" tIns="91440" bIns="91440" anchor="ctr">
            <a:spAutoFit/>
          </a:bodyPr>
          <a:lstStyle/>
          <a:p>
            <a:pPr algn="l">
              <a:spcAft>
                <a:spcPts val="0"/>
              </a:spcAft>
            </a:pPr>
            <a:r>
              <a:rPr sz="1700" b="1">
                <a:solidFill>
                  <a:srgbClr val="15803D"/>
                </a:solidFill>
                <a:latin typeface="WenQuanYi Micro Hei"/>
              </a:rPr>
              <a:t>中小企業診断士 第1次試験</a:t>
            </a:r>
          </a:p>
        </p:txBody>
      </p:sp>
      <p:sp>
        <p:nvSpPr>
          <p:cNvPr id="5" name="TextBox 4"/>
          <p:cNvSpPr txBox="1"/>
          <p:nvPr/>
        </p:nvSpPr>
        <p:spPr>
          <a:xfrm>
            <a:off x="658368" y="1874519"/>
            <a:ext cx="7406640" cy="1234440"/>
          </a:xfrm>
          <a:prstGeom prst="rect">
            <a:avLst/>
          </a:prstGeom>
          <a:noFill/>
        </p:spPr>
        <p:txBody>
          <a:bodyPr wrap="square" tIns="91440" bIns="91440" anchor="t">
            <a:spAutoFit/>
          </a:bodyPr>
          <a:lstStyle/>
          <a:p>
            <a:pPr algn="l">
              <a:spcAft>
                <a:spcPts val="0"/>
              </a:spcAft>
            </a:pPr>
            <a:r>
              <a:rPr sz="3600" b="1">
                <a:solidFill>
                  <a:srgbClr val="172033"/>
                </a:solidFill>
                <a:latin typeface="WenQuanYi Micro Hei"/>
              </a:rPr>
              <a:t>運営管理</a:t>
            </a:r>
          </a:p>
        </p:txBody>
      </p:sp>
      <p:sp>
        <p:nvSpPr>
          <p:cNvPr id="6" name="TextBox 5"/>
          <p:cNvSpPr txBox="1"/>
          <p:nvPr/>
        </p:nvSpPr>
        <p:spPr>
          <a:xfrm>
            <a:off x="685800" y="3337560"/>
            <a:ext cx="6766560" cy="640080"/>
          </a:xfrm>
          <a:prstGeom prst="rect">
            <a:avLst/>
          </a:prstGeom>
          <a:noFill/>
        </p:spPr>
        <p:txBody>
          <a:bodyPr wrap="square" tIns="91440" bIns="91440" anchor="ctr">
            <a:spAutoFit/>
          </a:bodyPr>
          <a:lstStyle/>
          <a:p>
            <a:pPr algn="l">
              <a:spcAft>
                <a:spcPts val="0"/>
              </a:spcAft>
            </a:pPr>
            <a:r>
              <a:rPr sz="2000" b="0">
                <a:solidFill>
                  <a:srgbClr val="667085"/>
                </a:solidFill>
                <a:latin typeface="WenQuanYi Micro Hei"/>
              </a:rPr>
              <a:t>図解スライド｜全論点を「構造・比較・流れ」で理解する</a:t>
            </a:r>
          </a:p>
        </p:txBody>
      </p:sp>
      <p:sp>
        <p:nvSpPr>
          <p:cNvPr id="7" name="Rounded Rectangle 6"/>
          <p:cNvSpPr/>
          <p:nvPr/>
        </p:nvSpPr>
        <p:spPr>
          <a:xfrm>
            <a:off x="685800" y="4617720"/>
            <a:ext cx="3246120" cy="658368"/>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000" b="1">
                <a:solidFill>
                  <a:srgbClr val="FFFFFF"/>
                </a:solidFill>
                <a:latin typeface="WenQuanYi Micro Hei"/>
              </a:rPr>
              <a:t>35 論点</a:t>
            </a:r>
          </a:p>
        </p:txBody>
      </p:sp>
      <p:sp>
        <p:nvSpPr>
          <p:cNvPr id="8" name="Rounded Rectangle 7"/>
          <p:cNvSpPr/>
          <p:nvPr/>
        </p:nvSpPr>
        <p:spPr>
          <a:xfrm>
            <a:off x="4096512" y="4617720"/>
            <a:ext cx="3246120" cy="658368"/>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000" b="1">
                <a:solidFill>
                  <a:srgbClr val="15803D"/>
                </a:solidFill>
                <a:latin typeface="WenQuanYi Micro Hei"/>
              </a:rPr>
              <a:t>2 セクション</a:t>
            </a:r>
          </a:p>
        </p:txBody>
      </p:sp>
      <p:sp>
        <p:nvSpPr>
          <p:cNvPr id="9" name="TextBox 8"/>
          <p:cNvSpPr txBox="1"/>
          <p:nvPr/>
        </p:nvSpPr>
        <p:spPr>
          <a:xfrm>
            <a:off x="685800" y="5879592"/>
            <a:ext cx="10881360" cy="256032"/>
          </a:xfrm>
          <a:prstGeom prst="rect">
            <a:avLst/>
          </a:prstGeom>
          <a:noFill/>
        </p:spPr>
        <p:txBody>
          <a:bodyPr wrap="square" tIns="91440" bIns="91440" anchor="ctr">
            <a:spAutoFit/>
          </a:bodyPr>
          <a:lstStyle/>
          <a:p>
            <a:pPr algn="l">
              <a:spcAft>
                <a:spcPts val="0"/>
              </a:spcAft>
            </a:pPr>
            <a:r>
              <a:rPr sz="1100" b="0">
                <a:solidFill>
                  <a:srgbClr val="667085"/>
                </a:solidFill>
                <a:latin typeface="WenQuanYi Micro Hei"/>
              </a:rPr>
              <a:t>SMEC 教科書シリーズ｜教科書本文を基に自動生成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0972800" cy="502920"/>
          </a:xfrm>
          <a:prstGeom prst="rect">
            <a:avLst/>
          </a:prstGeom>
          <a:noFill/>
        </p:spPr>
        <p:txBody>
          <a:bodyPr wrap="square" tIns="91440" bIns="91440" anchor="ctr">
            <a:spAutoFit/>
          </a:bodyPr>
          <a:lstStyle/>
          <a:p>
            <a:pPr algn="l">
              <a:spcAft>
                <a:spcPts val="0"/>
              </a:spcAft>
            </a:pPr>
            <a:r>
              <a:rPr sz="2800" b="1">
                <a:solidFill>
                  <a:srgbClr val="172033"/>
                </a:solidFill>
                <a:latin typeface="WenQuanYi Micro Hei"/>
              </a:rPr>
              <a:t>このスライドの使い方</a:t>
            </a:r>
          </a:p>
        </p:txBody>
      </p:sp>
      <p:sp>
        <p:nvSpPr>
          <p:cNvPr id="4" name="Oval 3"/>
          <p:cNvSpPr/>
          <p:nvPr/>
        </p:nvSpPr>
        <p:spPr>
          <a:xfrm>
            <a:off x="1499616" y="1261872"/>
            <a:ext cx="685800" cy="685800"/>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1</a:t>
            </a:r>
          </a:p>
        </p:txBody>
      </p:sp>
      <p:sp>
        <p:nvSpPr>
          <p:cNvPr id="5" name="Rounded Rectangle 4"/>
          <p:cNvSpPr/>
          <p:nvPr/>
        </p:nvSpPr>
        <p:spPr>
          <a:xfrm>
            <a:off x="658368" y="2121408"/>
            <a:ext cx="2377440" cy="1572768"/>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2121408"/>
            <a:ext cx="73152" cy="157276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212848"/>
            <a:ext cx="205740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全体像</a:t>
            </a:r>
          </a:p>
        </p:txBody>
      </p:sp>
      <p:sp>
        <p:nvSpPr>
          <p:cNvPr id="8" name="TextBox 7"/>
          <p:cNvSpPr txBox="1"/>
          <p:nvPr/>
        </p:nvSpPr>
        <p:spPr>
          <a:xfrm>
            <a:off x="859536"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まず図の関係性を眺める</a:t>
            </a:r>
          </a:p>
        </p:txBody>
      </p:sp>
      <p:sp>
        <p:nvSpPr>
          <p:cNvPr id="9" name="Chevron 8"/>
          <p:cNvSpPr/>
          <p:nvPr/>
        </p:nvSpPr>
        <p:spPr>
          <a:xfrm>
            <a:off x="3099815" y="2615184"/>
            <a:ext cx="347472" cy="502920"/>
          </a:xfrm>
          <a:prstGeom prst="chevron">
            <a:avLst/>
          </a:prstGeom>
          <a:solidFill>
            <a:srgbClr val="5BA6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352544" y="1261872"/>
            <a:ext cx="685800" cy="685800"/>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2</a:t>
            </a:r>
          </a:p>
        </p:txBody>
      </p:sp>
      <p:sp>
        <p:nvSpPr>
          <p:cNvPr id="11" name="Rounded Rectangle 10"/>
          <p:cNvSpPr/>
          <p:nvPr/>
        </p:nvSpPr>
        <p:spPr>
          <a:xfrm>
            <a:off x="3511296" y="2121408"/>
            <a:ext cx="2377440" cy="1572768"/>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11296" y="2121408"/>
            <a:ext cx="73152" cy="157276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12463" y="2212848"/>
            <a:ext cx="205740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具体例</a:t>
            </a:r>
          </a:p>
        </p:txBody>
      </p:sp>
      <p:sp>
        <p:nvSpPr>
          <p:cNvPr id="14" name="TextBox 13"/>
          <p:cNvSpPr txBox="1"/>
          <p:nvPr/>
        </p:nvSpPr>
        <p:spPr>
          <a:xfrm>
            <a:off x="3712463"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身近な場面へ置き換える</a:t>
            </a:r>
          </a:p>
        </p:txBody>
      </p:sp>
      <p:sp>
        <p:nvSpPr>
          <p:cNvPr id="15" name="Chevron 14"/>
          <p:cNvSpPr/>
          <p:nvPr/>
        </p:nvSpPr>
        <p:spPr>
          <a:xfrm>
            <a:off x="5952744" y="2615184"/>
            <a:ext cx="347472" cy="502920"/>
          </a:xfrm>
          <a:prstGeom prst="chevron">
            <a:avLst/>
          </a:prstGeom>
          <a:solidFill>
            <a:srgbClr val="5BA6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05472" y="1261872"/>
            <a:ext cx="685800" cy="685800"/>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3</a:t>
            </a:r>
          </a:p>
        </p:txBody>
      </p:sp>
      <p:sp>
        <p:nvSpPr>
          <p:cNvPr id="17" name="Rounded Rectangle 16"/>
          <p:cNvSpPr/>
          <p:nvPr/>
        </p:nvSpPr>
        <p:spPr>
          <a:xfrm>
            <a:off x="6364224" y="2121408"/>
            <a:ext cx="2377440" cy="1572768"/>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64224" y="2121408"/>
            <a:ext cx="73152" cy="157276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2212848"/>
            <a:ext cx="205740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注意</a:t>
            </a:r>
          </a:p>
        </p:txBody>
      </p:sp>
      <p:sp>
        <p:nvSpPr>
          <p:cNvPr id="20" name="TextBox 19"/>
          <p:cNvSpPr txBox="1"/>
          <p:nvPr/>
        </p:nvSpPr>
        <p:spPr>
          <a:xfrm>
            <a:off x="6565392"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誤答パターンを見分ける</a:t>
            </a:r>
          </a:p>
        </p:txBody>
      </p:sp>
      <p:sp>
        <p:nvSpPr>
          <p:cNvPr id="21" name="Chevron 20"/>
          <p:cNvSpPr/>
          <p:nvPr/>
        </p:nvSpPr>
        <p:spPr>
          <a:xfrm>
            <a:off x="8805672" y="2615184"/>
            <a:ext cx="347472" cy="502920"/>
          </a:xfrm>
          <a:prstGeom prst="chevron">
            <a:avLst/>
          </a:prstGeom>
          <a:solidFill>
            <a:srgbClr val="5BA6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58400" y="1261872"/>
            <a:ext cx="685800" cy="685800"/>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4</a:t>
            </a:r>
          </a:p>
        </p:txBody>
      </p:sp>
      <p:sp>
        <p:nvSpPr>
          <p:cNvPr id="23" name="Rounded Rectangle 22"/>
          <p:cNvSpPr/>
          <p:nvPr/>
        </p:nvSpPr>
        <p:spPr>
          <a:xfrm>
            <a:off x="9217152" y="2121408"/>
            <a:ext cx="2377440" cy="1572768"/>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17152" y="2121408"/>
            <a:ext cx="73152" cy="157276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0" y="2212848"/>
            <a:ext cx="205740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演習</a:t>
            </a:r>
          </a:p>
        </p:txBody>
      </p:sp>
      <p:sp>
        <p:nvSpPr>
          <p:cNvPr id="26" name="TextBox 25"/>
          <p:cNvSpPr txBox="1"/>
          <p:nvPr/>
        </p:nvSpPr>
        <p:spPr>
          <a:xfrm>
            <a:off x="9418320"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教科書の参照先で定着させる</a:t>
            </a:r>
          </a:p>
        </p:txBody>
      </p:sp>
      <p:sp>
        <p:nvSpPr>
          <p:cNvPr id="27" name="Rounded Rectangle 26"/>
          <p:cNvSpPr/>
          <p:nvPr/>
        </p:nvSpPr>
        <p:spPr>
          <a:xfrm>
            <a:off x="685800" y="4251960"/>
            <a:ext cx="10817352" cy="1280160"/>
          </a:xfrm>
          <a:prstGeom prst="roundRect">
            <a:avLst/>
          </a:prstGeom>
          <a:solidFill>
            <a:srgbClr val="F0FDF4"/>
          </a:solidFill>
          <a:ln w="12700">
            <a:solidFill>
              <a:srgbClr val="7EB994"/>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500" b="0">
                <a:solidFill>
                  <a:srgbClr val="172033"/>
                </a:solidFill>
                <a:latin typeface="WenQuanYi Micro Hei"/>
              </a:rPr>
              <a:t>運営管理は「工場でモノをどう作るか」（生産管理）と「店舗でどう売るか」（店舗・販売管理）を扱う科目で、第1次試験の中でも計算問題（タクトタイム、ラインバランシング、EOQ、ジョンソンの規則、ライリーの法則など）と暗記事項（QC7つ道具、法律名、流通用語）の両方が出題される、応用力と暗記力の両方が必要な科目です。この教科書は problem_sets/1st…</a:t>
            </a:r>
          </a:p>
        </p:txBody>
      </p:sp>
      <p:sp>
        <p:nvSpPr>
          <p:cNvPr id="28" name="TextBox 27"/>
          <p:cNvSpPr txBox="1"/>
          <p:nvPr/>
        </p:nvSpPr>
        <p:spPr>
          <a:xfrm>
            <a:off x="713232" y="5760720"/>
            <a:ext cx="10698480" cy="320040"/>
          </a:xfrm>
          <a:prstGeom prst="rect">
            <a:avLst/>
          </a:prstGeom>
          <a:noFill/>
        </p:spPr>
        <p:txBody>
          <a:bodyPr wrap="square" tIns="91440" bIns="91440" anchor="ctr">
            <a:spAutoFit/>
          </a:bodyPr>
          <a:lstStyle/>
          <a:p>
            <a:pPr algn="ctr">
              <a:spcAft>
                <a:spcPts val="0"/>
              </a:spcAft>
            </a:pPr>
            <a:r>
              <a:rPr sz="1100" b="0">
                <a:solidFill>
                  <a:srgbClr val="B42318"/>
                </a:solidFill>
                <a:latin typeface="WenQuanYi Micro Hei"/>
              </a:rPr>
              <a:t>※ 数値・法令・制度は出題年度によって変わる場合があります。最新の公式情報も確認してください。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F0FDF4"/>
          </a:solidFill>
          <a:ln w="25400">
            <a:solidFill>
              <a:srgbClr val="7EB9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15803D"/>
                </a:solidFill>
                <a:latin typeface="WenQuanYi Micro Hei"/>
              </a:rPr>
              <a:t>SECTION 01</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生産管理</a:t>
            </a:r>
          </a:p>
        </p:txBody>
      </p:sp>
      <p:sp>
        <p:nvSpPr>
          <p:cNvPr id="6" name="Rounded Rectangle 5"/>
          <p:cNvSpPr/>
          <p:nvPr/>
        </p:nvSpPr>
        <p:spPr>
          <a:xfrm>
            <a:off x="4261104" y="3968496"/>
            <a:ext cx="3657600" cy="749808"/>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22 論点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生産管理概論（PQCDSME）</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Rounded Rectangle 5"/>
          <p:cNvSpPr/>
          <p:nvPr/>
        </p:nvSpPr>
        <p:spPr>
          <a:xfrm>
            <a:off x="731520" y="1143000"/>
            <a:ext cx="5230368" cy="162763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143000"/>
            <a:ext cx="73152" cy="162763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234440"/>
            <a:ext cx="491032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P（Productivity）</a:t>
            </a:r>
          </a:p>
        </p:txBody>
      </p:sp>
      <p:sp>
        <p:nvSpPr>
          <p:cNvPr id="9" name="TextBox 8"/>
          <p:cNvSpPr txBox="1"/>
          <p:nvPr/>
        </p:nvSpPr>
        <p:spPr>
          <a:xfrm>
            <a:off x="932688"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生産性 / 少ない人・設備・時間でどれだけ多く作れるか</a:t>
            </a:r>
          </a:p>
        </p:txBody>
      </p:sp>
      <p:sp>
        <p:nvSpPr>
          <p:cNvPr id="10" name="Oval 9"/>
          <p:cNvSpPr/>
          <p:nvPr/>
        </p:nvSpPr>
        <p:spPr>
          <a:xfrm>
            <a:off x="548640" y="1014983"/>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1</a:t>
            </a:r>
          </a:p>
        </p:txBody>
      </p:sp>
      <p:sp>
        <p:nvSpPr>
          <p:cNvPr id="11" name="Rounded Rectangle 10"/>
          <p:cNvSpPr/>
          <p:nvPr/>
        </p:nvSpPr>
        <p:spPr>
          <a:xfrm>
            <a:off x="6236208" y="1143000"/>
            <a:ext cx="5230368" cy="162763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8" y="1143000"/>
            <a:ext cx="73152" cy="162763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234440"/>
            <a:ext cx="491032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Q（Quality）</a:t>
            </a:r>
          </a:p>
        </p:txBody>
      </p:sp>
      <p:sp>
        <p:nvSpPr>
          <p:cNvPr id="14" name="TextBox 13"/>
          <p:cNvSpPr txBox="1"/>
          <p:nvPr/>
        </p:nvSpPr>
        <p:spPr>
          <a:xfrm>
            <a:off x="6437376"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品質 / 不良品を出さず、要求される品質を満たすか</a:t>
            </a:r>
          </a:p>
        </p:txBody>
      </p:sp>
      <p:sp>
        <p:nvSpPr>
          <p:cNvPr id="15" name="Oval 14"/>
          <p:cNvSpPr/>
          <p:nvPr/>
        </p:nvSpPr>
        <p:spPr>
          <a:xfrm>
            <a:off x="6053328" y="1014983"/>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2</a:t>
            </a:r>
          </a:p>
        </p:txBody>
      </p:sp>
      <p:sp>
        <p:nvSpPr>
          <p:cNvPr id="16" name="Rounded Rectangle 15"/>
          <p:cNvSpPr/>
          <p:nvPr/>
        </p:nvSpPr>
        <p:spPr>
          <a:xfrm>
            <a:off x="731520" y="3063240"/>
            <a:ext cx="5230368" cy="162763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063240"/>
            <a:ext cx="73152" cy="162763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154680"/>
            <a:ext cx="491032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C（Cost）</a:t>
            </a:r>
          </a:p>
        </p:txBody>
      </p:sp>
      <p:sp>
        <p:nvSpPr>
          <p:cNvPr id="19" name="TextBox 18"/>
          <p:cNvSpPr txBox="1"/>
          <p:nvPr/>
        </p:nvSpPr>
        <p:spPr>
          <a:xfrm>
            <a:off x="932688" y="348386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コスト / 材料費・労務費・経費をどれだけ抑えられるか</a:t>
            </a:r>
          </a:p>
        </p:txBody>
      </p:sp>
      <p:sp>
        <p:nvSpPr>
          <p:cNvPr id="20" name="Oval 19"/>
          <p:cNvSpPr/>
          <p:nvPr/>
        </p:nvSpPr>
        <p:spPr>
          <a:xfrm>
            <a:off x="548640" y="2935224"/>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3</a:t>
            </a:r>
          </a:p>
        </p:txBody>
      </p:sp>
      <p:sp>
        <p:nvSpPr>
          <p:cNvPr id="21" name="Rounded Rectangle 20"/>
          <p:cNvSpPr/>
          <p:nvPr/>
        </p:nvSpPr>
        <p:spPr>
          <a:xfrm>
            <a:off x="6236208" y="3063240"/>
            <a:ext cx="5230368" cy="162763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6208" y="3063240"/>
            <a:ext cx="73152" cy="162763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154680"/>
            <a:ext cx="491032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D（Delivery）</a:t>
            </a:r>
          </a:p>
        </p:txBody>
      </p:sp>
      <p:sp>
        <p:nvSpPr>
          <p:cNvPr id="24" name="TextBox 23"/>
          <p:cNvSpPr txBox="1"/>
          <p:nvPr/>
        </p:nvSpPr>
        <p:spPr>
          <a:xfrm>
            <a:off x="6437376" y="348386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納期 / 決められた期日までに、決められた量を届けられるか</a:t>
            </a:r>
          </a:p>
        </p:txBody>
      </p:sp>
      <p:sp>
        <p:nvSpPr>
          <p:cNvPr id="25" name="Oval 24"/>
          <p:cNvSpPr/>
          <p:nvPr/>
        </p:nvSpPr>
        <p:spPr>
          <a:xfrm>
            <a:off x="6053328" y="2935224"/>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4</a:t>
            </a:r>
          </a:p>
        </p:txBody>
      </p:sp>
      <p:sp>
        <p:nvSpPr>
          <p:cNvPr id="26" name="Rounded Rectangle 2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町工場が「今月中にどうしても納品したい」という顧客の要求（D優先）に応えるため、検査工程を簡略化して急いで生産した結果、不良品が増えて（Q低下）、結局手直しのコストがかさんだ（C悪化）、というのはPQCD…</a:t>
            </a:r>
          </a:p>
        </p:txBody>
      </p:sp>
      <p:sp>
        <p:nvSpPr>
          <p:cNvPr id="27" name="Rounded Rectangle 2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注意｜「S」は「Safety（安全）」であり、「Sales（販売）」や「在庫（Stock）」ではありません。 「E」は「Environment（環境）」であり、「Efficiency（効率）」ではありません（効率は…</a:t>
            </a:r>
          </a:p>
        </p:txBody>
      </p:sp>
      <p:sp>
        <p:nvSpPr>
          <p:cNvPr id="28" name="Rectangle 2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0" name="TextBox 2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生産システム（JIT、かんばん方式、ERP、SCM）</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Oval 5"/>
          <p:cNvSpPr/>
          <p:nvPr/>
        </p:nvSpPr>
        <p:spPr>
          <a:xfrm>
            <a:off x="4892040" y="2304288"/>
            <a:ext cx="2395728" cy="1417320"/>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700" b="1">
                <a:solidFill>
                  <a:srgbClr val="FFFFFF"/>
                </a:solidFill>
                <a:latin typeface="WenQuanYi Micro Hei"/>
              </a:rPr>
              <a:t>循環して
改善・定着</a:t>
            </a:r>
          </a:p>
        </p:txBody>
      </p:sp>
      <p:sp>
        <p:nvSpPr>
          <p:cNvPr id="7" name="Rounded Rectangle 6"/>
          <p:cNvSpPr/>
          <p:nvPr/>
        </p:nvSpPr>
        <p:spPr>
          <a:xfrm>
            <a:off x="4526280" y="1051560"/>
            <a:ext cx="2907792" cy="1024128"/>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26280" y="1051560"/>
            <a:ext cx="73152" cy="102412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7448" y="1143000"/>
            <a:ext cx="2587752"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JIT（Just In Time）</a:t>
            </a:r>
          </a:p>
        </p:txBody>
      </p:sp>
      <p:sp>
        <p:nvSpPr>
          <p:cNvPr id="10" name="TextBox 9"/>
          <p:cNvSpPr txBox="1"/>
          <p:nvPr/>
        </p:nvSpPr>
        <p:spPr>
          <a:xfrm>
            <a:off x="4727448" y="147218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は、トヨタ生産方式の柱の1つで、「必要なものを、必要なときに、必要な量だけ作る（運ぶ）」という考え方です。これにより、作り…</a:t>
            </a:r>
          </a:p>
        </p:txBody>
      </p:sp>
      <p:cxnSp>
        <p:nvCxnSpPr>
          <p:cNvPr id="11" name="Connector 10"/>
          <p:cNvCxnSpPr/>
          <p:nvPr/>
        </p:nvCxnSpPr>
        <p:spPr>
          <a:xfrm>
            <a:off x="5980176" y="1563624"/>
            <a:ext cx="3447288" cy="1234440"/>
          </a:xfrm>
          <a:prstGeom prst="line">
            <a:avLst/>
          </a:prstGeom>
          <a:ln w="22860">
            <a:solidFill>
              <a:srgbClr val="67AC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973568" y="2286000"/>
            <a:ext cx="2907792" cy="1024128"/>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73568" y="2286000"/>
            <a:ext cx="73152" cy="102412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74736" y="2377440"/>
            <a:ext cx="2587752"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かんばん方式</a:t>
            </a:r>
          </a:p>
        </p:txBody>
      </p:sp>
      <p:sp>
        <p:nvSpPr>
          <p:cNvPr id="15" name="TextBox 14"/>
          <p:cNvSpPr txBox="1"/>
          <p:nvPr/>
        </p:nvSpPr>
        <p:spPr>
          <a:xfrm>
            <a:off x="8174736" y="270662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です。かんばんとは、部品箱に付いている「何を・いくつ・いつ運ぶか」を記した札（カード）のことです。後工程（後の工程）が部品…</a:t>
            </a:r>
          </a:p>
        </p:txBody>
      </p:sp>
      <p:cxnSp>
        <p:nvCxnSpPr>
          <p:cNvPr id="16" name="Connector 15"/>
          <p:cNvCxnSpPr/>
          <p:nvPr/>
        </p:nvCxnSpPr>
        <p:spPr>
          <a:xfrm flipH="1">
            <a:off x="5980176" y="2798064"/>
            <a:ext cx="3447288" cy="1508760"/>
          </a:xfrm>
          <a:prstGeom prst="line">
            <a:avLst/>
          </a:prstGeom>
          <a:ln w="22860">
            <a:solidFill>
              <a:srgbClr val="67AC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526280" y="3794760"/>
            <a:ext cx="2907792" cy="1024128"/>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26280" y="3794760"/>
            <a:ext cx="73152" cy="102412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27448" y="3886200"/>
            <a:ext cx="2587752"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ERP（統合基幹業務システム）</a:t>
            </a:r>
          </a:p>
        </p:txBody>
      </p:sp>
      <p:sp>
        <p:nvSpPr>
          <p:cNvPr id="20" name="TextBox 19"/>
          <p:cNvSpPr txBox="1"/>
          <p:nvPr/>
        </p:nvSpPr>
        <p:spPr>
          <a:xfrm>
            <a:off x="4727448" y="421538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は、会計・人事・生産・販売など会社全体の業務データを1つのシステムで統合管理する仕組みです。SCM（サプライチェーンマネジ…</a:t>
            </a:r>
          </a:p>
        </p:txBody>
      </p:sp>
      <p:cxnSp>
        <p:nvCxnSpPr>
          <p:cNvPr id="21" name="Connector 20"/>
          <p:cNvCxnSpPr/>
          <p:nvPr/>
        </p:nvCxnSpPr>
        <p:spPr>
          <a:xfrm flipH="1" flipV="1">
            <a:off x="2532888" y="2798064"/>
            <a:ext cx="3447288" cy="1508760"/>
          </a:xfrm>
          <a:prstGeom prst="line">
            <a:avLst/>
          </a:prstGeom>
          <a:ln w="22860">
            <a:solidFill>
              <a:srgbClr val="67AC81"/>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078992" y="2286000"/>
            <a:ext cx="2907792" cy="1024128"/>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78992" y="2286000"/>
            <a:ext cx="73152" cy="102412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0160" y="2377440"/>
            <a:ext cx="2587752"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これにより、作りすぎのムダ・在庫のムダを徹底的に…</a:t>
            </a:r>
          </a:p>
        </p:txBody>
      </p:sp>
      <p:cxnSp>
        <p:nvCxnSpPr>
          <p:cNvPr id="25" name="Connector 24"/>
          <p:cNvCxnSpPr/>
          <p:nvPr/>
        </p:nvCxnSpPr>
        <p:spPr>
          <a:xfrm flipV="1">
            <a:off x="2532888" y="1563624"/>
            <a:ext cx="3447288" cy="1234440"/>
          </a:xfrm>
          <a:prstGeom prst="line">
            <a:avLst/>
          </a:prstGeom>
          <a:ln w="22860">
            <a:solidFill>
              <a:srgbClr val="67AC81"/>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自動車の組立ラインでは、シートを取り付ける工程で在庫が減ってくると、その分だけかんばんを使ってシートメーカーに「あと100個、明日の朝までに納品してください」と発注します。シートメーカーは倉庫に大量の完成品を…</a:t>
            </a:r>
          </a:p>
        </p:txBody>
      </p:sp>
      <p:sp>
        <p:nvSpPr>
          <p:cNvPr id="27" name="Rounded Rectangle 2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かんばん方式は「JITを実現するための情報伝達の手段（ツール）」であり、JITそのものではありません。「かんばん方式を導入すればJITが実現する」という短絡的な理解ではなく、かんばんはJITという考え方を回す…</a:t>
            </a:r>
          </a:p>
        </p:txBody>
      </p:sp>
      <p:sp>
        <p:nvSpPr>
          <p:cNvPr id="28" name="Rectangle 2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0" name="TextBox 2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環境配慮型生産（3R、LCA）</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Rounded Rectangle 5"/>
          <p:cNvSpPr/>
          <p:nvPr/>
        </p:nvSpPr>
        <p:spPr>
          <a:xfrm>
            <a:off x="731520" y="1143000"/>
            <a:ext cx="5230368" cy="162763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143000"/>
            <a:ext cx="73152" cy="162763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234440"/>
            <a:ext cx="491032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3R</a:t>
            </a:r>
          </a:p>
        </p:txBody>
      </p:sp>
      <p:sp>
        <p:nvSpPr>
          <p:cNvPr id="9" name="TextBox 8"/>
          <p:cNvSpPr txBox="1"/>
          <p:nvPr/>
        </p:nvSpPr>
        <p:spPr>
          <a:xfrm>
            <a:off x="932688"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です。優先順位は次の順番で考えます。</a:t>
            </a:r>
          </a:p>
        </p:txBody>
      </p:sp>
      <p:sp>
        <p:nvSpPr>
          <p:cNvPr id="10" name="Oval 9"/>
          <p:cNvSpPr/>
          <p:nvPr/>
        </p:nvSpPr>
        <p:spPr>
          <a:xfrm>
            <a:off x="548640" y="1014983"/>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1</a:t>
            </a:r>
          </a:p>
        </p:txBody>
      </p:sp>
      <p:sp>
        <p:nvSpPr>
          <p:cNvPr id="11" name="Rounded Rectangle 10"/>
          <p:cNvSpPr/>
          <p:nvPr/>
        </p:nvSpPr>
        <p:spPr>
          <a:xfrm>
            <a:off x="6236208" y="1143000"/>
            <a:ext cx="5230368" cy="162763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8" y="1143000"/>
            <a:ext cx="73152" cy="162763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234440"/>
            <a:ext cx="491032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リデュース（Reduce）</a:t>
            </a:r>
          </a:p>
        </p:txBody>
      </p:sp>
      <p:sp>
        <p:nvSpPr>
          <p:cNvPr id="14" name="TextBox 13"/>
          <p:cNvSpPr txBox="1"/>
          <p:nvPr/>
        </p:nvSpPr>
        <p:spPr>
          <a:xfrm>
            <a:off x="6437376"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そもそも廃棄物・使用資源の発生量を減らす（最優先）</a:t>
            </a:r>
          </a:p>
        </p:txBody>
      </p:sp>
      <p:sp>
        <p:nvSpPr>
          <p:cNvPr id="15" name="Oval 14"/>
          <p:cNvSpPr/>
          <p:nvPr/>
        </p:nvSpPr>
        <p:spPr>
          <a:xfrm>
            <a:off x="6053328" y="1014983"/>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2</a:t>
            </a:r>
          </a:p>
        </p:txBody>
      </p:sp>
      <p:sp>
        <p:nvSpPr>
          <p:cNvPr id="16" name="Rounded Rectangle 15"/>
          <p:cNvSpPr/>
          <p:nvPr/>
        </p:nvSpPr>
        <p:spPr>
          <a:xfrm>
            <a:off x="731520" y="3063240"/>
            <a:ext cx="5230368" cy="162763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063240"/>
            <a:ext cx="73152" cy="162763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154680"/>
            <a:ext cx="491032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リユース（Reuse）</a:t>
            </a:r>
          </a:p>
        </p:txBody>
      </p:sp>
      <p:sp>
        <p:nvSpPr>
          <p:cNvPr id="19" name="TextBox 18"/>
          <p:cNvSpPr txBox="1"/>
          <p:nvPr/>
        </p:nvSpPr>
        <p:spPr>
          <a:xfrm>
            <a:off x="932688" y="348386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使えるものはそのまま繰り返し使う</a:t>
            </a:r>
          </a:p>
        </p:txBody>
      </p:sp>
      <p:sp>
        <p:nvSpPr>
          <p:cNvPr id="20" name="Oval 19"/>
          <p:cNvSpPr/>
          <p:nvPr/>
        </p:nvSpPr>
        <p:spPr>
          <a:xfrm>
            <a:off x="548640" y="2935224"/>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3</a:t>
            </a:r>
          </a:p>
        </p:txBody>
      </p:sp>
      <p:sp>
        <p:nvSpPr>
          <p:cNvPr id="21" name="Rounded Rectangle 20"/>
          <p:cNvSpPr/>
          <p:nvPr/>
        </p:nvSpPr>
        <p:spPr>
          <a:xfrm>
            <a:off x="6236208" y="3063240"/>
            <a:ext cx="5230368" cy="162763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6208" y="3063240"/>
            <a:ext cx="73152" cy="162763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154680"/>
            <a:ext cx="491032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リサイクル（Recycle）</a:t>
            </a:r>
          </a:p>
        </p:txBody>
      </p:sp>
      <p:sp>
        <p:nvSpPr>
          <p:cNvPr id="24" name="TextBox 23"/>
          <p:cNvSpPr txBox="1"/>
          <p:nvPr/>
        </p:nvSpPr>
        <p:spPr>
          <a:xfrm>
            <a:off x="6437376" y="348386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使い終わったものを資源として再生利用する（優先順位は最後）</a:t>
            </a:r>
          </a:p>
        </p:txBody>
      </p:sp>
      <p:sp>
        <p:nvSpPr>
          <p:cNvPr id="25" name="Oval 24"/>
          <p:cNvSpPr/>
          <p:nvPr/>
        </p:nvSpPr>
        <p:spPr>
          <a:xfrm>
            <a:off x="6053328" y="2935224"/>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4</a:t>
            </a:r>
          </a:p>
        </p:txBody>
      </p:sp>
      <p:sp>
        <p:nvSpPr>
          <p:cNvPr id="26" name="Rounded Rectangle 2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飲料メーカーが「ペットボトルを薄肉化して使用する樹脂量を減らす」のはリデュース、「回収したビンを洗浄して再度飲料容器として使う」のはリユース、「使用済みペットボトルを砕いて別の製品（衣料品の繊維等）の原料…</a:t>
            </a:r>
          </a:p>
        </p:txBody>
      </p:sp>
      <p:sp>
        <p:nvSpPr>
          <p:cNvPr id="27" name="Rounded Rectangle 2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3Rの優先順位（リデュース＞リユース＞リサイクル）を逆に問う問題（「リサイクルを最優先すべき」等）に注意しましょう。また、LCAは「製造工程の環境負荷だけを測る手法」ではなく「原材料調達から廃棄までの製品の生…</a:t>
            </a:r>
          </a:p>
        </p:txBody>
      </p:sp>
      <p:sp>
        <p:nvSpPr>
          <p:cNvPr id="28" name="Rectangle 2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0" name="TextBox 2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生産計画：製品開発・製品設計（VA/VE、コンカレントエンジニアリング）</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Rounded Rectangle 5"/>
          <p:cNvSpPr/>
          <p:nvPr/>
        </p:nvSpPr>
        <p:spPr>
          <a:xfrm>
            <a:off x="566928" y="1051560"/>
            <a:ext cx="5394960" cy="420624"/>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①</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上げる / 一定 / 上がる</a:t>
            </a:r>
          </a:p>
        </p:txBody>
      </p:sp>
      <p:sp>
        <p:nvSpPr>
          <p:cNvPr id="11" name="Rounded Rectangle 10"/>
          <p:cNvSpPr/>
          <p:nvPr/>
        </p:nvSpPr>
        <p:spPr>
          <a:xfrm>
            <a:off x="566928"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②</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一定 / 下げる / 上がる</a:t>
            </a:r>
          </a:p>
        </p:txBody>
      </p:sp>
      <p:sp>
        <p:nvSpPr>
          <p:cNvPr id="15" name="Rounded Rectangle 14"/>
          <p:cNvSpPr/>
          <p:nvPr/>
        </p:nvSpPr>
        <p:spPr>
          <a:xfrm>
            <a:off x="566928" y="398678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③</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上げる / 下げる / 大きく上がる（最も理想的）</a:t>
            </a:r>
          </a:p>
        </p:txBody>
      </p:sp>
      <p:sp>
        <p:nvSpPr>
          <p:cNvPr id="19" name="Rounded Rectangle 18"/>
          <p:cNvSpPr/>
          <p:nvPr/>
        </p:nvSpPr>
        <p:spPr>
          <a:xfrm>
            <a:off x="6217920" y="1051560"/>
            <a:ext cx="5394960" cy="420624"/>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15803D"/>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④</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上げる（小さく） / 上げる（それ以上に小さく） / 上がる</a:t>
            </a:r>
          </a:p>
        </p:txBody>
      </p:sp>
      <p:sp>
        <p:nvSpPr>
          <p:cNvPr id="24" name="Rounded Rectangle 23"/>
          <p:cNvSpPr/>
          <p:nvPr/>
        </p:nvSpPr>
        <p:spPr>
          <a:xfrm>
            <a:off x="6217920"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⑤</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下げる（大きく） / 下げる（それ以上に大きく） / 上がる</a:t>
            </a:r>
          </a:p>
        </p:txBody>
      </p:sp>
      <p:sp>
        <p:nvSpPr>
          <p:cNvPr id="28" name="Rounded Rectangle 27"/>
          <p:cNvSpPr/>
          <p:nvPr/>
        </p:nvSpPr>
        <p:spPr>
          <a:xfrm>
            <a:off x="6217920" y="398678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VA（Value Analysis：価値分析）…</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は、製品やサービスの「価値」を、次の式で捉え、価値を高めるための体系的な活動です。</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家電メーカーが新型掃除機を開発する際、設計部門だけで設計を終えてから生産技術部門に渡すのではなく、企画段階から設計者・生産技術者・部品調達担当者が一緒に検討会議を行い、「この形状だと金型が高額になる」「こ…</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VA/VEの公式（V＝F/C）を使い、「機能を下げてコストを下げれば必ず価値が上がる」という誤った理解に注意しましょう。機能の低下率よりコストの低下率が大きくなければ、価値（V）は上がりません。また、コンカレ…</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生産計画：生産方式（見込生産・受注生産、個別・ロット・連続生産、セル生産）</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Rounded Rectangle 5"/>
          <p:cNvSpPr/>
          <p:nvPr/>
        </p:nvSpPr>
        <p:spPr>
          <a:xfrm>
            <a:off x="566928" y="1051560"/>
            <a:ext cx="5394960" cy="420624"/>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① 「いつ作るか」による分類</a:t>
            </a:r>
          </a:p>
        </p:txBody>
      </p:sp>
      <p:sp>
        <p:nvSpPr>
          <p:cNvPr id="10" name="Rounded Rectangle 9"/>
          <p:cNvSpPr/>
          <p:nvPr/>
        </p:nvSpPr>
        <p:spPr>
          <a:xfrm>
            <a:off x="566928"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見込生産</a:t>
            </a:r>
          </a:p>
        </p:txBody>
      </p:sp>
      <p:sp>
        <p:nvSpPr>
          <p:cNvPr id="13" name="TextBox 12"/>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需要を予測し、あらかじめ製品を作って在庫しておく方式（例：コンビニのおにぎり）。需要予測が外れると欠品や過剰在庫のリスクが…</a:t>
            </a:r>
          </a:p>
        </p:txBody>
      </p:sp>
      <p:sp>
        <p:nvSpPr>
          <p:cNvPr id="14" name="Rounded Rectangle 13"/>
          <p:cNvSpPr/>
          <p:nvPr/>
        </p:nvSpPr>
        <p:spPr>
          <a:xfrm>
            <a:off x="566928" y="398678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398678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受注生産</a:t>
            </a:r>
          </a:p>
        </p:txBody>
      </p:sp>
      <p:sp>
        <p:nvSpPr>
          <p:cNvPr id="17" name="TextBox 16"/>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顧客からの注文を受けてから生産を開始する方式（例：オーダーメイドの家具）。在庫リスクは小さいが、注文から納品までのリードタ…</a:t>
            </a:r>
          </a:p>
        </p:txBody>
      </p:sp>
      <p:sp>
        <p:nvSpPr>
          <p:cNvPr id="18" name="Rounded Rectangle 17"/>
          <p:cNvSpPr/>
          <p:nvPr/>
        </p:nvSpPr>
        <p:spPr>
          <a:xfrm>
            <a:off x="6217920" y="1051560"/>
            <a:ext cx="5394960" cy="420624"/>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15803D"/>
                </a:solidFill>
                <a:latin typeface="WenQuanYi Micro Hei"/>
              </a:rPr>
              <a:t>視点 B</a:t>
            </a:r>
          </a:p>
        </p:txBody>
      </p:sp>
      <p:sp>
        <p:nvSpPr>
          <p:cNvPr id="19" name="Rounded Rectangle 18"/>
          <p:cNvSpPr/>
          <p:nvPr/>
        </p:nvSpPr>
        <p:spPr>
          <a:xfrm>
            <a:off x="6217920"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② 「どのくらいの数量をまとめて作るか」による…</a:t>
            </a:r>
          </a:p>
        </p:txBody>
      </p:sp>
      <p:sp>
        <p:nvSpPr>
          <p:cNvPr id="22" name="Rounded Rectangle 21"/>
          <p:cNvSpPr/>
          <p:nvPr/>
        </p:nvSpPr>
        <p:spPr>
          <a:xfrm>
            <a:off x="6217920"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個別生産</a:t>
            </a:r>
          </a:p>
        </p:txBody>
      </p:sp>
      <p:sp>
        <p:nvSpPr>
          <p:cNvPr id="25" name="TextBox 24"/>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1つ、あるいは少数の注文ごとに、その都度専用の生産計画を立てて作る方式（例：造船、特注の産業機械）</a:t>
            </a:r>
          </a:p>
        </p:txBody>
      </p:sp>
      <p:sp>
        <p:nvSpPr>
          <p:cNvPr id="26" name="Rounded Rectangle 25"/>
          <p:cNvSpPr/>
          <p:nvPr/>
        </p:nvSpPr>
        <p:spPr>
          <a:xfrm>
            <a:off x="6217920" y="398678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398678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ロット生産（バッチ生産）</a:t>
            </a:r>
          </a:p>
        </p:txBody>
      </p:sp>
      <p:sp>
        <p:nvSpPr>
          <p:cNvPr id="29" name="TextBox 28"/>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ある程度まとまった数量（ロット）ごとに、段取り替えをしながら複数品種を作る方式（例：多品種を作る食品工場）</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デジタルカメラの組立てで、需要変動が大きく機種も多いパナソニックやキヤノンの一部工場では、コンベアラインを廃止し、1人の作業者が1台を最初から最後まで組み立てるセル生産方式を導入して、需要の増減に応じて必要な…</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注意｜ライン生産方式は大量生産・少品種向き、セル生産方式は多品種少量生産・需要変動対応向き、という対比を逆に覚えないようにしましょう。 セル生産方式の導入には多能工化（D-11参照）が前提条件になります。「単能工の…</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生産計画：ライン編成（ラインバランシング）</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Oval 5"/>
          <p:cNvSpPr/>
          <p:nvPr/>
        </p:nvSpPr>
        <p:spPr>
          <a:xfrm>
            <a:off x="4892040" y="2304288"/>
            <a:ext cx="2395728" cy="1417320"/>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700" b="1">
                <a:solidFill>
                  <a:srgbClr val="FFFFFF"/>
                </a:solidFill>
                <a:latin typeface="WenQuanYi Micro Hei"/>
              </a:rPr>
              <a:t>循環して
改善・定着</a:t>
            </a:r>
          </a:p>
        </p:txBody>
      </p:sp>
      <p:sp>
        <p:nvSpPr>
          <p:cNvPr id="7" name="Rounded Rectangle 6"/>
          <p:cNvSpPr/>
          <p:nvPr/>
        </p:nvSpPr>
        <p:spPr>
          <a:xfrm>
            <a:off x="4526280" y="1051560"/>
            <a:ext cx="2907792" cy="1024128"/>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26280" y="1051560"/>
            <a:ext cx="73152" cy="102412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7448" y="1143000"/>
            <a:ext cx="2587752"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タクトタイム</a:t>
            </a:r>
          </a:p>
        </p:txBody>
      </p:sp>
      <p:sp>
        <p:nvSpPr>
          <p:cNvPr id="10" name="TextBox 9"/>
          <p:cNvSpPr txBox="1"/>
          <p:nvPr/>
        </p:nvSpPr>
        <p:spPr>
          <a:xfrm>
            <a:off x="4727448" y="147218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「1個あたり何秒で生産すれば、必要な生産量を予定の稼働時間内に生産できるか」を表す目標値。</a:t>
            </a:r>
          </a:p>
        </p:txBody>
      </p:sp>
      <p:cxnSp>
        <p:nvCxnSpPr>
          <p:cNvPr id="11" name="Connector 10"/>
          <p:cNvCxnSpPr/>
          <p:nvPr/>
        </p:nvCxnSpPr>
        <p:spPr>
          <a:xfrm>
            <a:off x="5980176" y="1563624"/>
            <a:ext cx="3447288" cy="1234440"/>
          </a:xfrm>
          <a:prstGeom prst="line">
            <a:avLst/>
          </a:prstGeom>
          <a:ln w="22860">
            <a:solidFill>
              <a:srgbClr val="67AC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973568" y="2286000"/>
            <a:ext cx="2907792" cy="1024128"/>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73568" y="2286000"/>
            <a:ext cx="73152" cy="102412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74736" y="2377440"/>
            <a:ext cx="2587752"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タクトタイム＝1日（一定期間）の実稼働時間 ÷…</a:t>
            </a:r>
          </a:p>
        </p:txBody>
      </p:sp>
      <p:cxnSp>
        <p:nvCxnSpPr>
          <p:cNvPr id="15" name="Connector 14"/>
          <p:cNvCxnSpPr/>
          <p:nvPr/>
        </p:nvCxnSpPr>
        <p:spPr>
          <a:xfrm flipH="1">
            <a:off x="5980176" y="2798064"/>
            <a:ext cx="3447288" cy="1508760"/>
          </a:xfrm>
          <a:prstGeom prst="line">
            <a:avLst/>
          </a:prstGeom>
          <a:ln w="22860">
            <a:solidFill>
              <a:srgbClr val="67AC81"/>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526280" y="3794760"/>
            <a:ext cx="2907792" cy="1024128"/>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26280" y="3794760"/>
            <a:ext cx="73152" cy="102412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27448" y="3886200"/>
            <a:ext cx="2587752"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サイクルタイム</a:t>
            </a:r>
          </a:p>
        </p:txBody>
      </p:sp>
      <p:sp>
        <p:nvSpPr>
          <p:cNvPr id="19" name="TextBox 18"/>
          <p:cNvSpPr txBox="1"/>
          <p:nvPr/>
        </p:nvSpPr>
        <p:spPr>
          <a:xfrm>
            <a:off x="4727448" y="421538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実際にラインが1個の製品を作り出すのにかかる時間（実績値）。ラインの中で最も時間のかかる工程（ネック工程・ボトルネック工程…</a:t>
            </a:r>
          </a:p>
        </p:txBody>
      </p:sp>
      <p:cxnSp>
        <p:nvCxnSpPr>
          <p:cNvPr id="20" name="Connector 19"/>
          <p:cNvCxnSpPr/>
          <p:nvPr/>
        </p:nvCxnSpPr>
        <p:spPr>
          <a:xfrm flipH="1" flipV="1">
            <a:off x="2532888" y="2798064"/>
            <a:ext cx="3447288" cy="1508760"/>
          </a:xfrm>
          <a:prstGeom prst="line">
            <a:avLst/>
          </a:prstGeom>
          <a:ln w="22860">
            <a:solidFill>
              <a:srgbClr val="67AC81"/>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78992" y="2286000"/>
            <a:ext cx="2907792" cy="1024128"/>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78992" y="2286000"/>
            <a:ext cx="73152" cy="102412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80160" y="2377440"/>
            <a:ext cx="2587752"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ラインバランシング効率（編成効率）</a:t>
            </a:r>
          </a:p>
        </p:txBody>
      </p:sp>
      <p:sp>
        <p:nvSpPr>
          <p:cNvPr id="24" name="TextBox 23"/>
          <p:cNvSpPr txBox="1"/>
          <p:nvPr/>
        </p:nvSpPr>
        <p:spPr>
          <a:xfrm>
            <a:off x="1280160" y="270662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a:t>
            </a:r>
          </a:p>
        </p:txBody>
      </p:sp>
      <p:cxnSp>
        <p:nvCxnSpPr>
          <p:cNvPr id="25" name="Connector 24"/>
          <p:cNvCxnSpPr/>
          <p:nvPr/>
        </p:nvCxnSpPr>
        <p:spPr>
          <a:xfrm flipV="1">
            <a:off x="2532888" y="1563624"/>
            <a:ext cx="3447288" cy="1234440"/>
          </a:xfrm>
          <a:prstGeom prst="line">
            <a:avLst/>
          </a:prstGeom>
          <a:ln w="22860">
            <a:solidFill>
              <a:srgbClr val="67AC81"/>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具体例｜ある工場で、1種類の製品をライン生産方式で作ります。1カ月の必要生産数は2,000個、稼働日数は20日、1日の実稼働時間は7時間です。 1日あたりの必要生産数＝2,000個 ÷ 20日＝100個/日 1日の実…</a:t>
            </a:r>
          </a:p>
        </p:txBody>
      </p:sp>
      <p:sp>
        <p:nvSpPr>
          <p:cNvPr id="27" name="Rounded Rectangle 2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タクトタイム（必要生産量から逆算した目標値）と、サイクルタイム（実際にネック工程が生み出す実績値）の違いを混同しないようにしましょう。ラインバランシング効率の計算では、分母のサイクルタイムに「各工程の作業時間…</a:t>
            </a:r>
          </a:p>
        </p:txBody>
      </p:sp>
      <p:sp>
        <p:nvSpPr>
          <p:cNvPr id="28" name="Rectangle 2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0" name="TextBox 2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生産計画：需要予測（指数平滑法、移動平均法）</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Rounded Rectangle 5"/>
          <p:cNvSpPr/>
          <p:nvPr/>
        </p:nvSpPr>
        <p:spPr>
          <a:xfrm>
            <a:off x="566928"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移動平均法</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と指数平滑法があります。</a:t>
            </a:r>
          </a:p>
        </p:txBody>
      </p:sp>
      <p:sp>
        <p:nvSpPr>
          <p:cNvPr id="10" name="Chevron 9"/>
          <p:cNvSpPr/>
          <p:nvPr/>
        </p:nvSpPr>
        <p:spPr>
          <a:xfrm>
            <a:off x="2456078"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次期予測値＝直近n期間の実績値…</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15" name="Chevron 14"/>
          <p:cNvSpPr/>
          <p:nvPr/>
        </p:nvSpPr>
        <p:spPr>
          <a:xfrm>
            <a:off x="4765852"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指数平滑法</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直近の実績値ほど大きなウェイトを、古いデータほど指数関数的に小さいウェイトを与えて…</a:t>
            </a:r>
          </a:p>
        </p:txBody>
      </p:sp>
      <p:sp>
        <p:nvSpPr>
          <p:cNvPr id="20" name="Chevron 19"/>
          <p:cNvSpPr/>
          <p:nvPr/>
        </p:nvSpPr>
        <p:spPr>
          <a:xfrm>
            <a:off x="7075627"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次期予測値＝α × 当期実績値…</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（αは0〜1の間の値をとる平滑化定数）</a:t>
            </a:r>
          </a:p>
        </p:txBody>
      </p:sp>
      <p:sp>
        <p:nvSpPr>
          <p:cNvPr id="25" name="Chevron 24"/>
          <p:cNvSpPr/>
          <p:nvPr/>
        </p:nvSpPr>
        <p:spPr>
          <a:xfrm>
            <a:off x="9385401"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将来の需要を予測する代表的な手…</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具体例｜ある店舗の先月の実績需要が100個、先月時点の予測値が90個だったとします。平滑化定数α＝0.3を用いると、 次期予測値＝0.3×100＋0.7×90＝30＋63＝93個 もしα＝0.6（直近実績をより重視）…</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αが大きいほど予測が安定する」という記述は誤りです。αが大きいほど直近実績への反応が敏感になり、需要が振れやすい商品では予測値も振れやすくなります（安定性を重視するなら小さいαを選びます）。また、移動平均法…</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D-8</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生産計画：需給計画（MRP、MPS、BOM）</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Rounded Rectangle 5"/>
          <p:cNvSpPr/>
          <p:nvPr/>
        </p:nvSpPr>
        <p:spPr>
          <a:xfrm>
            <a:off x="838047" y="1024128"/>
            <a:ext cx="10515600" cy="640080"/>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1｜MRP（資材所要量計画）　です。MRPは次の3つの情報をもとに計算されます。</a:t>
            </a:r>
          </a:p>
        </p:txBody>
      </p:sp>
      <p:sp>
        <p:nvSpPr>
          <p:cNvPr id="7" name="Rounded Rectangle 6"/>
          <p:cNvSpPr/>
          <p:nvPr/>
        </p:nvSpPr>
        <p:spPr>
          <a:xfrm>
            <a:off x="1409547" y="1828800"/>
            <a:ext cx="9372600" cy="640080"/>
          </a:xfrm>
          <a:prstGeom prst="roundRect">
            <a:avLst/>
          </a:prstGeom>
          <a:solidFill>
            <a:srgbClr val="FFFFFF"/>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2｜MPS（基準生産計画）　最終製品を「いつ・いくつ作るか」を定めた大もとの計画</a:t>
            </a:r>
          </a:p>
        </p:txBody>
      </p:sp>
      <p:sp>
        <p:nvSpPr>
          <p:cNvPr id="8" name="Rounded Rectangle 7"/>
          <p:cNvSpPr/>
          <p:nvPr/>
        </p:nvSpPr>
        <p:spPr>
          <a:xfrm>
            <a:off x="1981047" y="2633472"/>
            <a:ext cx="8229600" cy="640080"/>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3｜BOM（部品表）　製品1個を作るのに、どの部品・材料が何個（員数）必要かを示した構成表（親品目と子部品の階層構造）</a:t>
            </a:r>
          </a:p>
        </p:txBody>
      </p:sp>
      <p:sp>
        <p:nvSpPr>
          <p:cNvPr id="9" name="Rounded Rectangle 8"/>
          <p:cNvSpPr/>
          <p:nvPr/>
        </p:nvSpPr>
        <p:spPr>
          <a:xfrm>
            <a:off x="2552547" y="3438144"/>
            <a:ext cx="7086600" cy="640080"/>
          </a:xfrm>
          <a:prstGeom prst="roundRect">
            <a:avLst/>
          </a:prstGeom>
          <a:solidFill>
            <a:srgbClr val="FFFFFF"/>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4｜在庫情報　現在の在庫数、すでに発注済みで入荷予定の数量</a:t>
            </a:r>
          </a:p>
        </p:txBody>
      </p:sp>
      <p:sp>
        <p:nvSpPr>
          <p:cNvPr id="10" name="Rounded Rectangle 9"/>
          <p:cNvSpPr/>
          <p:nvPr/>
        </p:nvSpPr>
        <p:spPr>
          <a:xfrm>
            <a:off x="3124047" y="4242816"/>
            <a:ext cx="5943600" cy="640080"/>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5｜正味所要量　）を計算します。また、部品の調達・製造にかかる時間（リードタイム）の分だけ前倒しして手配の指示を出します。</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自転車を1台作るのに車輪が2個必要だとします（BOM：自転車1台＝車輪2個＋フレーム1個＋…）。来月50台の自転車を生産する計画（MPS）がある場合、車輪の総所要量は50台×2個＝100個です。現在、車輪の在…</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BOMの「員数」（親品目1個あたりに必要な子部品の個数）を掛け忘れる計算ミスに注意しましょう（この例では車輪は自転車1台につき1個ではなく2個必要）。また、「総所要量＝正味所要量」ではない点、つまり在庫・入荷…</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D-9</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生産計画：スケジューリング（大中小日程計画、PERT、ジョンソンの規則）</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Oval 5"/>
          <p:cNvSpPr/>
          <p:nvPr/>
        </p:nvSpPr>
        <p:spPr>
          <a:xfrm>
            <a:off x="4709160" y="1993392"/>
            <a:ext cx="2788920" cy="1508760"/>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600" b="1">
                <a:solidFill>
                  <a:srgbClr val="FFFFFF"/>
                </a:solidFill>
                <a:latin typeface="WenQuanYi Micro Hei"/>
              </a:rPr>
              <a:t>生産計画：スケジューリング</a:t>
            </a:r>
          </a:p>
        </p:txBody>
      </p:sp>
      <p:cxnSp>
        <p:nvCxnSpPr>
          <p:cNvPr id="7" name="Connector 6"/>
          <p:cNvCxnSpPr/>
          <p:nvPr/>
        </p:nvCxnSpPr>
        <p:spPr>
          <a:xfrm flipH="1" flipV="1">
            <a:off x="1920240" y="1508760"/>
            <a:ext cx="4178808" cy="1234440"/>
          </a:xfrm>
          <a:prstGeom prst="line">
            <a:avLst/>
          </a:prstGeom>
          <a:ln w="19050">
            <a:solidFill>
              <a:srgbClr val="67AC8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1051560"/>
            <a:ext cx="2743200" cy="91440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051560"/>
            <a:ext cx="73152" cy="91440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143000"/>
            <a:ext cx="242316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大日程計画</a:t>
            </a:r>
          </a:p>
        </p:txBody>
      </p:sp>
      <p:sp>
        <p:nvSpPr>
          <p:cNvPr id="11" name="TextBox 10"/>
          <p:cNvSpPr txBox="1"/>
          <p:nvPr/>
        </p:nvSpPr>
        <p:spPr>
          <a:xfrm>
            <a:off x="749808" y="14721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半年〜1年程度 / 受注・販売計画に基づく大まかな生産計画</a:t>
            </a:r>
          </a:p>
        </p:txBody>
      </p:sp>
      <p:cxnSp>
        <p:nvCxnSpPr>
          <p:cNvPr id="12" name="Connector 11"/>
          <p:cNvCxnSpPr/>
          <p:nvPr/>
        </p:nvCxnSpPr>
        <p:spPr>
          <a:xfrm flipV="1">
            <a:off x="6099048" y="1508760"/>
            <a:ext cx="4160520" cy="1234440"/>
          </a:xfrm>
          <a:prstGeom prst="line">
            <a:avLst/>
          </a:prstGeom>
          <a:ln w="19050">
            <a:solidFill>
              <a:srgbClr val="67AC8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887968" y="1051560"/>
            <a:ext cx="2743200" cy="91440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887968" y="1051560"/>
            <a:ext cx="73152" cy="91440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89136" y="1143000"/>
            <a:ext cx="242316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中日程計画</a:t>
            </a:r>
          </a:p>
        </p:txBody>
      </p:sp>
      <p:sp>
        <p:nvSpPr>
          <p:cNvPr id="16" name="TextBox 15"/>
          <p:cNvSpPr txBox="1"/>
          <p:nvPr/>
        </p:nvSpPr>
        <p:spPr>
          <a:xfrm>
            <a:off x="9089136" y="14721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月〜数カ月 / 製品別・月別の生産量・人員・設備計画</a:t>
            </a:r>
          </a:p>
        </p:txBody>
      </p:sp>
      <p:cxnSp>
        <p:nvCxnSpPr>
          <p:cNvPr id="17" name="Connector 16"/>
          <p:cNvCxnSpPr/>
          <p:nvPr/>
        </p:nvCxnSpPr>
        <p:spPr>
          <a:xfrm flipH="1">
            <a:off x="1920240" y="2743200"/>
            <a:ext cx="4178808" cy="1280160"/>
          </a:xfrm>
          <a:prstGeom prst="line">
            <a:avLst/>
          </a:prstGeom>
          <a:ln w="19050">
            <a:solidFill>
              <a:srgbClr val="67AC81"/>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 y="3566160"/>
            <a:ext cx="2743200" cy="91440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66160"/>
            <a:ext cx="73152" cy="91440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57600"/>
            <a:ext cx="242316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小日程計画</a:t>
            </a:r>
          </a:p>
        </p:txBody>
      </p:sp>
      <p:sp>
        <p:nvSpPr>
          <p:cNvPr id="21" name="TextBox 20"/>
          <p:cNvSpPr txBox="1"/>
          <p:nvPr/>
        </p:nvSpPr>
        <p:spPr>
          <a:xfrm>
            <a:off x="749808" y="39867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週〜日 / 個々の作業者・設備への具体的な作業割当（誰が・いつ・何を作るか）</a:t>
            </a:r>
          </a:p>
        </p:txBody>
      </p:sp>
      <p:cxnSp>
        <p:nvCxnSpPr>
          <p:cNvPr id="22" name="Connector 21"/>
          <p:cNvCxnSpPr/>
          <p:nvPr/>
        </p:nvCxnSpPr>
        <p:spPr>
          <a:xfrm>
            <a:off x="6099048" y="2743200"/>
            <a:ext cx="4160520" cy="1280160"/>
          </a:xfrm>
          <a:prstGeom prst="line">
            <a:avLst/>
          </a:prstGeom>
          <a:ln w="19050">
            <a:solidFill>
              <a:srgbClr val="67AC81"/>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887968" y="3566160"/>
            <a:ext cx="2743200" cy="91440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87968" y="3566160"/>
            <a:ext cx="73152" cy="91440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89136" y="3657600"/>
            <a:ext cx="242316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PERT（Program Evaluation…</a:t>
            </a:r>
          </a:p>
        </p:txBody>
      </p:sp>
      <p:sp>
        <p:nvSpPr>
          <p:cNvPr id="26" name="TextBox 25"/>
          <p:cNvSpPr txBox="1"/>
          <p:nvPr/>
        </p:nvSpPr>
        <p:spPr>
          <a:xfrm>
            <a:off x="9089136" y="39867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という手法が使われます。PERTでは、各作業を矢印（アロー）でつないだネットワーク図を書き、開始から終了までの経路のうち…</a:t>
            </a:r>
          </a:p>
        </p:txBody>
      </p:sp>
      <p:cxnSp>
        <p:nvCxnSpPr>
          <p:cNvPr id="27" name="Connector 26"/>
          <p:cNvCxnSpPr/>
          <p:nvPr/>
        </p:nvCxnSpPr>
        <p:spPr>
          <a:xfrm flipH="1">
            <a:off x="4160520" y="2743200"/>
            <a:ext cx="1938528" cy="1810512"/>
          </a:xfrm>
          <a:prstGeom prst="line">
            <a:avLst/>
          </a:prstGeom>
          <a:ln w="19050">
            <a:solidFill>
              <a:srgbClr val="67AC81"/>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2788920" y="4096512"/>
            <a:ext cx="2743200" cy="91440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88920" y="4096512"/>
            <a:ext cx="73152" cy="91440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90088" y="4187952"/>
            <a:ext cx="242316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ジョンソンの規則</a:t>
            </a:r>
          </a:p>
        </p:txBody>
      </p:sp>
      <p:sp>
        <p:nvSpPr>
          <p:cNvPr id="31" name="TextBox 30"/>
          <p:cNvSpPr txBox="1"/>
          <p:nvPr/>
        </p:nvSpPr>
        <p:spPr>
          <a:xfrm>
            <a:off x="2990088" y="4517136"/>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です。第1工程→第2工程の順で処理する複数のジョブについて、全体の完了時刻（メイクスパン）を最小にする投入順序を求めます。</a:t>
            </a:r>
          </a:p>
        </p:txBody>
      </p:sp>
      <p:cxnSp>
        <p:nvCxnSpPr>
          <p:cNvPr id="32" name="Connector 31"/>
          <p:cNvCxnSpPr/>
          <p:nvPr/>
        </p:nvCxnSpPr>
        <p:spPr>
          <a:xfrm>
            <a:off x="6099048" y="2743200"/>
            <a:ext cx="1901952" cy="1810512"/>
          </a:xfrm>
          <a:prstGeom prst="line">
            <a:avLst/>
          </a:prstGeom>
          <a:ln w="19050">
            <a:solidFill>
              <a:srgbClr val="67AC81"/>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629400" y="4096512"/>
            <a:ext cx="2743200" cy="91440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629400" y="4096512"/>
            <a:ext cx="73152" cy="91440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30568" y="4187952"/>
            <a:ext cx="242316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各ジョブについて、第1工程・第2工程のうち作業時…</a:t>
            </a:r>
          </a:p>
        </p:txBody>
      </p:sp>
      <p:sp>
        <p:nvSpPr>
          <p:cNvPr id="36" name="Rounded Rectangle 3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具体例｜2台の機械を用いて第1工程→第2工程の順で処理する4つのジョブの作業時間が次のとおりだとします。 a：min(3,4)＝3（第1工程が短い）→前方グループ b：min(4,1)＝1（第2工程が短い）→後方グル…</a:t>
            </a:r>
          </a:p>
        </p:txBody>
      </p:sp>
      <p:sp>
        <p:nvSpPr>
          <p:cNvPr id="37" name="Rounded Rectangle 3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ジョンソンの規則は「第1工程が長いジョブを先に」ではなく「短い工程に着目し、第1工程が短いものは前へ、第2工程が短いものは後ろへ」という考え方です。「後工程で手待ちが生じないよう、律速となる区間を極力作らない…</a:t>
            </a:r>
          </a:p>
        </p:txBody>
      </p:sp>
      <p:sp>
        <p:nvSpPr>
          <p:cNvPr id="38" name="Rectangle 3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40" name="TextBox 3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D-10</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生産統制（現品管理、余力管理、進捗管理、標準時間）</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Rounded Rectangle 5"/>
          <p:cNvSpPr/>
          <p:nvPr/>
        </p:nvSpPr>
        <p:spPr>
          <a:xfrm>
            <a:off x="566928" y="1051560"/>
            <a:ext cx="5394960" cy="420624"/>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生産統制</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です。代表的な3つの管理があります。</a:t>
            </a:r>
          </a:p>
        </p:txBody>
      </p:sp>
      <p:sp>
        <p:nvSpPr>
          <p:cNvPr id="11" name="Rounded Rectangle 10"/>
          <p:cNvSpPr/>
          <p:nvPr/>
        </p:nvSpPr>
        <p:spPr>
          <a:xfrm>
            <a:off x="566928"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現品管理</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仕掛品・材料・製品などの「モノ」が、今どこに・どれだけあるかを正確に把握し、紛失や取り違えを防ぐ管理</a:t>
            </a:r>
          </a:p>
        </p:txBody>
      </p:sp>
      <p:sp>
        <p:nvSpPr>
          <p:cNvPr id="15" name="Rounded Rectangle 14"/>
          <p:cNvSpPr/>
          <p:nvPr/>
        </p:nvSpPr>
        <p:spPr>
          <a:xfrm>
            <a:off x="566928" y="398678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余力管理</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各職場・設備が「どれだけの仕事をこなせる能力（保有能力）を持っているか」と「実際に割り当てられている仕事量（負荷）」を比較…</a:t>
            </a:r>
          </a:p>
        </p:txBody>
      </p:sp>
      <p:sp>
        <p:nvSpPr>
          <p:cNvPr id="19" name="Rounded Rectangle 18"/>
          <p:cNvSpPr/>
          <p:nvPr/>
        </p:nvSpPr>
        <p:spPr>
          <a:xfrm>
            <a:off x="6217920" y="1051560"/>
            <a:ext cx="5394960" cy="420624"/>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15803D"/>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進捗管理</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生産計画に対して、実際の作業がどこまで進んでいるか（進捗状況）を把握し、遅れていれば挽回策を打つ管理</a:t>
            </a:r>
          </a:p>
        </p:txBody>
      </p:sp>
      <p:sp>
        <p:nvSpPr>
          <p:cNvPr id="24" name="Rounded Rectangle 23"/>
          <p:cNvSpPr/>
          <p:nvPr/>
        </p:nvSpPr>
        <p:spPr>
          <a:xfrm>
            <a:off x="6217920"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生産計画を立てても、計画通りに実行できているかを…</a:t>
            </a:r>
          </a:p>
        </p:txBody>
      </p:sp>
      <p:sp>
        <p:nvSpPr>
          <p:cNvPr id="27" name="Rounded Rectangle 26"/>
          <p:cNvSpPr/>
          <p:nvPr/>
        </p:nvSpPr>
        <p:spPr>
          <a:xfrm>
            <a:off x="6217920" y="398678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398678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代表的な3つの管理があります。</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町工場で、ある注文の納期に遅れそうになったとき、「今どの工程にどれだけの仕掛品があるか確認する」のは現品管理、「他の職場に余裕があれば応援を頼めないか確認する」のは余力管理、「予定の作業に対して実際何%まで進…</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3つの管理対象（モノ・能力・スケジュール）を入れ替えた説明文（例えば「余力管理とは仕掛品の所在を管理することである」）が誤答の選択肢としてよく作られます。それぞれが何を管理する活動なのか、名称と対象を正確に対…</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D-11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作業管理（標準作業、標準時間、多能工化）</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Oval 5"/>
          <p:cNvSpPr/>
          <p:nvPr/>
        </p:nvSpPr>
        <p:spPr>
          <a:xfrm>
            <a:off x="4892040" y="2304288"/>
            <a:ext cx="2395728" cy="1417320"/>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700" b="1">
                <a:solidFill>
                  <a:srgbClr val="FFFFFF"/>
                </a:solidFill>
                <a:latin typeface="WenQuanYi Micro Hei"/>
              </a:rPr>
              <a:t>循環して
改善・定着</a:t>
            </a:r>
          </a:p>
        </p:txBody>
      </p:sp>
      <p:sp>
        <p:nvSpPr>
          <p:cNvPr id="7" name="Rounded Rectangle 6"/>
          <p:cNvSpPr/>
          <p:nvPr/>
        </p:nvSpPr>
        <p:spPr>
          <a:xfrm>
            <a:off x="4526280" y="1051560"/>
            <a:ext cx="2907792" cy="1024128"/>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26280" y="1051560"/>
            <a:ext cx="73152" cy="102412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7448" y="1143000"/>
            <a:ext cx="2587752"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標準時間</a:t>
            </a:r>
          </a:p>
        </p:txBody>
      </p:sp>
      <p:sp>
        <p:nvSpPr>
          <p:cNvPr id="10" name="TextBox 9"/>
          <p:cNvSpPr txBox="1"/>
          <p:nvPr/>
        </p:nvSpPr>
        <p:spPr>
          <a:xfrm>
            <a:off x="4727448" y="147218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とは、「その仕事に習熟した作業者が、決められた作業条件のもとで、必要な余裕を持ちながら、正常なペースで作業を行うために必要…</a:t>
            </a:r>
          </a:p>
        </p:txBody>
      </p:sp>
      <p:cxnSp>
        <p:nvCxnSpPr>
          <p:cNvPr id="11" name="Connector 10"/>
          <p:cNvCxnSpPr/>
          <p:nvPr/>
        </p:nvCxnSpPr>
        <p:spPr>
          <a:xfrm>
            <a:off x="5980176" y="1563624"/>
            <a:ext cx="3447288" cy="1234440"/>
          </a:xfrm>
          <a:prstGeom prst="line">
            <a:avLst/>
          </a:prstGeom>
          <a:ln w="22860">
            <a:solidFill>
              <a:srgbClr val="67AC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973568" y="2286000"/>
            <a:ext cx="2907792" cy="1024128"/>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73568" y="2286000"/>
            <a:ext cx="73152" cy="102412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74736" y="2377440"/>
            <a:ext cx="2587752"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標準時間＝正味時間＋余裕時間</a:t>
            </a:r>
          </a:p>
        </p:txBody>
      </p:sp>
      <p:cxnSp>
        <p:nvCxnSpPr>
          <p:cNvPr id="15" name="Connector 14"/>
          <p:cNvCxnSpPr/>
          <p:nvPr/>
        </p:nvCxnSpPr>
        <p:spPr>
          <a:xfrm flipH="1">
            <a:off x="5980176" y="2798064"/>
            <a:ext cx="3447288" cy="1508760"/>
          </a:xfrm>
          <a:prstGeom prst="line">
            <a:avLst/>
          </a:prstGeom>
          <a:ln w="22860">
            <a:solidFill>
              <a:srgbClr val="67AC81"/>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526280" y="3794760"/>
            <a:ext cx="2907792" cy="1024128"/>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26280" y="3794760"/>
            <a:ext cx="73152" cy="102412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27448" y="3886200"/>
            <a:ext cx="2587752"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正味時間</a:t>
            </a:r>
          </a:p>
        </p:txBody>
      </p:sp>
      <p:sp>
        <p:nvSpPr>
          <p:cNvPr id="19" name="TextBox 18"/>
          <p:cNvSpPr txBox="1"/>
          <p:nvPr/>
        </p:nvSpPr>
        <p:spPr>
          <a:xfrm>
            <a:off x="4727448" y="421538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決められた手順で行う、規則的・周期的な作業そのものにかかる時間。観測時間の代表値にレイティング係数（観測した作業者の作業ペ…</a:t>
            </a:r>
          </a:p>
        </p:txBody>
      </p:sp>
      <p:cxnSp>
        <p:nvCxnSpPr>
          <p:cNvPr id="20" name="Connector 19"/>
          <p:cNvCxnSpPr/>
          <p:nvPr/>
        </p:nvCxnSpPr>
        <p:spPr>
          <a:xfrm flipH="1" flipV="1">
            <a:off x="2532888" y="2798064"/>
            <a:ext cx="3447288" cy="1508760"/>
          </a:xfrm>
          <a:prstGeom prst="line">
            <a:avLst/>
          </a:prstGeom>
          <a:ln w="22860">
            <a:solidFill>
              <a:srgbClr val="67AC81"/>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78992" y="2286000"/>
            <a:ext cx="2907792" cy="1024128"/>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78992" y="2286000"/>
            <a:ext cx="73152" cy="102412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80160" y="2377440"/>
            <a:ext cx="2587752"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余裕時間</a:t>
            </a:r>
          </a:p>
        </p:txBody>
      </p:sp>
      <p:sp>
        <p:nvSpPr>
          <p:cNvPr id="24" name="TextBox 23"/>
          <p:cNvSpPr txBox="1"/>
          <p:nvPr/>
        </p:nvSpPr>
        <p:spPr>
          <a:xfrm>
            <a:off x="1280160" y="270662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不規則・偶発的に発生する時間。機械への注油や工具交換などの「作業余裕」、朝礼や機械故障対応などの「職場余裕」（この2つを合…</a:t>
            </a:r>
          </a:p>
        </p:txBody>
      </p:sp>
      <p:cxnSp>
        <p:nvCxnSpPr>
          <p:cNvPr id="25" name="Connector 24"/>
          <p:cNvCxnSpPr/>
          <p:nvPr/>
        </p:nvCxnSpPr>
        <p:spPr>
          <a:xfrm flipV="1">
            <a:off x="2532888" y="1563624"/>
            <a:ext cx="3447288" cy="1234440"/>
          </a:xfrm>
          <a:prstGeom prst="line">
            <a:avLst/>
          </a:prstGeom>
          <a:ln w="22860">
            <a:solidFill>
              <a:srgbClr val="67AC81"/>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具体例｜ある作業を10回観測したところ、観測時間の代表値（平均）は48秒でした。レイティング係数を110％（この作業者は標準よりやや速いペースだった）、余裕率を外掛け法で20％とすると、 正味時間＝48秒×1.10＝…</a:t>
            </a:r>
          </a:p>
        </p:txBody>
      </p:sp>
      <p:sp>
        <p:nvSpPr>
          <p:cNvPr id="27" name="Rounded Rectangle 2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外掛け法と内掛け法は、どちらも「余裕率」という言葉を使いますが、割る対象（正味時間で割るか、標準時間で割るか）が異なるため、同じ余裕時間でも余裕率の数値自体が変わります。計算問題では、どちらの方法で余裕率が定…</a:t>
            </a:r>
          </a:p>
        </p:txBody>
      </p:sp>
      <p:sp>
        <p:nvSpPr>
          <p:cNvPr id="28" name="Rectangle 2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0" name="TextBox 2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D-12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作業の分析手法（時間研究、工程分析、動作分析）</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Rounded Rectangle 5"/>
          <p:cNvSpPr/>
          <p:nvPr/>
        </p:nvSpPr>
        <p:spPr>
          <a:xfrm>
            <a:off x="566928"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○（丸）</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加工（形状・性質を変える作業）</a:t>
            </a:r>
          </a:p>
        </p:txBody>
      </p:sp>
      <p:sp>
        <p:nvSpPr>
          <p:cNvPr id="10" name="Chevron 9"/>
          <p:cNvSpPr/>
          <p:nvPr/>
        </p:nvSpPr>
        <p:spPr>
          <a:xfrm>
            <a:off x="2456078"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⇒（矢印、または小さい○）</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運搬（位置を移動させる）</a:t>
            </a:r>
          </a:p>
        </p:txBody>
      </p:sp>
      <p:sp>
        <p:nvSpPr>
          <p:cNvPr id="15" name="Chevron 14"/>
          <p:cNvSpPr/>
          <p:nvPr/>
        </p:nvSpPr>
        <p:spPr>
          <a:xfrm>
            <a:off x="4765852"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□（四角）</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数量検査（個数・重量などを検査）</a:t>
            </a:r>
          </a:p>
        </p:txBody>
      </p:sp>
      <p:sp>
        <p:nvSpPr>
          <p:cNvPr id="20" name="Chevron 19"/>
          <p:cNvSpPr/>
          <p:nvPr/>
        </p:nvSpPr>
        <p:spPr>
          <a:xfrm>
            <a:off x="7075627"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◇（ひし形）</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品質検査（規格に合っているかを検査）</a:t>
            </a:r>
          </a:p>
        </p:txBody>
      </p:sp>
      <p:sp>
        <p:nvSpPr>
          <p:cNvPr id="25" name="Chevron 24"/>
          <p:cNvSpPr/>
          <p:nvPr/>
        </p:nvSpPr>
        <p:spPr>
          <a:xfrm>
            <a:off x="9385401"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▽（逆三角）</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貯蔵（計画的・意図的にためておく）</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部品の加工工程を工程分析表に書き出したところ、「加工」の時間は全体のわずか2割で、残りの8割は「運搬」と「貯蔵（在庫として置かれている時間）」だった、というケースはよくあります。工程分析によってこの事実が…</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貯蔵（▽）」と「滞留（D）」は、どちらも“止まっている”状態ですが、計画的にためている（貯蔵）のか、計画外のやむを得ない足止め（滞留）なのかという違いがあり、過去問では記号と定義の組み合わせを問う形式で頻出…</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D-13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作業の改善（ECRSの原則、動作経済の原則）</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Rounded Rectangle 5"/>
          <p:cNvSpPr/>
          <p:nvPr/>
        </p:nvSpPr>
        <p:spPr>
          <a:xfrm>
            <a:off x="566928" y="1051560"/>
            <a:ext cx="5394960" cy="420624"/>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ECRSの原則</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です。必ずこの順番で検討することが重要とされます。</a:t>
            </a:r>
          </a:p>
        </p:txBody>
      </p:sp>
      <p:sp>
        <p:nvSpPr>
          <p:cNvPr id="11" name="Rounded Rectangle 10"/>
          <p:cNvSpPr/>
          <p:nvPr/>
        </p:nvSpPr>
        <p:spPr>
          <a:xfrm>
            <a:off x="566928"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E（Eliminate：排除）</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その作業自体をなくせないか、まず検討する</a:t>
            </a:r>
          </a:p>
        </p:txBody>
      </p:sp>
      <p:sp>
        <p:nvSpPr>
          <p:cNvPr id="15" name="Rounded Rectangle 14"/>
          <p:cNvSpPr/>
          <p:nvPr/>
        </p:nvSpPr>
        <p:spPr>
          <a:xfrm>
            <a:off x="566928" y="398678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C（Combine：結合）</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複数の作業を1つにまとめられないか検討する</a:t>
            </a:r>
          </a:p>
        </p:txBody>
      </p:sp>
      <p:sp>
        <p:nvSpPr>
          <p:cNvPr id="19" name="Rounded Rectangle 18"/>
          <p:cNvSpPr/>
          <p:nvPr/>
        </p:nvSpPr>
        <p:spPr>
          <a:xfrm>
            <a:off x="6217920" y="1051560"/>
            <a:ext cx="5394960" cy="420624"/>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15803D"/>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R（Rearrange：交換）</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作業の順序や場所を入れ替えられないか検討する</a:t>
            </a:r>
          </a:p>
        </p:txBody>
      </p:sp>
      <p:sp>
        <p:nvSpPr>
          <p:cNvPr id="24" name="Rounded Rectangle 23"/>
          <p:cNvSpPr/>
          <p:nvPr/>
        </p:nvSpPr>
        <p:spPr>
          <a:xfrm>
            <a:off x="6217920"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S（Simplify：簡素化）</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作業をより簡単な方法にできないか検討する</a:t>
            </a:r>
          </a:p>
        </p:txBody>
      </p:sp>
      <p:sp>
        <p:nvSpPr>
          <p:cNvPr id="28" name="Rounded Rectangle 27"/>
          <p:cNvSpPr/>
          <p:nvPr/>
        </p:nvSpPr>
        <p:spPr>
          <a:xfrm>
            <a:off x="6217920" y="398678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動作経済の原則</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です。これは、ムダのない体の動かし方・作業環境を作るための原則群で、大きく3つに分類されます。</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組立作業で、部品を取りに毎回離れた棚まで歩いていたのを、作業台のすぐ手の届く位置に部品を配置し直す（動作経済の原則の「作業場の配置」）ことで、歩行という動作そのものをなくす（ECRSの「E：排除」）ことが…</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ECRSは「E→C→R→S」の順序（この順に検討する）そのものが頻出の出題ポイントです。順序を入れ替えた記述（例えば「まず簡素化を検討し、それでも難しければ排除を検討する」）は誤りです。また、動作経済の原則の…</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D-14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設備管理（5S、TPM）</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Rounded Rectangle 5"/>
          <p:cNvSpPr/>
          <p:nvPr/>
        </p:nvSpPr>
        <p:spPr>
          <a:xfrm>
            <a:off x="731520" y="1143000"/>
            <a:ext cx="5230368" cy="162763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143000"/>
            <a:ext cx="73152" cy="162763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234440"/>
            <a:ext cx="491032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整理（Seiri）</a:t>
            </a:r>
          </a:p>
        </p:txBody>
      </p:sp>
      <p:sp>
        <p:nvSpPr>
          <p:cNvPr id="9" name="TextBox 8"/>
          <p:cNvSpPr txBox="1"/>
          <p:nvPr/>
        </p:nvSpPr>
        <p:spPr>
          <a:xfrm>
            <a:off x="932688"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必要なものと不要なものを分け、不要なものを捨てる</a:t>
            </a:r>
          </a:p>
        </p:txBody>
      </p:sp>
      <p:sp>
        <p:nvSpPr>
          <p:cNvPr id="10" name="Oval 9"/>
          <p:cNvSpPr/>
          <p:nvPr/>
        </p:nvSpPr>
        <p:spPr>
          <a:xfrm>
            <a:off x="548640" y="1014983"/>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1</a:t>
            </a:r>
          </a:p>
        </p:txBody>
      </p:sp>
      <p:sp>
        <p:nvSpPr>
          <p:cNvPr id="11" name="Rounded Rectangle 10"/>
          <p:cNvSpPr/>
          <p:nvPr/>
        </p:nvSpPr>
        <p:spPr>
          <a:xfrm>
            <a:off x="6236208" y="1143000"/>
            <a:ext cx="5230368" cy="162763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8" y="1143000"/>
            <a:ext cx="73152" cy="162763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234440"/>
            <a:ext cx="491032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整頓（Seiton）</a:t>
            </a:r>
          </a:p>
        </p:txBody>
      </p:sp>
      <p:sp>
        <p:nvSpPr>
          <p:cNvPr id="14" name="TextBox 13"/>
          <p:cNvSpPr txBox="1"/>
          <p:nvPr/>
        </p:nvSpPr>
        <p:spPr>
          <a:xfrm>
            <a:off x="6437376"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必要なものを、必要なときにすぐ取り出せるように置き場所を決める</a:t>
            </a:r>
          </a:p>
        </p:txBody>
      </p:sp>
      <p:sp>
        <p:nvSpPr>
          <p:cNvPr id="15" name="Oval 14"/>
          <p:cNvSpPr/>
          <p:nvPr/>
        </p:nvSpPr>
        <p:spPr>
          <a:xfrm>
            <a:off x="6053328" y="1014983"/>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2</a:t>
            </a:r>
          </a:p>
        </p:txBody>
      </p:sp>
      <p:sp>
        <p:nvSpPr>
          <p:cNvPr id="16" name="Rounded Rectangle 15"/>
          <p:cNvSpPr/>
          <p:nvPr/>
        </p:nvSpPr>
        <p:spPr>
          <a:xfrm>
            <a:off x="731520" y="3063240"/>
            <a:ext cx="5230368" cy="162763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063240"/>
            <a:ext cx="73152" cy="162763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154680"/>
            <a:ext cx="491032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清掃（Seiso）</a:t>
            </a:r>
          </a:p>
        </p:txBody>
      </p:sp>
      <p:sp>
        <p:nvSpPr>
          <p:cNvPr id="19" name="TextBox 18"/>
          <p:cNvSpPr txBox="1"/>
          <p:nvPr/>
        </p:nvSpPr>
        <p:spPr>
          <a:xfrm>
            <a:off x="932688" y="348386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職場・設備をきれいに掃除し、同時に不具合がないか点検する</a:t>
            </a:r>
          </a:p>
        </p:txBody>
      </p:sp>
      <p:sp>
        <p:nvSpPr>
          <p:cNvPr id="20" name="Oval 19"/>
          <p:cNvSpPr/>
          <p:nvPr/>
        </p:nvSpPr>
        <p:spPr>
          <a:xfrm>
            <a:off x="548640" y="2935224"/>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3</a:t>
            </a:r>
          </a:p>
        </p:txBody>
      </p:sp>
      <p:sp>
        <p:nvSpPr>
          <p:cNvPr id="21" name="Rounded Rectangle 20"/>
          <p:cNvSpPr/>
          <p:nvPr/>
        </p:nvSpPr>
        <p:spPr>
          <a:xfrm>
            <a:off x="6236208" y="3063240"/>
            <a:ext cx="5230368" cy="162763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6208" y="3063240"/>
            <a:ext cx="73152" cy="162763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154680"/>
            <a:ext cx="491032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清潔（Seiketsu）</a:t>
            </a:r>
          </a:p>
        </p:txBody>
      </p:sp>
      <p:sp>
        <p:nvSpPr>
          <p:cNvPr id="24" name="TextBox 23"/>
          <p:cNvSpPr txBox="1"/>
          <p:nvPr/>
        </p:nvSpPr>
        <p:spPr>
          <a:xfrm>
            <a:off x="6437376" y="348386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整理・整頓・清掃の状態を維持する</a:t>
            </a:r>
          </a:p>
        </p:txBody>
      </p:sp>
      <p:sp>
        <p:nvSpPr>
          <p:cNvPr id="25" name="Oval 24"/>
          <p:cNvSpPr/>
          <p:nvPr/>
        </p:nvSpPr>
        <p:spPr>
          <a:xfrm>
            <a:off x="6053328" y="2935224"/>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4</a:t>
            </a:r>
          </a:p>
        </p:txBody>
      </p:sp>
      <p:sp>
        <p:nvSpPr>
          <p:cNvPr id="26" name="Rounded Rectangle 2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具体例｜ある設備の1日の負荷時間が480分、故障停止が48分（時間稼働率＝(480－48)÷480＝0.9＝90％）、理論サイクルタイムは1個あたり1分、実際の稼働時間（432分）中に400個生産した（性能稼働率＝(…</a:t>
            </a:r>
          </a:p>
        </p:txBody>
      </p:sp>
      <p:sp>
        <p:nvSpPr>
          <p:cNvPr id="27" name="Rounded Rectangle 2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整理」と「整頓」の意味を入れ替えた選択肢（例えば「整頓とは不要なものを処分することである」）が頻出です。また、TPMの自主保全は「保全担当者だけが行う特別な活動」ではなく、「現場のオペレーター自身が日常的な…</a:t>
            </a:r>
          </a:p>
        </p:txBody>
      </p:sp>
      <p:sp>
        <p:nvSpPr>
          <p:cNvPr id="28" name="Rectangle 2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0" name="TextBox 2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D-15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設備の評価と更新（設備効率、減価償却、耐用年数）</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Rounded Rectangle 5"/>
          <p:cNvSpPr/>
          <p:nvPr/>
        </p:nvSpPr>
        <p:spPr>
          <a:xfrm>
            <a:off x="566928" y="1051560"/>
            <a:ext cx="5394960" cy="420624"/>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稼働率＝実際生産量 ÷ 標準（基準）生産量 ×…</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設備がどれだけフル稼働に近い状態で使われているかを表す指標</a:t>
            </a:r>
          </a:p>
        </p:txBody>
      </p:sp>
      <p:sp>
        <p:nvSpPr>
          <p:cNvPr id="11" name="Rounded Rectangle 10"/>
          <p:cNvSpPr/>
          <p:nvPr/>
        </p:nvSpPr>
        <p:spPr>
          <a:xfrm>
            <a:off x="566928"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減価償却</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設備の取得原価を、その設備が使える期間（耐用年数）にわたって、毎期の費用として配分していく会計処理。定額法（毎期均等額を償…</a:t>
            </a:r>
          </a:p>
        </p:txBody>
      </p:sp>
      <p:sp>
        <p:nvSpPr>
          <p:cNvPr id="15" name="Rounded Rectangle 14"/>
          <p:cNvSpPr/>
          <p:nvPr/>
        </p:nvSpPr>
        <p:spPr>
          <a:xfrm>
            <a:off x="566928" y="398678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耐用年数</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税法上定められた、資産の種類ごとの使用可能期間の目安。実際にその設備が物理的に使えなくなるまでの期間とは必ずしも一致しない</a:t>
            </a:r>
          </a:p>
        </p:txBody>
      </p:sp>
      <p:sp>
        <p:nvSpPr>
          <p:cNvPr id="19" name="Rounded Rectangle 18"/>
          <p:cNvSpPr/>
          <p:nvPr/>
        </p:nvSpPr>
        <p:spPr>
          <a:xfrm>
            <a:off x="6217920" y="1051560"/>
            <a:ext cx="5394960" cy="420624"/>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15803D"/>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設備を評価・更新する際に</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会計上の考え方も関わってきます。</a:t>
            </a:r>
          </a:p>
        </p:txBody>
      </p:sp>
      <p:sp>
        <p:nvSpPr>
          <p:cNvPr id="24" name="Rounded Rectangle 23"/>
          <p:cNvSpPr/>
          <p:nvPr/>
        </p:nvSpPr>
        <p:spPr>
          <a:xfrm>
            <a:off x="6217920"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古い設備を更新（買い替え）すべきかどうかを判断す…</a:t>
            </a:r>
          </a:p>
        </p:txBody>
      </p:sp>
      <p:sp>
        <p:nvSpPr>
          <p:cNvPr id="27" name="Rounded Rectangle 2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工場の旧型設備は、耐用年数上はまだ償却期間が残っていますが、故障が頻発し稼働率が年々低下しています。新型設備に更新すれば稼働率・良品率が改善し、電力消費も抑えられる場合、帳簿上の未償却残高（まだ費用化され…</a:t>
            </a:r>
          </a:p>
        </p:txBody>
      </p:sp>
      <p:sp>
        <p:nvSpPr>
          <p:cNvPr id="28" name="Rounded Rectangle 2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耐用年数＝その設備が実際に使用できる物理的な限界」という誤解に注意しましょう。耐用年数はあくまで税法・会計上の減価償却計算のための基準であり、実際の設備の使用可能期間とは別の概念です。</a:t>
            </a:r>
          </a:p>
        </p:txBody>
      </p:sp>
      <p:sp>
        <p:nvSpPr>
          <p:cNvPr id="29" name="Rectangle 2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1" name="TextBox 3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D-16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工場計画（SLP、DI分析、プラントレイアウト）</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Rounded Rectangle 5"/>
          <p:cNvSpPr/>
          <p:nvPr/>
        </p:nvSpPr>
        <p:spPr>
          <a:xfrm>
            <a:off x="566928"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SLP（Systematic…</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です。SLPでは、次のような手順でレイアウトを検討します。</a:t>
            </a:r>
          </a:p>
        </p:txBody>
      </p:sp>
      <p:sp>
        <p:nvSpPr>
          <p:cNvPr id="10" name="Chevron 9"/>
          <p:cNvSpPr/>
          <p:nvPr/>
        </p:nvSpPr>
        <p:spPr>
          <a:xfrm>
            <a:off x="2456078"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物の流れ（P-Q分析等）</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を分析し、どの工程間でどれだけの量のモノが動くかを把握する</a:t>
            </a:r>
          </a:p>
        </p:txBody>
      </p:sp>
      <p:sp>
        <p:nvSpPr>
          <p:cNvPr id="15" name="Chevron 14"/>
          <p:cNvSpPr/>
          <p:nvPr/>
        </p:nvSpPr>
        <p:spPr>
          <a:xfrm>
            <a:off x="4765852"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近接性（どれだけ近くに置くべき…</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を、アクティビティ相互関係図（レイアウトの各エリアをどの程度近づけるべきかを、A（…</a:t>
            </a:r>
          </a:p>
        </p:txBody>
      </p:sp>
      <p:sp>
        <p:nvSpPr>
          <p:cNvPr id="20" name="Chevron 19"/>
          <p:cNvSpPr/>
          <p:nvPr/>
        </p:nvSpPr>
        <p:spPr>
          <a:xfrm>
            <a:off x="7075627"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面積の制約などを加味して、具体…</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25" name="Chevron 24"/>
          <p:cNvSpPr/>
          <p:nvPr/>
        </p:nvSpPr>
        <p:spPr>
          <a:xfrm>
            <a:off x="9385401"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DI分析</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です。DI分析は、職場・設備の配置について、方向（Direction）と関係の強さ…</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工場で新しい生産ラインを設計する際、「切削工程」と「検査工程」は物の運搬量が多く関連が強いため近くに配置すべき（A：絶対必要）、一方「塗装工程」は臭気・粉じんの問題から他の工程から離すべき（X：近接望まし…</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SLPは「勘や経験で配置を決める」ことの対極にある、体系的・定量的な手順でレイアウトを決定する手法である点がポイントです。DI分析の「方向」と「関係の強さ」という2つの視点を、単なる「距離の近さだけを見る分析…</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D-17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設備投資の経済性分析</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Rounded Rectangle 5"/>
          <p:cNvSpPr/>
          <p:nvPr/>
        </p:nvSpPr>
        <p:spPr>
          <a:xfrm>
            <a:off x="566928"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回収期間法</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投資額を、その投資から得られる年間キャッシュフローで割って、何年で投資額を回収でき…</a:t>
            </a:r>
          </a:p>
        </p:txBody>
      </p:sp>
      <p:sp>
        <p:nvSpPr>
          <p:cNvPr id="10" name="Chevron 9"/>
          <p:cNvSpPr/>
          <p:nvPr/>
        </p:nvSpPr>
        <p:spPr>
          <a:xfrm>
            <a:off x="2456078"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回収期間＝投資額 ÷ 年間キャ…</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15" name="Chevron 14"/>
          <p:cNvSpPr/>
          <p:nvPr/>
        </p:nvSpPr>
        <p:spPr>
          <a:xfrm>
            <a:off x="4765852"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正味現在価値法（NPV法）</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投資から得られる将来のキャッシュフローを、一定の割引率で現在の価値に割り引いて合計…</a:t>
            </a:r>
          </a:p>
        </p:txBody>
      </p:sp>
      <p:sp>
        <p:nvSpPr>
          <p:cNvPr id="20" name="Chevron 19"/>
          <p:cNvSpPr/>
          <p:nvPr/>
        </p:nvSpPr>
        <p:spPr>
          <a:xfrm>
            <a:off x="7075627"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変化する</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部分（差額）」に着目して判断します（差額原価収益分析の考え方）。</a:t>
            </a:r>
          </a:p>
        </p:txBody>
      </p:sp>
      <p:sp>
        <p:nvSpPr>
          <p:cNvPr id="25" name="Chevron 24"/>
          <p:cNvSpPr/>
          <p:nvPr/>
        </p:nvSpPr>
        <p:spPr>
          <a:xfrm>
            <a:off x="9385401"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新しい設備を導入すべきかどうか…</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具体例｜ある設備投資（投資額600万円）から、毎年200万円のキャッシュフローが得られると見込まれる場合、回収期間法では 600万円÷200万円＝3年で投資額を回収できると判断します。ただし、この計算は4年目以降に得…</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回収期間法は「投資額を早く回収できるかどうか」だけを見る簡便な方法であり、回収後の収益性やお金の時間的価値を評価できません。「回収期間が短い投資ほど、必ず優れた投資である」とは限らない点に注意しましょう。より…</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D-18</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資材管理（資材計画、常備品）</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Rounded Rectangle 5"/>
          <p:cNvSpPr/>
          <p:nvPr/>
        </p:nvSpPr>
        <p:spPr>
          <a:xfrm>
            <a:off x="566928" y="1051560"/>
            <a:ext cx="5394960" cy="420624"/>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資材管理</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とは、生産に必要な原材料・部品・消耗品などを、必要な時に必要な量だけ、適切なコストで調達・管理する活動です。資材は大きく2…</a:t>
            </a:r>
          </a:p>
        </p:txBody>
      </p:sp>
      <p:sp>
        <p:nvSpPr>
          <p:cNvPr id="11" name="Rounded Rectangle 10"/>
          <p:cNvSpPr/>
          <p:nvPr/>
        </p:nvSpPr>
        <p:spPr>
          <a:xfrm>
            <a:off x="566928"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常備品</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多くの製品に共通して継続的に使われるため、あらかじめ一定の在庫を持って管理する資材（例：ネジ、潤滑油などの汎用部品）</a:t>
            </a:r>
          </a:p>
        </p:txBody>
      </p:sp>
      <p:sp>
        <p:nvSpPr>
          <p:cNvPr id="15" name="Rounded Rectangle 14"/>
          <p:cNvSpPr/>
          <p:nvPr/>
        </p:nvSpPr>
        <p:spPr>
          <a:xfrm>
            <a:off x="566928" y="398678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非常備品（都度手配品）</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特定の注文にのみ使われる、その都度発注する資材（例：特注部品）</a:t>
            </a:r>
          </a:p>
        </p:txBody>
      </p:sp>
      <p:sp>
        <p:nvSpPr>
          <p:cNvPr id="19" name="Rounded Rectangle 18"/>
          <p:cNvSpPr/>
          <p:nvPr/>
        </p:nvSpPr>
        <p:spPr>
          <a:xfrm>
            <a:off x="6217920" y="1051560"/>
            <a:ext cx="5394960" cy="420624"/>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15803D"/>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資材</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大きく2種類に分けられます。</a:t>
            </a:r>
          </a:p>
        </p:txBody>
      </p:sp>
      <p:sp>
        <p:nvSpPr>
          <p:cNvPr id="24" name="Rounded Rectangle 23"/>
          <p:cNvSpPr/>
          <p:nvPr/>
        </p:nvSpPr>
        <p:spPr>
          <a:xfrm>
            <a:off x="6217920"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常備品について</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あらかじめ発注点・発注量を決めておく在庫管理の考え方（D-20参照）が適用され、非常備品は個別の生産計画・受注に合わせ…</a:t>
            </a:r>
          </a:p>
        </p:txBody>
      </p:sp>
      <p:sp>
        <p:nvSpPr>
          <p:cNvPr id="28" name="Rounded Rectangle 27"/>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ネジや接着剤のような汎用資材は、多くの製品で共通して使われるため常備品として在庫を持ち、在庫が減ったら自動的に発注する仕組み（発注点方式）を採用します。一方、特定の大口顧客専用のカスタム部品は、その注文が入っ…</a:t>
            </a:r>
          </a:p>
        </p:txBody>
      </p:sp>
      <p:sp>
        <p:nvSpPr>
          <p:cNvPr id="29" name="Rounded Rectangle 28"/>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注意｜常備品と非常備品（都度手配品）の管理方法の違い（在庫を持って継続的に管理するか、注文ごとに個別手配するか）を対応させて理解しておきましょう。</a:t>
            </a:r>
          </a:p>
        </p:txBody>
      </p:sp>
      <p:sp>
        <p:nvSpPr>
          <p:cNvPr id="30" name="Rectangle 29"/>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2" name="TextBox 31"/>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D-19</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調達・外注管理</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Rounded Rectangle 5"/>
          <p:cNvSpPr/>
          <p:nvPr/>
        </p:nvSpPr>
        <p:spPr>
          <a:xfrm>
            <a:off x="502920" y="1024128"/>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調達管理</a:t>
            </a:r>
          </a:p>
        </p:txBody>
      </p:sp>
      <p:sp>
        <p:nvSpPr>
          <p:cNvPr id="9" name="TextBox 8"/>
          <p:cNvSpPr txBox="1"/>
          <p:nvPr/>
        </p:nvSpPr>
        <p:spPr>
          <a:xfrm>
            <a:off x="704088"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は、原材料・部品を外部の取引先から仕入れる活動全般の管理です。特に、自社の製造工程の一部を外部の会社に委託することを外注（…</a:t>
            </a:r>
          </a:p>
        </p:txBody>
      </p:sp>
      <p:sp>
        <p:nvSpPr>
          <p:cNvPr id="10" name="Rounded Rectangle 9"/>
          <p:cNvSpPr/>
          <p:nvPr/>
        </p:nvSpPr>
        <p:spPr>
          <a:xfrm>
            <a:off x="4303776" y="1024128"/>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3776" y="1024128"/>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4" y="1115568"/>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特に、自社の製造工程の一部を外部の会社に委託する…</a:t>
            </a:r>
          </a:p>
        </p:txBody>
      </p:sp>
      <p:sp>
        <p:nvSpPr>
          <p:cNvPr id="13" name="Rounded Rectangle 12"/>
          <p:cNvSpPr/>
          <p:nvPr/>
        </p:nvSpPr>
        <p:spPr>
          <a:xfrm>
            <a:off x="8104632" y="1024128"/>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04632" y="1024128"/>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5800" y="1115568"/>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外注のメリットに</a:t>
            </a:r>
          </a:p>
        </p:txBody>
      </p:sp>
      <p:sp>
        <p:nvSpPr>
          <p:cNvPr id="16" name="TextBox 15"/>
          <p:cNvSpPr txBox="1"/>
          <p:nvPr/>
        </p:nvSpPr>
        <p:spPr>
          <a:xfrm>
            <a:off x="8305800"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自社に無い技術・設備を活用できる、自社の生産能力の変動を吸収できる（繁忙期だけ外注を増やす）、固定費を変動費化できる…</a:t>
            </a:r>
          </a:p>
        </p:txBody>
      </p:sp>
      <p:sp>
        <p:nvSpPr>
          <p:cNvPr id="17" name="Rounded Rectangle 16"/>
          <p:cNvSpPr/>
          <p:nvPr/>
        </p:nvSpPr>
        <p:spPr>
          <a:xfrm>
            <a:off x="502920" y="3145536"/>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3145536"/>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3236976"/>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一方デメリットとして、技術・ノウハウの流出リスク…</a:t>
            </a:r>
          </a:p>
        </p:txBody>
      </p:sp>
      <p:sp>
        <p:nvSpPr>
          <p:cNvPr id="20" name="Rounded Rectangle 19"/>
          <p:cNvSpPr/>
          <p:nvPr/>
        </p:nvSpPr>
        <p:spPr>
          <a:xfrm>
            <a:off x="4303776" y="3145536"/>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03776" y="3145536"/>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04944" y="3236976"/>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外注先の選定・管理で</a:t>
            </a:r>
          </a:p>
        </p:txBody>
      </p:sp>
      <p:sp>
        <p:nvSpPr>
          <p:cNvPr id="23" name="TextBox 22"/>
          <p:cNvSpPr txBox="1"/>
          <p:nvPr/>
        </p:nvSpPr>
        <p:spPr>
          <a:xfrm>
            <a:off x="4504944"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単に価格だけでなく、品質・納期の安定性、技術力、経営の安定性なども評価基準に含めるのが一般的です。</a:t>
            </a:r>
          </a:p>
        </p:txBody>
      </p:sp>
      <p:sp>
        <p:nvSpPr>
          <p:cNvPr id="24" name="Rounded Rectangle 23"/>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具体例｜ある町工場が、繁忙期にだけ生産量が急増する部品の加工を、近隣の協力会社に外注することで、自社で新たに設備投資・人員採用をせずに需要変動に対応する、というのは外注活用の典型例です。</a:t>
            </a:r>
          </a:p>
        </p:txBody>
      </p:sp>
      <p:sp>
        <p:nvSpPr>
          <p:cNvPr id="25" name="Rounded Rectangle 24"/>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外注は「コストを下げるためだけの手段」ではなく、「自社の生産能力の変動吸収」「専門技術の活用」など多様な目的で行われる点を理解しておきましょう。また、外注比率を高めすぎることが、自社の技術力・ノウハウの空洞化…</a:t>
            </a:r>
          </a:p>
        </p:txBody>
      </p:sp>
      <p:sp>
        <p:nvSpPr>
          <p:cNvPr id="26" name="Rectangle 25"/>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28" name="TextBox 27"/>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D-20</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在庫管理（ABC分析、発注方式、EOQ）</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Rounded Rectangle 5"/>
          <p:cNvSpPr/>
          <p:nvPr/>
        </p:nvSpPr>
        <p:spPr>
          <a:xfrm>
            <a:off x="838047" y="1024128"/>
            <a:ext cx="10515600" cy="640080"/>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1｜定量発注方式（発注点方式）　一定量（固定） / 在庫が「発注点」まで減った時点（需要変動により発注間隔は変動する）</a:t>
            </a:r>
          </a:p>
        </p:txBody>
      </p:sp>
      <p:sp>
        <p:nvSpPr>
          <p:cNvPr id="7" name="Rounded Rectangle 6"/>
          <p:cNvSpPr/>
          <p:nvPr/>
        </p:nvSpPr>
        <p:spPr>
          <a:xfrm>
            <a:off x="1409547" y="1828800"/>
            <a:ext cx="9372600" cy="640080"/>
          </a:xfrm>
          <a:prstGeom prst="roundRect">
            <a:avLst/>
          </a:prstGeom>
          <a:solidFill>
            <a:srgbClr val="FFFFFF"/>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2｜定期発注方式　その都度需要予測に基づき変動 / 一定の間隔（固定）</a:t>
            </a:r>
          </a:p>
        </p:txBody>
      </p:sp>
      <p:sp>
        <p:nvSpPr>
          <p:cNvPr id="8" name="Rounded Rectangle 7"/>
          <p:cNvSpPr/>
          <p:nvPr/>
        </p:nvSpPr>
        <p:spPr>
          <a:xfrm>
            <a:off x="1981047" y="2633472"/>
            <a:ext cx="8229600" cy="640080"/>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3｜在庫管理　は、欠品（品切れ）を防ぎつつ、過剰な在庫を持たないように在庫量をコントロールする活動です。</a:t>
            </a:r>
          </a:p>
        </p:txBody>
      </p:sp>
      <p:sp>
        <p:nvSpPr>
          <p:cNvPr id="9" name="Rounded Rectangle 8"/>
          <p:cNvSpPr/>
          <p:nvPr/>
        </p:nvSpPr>
        <p:spPr>
          <a:xfrm>
            <a:off x="2552547" y="3438144"/>
            <a:ext cx="7086600" cy="640080"/>
          </a:xfrm>
          <a:prstGeom prst="roundRect">
            <a:avLst/>
          </a:prstGeom>
          <a:solidFill>
            <a:srgbClr val="FFFFFF"/>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4｜ABC分析　は、多数の在庫品目を、金額（使用量×単価）の大きい順に並べ、累積構成比によって重要度をA・B・Cにランク分け…</a:t>
            </a:r>
          </a:p>
        </p:txBody>
      </p:sp>
      <p:sp>
        <p:nvSpPr>
          <p:cNvPr id="10" name="Rounded Rectangle 9"/>
          <p:cNvSpPr/>
          <p:nvPr/>
        </p:nvSpPr>
        <p:spPr>
          <a:xfrm>
            <a:off x="3124047" y="4242816"/>
            <a:ext cx="5943600" cy="640080"/>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5｜定量発注方式　は、発注量を固定する代わりに、発注のタイミング（間隔）が需要の増減によって変わります。管理の手間が少なく、重…</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具体例｜ある部品の年間需要量が3,600個、1回あたりの発注コストが800円、単位あたりの年間保管コストが40円だとすると、 EOQ＝√(2×3,600×800 ÷ 40)＝√(5,760,000÷40)＝√144,…</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注意｜安全在庫を厚くして欠品リスクを減らしたい場合は、安全係数を高く設定する必要があります。「安全係数を低くすれば欠品リスクが減る」という記述は誤りです。 ダブルビン方式の発注量は「補充点（発注点）の2倍」ではなく…</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D-21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品質管理（QC7つ道具、新QC7つ道具、TQM、ISO9000）</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Rounded Rectangle 5"/>
          <p:cNvSpPr/>
          <p:nvPr/>
        </p:nvSpPr>
        <p:spPr>
          <a:xfrm>
            <a:off x="731520" y="1143000"/>
            <a:ext cx="5230368" cy="162763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143000"/>
            <a:ext cx="73152" cy="162763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234440"/>
            <a:ext cx="491032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パレート図</a:t>
            </a:r>
          </a:p>
        </p:txBody>
      </p:sp>
      <p:sp>
        <p:nvSpPr>
          <p:cNvPr id="9" name="TextBox 8"/>
          <p:cNvSpPr txBox="1"/>
          <p:nvPr/>
        </p:nvSpPr>
        <p:spPr>
          <a:xfrm>
            <a:off x="932688"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不良項目等を件数の多い順に並べた棒グラフと、累積構成比の折れ線グラフを組み合わせ、重点的に取り組むべき項目を明らかにする</a:t>
            </a:r>
          </a:p>
        </p:txBody>
      </p:sp>
      <p:sp>
        <p:nvSpPr>
          <p:cNvPr id="10" name="Oval 9"/>
          <p:cNvSpPr/>
          <p:nvPr/>
        </p:nvSpPr>
        <p:spPr>
          <a:xfrm>
            <a:off x="548640" y="1014983"/>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1</a:t>
            </a:r>
          </a:p>
        </p:txBody>
      </p:sp>
      <p:sp>
        <p:nvSpPr>
          <p:cNvPr id="11" name="Rounded Rectangle 10"/>
          <p:cNvSpPr/>
          <p:nvPr/>
        </p:nvSpPr>
        <p:spPr>
          <a:xfrm>
            <a:off x="6236208" y="1143000"/>
            <a:ext cx="5230368" cy="162763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8" y="1143000"/>
            <a:ext cx="73152" cy="162763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234440"/>
            <a:ext cx="491032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特性要因図（フィッシュボーン図）</a:t>
            </a:r>
          </a:p>
        </p:txBody>
      </p:sp>
      <p:sp>
        <p:nvSpPr>
          <p:cNvPr id="14" name="TextBox 13"/>
          <p:cNvSpPr txBox="1"/>
          <p:nvPr/>
        </p:nvSpPr>
        <p:spPr>
          <a:xfrm>
            <a:off x="6437376"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問題（特性）に対する原因（要因）を、魚の骨のような図に整理する</a:t>
            </a:r>
          </a:p>
        </p:txBody>
      </p:sp>
      <p:sp>
        <p:nvSpPr>
          <p:cNvPr id="15" name="Oval 14"/>
          <p:cNvSpPr/>
          <p:nvPr/>
        </p:nvSpPr>
        <p:spPr>
          <a:xfrm>
            <a:off x="6053328" y="1014983"/>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2</a:t>
            </a:r>
          </a:p>
        </p:txBody>
      </p:sp>
      <p:sp>
        <p:nvSpPr>
          <p:cNvPr id="16" name="Rounded Rectangle 15"/>
          <p:cNvSpPr/>
          <p:nvPr/>
        </p:nvSpPr>
        <p:spPr>
          <a:xfrm>
            <a:off x="731520" y="3063240"/>
            <a:ext cx="5230368" cy="162763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063240"/>
            <a:ext cx="73152" cy="162763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154680"/>
            <a:ext cx="491032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ヒストグラム</a:t>
            </a:r>
          </a:p>
        </p:txBody>
      </p:sp>
      <p:sp>
        <p:nvSpPr>
          <p:cNvPr id="19" name="TextBox 18"/>
          <p:cNvSpPr txBox="1"/>
          <p:nvPr/>
        </p:nvSpPr>
        <p:spPr>
          <a:xfrm>
            <a:off x="932688" y="348386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計量値データの「ずれ」や「ばらつき」を柱状図で表し、工程の実力（工程能力）をつかむ</a:t>
            </a:r>
          </a:p>
        </p:txBody>
      </p:sp>
      <p:sp>
        <p:nvSpPr>
          <p:cNvPr id="20" name="Oval 19"/>
          <p:cNvSpPr/>
          <p:nvPr/>
        </p:nvSpPr>
        <p:spPr>
          <a:xfrm>
            <a:off x="548640" y="2935224"/>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3</a:t>
            </a:r>
          </a:p>
        </p:txBody>
      </p:sp>
      <p:sp>
        <p:nvSpPr>
          <p:cNvPr id="21" name="Rounded Rectangle 20"/>
          <p:cNvSpPr/>
          <p:nvPr/>
        </p:nvSpPr>
        <p:spPr>
          <a:xfrm>
            <a:off x="6236208" y="3063240"/>
            <a:ext cx="5230368" cy="162763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6208" y="3063240"/>
            <a:ext cx="73152" cy="162763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154680"/>
            <a:ext cx="491032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チェックシート</a:t>
            </a:r>
          </a:p>
        </p:txBody>
      </p:sp>
      <p:sp>
        <p:nvSpPr>
          <p:cNvPr id="24" name="TextBox 23"/>
          <p:cNvSpPr txBox="1"/>
          <p:nvPr/>
        </p:nvSpPr>
        <p:spPr>
          <a:xfrm>
            <a:off x="6437376" y="348386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点検項目をあらかじめ記載した用紙にデータを記録し、現状を数値化して客観的事実をつかむ</a:t>
            </a:r>
          </a:p>
        </p:txBody>
      </p:sp>
      <p:sp>
        <p:nvSpPr>
          <p:cNvPr id="25" name="Oval 24"/>
          <p:cNvSpPr/>
          <p:nvPr/>
        </p:nvSpPr>
        <p:spPr>
          <a:xfrm>
            <a:off x="6053328" y="2935224"/>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4</a:t>
            </a:r>
          </a:p>
        </p:txBody>
      </p:sp>
      <p:sp>
        <p:nvSpPr>
          <p:cNvPr id="26" name="Rounded Rectangle 2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具体例｜以下は令和7年度第1次試験で実際に出題された組み合わせ問題です。 マトリックス図法＝「不良の原因となっている事象の中から対になる要素を見つけ、解決手段の優先順位付けに用いる重みを求める」 ヒストグラム＝「計量…</a:t>
            </a:r>
          </a:p>
        </p:txBody>
      </p:sp>
      <p:sp>
        <p:nvSpPr>
          <p:cNvPr id="27" name="Rounded Rectangle 2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QC7つ道具と新QC7つ道具の名称と特徴の組み合わせを入れ替えた選択肢が頻出です（上の具体例のように、名称はQC7つ道具でも特徴の説明は別の手法のもの、という形で出題される）。「数値データ→QC7つ道具」「言…</a:t>
            </a:r>
          </a:p>
        </p:txBody>
      </p:sp>
      <p:sp>
        <p:nvSpPr>
          <p:cNvPr id="28" name="Rectangle 2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0" name="TextBox 2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D-22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廃棄物等の管理（環境保全法規、ISO14000）</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生産管理（D-1〜D-22）</a:t>
            </a:r>
          </a:p>
        </p:txBody>
      </p:sp>
      <p:sp>
        <p:nvSpPr>
          <p:cNvPr id="6" name="Rounded Rectangle 5"/>
          <p:cNvSpPr/>
          <p:nvPr/>
        </p:nvSpPr>
        <p:spPr>
          <a:xfrm>
            <a:off x="731520" y="1143000"/>
            <a:ext cx="5230368" cy="162763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143000"/>
            <a:ext cx="73152" cy="162763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234440"/>
            <a:ext cx="491032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廃棄物処理法</a:t>
            </a:r>
          </a:p>
        </p:txBody>
      </p:sp>
      <p:sp>
        <p:nvSpPr>
          <p:cNvPr id="9" name="TextBox 8"/>
          <p:cNvSpPr txBox="1"/>
          <p:nvPr/>
        </p:nvSpPr>
        <p:spPr>
          <a:xfrm>
            <a:off x="932688"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廃棄物の適正な処理（保管・収集運搬・処分）を義務付ける法律。産業廃棄物の処理を委託する際は、その処理が適切に行われたかを確…</a:t>
            </a:r>
          </a:p>
        </p:txBody>
      </p:sp>
      <p:sp>
        <p:nvSpPr>
          <p:cNvPr id="10" name="Oval 9"/>
          <p:cNvSpPr/>
          <p:nvPr/>
        </p:nvSpPr>
        <p:spPr>
          <a:xfrm>
            <a:off x="548640" y="1014983"/>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1</a:t>
            </a:r>
          </a:p>
        </p:txBody>
      </p:sp>
      <p:sp>
        <p:nvSpPr>
          <p:cNvPr id="11" name="Rounded Rectangle 10"/>
          <p:cNvSpPr/>
          <p:nvPr/>
        </p:nvSpPr>
        <p:spPr>
          <a:xfrm>
            <a:off x="6236208" y="1143000"/>
            <a:ext cx="5230368" cy="162763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8" y="1143000"/>
            <a:ext cx="73152" cy="162763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234440"/>
            <a:ext cx="491032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資源有効利用促進法</a:t>
            </a:r>
          </a:p>
        </p:txBody>
      </p:sp>
      <p:sp>
        <p:nvSpPr>
          <p:cNvPr id="14" name="TextBox 13"/>
          <p:cNvSpPr txBox="1"/>
          <p:nvPr/>
        </p:nvSpPr>
        <p:spPr>
          <a:xfrm>
            <a:off x="6437376"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3R（D-3参照）の考え方に基づき、資源の有効利用・リサイクルを事業者に促す法律</a:t>
            </a:r>
          </a:p>
        </p:txBody>
      </p:sp>
      <p:sp>
        <p:nvSpPr>
          <p:cNvPr id="15" name="Oval 14"/>
          <p:cNvSpPr/>
          <p:nvPr/>
        </p:nvSpPr>
        <p:spPr>
          <a:xfrm>
            <a:off x="6053328" y="1014983"/>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2</a:t>
            </a:r>
          </a:p>
        </p:txBody>
      </p:sp>
      <p:sp>
        <p:nvSpPr>
          <p:cNvPr id="16" name="Rounded Rectangle 15"/>
          <p:cNvSpPr/>
          <p:nvPr/>
        </p:nvSpPr>
        <p:spPr>
          <a:xfrm>
            <a:off x="731520" y="3063240"/>
            <a:ext cx="5230368" cy="162763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063240"/>
            <a:ext cx="73152" cy="162763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154680"/>
            <a:ext cx="491032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ISO14000シリーズ</a:t>
            </a:r>
          </a:p>
        </p:txBody>
      </p:sp>
      <p:sp>
        <p:nvSpPr>
          <p:cNvPr id="19" name="TextBox 18"/>
          <p:cNvSpPr txBox="1"/>
          <p:nvPr/>
        </p:nvSpPr>
        <p:spPr>
          <a:xfrm>
            <a:off x="932688" y="348386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環境マネジメントシステムに関する国際規格。ISO9000（品質、D-21参照）と同様、企業が環境負荷低減のための管理体制を…</a:t>
            </a:r>
          </a:p>
        </p:txBody>
      </p:sp>
      <p:sp>
        <p:nvSpPr>
          <p:cNvPr id="20" name="Oval 19"/>
          <p:cNvSpPr/>
          <p:nvPr/>
        </p:nvSpPr>
        <p:spPr>
          <a:xfrm>
            <a:off x="548640" y="2935224"/>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3</a:t>
            </a:r>
          </a:p>
        </p:txBody>
      </p:sp>
      <p:sp>
        <p:nvSpPr>
          <p:cNvPr id="21" name="Rounded Rectangle 20"/>
          <p:cNvSpPr/>
          <p:nvPr/>
        </p:nvSpPr>
        <p:spPr>
          <a:xfrm>
            <a:off x="6236208" y="3063240"/>
            <a:ext cx="5230368" cy="162763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6208" y="3063240"/>
            <a:ext cx="73152" cy="162763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154680"/>
            <a:ext cx="491032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企業活動に伴う廃棄物・環境負荷を管理するための法…</a:t>
            </a:r>
          </a:p>
        </p:txBody>
      </p:sp>
      <p:sp>
        <p:nvSpPr>
          <p:cNvPr id="24" name="Oval 23"/>
          <p:cNvSpPr/>
          <p:nvPr/>
        </p:nvSpPr>
        <p:spPr>
          <a:xfrm>
            <a:off x="6053328" y="2935224"/>
            <a:ext cx="438912" cy="438912"/>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4</a:t>
            </a:r>
          </a:p>
        </p:txBody>
      </p:sp>
      <p:sp>
        <p:nvSpPr>
          <p:cNvPr id="25" name="Rounded Rectangle 24"/>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工場から出る廃油や汚泥などの産業廃棄物を専門の処理業者に委託する際、その廃棄物がきちんと最終処分まで適正に処理されたかどうかを、排出事業者自身がマニフェストを使って把握・記録する義務があります。</a:t>
            </a:r>
          </a:p>
        </p:txBody>
      </p:sp>
      <p:sp>
        <p:nvSpPr>
          <p:cNvPr id="26" name="Rounded Rectangle 25"/>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マニフェスト制度は「処理業者に委託すれば排出事業者の責任は完全に終わる」という考え方ではなく、排出事業者にも最終処分までの適正処理を確認する責任がある、という点がポイントです。ISO14000は品質規格（IS…</a:t>
            </a:r>
          </a:p>
        </p:txBody>
      </p:sp>
      <p:sp>
        <p:nvSpPr>
          <p:cNvPr id="27" name="Rectangle 26"/>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29" name="TextBox 28"/>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F0FDF4"/>
          </a:solidFill>
          <a:ln w="25400">
            <a:solidFill>
              <a:srgbClr val="7EB9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15803D"/>
                </a:solidFill>
                <a:latin typeface="WenQuanYi Micro Hei"/>
              </a:rPr>
              <a:t>SECTION 02</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店舗・販売管理</a:t>
            </a:r>
          </a:p>
        </p:txBody>
      </p:sp>
      <p:sp>
        <p:nvSpPr>
          <p:cNvPr id="6" name="Rounded Rectangle 5"/>
          <p:cNvSpPr/>
          <p:nvPr/>
        </p:nvSpPr>
        <p:spPr>
          <a:xfrm>
            <a:off x="4261104" y="3968496"/>
            <a:ext cx="3657600" cy="749808"/>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13 論点</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D-23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店舗施設に関する法律知識（大規模小売店舗立地法、都市計画法）</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店舗・販売管理（D-23〜D-35）</a:t>
            </a:r>
          </a:p>
        </p:txBody>
      </p:sp>
      <p:sp>
        <p:nvSpPr>
          <p:cNvPr id="6" name="Rounded Rectangle 5"/>
          <p:cNvSpPr/>
          <p:nvPr/>
        </p:nvSpPr>
        <p:spPr>
          <a:xfrm>
            <a:off x="566928"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まちづくり三法</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」と呼ばれます。</a:t>
            </a:r>
          </a:p>
        </p:txBody>
      </p:sp>
      <p:sp>
        <p:nvSpPr>
          <p:cNvPr id="10" name="Chevron 9"/>
          <p:cNvSpPr/>
          <p:nvPr/>
        </p:nvSpPr>
        <p:spPr>
          <a:xfrm>
            <a:off x="2456078"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大規模小売店舗立地法（大店立地…</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店舗面積1,000㎡を超える大規模小売店舗を新設・変更する際、周辺の生活環境（交通…</a:t>
            </a:r>
          </a:p>
        </p:txBody>
      </p:sp>
      <p:sp>
        <p:nvSpPr>
          <p:cNvPr id="15" name="Chevron 14"/>
          <p:cNvSpPr/>
          <p:nvPr/>
        </p:nvSpPr>
        <p:spPr>
          <a:xfrm>
            <a:off x="4765852"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都市計画法</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街づくり全体のルールを定める法律で、用途地域（住居系・商業系・工業系など）ごとに…</a:t>
            </a:r>
          </a:p>
        </p:txBody>
      </p:sp>
      <p:sp>
        <p:nvSpPr>
          <p:cNvPr id="20" name="Chevron 19"/>
          <p:cNvSpPr/>
          <p:nvPr/>
        </p:nvSpPr>
        <p:spPr>
          <a:xfrm>
            <a:off x="7075627"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中心市街地活性化法</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郊外への大型店の出店等によって衰退した中心市街地（駅前商店街等）を活性化するための…</a:t>
            </a:r>
          </a:p>
        </p:txBody>
      </p:sp>
      <p:sp>
        <p:nvSpPr>
          <p:cNvPr id="25" name="Chevron 24"/>
          <p:cNvSpPr/>
          <p:nvPr/>
        </p:nvSpPr>
        <p:spPr>
          <a:xfrm>
            <a:off x="9385401"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大規模な店舗を新しく出店する際に</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複数の法律が関わってきます。</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企業が郊外に延床面積2,000㎡のショッピングセンターを出店する場合、まず都市計画法上その土地が店舗建設可能な用途地域かを確認し、次に大店立地法に基づき、周辺の交通量増加への対策（駐車場の確保、搬入車両の…</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大店立地法の目的を「中小小売業者の保護」だと誤解しないようにしましょう。大店立地法は生活環境の保持が目的であり、既存の商店街との競争調整を目的とした法律ではありません（この点はかつての大店法との重要な違いです…</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D-24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店舗立地と出店（立地条件、商圏分析）</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店舗・販売管理（D-23〜D-35）</a:t>
            </a:r>
          </a:p>
        </p:txBody>
      </p:sp>
      <p:sp>
        <p:nvSpPr>
          <p:cNvPr id="6" name="Rounded Rectangle 5"/>
          <p:cNvSpPr/>
          <p:nvPr/>
        </p:nvSpPr>
        <p:spPr>
          <a:xfrm>
            <a:off x="566928" y="1051560"/>
            <a:ext cx="5394960" cy="420624"/>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商圏</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）を分析する必要があります。代表的な理論が次の2つです。</a:t>
            </a:r>
          </a:p>
        </p:txBody>
      </p:sp>
      <p:sp>
        <p:nvSpPr>
          <p:cNvPr id="11" name="Rounded Rectangle 10"/>
          <p:cNvSpPr/>
          <p:nvPr/>
        </p:nvSpPr>
        <p:spPr>
          <a:xfrm>
            <a:off x="566928"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ライリーの法則</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2つの都市（商業集積）の間にある地点から、それぞれの都市への購買力の吸引力の比は、両都市の人口に比例し、その地点までの距離…</a:t>
            </a:r>
          </a:p>
        </p:txBody>
      </p:sp>
      <p:sp>
        <p:nvSpPr>
          <p:cNvPr id="15" name="Rounded Rectangle 14"/>
          <p:cNvSpPr/>
          <p:nvPr/>
        </p:nvSpPr>
        <p:spPr>
          <a:xfrm>
            <a:off x="566928" y="398678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吸引力の比（A：B）＝（人口A ÷ 人口B）×…</a:t>
            </a:r>
          </a:p>
        </p:txBody>
      </p:sp>
      <p:sp>
        <p:nvSpPr>
          <p:cNvPr id="18" name="Rounded Rectangle 17"/>
          <p:cNvSpPr/>
          <p:nvPr/>
        </p:nvSpPr>
        <p:spPr>
          <a:xfrm>
            <a:off x="6217920" y="1051560"/>
            <a:ext cx="5394960" cy="420624"/>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15803D"/>
                </a:solidFill>
                <a:latin typeface="WenQuanYi Micro Hei"/>
              </a:rPr>
              <a:t>視点 B</a:t>
            </a:r>
          </a:p>
        </p:txBody>
      </p:sp>
      <p:sp>
        <p:nvSpPr>
          <p:cNvPr id="19" name="Rounded Rectangle 18"/>
          <p:cNvSpPr/>
          <p:nvPr/>
        </p:nvSpPr>
        <p:spPr>
          <a:xfrm>
            <a:off x="6217920"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ハフモデル</a:t>
            </a:r>
          </a:p>
        </p:txBody>
      </p:sp>
      <p:sp>
        <p:nvSpPr>
          <p:cNvPr id="22" name="TextBox 21"/>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ある消費者が、複数の店舗の中からどの店舗を選ぶかの確率を、各店舗の売場面積（大きいほど魅力度が高い）と、消費者からその店舗…</a:t>
            </a:r>
          </a:p>
        </p:txBody>
      </p:sp>
      <p:sp>
        <p:nvSpPr>
          <p:cNvPr id="23" name="Rounded Rectangle 22"/>
          <p:cNvSpPr/>
          <p:nvPr/>
        </p:nvSpPr>
        <p:spPr>
          <a:xfrm>
            <a:off x="6217920"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店舗Aへの来店確率＝（店舗Aの売場面積 ÷ 距…</a:t>
            </a:r>
          </a:p>
        </p:txBody>
      </p:sp>
      <p:sp>
        <p:nvSpPr>
          <p:cNvPr id="26" name="TextBox 25"/>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（dは距離抵抗係数。日本の実情に合わせて距離抵抗係数を2に固定した「修正ハフモデル」が経済産業省の商圏分析等でも使われてい…</a:t>
            </a:r>
          </a:p>
        </p:txBody>
      </p:sp>
      <p:sp>
        <p:nvSpPr>
          <p:cNvPr id="27" name="Rounded Rectangle 26"/>
          <p:cNvSpPr/>
          <p:nvPr/>
        </p:nvSpPr>
        <p:spPr>
          <a:xfrm>
            <a:off x="6217920" y="398678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398678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店舗を出店する際</a:t>
            </a:r>
          </a:p>
        </p:txBody>
      </p:sp>
      <p:sp>
        <p:nvSpPr>
          <p:cNvPr id="30" name="TextBox 29"/>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その場所がどれだけの顧客を集められるか（商圏）を分析する必要があります。</a:t>
            </a:r>
          </a:p>
        </p:txBody>
      </p:sp>
      <p:sp>
        <p:nvSpPr>
          <p:cNvPr id="31" name="Rounded Rectangle 3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具体例｜A市とB市の人口比がA：B＝3：8のとき、中間にあるX町からの吸引力の比がA：B＝3：2だったとします。 3／2＝（3／8）×（距離B ÷ 距離A）² （距離B ÷ 距離A）²＝(3/2)÷(3/8)＝(3/…</a:t>
            </a:r>
          </a:p>
        </p:txBody>
      </p:sp>
      <p:sp>
        <p:nvSpPr>
          <p:cNvPr id="32" name="Rounded Rectangle 3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ライリーの法則の公式で、距離の比を「2乗する」ことを忘れる計算ミスに注意しましょう。また、「人口が少ない都市の方が吸引力が強くなる」ような一見不自然に見える結果でも、その分「距離が近い」という条件が効いていれ…</a:t>
            </a:r>
          </a:p>
        </p:txBody>
      </p:sp>
      <p:sp>
        <p:nvSpPr>
          <p:cNvPr id="33" name="Rectangle 3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5" name="TextBox 3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D-25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商業集積と業種・業態（SC、商店街、無店舗販売）</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店舗・販売管理（D-23〜D-35）</a:t>
            </a:r>
          </a:p>
        </p:txBody>
      </p:sp>
      <p:sp>
        <p:nvSpPr>
          <p:cNvPr id="6" name="Rounded Rectangle 5"/>
          <p:cNvSpPr/>
          <p:nvPr/>
        </p:nvSpPr>
        <p:spPr>
          <a:xfrm>
            <a:off x="566928" y="1051560"/>
            <a:ext cx="5394960" cy="420624"/>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ショッピングセンター（SC）</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デベロッパー（開発業者）が計画的に開発・運営する、複数のテナントからなる商業施設。核店舗（大型のキーテナント）と専門店が組…</a:t>
            </a:r>
          </a:p>
        </p:txBody>
      </p:sp>
      <p:sp>
        <p:nvSpPr>
          <p:cNvPr id="11" name="Rounded Rectangle 10"/>
          <p:cNvSpPr/>
          <p:nvPr/>
        </p:nvSpPr>
        <p:spPr>
          <a:xfrm>
            <a:off x="566928"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商店街</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特定の地域に自然発生的に形成された、独立した複数の小売店の集まり</a:t>
            </a:r>
          </a:p>
        </p:txBody>
      </p:sp>
      <p:sp>
        <p:nvSpPr>
          <p:cNvPr id="15" name="Rounded Rectangle 14"/>
          <p:cNvSpPr/>
          <p:nvPr/>
        </p:nvSpPr>
        <p:spPr>
          <a:xfrm>
            <a:off x="566928" y="398678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無店舗販売</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物理的な実店舗を持たず販売する形態（通信販売、訪問販売、自動販売機、インターネット通販など）</a:t>
            </a:r>
          </a:p>
        </p:txBody>
      </p:sp>
      <p:sp>
        <p:nvSpPr>
          <p:cNvPr id="19" name="Rounded Rectangle 18"/>
          <p:cNvSpPr/>
          <p:nvPr/>
        </p:nvSpPr>
        <p:spPr>
          <a:xfrm>
            <a:off x="6217920" y="1051560"/>
            <a:ext cx="5394960" cy="420624"/>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15803D"/>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業種</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は「何を売るか」（例：酒屋、米屋、電器店）による分類、業態は「どのような売り方をするか」（例：コンビニエンスストア、ディス…</a:t>
            </a:r>
          </a:p>
        </p:txBody>
      </p:sp>
      <p:sp>
        <p:nvSpPr>
          <p:cNvPr id="24" name="Rounded Rectangle 23"/>
          <p:cNvSpPr/>
          <p:nvPr/>
        </p:nvSpPr>
        <p:spPr>
          <a:xfrm>
            <a:off x="6217920"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店舗が集まる形態（商業集積）に</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いくつかの種類があります。</a:t>
            </a:r>
          </a:p>
        </p:txBody>
      </p:sp>
      <p:sp>
        <p:nvSpPr>
          <p:cNvPr id="28" name="Rounded Rectangle 27"/>
          <p:cNvSpPr/>
          <p:nvPr/>
        </p:nvSpPr>
        <p:spPr>
          <a:xfrm>
            <a:off x="6217920" y="398678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また、「業種」と「業態」の違いも重要です。</a:t>
            </a:r>
          </a:p>
        </p:txBody>
      </p:sp>
      <p:sp>
        <p:nvSpPr>
          <p:cNvPr id="31" name="Rounded Rectangle 3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電器店」は業種による分類ですが、同じ電化製品を扱っていても「町の個人商店（業種型の専門小売店）」と「郊外型の家電量販店（業態としてのディスカウントストア／カテゴリーキラー）」では、品揃えの幅・価格戦略・接客…</a:t>
            </a:r>
          </a:p>
        </p:txBody>
      </p:sp>
      <p:sp>
        <p:nvSpPr>
          <p:cNvPr id="32" name="Rounded Rectangle 3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業種」（何を売るか）と「業態」（どう売るか）の違いを逆に覚えないようにしましょう。近年の小売業の変化（コンビニ、ドラッグストア、ネットスーパー等の台頭）は、多くが「業種」ではなく「業態」の多様化として説明さ…</a:t>
            </a:r>
          </a:p>
        </p:txBody>
      </p:sp>
      <p:sp>
        <p:nvSpPr>
          <p:cNvPr id="33" name="Rectangle 3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5" name="TextBox 3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D-26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商品販売計画（販売・仕入予算、商品構成、品揃え）</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店舗・販売管理（D-23〜D-35）</a:t>
            </a:r>
          </a:p>
        </p:txBody>
      </p:sp>
      <p:sp>
        <p:nvSpPr>
          <p:cNvPr id="6" name="Rounded Rectangle 5"/>
          <p:cNvSpPr/>
          <p:nvPr/>
        </p:nvSpPr>
        <p:spPr>
          <a:xfrm>
            <a:off x="566928"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マーチャンダイジング（商品化計…</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とは、「どんな商品を、どれだけ、いつ、いくらで仕入れて売るか」を計画する活動全般を…</a:t>
            </a:r>
          </a:p>
        </p:txBody>
      </p:sp>
      <p:sp>
        <p:nvSpPr>
          <p:cNvPr id="10" name="Chevron 9"/>
          <p:cNvSpPr/>
          <p:nvPr/>
        </p:nvSpPr>
        <p:spPr>
          <a:xfrm>
            <a:off x="2456078"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幅</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」（取り扱う商品カテゴリーの多さ）と「奥行き（深さ）」（1つのカテゴリー内でのバリ…</a:t>
            </a:r>
          </a:p>
        </p:txBody>
      </p:sp>
      <p:sp>
        <p:nvSpPr>
          <p:cNvPr id="15" name="Chevron 14"/>
          <p:cNvSpPr/>
          <p:nvPr/>
        </p:nvSpPr>
        <p:spPr>
          <a:xfrm>
            <a:off x="4765852"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その基礎となるのが販売計画・仕…</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20" name="Chevron 19"/>
          <p:cNvSpPr/>
          <p:nvPr/>
        </p:nvSpPr>
        <p:spPr>
          <a:xfrm>
            <a:off x="7075627"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商品構成・品揃えを考えるうえで…</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25" name="Chevron 24"/>
          <p:cNvSpPr/>
          <p:nvPr/>
        </p:nvSpPr>
        <p:spPr>
          <a:xfrm>
            <a:off x="9385401"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例えば、コンビニ</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限られた売場面積の中で「幅」を重視した品揃え（多様なカテゴリーを少しずつ）を、専門…</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コンビニは、食品・日用品・雑誌・文房具など幅広いカテゴリー（幅が広い）を扱う一方、各カテゴリー内の品目数（奥行き）は絞り込んでいます。逆にスポーツ用品専門店は、扱うカテゴリー（幅）は狭い代わりに、1つの競技用…</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幅」と「奥行き」という2つの軸を、単に「品揃えが多いか少ないか」という1つの軸で捉えないようにしましょう。同じ「品揃えが豊富」でも、幅が広いのか奥行きが深いのかで、店舗の戦略的な性格が異なります。</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D-27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商品調達・取引条件（仕入方法、仕入先選定）</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店舗・販売管理（D-23〜D-35）</a:t>
            </a:r>
          </a:p>
        </p:txBody>
      </p:sp>
      <p:sp>
        <p:nvSpPr>
          <p:cNvPr id="6" name="Rounded Rectangle 5"/>
          <p:cNvSpPr/>
          <p:nvPr/>
        </p:nvSpPr>
        <p:spPr>
          <a:xfrm>
            <a:off x="566928" y="1051560"/>
            <a:ext cx="5394960" cy="420624"/>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随時仕入</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必要な都度、その時の状況に応じて仕入れる方法</a:t>
            </a:r>
          </a:p>
        </p:txBody>
      </p:sp>
      <p:sp>
        <p:nvSpPr>
          <p:cNvPr id="11" name="Rounded Rectangle 10"/>
          <p:cNvSpPr/>
          <p:nvPr/>
        </p:nvSpPr>
        <p:spPr>
          <a:xfrm>
            <a:off x="566928"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定期仕入（計画仕入）</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あらかじめ定めたスケジュールに沿って、定期的に仕入れる方法</a:t>
            </a:r>
          </a:p>
        </p:txBody>
      </p:sp>
      <p:sp>
        <p:nvSpPr>
          <p:cNvPr id="15" name="Rounded Rectangle 14"/>
          <p:cNvSpPr/>
          <p:nvPr/>
        </p:nvSpPr>
        <p:spPr>
          <a:xfrm>
            <a:off x="566928" y="398678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一括大量仕入</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まとめて大量に仕入れ、単価を引き下げる方法（ただし在庫リスクが増す）</a:t>
            </a:r>
          </a:p>
        </p:txBody>
      </p:sp>
      <p:sp>
        <p:nvSpPr>
          <p:cNvPr id="19" name="Rounded Rectangle 18"/>
          <p:cNvSpPr/>
          <p:nvPr/>
        </p:nvSpPr>
        <p:spPr>
          <a:xfrm>
            <a:off x="6217920" y="1051560"/>
            <a:ext cx="5394960" cy="420624"/>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15803D"/>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committed（消化）仕入・売上仕入</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百貨店などで見られる、店頭に並べた商品が実際に売れた時点で仕入（仕入先からの買取）が成立したとみなす方式。売れ残りリスクを…</a:t>
            </a:r>
          </a:p>
        </p:txBody>
      </p:sp>
      <p:sp>
        <p:nvSpPr>
          <p:cNvPr id="24" name="Rounded Rectangle 23"/>
          <p:cNvSpPr/>
          <p:nvPr/>
        </p:nvSpPr>
        <p:spPr>
          <a:xfrm>
            <a:off x="6217920"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商品の仕入方法に</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大きく分けて次のようなものがあります。</a:t>
            </a:r>
          </a:p>
        </p:txBody>
      </p:sp>
      <p:sp>
        <p:nvSpPr>
          <p:cNvPr id="28" name="Rounded Rectangle 27"/>
          <p:cNvSpPr/>
          <p:nvPr/>
        </p:nvSpPr>
        <p:spPr>
          <a:xfrm>
            <a:off x="6217920" y="398678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仕入先を選定する際</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価格だけでなく、品質の安定性、納期の確実性、取引の継続性、与信（支払条件）なども総合的に評価します。</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百貨店のアパレル売場でよく見られる「消化仕入」では、商品が売れるまでは所有権が仕入先（メーカーや卸）に残っており、売れた分だけ百貨店が仕入れたことになります。これにより百貨店は在庫リスクを負わずに幅広い品揃え…</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注意｜「消化仕入では、商品を店頭に並べた時点で仕入が成立する」という誤解に注意しましょう。消化仕入で仕入が成立するのは、あくまで実際に販売された時点です。</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D-28</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売場構成・陳列（VMD、棚割り）</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店舗・販売管理（D-23〜D-35）</a:t>
            </a:r>
          </a:p>
        </p:txBody>
      </p:sp>
      <p:sp>
        <p:nvSpPr>
          <p:cNvPr id="6" name="Rounded Rectangle 5"/>
          <p:cNvSpPr/>
          <p:nvPr/>
        </p:nvSpPr>
        <p:spPr>
          <a:xfrm>
            <a:off x="838047" y="1024128"/>
            <a:ext cx="10515600" cy="640080"/>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1｜VMD（ビジュアル・マーチャンダイジング）　とは、店舗の商品を、顧客にとって見やすく・選びやすく・買いたくなるように、視覚的に演出する手法・活動全般を指…</a:t>
            </a:r>
          </a:p>
        </p:txBody>
      </p:sp>
      <p:sp>
        <p:nvSpPr>
          <p:cNvPr id="7" name="Rounded Rectangle 6"/>
          <p:cNvSpPr/>
          <p:nvPr/>
        </p:nvSpPr>
        <p:spPr>
          <a:xfrm>
            <a:off x="1409547" y="1828800"/>
            <a:ext cx="9372600" cy="640080"/>
          </a:xfrm>
          <a:prstGeom prst="roundRect">
            <a:avLst/>
          </a:prstGeom>
          <a:solidFill>
            <a:srgbClr val="FFFFFF"/>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2｜VP（Visual Presentation：…　、コーナーごとの商品テーマを見せるPP（Point of Presentation：コーナーの目立つ場所での…</a:t>
            </a:r>
          </a:p>
        </p:txBody>
      </p:sp>
      <p:sp>
        <p:nvSpPr>
          <p:cNvPr id="8" name="Rounded Rectangle 7"/>
          <p:cNvSpPr/>
          <p:nvPr/>
        </p:nvSpPr>
        <p:spPr>
          <a:xfrm>
            <a:off x="1981047" y="2633472"/>
            <a:ext cx="8229600" cy="640080"/>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3｜棚割り　とは、限られた棚のスペースに、どの商品を・どの位置に・どれだけの数量（フェイス数）で並べるかを決める活動です…</a:t>
            </a:r>
          </a:p>
        </p:txBody>
      </p:sp>
      <p:sp>
        <p:nvSpPr>
          <p:cNvPr id="9" name="Rounded Rectangle 8"/>
          <p:cNvSpPr/>
          <p:nvPr/>
        </p:nvSpPr>
        <p:spPr>
          <a:xfrm>
            <a:off x="2552547" y="3438144"/>
            <a:ext cx="7086600" cy="640080"/>
          </a:xfrm>
          <a:prstGeom prst="roundRect">
            <a:avLst/>
          </a:prstGeom>
          <a:solidFill>
            <a:srgbClr val="FFFFFF"/>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4｜単に商品を並べるだけでなく、「見せ方」を通じて売上を高…　</a:t>
            </a:r>
          </a:p>
        </p:txBody>
      </p:sp>
      <p:sp>
        <p:nvSpPr>
          <p:cNvPr id="10" name="Rounded Rectangle 9"/>
          <p:cNvSpPr/>
          <p:nvPr/>
        </p:nvSpPr>
        <p:spPr>
          <a:xfrm>
            <a:off x="3124047" y="4242816"/>
            <a:ext cx="5943600" cy="640080"/>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5｜VMDの実務で　店舗全体の空間構成を考えるVP（Visual Presentation：ストア全体・ウィンドウ等での提案演出…</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スーパーマーケットの入り口付近に季節の目玉商品を大きく展示する（VP）、特定コーナーの棚の上に「本日のおすすめ」というポップと共に商品を目立たせる（PP）、実際の陳列棚で商品を整然と並べる（IP）、という3階…</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VMDの3階層（VP・PP・IP）は、それぞれ「店舗全体」「コーナー単位」「個々の商品陳列」という異なるスケール（範囲）を扱っている点を区別しましょう。名称の順序（VP→PP→IP）と、対象範囲の大小（大→中…</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D-29</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価格設定（価格政策、特売・値下げ）</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店舗・販売管理（D-23〜D-35）</a:t>
            </a:r>
          </a:p>
        </p:txBody>
      </p:sp>
      <p:sp>
        <p:nvSpPr>
          <p:cNvPr id="6" name="Rounded Rectangle 5"/>
          <p:cNvSpPr/>
          <p:nvPr/>
        </p:nvSpPr>
        <p:spPr>
          <a:xfrm>
            <a:off x="566928" y="1051560"/>
            <a:ext cx="5394960" cy="420624"/>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エブリデー・ロー・プライス（EDLP）</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特売を頻繁に行わず、常に低価格を維持する価格政策。顧客に「いつ来ても安い」という信頼感を与える一方、値下げによる集客効果は…</a:t>
            </a:r>
          </a:p>
        </p:txBody>
      </p:sp>
      <p:sp>
        <p:nvSpPr>
          <p:cNvPr id="11" name="Rounded Rectangle 10"/>
          <p:cNvSpPr/>
          <p:nvPr/>
        </p:nvSpPr>
        <p:spPr>
          <a:xfrm>
            <a:off x="566928"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ハイ・ロー・プライシング</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普段は通常価格で、定期的に特売（値下げ）を行うことでメリハリをつけ、集客を図る価格政策</a:t>
            </a:r>
          </a:p>
        </p:txBody>
      </p:sp>
      <p:sp>
        <p:nvSpPr>
          <p:cNvPr id="15" name="Rounded Rectangle 14"/>
          <p:cNvSpPr/>
          <p:nvPr/>
        </p:nvSpPr>
        <p:spPr>
          <a:xfrm>
            <a:off x="566928" y="398678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端数価格政策</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「1,000円」ではなく「980円」のように、あえて端数のある価格を付け、実際以上に割安な印象を与える手法</a:t>
            </a:r>
          </a:p>
        </p:txBody>
      </p:sp>
      <p:sp>
        <p:nvSpPr>
          <p:cNvPr id="19" name="Rounded Rectangle 18"/>
          <p:cNvSpPr/>
          <p:nvPr/>
        </p:nvSpPr>
        <p:spPr>
          <a:xfrm>
            <a:off x="6217920" y="1051560"/>
            <a:ext cx="5394960" cy="420624"/>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15803D"/>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交差比率</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があります。</a:t>
            </a:r>
          </a:p>
        </p:txBody>
      </p:sp>
      <p:sp>
        <p:nvSpPr>
          <p:cNvPr id="24" name="Rounded Rectangle 23"/>
          <p:cNvSpPr/>
          <p:nvPr/>
        </p:nvSpPr>
        <p:spPr>
          <a:xfrm>
            <a:off x="6217920"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交差比率＝粗利益率 × 商品回転率</a:t>
            </a:r>
          </a:p>
        </p:txBody>
      </p:sp>
      <p:sp>
        <p:nvSpPr>
          <p:cNvPr id="27" name="Rounded Rectangle 26"/>
          <p:cNvSpPr/>
          <p:nvPr/>
        </p:nvSpPr>
        <p:spPr>
          <a:xfrm>
            <a:off x="6217920" y="398678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398678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小売業における価格設定の代表的な考え方に</a:t>
            </a:r>
          </a:p>
        </p:txBody>
      </p:sp>
      <p:sp>
        <p:nvSpPr>
          <p:cNvPr id="30" name="TextBox 29"/>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次のようなものがあります。</a:t>
            </a:r>
          </a:p>
        </p:txBody>
      </p:sp>
      <p:sp>
        <p:nvSpPr>
          <p:cNvPr id="31" name="Rounded Rectangle 3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商品の粗利益率が20％、商品回転率（年間）が10回だとすると、交差比率＝0.2×10＝2.0です。別の商品が粗利益率40％、回転率3回であれば交差比率＝0.4×3＝1.2となり、粗利益率は低くても回転率の…</a:t>
            </a:r>
          </a:p>
        </p:txBody>
      </p:sp>
      <p:sp>
        <p:nvSpPr>
          <p:cNvPr id="32" name="Rounded Rectangle 3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粗利益率が高い商品ほど、必ず優良な商品である」という短絡的な判断に注意しましょう。在庫効率まで含めて評価する場合は、粗利益率だけでなく商品回転率も掛け合わせた交差比率で判断する必要があります。EDLPとハイ…</a:t>
            </a:r>
          </a:p>
        </p:txBody>
      </p:sp>
      <p:sp>
        <p:nvSpPr>
          <p:cNvPr id="33" name="Rectangle 3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5" name="TextBox 3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D-30</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販売促進計画（店内・店外プロモーション）</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店舗・販売管理（D-23〜D-35）</a:t>
            </a:r>
          </a:p>
        </p:txBody>
      </p:sp>
      <p:sp>
        <p:nvSpPr>
          <p:cNvPr id="6" name="Rounded Rectangle 5"/>
          <p:cNvSpPr/>
          <p:nvPr/>
        </p:nvSpPr>
        <p:spPr>
          <a:xfrm>
            <a:off x="566928"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店外プロモーション</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チラシ、屋外広告、SNS広告など、店の外にいる潜在顧客に来店を促す活動</a:t>
            </a:r>
          </a:p>
        </p:txBody>
      </p:sp>
      <p:sp>
        <p:nvSpPr>
          <p:cNvPr id="10" name="Chevron 9"/>
          <p:cNvSpPr/>
          <p:nvPr/>
        </p:nvSpPr>
        <p:spPr>
          <a:xfrm>
            <a:off x="2456078"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店内プロモーション</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来店した顧客に対して、店内で追加購買（アップセル・クロスセル）を促す活動。POP広…</a:t>
            </a:r>
          </a:p>
        </p:txBody>
      </p:sp>
      <p:sp>
        <p:nvSpPr>
          <p:cNvPr id="15" name="Chevron 14"/>
          <p:cNvSpPr/>
          <p:nvPr/>
        </p:nvSpPr>
        <p:spPr>
          <a:xfrm>
            <a:off x="4765852"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リベート（販売奨励金）</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や、小売店とメーカーが共同で行う共同販促なども販促計画の一部です。</a:t>
            </a:r>
          </a:p>
        </p:txBody>
      </p:sp>
      <p:sp>
        <p:nvSpPr>
          <p:cNvPr id="20" name="Chevron 19"/>
          <p:cNvSpPr/>
          <p:nvPr/>
        </p:nvSpPr>
        <p:spPr>
          <a:xfrm>
            <a:off x="7075627"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小売業の販売促進（プロモーショ…</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実施される場所によって大きく2つに分けられます。</a:t>
            </a:r>
          </a:p>
        </p:txBody>
      </p:sp>
      <p:sp>
        <p:nvSpPr>
          <p:cNvPr id="25" name="Chevron 24"/>
          <p:cNvSpPr/>
          <p:nvPr/>
        </p:nvSpPr>
        <p:spPr>
          <a:xfrm>
            <a:off x="9385401" y="2596896"/>
            <a:ext cx="310896" cy="640080"/>
          </a:xfrm>
          <a:prstGeom prst="chevron">
            <a:avLst/>
          </a:prstGeom>
          <a:solidFill>
            <a:srgbClr val="57A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F0FDF4"/>
          </a:solidFill>
          <a:ln w="1778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15803D"/>
                </a:solidFill>
                <a:latin typeface="WenQuanYi Micro Hei"/>
              </a:rPr>
              <a:t>このほか、メーカーが特定の期間…</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新商品のチラシを近隣住宅にポスティングして来店を促すのは店外プロモーション、実際に来店した客に対して試食コーナーで商品の魅力を直接伝えるのは店内プロモーションです。両者を組み合わせることで、来店から購買までの…</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注意｜店外プロモーション（来店を促す活動）と店内プロモーション（来店後の購買を促す活動）は、それぞれ狙う効果の段階（来店促進か、購買促進か）が異なる点を区別しましょう。</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D-31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商品在庫管理・需要予測（店舗販売系）</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店舗・販売管理（D-23〜D-35）</a:t>
            </a:r>
          </a:p>
        </p:txBody>
      </p:sp>
      <p:sp>
        <p:nvSpPr>
          <p:cNvPr id="6" name="Rounded Rectangle 5"/>
          <p:cNvSpPr/>
          <p:nvPr/>
        </p:nvSpPr>
        <p:spPr>
          <a:xfrm>
            <a:off x="566928" y="1051560"/>
            <a:ext cx="5394960" cy="420624"/>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欠品（品切れ）が直接その場の販売機会損失につな…</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という点、また天候・季節・イベントなど需要変動要因が工場の生産計画以上に大きい点が挙げられます。</a:t>
            </a:r>
          </a:p>
        </p:txBody>
      </p:sp>
      <p:sp>
        <p:nvSpPr>
          <p:cNvPr id="11" name="Rounded Rectangle 10"/>
          <p:cNvSpPr/>
          <p:nvPr/>
        </p:nvSpPr>
        <p:spPr>
          <a:xfrm>
            <a:off x="566928"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商品回転率</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a:t>
            </a:r>
          </a:p>
        </p:txBody>
      </p:sp>
      <p:sp>
        <p:nvSpPr>
          <p:cNvPr id="15" name="Rounded Rectangle 14"/>
          <p:cNvSpPr/>
          <p:nvPr/>
        </p:nvSpPr>
        <p:spPr>
          <a:xfrm>
            <a:off x="566928" y="398678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商品回転率＝売上高（または売上原価） ÷ 平均…</a:t>
            </a:r>
          </a:p>
        </p:txBody>
      </p:sp>
      <p:sp>
        <p:nvSpPr>
          <p:cNvPr id="18" name="Rounded Rectangle 17"/>
          <p:cNvSpPr/>
          <p:nvPr/>
        </p:nvSpPr>
        <p:spPr>
          <a:xfrm>
            <a:off x="6217920" y="1051560"/>
            <a:ext cx="5394960" cy="420624"/>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15803D"/>
                </a:solidFill>
                <a:latin typeface="WenQuanYi Micro Hei"/>
              </a:rPr>
              <a:t>視点 B</a:t>
            </a:r>
          </a:p>
        </p:txBody>
      </p:sp>
      <p:sp>
        <p:nvSpPr>
          <p:cNvPr id="19" name="Rounded Rectangle 18"/>
          <p:cNvSpPr/>
          <p:nvPr/>
        </p:nvSpPr>
        <p:spPr>
          <a:xfrm>
            <a:off x="6217920" y="1609344"/>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609344"/>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店舗における在庫管理の考え方の基本</a:t>
            </a:r>
          </a:p>
        </p:txBody>
      </p:sp>
      <p:sp>
        <p:nvSpPr>
          <p:cNvPr id="22" name="TextBox 21"/>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D-20で説明した工場の在庫管理（ABC分析、EOQ、発注方式）と共通です。</a:t>
            </a:r>
          </a:p>
        </p:txBody>
      </p:sp>
      <p:sp>
        <p:nvSpPr>
          <p:cNvPr id="23" name="Rounded Rectangle 22"/>
          <p:cNvSpPr/>
          <p:nvPr/>
        </p:nvSpPr>
        <p:spPr>
          <a:xfrm>
            <a:off x="6217920" y="279806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279806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店舗特有の視点として</a:t>
            </a:r>
          </a:p>
        </p:txBody>
      </p:sp>
      <p:sp>
        <p:nvSpPr>
          <p:cNvPr id="26" name="TextBox 25"/>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欠品（品切れ）が直接その場の販売機会損失につながるという点、また天候・季節・イベントなど需要変動要因が工場の生産計画以…</a:t>
            </a:r>
          </a:p>
        </p:txBody>
      </p:sp>
      <p:sp>
        <p:nvSpPr>
          <p:cNvPr id="27" name="Rounded Rectangle 26"/>
          <p:cNvSpPr/>
          <p:nvPr/>
        </p:nvSpPr>
        <p:spPr>
          <a:xfrm>
            <a:off x="6217920" y="3986783"/>
            <a:ext cx="5394960" cy="1078992"/>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3986783"/>
            <a:ext cx="73152" cy="1078992"/>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店舗の在庫効率を測る代表的な指標が商品回転率です。</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商品の年間売上高が1,200万円、平均在庫高が200万円だとすると、商品回転率＝1,200万円÷200万円＝年6回です。この数値が業界平均より低ければ、過剰在庫や品揃えの見直しを検討する材料になります。</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商品回転率は「高ければ高いほど常に良い」とは限りません。回転率を上げすぎると欠品による販売機会損失のリスクが高まるため、D-29の交差比率（粗利益率×商品回転率）のように、収益性とのバランスで評価する視点が重…</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D-32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輸配送管理（輸送手段、共同輸配送）</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店舗・販売管理（D-23〜D-35）</a:t>
            </a:r>
          </a:p>
        </p:txBody>
      </p:sp>
      <p:sp>
        <p:nvSpPr>
          <p:cNvPr id="6" name="Rounded Rectangle 5"/>
          <p:cNvSpPr/>
          <p:nvPr/>
        </p:nvSpPr>
        <p:spPr>
          <a:xfrm>
            <a:off x="502920" y="1024128"/>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モーダルシフト</a:t>
            </a:r>
          </a:p>
        </p:txBody>
      </p:sp>
      <p:sp>
        <p:nvSpPr>
          <p:cNvPr id="9" name="TextBox 8"/>
          <p:cNvSpPr txBox="1"/>
          <p:nvPr/>
        </p:nvSpPr>
        <p:spPr>
          <a:xfrm>
            <a:off x="704088"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です。これは、トラック輸送中心だった貨物輸送の一部を、CO2排出量が少ない鉄道や船舶による輸送に切り替える取り組みで、環境…</a:t>
            </a:r>
          </a:p>
        </p:txBody>
      </p:sp>
      <p:sp>
        <p:nvSpPr>
          <p:cNvPr id="10" name="Rounded Rectangle 9"/>
          <p:cNvSpPr/>
          <p:nvPr/>
        </p:nvSpPr>
        <p:spPr>
          <a:xfrm>
            <a:off x="4303776" y="1024128"/>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3776" y="1024128"/>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4" y="1115568"/>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共同輸配送</a:t>
            </a:r>
          </a:p>
        </p:txBody>
      </p:sp>
      <p:sp>
        <p:nvSpPr>
          <p:cNvPr id="13" name="TextBox 12"/>
          <p:cNvSpPr txBox="1"/>
          <p:nvPr/>
        </p:nvSpPr>
        <p:spPr>
          <a:xfrm>
            <a:off x="4504944"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は、積載効率（トラックの荷台をどれだけ有効に使えているか）を高め、輸送コストと環境負荷の両方を削減する取り組みです。</a:t>
            </a:r>
          </a:p>
        </p:txBody>
      </p:sp>
      <p:sp>
        <p:nvSpPr>
          <p:cNvPr id="14" name="Rounded Rectangle 13"/>
          <p:cNvSpPr/>
          <p:nvPr/>
        </p:nvSpPr>
        <p:spPr>
          <a:xfrm>
            <a:off x="8104632" y="1024128"/>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4632" y="1024128"/>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5800" y="1115568"/>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商品を運ぶ輸送手段に</a:t>
            </a:r>
          </a:p>
        </p:txBody>
      </p:sp>
      <p:sp>
        <p:nvSpPr>
          <p:cNvPr id="17" name="TextBox 16"/>
          <p:cNvSpPr txBox="1"/>
          <p:nvPr/>
        </p:nvSpPr>
        <p:spPr>
          <a:xfrm>
            <a:off x="8305800"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トラック（自動車）、鉄道、船舶、航空機があり、それぞれ特徴（速度、コスト、輸送量、環境負荷）が異なります。</a:t>
            </a:r>
          </a:p>
        </p:txBody>
      </p:sp>
      <p:sp>
        <p:nvSpPr>
          <p:cNvPr id="18" name="Rounded Rectangle 17"/>
          <p:cNvSpPr/>
          <p:nvPr/>
        </p:nvSpPr>
        <p:spPr>
          <a:xfrm>
            <a:off x="502920" y="3145536"/>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145536"/>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236976"/>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近年重要視されているのがモーダルシフトです。</a:t>
            </a:r>
          </a:p>
        </p:txBody>
      </p:sp>
      <p:sp>
        <p:nvSpPr>
          <p:cNvPr id="21" name="Rounded Rectangle 20"/>
          <p:cNvSpPr/>
          <p:nvPr/>
        </p:nvSpPr>
        <p:spPr>
          <a:xfrm>
            <a:off x="4303776" y="3145536"/>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03776" y="3145536"/>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04944" y="3236976"/>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これ</a:t>
            </a:r>
          </a:p>
        </p:txBody>
      </p:sp>
      <p:sp>
        <p:nvSpPr>
          <p:cNvPr id="24" name="TextBox 23"/>
          <p:cNvSpPr txBox="1"/>
          <p:nvPr/>
        </p:nvSpPr>
        <p:spPr>
          <a:xfrm>
            <a:off x="4504944"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トラック輸送中心だった貨物輸送の一部を、CO2排出量が少ない鉄道や船舶による輸送に切り替える取り組みで、環境負荷の低減…</a:t>
            </a:r>
          </a:p>
        </p:txBody>
      </p:sp>
      <p:sp>
        <p:nvSpPr>
          <p:cNvPr id="25" name="Rounded Rectangle 24"/>
          <p:cNvSpPr/>
          <p:nvPr/>
        </p:nvSpPr>
        <p:spPr>
          <a:xfrm>
            <a:off x="8104632" y="3145536"/>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04632" y="3145536"/>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05800" y="3236976"/>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また、複数の荷主（企業）が協力し、それぞれの荷物…</a:t>
            </a:r>
          </a:p>
        </p:txBody>
      </p:sp>
      <p:sp>
        <p:nvSpPr>
          <p:cNvPr id="28" name="Rounded Rectangle 27"/>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食品メーカーA社とB社が、同じ地域の同じ小売店に別々にトラックを走らせていたのを、共同で1台のトラックにそれぞれの商品を積み合わせて配送するように変更すると、トラックの台数・走行距離を減らしながら、両社とも必…</a:t>
            </a:r>
          </a:p>
        </p:txBody>
      </p:sp>
      <p:sp>
        <p:nvSpPr>
          <p:cNvPr id="29" name="Rounded Rectangle 28"/>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注意｜モーダルシフトは「輸送コストを下げるためだけの施策」ではなく、環境負荷低減（CO2排出削減）と労働力不足対応という複数の目的を持つ取り組みである点を理解しておきましょう。</a:t>
            </a:r>
          </a:p>
        </p:txBody>
      </p:sp>
      <p:sp>
        <p:nvSpPr>
          <p:cNvPr id="30" name="Rectangle 29"/>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2" name="TextBox 31"/>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D-33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物流センター管理（機能・設計・運営）</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店舗・販売管理（D-23〜D-35）</a:t>
            </a:r>
          </a:p>
        </p:txBody>
      </p:sp>
      <p:sp>
        <p:nvSpPr>
          <p:cNvPr id="6" name="Rounded Rectangle 5"/>
          <p:cNvSpPr/>
          <p:nvPr/>
        </p:nvSpPr>
        <p:spPr>
          <a:xfrm>
            <a:off x="502920" y="1024128"/>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DC（Distribution Center：…</a:t>
            </a:r>
          </a:p>
        </p:txBody>
      </p:sp>
      <p:sp>
        <p:nvSpPr>
          <p:cNvPr id="9" name="TextBox 8"/>
          <p:cNvSpPr txBox="1"/>
          <p:nvPr/>
        </p:nvSpPr>
        <p:spPr>
          <a:xfrm>
            <a:off x="704088"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商品を一定期間在庫として保管し、注文に応じて出荷する物流センター</a:t>
            </a:r>
          </a:p>
        </p:txBody>
      </p:sp>
      <p:sp>
        <p:nvSpPr>
          <p:cNvPr id="10" name="Rounded Rectangle 9"/>
          <p:cNvSpPr/>
          <p:nvPr/>
        </p:nvSpPr>
        <p:spPr>
          <a:xfrm>
            <a:off x="4303776" y="1024128"/>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3776" y="1024128"/>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4" y="1115568"/>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TC（Transfer Center：通過型物…</a:t>
            </a:r>
          </a:p>
        </p:txBody>
      </p:sp>
      <p:sp>
        <p:nvSpPr>
          <p:cNvPr id="13" name="TextBox 12"/>
          <p:cNvSpPr txBox="1"/>
          <p:nvPr/>
        </p:nvSpPr>
        <p:spPr>
          <a:xfrm>
            <a:off x="4504944"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商品を在庫として保管せず、届いた荷物をすぐに仕分けして出荷先ごとに積み替え、短時間で通過させる物流センター（クロスドッキン…</a:t>
            </a:r>
          </a:p>
        </p:txBody>
      </p:sp>
      <p:sp>
        <p:nvSpPr>
          <p:cNvPr id="14" name="Rounded Rectangle 13"/>
          <p:cNvSpPr/>
          <p:nvPr/>
        </p:nvSpPr>
        <p:spPr>
          <a:xfrm>
            <a:off x="8104632" y="1024128"/>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4632" y="1024128"/>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5800" y="1115568"/>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物流センターに</a:t>
            </a:r>
          </a:p>
        </p:txBody>
      </p:sp>
      <p:sp>
        <p:nvSpPr>
          <p:cNvPr id="17" name="TextBox 16"/>
          <p:cNvSpPr txBox="1"/>
          <p:nvPr/>
        </p:nvSpPr>
        <p:spPr>
          <a:xfrm>
            <a:off x="8305800"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大きく2つのタイプがあります。</a:t>
            </a:r>
          </a:p>
        </p:txBody>
      </p:sp>
      <p:sp>
        <p:nvSpPr>
          <p:cNvPr id="18" name="Rounded Rectangle 17"/>
          <p:cNvSpPr/>
          <p:nvPr/>
        </p:nvSpPr>
        <p:spPr>
          <a:xfrm>
            <a:off x="502920" y="3145536"/>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145536"/>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236976"/>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DC</a:t>
            </a:r>
          </a:p>
        </p:txBody>
      </p:sp>
      <p:sp>
        <p:nvSpPr>
          <p:cNvPr id="21" name="TextBox 20"/>
          <p:cNvSpPr txBox="1"/>
          <p:nvPr/>
        </p:nvSpPr>
        <p:spPr>
          <a:xfrm>
            <a:off x="704088"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欠品対応力が高い一方で保管コストがかかり、TCは在庫コストを抑えられる一方で、入荷から出荷までのタイミングを綿密に調整…</a:t>
            </a:r>
          </a:p>
        </p:txBody>
      </p:sp>
      <p:sp>
        <p:nvSpPr>
          <p:cNvPr id="22" name="Rounded Rectangle 21"/>
          <p:cNvSpPr/>
          <p:nvPr/>
        </p:nvSpPr>
        <p:spPr>
          <a:xfrm>
            <a:off x="4303776" y="3145536"/>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03776" y="3145536"/>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04944" y="3236976"/>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近年</a:t>
            </a:r>
          </a:p>
        </p:txBody>
      </p:sp>
      <p:sp>
        <p:nvSpPr>
          <p:cNvPr id="25" name="TextBox 24"/>
          <p:cNvSpPr txBox="1"/>
          <p:nvPr/>
        </p:nvSpPr>
        <p:spPr>
          <a:xfrm>
            <a:off x="4504944"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生鮮食品や日配品（毎日配送する必要がある商品）など、鮮度が重要な商品でTC・クロスドッキングの活用が進んでいます。</a:t>
            </a:r>
          </a:p>
        </p:txBody>
      </p:sp>
      <p:sp>
        <p:nvSpPr>
          <p:cNvPr id="26" name="Rounded Rectangle 2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コンビニ向けの弁当・惣菜のように毎日大量かつ迅速に配送する必要がある商品は、在庫として長く保管するのではなく、工場から届いた商品をすぐに各店舗向けに仕分けて出荷するTC・クロスドッキング型の運用が向いています…</a:t>
            </a:r>
          </a:p>
        </p:txBody>
      </p:sp>
      <p:sp>
        <p:nvSpPr>
          <p:cNvPr id="27" name="Rounded Rectangle 2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注意｜DC（在庫型）とTC（通過型）は名前が似ているため、「在庫を持つかどうか」という決定的な違いを軸に区別しましょう。「TCは在庫スペースを大きく確保した施設である」という記述は誤りです。</a:t>
            </a:r>
          </a:p>
        </p:txBody>
      </p:sp>
      <p:sp>
        <p:nvSpPr>
          <p:cNvPr id="28" name="Rectangle 2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0" name="TextBox 2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D-34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流通情報システム（POS、顧客管理システム）</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店舗・販売管理（D-23〜D-35）</a:t>
            </a:r>
          </a:p>
        </p:txBody>
      </p:sp>
      <p:sp>
        <p:nvSpPr>
          <p:cNvPr id="6" name="Rounded Rectangle 5"/>
          <p:cNvSpPr/>
          <p:nvPr/>
        </p:nvSpPr>
        <p:spPr>
          <a:xfrm>
            <a:off x="838047" y="1024128"/>
            <a:ext cx="10515600" cy="640080"/>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1｜POS（Point of Sales：販売時点…　は、レジで商品バーコードを読み取った時点で、「いつ・何が・いくつ・いくらで売れたか」というデータを記録・蓄積…</a:t>
            </a:r>
          </a:p>
        </p:txBody>
      </p:sp>
      <p:sp>
        <p:nvSpPr>
          <p:cNvPr id="7" name="Rounded Rectangle 6"/>
          <p:cNvSpPr/>
          <p:nvPr/>
        </p:nvSpPr>
        <p:spPr>
          <a:xfrm>
            <a:off x="1409547" y="1828800"/>
            <a:ext cx="9372600" cy="640080"/>
          </a:xfrm>
          <a:prstGeom prst="roundRect">
            <a:avLst/>
          </a:prstGeom>
          <a:solidFill>
            <a:srgbClr val="FFFFFF"/>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2｜アソシエーション分析（バスケット分析）　です。これは「ある商品を買った人が、他にどんな商品を一緒に買っているか」を分析し、クロスセル（関連購買の促進…</a:t>
            </a:r>
          </a:p>
        </p:txBody>
      </p:sp>
      <p:sp>
        <p:nvSpPr>
          <p:cNvPr id="8" name="Rounded Rectangle 7"/>
          <p:cNvSpPr/>
          <p:nvPr/>
        </p:nvSpPr>
        <p:spPr>
          <a:xfrm>
            <a:off x="1981047" y="2633472"/>
            <a:ext cx="8229600" cy="640080"/>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3｜支持度（サポート）　ある商品（の組み合わせ）が、全体の中でどれだけの割合を占めるか</a:t>
            </a:r>
          </a:p>
        </p:txBody>
      </p:sp>
      <p:sp>
        <p:nvSpPr>
          <p:cNvPr id="9" name="Rounded Rectangle 8"/>
          <p:cNvSpPr/>
          <p:nvPr/>
        </p:nvSpPr>
        <p:spPr>
          <a:xfrm>
            <a:off x="2552547" y="3438144"/>
            <a:ext cx="7086600" cy="640080"/>
          </a:xfrm>
          <a:prstGeom prst="roundRect">
            <a:avLst/>
          </a:prstGeom>
          <a:solidFill>
            <a:srgbClr val="FFFFFF"/>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4｜信頼度（コンフィデンス）　商品Aを買った人のうち、商品Bも買った人の割合（条件付き確率）</a:t>
            </a:r>
          </a:p>
        </p:txBody>
      </p:sp>
      <p:sp>
        <p:nvSpPr>
          <p:cNvPr id="10" name="Rounded Rectangle 9"/>
          <p:cNvSpPr/>
          <p:nvPr/>
        </p:nvSpPr>
        <p:spPr>
          <a:xfrm>
            <a:off x="3124047" y="4242816"/>
            <a:ext cx="5943600" cy="640080"/>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5｜リフト値　信頼度を、商品Bが単独でどれだけ出現するか（支持度）で正規化した指標。AとBの購買にどれだけの相関があるかを…</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具体例｜あるスーパーで、全レシート6,000枚のうち、商品Aを含むレシートが3,000枚、商品Bを含むレシートが3,000枚、AとBを両方含むレシートが1,800枚だったとします。 信頼度（A→B）＝1,800 ÷…</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リフト値を「信頼度をそのまま使う」だけの誤答に注意しましょう。リフト値は信頼度をさらに相手側商品単独の出現率（支持度）で割ることで初めて求まる指標です。支持度・信頼度・リフト値の3つは、それぞれ計算式の分母…</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15803D"/>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D-35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流通情報システム（商品コード、電子タグ、トレーサビリティ）</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15803D"/>
                </a:solidFill>
                <a:latin typeface="WenQuanYi Micro Hei"/>
              </a:rPr>
              <a:t>店舗・販売管理（D-23〜D-35）</a:t>
            </a:r>
          </a:p>
        </p:txBody>
      </p:sp>
      <p:sp>
        <p:nvSpPr>
          <p:cNvPr id="6" name="Rounded Rectangle 5"/>
          <p:cNvSpPr/>
          <p:nvPr/>
        </p:nvSpPr>
        <p:spPr>
          <a:xfrm>
            <a:off x="502920" y="1024128"/>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JANコード（GTIN）</a:t>
            </a:r>
          </a:p>
        </p:txBody>
      </p:sp>
      <p:sp>
        <p:nvSpPr>
          <p:cNvPr id="9" name="TextBox 8"/>
          <p:cNvSpPr txBox="1"/>
          <p:nvPr/>
        </p:nvSpPr>
        <p:spPr>
          <a:xfrm>
            <a:off x="704088"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です。標準タイプは13桁（GTIN-13）、短縮タイプは8桁（GTIN-8）で、「GS1事業者コード（メーカー・販売元を識…</a:t>
            </a:r>
          </a:p>
        </p:txBody>
      </p:sp>
      <p:sp>
        <p:nvSpPr>
          <p:cNvPr id="10" name="Rounded Rectangle 9"/>
          <p:cNvSpPr/>
          <p:nvPr/>
        </p:nvSpPr>
        <p:spPr>
          <a:xfrm>
            <a:off x="4303776" y="1024128"/>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3776" y="1024128"/>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4" y="1115568"/>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電子タグ（RFIDタグ）</a:t>
            </a:r>
          </a:p>
        </p:txBody>
      </p:sp>
      <p:sp>
        <p:nvSpPr>
          <p:cNvPr id="13" name="TextBox 12"/>
          <p:cNvSpPr txBox="1"/>
          <p:nvPr/>
        </p:nvSpPr>
        <p:spPr>
          <a:xfrm>
            <a:off x="4504944"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です。電子タグは、データを記録する小さなICチップとアンテナで構成されており、無線通信（RFID：Radio Freque…</a:t>
            </a:r>
          </a:p>
        </p:txBody>
      </p:sp>
      <p:sp>
        <p:nvSpPr>
          <p:cNvPr id="14" name="Rounded Rectangle 13"/>
          <p:cNvSpPr/>
          <p:nvPr/>
        </p:nvSpPr>
        <p:spPr>
          <a:xfrm>
            <a:off x="8104632" y="1024128"/>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4632" y="1024128"/>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5800" y="1115568"/>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トレーサビリティ（追跡可能性）</a:t>
            </a:r>
          </a:p>
        </p:txBody>
      </p:sp>
      <p:sp>
        <p:nvSpPr>
          <p:cNvPr id="17" name="TextBox 16"/>
          <p:cNvSpPr txBox="1"/>
          <p:nvPr/>
        </p:nvSpPr>
        <p:spPr>
          <a:xfrm>
            <a:off x="8305800"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の実現に活用されています。</a:t>
            </a:r>
          </a:p>
        </p:txBody>
      </p:sp>
      <p:sp>
        <p:nvSpPr>
          <p:cNvPr id="18" name="Rounded Rectangle 17"/>
          <p:cNvSpPr/>
          <p:nvPr/>
        </p:nvSpPr>
        <p:spPr>
          <a:xfrm>
            <a:off x="502920" y="3145536"/>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145536"/>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236976"/>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商品を識別するための代表的なコードがJANコード…</a:t>
            </a:r>
          </a:p>
        </p:txBody>
      </p:sp>
      <p:sp>
        <p:nvSpPr>
          <p:cNvPr id="21" name="Rounded Rectangle 20"/>
          <p:cNvSpPr/>
          <p:nvPr/>
        </p:nvSpPr>
        <p:spPr>
          <a:xfrm>
            <a:off x="4303776" y="3145536"/>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03776" y="3145536"/>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04944" y="3236976"/>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標準タイプ</a:t>
            </a:r>
          </a:p>
        </p:txBody>
      </p:sp>
      <p:sp>
        <p:nvSpPr>
          <p:cNvPr id="24" name="TextBox 23"/>
          <p:cNvSpPr txBox="1"/>
          <p:nvPr/>
        </p:nvSpPr>
        <p:spPr>
          <a:xfrm>
            <a:off x="4504944"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13桁（GTIN-13）、短縮タイプは8桁（GTIN-8）で、「GS1事業者コード（メーカー・販売元を識別）」＋「商品…</a:t>
            </a:r>
          </a:p>
        </p:txBody>
      </p:sp>
      <p:sp>
        <p:nvSpPr>
          <p:cNvPr id="25" name="Rounded Rectangle 24"/>
          <p:cNvSpPr/>
          <p:nvPr/>
        </p:nvSpPr>
        <p:spPr>
          <a:xfrm>
            <a:off x="8104632" y="3145536"/>
            <a:ext cx="3599688" cy="1920240"/>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04632" y="3145536"/>
            <a:ext cx="73152" cy="19202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05800" y="3236976"/>
            <a:ext cx="3279648"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近年、バーコードに代わる（あるい</a:t>
            </a:r>
          </a:p>
        </p:txBody>
      </p:sp>
      <p:sp>
        <p:nvSpPr>
          <p:cNvPr id="28" name="TextBox 27"/>
          <p:cNvSpPr txBox="1"/>
          <p:nvPr/>
        </p:nvSpPr>
        <p:spPr>
          <a:xfrm>
            <a:off x="8305800"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併用する）技術として普及が進んでいるのが電子タグ（RFIDタグ）です。</a:t>
            </a:r>
          </a:p>
        </p:txBody>
      </p:sp>
      <p:sp>
        <p:nvSpPr>
          <p:cNvPr id="29" name="Rounded Rectangle 28"/>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食肉のパッケージに貼られたバーコードやQRコードを読み取ると、その肉がどの牧場で生産され、いつ加工され、どの流通経路を経て店頭に並んだかを消費者がたどれる仕組みは、トレーサビリティの代表例です。アパレル業界で…</a:t>
            </a:r>
          </a:p>
        </p:txBody>
      </p:sp>
      <p:sp>
        <p:nvSpPr>
          <p:cNvPr id="30" name="Rounded Rectangle 29"/>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電子タグ（RFID）の最大の利点は、バーコードのように1点ずつ光学的に読み取る必要がなく、複数のタグをまとめて、離れた場所からでも読み取れる点です。「電子タグもバーコードと同様に1つずつ近づけて読み取る必要が…</a:t>
            </a:r>
          </a:p>
        </p:txBody>
      </p:sp>
      <p:sp>
        <p:nvSpPr>
          <p:cNvPr id="31" name="Rectangle 30"/>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docs/textbook/D_operations_management_textbook.md</a:t>
            </a:r>
          </a:p>
        </p:txBody>
      </p:sp>
      <p:sp>
        <p:nvSpPr>
          <p:cNvPr id="33" name="TextBox 32"/>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15803D"/>
                </a:solidFill>
                <a:latin typeface="WenQuanYi Micro He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0972800" cy="502920"/>
          </a:xfrm>
          <a:prstGeom prst="rect">
            <a:avLst/>
          </a:prstGeom>
          <a:noFill/>
        </p:spPr>
        <p:txBody>
          <a:bodyPr wrap="square" tIns="91440" bIns="91440" anchor="ctr">
            <a:spAutoFit/>
          </a:bodyPr>
          <a:lstStyle/>
          <a:p>
            <a:pPr algn="l">
              <a:spcAft>
                <a:spcPts val="0"/>
              </a:spcAft>
            </a:pPr>
            <a:r>
              <a:rPr sz="2700" b="1">
                <a:solidFill>
                  <a:srgbClr val="172033"/>
                </a:solidFill>
                <a:latin typeface="WenQuanYi Micro Hei"/>
              </a:rPr>
              <a:t>運営管理｜学習のまとめ</a:t>
            </a:r>
          </a:p>
        </p:txBody>
      </p:sp>
      <p:sp>
        <p:nvSpPr>
          <p:cNvPr id="4" name="Oval 3"/>
          <p:cNvSpPr/>
          <p:nvPr/>
        </p:nvSpPr>
        <p:spPr>
          <a:xfrm>
            <a:off x="4892040" y="2304288"/>
            <a:ext cx="2395728" cy="1417320"/>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700" b="1">
                <a:solidFill>
                  <a:srgbClr val="FFFFFF"/>
                </a:solidFill>
                <a:latin typeface="WenQuanYi Micro Hei"/>
              </a:rPr>
              <a:t>循環して
改善・定着</a:t>
            </a:r>
          </a:p>
        </p:txBody>
      </p:sp>
      <p:sp>
        <p:nvSpPr>
          <p:cNvPr id="5" name="Rounded Rectangle 4"/>
          <p:cNvSpPr/>
          <p:nvPr/>
        </p:nvSpPr>
        <p:spPr>
          <a:xfrm>
            <a:off x="4526280" y="1051560"/>
            <a:ext cx="2907792" cy="1024128"/>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26280" y="1051560"/>
            <a:ext cx="73152" cy="102412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27448" y="1143000"/>
            <a:ext cx="2587752"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この教科書で、工場・店舗の現場をイメージしながら…</a:t>
            </a:r>
          </a:p>
        </p:txBody>
      </p:sp>
      <p:cxnSp>
        <p:nvCxnSpPr>
          <p:cNvPr id="8" name="Connector 7"/>
          <p:cNvCxnSpPr/>
          <p:nvPr/>
        </p:nvCxnSpPr>
        <p:spPr>
          <a:xfrm>
            <a:off x="5980176" y="1563624"/>
            <a:ext cx="3447288" cy="1234440"/>
          </a:xfrm>
          <a:prstGeom prst="line">
            <a:avLst/>
          </a:prstGeom>
          <a:ln w="22860">
            <a:solidFill>
              <a:srgbClr val="67AC81"/>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973568" y="2286000"/>
            <a:ext cx="2907792" cy="1024128"/>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2286000"/>
            <a:ext cx="73152" cy="102412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74736" y="2377440"/>
            <a:ext cx="2587752"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problem_sets/1st_stage/e…</a:t>
            </a:r>
          </a:p>
        </p:txBody>
      </p:sp>
      <p:cxnSp>
        <p:nvCxnSpPr>
          <p:cNvPr id="12" name="Connector 11"/>
          <p:cNvCxnSpPr/>
          <p:nvPr/>
        </p:nvCxnSpPr>
        <p:spPr>
          <a:xfrm flipH="1">
            <a:off x="5980176" y="2798064"/>
            <a:ext cx="3447288" cy="1508760"/>
          </a:xfrm>
          <a:prstGeom prst="line">
            <a:avLst/>
          </a:prstGeom>
          <a:ln w="22860">
            <a:solidFill>
              <a:srgbClr val="67AC8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526280" y="3794760"/>
            <a:ext cx="2907792" cy="1024128"/>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26280" y="3794760"/>
            <a:ext cx="73152" cy="102412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27448" y="3886200"/>
            <a:ext cx="2587752"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problem_sets/1st_stage/D…</a:t>
            </a:r>
          </a:p>
        </p:txBody>
      </p:sp>
      <p:cxnSp>
        <p:nvCxnSpPr>
          <p:cNvPr id="16" name="Connector 15"/>
          <p:cNvCxnSpPr/>
          <p:nvPr/>
        </p:nvCxnSpPr>
        <p:spPr>
          <a:xfrm flipH="1" flipV="1">
            <a:off x="2532888" y="2798064"/>
            <a:ext cx="3447288" cy="1508760"/>
          </a:xfrm>
          <a:prstGeom prst="line">
            <a:avLst/>
          </a:prstGeom>
          <a:ln w="22860">
            <a:solidFill>
              <a:srgbClr val="67AC8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78992" y="2286000"/>
            <a:ext cx="2907792" cy="1024128"/>
          </a:xfrm>
          <a:prstGeom prst="roundRect">
            <a:avLst/>
          </a:prstGeom>
          <a:solidFill>
            <a:srgbClr val="FFFFFF"/>
          </a:solidFill>
          <a:ln w="15240">
            <a:solidFill>
              <a:srgbClr val="96C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78992" y="2286000"/>
            <a:ext cx="73152" cy="102412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2377440"/>
            <a:ext cx="2587752" cy="310896"/>
          </a:xfrm>
          <a:prstGeom prst="rect">
            <a:avLst/>
          </a:prstGeom>
          <a:noFill/>
        </p:spPr>
        <p:txBody>
          <a:bodyPr wrap="square" tIns="91440" bIns="91440" anchor="t">
            <a:spAutoFit/>
          </a:bodyPr>
          <a:lstStyle/>
          <a:p>
            <a:pPr algn="l">
              <a:spcAft>
                <a:spcPts val="0"/>
              </a:spcAft>
            </a:pPr>
            <a:r>
              <a:rPr sz="1500" b="1">
                <a:solidFill>
                  <a:srgbClr val="15803D"/>
                </a:solidFill>
                <a:latin typeface="WenQuanYi Micro Hei"/>
              </a:rPr>
              <a:t>過去問本体（past_exams/1st_sta…</a:t>
            </a:r>
          </a:p>
        </p:txBody>
      </p:sp>
      <p:cxnSp>
        <p:nvCxnSpPr>
          <p:cNvPr id="20" name="Connector 19"/>
          <p:cNvCxnSpPr/>
          <p:nvPr/>
        </p:nvCxnSpPr>
        <p:spPr>
          <a:xfrm flipV="1">
            <a:off x="2532888" y="1563624"/>
            <a:ext cx="3447288" cy="1234440"/>
          </a:xfrm>
          <a:prstGeom prst="line">
            <a:avLst/>
          </a:prstGeom>
          <a:ln w="22860">
            <a:solidFill>
              <a:srgbClr val="67AC81"/>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77240" y="5074920"/>
            <a:ext cx="10652760" cy="969264"/>
          </a:xfrm>
          <a:prstGeom prst="roundRect">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50" b="1">
                <a:solidFill>
                  <a:srgbClr val="15803D"/>
                </a:solidFill>
                <a:latin typeface="WenQuanYi Micro Hei"/>
              </a:rPr>
              <a:t>次の一歩｜problem_sets/1st_stage/ の論点表と exercises/ の演習で、35論点を定着させる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運営管理 図解スライド</dc:title>
  <dc:subject>中小企業診断士 第1次試験</dc:subject>
  <dc:creator>SMEC Project</dc:creator>
  <cp:keywords>中小企業診断士, 教科書, 図解, スライド</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