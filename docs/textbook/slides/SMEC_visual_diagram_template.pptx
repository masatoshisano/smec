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76656" y="54864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45B9E"/>
                </a:solidFill>
                <a:latin typeface="Noto Sans"/>
                <a:ea typeface="Noto Sans"/>
              </a:rPr>
              <a:t>SMEC  /  VISUAL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261872"/>
            <a:ext cx="731520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7212B"/>
                </a:solidFill>
                <a:latin typeface="Noto Sans"/>
                <a:ea typeface="Noto Sans"/>
              </a:rPr>
              <a:t>複雑な論点を、
一枚の構造に変える。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163824"/>
            <a:ext cx="6355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52606D"/>
                </a:solidFill>
                <a:latin typeface="Noto Sans"/>
                <a:ea typeface="Noto Sans"/>
              </a:rPr>
              <a:t>中小企業診断士 教科書のための
標準図解スライドシステム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13232" y="4645152"/>
            <a:ext cx="6922008" cy="0"/>
          </a:xfrm>
          <a:prstGeom prst="line">
            <a:avLst/>
          </a:prstGeom>
          <a:ln w="1016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13232" y="48920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245B9E"/>
                </a:solidFill>
                <a:latin typeface="Noto Sans"/>
                <a:ea typeface="Noto Sans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5047488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2606D"/>
                </a:solidFill>
                <a:latin typeface="Noto Sans"/>
                <a:ea typeface="Noto Sans"/>
              </a:rPr>
              <a:t>汎用図解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48920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6776F"/>
                </a:solidFill>
                <a:latin typeface="Noto Sans"/>
                <a:ea typeface="Noto Sans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5047488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2606D"/>
                </a:solidFill>
                <a:latin typeface="Noto Sans"/>
                <a:ea typeface="Noto Sans"/>
              </a:rPr>
              <a:t>経済学専用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9872" y="1024128"/>
            <a:ext cx="3337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2606D"/>
                </a:solidFill>
                <a:latin typeface="Noto Sans"/>
                <a:ea typeface="Noto Sans"/>
              </a:rPr>
              <a:t>18 PATTERNS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47888" y="1508760"/>
            <a:ext cx="32461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200" b="1">
                <a:solidFill>
                  <a:srgbClr val="245B9E"/>
                </a:solidFill>
                <a:latin typeface="Noto Sans"/>
                <a:ea typeface="Noto Sans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063240"/>
            <a:ext cx="31546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17212B"/>
                </a:solidFill>
                <a:latin typeface="Noto Sans"/>
                <a:ea typeface="Noto Sans"/>
              </a:rPr>
              <a:t>図解の共通文法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822191"/>
            <a:ext cx="3154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52606D"/>
                </a:solidFill>
                <a:latin typeface="Noto Sans"/>
                <a:ea typeface="Noto Sans"/>
              </a:rPr>
              <a:t>グリッド
タイポグラフィ
意味のある色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6236208"/>
            <a:ext cx="4114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2606D"/>
                </a:solidFill>
                <a:latin typeface="Noto Sans"/>
                <a:ea typeface="Noto Sans"/>
              </a:rPr>
              <a:t>Editorial Cobalt  /  v2.0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00  /  DESIGN 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統一感は装飾ではなく、反復される判断基準から生まれる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2606D"/>
                </a:solidFill>
                <a:latin typeface="Noto Sans"/>
                <a:ea typeface="Noto Sans"/>
              </a:rPr>
              <a:t>用途｜全スライド　　作図ルール｜色・文字・整列・余白を固定する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691640"/>
            <a:ext cx="53035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245B9E"/>
                </a:solidFill>
                <a:latin typeface="Noto Sans"/>
                <a:ea typeface="Noto Sans"/>
              </a:rPr>
              <a:t>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35024" y="1847088"/>
            <a:ext cx="438912" cy="0"/>
          </a:xfrm>
          <a:prstGeom prst="line">
            <a:avLst/>
          </a:prstGeom>
          <a:ln w="1905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75104" y="1673352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12B"/>
                </a:solidFill>
                <a:latin typeface="Noto Sans"/>
                <a:ea typeface="Noto Sans"/>
              </a:rPr>
              <a:t>結論を先に書く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75104" y="2194560"/>
            <a:ext cx="3886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2606D"/>
                </a:solidFill>
                <a:latin typeface="Noto Sans"/>
                <a:ea typeface="Noto Sans"/>
              </a:rPr>
              <a:t>タイトルだけを追っても、論理の流れが分かる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691640"/>
            <a:ext cx="53035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245B9E"/>
                </a:solidFill>
                <a:latin typeface="Noto Sans"/>
                <a:ea typeface="Noto Sans"/>
              </a:rPr>
              <a:t>02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67144" y="1847088"/>
            <a:ext cx="438912" cy="0"/>
          </a:xfrm>
          <a:prstGeom prst="line">
            <a:avLst/>
          </a:prstGeom>
          <a:ln w="1905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507224" y="1673352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12B"/>
                </a:solidFill>
                <a:latin typeface="Noto Sans"/>
                <a:ea typeface="Noto Sans"/>
              </a:rPr>
              <a:t>図に仕事をさせる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7224" y="2194560"/>
            <a:ext cx="3886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2606D"/>
                </a:solidFill>
                <a:latin typeface="Noto Sans"/>
                <a:ea typeface="Noto Sans"/>
              </a:rPr>
              <a:t>文章の要約ではなく、関係・変化・比較を見せる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3657600"/>
            <a:ext cx="53035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245B9E"/>
                </a:solidFill>
                <a:latin typeface="Noto Sans"/>
                <a:ea typeface="Noto Sans"/>
              </a:rPr>
              <a:t>03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35024" y="3813048"/>
            <a:ext cx="438912" cy="0"/>
          </a:xfrm>
          <a:prstGeom prst="line">
            <a:avLst/>
          </a:prstGeom>
          <a:ln w="1905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975104" y="3639312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12B"/>
                </a:solidFill>
                <a:latin typeface="Noto Sans"/>
                <a:ea typeface="Noto Sans"/>
              </a:rPr>
              <a:t>色に意味を持たせる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75104" y="4160520"/>
            <a:ext cx="3886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2606D"/>
                </a:solidFill>
                <a:latin typeface="Noto Sans"/>
                <a:ea typeface="Noto Sans"/>
              </a:rPr>
              <a:t>青は主張、ティールは比較、赤は例外だけに使う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8776" y="3657600"/>
            <a:ext cx="53035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245B9E"/>
                </a:solidFill>
                <a:latin typeface="Noto Sans"/>
                <a:ea typeface="Noto Sans"/>
              </a:rPr>
              <a:t>04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67144" y="3813048"/>
            <a:ext cx="438912" cy="0"/>
          </a:xfrm>
          <a:prstGeom prst="line">
            <a:avLst/>
          </a:prstGeom>
          <a:ln w="1905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507224" y="3639312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12B"/>
                </a:solidFill>
                <a:latin typeface="Noto Sans"/>
                <a:ea typeface="Noto Sans"/>
              </a:rPr>
              <a:t>余白を情報にする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7224" y="4160520"/>
            <a:ext cx="3886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2606D"/>
                </a:solidFill>
                <a:latin typeface="Noto Sans"/>
                <a:ea typeface="Noto Sans"/>
              </a:rPr>
              <a:t>囲みを減らし、距離と整列でグループを示す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00  /  PATTERN SELECTOR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伝えたい関係を定義すれば、選ぶべき図解は一つに絞れる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2606D"/>
                </a:solidFill>
                <a:latin typeface="Noto Sans"/>
                <a:ea typeface="Noto Sans"/>
              </a:rPr>
              <a:t>用途｜図解パターンの選択　　作図ルール｜内容ではなく関係性から型を選ぶ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609344"/>
            <a:ext cx="1572768" cy="493776"/>
          </a:xfrm>
          <a:prstGeom prst="rect">
            <a:avLst/>
          </a:prstGeom>
          <a:solidFill>
            <a:srgbClr val="E9F0F7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746504"/>
            <a:ext cx="1389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WHAT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1609344"/>
            <a:ext cx="2304288" cy="493776"/>
          </a:xfrm>
          <a:prstGeom prst="rect">
            <a:avLst/>
          </a:prstGeom>
          <a:solidFill>
            <a:srgbClr val="E9F0F7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1746504"/>
            <a:ext cx="2121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何を伝えるか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90288" y="1609344"/>
            <a:ext cx="2121408" cy="493776"/>
          </a:xfrm>
          <a:prstGeom prst="rect">
            <a:avLst/>
          </a:prstGeom>
          <a:solidFill>
            <a:srgbClr val="E9F0F7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7" y="1746504"/>
            <a:ext cx="19385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PATTERN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11696" y="1609344"/>
            <a:ext cx="4251960" cy="493776"/>
          </a:xfrm>
          <a:prstGeom prst="rect">
            <a:avLst/>
          </a:prstGeom>
          <a:solidFill>
            <a:srgbClr val="E9F0F7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03136" y="1746504"/>
            <a:ext cx="4069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使う型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2185416"/>
            <a:ext cx="1572768" cy="493776"/>
          </a:xfrm>
          <a:prstGeom prst="rect">
            <a:avLst/>
          </a:prstGeom>
          <a:solidFill>
            <a:srgbClr val="F7F7F4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2322576"/>
            <a:ext cx="1389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7212B"/>
                </a:solidFill>
                <a:latin typeface="Noto Sans"/>
                <a:ea typeface="Noto Sans"/>
              </a:rPr>
              <a:t>STRUCTURE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0" y="2185416"/>
            <a:ext cx="2304288" cy="493776"/>
          </a:xfrm>
          <a:prstGeom prst="rect">
            <a:avLst/>
          </a:prstGeom>
          <a:solidFill>
            <a:srgbClr val="F7F7F4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440" y="2322576"/>
            <a:ext cx="2121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7212B"/>
                </a:solidFill>
                <a:latin typeface="Noto Sans"/>
                <a:ea typeface="Noto Sans"/>
              </a:rPr>
              <a:t>構成・分類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185416"/>
            <a:ext cx="2121408" cy="493776"/>
          </a:xfrm>
          <a:prstGeom prst="rect">
            <a:avLst/>
          </a:prstGeom>
          <a:solidFill>
            <a:srgbClr val="F7F7F4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81727" y="2322576"/>
            <a:ext cx="19385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45B9E"/>
                </a:solidFill>
                <a:latin typeface="Noto Sans"/>
                <a:ea typeface="Noto Sans"/>
              </a:rPr>
              <a:t>G01 / G06 / G09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11696" y="2185416"/>
            <a:ext cx="4251960" cy="493776"/>
          </a:xfrm>
          <a:prstGeom prst="rect">
            <a:avLst/>
          </a:prstGeom>
          <a:solidFill>
            <a:srgbClr val="F7F7F4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2322576"/>
            <a:ext cx="4069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7212B"/>
                </a:solidFill>
                <a:latin typeface="Noto Sans"/>
                <a:ea typeface="Noto Sans"/>
              </a:rPr>
              <a:t>定義・階層・ツリー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" y="2761488"/>
            <a:ext cx="1572768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2898648"/>
            <a:ext cx="1389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7212B"/>
                </a:solidFill>
                <a:latin typeface="Noto Sans"/>
                <a:ea typeface="Noto Sans"/>
              </a:rPr>
              <a:t>DIFFERENCE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0" y="2761488"/>
            <a:ext cx="2304288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77440" y="2898648"/>
            <a:ext cx="2121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7212B"/>
                </a:solidFill>
                <a:latin typeface="Noto Sans"/>
                <a:ea typeface="Noto Sans"/>
              </a:rPr>
              <a:t>違い・位置づけ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90288" y="2761488"/>
            <a:ext cx="2121408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1727" y="2898648"/>
            <a:ext cx="19385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45B9E"/>
                </a:solidFill>
                <a:latin typeface="Noto Sans"/>
                <a:ea typeface="Noto Sans"/>
              </a:rPr>
              <a:t>G02 / G08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11696" y="2761488"/>
            <a:ext cx="4251960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03136" y="2898648"/>
            <a:ext cx="4069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7212B"/>
                </a:solidFill>
                <a:latin typeface="Noto Sans"/>
                <a:ea typeface="Noto Sans"/>
              </a:rPr>
              <a:t>比較・2×2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3337560"/>
            <a:ext cx="1572768" cy="493776"/>
          </a:xfrm>
          <a:prstGeom prst="rect">
            <a:avLst/>
          </a:prstGeom>
          <a:solidFill>
            <a:srgbClr val="F7F7F4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3474720"/>
            <a:ext cx="1389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7212B"/>
                </a:solidFill>
                <a:latin typeface="Noto Sans"/>
                <a:ea typeface="Noto Sans"/>
              </a:rPr>
              <a:t>CHANGE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86000" y="3337560"/>
            <a:ext cx="2304288" cy="493776"/>
          </a:xfrm>
          <a:prstGeom prst="rect">
            <a:avLst/>
          </a:prstGeom>
          <a:solidFill>
            <a:srgbClr val="F7F7F4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77440" y="3474720"/>
            <a:ext cx="2121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7212B"/>
                </a:solidFill>
                <a:latin typeface="Noto Sans"/>
                <a:ea typeface="Noto Sans"/>
              </a:rPr>
              <a:t>順序・時間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90288" y="3337560"/>
            <a:ext cx="2121408" cy="493776"/>
          </a:xfrm>
          <a:prstGeom prst="rect">
            <a:avLst/>
          </a:prstGeom>
          <a:solidFill>
            <a:srgbClr val="F7F7F4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81727" y="3474720"/>
            <a:ext cx="19385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45B9E"/>
                </a:solidFill>
                <a:latin typeface="Noto Sans"/>
                <a:ea typeface="Noto Sans"/>
              </a:rPr>
              <a:t>G03 / G05 / G07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11696" y="3337560"/>
            <a:ext cx="4251960" cy="493776"/>
          </a:xfrm>
          <a:prstGeom prst="rect">
            <a:avLst/>
          </a:prstGeom>
          <a:solidFill>
            <a:srgbClr val="F7F7F4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03136" y="3474720"/>
            <a:ext cx="4069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7212B"/>
                </a:solidFill>
                <a:latin typeface="Noto Sans"/>
                <a:ea typeface="Noto Sans"/>
              </a:rPr>
              <a:t>プロセス・循環・時系列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3232" y="3913632"/>
            <a:ext cx="1572768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4050792"/>
            <a:ext cx="1389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7212B"/>
                </a:solidFill>
                <a:latin typeface="Noto Sans"/>
                <a:ea typeface="Noto Sans"/>
              </a:rPr>
              <a:t>INFLUENCE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0" y="3913632"/>
            <a:ext cx="2304288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377440" y="4050792"/>
            <a:ext cx="2121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7212B"/>
                </a:solidFill>
                <a:latin typeface="Noto Sans"/>
                <a:ea typeface="Noto Sans"/>
              </a:rPr>
              <a:t>原因・相互作用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90288" y="3913632"/>
            <a:ext cx="2121408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81727" y="4050792"/>
            <a:ext cx="19385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45B9E"/>
                </a:solidFill>
                <a:latin typeface="Noto Sans"/>
                <a:ea typeface="Noto Sans"/>
              </a:rPr>
              <a:t>G04 / G10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11696" y="3913632"/>
            <a:ext cx="4251960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03136" y="4050792"/>
            <a:ext cx="4069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7212B"/>
                </a:solidFill>
                <a:latin typeface="Noto Sans"/>
                <a:ea typeface="Noto Sans"/>
              </a:rPr>
              <a:t>因果・ネットワーク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3232" y="4489704"/>
            <a:ext cx="1572768" cy="493776"/>
          </a:xfrm>
          <a:prstGeom prst="rect">
            <a:avLst/>
          </a:prstGeom>
          <a:solidFill>
            <a:srgbClr val="F7F7F4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4672" y="4626864"/>
            <a:ext cx="1389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7212B"/>
                </a:solidFill>
                <a:latin typeface="Noto Sans"/>
                <a:ea typeface="Noto Sans"/>
              </a:rPr>
              <a:t>EVIDENCE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86000" y="4489704"/>
            <a:ext cx="2304288" cy="493776"/>
          </a:xfrm>
          <a:prstGeom prst="rect">
            <a:avLst/>
          </a:prstGeom>
          <a:solidFill>
            <a:srgbClr val="F7F7F4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77440" y="4626864"/>
            <a:ext cx="2121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7212B"/>
                </a:solidFill>
                <a:latin typeface="Noto Sans"/>
                <a:ea typeface="Noto Sans"/>
              </a:rPr>
              <a:t>数式・数値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90288" y="4489704"/>
            <a:ext cx="2121408" cy="493776"/>
          </a:xfrm>
          <a:prstGeom prst="rect">
            <a:avLst/>
          </a:prstGeom>
          <a:solidFill>
            <a:srgbClr val="F7F7F4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81727" y="4626864"/>
            <a:ext cx="19385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45B9E"/>
                </a:solidFill>
                <a:latin typeface="Noto Sans"/>
                <a:ea typeface="Noto Sans"/>
              </a:rPr>
              <a:t>G11 / G12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11696" y="4489704"/>
            <a:ext cx="4251960" cy="493776"/>
          </a:xfrm>
          <a:prstGeom prst="rect">
            <a:avLst/>
          </a:prstGeom>
          <a:solidFill>
            <a:srgbClr val="F7F7F4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03136" y="4626864"/>
            <a:ext cx="4069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7212B"/>
                </a:solidFill>
                <a:latin typeface="Noto Sans"/>
                <a:ea typeface="Noto Sans"/>
              </a:rPr>
              <a:t>数式・KPI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13232" y="5065776"/>
            <a:ext cx="1572768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4672" y="5202936"/>
            <a:ext cx="1389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7212B"/>
                </a:solidFill>
                <a:latin typeface="Noto Sans"/>
                <a:ea typeface="Noto Sans"/>
              </a:rPr>
              <a:t>ECONOMICS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86000" y="5065776"/>
            <a:ext cx="2304288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377440" y="5202936"/>
            <a:ext cx="2121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7212B"/>
                </a:solidFill>
                <a:latin typeface="Noto Sans"/>
                <a:ea typeface="Noto Sans"/>
              </a:rPr>
              <a:t>経済曲線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90288" y="5065776"/>
            <a:ext cx="2121408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81727" y="5202936"/>
            <a:ext cx="19385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45B9E"/>
                </a:solidFill>
                <a:latin typeface="Noto Sans"/>
                <a:ea typeface="Noto Sans"/>
              </a:rPr>
              <a:t>E01 — E06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711696" y="5065776"/>
            <a:ext cx="4251960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3136" y="5202936"/>
            <a:ext cx="4069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7212B"/>
                </a:solidFill>
                <a:latin typeface="Noto Sans"/>
                <a:ea typeface="Noto Sans"/>
              </a:rPr>
              <a:t>専用グラフ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G01  / 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GDPは「国内」「一定期間」「新たな付加価値」の3条件で定義される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2606D"/>
                </a:solidFill>
                <a:latin typeface="Noto Sans"/>
                <a:ea typeface="Noto Sans"/>
              </a:rPr>
              <a:t>用途｜概念の導入、用語定義　　作図ルール｜3〜5要素、囲みではなく列で分割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719072"/>
            <a:ext cx="56692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45B9E"/>
                </a:solidFill>
                <a:latin typeface="Noto Sans"/>
                <a:ea typeface="Noto San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359152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B"/>
                </a:solidFill>
                <a:latin typeface="Noto Sans"/>
                <a:ea typeface="Noto Sans"/>
              </a:rPr>
              <a:t>国内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063240"/>
            <a:ext cx="301752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52606D"/>
                </a:solidFill>
                <a:latin typeface="Noto Sans"/>
                <a:ea typeface="Noto Sans"/>
              </a:rPr>
              <a:t>生産者の国籍ではなく、活動した場所で判断する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4754880"/>
            <a:ext cx="2377440" cy="0"/>
          </a:xfrm>
          <a:prstGeom prst="line">
            <a:avLst/>
          </a:prstGeom>
          <a:ln w="2540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169664" y="1755648"/>
            <a:ext cx="0" cy="3456432"/>
          </a:xfrm>
          <a:prstGeom prst="line">
            <a:avLst/>
          </a:prstGeom>
          <a:ln w="889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480560" y="1719072"/>
            <a:ext cx="56692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45B9E"/>
                </a:solidFill>
                <a:latin typeface="Noto Sans"/>
                <a:ea typeface="Noto San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359152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B"/>
                </a:solidFill>
                <a:latin typeface="Noto Sans"/>
                <a:ea typeface="Noto Sans"/>
              </a:rPr>
              <a:t>一定期間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063240"/>
            <a:ext cx="301752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52606D"/>
                </a:solidFill>
                <a:latin typeface="Noto Sans"/>
                <a:ea typeface="Noto Sans"/>
              </a:rPr>
              <a:t>ある時点の資産ではなく、期間中の生産を測る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480560" y="4754880"/>
            <a:ext cx="2377440" cy="0"/>
          </a:xfrm>
          <a:prstGeom prst="line">
            <a:avLst/>
          </a:prstGeom>
          <a:ln w="2540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36992" y="1755648"/>
            <a:ext cx="0" cy="3456432"/>
          </a:xfrm>
          <a:prstGeom prst="line">
            <a:avLst/>
          </a:prstGeom>
          <a:ln w="889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47888" y="1719072"/>
            <a:ext cx="56692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45B9E"/>
                </a:solidFill>
                <a:latin typeface="Noto Sans"/>
                <a:ea typeface="Noto San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2359152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B"/>
                </a:solidFill>
                <a:latin typeface="Noto Sans"/>
                <a:ea typeface="Noto Sans"/>
              </a:rPr>
              <a:t>付加価値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3063240"/>
            <a:ext cx="301752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52606D"/>
                </a:solidFill>
                <a:latin typeface="Noto Sans"/>
                <a:ea typeface="Noto Sans"/>
              </a:rPr>
              <a:t>中間投入を除き、二重計上を避ける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47888" y="4754880"/>
            <a:ext cx="2377440" cy="0"/>
          </a:xfrm>
          <a:prstGeom prst="line">
            <a:avLst/>
          </a:prstGeom>
          <a:ln w="2540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G02  / 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名目GDPは金額を、実質GDPは生産量の変化を捉える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2606D"/>
                </a:solidFill>
                <a:latin typeface="Noto Sans"/>
                <a:ea typeface="Noto Sans"/>
              </a:rPr>
              <a:t>用途｜似た概念・制度・理論の比較　　作図ルール｜共通の比較軸を同じ行に置く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591056"/>
            <a:ext cx="3703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245B9E"/>
                </a:solidFill>
                <a:latin typeface="Noto Sans"/>
                <a:ea typeface="Noto Sans"/>
              </a:rPr>
              <a:t>名目GDP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91056"/>
            <a:ext cx="3703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776F"/>
                </a:solidFill>
                <a:latin typeface="Noto Sans"/>
                <a:ea typeface="Noto Sans"/>
              </a:rPr>
              <a:t>実質GDP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2176272"/>
            <a:ext cx="1298448" cy="566928"/>
          </a:xfrm>
          <a:prstGeom prst="rect">
            <a:avLst/>
          </a:prstGeom>
          <a:solidFill>
            <a:srgbClr val="F7F7F4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359152"/>
            <a:ext cx="102412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2606D"/>
                </a:solidFill>
                <a:latin typeface="Noto Sans"/>
                <a:ea typeface="Noto Sans"/>
              </a:rPr>
              <a:t>価格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2176272"/>
            <a:ext cx="4279392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91072" y="2176272"/>
            <a:ext cx="429768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31720" y="2340864"/>
            <a:ext cx="3611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7212B"/>
                </a:solidFill>
                <a:latin typeface="Noto Sans"/>
                <a:ea typeface="Noto Sans"/>
              </a:rPr>
              <a:t>その年の価格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340864"/>
            <a:ext cx="3611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7212B"/>
                </a:solidFill>
                <a:latin typeface="Noto Sans"/>
                <a:ea typeface="Noto Sans"/>
              </a:rPr>
              <a:t>基準年の価格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2907791"/>
            <a:ext cx="1298448" cy="566928"/>
          </a:xfrm>
          <a:prstGeom prst="rect">
            <a:avLst/>
          </a:prstGeom>
          <a:solidFill>
            <a:srgbClr val="F7F7F4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090672"/>
            <a:ext cx="102412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2606D"/>
                </a:solidFill>
                <a:latin typeface="Noto Sans"/>
                <a:ea typeface="Noto Sans"/>
              </a:rPr>
              <a:t>物価変動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2907791"/>
            <a:ext cx="4279392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91072" y="2907791"/>
            <a:ext cx="429768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1720" y="3072384"/>
            <a:ext cx="3611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7212B"/>
                </a:solidFill>
                <a:latin typeface="Noto Sans"/>
                <a:ea typeface="Noto Sans"/>
              </a:rPr>
              <a:t>含む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3072384"/>
            <a:ext cx="3611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7212B"/>
                </a:solidFill>
                <a:latin typeface="Noto Sans"/>
                <a:ea typeface="Noto Sans"/>
              </a:rPr>
              <a:t>取り除く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639312"/>
            <a:ext cx="1298448" cy="566928"/>
          </a:xfrm>
          <a:prstGeom prst="rect">
            <a:avLst/>
          </a:prstGeom>
          <a:solidFill>
            <a:srgbClr val="F7F7F4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3822191"/>
            <a:ext cx="102412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2606D"/>
                </a:solidFill>
                <a:latin typeface="Noto Sans"/>
                <a:ea typeface="Noto Sans"/>
              </a:rPr>
              <a:t>主な用途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0" y="3639312"/>
            <a:ext cx="4279392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91072" y="3639312"/>
            <a:ext cx="429768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31720" y="3803904"/>
            <a:ext cx="3611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7212B"/>
                </a:solidFill>
                <a:latin typeface="Noto Sans"/>
                <a:ea typeface="Noto Sans"/>
              </a:rPr>
              <a:t>経済規模の金額比較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3803904"/>
            <a:ext cx="3611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7212B"/>
                </a:solidFill>
                <a:latin typeface="Noto Sans"/>
                <a:ea typeface="Noto Sans"/>
              </a:rPr>
              <a:t>実質的な成長率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3232" y="4370832"/>
            <a:ext cx="1298448" cy="566928"/>
          </a:xfrm>
          <a:prstGeom prst="rect">
            <a:avLst/>
          </a:prstGeom>
          <a:solidFill>
            <a:srgbClr val="E9F0F7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4553712"/>
            <a:ext cx="102412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2606D"/>
                </a:solidFill>
                <a:latin typeface="Noto Sans"/>
                <a:ea typeface="Noto Sans"/>
              </a:rPr>
              <a:t>問い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11680" y="4370832"/>
            <a:ext cx="4279392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91072" y="4370832"/>
            <a:ext cx="429768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31720" y="4535424"/>
            <a:ext cx="3611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7212B"/>
                </a:solidFill>
                <a:latin typeface="Noto Sans"/>
                <a:ea typeface="Noto Sans"/>
              </a:rPr>
              <a:t>いくら生産したか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0840" y="4535424"/>
            <a:ext cx="3611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7212B"/>
                </a:solidFill>
                <a:latin typeface="Noto Sans"/>
                <a:ea typeface="Noto Sans"/>
              </a:rPr>
              <a:t>どれだけ増えたか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G03  / 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経済問題は「条件→モデル→方向→結論」の順に解けば迷わない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2606D"/>
                </a:solidFill>
                <a:latin typeface="Noto Sans"/>
                <a:ea typeface="Noto Sans"/>
              </a:rPr>
              <a:t>用途｜解法、手続、業務フロー　　作図ルール｜左から右、動詞でラベルを書く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06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51560" y="3063240"/>
            <a:ext cx="9966960" cy="0"/>
          </a:xfrm>
          <a:prstGeom prst="line">
            <a:avLst/>
          </a:prstGeom>
          <a:ln w="1778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914400" y="2944368"/>
            <a:ext cx="237744" cy="237744"/>
          </a:xfrm>
          <a:prstGeom prst="ellipse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856231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45B9E"/>
                </a:solidFill>
                <a:latin typeface="Noto Sans"/>
                <a:ea typeface="Noto San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258568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7212B"/>
                </a:solidFill>
                <a:latin typeface="Noto Sans"/>
                <a:ea typeface="Noto Sans"/>
              </a:rPr>
              <a:t>条件を読む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493008"/>
            <a:ext cx="2148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2606D"/>
                </a:solidFill>
                <a:latin typeface="Noto Sans"/>
                <a:ea typeface="Noto Sans"/>
              </a:rPr>
              <a:t>外生変数を特定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898648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245B9E"/>
                </a:solidFill>
                <a:latin typeface="Noto Sans"/>
                <a:ea typeface="Noto Sans"/>
              </a:rPr>
              <a:t>→</a:t>
            </a:r>
          </a:p>
        </p:txBody>
      </p:sp>
      <p:sp>
        <p:nvSpPr>
          <p:cNvPr id="14" name="Oval 13"/>
          <p:cNvSpPr/>
          <p:nvPr/>
        </p:nvSpPr>
        <p:spPr>
          <a:xfrm>
            <a:off x="3675887" y="2944368"/>
            <a:ext cx="237744" cy="237744"/>
          </a:xfrm>
          <a:prstGeom prst="ellipse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2735" y="1856231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45B9E"/>
                </a:solidFill>
                <a:latin typeface="Noto Sans"/>
                <a:ea typeface="Noto San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5" y="2258568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7212B"/>
                </a:solidFill>
                <a:latin typeface="Noto Sans"/>
                <a:ea typeface="Noto Sans"/>
              </a:rPr>
              <a:t>モデルを選ぶ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5" y="3493008"/>
            <a:ext cx="2148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2606D"/>
                </a:solidFill>
                <a:latin typeface="Noto Sans"/>
                <a:ea typeface="Noto Sans"/>
              </a:rPr>
              <a:t>需要供給／IS-LM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70448" y="2898648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245B9E"/>
                </a:solidFill>
                <a:latin typeface="Noto Sans"/>
                <a:ea typeface="Noto Sans"/>
              </a:rPr>
              <a:t>→</a:t>
            </a:r>
          </a:p>
        </p:txBody>
      </p:sp>
      <p:sp>
        <p:nvSpPr>
          <p:cNvPr id="19" name="Oval 18"/>
          <p:cNvSpPr/>
          <p:nvPr/>
        </p:nvSpPr>
        <p:spPr>
          <a:xfrm>
            <a:off x="6437376" y="2944368"/>
            <a:ext cx="237744" cy="237744"/>
          </a:xfrm>
          <a:prstGeom prst="ellipse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4224" y="1856231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45B9E"/>
                </a:solidFill>
                <a:latin typeface="Noto Sans"/>
                <a:ea typeface="Noto San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2258568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7212B"/>
                </a:solidFill>
                <a:latin typeface="Noto Sans"/>
                <a:ea typeface="Noto Sans"/>
              </a:rPr>
              <a:t>方向を描く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3493008"/>
            <a:ext cx="2148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2606D"/>
                </a:solidFill>
                <a:latin typeface="Noto Sans"/>
                <a:ea typeface="Noto Sans"/>
              </a:rPr>
              <a:t>曲線をシフト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31936" y="2898648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245B9E"/>
                </a:solidFill>
                <a:latin typeface="Noto Sans"/>
                <a:ea typeface="Noto Sans"/>
              </a:rPr>
              <a:t>→</a:t>
            </a:r>
          </a:p>
        </p:txBody>
      </p:sp>
      <p:sp>
        <p:nvSpPr>
          <p:cNvPr id="24" name="Oval 23"/>
          <p:cNvSpPr/>
          <p:nvPr/>
        </p:nvSpPr>
        <p:spPr>
          <a:xfrm>
            <a:off x="9198864" y="2944368"/>
            <a:ext cx="237744" cy="237744"/>
          </a:xfrm>
          <a:prstGeom prst="ellipse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25712" y="1856231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45B9E"/>
                </a:solidFill>
                <a:latin typeface="Noto Sans"/>
                <a:ea typeface="Noto Sans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25712" y="2258568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7212B"/>
                </a:solidFill>
                <a:latin typeface="Noto Sans"/>
                <a:ea typeface="Noto Sans"/>
              </a:rPr>
              <a:t>結論を出す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5712" y="3493008"/>
            <a:ext cx="2148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2606D"/>
                </a:solidFill>
                <a:latin typeface="Noto Sans"/>
                <a:ea typeface="Noto Sans"/>
              </a:rPr>
              <a:t>価格・数量を判定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G04  /  CAUSE &amp;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政府支出の増加は所得と消費の連鎖を通じてGDPを押し上げる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2606D"/>
                </a:solidFill>
                <a:latin typeface="Noto Sans"/>
                <a:ea typeface="Noto Sans"/>
              </a:rPr>
              <a:t>用途｜政策効果、原因と結果　　作図ルール｜矢印上に作用を示す動詞を置く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404872"/>
            <a:ext cx="2231136" cy="10789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404872"/>
            <a:ext cx="54864" cy="1078992"/>
          </a:xfrm>
          <a:prstGeom prst="rect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542032"/>
            <a:ext cx="19293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政府支出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16936" y="2944368"/>
            <a:ext cx="438912" cy="0"/>
          </a:xfrm>
          <a:prstGeom prst="line">
            <a:avLst/>
          </a:prstGeom>
          <a:ln w="12700">
            <a:solidFill>
              <a:srgbClr val="5260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Isosceles Triangle 11"/>
          <p:cNvSpPr/>
          <p:nvPr/>
        </p:nvSpPr>
        <p:spPr>
          <a:xfrm rot="5400000">
            <a:off x="3227832" y="2862072"/>
            <a:ext cx="118872" cy="146304"/>
          </a:xfrm>
          <a:prstGeom prst="triangle">
            <a:avLst/>
          </a:prstGeom>
          <a:solidFill>
            <a:srgbClr val="52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246888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2606D"/>
                </a:solidFill>
                <a:latin typeface="Noto Sans"/>
                <a:ea typeface="Noto Sans"/>
              </a:rPr>
              <a:t>増える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2404872"/>
            <a:ext cx="2231136" cy="10789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0" y="2404872"/>
            <a:ext cx="54864" cy="1078992"/>
          </a:xfrm>
          <a:prstGeom prst="rect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9312" y="2542032"/>
            <a:ext cx="19293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企業・家計所得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705856" y="2944368"/>
            <a:ext cx="438912" cy="0"/>
          </a:xfrm>
          <a:prstGeom prst="line">
            <a:avLst/>
          </a:prstGeom>
          <a:ln w="12700">
            <a:solidFill>
              <a:srgbClr val="5260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6016752" y="2862072"/>
            <a:ext cx="118872" cy="146304"/>
          </a:xfrm>
          <a:prstGeom prst="triangle">
            <a:avLst/>
          </a:prstGeom>
          <a:solidFill>
            <a:srgbClr val="52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552" y="246888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2606D"/>
                </a:solidFill>
                <a:latin typeface="Noto Sans"/>
                <a:ea typeface="Noto Sans"/>
              </a:rPr>
              <a:t>受け取る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404872"/>
            <a:ext cx="2231136" cy="10789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2404872"/>
            <a:ext cx="54864" cy="1078992"/>
          </a:xfrm>
          <a:prstGeom prst="rect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2542032"/>
            <a:ext cx="19293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消費支出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494776" y="2944368"/>
            <a:ext cx="438912" cy="0"/>
          </a:xfrm>
          <a:prstGeom prst="line">
            <a:avLst/>
          </a:prstGeom>
          <a:ln w="12700">
            <a:solidFill>
              <a:srgbClr val="5260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8805672" y="2862072"/>
            <a:ext cx="118872" cy="146304"/>
          </a:xfrm>
          <a:prstGeom prst="triangle">
            <a:avLst/>
          </a:prstGeom>
          <a:solidFill>
            <a:srgbClr val="52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1" y="246888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2606D"/>
                </a:solidFill>
                <a:latin typeface="Noto Sans"/>
                <a:ea typeface="Noto Sans"/>
              </a:rPr>
              <a:t>再び増える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2559" y="2404872"/>
            <a:ext cx="2231136" cy="10789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52559" y="2404872"/>
            <a:ext cx="54864" cy="1078992"/>
          </a:xfrm>
          <a:prstGeom prst="rect">
            <a:avLst/>
          </a:prstGeom>
          <a:solidFill>
            <a:srgbClr val="167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1" y="2542032"/>
            <a:ext cx="19293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GDP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36976" y="4160520"/>
            <a:ext cx="5687568" cy="713232"/>
          </a:xfrm>
          <a:prstGeom prst="rect">
            <a:avLst/>
          </a:prstGeom>
          <a:solidFill>
            <a:srgbClr val="F5EA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56432" y="4370832"/>
            <a:ext cx="5257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4A3B"/>
                </a:solidFill>
                <a:latin typeface="Noto Sans"/>
                <a:ea typeface="Noto Sans"/>
              </a:rPr>
              <a:t>反作用｜利子率上昇が民間投資を減らす場合もある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G05  /  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景気は回復・好況・後退・不況を繰り返しながら変動する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2606D"/>
                </a:solidFill>
                <a:latin typeface="Noto Sans"/>
                <a:ea typeface="Noto Sans"/>
              </a:rPr>
              <a:t>用途｜循環、フィードバック　　作図ルール｜時計回り、4〜5段階に限定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08</a:t>
            </a:r>
          </a:p>
        </p:txBody>
      </p:sp>
      <p:sp>
        <p:nvSpPr>
          <p:cNvPr id="8" name="Oval 7"/>
          <p:cNvSpPr/>
          <p:nvPr/>
        </p:nvSpPr>
        <p:spPr>
          <a:xfrm>
            <a:off x="4965192" y="2596896"/>
            <a:ext cx="1133856" cy="1133856"/>
          </a:xfrm>
          <a:prstGeom prst="ellipse">
            <a:avLst/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9783" y="3054096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Noto Sans"/>
                <a:ea typeface="Noto Sans"/>
              </a:rPr>
              <a:t>景気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00600" y="1627632"/>
            <a:ext cx="2103120" cy="841248"/>
          </a:xfrm>
          <a:prstGeom prst="rect">
            <a:avLst/>
          </a:prstGeom>
          <a:solidFill>
            <a:srgbClr val="FFFFFF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00600" y="1627632"/>
            <a:ext cx="54864" cy="841248"/>
          </a:xfrm>
          <a:prstGeom prst="rect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65192" y="1764792"/>
            <a:ext cx="18013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回復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65192" y="2103120"/>
            <a:ext cx="18013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2606D"/>
                </a:solidFill>
                <a:latin typeface="Noto Sans"/>
                <a:ea typeface="Noto Sans"/>
              </a:rPr>
              <a:t>生産・雇用が改善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852160" y="2048256"/>
            <a:ext cx="3310128" cy="1133856"/>
          </a:xfrm>
          <a:prstGeom prst="line">
            <a:avLst/>
          </a:prstGeom>
          <a:ln w="1270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110727" y="2761488"/>
            <a:ext cx="2103120" cy="841248"/>
          </a:xfrm>
          <a:prstGeom prst="rect">
            <a:avLst/>
          </a:prstGeom>
          <a:solidFill>
            <a:srgbClr val="FFFFFF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0727" y="2761488"/>
            <a:ext cx="54864" cy="841248"/>
          </a:xfrm>
          <a:prstGeom prst="rect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19" y="2898648"/>
            <a:ext cx="18013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好況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3236976"/>
            <a:ext cx="18013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2606D"/>
                </a:solidFill>
                <a:latin typeface="Noto Sans"/>
                <a:ea typeface="Noto Sans"/>
              </a:rPr>
              <a:t>需要・物価が上昇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5852160" y="3182112"/>
            <a:ext cx="3310128" cy="1691640"/>
          </a:xfrm>
          <a:prstGeom prst="line">
            <a:avLst/>
          </a:prstGeom>
          <a:ln w="1270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4800600" y="4453128"/>
            <a:ext cx="2103120" cy="841248"/>
          </a:xfrm>
          <a:prstGeom prst="rect">
            <a:avLst/>
          </a:prstGeom>
          <a:solidFill>
            <a:srgbClr val="FFFFFF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00600" y="4453128"/>
            <a:ext cx="54864" cy="841248"/>
          </a:xfrm>
          <a:prstGeom prst="rect">
            <a:avLst/>
          </a:prstGeom>
          <a:solidFill>
            <a:srgbClr val="B24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65192" y="4590288"/>
            <a:ext cx="18013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後退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65192" y="4928616"/>
            <a:ext cx="18013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2606D"/>
                </a:solidFill>
                <a:latin typeface="Noto Sans"/>
                <a:ea typeface="Noto Sans"/>
              </a:rPr>
              <a:t>在庫・金利が重荷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2633472" y="3182112"/>
            <a:ext cx="3218688" cy="1691640"/>
          </a:xfrm>
          <a:prstGeom prst="line">
            <a:avLst/>
          </a:prstGeom>
          <a:ln w="1270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581912" y="2761488"/>
            <a:ext cx="2103120" cy="841248"/>
          </a:xfrm>
          <a:prstGeom prst="rect">
            <a:avLst/>
          </a:prstGeom>
          <a:solidFill>
            <a:srgbClr val="FFFFFF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581912" y="2761488"/>
            <a:ext cx="54864" cy="841248"/>
          </a:xfrm>
          <a:prstGeom prst="rect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46504" y="2898648"/>
            <a:ext cx="18013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不況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46504" y="3236976"/>
            <a:ext cx="18013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2606D"/>
                </a:solidFill>
                <a:latin typeface="Noto Sans"/>
                <a:ea typeface="Noto Sans"/>
              </a:rPr>
              <a:t>投資・雇用が減少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2633472" y="2048256"/>
            <a:ext cx="3218688" cy="1133856"/>
          </a:xfrm>
          <a:prstGeom prst="line">
            <a:avLst/>
          </a:prstGeom>
          <a:ln w="1270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G06  /  HIERARCHY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経済学はマクロとミクロに分かれ、個別論点へ段階的に具体化される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2606D"/>
                </a:solidFill>
                <a:latin typeface="Noto Sans"/>
                <a:ea typeface="Noto Sans"/>
              </a:rPr>
              <a:t>用途｜包含関係、抽象度、組織階層　　作図ルール｜上位から下位へ、幅ではなく字下げで示す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09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691640"/>
            <a:ext cx="0" cy="658368"/>
          </a:xfrm>
          <a:prstGeom prst="line">
            <a:avLst/>
          </a:prstGeom>
          <a:ln w="2540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1691640"/>
            <a:ext cx="439734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12B"/>
                </a:solidFill>
                <a:latin typeface="Noto Sans"/>
                <a:ea typeface="Noto Sans"/>
              </a:rPr>
              <a:t>経済学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39104" y="1709928"/>
            <a:ext cx="52349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2606D"/>
                </a:solidFill>
                <a:latin typeface="Noto Sans"/>
                <a:ea typeface="Noto Sans"/>
              </a:rPr>
              <a:t>一国全体と個別主体の選択を扱う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2203704"/>
            <a:ext cx="10469880" cy="0"/>
          </a:xfrm>
          <a:prstGeom prst="line">
            <a:avLst/>
          </a:prstGeom>
          <a:ln w="762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298448" y="2615184"/>
            <a:ext cx="0" cy="658368"/>
          </a:xfrm>
          <a:prstGeom prst="line">
            <a:avLst/>
          </a:prstGeom>
          <a:ln w="2540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572768" y="2615184"/>
            <a:ext cx="38596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12B"/>
                </a:solidFill>
                <a:latin typeface="Noto Sans"/>
                <a:ea typeface="Noto Sans"/>
              </a:rPr>
              <a:t>マクロ経済学 / ミクロ経済学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0039" y="2633472"/>
            <a:ext cx="45948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2606D"/>
                </a:solidFill>
                <a:latin typeface="Noto Sans"/>
                <a:ea typeface="Noto Sans"/>
              </a:rPr>
              <a:t>分析対象による二分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72768" y="3127248"/>
            <a:ext cx="9189720" cy="0"/>
          </a:xfrm>
          <a:prstGeom prst="line">
            <a:avLst/>
          </a:prstGeom>
          <a:ln w="762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048256" y="3538728"/>
            <a:ext cx="0" cy="658368"/>
          </a:xfrm>
          <a:prstGeom prst="line">
            <a:avLst/>
          </a:prstGeom>
          <a:ln w="25400">
            <a:solidFill>
              <a:srgbClr val="1677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322576" y="3538728"/>
            <a:ext cx="33220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12B"/>
                </a:solidFill>
                <a:latin typeface="Noto Sans"/>
                <a:ea typeface="Noto Sans"/>
              </a:rPr>
              <a:t>市場・政策・国際・消費者・企業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0973" y="3557016"/>
            <a:ext cx="39547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2606D"/>
                </a:solidFill>
                <a:latin typeface="Noto Sans"/>
                <a:ea typeface="Noto Sans"/>
              </a:rPr>
              <a:t>主要な分析領域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22576" y="4050791"/>
            <a:ext cx="7909560" cy="0"/>
          </a:xfrm>
          <a:prstGeom prst="line">
            <a:avLst/>
          </a:prstGeom>
          <a:ln w="762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798064" y="4462272"/>
            <a:ext cx="0" cy="658368"/>
          </a:xfrm>
          <a:prstGeom prst="line">
            <a:avLst/>
          </a:prstGeom>
          <a:ln w="25400">
            <a:solidFill>
              <a:srgbClr val="1677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072384" y="4462272"/>
            <a:ext cx="27843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12B"/>
                </a:solidFill>
                <a:latin typeface="Noto Sans"/>
                <a:ea typeface="Noto Sans"/>
              </a:rPr>
              <a:t>36の論点と定型問題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1908" y="4480559"/>
            <a:ext cx="33147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2606D"/>
                </a:solidFill>
                <a:latin typeface="Noto Sans"/>
                <a:ea typeface="Noto Sans"/>
              </a:rPr>
              <a:t>試験で問われる具体知識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072384" y="4974336"/>
            <a:ext cx="6629400" cy="0"/>
          </a:xfrm>
          <a:prstGeom prst="line">
            <a:avLst/>
          </a:prstGeom>
          <a:ln w="762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G07  / 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経済理論は危機と政策課題への応答として発展してきた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2606D"/>
                </a:solidFill>
                <a:latin typeface="Noto Sans"/>
                <a:ea typeface="Noto Sans"/>
              </a:rPr>
              <a:t>用途｜歴史、制度変更、ライフサイクル　　作図ルール｜年代は左から右、節点は最大5個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10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3310128"/>
            <a:ext cx="10195560" cy="0"/>
          </a:xfrm>
          <a:prstGeom prst="line">
            <a:avLst/>
          </a:prstGeom>
          <a:ln w="15240">
            <a:solidFill>
              <a:srgbClr val="5260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960120" y="3218688"/>
            <a:ext cx="182880" cy="182880"/>
          </a:xfrm>
          <a:prstGeom prst="ellipse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4708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45B9E"/>
                </a:solidFill>
                <a:latin typeface="Noto Sans"/>
                <a:ea typeface="Noto Sans"/>
              </a:rPr>
              <a:t>1930s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240280"/>
            <a:ext cx="21396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7212B"/>
                </a:solidFill>
                <a:latin typeface="Noto Sans"/>
                <a:ea typeface="Noto Sans"/>
              </a:rPr>
              <a:t>世界恐慌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633472"/>
            <a:ext cx="21396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2606D"/>
                </a:solidFill>
                <a:latin typeface="Noto Sans"/>
                <a:ea typeface="Noto Sans"/>
              </a:rPr>
              <a:t>ケインズ</a:t>
            </a:r>
          </a:p>
        </p:txBody>
      </p:sp>
      <p:sp>
        <p:nvSpPr>
          <p:cNvPr id="13" name="Oval 12"/>
          <p:cNvSpPr/>
          <p:nvPr/>
        </p:nvSpPr>
        <p:spPr>
          <a:xfrm>
            <a:off x="3721608" y="3218688"/>
            <a:ext cx="182880" cy="182880"/>
          </a:xfrm>
          <a:prstGeom prst="ellipse">
            <a:avLst/>
          </a:prstGeom>
          <a:solidFill>
            <a:srgbClr val="B24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3712463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45B9E"/>
                </a:solidFill>
                <a:latin typeface="Noto Sans"/>
                <a:ea typeface="Noto Sans"/>
              </a:rPr>
              <a:t>1970s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4105655"/>
            <a:ext cx="21396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7212B"/>
                </a:solidFill>
                <a:latin typeface="Noto Sans"/>
                <a:ea typeface="Noto Sans"/>
              </a:rPr>
              <a:t>石油危機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4498848"/>
            <a:ext cx="21396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2606D"/>
                </a:solidFill>
                <a:latin typeface="Noto Sans"/>
                <a:ea typeface="Noto Sans"/>
              </a:rPr>
              <a:t>期待の導入</a:t>
            </a:r>
          </a:p>
        </p:txBody>
      </p:sp>
      <p:sp>
        <p:nvSpPr>
          <p:cNvPr id="17" name="Oval 16"/>
          <p:cNvSpPr/>
          <p:nvPr/>
        </p:nvSpPr>
        <p:spPr>
          <a:xfrm>
            <a:off x="6483096" y="3218688"/>
            <a:ext cx="182880" cy="182880"/>
          </a:xfrm>
          <a:prstGeom prst="ellipse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4808" y="184708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45B9E"/>
                </a:solidFill>
                <a:latin typeface="Noto Sans"/>
                <a:ea typeface="Noto Sans"/>
              </a:rPr>
              <a:t>1980s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808" y="2240280"/>
            <a:ext cx="21396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7212B"/>
                </a:solidFill>
                <a:latin typeface="Noto Sans"/>
                <a:ea typeface="Noto Sans"/>
              </a:rPr>
              <a:t>インフレ抑制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2633472"/>
            <a:ext cx="21396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2606D"/>
                </a:solidFill>
                <a:latin typeface="Noto Sans"/>
                <a:ea typeface="Noto Sans"/>
              </a:rPr>
              <a:t>マネタリズム</a:t>
            </a:r>
          </a:p>
        </p:txBody>
      </p:sp>
      <p:sp>
        <p:nvSpPr>
          <p:cNvPr id="21" name="Oval 20"/>
          <p:cNvSpPr/>
          <p:nvPr/>
        </p:nvSpPr>
        <p:spPr>
          <a:xfrm>
            <a:off x="9244584" y="3218688"/>
            <a:ext cx="182880" cy="182880"/>
          </a:xfrm>
          <a:prstGeom prst="ellipse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26296" y="3712463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45B9E"/>
                </a:solidFill>
                <a:latin typeface="Noto Sans"/>
                <a:ea typeface="Noto Sans"/>
              </a:rPr>
              <a:t>2000s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26296" y="4105655"/>
            <a:ext cx="21396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7212B"/>
                </a:solidFill>
                <a:latin typeface="Noto Sans"/>
                <a:ea typeface="Noto Sans"/>
              </a:rPr>
              <a:t>ゼロ金利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6296" y="4498848"/>
            <a:ext cx="21396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2606D"/>
                </a:solidFill>
                <a:latin typeface="Noto Sans"/>
                <a:ea typeface="Noto Sans"/>
              </a:rPr>
              <a:t>非伝統的政策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G08  /  2 × 2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低成長・高失業の局面では需要刺激策の優先度が高まる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2606D"/>
                </a:solidFill>
                <a:latin typeface="Noto Sans"/>
                <a:ea typeface="Noto Sans"/>
              </a:rPr>
              <a:t>用途｜2軸分類、ポジショニング　　作図ルール｜注目象限だけを淡色で強調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1938528" y="1700784"/>
            <a:ext cx="7726679" cy="38862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01868" y="3643884"/>
            <a:ext cx="3863339" cy="1943100"/>
          </a:xfrm>
          <a:prstGeom prst="rect">
            <a:avLst/>
          </a:prstGeom>
          <a:solidFill>
            <a:srgbClr val="E9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5801868" y="1700784"/>
            <a:ext cx="0" cy="3886200"/>
          </a:xfrm>
          <a:prstGeom prst="line">
            <a:avLst/>
          </a:prstGeom>
          <a:ln w="1016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938528" y="3643884"/>
            <a:ext cx="7726680" cy="0"/>
          </a:xfrm>
          <a:prstGeom prst="line">
            <a:avLst/>
          </a:prstGeom>
          <a:ln w="1016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212848" y="1975104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7212B"/>
                </a:solidFill>
                <a:latin typeface="Noto Sans"/>
                <a:ea typeface="Noto Sans"/>
              </a:rPr>
              <a:t>高成長 × 低失業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2414016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2606D"/>
                </a:solidFill>
                <a:latin typeface="Noto Sans"/>
                <a:ea typeface="Noto Sans"/>
              </a:rPr>
              <a:t>過熱・インフレを監視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76188" y="1975104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7212B"/>
                </a:solidFill>
                <a:latin typeface="Noto Sans"/>
                <a:ea typeface="Noto Sans"/>
              </a:rPr>
              <a:t>高成長 × 高失業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76188" y="2414016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2606D"/>
                </a:solidFill>
                <a:latin typeface="Noto Sans"/>
                <a:ea typeface="Noto Sans"/>
              </a:rPr>
              <a:t>構造的失業を点検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3918204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7212B"/>
                </a:solidFill>
                <a:latin typeface="Noto Sans"/>
                <a:ea typeface="Noto Sans"/>
              </a:rPr>
              <a:t>低成長 × 低失業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12848" y="4357116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2606D"/>
                </a:solidFill>
                <a:latin typeface="Noto Sans"/>
                <a:ea typeface="Noto Sans"/>
              </a:rPr>
              <a:t>供給制約を点検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6188" y="3918204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45B9E"/>
                </a:solidFill>
                <a:latin typeface="Noto Sans"/>
                <a:ea typeface="Noto Sans"/>
              </a:rPr>
              <a:t>低成長 × 高失業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6188" y="4357116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2606D"/>
                </a:solidFill>
                <a:latin typeface="Noto Sans"/>
                <a:ea typeface="Noto Sans"/>
              </a:rPr>
              <a:t>需要刺激策を検討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410712"/>
            <a:ext cx="960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52606D"/>
                </a:solidFill>
                <a:latin typeface="Noto Sans"/>
                <a:ea typeface="Noto Sans"/>
              </a:rPr>
              <a:t>成長率 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01184" y="5650992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52606D"/>
                </a:solidFill>
                <a:latin typeface="Noto Sans"/>
                <a:ea typeface="Noto Sans"/>
              </a:rPr>
              <a:t>失業率 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G09  /  TREE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物価指数は対象とウェイトの違いで3種類に分類できる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2606D"/>
                </a:solidFill>
                <a:latin typeface="Noto Sans"/>
                <a:ea typeface="Noto Sans"/>
              </a:rPr>
              <a:t>用途｜分類、原因分解、論点体系　　作図ルール｜同じ階層では分類基準を混ぜない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770632"/>
            <a:ext cx="1874519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2770632"/>
            <a:ext cx="54864" cy="914400"/>
          </a:xfrm>
          <a:prstGeom prst="rect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907791"/>
            <a:ext cx="15727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物価指数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246120"/>
            <a:ext cx="157276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2606D"/>
                </a:solidFill>
                <a:latin typeface="Noto Sans"/>
                <a:ea typeface="Noto Sans"/>
              </a:rPr>
              <a:t>何の価格を測るか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17520" y="2103120"/>
            <a:ext cx="0" cy="2670048"/>
          </a:xfrm>
          <a:prstGeom prst="line">
            <a:avLst/>
          </a:prstGeom>
          <a:ln w="1270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587752" y="3227832"/>
            <a:ext cx="429768" cy="0"/>
          </a:xfrm>
          <a:prstGeom prst="line">
            <a:avLst/>
          </a:prstGeom>
          <a:ln w="1270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17520" y="2084832"/>
            <a:ext cx="658367" cy="0"/>
          </a:xfrm>
          <a:prstGeom prst="line">
            <a:avLst/>
          </a:prstGeom>
          <a:ln w="1270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675887" y="1673352"/>
            <a:ext cx="2423160" cy="822960"/>
          </a:xfrm>
          <a:prstGeom prst="rect">
            <a:avLst/>
          </a:prstGeom>
          <a:solidFill>
            <a:srgbClr val="FFFFFF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75887" y="1673352"/>
            <a:ext cx="54864" cy="822960"/>
          </a:xfrm>
          <a:prstGeom prst="rect">
            <a:avLst/>
          </a:prstGeom>
          <a:solidFill>
            <a:srgbClr val="167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79" y="1810512"/>
            <a:ext cx="21214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CPI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79" y="2148840"/>
            <a:ext cx="21214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2606D"/>
                </a:solidFill>
                <a:latin typeface="Noto Sans"/>
                <a:ea typeface="Noto Sans"/>
              </a:rPr>
              <a:t>消費者の購入価格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9048" y="2084832"/>
            <a:ext cx="530352" cy="0"/>
          </a:xfrm>
          <a:prstGeom prst="line">
            <a:avLst/>
          </a:prstGeom>
          <a:ln w="1270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39712" y="1828800"/>
            <a:ext cx="4069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2606D"/>
                </a:solidFill>
                <a:latin typeface="Noto Sans"/>
                <a:ea typeface="Noto Sans"/>
              </a:rPr>
              <a:t>ラスパイレス方式・基準年数量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017520" y="3246120"/>
            <a:ext cx="658367" cy="0"/>
          </a:xfrm>
          <a:prstGeom prst="line">
            <a:avLst/>
          </a:prstGeom>
          <a:ln w="1270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675887" y="2834640"/>
            <a:ext cx="2423160" cy="822960"/>
          </a:xfrm>
          <a:prstGeom prst="rect">
            <a:avLst/>
          </a:prstGeom>
          <a:solidFill>
            <a:srgbClr val="FFFFFF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75887" y="2834640"/>
            <a:ext cx="54864" cy="822960"/>
          </a:xfrm>
          <a:prstGeom prst="rect">
            <a:avLst/>
          </a:prstGeom>
          <a:solidFill>
            <a:srgbClr val="167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79" y="2971800"/>
            <a:ext cx="21214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CGPI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79" y="3310128"/>
            <a:ext cx="21214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2606D"/>
                </a:solidFill>
                <a:latin typeface="Noto Sans"/>
                <a:ea typeface="Noto Sans"/>
              </a:rPr>
              <a:t>企業間取引価格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99048" y="3246120"/>
            <a:ext cx="530352" cy="0"/>
          </a:xfrm>
          <a:prstGeom prst="line">
            <a:avLst/>
          </a:prstGeom>
          <a:ln w="1270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39712" y="2990088"/>
            <a:ext cx="4069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2606D"/>
                </a:solidFill>
                <a:latin typeface="Noto Sans"/>
                <a:ea typeface="Noto Sans"/>
              </a:rPr>
              <a:t>企業が購入する原材料や中間財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017520" y="4407408"/>
            <a:ext cx="658367" cy="0"/>
          </a:xfrm>
          <a:prstGeom prst="line">
            <a:avLst/>
          </a:prstGeom>
          <a:ln w="1270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675887" y="3995928"/>
            <a:ext cx="2423160" cy="822960"/>
          </a:xfrm>
          <a:prstGeom prst="rect">
            <a:avLst/>
          </a:prstGeom>
          <a:solidFill>
            <a:srgbClr val="FFFFFF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75887" y="3995928"/>
            <a:ext cx="54864" cy="822960"/>
          </a:xfrm>
          <a:prstGeom prst="rect">
            <a:avLst/>
          </a:prstGeom>
          <a:solidFill>
            <a:srgbClr val="167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79" y="4133088"/>
            <a:ext cx="21214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GDPデフレーター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79" y="4471416"/>
            <a:ext cx="21214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2606D"/>
                </a:solidFill>
                <a:latin typeface="Noto Sans"/>
                <a:ea typeface="Noto Sans"/>
              </a:rPr>
              <a:t>GDP全体の価格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9048" y="4407408"/>
            <a:ext cx="530352" cy="0"/>
          </a:xfrm>
          <a:prstGeom prst="line">
            <a:avLst/>
          </a:prstGeom>
          <a:ln w="1270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39712" y="4151376"/>
            <a:ext cx="4069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2606D"/>
                </a:solidFill>
                <a:latin typeface="Noto Sans"/>
                <a:ea typeface="Noto Sans"/>
              </a:rPr>
              <a:t>パーシェ方式に近い・比較年数量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G10  / 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市場では家計・企業・政府・海外が価格と所得を介して結びつく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2606D"/>
                </a:solidFill>
                <a:latin typeface="Noto Sans"/>
                <a:ea typeface="Noto Sans"/>
              </a:rPr>
              <a:t>用途｜主体間関係、ステークホルダー　　作図ルール｜中心1・周辺最大5、線の意味を明記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13</a:t>
            </a:r>
          </a:p>
        </p:txBody>
      </p:sp>
      <p:sp>
        <p:nvSpPr>
          <p:cNvPr id="8" name="Oval 7"/>
          <p:cNvSpPr/>
          <p:nvPr/>
        </p:nvSpPr>
        <p:spPr>
          <a:xfrm>
            <a:off x="5230368" y="2569464"/>
            <a:ext cx="1627632" cy="1627632"/>
          </a:xfrm>
          <a:prstGeom prst="ellipse">
            <a:avLst/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04688" y="3172968"/>
            <a:ext cx="10789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Noto Sans"/>
                <a:ea typeface="Noto Sans"/>
              </a:rPr>
              <a:t>市場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" y="1737360"/>
            <a:ext cx="21488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1737360"/>
            <a:ext cx="54864" cy="859536"/>
          </a:xfrm>
          <a:prstGeom prst="rect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7" y="1874519"/>
            <a:ext cx="18470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家計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7" y="2212848"/>
            <a:ext cx="1847088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2606D"/>
                </a:solidFill>
                <a:latin typeface="Noto Sans"/>
                <a:ea typeface="Noto Sans"/>
              </a:rPr>
              <a:t>消費・労働</a:t>
            </a:r>
          </a:p>
        </p:txBody>
      </p:sp>
      <p:cxnSp>
        <p:nvCxnSpPr>
          <p:cNvPr id="14" name="Connector 13"/>
          <p:cNvCxnSpPr/>
          <p:nvPr/>
        </p:nvCxnSpPr>
        <p:spPr>
          <a:xfrm flipH="1" flipV="1">
            <a:off x="1938528" y="2167128"/>
            <a:ext cx="4105656" cy="1216152"/>
          </a:xfrm>
          <a:prstGeom prst="line">
            <a:avLst/>
          </a:prstGeom>
          <a:ln w="1270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9052560" y="1737360"/>
            <a:ext cx="21488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52560" y="1737360"/>
            <a:ext cx="54864" cy="859536"/>
          </a:xfrm>
          <a:prstGeom prst="rect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7152" y="1874519"/>
            <a:ext cx="18470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企業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2212848"/>
            <a:ext cx="1847088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2606D"/>
                </a:solidFill>
                <a:latin typeface="Noto Sans"/>
                <a:ea typeface="Noto Sans"/>
              </a:rPr>
              <a:t>生産・投資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6044184" y="2167128"/>
            <a:ext cx="4087368" cy="1216152"/>
          </a:xfrm>
          <a:prstGeom prst="line">
            <a:avLst/>
          </a:prstGeom>
          <a:ln w="1270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859536" y="4224528"/>
            <a:ext cx="21488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9536" y="4224528"/>
            <a:ext cx="54864" cy="859536"/>
          </a:xfrm>
          <a:prstGeom prst="rect">
            <a:avLst/>
          </a:prstGeom>
          <a:solidFill>
            <a:srgbClr val="167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7" y="4361688"/>
            <a:ext cx="18470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政府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7" y="4700016"/>
            <a:ext cx="1847088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2606D"/>
                </a:solidFill>
                <a:latin typeface="Noto Sans"/>
                <a:ea typeface="Noto Sans"/>
              </a:rPr>
              <a:t>税・支出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1938528" y="3383280"/>
            <a:ext cx="4105656" cy="1271016"/>
          </a:xfrm>
          <a:prstGeom prst="line">
            <a:avLst/>
          </a:prstGeom>
          <a:ln w="1270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9052560" y="4224528"/>
            <a:ext cx="21488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52560" y="4224528"/>
            <a:ext cx="54864" cy="859536"/>
          </a:xfrm>
          <a:prstGeom prst="rect">
            <a:avLst/>
          </a:prstGeom>
          <a:solidFill>
            <a:srgbClr val="167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17152" y="4361688"/>
            <a:ext cx="18470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海外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17152" y="4700016"/>
            <a:ext cx="1847088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2606D"/>
                </a:solidFill>
                <a:latin typeface="Noto Sans"/>
                <a:ea typeface="Noto Sans"/>
              </a:rPr>
              <a:t>輸出・輸入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44184" y="3383280"/>
            <a:ext cx="4087368" cy="1271016"/>
          </a:xfrm>
          <a:prstGeom prst="line">
            <a:avLst/>
          </a:prstGeom>
          <a:ln w="1270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663440" y="4919472"/>
            <a:ext cx="2834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2606D"/>
                </a:solidFill>
                <a:latin typeface="Noto Sans"/>
                <a:ea typeface="Noto Sans"/>
              </a:rPr>
              <a:t>財・サービス / お金 / 情報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G11  /  FORMULA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GDPデフレーターは名目値を実質値で割り、物価変動を取り出す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2606D"/>
                </a:solidFill>
                <a:latin typeface="Noto Sans"/>
                <a:ea typeface="Noto Sans"/>
              </a:rPr>
              <a:t>用途｜数式、入力と出力　　作図ルール｜式を中央、変数定義を周囲に配置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71907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2606D"/>
                </a:solidFill>
                <a:latin typeface="Noto Sans"/>
                <a:ea typeface="Noto Sans"/>
              </a:rP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194560"/>
            <a:ext cx="2103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12B"/>
                </a:solidFill>
                <a:latin typeface="Noto Sans"/>
                <a:ea typeface="Noto Sans"/>
              </a:rPr>
              <a:t>名目GDP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16352"/>
            <a:ext cx="2103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12B"/>
                </a:solidFill>
                <a:latin typeface="Noto Sans"/>
                <a:ea typeface="Noto Sans"/>
              </a:rPr>
              <a:t>実質GDP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71800" y="1719072"/>
            <a:ext cx="0" cy="3438144"/>
          </a:xfrm>
          <a:prstGeom prst="line">
            <a:avLst/>
          </a:prstGeom>
          <a:ln w="1016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419856" y="1719072"/>
            <a:ext cx="4526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RELATION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432304"/>
            <a:ext cx="466344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245B9E"/>
                </a:solidFill>
                <a:latin typeface="Noto Sans"/>
                <a:ea typeface="Noto Sans"/>
              </a:rPr>
              <a:t>GDPデフレーター
＝ 名目GDP ÷ 実質GDP × 100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385048" y="1719072"/>
            <a:ext cx="0" cy="3438144"/>
          </a:xfrm>
          <a:prstGeom prst="line">
            <a:avLst/>
          </a:prstGeom>
          <a:ln w="1016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814816" y="1719072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6776F"/>
                </a:solidFill>
                <a:latin typeface="Noto Sans"/>
                <a:ea typeface="Noto Sans"/>
              </a:rPr>
              <a:t>OUTPUT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14816" y="2432304"/>
            <a:ext cx="20848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B"/>
                </a:solidFill>
                <a:latin typeface="Noto Sans"/>
                <a:ea typeface="Noto Sans"/>
              </a:rPr>
              <a:t>物価水準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14816" y="2990088"/>
            <a:ext cx="20848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2606D"/>
                </a:solidFill>
                <a:latin typeface="Noto Sans"/>
                <a:ea typeface="Noto Sans"/>
              </a:rPr>
              <a:t>100より大きい
→ 基準年より物価上昇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G12  /  KPI &amp;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成長・雇用・物価を同じ基準で並べると、景気の全体像が読める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2606D"/>
                </a:solidFill>
                <a:latin typeface="Noto Sans"/>
                <a:ea typeface="Noto Sans"/>
              </a:rPr>
              <a:t>用途｜統計、KPI、数値比較　　作図ルール｜主指標のみ強調、表とチャートを競合させない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0992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2606D"/>
                </a:solidFill>
                <a:latin typeface="Noto Sans"/>
                <a:ea typeface="Noto Sans"/>
              </a:rPr>
              <a:t>実質GDP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75688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45B9E"/>
                </a:solidFill>
                <a:latin typeface="Noto Sans"/>
                <a:ea typeface="Noto Sans"/>
              </a:rPr>
              <a:t>+1.2%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3347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2606D"/>
                </a:solidFill>
                <a:latin typeface="Noto Sans"/>
                <a:ea typeface="Noto Sans"/>
              </a:rPr>
              <a:t>前年比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39" y="170992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2606D"/>
                </a:solidFill>
                <a:latin typeface="Noto Sans"/>
                <a:ea typeface="Noto Sans"/>
              </a:rPr>
              <a:t>完全失業率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39" y="2075688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B"/>
                </a:solidFill>
                <a:latin typeface="Noto Sans"/>
                <a:ea typeface="Noto Sans"/>
              </a:rPr>
              <a:t>2.6%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39" y="263347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2606D"/>
                </a:solidFill>
                <a:latin typeface="Noto Sans"/>
                <a:ea typeface="Noto Sans"/>
              </a:rPr>
              <a:t>季節調整値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59" y="170992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2606D"/>
                </a:solidFill>
                <a:latin typeface="Noto Sans"/>
                <a:ea typeface="Noto Sans"/>
              </a:rPr>
              <a:t>CPI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59" y="2075688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B"/>
                </a:solidFill>
                <a:latin typeface="Noto Sans"/>
                <a:ea typeface="Noto Sans"/>
              </a:rPr>
              <a:t>+2.4%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59" y="263347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2606D"/>
                </a:solidFill>
                <a:latin typeface="Noto Sans"/>
                <a:ea typeface="Noto Sans"/>
              </a:rPr>
              <a:t>前年同月比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62672" y="1664208"/>
            <a:ext cx="0" cy="3502152"/>
          </a:xfrm>
          <a:prstGeom prst="line">
            <a:avLst/>
          </a:prstGeom>
          <a:ln w="1016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321040" y="3648456"/>
            <a:ext cx="310896" cy="1051560"/>
          </a:xfrm>
          <a:prstGeom prst="rect">
            <a:avLst/>
          </a:prstGeom>
          <a:solidFill>
            <a:srgbClr val="7EA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4800600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2606D"/>
                </a:solidFill>
                <a:latin typeface="Noto Sans"/>
                <a:ea typeface="Noto Sans"/>
              </a:rPr>
              <a:t>Q1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42832" y="3090672"/>
            <a:ext cx="310896" cy="1609344"/>
          </a:xfrm>
          <a:prstGeom prst="rect">
            <a:avLst/>
          </a:prstGeom>
          <a:solidFill>
            <a:srgbClr val="7EA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24544" y="4800600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2606D"/>
                </a:solidFill>
                <a:latin typeface="Noto Sans"/>
                <a:ea typeface="Noto Sans"/>
              </a:rPr>
              <a:t>Q2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64624" y="3401568"/>
            <a:ext cx="310896" cy="1298448"/>
          </a:xfrm>
          <a:prstGeom prst="rect">
            <a:avLst/>
          </a:prstGeom>
          <a:solidFill>
            <a:srgbClr val="7EA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46336" y="4800600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2606D"/>
                </a:solidFill>
                <a:latin typeface="Noto Sans"/>
                <a:ea typeface="Noto Sans"/>
              </a:rPr>
              <a:t>Q3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86416" y="2578608"/>
            <a:ext cx="310896" cy="2121408"/>
          </a:xfrm>
          <a:prstGeom prst="rect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68128" y="4800600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2606D"/>
                </a:solidFill>
                <a:latin typeface="Noto Sans"/>
                <a:ea typeface="Noto Sans"/>
              </a:rPr>
              <a:t>Q4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1700784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7212B"/>
                </a:solidFill>
                <a:latin typeface="Noto Sans"/>
                <a:ea typeface="Noto Sans"/>
              </a:rPr>
              <a:t>実質GDP成長率の推移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310128"/>
            <a:ext cx="1261872" cy="411480"/>
          </a:xfrm>
          <a:prstGeom prst="rect">
            <a:avLst/>
          </a:prstGeom>
          <a:solidFill>
            <a:srgbClr val="E9F0F7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93392" y="3310128"/>
            <a:ext cx="5001768" cy="411480"/>
          </a:xfrm>
          <a:prstGeom prst="rect">
            <a:avLst/>
          </a:prstGeom>
          <a:solidFill>
            <a:srgbClr val="E9F0F7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3438144"/>
            <a:ext cx="9875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指標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6272" y="3438144"/>
            <a:ext cx="46360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確認点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3785616"/>
            <a:ext cx="1261872" cy="411480"/>
          </a:xfrm>
          <a:prstGeom prst="rect">
            <a:avLst/>
          </a:prstGeom>
          <a:solidFill>
            <a:srgbClr val="F7F7F4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93392" y="3785616"/>
            <a:ext cx="5001768" cy="411480"/>
          </a:xfrm>
          <a:prstGeom prst="rect">
            <a:avLst/>
          </a:prstGeom>
          <a:solidFill>
            <a:srgbClr val="F7F7F4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3913632"/>
            <a:ext cx="9875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7212B"/>
                </a:solidFill>
                <a:latin typeface="Noto Sans"/>
                <a:ea typeface="Noto Sans"/>
              </a:rPr>
              <a:t>GDP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76272" y="3913632"/>
            <a:ext cx="46360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2606D"/>
                </a:solidFill>
                <a:latin typeface="Noto Sans"/>
                <a:ea typeface="Noto Sans"/>
              </a:rPr>
              <a:t>名目と実質を区別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4261104"/>
            <a:ext cx="1261872" cy="411480"/>
          </a:xfrm>
          <a:prstGeom prst="rect">
            <a:avLst/>
          </a:prstGeom>
          <a:solidFill>
            <a:srgbClr val="F7F7F4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93392" y="4261104"/>
            <a:ext cx="5001768" cy="411480"/>
          </a:xfrm>
          <a:prstGeom prst="rect">
            <a:avLst/>
          </a:prstGeom>
          <a:solidFill>
            <a:srgbClr val="F7F7F4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4389120"/>
            <a:ext cx="9875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7212B"/>
                </a:solidFill>
                <a:latin typeface="Noto Sans"/>
                <a:ea typeface="Noto Sans"/>
              </a:rPr>
              <a:t>失業率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76272" y="4389120"/>
            <a:ext cx="46360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2606D"/>
                </a:solidFill>
                <a:latin typeface="Noto Sans"/>
                <a:ea typeface="Noto Sans"/>
              </a:rPr>
              <a:t>労働力人口も確認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4736592"/>
            <a:ext cx="1261872" cy="411480"/>
          </a:xfrm>
          <a:prstGeom prst="rect">
            <a:avLst/>
          </a:prstGeom>
          <a:solidFill>
            <a:srgbClr val="F7F7F4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993392" y="4736592"/>
            <a:ext cx="5001768" cy="411480"/>
          </a:xfrm>
          <a:prstGeom prst="rect">
            <a:avLst/>
          </a:prstGeom>
          <a:solidFill>
            <a:srgbClr val="F7F7F4"/>
          </a:solidFill>
          <a:ln w="508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9536" y="4864607"/>
            <a:ext cx="9875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7212B"/>
                </a:solidFill>
                <a:latin typeface="Noto Sans"/>
                <a:ea typeface="Noto Sans"/>
              </a:rPr>
              <a:t>物価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76272" y="4864607"/>
            <a:ext cx="46360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2606D"/>
                </a:solidFill>
                <a:latin typeface="Noto Sans"/>
                <a:ea typeface="Noto Sans"/>
              </a:rPr>
              <a:t>指数の対象範囲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6776F"/>
                </a:solidFill>
                <a:latin typeface="Noto Sans"/>
                <a:ea typeface="Noto Sans"/>
              </a:rPr>
              <a:t>E01  /  SUPPLY &amp; DEMAND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需要と供給の交点が、均衡価格と均衡数量を同時に決める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2606D"/>
                </a:solidFill>
                <a:latin typeface="Noto Sans"/>
                <a:ea typeface="Noto Sans"/>
              </a:rPr>
              <a:t>用途｜市場均衡、価格・数量決定　　作図ルール｜需要＝青、供給＝赤茶で固定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16776F"/>
                </a:solidFill>
                <a:latin typeface="Noto Sans"/>
                <a:ea typeface="Noto Sans"/>
              </a:rPr>
              <a:t>16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" y="5340096"/>
            <a:ext cx="6583680" cy="0"/>
          </a:xfrm>
          <a:prstGeom prst="line">
            <a:avLst/>
          </a:prstGeom>
          <a:ln w="11430">
            <a:solidFill>
              <a:srgbClr val="5260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68680" y="1664208"/>
            <a:ext cx="0" cy="3675888"/>
          </a:xfrm>
          <a:prstGeom prst="line">
            <a:avLst/>
          </a:prstGeom>
          <a:ln w="11430">
            <a:solidFill>
              <a:srgbClr val="5260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75120" y="543153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2606D"/>
                </a:solidFill>
                <a:latin typeface="Noto Sans"/>
                <a:ea typeface="Noto Sans"/>
              </a:rPr>
              <a:t>数量 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41732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2606D"/>
                </a:solidFill>
                <a:latin typeface="Noto Sans"/>
                <a:ea typeface="Noto Sans"/>
              </a:rPr>
              <a:t>価格 P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43000" y="1984248"/>
            <a:ext cx="6035040" cy="3035808"/>
          </a:xfrm>
          <a:prstGeom prst="line">
            <a:avLst/>
          </a:prstGeom>
          <a:ln w="27940">
            <a:solidFill>
              <a:srgbClr val="B24A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43000" y="1984248"/>
            <a:ext cx="6035040" cy="3035808"/>
          </a:xfrm>
          <a:prstGeom prst="line">
            <a:avLst/>
          </a:prstGeom>
          <a:ln w="2794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64808" y="4608576"/>
            <a:ext cx="502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4A3B"/>
                </a:solidFill>
                <a:latin typeface="Noto Sans"/>
                <a:ea typeface="Noto Sans"/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2103120"/>
            <a:ext cx="502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45B9E"/>
                </a:solidFill>
                <a:latin typeface="Noto Sans"/>
                <a:ea typeface="Noto Sans"/>
              </a:rPr>
              <a:t>D</a:t>
            </a:r>
          </a:p>
        </p:txBody>
      </p:sp>
      <p:sp>
        <p:nvSpPr>
          <p:cNvPr id="16" name="Oval 15"/>
          <p:cNvSpPr/>
          <p:nvPr/>
        </p:nvSpPr>
        <p:spPr>
          <a:xfrm>
            <a:off x="4105656" y="3447288"/>
            <a:ext cx="109728" cy="109728"/>
          </a:xfrm>
          <a:prstGeom prst="ellipse">
            <a:avLst/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4160520" y="3502152"/>
            <a:ext cx="0" cy="1837944"/>
          </a:xfrm>
          <a:prstGeom prst="line">
            <a:avLst/>
          </a:prstGeom>
          <a:ln w="762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680" y="3502152"/>
            <a:ext cx="3291840" cy="0"/>
          </a:xfrm>
          <a:prstGeom prst="line">
            <a:avLst/>
          </a:prstGeom>
          <a:ln w="762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306824" y="3227832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7212B"/>
                </a:solidFill>
                <a:latin typeface="Noto Sans"/>
                <a:ea typeface="Noto Sans"/>
              </a:rPr>
              <a:t>E₀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8" y="1847088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DEMAND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73568" y="2167128"/>
            <a:ext cx="30175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2606D"/>
                </a:solidFill>
                <a:latin typeface="Noto Sans"/>
                <a:ea typeface="Noto Sans"/>
              </a:rPr>
              <a:t>価格が上がるほど、需要量は減る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3054096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SUPPLY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73568" y="3374136"/>
            <a:ext cx="30175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2606D"/>
                </a:solidFill>
                <a:latin typeface="Noto Sans"/>
                <a:ea typeface="Noto Sans"/>
              </a:rPr>
              <a:t>価格が上がるほど、供給量は増える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261104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EQUILIBRIUM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73568" y="4581144"/>
            <a:ext cx="30175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2606D"/>
                </a:solidFill>
                <a:latin typeface="Noto Sans"/>
                <a:ea typeface="Noto Sans"/>
              </a:rPr>
              <a:t>超過需要も超過供給もない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6776F"/>
                </a:solidFill>
                <a:latin typeface="Noto Sans"/>
                <a:ea typeface="Noto Sans"/>
              </a:rPr>
              <a:t>E02  /  CURVE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需要の増加は曲線を右へ動かし、価格と数量をともに押し上げる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2606D"/>
                </a:solidFill>
                <a:latin typeface="Noto Sans"/>
                <a:ea typeface="Noto Sans"/>
              </a:rPr>
              <a:t>用途｜比較静学、外生変数の変化　　作図ルール｜同一曲線は同一色相の濃淡で表す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16776F"/>
                </a:solidFill>
                <a:latin typeface="Noto Sans"/>
                <a:ea typeface="Noto Sans"/>
              </a:rPr>
              <a:t>17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" y="5340096"/>
            <a:ext cx="6583680" cy="0"/>
          </a:xfrm>
          <a:prstGeom prst="line">
            <a:avLst/>
          </a:prstGeom>
          <a:ln w="11430">
            <a:solidFill>
              <a:srgbClr val="5260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68680" y="1664208"/>
            <a:ext cx="0" cy="3675888"/>
          </a:xfrm>
          <a:prstGeom prst="line">
            <a:avLst/>
          </a:prstGeom>
          <a:ln w="11430">
            <a:solidFill>
              <a:srgbClr val="5260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75120" y="543153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2606D"/>
                </a:solidFill>
                <a:latin typeface="Noto Sans"/>
                <a:ea typeface="Noto Sans"/>
              </a:rPr>
              <a:t>数量 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41732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2606D"/>
                </a:solidFill>
                <a:latin typeface="Noto Sans"/>
                <a:ea typeface="Noto Sans"/>
              </a:rPr>
              <a:t>価格 P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43000" y="1984248"/>
            <a:ext cx="6035040" cy="3035808"/>
          </a:xfrm>
          <a:prstGeom prst="line">
            <a:avLst/>
          </a:prstGeom>
          <a:ln w="27940">
            <a:solidFill>
              <a:srgbClr val="B24A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43000" y="2048256"/>
            <a:ext cx="5394960" cy="2706624"/>
          </a:xfrm>
          <a:prstGeom prst="line">
            <a:avLst/>
          </a:prstGeom>
          <a:ln w="19050">
            <a:solidFill>
              <a:srgbClr val="7EA2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947672" y="2048256"/>
            <a:ext cx="5394960" cy="2706624"/>
          </a:xfrm>
          <a:prstGeom prst="line">
            <a:avLst/>
          </a:prstGeom>
          <a:ln w="2794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513832" y="2148840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EA2C9"/>
                </a:solidFill>
                <a:latin typeface="Noto Sans"/>
                <a:ea typeface="Noto Sans"/>
              </a:rPr>
              <a:t>D₀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148840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45B9E"/>
                </a:solidFill>
                <a:latin typeface="Noto Sans"/>
                <a:ea typeface="Noto Sans"/>
              </a:rPr>
              <a:t>D₁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4608576"/>
            <a:ext cx="502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24A3B"/>
                </a:solidFill>
                <a:latin typeface="Noto Sans"/>
                <a:ea typeface="Noto Sans"/>
              </a:rPr>
              <a:t>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166360" y="1975104"/>
            <a:ext cx="649224" cy="0"/>
          </a:xfrm>
          <a:prstGeom prst="line">
            <a:avLst/>
          </a:prstGeom>
          <a:ln w="1524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5400000">
            <a:off x="5715000" y="1901952"/>
            <a:ext cx="118872" cy="146304"/>
          </a:xfrm>
          <a:prstGeom prst="triangle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73568" y="1865376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CAUSE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73568" y="2185416"/>
            <a:ext cx="31089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2606D"/>
                </a:solidFill>
                <a:latin typeface="Noto Sans"/>
                <a:ea typeface="Noto Sans"/>
              </a:rPr>
              <a:t>所得増加・嗜好変化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2980944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SHIFT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73568" y="3300984"/>
            <a:ext cx="31089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2606D"/>
                </a:solidFill>
                <a:latin typeface="Noto Sans"/>
                <a:ea typeface="Noto Sans"/>
              </a:rPr>
              <a:t>D₀ → D₁（右方）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096512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73568" y="4416552"/>
            <a:ext cx="31089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2606D"/>
                </a:solidFill>
                <a:latin typeface="Noto Sans"/>
                <a:ea typeface="Noto Sans"/>
              </a:rPr>
              <a:t>均衡価格 ↑ / 均衡数量 ↑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6776F"/>
                </a:solidFill>
                <a:latin typeface="Noto Sans"/>
                <a:ea typeface="Noto Sans"/>
              </a:rPr>
              <a:t>E03  /  KEYNESIAN CROSS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政府支出の増加は総需要を上方へ動かし、均衡GDPを乗数倍押し上げる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2606D"/>
                </a:solidFill>
                <a:latin typeface="Noto Sans"/>
                <a:ea typeface="Noto Sans"/>
              </a:rPr>
              <a:t>用途｜45度線分析、乗数効果　　作図ルール｜45度線は灰、総需要線は青で固定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16776F"/>
                </a:solidFill>
                <a:latin typeface="Noto Sans"/>
                <a:ea typeface="Noto Sans"/>
              </a:rPr>
              <a:t>18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" y="5340096"/>
            <a:ext cx="6583680" cy="0"/>
          </a:xfrm>
          <a:prstGeom prst="line">
            <a:avLst/>
          </a:prstGeom>
          <a:ln w="11430">
            <a:solidFill>
              <a:srgbClr val="5260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68680" y="1664208"/>
            <a:ext cx="0" cy="3675888"/>
          </a:xfrm>
          <a:prstGeom prst="line">
            <a:avLst/>
          </a:prstGeom>
          <a:ln w="11430">
            <a:solidFill>
              <a:srgbClr val="5260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75120" y="543153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2606D"/>
                </a:solidFill>
                <a:latin typeface="Noto Sans"/>
                <a:ea typeface="Noto Sans"/>
              </a:rPr>
              <a:t>所得 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41732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2606D"/>
                </a:solidFill>
                <a:latin typeface="Noto Sans"/>
                <a:ea typeface="Noto Sans"/>
              </a:rPr>
              <a:t>総需要 AE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868680" y="1993392"/>
            <a:ext cx="6254496" cy="3346704"/>
          </a:xfrm>
          <a:prstGeom prst="line">
            <a:avLst/>
          </a:prstGeom>
          <a:ln w="15240">
            <a:solidFill>
              <a:srgbClr val="5260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43000" y="2852928"/>
            <a:ext cx="5943600" cy="1664208"/>
          </a:xfrm>
          <a:prstGeom prst="line">
            <a:avLst/>
          </a:prstGeom>
          <a:ln w="19050">
            <a:solidFill>
              <a:srgbClr val="7EA2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43000" y="2267712"/>
            <a:ext cx="5943600" cy="1664208"/>
          </a:xfrm>
          <a:prstGeom prst="line">
            <a:avLst/>
          </a:prstGeom>
          <a:ln w="2794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263640" y="2871216"/>
            <a:ext cx="6583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EA2C9"/>
                </a:solidFill>
                <a:latin typeface="Noto Sans"/>
                <a:ea typeface="Noto Sans"/>
              </a:rPr>
              <a:t>AE₀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286000"/>
            <a:ext cx="6583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45B9E"/>
                </a:solidFill>
                <a:latin typeface="Noto Sans"/>
                <a:ea typeface="Noto Sans"/>
              </a:rPr>
              <a:t>AE₁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1865376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2606D"/>
                </a:solidFill>
                <a:latin typeface="Noto Sans"/>
                <a:ea typeface="Noto Sans"/>
              </a:rPr>
              <a:t>45°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187451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POLICY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2194560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2606D"/>
                </a:solidFill>
                <a:latin typeface="Noto Sans"/>
                <a:ea typeface="Noto Sans"/>
              </a:rPr>
              <a:t>政府支出 G を増やす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8" y="3054096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SHIFT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73568" y="3374136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2606D"/>
                </a:solidFill>
                <a:latin typeface="Noto Sans"/>
                <a:ea typeface="Noto Sans"/>
              </a:rPr>
              <a:t>総需要 AE が上方へ移動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423367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MULTIPLIER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73568" y="4553712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2606D"/>
                </a:solidFill>
                <a:latin typeface="Noto Sans"/>
                <a:ea typeface="Noto Sans"/>
              </a:rPr>
              <a:t>ΔY ＝ 1/(1−c) × ΔG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6776F"/>
                </a:solidFill>
                <a:latin typeface="Noto Sans"/>
                <a:ea typeface="Noto Sans"/>
              </a:rPr>
              <a:t>E04  /  IS–LM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拡張的財政政策はISを右へ動かし、GDPと利子率を上昇させる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2606D"/>
                </a:solidFill>
                <a:latin typeface="Noto Sans"/>
                <a:ea typeface="Noto Sans"/>
              </a:rPr>
              <a:t>用途｜財政・金融政策の比較　　作図ルール｜政策→曲線→交点→Y・rの順で示す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16776F"/>
                </a:solidFill>
                <a:latin typeface="Noto Sans"/>
                <a:ea typeface="Noto Sans"/>
              </a:rPr>
              <a:t>19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" y="5340096"/>
            <a:ext cx="6583680" cy="0"/>
          </a:xfrm>
          <a:prstGeom prst="line">
            <a:avLst/>
          </a:prstGeom>
          <a:ln w="11430">
            <a:solidFill>
              <a:srgbClr val="5260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68680" y="1664208"/>
            <a:ext cx="0" cy="3675888"/>
          </a:xfrm>
          <a:prstGeom prst="line">
            <a:avLst/>
          </a:prstGeom>
          <a:ln w="11430">
            <a:solidFill>
              <a:srgbClr val="5260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75120" y="543153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2606D"/>
                </a:solidFill>
                <a:latin typeface="Noto Sans"/>
                <a:ea typeface="Noto Sans"/>
              </a:rPr>
              <a:t>GDP 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41732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2606D"/>
                </a:solidFill>
                <a:latin typeface="Noto Sans"/>
                <a:ea typeface="Noto Sans"/>
              </a:rPr>
              <a:t>利子率 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52728" y="2066544"/>
            <a:ext cx="5925312" cy="2944368"/>
          </a:xfrm>
          <a:prstGeom prst="line">
            <a:avLst/>
          </a:prstGeom>
          <a:ln w="27940">
            <a:solidFill>
              <a:srgbClr val="B24A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43000" y="2048256"/>
            <a:ext cx="5394960" cy="2907792"/>
          </a:xfrm>
          <a:prstGeom prst="line">
            <a:avLst/>
          </a:prstGeom>
          <a:ln w="19050">
            <a:solidFill>
              <a:srgbClr val="7EA2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874519" y="2048256"/>
            <a:ext cx="5394961" cy="2907792"/>
          </a:xfrm>
          <a:prstGeom prst="line">
            <a:avLst/>
          </a:prstGeom>
          <a:ln w="2794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36792" y="4626864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24A3B"/>
                </a:solidFill>
                <a:latin typeface="Noto Sans"/>
                <a:ea typeface="Noto Sans"/>
              </a:rPr>
              <a:t>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95544" y="2139696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EA2C9"/>
                </a:solidFill>
                <a:latin typeface="Noto Sans"/>
                <a:ea typeface="Noto Sans"/>
              </a:rPr>
              <a:t>IS₀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139696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45B9E"/>
                </a:solidFill>
                <a:latin typeface="Noto Sans"/>
                <a:ea typeface="Noto Sans"/>
              </a:rPr>
              <a:t>IS₁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1664208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POLICY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1984248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2606D"/>
                </a:solidFill>
                <a:latin typeface="Noto Sans"/>
                <a:ea typeface="Noto Sans"/>
              </a:rPr>
              <a:t>政府支出 G が増加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8" y="2624328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SHIFT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73568" y="2944368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2606D"/>
                </a:solidFill>
                <a:latin typeface="Noto Sans"/>
                <a:ea typeface="Noto Sans"/>
              </a:rPr>
              <a:t>IS₀ → IS₁（右方）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3584448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RESULT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73568" y="3904487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2606D"/>
                </a:solidFill>
                <a:latin typeface="Noto Sans"/>
                <a:ea typeface="Noto Sans"/>
              </a:rPr>
              <a:t>GDP ↑ / 利子率 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44568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OFFSET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73568" y="4864608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2606D"/>
                </a:solidFill>
                <a:latin typeface="Noto Sans"/>
                <a:ea typeface="Noto Sans"/>
              </a:rPr>
              <a:t>民間投資は一部減少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6776F"/>
                </a:solidFill>
                <a:latin typeface="Noto Sans"/>
                <a:ea typeface="Noto Sans"/>
              </a:rPr>
              <a:t>E05  /  SURPLUS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課税で失われた余剰のうち、税収にならない部分が死荷重になる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2606D"/>
                </a:solidFill>
                <a:latin typeface="Noto Sans"/>
                <a:ea typeface="Noto Sans"/>
              </a:rPr>
              <a:t>用途｜課税、独占、関税、余剰分析　　作図ルール｜余剰・税収・死荷重の色を固定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16776F"/>
                </a:solidFill>
                <a:latin typeface="Noto Sans"/>
                <a:ea typeface="Noto Sans"/>
              </a:rPr>
              <a:t>20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" y="5340096"/>
            <a:ext cx="6583680" cy="0"/>
          </a:xfrm>
          <a:prstGeom prst="line">
            <a:avLst/>
          </a:prstGeom>
          <a:ln w="11430">
            <a:solidFill>
              <a:srgbClr val="5260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68680" y="1664208"/>
            <a:ext cx="0" cy="3675888"/>
          </a:xfrm>
          <a:prstGeom prst="line">
            <a:avLst/>
          </a:prstGeom>
          <a:ln w="11430">
            <a:solidFill>
              <a:srgbClr val="5260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75120" y="543153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2606D"/>
                </a:solidFill>
                <a:latin typeface="Noto Sans"/>
                <a:ea typeface="Noto Sans"/>
              </a:rPr>
              <a:t>数量 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41732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2606D"/>
                </a:solidFill>
                <a:latin typeface="Noto Sans"/>
                <a:ea typeface="Noto Sans"/>
              </a:rPr>
              <a:t>価格 P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43000" y="1984248"/>
            <a:ext cx="6035040" cy="3035808"/>
          </a:xfrm>
          <a:prstGeom prst="line">
            <a:avLst/>
          </a:prstGeom>
          <a:ln w="27940">
            <a:solidFill>
              <a:srgbClr val="B24A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43000" y="1984248"/>
            <a:ext cx="6035040" cy="3035808"/>
          </a:xfrm>
          <a:prstGeom prst="line">
            <a:avLst/>
          </a:prstGeom>
          <a:ln w="2794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10800000">
            <a:off x="2834639" y="2258568"/>
            <a:ext cx="2743200" cy="1234440"/>
          </a:xfrm>
          <a:prstGeom prst="triangle">
            <a:avLst/>
          </a:prstGeom>
          <a:solidFill>
            <a:srgbClr val="E9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2834639" y="3511296"/>
            <a:ext cx="2743200" cy="1234440"/>
          </a:xfrm>
          <a:prstGeom prst="triangle">
            <a:avLst/>
          </a:prstGeom>
          <a:solidFill>
            <a:srgbClr val="E7F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55848" y="2852928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245B9E"/>
                </a:solidFill>
                <a:latin typeface="Noto Sans"/>
                <a:ea typeface="Noto Sans"/>
              </a:rPr>
              <a:t>消費者余剰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55848" y="40233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776F"/>
                </a:solidFill>
                <a:latin typeface="Noto Sans"/>
                <a:ea typeface="Noto Sans"/>
              </a:rPr>
              <a:t>生産者余剰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1856231"/>
            <a:ext cx="3090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TRANSFER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2176272"/>
            <a:ext cx="309067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2606D"/>
                </a:solidFill>
                <a:latin typeface="Noto Sans"/>
                <a:ea typeface="Noto Sans"/>
              </a:rPr>
              <a:t>余剰の一部は政府税収へ移る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8" y="3127248"/>
            <a:ext cx="3090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73568" y="3447288"/>
            <a:ext cx="309067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2606D"/>
                </a:solidFill>
                <a:latin typeface="Noto Sans"/>
                <a:ea typeface="Noto Sans"/>
              </a:rPr>
              <a:t>取引減少分は誰の利益にもならない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73568" y="4315968"/>
            <a:ext cx="3108960" cy="694944"/>
          </a:xfrm>
          <a:prstGeom prst="rect">
            <a:avLst/>
          </a:prstGeom>
          <a:solidFill>
            <a:srgbClr val="F5EA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93024" y="4535424"/>
            <a:ext cx="27066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4A3B"/>
                </a:solidFill>
                <a:latin typeface="Noto Sans"/>
                <a:ea typeface="Noto Sans"/>
              </a:rPr>
              <a:t>死荷重 ＝ 純粋な社会的損失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6776F"/>
                </a:solidFill>
                <a:latin typeface="Noto Sans"/>
                <a:ea typeface="Noto Sans"/>
              </a:rPr>
              <a:t>E06  /  BUSINESS 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実質GDPは長期トレンドの周囲を循環し、山と谷で局面が転換する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D5DB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2606D"/>
                </a:solidFill>
                <a:latin typeface="Noto Sans"/>
                <a:ea typeface="Noto Sans"/>
              </a:rPr>
              <a:t>用途｜景気循環、時系列　　作図ルール｜実績線1色＋トレンド灰色＋直接ラベル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16776F"/>
                </a:solidFill>
                <a:latin typeface="Noto Sans"/>
                <a:ea typeface="Noto Sans"/>
              </a:rPr>
              <a:t>21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" y="5340096"/>
            <a:ext cx="7589520" cy="0"/>
          </a:xfrm>
          <a:prstGeom prst="line">
            <a:avLst/>
          </a:prstGeom>
          <a:ln w="11430">
            <a:solidFill>
              <a:srgbClr val="5260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68680" y="1664208"/>
            <a:ext cx="0" cy="3675888"/>
          </a:xfrm>
          <a:prstGeom prst="line">
            <a:avLst/>
          </a:prstGeom>
          <a:ln w="11430">
            <a:solidFill>
              <a:srgbClr val="5260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80960" y="543153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2606D"/>
                </a:solidFill>
                <a:latin typeface="Noto Sans"/>
                <a:ea typeface="Noto Sans"/>
              </a:rPr>
              <a:t>時間 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41732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2606D"/>
                </a:solidFill>
                <a:latin typeface="Noto Sans"/>
                <a:ea typeface="Noto Sans"/>
              </a:rPr>
              <a:t>実質GDP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39" y="1664208"/>
            <a:ext cx="1609344" cy="3675887"/>
          </a:xfrm>
          <a:prstGeom prst="rect">
            <a:avLst/>
          </a:prstGeom>
          <a:solidFill>
            <a:srgbClr val="EF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3952" y="1664208"/>
            <a:ext cx="1225296" cy="3675887"/>
          </a:xfrm>
          <a:prstGeom prst="rect">
            <a:avLst/>
          </a:prstGeom>
          <a:solidFill>
            <a:srgbClr val="EF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1005839" y="2194560"/>
            <a:ext cx="7232905" cy="2798064"/>
          </a:xfrm>
          <a:prstGeom prst="line">
            <a:avLst/>
          </a:prstGeom>
          <a:ln w="12700">
            <a:solidFill>
              <a:srgbClr val="5260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51560" y="3931920"/>
            <a:ext cx="914400" cy="886968"/>
          </a:xfrm>
          <a:prstGeom prst="line">
            <a:avLst/>
          </a:prstGeom>
          <a:ln w="29209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965960" y="3035808"/>
            <a:ext cx="960120" cy="896112"/>
          </a:xfrm>
          <a:prstGeom prst="line">
            <a:avLst/>
          </a:prstGeom>
          <a:ln w="29209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926080" y="3035808"/>
            <a:ext cx="868680" cy="777240"/>
          </a:xfrm>
          <a:prstGeom prst="line">
            <a:avLst/>
          </a:prstGeom>
          <a:ln w="29209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794760" y="3813048"/>
            <a:ext cx="914400" cy="429768"/>
          </a:xfrm>
          <a:prstGeom prst="line">
            <a:avLst/>
          </a:prstGeom>
          <a:ln w="29209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709160" y="3200400"/>
            <a:ext cx="960120" cy="1042416"/>
          </a:xfrm>
          <a:prstGeom prst="line">
            <a:avLst/>
          </a:prstGeom>
          <a:ln w="29209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669280" y="2414016"/>
            <a:ext cx="941832" cy="786384"/>
          </a:xfrm>
          <a:prstGeom prst="line">
            <a:avLst/>
          </a:prstGeom>
          <a:ln w="29209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611112" y="2414016"/>
            <a:ext cx="841248" cy="731520"/>
          </a:xfrm>
          <a:prstGeom prst="line">
            <a:avLst/>
          </a:prstGeom>
          <a:ln w="29209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452360" y="3145536"/>
            <a:ext cx="749807" cy="329184"/>
          </a:xfrm>
          <a:prstGeom prst="line">
            <a:avLst/>
          </a:prstGeom>
          <a:ln w="29209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743200" y="2688336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24A3B"/>
                </a:solidFill>
                <a:latin typeface="Noto Sans"/>
                <a:ea typeface="Noto Sans"/>
              </a:rPr>
              <a:t>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1416" y="4389120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776F"/>
                </a:solidFill>
                <a:latin typeface="Noto Sans"/>
                <a:ea typeface="Noto Sans"/>
              </a:rPr>
              <a:t>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16952" y="2359152"/>
            <a:ext cx="6583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実績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16952" y="2798064"/>
            <a:ext cx="6583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2606D"/>
                </a:solidFill>
                <a:latin typeface="Noto Sans"/>
                <a:ea typeface="Noto Sans"/>
              </a:rPr>
              <a:t>トレンド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87968" y="1847088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2606D"/>
                </a:solidFill>
                <a:latin typeface="Noto Sans"/>
                <a:ea typeface="Noto Sans"/>
              </a:rPr>
              <a:t>SHADED AREA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968" y="2212848"/>
            <a:ext cx="2148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12B"/>
                </a:solidFill>
                <a:latin typeface="Noto Sans"/>
                <a:ea typeface="Noto Sans"/>
              </a:rPr>
              <a:t>景気後退局面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87968" y="3127248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2606D"/>
                </a:solidFill>
                <a:latin typeface="Noto Sans"/>
                <a:ea typeface="Noto Sans"/>
              </a:rPr>
              <a:t>TURNING POINT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87968" y="3493008"/>
            <a:ext cx="214884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7212B"/>
                </a:solidFill>
                <a:latin typeface="Noto Sans"/>
                <a:ea typeface="Noto Sans"/>
              </a:rPr>
              <a:t>山：拡張→後退
谷：後退→拡張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SMEC標準図解スライドテンプレート Editorial Cobalt</dc:title>
  <dc:subject>汎用図解12種＋経済学専用グラフ6種</dc:subject>
  <dc:creator>SMEC Project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