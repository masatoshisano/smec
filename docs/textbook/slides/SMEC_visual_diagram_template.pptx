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731520"/>
            <a:ext cx="1005840" cy="1005840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WenQuanYi Micro Hei"/>
              </a:rPr>
              <a:t/>
            </a:r>
          </a:p>
        </p:txBody>
      </p:sp>
      <p:sp>
        <p:nvSpPr>
          <p:cNvPr id="4" name="Oval 3"/>
          <p:cNvSpPr/>
          <p:nvPr/>
        </p:nvSpPr>
        <p:spPr>
          <a:xfrm>
            <a:off x="1920240" y="1280160"/>
            <a:ext cx="621792" cy="621792"/>
          </a:xfrm>
          <a:prstGeom prst="ellipse">
            <a:avLst/>
          </a:prstGeom>
          <a:solidFill>
            <a:srgbClr val="119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WenQuanYi Micro Hei"/>
              </a:rPr>
              <a:t/>
            </a:r>
          </a:p>
        </p:txBody>
      </p:sp>
      <p:sp>
        <p:nvSpPr>
          <p:cNvPr id="5" name="Oval 4"/>
          <p:cNvSpPr/>
          <p:nvPr/>
        </p:nvSpPr>
        <p:spPr>
          <a:xfrm>
            <a:off x="1051560" y="2423160"/>
            <a:ext cx="1371600" cy="1371600"/>
          </a:xfrm>
          <a:prstGeom prst="ellipse">
            <a:avLst/>
          </a:prstGeom>
          <a:solidFill>
            <a:srgbClr val="00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WenQuanYi Micro Hei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2468880" y="3520440"/>
            <a:ext cx="868680" cy="868680"/>
          </a:xfrm>
          <a:prstGeom prst="ellipse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WenQuanYi Micro Hei"/>
              </a:rPr>
              <a:t/>
            </a:r>
          </a:p>
        </p:txBody>
      </p:sp>
      <p:sp>
        <p:nvSpPr>
          <p:cNvPr id="7" name="Oval 6"/>
          <p:cNvSpPr/>
          <p:nvPr/>
        </p:nvSpPr>
        <p:spPr>
          <a:xfrm>
            <a:off x="548640" y="4709160"/>
            <a:ext cx="1143000" cy="1143000"/>
          </a:xfrm>
          <a:prstGeom prst="ellipse">
            <a:avLst/>
          </a:prstGeom>
          <a:solidFill>
            <a:srgbClr val="FF8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WenQuanYi Micro 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960120"/>
            <a:ext cx="69037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62FE"/>
                </a:solidFill>
                <a:latin typeface="WenQuanYi Micro Hei"/>
              </a:rPr>
              <a:t>SMEC DESIGN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508760"/>
            <a:ext cx="704088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F172A"/>
                </a:solidFill>
                <a:latin typeface="WenQuanYi Micro Hei"/>
              </a:rPr>
              <a:t>図で理解するための
標準スライドテンプレート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154680"/>
            <a:ext cx="658368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525252"/>
                </a:solidFill>
                <a:latin typeface="WenQuanYi Micro Hei"/>
              </a:rPr>
              <a:t>汎用図解 12パターン
＋ 経済学専用グラフ 6パターン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4800600"/>
            <a:ext cx="1874519" cy="475488"/>
          </a:xfrm>
          <a:prstGeom prst="roundRect">
            <a:avLst/>
          </a:prstGeom>
          <a:solidFill>
            <a:srgbClr val="0F62F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300" b="1">
                <a:solidFill>
                  <a:srgbClr val="FFFFFF"/>
                </a:solidFill>
                <a:latin typeface="WenQuanYi Micro Hei"/>
              </a:rPr>
              <a:t>18 PATTERNS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4800600"/>
            <a:ext cx="1874519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300" b="1">
                <a:solidFill>
                  <a:srgbClr val="0F62FE"/>
                </a:solidFill>
                <a:latin typeface="WenQuanYi Micro Hei"/>
              </a:rPr>
              <a:t>100% EDITABLE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6080760"/>
            <a:ext cx="66751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D8D8D"/>
                </a:solidFill>
                <a:latin typeface="WenQuanYi Micro Hei"/>
              </a:rPr>
              <a:t>公開デザインシステムを参考にしたSMEC独自仕様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841248" cy="329184"/>
          </a:xfrm>
          <a:prstGeom prst="roundRect">
            <a:avLst/>
          </a:prstGeom>
          <a:solidFill>
            <a:srgbClr val="0F62F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Micro Hei"/>
              </a:rPr>
              <a:t>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25252"/>
                </a:solidFill>
                <a:latin typeface="WenQuanYi Micro Hei"/>
              </a:rPr>
              <a:t>デザイン原則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109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WenQuanYi Micro Hei"/>
              </a:rPr>
              <a:t>統一感は「グリッド・色・文字・1枚1メッセージ」の固定から生まれる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53312"/>
            <a:ext cx="11274552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30352" y="1664208"/>
            <a:ext cx="2606040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19" y="1901952"/>
            <a:ext cx="566928" cy="566928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WenQuanYi Micro 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670048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62FE"/>
                </a:solidFill>
                <a:latin typeface="WenQuanYi Micro Hei"/>
              </a:rPr>
              <a:t>ACTION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182112"/>
            <a:ext cx="2194560" cy="11521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WenQuanYi Micro Hei"/>
              </a:rPr>
              <a:t>タイトルだけで結論が伝わる
名詞ではなく文章で書く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64208"/>
            <a:ext cx="2606040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84448" y="1901952"/>
            <a:ext cx="566928" cy="566928"/>
          </a:xfrm>
          <a:prstGeom prst="ellipse">
            <a:avLst/>
          </a:prstGeom>
          <a:solidFill>
            <a:srgbClr val="00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WenQuanYi Micro 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670048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D9A"/>
                </a:solidFill>
                <a:latin typeface="WenQuanYi Micro Hei"/>
              </a:rPr>
              <a:t>ONE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3182112"/>
            <a:ext cx="2194560" cy="11521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WenQuanYi Micro Hei"/>
              </a:rPr>
              <a:t>1枚につき主張は1つ
図は主張を証明するために置く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664208"/>
            <a:ext cx="2606040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901952"/>
            <a:ext cx="566928" cy="566928"/>
          </a:xfrm>
          <a:prstGeom prst="ellipse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WenQuanYi Micro 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670048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A3FFC"/>
                </a:solidFill>
                <a:latin typeface="WenQuanYi Micro Hei"/>
              </a:rPr>
              <a:t>GRID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3182112"/>
            <a:ext cx="2194560" cy="11521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WenQuanYi Micro Hei"/>
              </a:rPr>
              <a:t>12列グリッドを基準に整列
余白は0.5インチ以上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9136" y="1664208"/>
            <a:ext cx="2606040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90304" y="1901952"/>
            <a:ext cx="566928" cy="566928"/>
          </a:xfrm>
          <a:prstGeom prst="ellipse">
            <a:avLst/>
          </a:prstGeom>
          <a:solidFill>
            <a:srgbClr val="FF8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WenQuanYi Micro 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2670048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832B"/>
                </a:solidFill>
                <a:latin typeface="WenQuanYi Micro Hei"/>
              </a:rPr>
              <a:t>COLOR 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3182112"/>
            <a:ext cx="2194560" cy="11521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WenQuanYi Micro Hei"/>
              </a:rPr>
              <a:t>青＝主張／緑＝望ましい
赤＝注意／灰＝補助情報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150" b="1">
                <a:solidFill>
                  <a:srgbClr val="0F172A"/>
                </a:solidFill>
                <a:latin typeface="WenQuanYi Micro Hei"/>
              </a:rPr>
              <a:t>KEY TAKEAWAY｜装飾を増やすより、同じルールを全ページで守る方がプロ品質に近づく。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6547104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D8D8D"/>
                </a:solidFill>
                <a:latin typeface="WenQuanYi Micro Hei"/>
              </a:rPr>
              <a:t>SMEC Visual Slide System｜すべて編集可能なPowerPoint図形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28816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F62FE"/>
                </a:solidFill>
                <a:latin typeface="WenQuanYi Micro 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841248" cy="329184"/>
          </a:xfrm>
          <a:prstGeom prst="roundRect">
            <a:avLst/>
          </a:prstGeom>
          <a:solidFill>
            <a:srgbClr val="0F62F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Micro Hei"/>
              </a:rPr>
              <a:t>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25252"/>
                </a:solidFill>
                <a:latin typeface="WenQuanYi Micro Hei"/>
              </a:rPr>
              <a:t>パターン選択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109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WenQuanYi Micro Hei"/>
              </a:rPr>
              <a:t>伝えたい関係を先に決めれば、使う図解パターンは自動的に絞り込める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53312"/>
            <a:ext cx="11274552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21792" y="1609344"/>
            <a:ext cx="3749039" cy="420624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250" b="1">
                <a:solidFill>
                  <a:srgbClr val="0F172A"/>
                </a:solidFill>
                <a:latin typeface="WenQuanYi Micro Hei"/>
              </a:rPr>
              <a:t>構成要素を並べる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609344"/>
            <a:ext cx="7040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250" b="1">
                <a:solidFill>
                  <a:srgbClr val="0F62FE"/>
                </a:solidFill>
                <a:latin typeface="WenQuanYi Micro Hei"/>
              </a:rPr>
              <a:t>G01 定義カード / G09 ツリー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176272"/>
            <a:ext cx="3749039" cy="420624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250" b="1">
                <a:solidFill>
                  <a:srgbClr val="0F172A"/>
                </a:solidFill>
                <a:latin typeface="WenQuanYi Micro Hei"/>
              </a:rPr>
              <a:t>違いを示す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2176272"/>
            <a:ext cx="7040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250" b="1">
                <a:solidFill>
                  <a:srgbClr val="0F62FE"/>
                </a:solidFill>
                <a:latin typeface="WenQuanYi Micro Hei"/>
              </a:rPr>
              <a:t>G02 比較 / G08 2×2マトリクス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743200"/>
            <a:ext cx="3749039" cy="420624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250" b="1">
                <a:solidFill>
                  <a:srgbClr val="0F172A"/>
                </a:solidFill>
                <a:latin typeface="WenQuanYi Micro Hei"/>
              </a:rPr>
              <a:t>順序や変化を示す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2743200"/>
            <a:ext cx="7040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250" b="1">
                <a:solidFill>
                  <a:srgbClr val="0F62FE"/>
                </a:solidFill>
                <a:latin typeface="WenQuanYi Micro Hei"/>
              </a:rPr>
              <a:t>G03 プロセス / G07 タイムライン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3310128"/>
            <a:ext cx="3749039" cy="420624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250" b="1">
                <a:solidFill>
                  <a:srgbClr val="0F172A"/>
                </a:solidFill>
                <a:latin typeface="WenQuanYi Micro Hei"/>
              </a:rPr>
              <a:t>理由や影響を示す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3310128"/>
            <a:ext cx="7040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250" b="1">
                <a:solidFill>
                  <a:srgbClr val="0F62FE"/>
                </a:solidFill>
                <a:latin typeface="WenQuanYi Micro Hei"/>
              </a:rPr>
              <a:t>G04 因果 / G05 循環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3877056"/>
            <a:ext cx="3749039" cy="420624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250" b="1">
                <a:solidFill>
                  <a:srgbClr val="0F172A"/>
                </a:solidFill>
                <a:latin typeface="WenQuanYi Micro Hei"/>
              </a:rPr>
              <a:t>レベルや関係を示す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3877056"/>
            <a:ext cx="7040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250" b="1">
                <a:solidFill>
                  <a:srgbClr val="0F62FE"/>
                </a:solidFill>
                <a:latin typeface="WenQuanYi Micro Hei"/>
              </a:rPr>
              <a:t>G06 階層 / G10 ネットワーク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4443984"/>
            <a:ext cx="3749039" cy="420624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250" b="1">
                <a:solidFill>
                  <a:srgbClr val="0F172A"/>
                </a:solidFill>
                <a:latin typeface="WenQuanYi Micro Hei"/>
              </a:rPr>
              <a:t>数値・式で示す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6280" y="4443984"/>
            <a:ext cx="7040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250" b="1">
                <a:solidFill>
                  <a:srgbClr val="0F62FE"/>
                </a:solidFill>
                <a:latin typeface="WenQuanYi Micro Hei"/>
              </a:rPr>
              <a:t>G11 数式 / G12 KPI・表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5010912"/>
            <a:ext cx="3749039" cy="420624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250" b="1">
                <a:solidFill>
                  <a:srgbClr val="0F172A"/>
                </a:solidFill>
                <a:latin typeface="WenQuanYi Micro Hei"/>
              </a:rPr>
              <a:t>経済グラフで示す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5010912"/>
            <a:ext cx="7040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250" b="1">
                <a:solidFill>
                  <a:srgbClr val="0F62FE"/>
                </a:solidFill>
                <a:latin typeface="WenQuanYi Micro Hei"/>
              </a:rPr>
              <a:t>E01〜E06 専用パターン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150" b="1">
                <a:solidFill>
                  <a:srgbClr val="0F172A"/>
                </a:solidFill>
                <a:latin typeface="WenQuanYi Micro Hei"/>
              </a:rPr>
              <a:t>KEY TAKEAWAY｜内容に図を当てはめるのではなく、「何の関係を説明するか」から型を選ぶ。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547104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D8D8D"/>
                </a:solidFill>
                <a:latin typeface="WenQuanYi Micro Hei"/>
              </a:rPr>
              <a:t>SMEC Visual Slide System｜すべて編集可能なPowerPoint図形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528816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F62FE"/>
                </a:solidFill>
                <a:latin typeface="WenQuanYi Micro 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841248" cy="329184"/>
          </a:xfrm>
          <a:prstGeom prst="roundRect">
            <a:avLst/>
          </a:prstGeom>
          <a:solidFill>
            <a:srgbClr val="0F62F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Micro Hei"/>
              </a:rPr>
              <a:t>G01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25252"/>
                </a:solidFill>
                <a:latin typeface="WenQuanYi Micro Hei"/>
              </a:rPr>
              <a:t>定義・要素カード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109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WenQuanYi Micro Hei"/>
              </a:rPr>
              <a:t>複雑な概念も「定義・構成・判断基準」の3点に分けると理解しやすい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53312"/>
            <a:ext cx="11274552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21792" y="1719072"/>
            <a:ext cx="3493008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02536" y="1975104"/>
            <a:ext cx="731520" cy="731520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WenQuanYi Micro 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07792"/>
            <a:ext cx="298094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62FE"/>
                </a:solidFill>
                <a:latin typeface="WenQuanYi Micro Hei"/>
              </a:rPr>
              <a:t>定義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584448"/>
            <a:ext cx="2852928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WenQuanYi Micro Hei"/>
              </a:rPr>
              <a:t>GDPは国内で新たに生み出された付加価値の合計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19072"/>
            <a:ext cx="3493008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9864" y="1975104"/>
            <a:ext cx="731520" cy="731520"/>
          </a:xfrm>
          <a:prstGeom prst="ellipse">
            <a:avLst/>
          </a:prstGeom>
          <a:solidFill>
            <a:srgbClr val="00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WenQuanYi Micro 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907792"/>
            <a:ext cx="298094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9D9A"/>
                </a:solidFill>
                <a:latin typeface="WenQuanYi Micro Hei"/>
              </a:rPr>
              <a:t>構成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3584448"/>
            <a:ext cx="2852928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WenQuanYi Micro Hei"/>
              </a:rPr>
              <a:t>生産・分配・支出の3面から見ても合計は等しい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719072"/>
            <a:ext cx="3493008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37192" y="1975104"/>
            <a:ext cx="731520" cy="731520"/>
          </a:xfrm>
          <a:prstGeom prst="ellipse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WenQuanYi Micro 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907792"/>
            <a:ext cx="298094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8A3FFC"/>
                </a:solidFill>
                <a:latin typeface="WenQuanYi Micro Hei"/>
              </a:rPr>
              <a:t>判断基準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3584448"/>
            <a:ext cx="2852928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WenQuanYi Micro Hei"/>
              </a:rPr>
              <a:t>新しい価値を生んだか、市場取引されたかを確認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150" b="1">
                <a:solidFill>
                  <a:srgbClr val="0F172A"/>
                </a:solidFill>
                <a:latin typeface="WenQuanYi Micro Hei"/>
              </a:rPr>
              <a:t>KEY TAKEAWAY｜新概念の導入、用語説明、章の冒頭に使う。カード数は3〜5個まで。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6547104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D8D8D"/>
                </a:solidFill>
                <a:latin typeface="WenQuanYi Micro Hei"/>
              </a:rPr>
              <a:t>SMEC Visual Slide System｜すべて編集可能なPowerPoint図形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28816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F62FE"/>
                </a:solidFill>
                <a:latin typeface="WenQuanYi Micro 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841248" cy="329184"/>
          </a:xfrm>
          <a:prstGeom prst="roundRect">
            <a:avLst/>
          </a:prstGeom>
          <a:solidFill>
            <a:srgbClr val="0F62F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Micro Hei"/>
              </a:rPr>
              <a:t>G02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25252"/>
                </a:solidFill>
                <a:latin typeface="WenQuanYi Micro Hei"/>
              </a:rPr>
              <a:t>左右比較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109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WenQuanYi Micro Hei"/>
              </a:rPr>
              <a:t>似た概念は共通の比較軸に揃えると、違いを一目で判別できる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53312"/>
            <a:ext cx="11274552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627632"/>
            <a:ext cx="5212080" cy="566928"/>
          </a:xfrm>
          <a:prstGeom prst="roundRect">
            <a:avLst/>
          </a:prstGeom>
          <a:solidFill>
            <a:srgbClr val="0F62F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2000" b="1">
                <a:solidFill>
                  <a:srgbClr val="FFFFFF"/>
                </a:solidFill>
                <a:latin typeface="WenQuanYi Micro Hei"/>
              </a:rPr>
              <a:t>名目GDP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7648" y="1627632"/>
            <a:ext cx="5212080" cy="566928"/>
          </a:xfrm>
          <a:prstGeom prst="roundRect">
            <a:avLst/>
          </a:prstGeom>
          <a:solidFill>
            <a:srgbClr val="009D9A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2000" b="1">
                <a:solidFill>
                  <a:srgbClr val="FFFFFF"/>
                </a:solidFill>
                <a:latin typeface="WenQuanYi Micro Hei"/>
              </a:rPr>
              <a:t>実質GDP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450592"/>
            <a:ext cx="1280160" cy="566928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525252"/>
                </a:solidFill>
                <a:latin typeface="WenQuanYi Micro Hei"/>
              </a:rPr>
              <a:t>価格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2450592"/>
            <a:ext cx="385876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400" b="0">
                <a:solidFill>
                  <a:srgbClr val="0F172A"/>
                </a:solidFill>
                <a:latin typeface="WenQuanYi Micro Hei"/>
              </a:rPr>
              <a:t>その年の価格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7648" y="2450592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400" b="0">
                <a:solidFill>
                  <a:srgbClr val="0F172A"/>
                </a:solidFill>
                <a:latin typeface="WenQuanYi Micro Hei"/>
              </a:rPr>
              <a:t>基準年の価格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55264"/>
            <a:ext cx="1280160" cy="566928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525252"/>
                </a:solidFill>
                <a:latin typeface="WenQuanYi Micro Hei"/>
              </a:rPr>
              <a:t>物価変動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3255264"/>
            <a:ext cx="385876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400" b="0">
                <a:solidFill>
                  <a:srgbClr val="0F172A"/>
                </a:solidFill>
                <a:latin typeface="WenQuanYi Micro Hei"/>
              </a:rPr>
              <a:t>含む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7648" y="3255264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400" b="0">
                <a:solidFill>
                  <a:srgbClr val="0F172A"/>
                </a:solidFill>
                <a:latin typeface="WenQuanYi Micro Hei"/>
              </a:rPr>
              <a:t>取り除く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059936"/>
            <a:ext cx="1280160" cy="566928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525252"/>
                </a:solidFill>
                <a:latin typeface="WenQuanYi Micro Hei"/>
              </a:rPr>
              <a:t>主な用途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4059936"/>
            <a:ext cx="385876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400" b="0">
                <a:solidFill>
                  <a:srgbClr val="0F172A"/>
                </a:solidFill>
                <a:latin typeface="WenQuanYi Micro Hei"/>
              </a:rPr>
              <a:t>経済規模の金額比較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648" y="4059936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400" b="0">
                <a:solidFill>
                  <a:srgbClr val="0F172A"/>
                </a:solidFill>
                <a:latin typeface="WenQuanYi Micro Hei"/>
              </a:rPr>
              <a:t>実質的な成長率の比較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150" b="1">
                <a:solidFill>
                  <a:srgbClr val="0F172A"/>
                </a:solidFill>
                <a:latin typeface="WenQuanYi Micro Hei"/>
              </a:rPr>
              <a:t>KEY TAKEAWAY｜「AとBの違い」は、両側で同じ比較軸を使い、対称配置にする。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6547104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D8D8D"/>
                </a:solidFill>
                <a:latin typeface="WenQuanYi Micro Hei"/>
              </a:rPr>
              <a:t>SMEC Visual Slide System｜すべて編集可能なPowerPoint図形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28816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F62FE"/>
                </a:solidFill>
                <a:latin typeface="WenQuanYi Micro 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841248" cy="329184"/>
          </a:xfrm>
          <a:prstGeom prst="roundRect">
            <a:avLst/>
          </a:prstGeom>
          <a:solidFill>
            <a:srgbClr val="0F62F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Micro Hei"/>
              </a:rPr>
              <a:t>G03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25252"/>
                </a:solidFill>
                <a:latin typeface="WenQuanYi Micro Hei"/>
              </a:rPr>
              <a:t>プロセス・手順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109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WenQuanYi Micro Hei"/>
              </a:rPr>
              <a:t>判断手順は左から右へ流し、各段階の入力と結果を明示する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53312"/>
            <a:ext cx="11274552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389888" y="1865376"/>
            <a:ext cx="566928" cy="566928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WenQuanYi Micro He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51760"/>
            <a:ext cx="2331720" cy="192024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944368"/>
            <a:ext cx="203911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F62FE"/>
                </a:solidFill>
                <a:latin typeface="WenQuanYi Micro Hei"/>
              </a:rPr>
              <a:t>状況確認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566160"/>
            <a:ext cx="1874519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61616"/>
                </a:solidFill>
                <a:latin typeface="WenQuanYi Micro Hei"/>
              </a:rPr>
              <a:t>数値・条件を読む</a:t>
            </a:r>
          </a:p>
        </p:txBody>
      </p:sp>
      <p:sp>
        <p:nvSpPr>
          <p:cNvPr id="10" name="Chevron 9"/>
          <p:cNvSpPr/>
          <p:nvPr/>
        </p:nvSpPr>
        <p:spPr>
          <a:xfrm>
            <a:off x="2990088" y="3273552"/>
            <a:ext cx="310896" cy="640080"/>
          </a:xfrm>
          <a:prstGeom prst="chevron">
            <a:avLst/>
          </a:prstGeom>
          <a:solidFill>
            <a:srgbClr val="119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1865376"/>
            <a:ext cx="566928" cy="566928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WenQuanYi Micro He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651760"/>
            <a:ext cx="2331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2944368"/>
            <a:ext cx="203911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F62FE"/>
                </a:solidFill>
                <a:latin typeface="WenQuanYi Micro Hei"/>
              </a:rPr>
              <a:t>モデル選択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566160"/>
            <a:ext cx="1874519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61616"/>
                </a:solidFill>
                <a:latin typeface="WenQuanYi Micro Hei"/>
              </a:rPr>
              <a:t>使う理論を決める</a:t>
            </a:r>
          </a:p>
        </p:txBody>
      </p:sp>
      <p:sp>
        <p:nvSpPr>
          <p:cNvPr id="15" name="Chevron 14"/>
          <p:cNvSpPr/>
          <p:nvPr/>
        </p:nvSpPr>
        <p:spPr>
          <a:xfrm>
            <a:off x="5806440" y="3273552"/>
            <a:ext cx="310896" cy="640080"/>
          </a:xfrm>
          <a:prstGeom prst="chevron">
            <a:avLst/>
          </a:prstGeom>
          <a:solidFill>
            <a:srgbClr val="119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22592" y="1865376"/>
            <a:ext cx="566928" cy="566928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WenQuanYi Micro He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651760"/>
            <a:ext cx="2331720" cy="192024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2944368"/>
            <a:ext cx="203911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F62FE"/>
                </a:solidFill>
                <a:latin typeface="WenQuanYi Micro Hei"/>
              </a:rPr>
              <a:t>方向判定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3566160"/>
            <a:ext cx="1874519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61616"/>
                </a:solidFill>
                <a:latin typeface="WenQuanYi Micro Hei"/>
              </a:rPr>
              <a:t>曲線のシフトを見る</a:t>
            </a:r>
          </a:p>
        </p:txBody>
      </p:sp>
      <p:sp>
        <p:nvSpPr>
          <p:cNvPr id="20" name="Chevron 19"/>
          <p:cNvSpPr/>
          <p:nvPr/>
        </p:nvSpPr>
        <p:spPr>
          <a:xfrm>
            <a:off x="8622792" y="3273552"/>
            <a:ext cx="310896" cy="640080"/>
          </a:xfrm>
          <a:prstGeom prst="chevron">
            <a:avLst/>
          </a:prstGeom>
          <a:solidFill>
            <a:srgbClr val="119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38944" y="1865376"/>
            <a:ext cx="566928" cy="566928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WenQuanYi Micro Hei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15984" y="2651760"/>
            <a:ext cx="2331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62288" y="2944368"/>
            <a:ext cx="203911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F62FE"/>
                </a:solidFill>
                <a:latin typeface="WenQuanYi Micro Hei"/>
              </a:rPr>
              <a:t>結論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3566160"/>
            <a:ext cx="1874519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61616"/>
                </a:solidFill>
                <a:latin typeface="WenQuanYi Micro Hei"/>
              </a:rPr>
              <a:t>価格・数量を答える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150" b="1">
                <a:solidFill>
                  <a:srgbClr val="0F172A"/>
                </a:solidFill>
                <a:latin typeface="WenQuanYi Micro Hei"/>
              </a:rPr>
              <a:t>KEY TAKEAWAY｜手続、解法、業務フローに使う。4〜6段階で、動詞から書き始める。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6547104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D8D8D"/>
                </a:solidFill>
                <a:latin typeface="WenQuanYi Micro Hei"/>
              </a:rPr>
              <a:t>SMEC Visual Slide System｜すべて編集可能なPowerPoint図形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528816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F62FE"/>
                </a:solidFill>
                <a:latin typeface="WenQuanYi Micro 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841248" cy="329184"/>
          </a:xfrm>
          <a:prstGeom prst="roundRect">
            <a:avLst/>
          </a:prstGeom>
          <a:solidFill>
            <a:srgbClr val="0F62F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Micro Hei"/>
              </a:rPr>
              <a:t>G04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25252"/>
                </a:solidFill>
                <a:latin typeface="WenQuanYi Micro Hei"/>
              </a:rPr>
              <a:t>因果関係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109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WenQuanYi Micro Hei"/>
              </a:rPr>
              <a:t>原因から結果までの連鎖を分解すると、経済政策の波及経路が見える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53312"/>
            <a:ext cx="11274552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938528"/>
            <a:ext cx="2148840" cy="822960"/>
          </a:xfrm>
          <a:prstGeom prst="roundRect">
            <a:avLst/>
          </a:prstGeom>
          <a:solidFill>
            <a:srgbClr val="0F62F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400" b="1">
                <a:solidFill>
                  <a:srgbClr val="FFFFFF"/>
                </a:solidFill>
                <a:latin typeface="WenQuanYi Micro Hei"/>
              </a:rPr>
              <a:t>原因
政府支出が増加</a:t>
            </a:r>
          </a:p>
        </p:txBody>
      </p:sp>
      <p:sp>
        <p:nvSpPr>
          <p:cNvPr id="7" name="Chevron 6"/>
          <p:cNvSpPr/>
          <p:nvPr/>
        </p:nvSpPr>
        <p:spPr>
          <a:xfrm>
            <a:off x="2898648" y="2103120"/>
            <a:ext cx="411480" cy="493776"/>
          </a:xfrm>
          <a:prstGeom prst="chevron">
            <a:avLst/>
          </a:prstGeom>
          <a:solidFill>
            <a:srgbClr val="8D8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46120" y="1938528"/>
            <a:ext cx="2148840" cy="822960"/>
          </a:xfrm>
          <a:prstGeom prst="roundRect">
            <a:avLst/>
          </a:prstGeom>
          <a:solidFill>
            <a:srgbClr val="1192E8"/>
          </a:solidFill>
          <a:ln w="12700">
            <a:solidFill>
              <a:srgbClr val="119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400" b="1">
                <a:solidFill>
                  <a:srgbClr val="FFFFFF"/>
                </a:solidFill>
                <a:latin typeface="WenQuanYi Micro Hei"/>
              </a:rPr>
              <a:t>一次効果
総需要が増加</a:t>
            </a:r>
          </a:p>
        </p:txBody>
      </p:sp>
      <p:sp>
        <p:nvSpPr>
          <p:cNvPr id="9" name="Chevron 8"/>
          <p:cNvSpPr/>
          <p:nvPr/>
        </p:nvSpPr>
        <p:spPr>
          <a:xfrm>
            <a:off x="5504688" y="2103120"/>
            <a:ext cx="411480" cy="493776"/>
          </a:xfrm>
          <a:prstGeom prst="chevron">
            <a:avLst/>
          </a:prstGeom>
          <a:solidFill>
            <a:srgbClr val="8D8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52160" y="1938528"/>
            <a:ext cx="2148840" cy="822960"/>
          </a:xfrm>
          <a:prstGeom prst="roundRect">
            <a:avLst/>
          </a:prstGeom>
          <a:solidFill>
            <a:srgbClr val="009D9A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400" b="1">
                <a:solidFill>
                  <a:srgbClr val="FFFFFF"/>
                </a:solidFill>
                <a:latin typeface="WenQuanYi Micro Hei"/>
              </a:rPr>
              <a:t>波及効果
所得・消費が増加</a:t>
            </a:r>
          </a:p>
        </p:txBody>
      </p:sp>
      <p:sp>
        <p:nvSpPr>
          <p:cNvPr id="11" name="Chevron 10"/>
          <p:cNvSpPr/>
          <p:nvPr/>
        </p:nvSpPr>
        <p:spPr>
          <a:xfrm>
            <a:off x="8110727" y="2103120"/>
            <a:ext cx="411480" cy="493776"/>
          </a:xfrm>
          <a:prstGeom prst="chevron">
            <a:avLst/>
          </a:prstGeom>
          <a:solidFill>
            <a:srgbClr val="8D8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58200" y="1938528"/>
            <a:ext cx="2880360" cy="822960"/>
          </a:xfrm>
          <a:prstGeom prst="roundRect">
            <a:avLst/>
          </a:prstGeom>
          <a:solidFill>
            <a:srgbClr val="24A148"/>
          </a:solidFill>
          <a:ln w="1270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400" b="1">
                <a:solidFill>
                  <a:srgbClr val="FFFFFF"/>
                </a:solidFill>
                <a:latin typeface="WenQuanYi Micro Hei"/>
              </a:rPr>
              <a:t>結果
GDPが乗数倍増加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3749039"/>
            <a:ext cx="6537960" cy="987552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DA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600" b="1">
                <a:solidFill>
                  <a:srgbClr val="DA1E28"/>
                </a:solidFill>
                <a:latin typeface="WenQuanYi Micro Hei"/>
              </a:rPr>
              <a:t>反作用｜利子率上昇 → 民間投資減少（クラウディングアウト）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150" b="1">
                <a:solidFill>
                  <a:srgbClr val="0F172A"/>
                </a:solidFill>
                <a:latin typeface="WenQuanYi Micro Hei"/>
              </a:rPr>
              <a:t>KEY TAKEAWAY｜原因・媒介・結果・反作用を分けると、暗記ではなく仕組みで理解できる。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6547104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D8D8D"/>
                </a:solidFill>
                <a:latin typeface="WenQuanYi Micro Hei"/>
              </a:rPr>
              <a:t>SMEC Visual Slide System｜すべて編集可能なPowerPoint図形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28816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F62FE"/>
                </a:solidFill>
                <a:latin typeface="WenQuanYi Micro 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841248" cy="329184"/>
          </a:xfrm>
          <a:prstGeom prst="roundRect">
            <a:avLst/>
          </a:prstGeom>
          <a:solidFill>
            <a:srgbClr val="0F62F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Micro Hei"/>
              </a:rPr>
              <a:t>G05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25252"/>
                </a:solidFill>
                <a:latin typeface="WenQuanYi Micro Hei"/>
              </a:rPr>
              <a:t>循環モデル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109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WenQuanYi Micro Hei"/>
              </a:rPr>
              <a:t>繰り返される活動は、中心概念の周囲に4段階で配置すると記憶に残る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53312"/>
            <a:ext cx="11274552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864608" y="2468880"/>
            <a:ext cx="1920240" cy="192024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WenQuanYi Micro Hei"/>
              </a:rPr>
              <a:t>景気循環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56632" y="1517904"/>
            <a:ext cx="1536192" cy="658368"/>
          </a:xfrm>
          <a:prstGeom prst="roundRect">
            <a:avLst/>
          </a:prstGeom>
          <a:solidFill>
            <a:srgbClr val="0F62F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700" b="1">
                <a:solidFill>
                  <a:srgbClr val="FFFFFF"/>
                </a:solidFill>
                <a:latin typeface="WenQuanYi Micro Hei"/>
              </a:rPr>
              <a:t>回復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24728" y="1847088"/>
            <a:ext cx="2788920" cy="1188720"/>
          </a:xfrm>
          <a:prstGeom prst="line">
            <a:avLst/>
          </a:prstGeom>
          <a:ln w="22860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845552" y="2706624"/>
            <a:ext cx="1536192" cy="658368"/>
          </a:xfrm>
          <a:prstGeom prst="roundRect">
            <a:avLst/>
          </a:prstGeom>
          <a:solidFill>
            <a:srgbClr val="24A148"/>
          </a:solidFill>
          <a:ln w="1270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700" b="1">
                <a:solidFill>
                  <a:srgbClr val="FFFFFF"/>
                </a:solidFill>
                <a:latin typeface="WenQuanYi Micro Hei"/>
              </a:rPr>
              <a:t>好況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5824728" y="3035808"/>
            <a:ext cx="2788920" cy="1645920"/>
          </a:xfrm>
          <a:prstGeom prst="line">
            <a:avLst/>
          </a:prstGeom>
          <a:ln w="22860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56632" y="4352544"/>
            <a:ext cx="1536192" cy="658368"/>
          </a:xfrm>
          <a:prstGeom prst="roundRect">
            <a:avLst/>
          </a:prstGeom>
          <a:solidFill>
            <a:srgbClr val="FF832B"/>
          </a:solidFill>
          <a:ln w="12700">
            <a:solidFill>
              <a:srgbClr val="FF8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700" b="1">
                <a:solidFill>
                  <a:srgbClr val="FFFFFF"/>
                </a:solidFill>
                <a:latin typeface="WenQuanYi Micro Hei"/>
              </a:rPr>
              <a:t>後退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3008376" y="3035808"/>
            <a:ext cx="2816352" cy="1645920"/>
          </a:xfrm>
          <a:prstGeom prst="line">
            <a:avLst/>
          </a:prstGeom>
          <a:ln w="22860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240280" y="2706624"/>
            <a:ext cx="1536192" cy="658368"/>
          </a:xfrm>
          <a:prstGeom prst="roundRect">
            <a:avLst/>
          </a:prstGeom>
          <a:solidFill>
            <a:srgbClr val="8A3FFC"/>
          </a:solidFill>
          <a:ln w="12700"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700" b="1">
                <a:solidFill>
                  <a:srgbClr val="FFFFFF"/>
                </a:solidFill>
                <a:latin typeface="WenQuanYi Micro Hei"/>
              </a:rPr>
              <a:t>不況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008376" y="1847088"/>
            <a:ext cx="2816352" cy="1188720"/>
          </a:xfrm>
          <a:prstGeom prst="line">
            <a:avLst/>
          </a:prstGeom>
          <a:ln w="22860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150" b="1">
                <a:solidFill>
                  <a:srgbClr val="0F172A"/>
                </a:solidFill>
                <a:latin typeface="WenQuanYi Micro Hei"/>
              </a:rPr>
              <a:t>KEY TAKEAWAY｜PDCA、景気循環、フィードバックに使う。時計回りに統一する。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6547104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D8D8D"/>
                </a:solidFill>
                <a:latin typeface="WenQuanYi Micro Hei"/>
              </a:rPr>
              <a:t>SMEC Visual Slide System｜すべて編集可能なPowerPoint図形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28816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F62FE"/>
                </a:solidFill>
                <a:latin typeface="WenQuanYi Micro 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841248" cy="329184"/>
          </a:xfrm>
          <a:prstGeom prst="roundRect">
            <a:avLst/>
          </a:prstGeom>
          <a:solidFill>
            <a:srgbClr val="0F62F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Micro Hei"/>
              </a:rPr>
              <a:t>G06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25252"/>
                </a:solidFill>
                <a:latin typeface="WenQuanYi Micro Hei"/>
              </a:rPr>
              <a:t>階層・ピラミッド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109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WenQuanYi Micro Hei"/>
              </a:rPr>
              <a:t>上位概念から具体例へ絞り込むと、包含関係と優先順位を同時に示せる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53312"/>
            <a:ext cx="11274552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39312" y="1719072"/>
            <a:ext cx="4919472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600" b="1">
                <a:solidFill>
                  <a:srgbClr val="FFFFFF"/>
                </a:solidFill>
                <a:latin typeface="WenQuanYi Micro Hei"/>
              </a:rPr>
              <a:t>経済学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2587752"/>
            <a:ext cx="6903720" cy="65836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600" b="1">
                <a:solidFill>
                  <a:srgbClr val="FFFFFF"/>
                </a:solidFill>
                <a:latin typeface="WenQuanYi Micro Hei"/>
              </a:rPr>
              <a:t>マクロ経済学 ｜ ミクロ経済学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3456432"/>
            <a:ext cx="8915400" cy="658368"/>
          </a:xfrm>
          <a:prstGeom prst="rect">
            <a:avLst/>
          </a:prstGeom>
          <a:solidFill>
            <a:srgbClr val="1192E8"/>
          </a:solidFill>
          <a:ln w="12700">
            <a:solidFill>
              <a:srgbClr val="119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600" b="1">
                <a:solidFill>
                  <a:srgbClr val="FFFFFF"/>
                </a:solidFill>
                <a:latin typeface="WenQuanYi Micro Hei"/>
              </a:rPr>
              <a:t>市場・政策・国際・消費者・企業・分配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325112"/>
            <a:ext cx="10927080" cy="658368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600" b="1">
                <a:solidFill>
                  <a:srgbClr val="0F172A"/>
                </a:solidFill>
                <a:latin typeface="WenQuanYi Micro Hei"/>
              </a:rPr>
              <a:t>36の個別論点と過去問パターン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150" b="1">
                <a:solidFill>
                  <a:srgbClr val="0F172A"/>
                </a:solidFill>
                <a:latin typeface="WenQuanYi Micro Hei"/>
              </a:rPr>
              <a:t>KEY TAKEAWAY｜概念分類、戦略レベル、優先順位に使う。上位ほど抽象、下位ほど具体。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547104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D8D8D"/>
                </a:solidFill>
                <a:latin typeface="WenQuanYi Micro Hei"/>
              </a:rPr>
              <a:t>SMEC Visual Slide System｜すべて編集可能なPowerPoint図形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528816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F62FE"/>
                </a:solidFill>
                <a:latin typeface="WenQuanYi Micro 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841248" cy="329184"/>
          </a:xfrm>
          <a:prstGeom prst="roundRect">
            <a:avLst/>
          </a:prstGeom>
          <a:solidFill>
            <a:srgbClr val="0F62F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Micro Hei"/>
              </a:rPr>
              <a:t>G07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25252"/>
                </a:solidFill>
                <a:latin typeface="WenQuanYi Micro Hei"/>
              </a:rPr>
              <a:t>タイムライン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109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WenQuanYi Micro Hei"/>
              </a:rPr>
              <a:t>出来事を時間軸に置くと、理論が生まれた背景と変化の順序を捉えられる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53312"/>
            <a:ext cx="11274552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3255264"/>
            <a:ext cx="10241280" cy="0"/>
          </a:xfrm>
          <a:prstGeom prst="line">
            <a:avLst/>
          </a:prstGeom>
          <a:ln w="381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719072" y="2999232"/>
            <a:ext cx="530352" cy="530352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WenQuanYi Micro He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1691640"/>
            <a:ext cx="217627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5" y="1810512"/>
            <a:ext cx="1883664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F62FE"/>
                </a:solidFill>
                <a:latin typeface="WenQuanYi Micro Hei"/>
              </a:rPr>
              <a:t>1930s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185416"/>
            <a:ext cx="190195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61616"/>
                </a:solidFill>
                <a:latin typeface="WenQuanYi Micro Hei"/>
              </a:rPr>
              <a:t>世界恐慌
ケインズ理論</a:t>
            </a:r>
          </a:p>
        </p:txBody>
      </p:sp>
      <p:sp>
        <p:nvSpPr>
          <p:cNvPr id="11" name="Oval 10"/>
          <p:cNvSpPr/>
          <p:nvPr/>
        </p:nvSpPr>
        <p:spPr>
          <a:xfrm>
            <a:off x="4535424" y="2999232"/>
            <a:ext cx="530352" cy="530352"/>
          </a:xfrm>
          <a:prstGeom prst="ellipse">
            <a:avLst/>
          </a:prstGeom>
          <a:solidFill>
            <a:srgbClr val="FF8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WenQuanYi Micro He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12464" y="3767328"/>
            <a:ext cx="217627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58768" y="3886200"/>
            <a:ext cx="1883664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832B"/>
                </a:solidFill>
                <a:latin typeface="WenQuanYi Micro Hei"/>
              </a:rPr>
              <a:t>1970s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9624" y="4261104"/>
            <a:ext cx="190195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61616"/>
                </a:solidFill>
                <a:latin typeface="WenQuanYi Micro Hei"/>
              </a:rPr>
              <a:t>石油危機
スタグフレーション</a:t>
            </a:r>
          </a:p>
        </p:txBody>
      </p:sp>
      <p:sp>
        <p:nvSpPr>
          <p:cNvPr id="15" name="Oval 14"/>
          <p:cNvSpPr/>
          <p:nvPr/>
        </p:nvSpPr>
        <p:spPr>
          <a:xfrm>
            <a:off x="7351776" y="2999232"/>
            <a:ext cx="530352" cy="530352"/>
          </a:xfrm>
          <a:prstGeom prst="ellipse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WenQuanYi Micro He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28816" y="1691640"/>
            <a:ext cx="217627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810512"/>
            <a:ext cx="1883664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A3FFC"/>
                </a:solidFill>
                <a:latin typeface="WenQuanYi Micro Hei"/>
              </a:rPr>
              <a:t>1980s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2185416"/>
            <a:ext cx="190195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61616"/>
                </a:solidFill>
                <a:latin typeface="WenQuanYi Micro Hei"/>
              </a:rPr>
              <a:t>政策転換
マネタリズム</a:t>
            </a:r>
          </a:p>
        </p:txBody>
      </p:sp>
      <p:sp>
        <p:nvSpPr>
          <p:cNvPr id="19" name="Oval 18"/>
          <p:cNvSpPr/>
          <p:nvPr/>
        </p:nvSpPr>
        <p:spPr>
          <a:xfrm>
            <a:off x="10168128" y="2999232"/>
            <a:ext cx="530352" cy="530352"/>
          </a:xfrm>
          <a:prstGeom prst="ellipse">
            <a:avLst/>
          </a:prstGeom>
          <a:solidFill>
            <a:srgbClr val="00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WenQuanYi Micro 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45168" y="3767328"/>
            <a:ext cx="217627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91472" y="3886200"/>
            <a:ext cx="1883664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09D9A"/>
                </a:solidFill>
                <a:latin typeface="WenQuanYi Micro Hei"/>
              </a:rPr>
              <a:t>2000s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4261104"/>
            <a:ext cx="190195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61616"/>
                </a:solidFill>
                <a:latin typeface="WenQuanYi Micro Hei"/>
              </a:rPr>
              <a:t>低金利
非伝統的金融政策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150" b="1">
                <a:solidFill>
                  <a:srgbClr val="0F172A"/>
                </a:solidFill>
                <a:latin typeface="WenQuanYi Micro Hei"/>
              </a:rPr>
              <a:t>KEY TAKEAWAY｜歴史、制度変更、ライフサイクルに使う。時間は必ず左から右へ流す。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6547104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D8D8D"/>
                </a:solidFill>
                <a:latin typeface="WenQuanYi Micro Hei"/>
              </a:rPr>
              <a:t>SMEC Visual Slide System｜すべて編集可能なPowerPoint図形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28816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F62FE"/>
                </a:solidFill>
                <a:latin typeface="WenQuanYi Micro 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841248" cy="329184"/>
          </a:xfrm>
          <a:prstGeom prst="roundRect">
            <a:avLst/>
          </a:prstGeom>
          <a:solidFill>
            <a:srgbClr val="0F62F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Micro Hei"/>
              </a:rPr>
              <a:t>G08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25252"/>
                </a:solidFill>
                <a:latin typeface="WenQuanYi Micro Hei"/>
              </a:rPr>
              <a:t>2×2マトリクス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109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WenQuanYi Micro Hei"/>
              </a:rPr>
              <a:t>2つの判断軸を交差させると、4つの状態を漏れなく整理できる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53312"/>
            <a:ext cx="11274552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121408" y="1627632"/>
            <a:ext cx="3986784" cy="1956816"/>
          </a:xfrm>
          <a:prstGeom prst="rect">
            <a:avLst/>
          </a:prstGeom>
          <a:solidFill>
            <a:srgbClr val="E8F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600" b="1">
                <a:solidFill>
                  <a:srgbClr val="0F62FE"/>
                </a:solidFill>
                <a:latin typeface="WenQuanYi Micro Hei"/>
              </a:rPr>
              <a:t>高成長 × 低失業
需要超過・インフレ注意</a:t>
            </a:r>
          </a:p>
        </p:txBody>
      </p:sp>
      <p:sp>
        <p:nvSpPr>
          <p:cNvPr id="7" name="Rectangle 6"/>
          <p:cNvSpPr/>
          <p:nvPr/>
        </p:nvSpPr>
        <p:spPr>
          <a:xfrm>
            <a:off x="6108192" y="1627632"/>
            <a:ext cx="3986784" cy="1956816"/>
          </a:xfrm>
          <a:prstGeom prst="rect">
            <a:avLst/>
          </a:prstGeom>
          <a:solidFill>
            <a:srgbClr val="E5F6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600" b="1">
                <a:solidFill>
                  <a:srgbClr val="1192E8"/>
                </a:solidFill>
                <a:latin typeface="WenQuanYi Micro Hei"/>
              </a:rPr>
              <a:t>高成長 × 高失業
構造的失業を点検</a:t>
            </a:r>
          </a:p>
        </p:txBody>
      </p:sp>
      <p:sp>
        <p:nvSpPr>
          <p:cNvPr id="8" name="Rectangle 7"/>
          <p:cNvSpPr/>
          <p:nvPr/>
        </p:nvSpPr>
        <p:spPr>
          <a:xfrm>
            <a:off x="2121408" y="3584448"/>
            <a:ext cx="3986784" cy="1956816"/>
          </a:xfrm>
          <a:prstGeom prst="rect">
            <a:avLst/>
          </a:prstGeom>
          <a:solidFill>
            <a:srgbClr val="D9FBF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600" b="1">
                <a:solidFill>
                  <a:srgbClr val="009D9A"/>
                </a:solidFill>
                <a:latin typeface="WenQuanYi Micro Hei"/>
              </a:rPr>
              <a:t>低成長 × 低失業
供給制約を点検</a:t>
            </a:r>
          </a:p>
        </p:txBody>
      </p:sp>
      <p:sp>
        <p:nvSpPr>
          <p:cNvPr id="9" name="Rectangle 8"/>
          <p:cNvSpPr/>
          <p:nvPr/>
        </p:nvSpPr>
        <p:spPr>
          <a:xfrm>
            <a:off x="6108192" y="3584448"/>
            <a:ext cx="3986784" cy="1956816"/>
          </a:xfrm>
          <a:prstGeom prst="rect">
            <a:avLst/>
          </a:prstGeom>
          <a:solidFill>
            <a:srgbClr val="FFF1F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600" b="1">
                <a:solidFill>
                  <a:srgbClr val="DA1E28"/>
                </a:solidFill>
                <a:latin typeface="WenQuanYi Micro Hei"/>
              </a:rPr>
              <a:t>低成長 × 高失業
景気刺激策を検討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898648"/>
            <a:ext cx="117043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WenQuanYi Micro Hei"/>
              </a:rPr>
              <a:t>成長率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5559552"/>
            <a:ext cx="20116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WenQuanYi Micro Hei"/>
              </a:rPr>
              <a:t>失業率 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150" b="1">
                <a:solidFill>
                  <a:srgbClr val="0F172A"/>
                </a:solidFill>
                <a:latin typeface="WenQuanYi Micro Hei"/>
              </a:rPr>
              <a:t>KEY TAKEAWAY｜軸は独立した2変数にする。各象限の名称だけでなく判断も添える。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547104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D8D8D"/>
                </a:solidFill>
                <a:latin typeface="WenQuanYi Micro Hei"/>
              </a:rPr>
              <a:t>SMEC Visual Slide System｜すべて編集可能なPowerPoint図形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528816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F62FE"/>
                </a:solidFill>
                <a:latin typeface="WenQuanYi Micro 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841248" cy="329184"/>
          </a:xfrm>
          <a:prstGeom prst="roundRect">
            <a:avLst/>
          </a:prstGeom>
          <a:solidFill>
            <a:srgbClr val="0F62F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Micro Hei"/>
              </a:rPr>
              <a:t>G09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25252"/>
                </a:solidFill>
                <a:latin typeface="WenQuanYi Micro Hei"/>
              </a:rPr>
              <a:t>ツリー・分類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109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WenQuanYi Micro Hei"/>
              </a:rPr>
              <a:t>概念をMECEに枝分かれさせると、全体像と用語の所属を同時に確認できる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53312"/>
            <a:ext cx="11274552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2788920"/>
            <a:ext cx="1975104" cy="7498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800" b="1">
                <a:solidFill>
                  <a:srgbClr val="FFFFFF"/>
                </a:solidFill>
                <a:latin typeface="WenQuanYi Micro Hei"/>
              </a:rPr>
              <a:t>物価指数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2633472" y="2029968"/>
            <a:ext cx="1115567" cy="1133856"/>
          </a:xfrm>
          <a:prstGeom prst="line">
            <a:avLst/>
          </a:prstGeom>
          <a:ln w="19050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749039" y="1627632"/>
            <a:ext cx="2121408" cy="804672"/>
          </a:xfrm>
          <a:prstGeom prst="roundRect">
            <a:avLst/>
          </a:prstGeom>
          <a:solidFill>
            <a:srgbClr val="0F62F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500" b="1">
                <a:solidFill>
                  <a:srgbClr val="FFFFFF"/>
                </a:solidFill>
                <a:latin typeface="WenQuanYi Micro Hei"/>
              </a:rPr>
              <a:t>CPI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27632"/>
            <a:ext cx="4892040" cy="804672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300" b="0">
                <a:solidFill>
                  <a:srgbClr val="0F172A"/>
                </a:solidFill>
                <a:latin typeface="WenQuanYi Micro Hei"/>
              </a:rPr>
              <a:t>消費者が購入する財・サービス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70448" y="2029968"/>
            <a:ext cx="301752" cy="0"/>
          </a:xfrm>
          <a:prstGeom prst="line">
            <a:avLst/>
          </a:prstGeom>
          <a:ln w="19050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33472" y="3163824"/>
            <a:ext cx="1115567" cy="27432"/>
          </a:xfrm>
          <a:prstGeom prst="line">
            <a:avLst/>
          </a:prstGeom>
          <a:ln w="19050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49039" y="2788920"/>
            <a:ext cx="2121408" cy="804672"/>
          </a:xfrm>
          <a:prstGeom prst="roundRect">
            <a:avLst/>
          </a:prstGeom>
          <a:solidFill>
            <a:srgbClr val="009D9A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500" b="1">
                <a:solidFill>
                  <a:srgbClr val="FFFFFF"/>
                </a:solidFill>
                <a:latin typeface="WenQuanYi Micro Hei"/>
              </a:rPr>
              <a:t>CGPI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788920"/>
            <a:ext cx="4892040" cy="804672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300" b="0">
                <a:solidFill>
                  <a:srgbClr val="0F172A"/>
                </a:solidFill>
                <a:latin typeface="WenQuanYi Micro Hei"/>
              </a:rPr>
              <a:t>企業間で取引される商品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70448" y="3191256"/>
            <a:ext cx="301752" cy="0"/>
          </a:xfrm>
          <a:prstGeom prst="line">
            <a:avLst/>
          </a:prstGeom>
          <a:ln w="19050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633472" y="3163824"/>
            <a:ext cx="1115567" cy="1188720"/>
          </a:xfrm>
          <a:prstGeom prst="line">
            <a:avLst/>
          </a:prstGeom>
          <a:ln w="19050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749039" y="3950208"/>
            <a:ext cx="2121408" cy="804672"/>
          </a:xfrm>
          <a:prstGeom prst="roundRect">
            <a:avLst/>
          </a:prstGeom>
          <a:solidFill>
            <a:srgbClr val="8A3FFC"/>
          </a:solidFill>
          <a:ln w="12700"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500" b="1">
                <a:solidFill>
                  <a:srgbClr val="FFFFFF"/>
                </a:solidFill>
                <a:latin typeface="WenQuanYi Micro Hei"/>
              </a:rPr>
              <a:t>GDPデフレーター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0208"/>
            <a:ext cx="4892040" cy="804672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300" b="0">
                <a:solidFill>
                  <a:srgbClr val="0F172A"/>
                </a:solidFill>
                <a:latin typeface="WenQuanYi Micro Hei"/>
              </a:rPr>
              <a:t>GDP全体の物価動向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70448" y="4352544"/>
            <a:ext cx="301752" cy="0"/>
          </a:xfrm>
          <a:prstGeom prst="line">
            <a:avLst/>
          </a:prstGeom>
          <a:ln w="19050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150" b="1">
                <a:solidFill>
                  <a:srgbClr val="0F172A"/>
                </a:solidFill>
                <a:latin typeface="WenQuanYi Micro Hei"/>
              </a:rPr>
              <a:t>KEY TAKEAWAY｜分類、論点体系、原因分解に使う。同じ階層では分類基準を混ぜない。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6547104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D8D8D"/>
                </a:solidFill>
                <a:latin typeface="WenQuanYi Micro Hei"/>
              </a:rPr>
              <a:t>SMEC Visual Slide System｜すべて編集可能なPowerPoint図形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F62FE"/>
                </a:solidFill>
                <a:latin typeface="WenQuanYi Micro 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841248" cy="329184"/>
          </a:xfrm>
          <a:prstGeom prst="roundRect">
            <a:avLst/>
          </a:prstGeom>
          <a:solidFill>
            <a:srgbClr val="0F62F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Micro Hei"/>
              </a:rPr>
              <a:t>G10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25252"/>
                </a:solidFill>
                <a:latin typeface="WenQuanYi Micro Hei"/>
              </a:rPr>
              <a:t>ネットワーク・関係図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109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WenQuanYi Micro Hei"/>
              </a:rPr>
              <a:t>中心概念と周辺主体の相互作用を示すと、複雑な市場関係を俯瞰できる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53312"/>
            <a:ext cx="11274552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910328" y="2359152"/>
            <a:ext cx="1920240" cy="192024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WenQuanYi Micro Hei"/>
              </a:rPr>
              <a:t>市場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2011680" y="2167128"/>
            <a:ext cx="3858768" cy="1152144"/>
          </a:xfrm>
          <a:prstGeom prst="line">
            <a:avLst/>
          </a:prstGeom>
          <a:ln w="20320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" y="1664208"/>
            <a:ext cx="2468880" cy="1005840"/>
          </a:xfrm>
          <a:prstGeom prst="roundRect">
            <a:avLst/>
          </a:prstGeom>
          <a:solidFill>
            <a:srgbClr val="0F62F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800" b="1">
                <a:solidFill>
                  <a:srgbClr val="FFFFFF"/>
                </a:solidFill>
                <a:latin typeface="WenQuanYi Micro Hei"/>
              </a:rPr>
              <a:t>消費者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5870448" y="2167128"/>
            <a:ext cx="4306824" cy="1152144"/>
          </a:xfrm>
          <a:prstGeom prst="line">
            <a:avLst/>
          </a:prstGeom>
          <a:ln w="20320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942832" y="1664208"/>
            <a:ext cx="2468880" cy="1005840"/>
          </a:xfrm>
          <a:prstGeom prst="roundRect">
            <a:avLst/>
          </a:prstGeom>
          <a:solidFill>
            <a:srgbClr val="009D9A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800" b="1">
                <a:solidFill>
                  <a:srgbClr val="FFFFFF"/>
                </a:solidFill>
                <a:latin typeface="WenQuanYi Micro Hei"/>
              </a:rPr>
              <a:t>企業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011680" y="3319272"/>
            <a:ext cx="3858768" cy="1161287"/>
          </a:xfrm>
          <a:prstGeom prst="line">
            <a:avLst/>
          </a:prstGeom>
          <a:ln w="20320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7240" y="3977639"/>
            <a:ext cx="2468880" cy="1005840"/>
          </a:xfrm>
          <a:prstGeom prst="roundRect">
            <a:avLst/>
          </a:prstGeom>
          <a:solidFill>
            <a:srgbClr val="8A3FFC"/>
          </a:solidFill>
          <a:ln w="12700"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800" b="1">
                <a:solidFill>
                  <a:srgbClr val="FFFFFF"/>
                </a:solidFill>
                <a:latin typeface="WenQuanYi Micro Hei"/>
              </a:rPr>
              <a:t>政府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70448" y="3319272"/>
            <a:ext cx="4306824" cy="1161287"/>
          </a:xfrm>
          <a:prstGeom prst="line">
            <a:avLst/>
          </a:prstGeom>
          <a:ln w="20320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942832" y="3977639"/>
            <a:ext cx="2468880" cy="1005840"/>
          </a:xfrm>
          <a:prstGeom prst="roundRect">
            <a:avLst/>
          </a:prstGeom>
          <a:solidFill>
            <a:srgbClr val="FF832B"/>
          </a:solidFill>
          <a:ln w="12700">
            <a:solidFill>
              <a:srgbClr val="FF8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800" b="1">
                <a:solidFill>
                  <a:srgbClr val="FFFFFF"/>
                </a:solidFill>
                <a:latin typeface="WenQuanYi Micro Hei"/>
              </a:rPr>
              <a:t>海外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75887" y="4736592"/>
            <a:ext cx="4389120" cy="585216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300" b="1">
                <a:solidFill>
                  <a:srgbClr val="0F172A"/>
                </a:solidFill>
                <a:latin typeface="WenQuanYi Micro Hei"/>
              </a:rPr>
              <a:t>価格・数量・所得・情報が相互に流れる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150" b="1">
                <a:solidFill>
                  <a:srgbClr val="0F172A"/>
                </a:solidFill>
                <a:latin typeface="WenQuanYi Micro Hei"/>
              </a:rPr>
              <a:t>KEY TAKEAWAY｜ステークホルダー、5フォース、SCMに使う。線の意味は凡例で明示する。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6547104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D8D8D"/>
                </a:solidFill>
                <a:latin typeface="WenQuanYi Micro Hei"/>
              </a:rPr>
              <a:t>SMEC Visual Slide System｜すべて編集可能なPowerPoint図形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528816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F62FE"/>
                </a:solidFill>
                <a:latin typeface="WenQuanYi Micro 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841248" cy="329184"/>
          </a:xfrm>
          <a:prstGeom prst="roundRect">
            <a:avLst/>
          </a:prstGeom>
          <a:solidFill>
            <a:srgbClr val="0F62F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Micro Hei"/>
              </a:rPr>
              <a:t>G11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25252"/>
                </a:solidFill>
                <a:latin typeface="WenQuanYi Micro Hei"/>
              </a:rPr>
              <a:t>数式・投入産出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109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WenQuanYi Micro Hei"/>
              </a:rPr>
              <a:t>数式は「入力→関係式→出力」に分けると、記号の意味と計算手順が見える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53312"/>
            <a:ext cx="11274552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965960"/>
            <a:ext cx="2834640" cy="24688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94560"/>
            <a:ext cx="235915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F62FE"/>
                </a:solidFill>
                <a:latin typeface="WenQuanYi Micro Hei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16352"/>
            <a:ext cx="2304288" cy="10789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  <a:latin typeface="WenQuanYi Micro Hei"/>
              </a:rPr>
              <a:t>名目GDP
実質GDP</a:t>
            </a:r>
          </a:p>
        </p:txBody>
      </p:sp>
      <p:sp>
        <p:nvSpPr>
          <p:cNvPr id="9" name="Chevron 8"/>
          <p:cNvSpPr/>
          <p:nvPr/>
        </p:nvSpPr>
        <p:spPr>
          <a:xfrm>
            <a:off x="3767328" y="2816352"/>
            <a:ext cx="566928" cy="749808"/>
          </a:xfrm>
          <a:prstGeom prst="chevron">
            <a:avLst/>
          </a:prstGeom>
          <a:solidFill>
            <a:srgbClr val="119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53712" y="1965960"/>
            <a:ext cx="3794760" cy="246888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91456" y="2194560"/>
            <a:ext cx="3310128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F62FE"/>
                </a:solidFill>
                <a:latin typeface="WenQuanYi Micro Hei"/>
              </a:rPr>
              <a:t>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862072"/>
            <a:ext cx="333756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WenQuanYi Micro Hei"/>
              </a:rPr>
              <a:t>GDPデフレーター
＝ 名目GDP ÷ 実質GDP × 100</a:t>
            </a:r>
          </a:p>
        </p:txBody>
      </p:sp>
      <p:sp>
        <p:nvSpPr>
          <p:cNvPr id="13" name="Chevron 12"/>
          <p:cNvSpPr/>
          <p:nvPr/>
        </p:nvSpPr>
        <p:spPr>
          <a:xfrm>
            <a:off x="8577072" y="2816352"/>
            <a:ext cx="566928" cy="749808"/>
          </a:xfrm>
          <a:prstGeom prst="chevron">
            <a:avLst/>
          </a:prstGeom>
          <a:solidFill>
            <a:srgbClr val="00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63456" y="1965960"/>
            <a:ext cx="2148840" cy="2468880"/>
          </a:xfrm>
          <a:prstGeom prst="roundRect">
            <a:avLst/>
          </a:prstGeom>
          <a:solidFill>
            <a:srgbClr val="D9FBFB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194560"/>
            <a:ext cx="1664208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9D9A"/>
                </a:solidFill>
                <a:latin typeface="WenQuanYi Micro Hei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980944"/>
            <a:ext cx="1664208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WenQuanYi Micro Hei"/>
              </a:rPr>
              <a:t>物価水準
（指数）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150" b="1">
                <a:solidFill>
                  <a:srgbClr val="0F172A"/>
                </a:solidFill>
                <a:latin typeface="WenQuanYi Micro Hei"/>
              </a:rPr>
              <a:t>KEY TAKEAWAY｜記号を並べるだけでなく、何を入れると何が分かるかを図示する。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6547104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D8D8D"/>
                </a:solidFill>
                <a:latin typeface="WenQuanYi Micro Hei"/>
              </a:rPr>
              <a:t>SMEC Visual Slide System｜すべて編集可能なPowerPoint図形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28816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F62FE"/>
                </a:solidFill>
                <a:latin typeface="WenQuanYi Micro 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841248" cy="329184"/>
          </a:xfrm>
          <a:prstGeom prst="roundRect">
            <a:avLst/>
          </a:prstGeom>
          <a:solidFill>
            <a:srgbClr val="0F62F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Micro Hei"/>
              </a:rPr>
              <a:t>G12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25252"/>
                </a:solidFill>
                <a:latin typeface="WenQuanYi Micro Hei"/>
              </a:rPr>
              <a:t>KPI・表・指標比較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109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WenQuanYi Micro Hei"/>
              </a:rPr>
              <a:t>重要数値はカードと小さなグラフを組み合わせ、比較の基準を明示する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53312"/>
            <a:ext cx="11274552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03504" y="1664208"/>
            <a:ext cx="2487168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47088"/>
            <a:ext cx="213969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25252"/>
                </a:solidFill>
                <a:latin typeface="WenQuanYi Micro Hei"/>
              </a:rPr>
              <a:t>実質GDP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176272"/>
            <a:ext cx="2139696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62FE"/>
                </a:solidFill>
                <a:latin typeface="WenQuanYi Micro Hei"/>
              </a:rPr>
              <a:t>+1.2%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633472"/>
            <a:ext cx="2139696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D8D8D"/>
                </a:solidFill>
                <a:latin typeface="WenQuanYi Micro Hei"/>
              </a:rPr>
              <a:t>前年比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664208"/>
            <a:ext cx="2487168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584" y="1847088"/>
            <a:ext cx="213969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25252"/>
                </a:solidFill>
                <a:latin typeface="WenQuanYi Micro Hei"/>
              </a:rPr>
              <a:t>完全失業率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2176272"/>
            <a:ext cx="2139696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09D9A"/>
                </a:solidFill>
                <a:latin typeface="WenQuanYi Micro Hei"/>
              </a:rPr>
              <a:t>2.6%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633472"/>
            <a:ext cx="2139696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D8D8D"/>
                </a:solidFill>
                <a:latin typeface="WenQuanYi Micro Hei"/>
              </a:rPr>
              <a:t>低下＝改善傾向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64208"/>
            <a:ext cx="2487168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847088"/>
            <a:ext cx="213969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25252"/>
                </a:solidFill>
                <a:latin typeface="WenQuanYi Micro Hei"/>
              </a:rPr>
              <a:t>CPI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176272"/>
            <a:ext cx="2139696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F832B"/>
                </a:solidFill>
                <a:latin typeface="WenQuanYi Micro Hei"/>
              </a:rPr>
              <a:t>+2.4%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2633472"/>
            <a:ext cx="2139696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D8D8D"/>
                </a:solidFill>
                <a:latin typeface="WenQuanYi Micro Hei"/>
              </a:rPr>
              <a:t>前年同月比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87968" y="1664208"/>
            <a:ext cx="2670048" cy="3547872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17152" y="3633215"/>
            <a:ext cx="347472" cy="10668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0576" y="4773168"/>
            <a:ext cx="42062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25252"/>
                </a:solidFill>
                <a:latin typeface="WenQuanYi Micro Hei"/>
              </a:rPr>
              <a:t>Q1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47504" y="3226815"/>
            <a:ext cx="347472" cy="14732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0928" y="4773168"/>
            <a:ext cx="42062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25252"/>
                </a:solidFill>
                <a:latin typeface="WenQuanYi Micro Hei"/>
              </a:rPr>
              <a:t>Q2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77856" y="3455415"/>
            <a:ext cx="347472" cy="12446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4773168"/>
            <a:ext cx="42062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25252"/>
                </a:solidFill>
                <a:latin typeface="WenQuanYi Micro Hei"/>
              </a:rPr>
              <a:t>Q3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08208" y="2871215"/>
            <a:ext cx="347472" cy="1828800"/>
          </a:xfrm>
          <a:prstGeom prst="rect">
            <a:avLst/>
          </a:prstGeom>
          <a:solidFill>
            <a:srgbClr val="009D9A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71632" y="4773168"/>
            <a:ext cx="42062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25252"/>
                </a:solidFill>
                <a:latin typeface="WenQuanYi Micro Hei"/>
              </a:rPr>
              <a:t>Q4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" y="3310128"/>
            <a:ext cx="1261872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050" b="1">
                <a:solidFill>
                  <a:srgbClr val="FFFFFF"/>
                </a:solidFill>
                <a:latin typeface="WenQuanYi Micro Hei"/>
              </a:rPr>
              <a:t>指標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65376" y="3310128"/>
            <a:ext cx="2788920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050" b="1">
                <a:solidFill>
                  <a:srgbClr val="FFFFFF"/>
                </a:solidFill>
                <a:latin typeface="WenQuanYi Micro Hei"/>
              </a:rPr>
              <a:t>見るポイント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54296" y="3310128"/>
            <a:ext cx="3639312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050" b="1">
                <a:solidFill>
                  <a:srgbClr val="FFFFFF"/>
                </a:solidFill>
                <a:latin typeface="WenQuanYi Micro Hei"/>
              </a:rPr>
              <a:t>注意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" y="3785616"/>
            <a:ext cx="1261872" cy="420624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050" b="1">
                <a:solidFill>
                  <a:srgbClr val="161616"/>
                </a:solidFill>
                <a:latin typeface="WenQuanYi Micro Hei"/>
              </a:rPr>
              <a:t>GDP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65376" y="3785616"/>
            <a:ext cx="2788920" cy="420624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050" b="0">
                <a:solidFill>
                  <a:srgbClr val="161616"/>
                </a:solidFill>
                <a:latin typeface="WenQuanYi Micro Hei"/>
              </a:rPr>
              <a:t>実質成長率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54296" y="3785616"/>
            <a:ext cx="3639312" cy="420624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050" b="0">
                <a:solidFill>
                  <a:srgbClr val="161616"/>
                </a:solidFill>
                <a:latin typeface="WenQuanYi Micro Hei"/>
              </a:rPr>
              <a:t>名目と区別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" y="4261104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050" b="1">
                <a:solidFill>
                  <a:srgbClr val="161616"/>
                </a:solidFill>
                <a:latin typeface="WenQuanYi Micro Hei"/>
              </a:rPr>
              <a:t>失業率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65376" y="4261104"/>
            <a:ext cx="2788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050" b="0">
                <a:solidFill>
                  <a:srgbClr val="161616"/>
                </a:solidFill>
                <a:latin typeface="WenQuanYi Micro Hei"/>
              </a:rPr>
              <a:t>労働力人口も確認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54296" y="4261104"/>
            <a:ext cx="36393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050" b="0">
                <a:solidFill>
                  <a:srgbClr val="161616"/>
                </a:solidFill>
                <a:latin typeface="WenQuanYi Micro Hei"/>
              </a:rPr>
              <a:t>意欲喪失効果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" y="4736592"/>
            <a:ext cx="1261872" cy="420624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050" b="1">
                <a:solidFill>
                  <a:srgbClr val="161616"/>
                </a:solidFill>
                <a:latin typeface="WenQuanYi Micro Hei"/>
              </a:rPr>
              <a:t>物価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65376" y="4736592"/>
            <a:ext cx="2788920" cy="420624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050" b="0">
                <a:solidFill>
                  <a:srgbClr val="161616"/>
                </a:solidFill>
                <a:latin typeface="WenQuanYi Micro Hei"/>
              </a:rPr>
              <a:t>指数の対象範囲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54296" y="4736592"/>
            <a:ext cx="3639312" cy="420624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050" b="0">
                <a:solidFill>
                  <a:srgbClr val="161616"/>
                </a:solidFill>
                <a:latin typeface="WenQuanYi Micro Hei"/>
              </a:rPr>
              <a:t>算式の違い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150" b="1">
                <a:solidFill>
                  <a:srgbClr val="0F172A"/>
                </a:solidFill>
                <a:latin typeface="WenQuanYi Micro Hei"/>
              </a:rPr>
              <a:t>KEY TAKEAWAY｜数値カードは3〜4個、表は4列×6行程度まで。強調色は1つに絞る。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" y="6547104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D8D8D"/>
                </a:solidFill>
                <a:latin typeface="WenQuanYi Micro Hei"/>
              </a:rPr>
              <a:t>SMEC Visual Slide System｜すべて編集可能なPowerPoint図形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528816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F62FE"/>
                </a:solidFill>
                <a:latin typeface="WenQuanYi Micro 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841248" cy="329184"/>
          </a:xfrm>
          <a:prstGeom prst="roundRect">
            <a:avLst/>
          </a:prstGeom>
          <a:solidFill>
            <a:srgbClr val="009D9A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Micro Hei"/>
              </a:rPr>
              <a:t>E01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25252"/>
                </a:solidFill>
                <a:latin typeface="WenQuanYi Micro Hei"/>
              </a:rPr>
              <a:t>需要・供給曲線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109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WenQuanYi Micro Hei"/>
              </a:rPr>
              <a:t>需要と供給の交点で価格と数量が同時に決まる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53312"/>
            <a:ext cx="11274552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5349240"/>
            <a:ext cx="5989320" cy="0"/>
          </a:xfrm>
          <a:prstGeom prst="line">
            <a:avLst/>
          </a:prstGeom>
          <a:ln w="2032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005840" y="1737360"/>
            <a:ext cx="0" cy="3611880"/>
          </a:xfrm>
          <a:prstGeom prst="line">
            <a:avLst/>
          </a:prstGeom>
          <a:ln w="2032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72200" y="5458968"/>
            <a:ext cx="86868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WenQuanYi Micro Hei"/>
              </a:rPr>
              <a:t>数量 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463039"/>
            <a:ext cx="9601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WenQuanYi Micro Hei"/>
              </a:rPr>
              <a:t>価格 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25880" y="2057400"/>
            <a:ext cx="5349240" cy="2971800"/>
          </a:xfrm>
          <a:prstGeom prst="line">
            <a:avLst/>
          </a:prstGeom>
          <a:ln w="381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325880" y="2057400"/>
            <a:ext cx="5349240" cy="2971800"/>
          </a:xfrm>
          <a:prstGeom prst="line">
            <a:avLst/>
          </a:prstGeom>
          <a:ln w="38100">
            <a:solidFill>
              <a:srgbClr val="DA1E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09360" y="4526279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62FE"/>
                </a:solidFill>
                <a:latin typeface="WenQuanYi Micro Hei"/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0428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A1E28"/>
                </a:solidFill>
                <a:latin typeface="WenQuanYi Micro Hei"/>
              </a:rPr>
              <a:t>D</a:t>
            </a:r>
          </a:p>
        </p:txBody>
      </p:sp>
      <p:sp>
        <p:nvSpPr>
          <p:cNvPr id="14" name="Oval 13"/>
          <p:cNvSpPr/>
          <p:nvPr/>
        </p:nvSpPr>
        <p:spPr>
          <a:xfrm>
            <a:off x="3909060" y="3451860"/>
            <a:ext cx="182880" cy="18288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WenQuanYi Micro Hei"/>
              </a:rPr>
              <a:t/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00500" y="3543300"/>
            <a:ext cx="0" cy="1805940"/>
          </a:xfrm>
          <a:prstGeom prst="line">
            <a:avLst/>
          </a:prstGeom>
          <a:ln w="12700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05840" y="3543300"/>
            <a:ext cx="2994660" cy="0"/>
          </a:xfrm>
          <a:prstGeom prst="line">
            <a:avLst/>
          </a:prstGeom>
          <a:ln w="12700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89520" y="1901952"/>
            <a:ext cx="3657600" cy="731520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DA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500" b="1">
                <a:solidFill>
                  <a:srgbClr val="DA1E28"/>
                </a:solidFill>
                <a:latin typeface="WenQuanYi Micro Hei"/>
              </a:rPr>
              <a:t>需要 D：価格↑ → 需要量↓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2907792"/>
            <a:ext cx="3657600" cy="73152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500" b="1">
                <a:solidFill>
                  <a:srgbClr val="0F62FE"/>
                </a:solidFill>
                <a:latin typeface="WenQuanYi Micro Hei"/>
              </a:rPr>
              <a:t>供給 S：価格↑ → 供給量↑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3913632"/>
            <a:ext cx="3657600" cy="73152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500" b="1">
                <a:solidFill>
                  <a:srgbClr val="0F172A"/>
                </a:solidFill>
                <a:latin typeface="WenQuanYi Micro Hei"/>
              </a:rPr>
              <a:t>交点 E：均衡価格・均衡数量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150" b="1">
                <a:solidFill>
                  <a:srgbClr val="0F172A"/>
                </a:solidFill>
                <a:latin typeface="WenQuanYi Micro Hei"/>
              </a:rPr>
              <a:t>KEY TAKEAWAY｜軸、曲線名、交点、補助線の4点を必ず表示する。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547104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D8D8D"/>
                </a:solidFill>
                <a:latin typeface="WenQuanYi Micro Hei"/>
              </a:rPr>
              <a:t>SMEC Visual Slide System｜すべて編集可能なPowerPoint図形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528816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9D9A"/>
                </a:solidFill>
                <a:latin typeface="WenQuanYi Micro 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841248" cy="329184"/>
          </a:xfrm>
          <a:prstGeom prst="roundRect">
            <a:avLst/>
          </a:prstGeom>
          <a:solidFill>
            <a:srgbClr val="009D9A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Micro Hei"/>
              </a:rPr>
              <a:t>E02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25252"/>
                </a:solidFill>
                <a:latin typeface="WenQuanYi Micro Hei"/>
              </a:rPr>
              <a:t>曲線シフトと均衡変化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109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WenQuanYi Micro Hei"/>
              </a:rPr>
              <a:t>需要増加は需要曲線を右へ動かし、均衡価格と均衡数量をともに押し上げる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53312"/>
            <a:ext cx="11274552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68680" y="5394960"/>
            <a:ext cx="6492239" cy="0"/>
          </a:xfrm>
          <a:prstGeom prst="line">
            <a:avLst/>
          </a:prstGeom>
          <a:ln w="2032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68680" y="1691640"/>
            <a:ext cx="0" cy="3703320"/>
          </a:xfrm>
          <a:prstGeom prst="line">
            <a:avLst/>
          </a:prstGeom>
          <a:ln w="2032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37959" y="5504688"/>
            <a:ext cx="86868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WenQuanYi Micro Hei"/>
              </a:rPr>
              <a:t>数量 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5" y="1417320"/>
            <a:ext cx="9601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WenQuanYi Micro Hei"/>
              </a:rPr>
              <a:t>価格 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71600" y="1965960"/>
            <a:ext cx="5577839" cy="3063240"/>
          </a:xfrm>
          <a:prstGeom prst="line">
            <a:avLst/>
          </a:prstGeom>
          <a:ln w="355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88719" y="2057400"/>
            <a:ext cx="5166360" cy="2834640"/>
          </a:xfrm>
          <a:prstGeom prst="line">
            <a:avLst/>
          </a:prstGeom>
          <a:ln w="27940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920239" y="2057400"/>
            <a:ext cx="5166360" cy="2834640"/>
          </a:xfrm>
          <a:prstGeom prst="line">
            <a:avLst/>
          </a:prstGeom>
          <a:ln w="38100">
            <a:solidFill>
              <a:srgbClr val="DA1E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53912" y="4572000"/>
            <a:ext cx="402336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62FE"/>
                </a:solidFill>
                <a:latin typeface="WenQuanYi Micro He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258568"/>
            <a:ext cx="566928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8D8D8D"/>
                </a:solidFill>
                <a:latin typeface="WenQuanYi Micro Hei"/>
              </a:rPr>
              <a:t>D₀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58568"/>
            <a:ext cx="566928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A1E28"/>
                </a:solidFill>
                <a:latin typeface="WenQuanYi Micro Hei"/>
              </a:rPr>
              <a:t>D₁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36592" y="1828800"/>
            <a:ext cx="932688" cy="365760"/>
          </a:xfrm>
          <a:prstGeom prst="rightArrow">
            <a:avLst/>
          </a:prstGeom>
          <a:solidFill>
            <a:srgbClr val="D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45552" y="1847088"/>
            <a:ext cx="3383280" cy="6400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300" b="1">
                <a:solidFill>
                  <a:srgbClr val="0F172A"/>
                </a:solidFill>
                <a:latin typeface="WenQuanYi Micro Hei"/>
              </a:rPr>
              <a:t>原因｜所得増加・嗜好変化など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5552" y="2834640"/>
            <a:ext cx="3383280" cy="640080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DA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300" b="1">
                <a:solidFill>
                  <a:srgbClr val="DA1E28"/>
                </a:solidFill>
                <a:latin typeface="WenQuanYi Micro Hei"/>
              </a:rPr>
              <a:t>需要曲線｜D₀ → D₁（右方）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45552" y="3822191"/>
            <a:ext cx="3383280" cy="640080"/>
          </a:xfrm>
          <a:prstGeom prst="roundRect">
            <a:avLst/>
          </a:prstGeom>
          <a:solidFill>
            <a:srgbClr val="D9FBFB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500" b="1">
                <a:solidFill>
                  <a:srgbClr val="009D9A"/>
                </a:solidFill>
                <a:latin typeface="WenQuanYi Micro Hei"/>
              </a:rPr>
              <a:t>結果｜価格↑・数量↑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150" b="1">
                <a:solidFill>
                  <a:srgbClr val="0F172A"/>
                </a:solidFill>
                <a:latin typeface="WenQuanYi Micro Hei"/>
              </a:rPr>
              <a:t>KEY TAKEAWAY｜曲線上の移動と曲線自体のシフトを、色と矢印で区別する。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547104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D8D8D"/>
                </a:solidFill>
                <a:latin typeface="WenQuanYi Micro Hei"/>
              </a:rPr>
              <a:t>SMEC Visual Slide System｜すべて編集可能なPowerPoint図形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528816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9D9A"/>
                </a:solidFill>
                <a:latin typeface="WenQuanYi Micro 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841248" cy="329184"/>
          </a:xfrm>
          <a:prstGeom prst="roundRect">
            <a:avLst/>
          </a:prstGeom>
          <a:solidFill>
            <a:srgbClr val="009D9A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Micro Hei"/>
              </a:rPr>
              <a:t>E03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25252"/>
                </a:solidFill>
                <a:latin typeface="WenQuanYi Micro Hei"/>
              </a:rPr>
              <a:t>45度線分析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109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WenQuanYi Micro Hei"/>
              </a:rPr>
              <a:t>総需要が45度線と交わる点で均衡GDPが決まり、支出増加は乗数効果を生む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53312"/>
            <a:ext cx="11274552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68680" y="5349240"/>
            <a:ext cx="6583680" cy="0"/>
          </a:xfrm>
          <a:prstGeom prst="line">
            <a:avLst/>
          </a:prstGeom>
          <a:ln w="2032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68680" y="1737360"/>
            <a:ext cx="0" cy="3611880"/>
          </a:xfrm>
          <a:prstGeom prst="line">
            <a:avLst/>
          </a:prstGeom>
          <a:ln w="2032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629400" y="5458968"/>
            <a:ext cx="86868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WenQuanYi Micro Hei"/>
              </a:rPr>
              <a:t>GDP（所得）Y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5" y="1463039"/>
            <a:ext cx="9601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WenQuanYi Micro Hei"/>
              </a:rPr>
              <a:t>総需要 AE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868680" y="2103120"/>
            <a:ext cx="6217920" cy="3246120"/>
          </a:xfrm>
          <a:prstGeom prst="line">
            <a:avLst/>
          </a:prstGeom>
          <a:ln w="25400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90488" y="2103120"/>
            <a:ext cx="8229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D8D8D"/>
                </a:solidFill>
                <a:latin typeface="WenQuanYi Micro Hei"/>
              </a:rPr>
              <a:t>45度線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188719" y="2852928"/>
            <a:ext cx="5852161" cy="1673351"/>
          </a:xfrm>
          <a:prstGeom prst="line">
            <a:avLst/>
          </a:prstGeom>
          <a:ln w="381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88719" y="2258568"/>
            <a:ext cx="5852161" cy="1673352"/>
          </a:xfrm>
          <a:prstGeom prst="line">
            <a:avLst/>
          </a:prstGeom>
          <a:ln w="38100">
            <a:solidFill>
              <a:srgbClr val="009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00216" y="2761488"/>
            <a:ext cx="62179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62FE"/>
                </a:solidFill>
                <a:latin typeface="WenQuanYi Micro Hei"/>
              </a:rPr>
              <a:t>AE₀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2167128"/>
            <a:ext cx="62179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D9A"/>
                </a:solidFill>
                <a:latin typeface="WenQuanYi Micro Hei"/>
              </a:rPr>
              <a:t>AE₁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828800"/>
            <a:ext cx="3291840" cy="658368"/>
          </a:xfrm>
          <a:prstGeom prst="roundRect">
            <a:avLst/>
          </a:prstGeom>
          <a:solidFill>
            <a:srgbClr val="D9FBFB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500" b="1">
                <a:solidFill>
                  <a:srgbClr val="009D9A"/>
                </a:solidFill>
                <a:latin typeface="WenQuanYi Micro Hei"/>
              </a:rPr>
              <a:t>政府支出 G が増加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2816352"/>
            <a:ext cx="3291840" cy="658368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400" b="1">
                <a:solidFill>
                  <a:srgbClr val="0F62FE"/>
                </a:solidFill>
                <a:latin typeface="WenQuanYi Micro Hei"/>
              </a:rPr>
              <a:t>総需要線 AE が上方シフト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3803904"/>
            <a:ext cx="3291840" cy="877824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600" b="1">
                <a:solidFill>
                  <a:srgbClr val="0F172A"/>
                </a:solidFill>
                <a:latin typeface="WenQuanYi Micro Hei"/>
              </a:rPr>
              <a:t>均衡GDPの増加
ΔY ＝ 1/(1−c) × ΔG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150" b="1">
                <a:solidFill>
                  <a:srgbClr val="0F172A"/>
                </a:solidFill>
                <a:latin typeface="WenQuanYi Micro Hei"/>
              </a:rPr>
              <a:t>KEY TAKEAWAY｜45度線は支出＝所得を表す。シフト前後の均衡点を比較する。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6547104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D8D8D"/>
                </a:solidFill>
                <a:latin typeface="WenQuanYi Micro Hei"/>
              </a:rPr>
              <a:t>SMEC Visual Slide System｜すべて編集可能なPowerPoint図形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9D9A"/>
                </a:solidFill>
                <a:latin typeface="WenQuanYi Micro 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841248" cy="329184"/>
          </a:xfrm>
          <a:prstGeom prst="roundRect">
            <a:avLst/>
          </a:prstGeom>
          <a:solidFill>
            <a:srgbClr val="009D9A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Micro Hei"/>
              </a:rPr>
              <a:t>E04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25252"/>
                </a:solidFill>
                <a:latin typeface="WenQuanYi Micro Hei"/>
              </a:rPr>
              <a:t>IS-LM分析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109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WenQuanYi Micro Hei"/>
              </a:rPr>
              <a:t>財政政策はISを右へ、金融政策はLMを右へ動かし、GDPと利子率を変える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53312"/>
            <a:ext cx="11274552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41248" y="5349240"/>
            <a:ext cx="6629400" cy="0"/>
          </a:xfrm>
          <a:prstGeom prst="line">
            <a:avLst/>
          </a:prstGeom>
          <a:ln w="2032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41248" y="1737360"/>
            <a:ext cx="0" cy="3611880"/>
          </a:xfrm>
          <a:prstGeom prst="line">
            <a:avLst/>
          </a:prstGeom>
          <a:ln w="2032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647688" y="5458968"/>
            <a:ext cx="86868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WenQuanYi Micro Hei"/>
              </a:rPr>
              <a:t>GDP 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463039"/>
            <a:ext cx="9601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WenQuanYi Micro Hei"/>
              </a:rPr>
              <a:t>利子率 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52728" y="2103120"/>
            <a:ext cx="5806440" cy="2880359"/>
          </a:xfrm>
          <a:prstGeom prst="line">
            <a:avLst/>
          </a:prstGeom>
          <a:ln w="38100">
            <a:solidFill>
              <a:srgbClr val="DA1E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2728" y="2103120"/>
            <a:ext cx="5806440" cy="2880359"/>
          </a:xfrm>
          <a:prstGeom prst="line">
            <a:avLst/>
          </a:prstGeom>
          <a:ln w="381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892807" y="2103120"/>
            <a:ext cx="5532120" cy="2880359"/>
          </a:xfrm>
          <a:prstGeom prst="line">
            <a:avLst/>
          </a:prstGeom>
          <a:ln w="30480">
            <a:solidFill>
              <a:srgbClr val="009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81928" y="451713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A1E28"/>
                </a:solidFill>
                <a:latin typeface="WenQuanYi Micro Hei"/>
              </a:rPr>
              <a:t>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2240280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62FE"/>
                </a:solidFill>
                <a:latin typeface="WenQuanYi Micro Hei"/>
              </a:rPr>
              <a:t>IS₀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240280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D9A"/>
                </a:solidFill>
                <a:latin typeface="WenQuanYi Micro Hei"/>
              </a:rPr>
              <a:t>IS₁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783080"/>
            <a:ext cx="3429000" cy="749808"/>
          </a:xfrm>
          <a:prstGeom prst="roundRect">
            <a:avLst/>
          </a:prstGeom>
          <a:solidFill>
            <a:srgbClr val="D9FBFB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500" b="1">
                <a:solidFill>
                  <a:srgbClr val="009D9A"/>
                </a:solidFill>
                <a:latin typeface="WenQuanYi Micro Hei"/>
              </a:rPr>
              <a:t>財政政策：IS → 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2788920"/>
            <a:ext cx="3429000" cy="749808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500" b="1">
                <a:solidFill>
                  <a:srgbClr val="0F172A"/>
                </a:solidFill>
                <a:latin typeface="WenQuanYi Micro Hei"/>
              </a:rPr>
              <a:t>結果：GDP ↑・利子率 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3794760"/>
            <a:ext cx="3429000" cy="932688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DA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400" b="1">
                <a:solidFill>
                  <a:srgbClr val="DA1E28"/>
                </a:solidFill>
                <a:latin typeface="WenQuanYi Micro Hei"/>
              </a:rPr>
              <a:t>注意：利子率上昇が
民間投資を押し出す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150" b="1">
                <a:solidFill>
                  <a:srgbClr val="0F172A"/>
                </a:solidFill>
                <a:latin typeface="WenQuanYi Micro Hei"/>
              </a:rPr>
              <a:t>KEY TAKEAWAY｜政策→曲線→交点→Y・rの順に追う。傾きと政策効果は別スライドにする。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6547104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D8D8D"/>
                </a:solidFill>
                <a:latin typeface="WenQuanYi Micro Hei"/>
              </a:rPr>
              <a:t>SMEC Visual Slide System｜すべて編集可能なPowerPoint図形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9D9A"/>
                </a:solidFill>
                <a:latin typeface="WenQuanYi Micro 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841248" cy="329184"/>
          </a:xfrm>
          <a:prstGeom prst="roundRect">
            <a:avLst/>
          </a:prstGeom>
          <a:solidFill>
            <a:srgbClr val="009D9A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Micro Hei"/>
              </a:rPr>
              <a:t>E05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25252"/>
                </a:solidFill>
                <a:latin typeface="WenQuanYi Micro Hei"/>
              </a:rPr>
              <a:t>余剰・死荷重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109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WenQuanYi Micro Hei"/>
              </a:rPr>
              <a:t>課税で取引量が減ると、税収にならない余剰が死荷重として失われる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53312"/>
            <a:ext cx="11274552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68680" y="5358384"/>
            <a:ext cx="6537960" cy="0"/>
          </a:xfrm>
          <a:prstGeom prst="line">
            <a:avLst/>
          </a:prstGeom>
          <a:ln w="2032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68680" y="1700784"/>
            <a:ext cx="0" cy="3657600"/>
          </a:xfrm>
          <a:prstGeom prst="line">
            <a:avLst/>
          </a:prstGeom>
          <a:ln w="2032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79" y="5468112"/>
            <a:ext cx="86868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WenQuanYi Micro Hei"/>
              </a:rPr>
              <a:t>数量 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5" y="1426464"/>
            <a:ext cx="9601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WenQuanYi Micro Hei"/>
              </a:rPr>
              <a:t>価格 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88719" y="2020824"/>
            <a:ext cx="5897881" cy="3017520"/>
          </a:xfrm>
          <a:prstGeom prst="line">
            <a:avLst/>
          </a:prstGeom>
          <a:ln w="355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88719" y="2020824"/>
            <a:ext cx="5897881" cy="3017520"/>
          </a:xfrm>
          <a:prstGeom prst="line">
            <a:avLst/>
          </a:prstGeom>
          <a:ln w="35560">
            <a:solidFill>
              <a:srgbClr val="DA1E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10800000">
            <a:off x="2852928" y="1965960"/>
            <a:ext cx="2697480" cy="1463040"/>
          </a:xfrm>
          <a:prstGeom prst="triangle">
            <a:avLst/>
          </a:prstGeom>
          <a:solidFill>
            <a:srgbClr val="D0E2FF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2852928" y="3429000"/>
            <a:ext cx="2697480" cy="1463040"/>
          </a:xfrm>
          <a:prstGeom prst="triangle">
            <a:avLst/>
          </a:prstGeom>
          <a:solidFill>
            <a:srgbClr val="A7F0BA"/>
          </a:solidFill>
          <a:ln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2505456"/>
            <a:ext cx="16002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F62FE"/>
                </a:solidFill>
                <a:latin typeface="WenQuanYi Micro Hei"/>
              </a:rPr>
              <a:t>消費者余剰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4078224"/>
            <a:ext cx="16002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4A148"/>
                </a:solidFill>
                <a:latin typeface="WenQuanYi Micro Hei"/>
              </a:rPr>
              <a:t>生産者余剰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1828800"/>
            <a:ext cx="3456432" cy="713232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400" b="1">
                <a:solidFill>
                  <a:srgbClr val="0F172A"/>
                </a:solidFill>
                <a:latin typeface="WenQuanYi Micro Hei"/>
              </a:rPr>
              <a:t>税の導入 → 取引量減少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90688" y="2834640"/>
            <a:ext cx="3456432" cy="713232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400" b="1">
                <a:solidFill>
                  <a:srgbClr val="0F172A"/>
                </a:solidFill>
                <a:latin typeface="WenQuanYi Micro Hei"/>
              </a:rPr>
              <a:t>余剰の一部 → 政府税収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90688" y="3840480"/>
            <a:ext cx="3456432" cy="822960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DA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500" b="1">
                <a:solidFill>
                  <a:srgbClr val="DA1E28"/>
                </a:solidFill>
                <a:latin typeface="WenQuanYi Micro Hei"/>
              </a:rPr>
              <a:t>残り → 死荷重
社会全体から消失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150" b="1">
                <a:solidFill>
                  <a:srgbClr val="0F172A"/>
                </a:solidFill>
                <a:latin typeface="WenQuanYi Micro Hei"/>
              </a:rPr>
              <a:t>KEY TAKEAWAY｜消費者余剰・生産者余剰・税収・死荷重は色を固定して使う。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6547104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D8D8D"/>
                </a:solidFill>
                <a:latin typeface="WenQuanYi Micro Hei"/>
              </a:rPr>
              <a:t>SMEC Visual Slide System｜すべて編集可能なPowerPoint図形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9D9A"/>
                </a:solidFill>
                <a:latin typeface="WenQuanYi Micro 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841248" cy="329184"/>
          </a:xfrm>
          <a:prstGeom prst="roundRect">
            <a:avLst/>
          </a:prstGeom>
          <a:solidFill>
            <a:srgbClr val="009D9A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Micro Hei"/>
              </a:rPr>
              <a:t>E06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25252"/>
                </a:solidFill>
                <a:latin typeface="WenQuanYi Micro Hei"/>
              </a:rPr>
              <a:t>景気循環・時系列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109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WenQuanYi Micro Hei"/>
              </a:rPr>
              <a:t>トレンドと循環変動を分けて描くと、景気局面と転換点を判別できる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53312"/>
            <a:ext cx="11274552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41248" y="5394960"/>
            <a:ext cx="7543800" cy="0"/>
          </a:xfrm>
          <a:prstGeom prst="line">
            <a:avLst/>
          </a:prstGeom>
          <a:ln w="2032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41248" y="1664208"/>
            <a:ext cx="0" cy="3730752"/>
          </a:xfrm>
          <a:prstGeom prst="line">
            <a:avLst/>
          </a:prstGeom>
          <a:ln w="2032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562088" y="5504688"/>
            <a:ext cx="86868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WenQuanYi Micro Hei"/>
              </a:rPr>
              <a:t>時間 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389888"/>
            <a:ext cx="9601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WenQuanYi Micro Hei"/>
              </a:rPr>
              <a:t>実質GDP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24128" y="2167128"/>
            <a:ext cx="7086599" cy="2907792"/>
          </a:xfrm>
          <a:prstGeom prst="line">
            <a:avLst/>
          </a:prstGeom>
          <a:ln w="22860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69848" y="3995928"/>
            <a:ext cx="960120" cy="822960"/>
          </a:xfrm>
          <a:prstGeom prst="line">
            <a:avLst/>
          </a:prstGeom>
          <a:ln w="381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029968" y="3081528"/>
            <a:ext cx="960120" cy="914400"/>
          </a:xfrm>
          <a:prstGeom prst="line">
            <a:avLst/>
          </a:prstGeom>
          <a:ln w="381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990088" y="3081528"/>
            <a:ext cx="868680" cy="640080"/>
          </a:xfrm>
          <a:prstGeom prst="line">
            <a:avLst/>
          </a:prstGeom>
          <a:ln w="381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858768" y="3721608"/>
            <a:ext cx="868680" cy="640080"/>
          </a:xfrm>
          <a:prstGeom prst="line">
            <a:avLst/>
          </a:prstGeom>
          <a:ln w="381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727448" y="3328416"/>
            <a:ext cx="914400" cy="1033272"/>
          </a:xfrm>
          <a:prstGeom prst="line">
            <a:avLst/>
          </a:prstGeom>
          <a:ln w="381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641848" y="2468880"/>
            <a:ext cx="914400" cy="859536"/>
          </a:xfrm>
          <a:prstGeom prst="line">
            <a:avLst/>
          </a:prstGeom>
          <a:ln w="381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56248" y="2468880"/>
            <a:ext cx="868680" cy="493776"/>
          </a:xfrm>
          <a:prstGeom prst="line">
            <a:avLst/>
          </a:prstGeom>
          <a:ln w="381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24928" y="2962656"/>
            <a:ext cx="594360" cy="457200"/>
          </a:xfrm>
          <a:prstGeom prst="line">
            <a:avLst/>
          </a:prstGeom>
          <a:ln w="381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70048" y="2624328"/>
            <a:ext cx="65836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A1E28"/>
                </a:solidFill>
                <a:latin typeface="WenQuanYi Micro Hei"/>
              </a:rPr>
              <a:t>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4425696"/>
            <a:ext cx="65836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9D9A"/>
                </a:solidFill>
                <a:latin typeface="WenQuanYi Micro Hei"/>
              </a:rPr>
              <a:t>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59952" y="1737360"/>
            <a:ext cx="246888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69680" y="1847088"/>
            <a:ext cx="685800" cy="457200"/>
          </a:xfrm>
          <a:prstGeom prst="roundRect">
            <a:avLst/>
          </a:prstGeom>
          <a:solidFill>
            <a:srgbClr val="0F62F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Micro Hei"/>
              </a:rPr>
              <a:t>回復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0928" y="1847088"/>
            <a:ext cx="1298448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WenQuanYi Micro Hei"/>
              </a:rPr>
              <a:t>生産・雇用↑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59952" y="2651760"/>
            <a:ext cx="246888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69680" y="2761488"/>
            <a:ext cx="685800" cy="457200"/>
          </a:xfrm>
          <a:prstGeom prst="roundRect">
            <a:avLst/>
          </a:prstGeom>
          <a:solidFill>
            <a:srgbClr val="24A148"/>
          </a:solidFill>
          <a:ln w="1270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Micro Hei"/>
              </a:rPr>
              <a:t>好況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0928" y="2761488"/>
            <a:ext cx="1298448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WenQuanYi Micro Hei"/>
              </a:rPr>
              <a:t>需要増・物価↑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59952" y="3566160"/>
            <a:ext cx="246888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869680" y="3675887"/>
            <a:ext cx="685800" cy="457200"/>
          </a:xfrm>
          <a:prstGeom prst="roundRect">
            <a:avLst/>
          </a:prstGeom>
          <a:solidFill>
            <a:srgbClr val="FF832B"/>
          </a:solidFill>
          <a:ln w="12700">
            <a:solidFill>
              <a:srgbClr val="FF8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Micro Hei"/>
              </a:rPr>
              <a:t>後退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928" y="3675887"/>
            <a:ext cx="1298448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WenQuanYi Micro Hei"/>
              </a:rPr>
              <a:t>在庫増・投資↓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59952" y="4480560"/>
            <a:ext cx="246888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869680" y="4590288"/>
            <a:ext cx="685800" cy="457200"/>
          </a:xfrm>
          <a:prstGeom prst="roundRect">
            <a:avLst/>
          </a:prstGeom>
          <a:solidFill>
            <a:srgbClr val="8A3FFC"/>
          </a:solidFill>
          <a:ln w="12700"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Micro Hei"/>
              </a:rPr>
              <a:t>不況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0928" y="4590288"/>
            <a:ext cx="1298448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WenQuanYi Micro Hei"/>
              </a:rPr>
              <a:t>失業↑・政策対応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l"/>
            <a:r>
              <a:rPr sz="1150" b="1">
                <a:solidFill>
                  <a:srgbClr val="0F172A"/>
                </a:solidFill>
                <a:latin typeface="WenQuanYi Micro Hei"/>
              </a:rPr>
              <a:t>KEY TAKEAWAY｜実績線、長期トレンド、山・谷、4局面を同じグラフ上で区別する。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" y="6547104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D8D8D"/>
                </a:solidFill>
                <a:latin typeface="WenQuanYi Micro Hei"/>
              </a:rPr>
              <a:t>SMEC Visual Slide System｜すべて編集可能なPowerPoint図形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528816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9D9A"/>
                </a:solidFill>
                <a:latin typeface="WenQuanYi Micro Hei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SMEC 標準図解スライドテンプレート</dc:title>
  <dc:subject>汎用図解12種＋経済学専用グラフ6種</dc:subject>
  <dc:creator>SMEC Project</dc:creator>
  <cp:keywords>SMEC, 中小企業診断士, PowerPoint, 図解, テンプレート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