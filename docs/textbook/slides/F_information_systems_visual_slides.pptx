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09560" y="685800"/>
            <a:ext cx="3840480" cy="3840480"/>
          </a:xfrm>
          <a:prstGeom prst="ellipse">
            <a:avLst/>
          </a:prstGeom>
          <a:solidFill>
            <a:srgbClr val="F0F9FF"/>
          </a:solidFill>
          <a:ln w="25400">
            <a:solidFill>
              <a:srgbClr val="81B4D0"/>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5400" b="1">
                <a:solidFill>
                  <a:srgbClr val="0369A1"/>
                </a:solidFill>
                <a:latin typeface="WenQuanYi Micro Hei"/>
              </a:rPr>
              <a:t>F</a:t>
            </a:r>
          </a:p>
        </p:txBody>
      </p:sp>
      <p:sp>
        <p:nvSpPr>
          <p:cNvPr id="4" name="TextBox 3"/>
          <p:cNvSpPr txBox="1"/>
          <p:nvPr/>
        </p:nvSpPr>
        <p:spPr>
          <a:xfrm>
            <a:off x="685800" y="1280160"/>
            <a:ext cx="7086600" cy="502920"/>
          </a:xfrm>
          <a:prstGeom prst="rect">
            <a:avLst/>
          </a:prstGeom>
          <a:noFill/>
        </p:spPr>
        <p:txBody>
          <a:bodyPr wrap="square" tIns="91440" bIns="91440" anchor="ctr">
            <a:spAutoFit/>
          </a:bodyPr>
          <a:lstStyle/>
          <a:p>
            <a:pPr algn="l">
              <a:spcAft>
                <a:spcPts val="0"/>
              </a:spcAft>
            </a:pPr>
            <a:r>
              <a:rPr sz="1700" b="1">
                <a:solidFill>
                  <a:srgbClr val="0369A1"/>
                </a:solidFill>
                <a:latin typeface="WenQuanYi Micro Hei"/>
              </a:rPr>
              <a:t>中小企業診断士 第1次試験</a:t>
            </a:r>
          </a:p>
        </p:txBody>
      </p:sp>
      <p:sp>
        <p:nvSpPr>
          <p:cNvPr id="5" name="TextBox 4"/>
          <p:cNvSpPr txBox="1"/>
          <p:nvPr/>
        </p:nvSpPr>
        <p:spPr>
          <a:xfrm>
            <a:off x="658368" y="1874519"/>
            <a:ext cx="7406640" cy="1234440"/>
          </a:xfrm>
          <a:prstGeom prst="rect">
            <a:avLst/>
          </a:prstGeom>
          <a:noFill/>
        </p:spPr>
        <p:txBody>
          <a:bodyPr wrap="square" tIns="91440" bIns="91440" anchor="t">
            <a:spAutoFit/>
          </a:bodyPr>
          <a:lstStyle/>
          <a:p>
            <a:pPr algn="l">
              <a:spcAft>
                <a:spcPts val="0"/>
              </a:spcAft>
            </a:pPr>
            <a:r>
              <a:rPr sz="3600" b="1">
                <a:solidFill>
                  <a:srgbClr val="172033"/>
                </a:solidFill>
                <a:latin typeface="WenQuanYi Micro Hei"/>
              </a:rPr>
              <a:t>経営情報システム</a:t>
            </a:r>
          </a:p>
        </p:txBody>
      </p:sp>
      <p:sp>
        <p:nvSpPr>
          <p:cNvPr id="6" name="TextBox 5"/>
          <p:cNvSpPr txBox="1"/>
          <p:nvPr/>
        </p:nvSpPr>
        <p:spPr>
          <a:xfrm>
            <a:off x="685800" y="3337560"/>
            <a:ext cx="6766560" cy="640080"/>
          </a:xfrm>
          <a:prstGeom prst="rect">
            <a:avLst/>
          </a:prstGeom>
          <a:noFill/>
        </p:spPr>
        <p:txBody>
          <a:bodyPr wrap="square" tIns="91440" bIns="91440" anchor="ctr">
            <a:spAutoFit/>
          </a:bodyPr>
          <a:lstStyle/>
          <a:p>
            <a:pPr algn="l">
              <a:spcAft>
                <a:spcPts val="0"/>
              </a:spcAft>
            </a:pPr>
            <a:r>
              <a:rPr sz="2000" b="0">
                <a:solidFill>
                  <a:srgbClr val="667085"/>
                </a:solidFill>
                <a:latin typeface="WenQuanYi Micro Hei"/>
              </a:rPr>
              <a:t>図解スライド｜全論点を「構造・比較・流れ」で理解する</a:t>
            </a:r>
          </a:p>
        </p:txBody>
      </p:sp>
      <p:sp>
        <p:nvSpPr>
          <p:cNvPr id="7" name="Rounded Rectangle 6"/>
          <p:cNvSpPr/>
          <p:nvPr/>
        </p:nvSpPr>
        <p:spPr>
          <a:xfrm>
            <a:off x="685800" y="4617720"/>
            <a:ext cx="3246120" cy="658368"/>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FFFFFF"/>
                </a:solidFill>
                <a:latin typeface="WenQuanYi Micro Hei"/>
              </a:rPr>
              <a:t>24 論点</a:t>
            </a:r>
          </a:p>
        </p:txBody>
      </p:sp>
      <p:sp>
        <p:nvSpPr>
          <p:cNvPr id="8" name="Rounded Rectangle 7"/>
          <p:cNvSpPr/>
          <p:nvPr/>
        </p:nvSpPr>
        <p:spPr>
          <a:xfrm>
            <a:off x="4096512" y="4617720"/>
            <a:ext cx="3246120" cy="658368"/>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0369A1"/>
                </a:solidFill>
                <a:latin typeface="WenQuanYi Micro Hei"/>
              </a:rPr>
              <a:t>2 セクション</a:t>
            </a:r>
          </a:p>
        </p:txBody>
      </p:sp>
      <p:sp>
        <p:nvSpPr>
          <p:cNvPr id="9" name="TextBox 8"/>
          <p:cNvSpPr txBox="1"/>
          <p:nvPr/>
        </p:nvSpPr>
        <p:spPr>
          <a:xfrm>
            <a:off x="685800" y="5879592"/>
            <a:ext cx="10881360" cy="256032"/>
          </a:xfrm>
          <a:prstGeom prst="rect">
            <a:avLst/>
          </a:prstGeom>
          <a:noFill/>
        </p:spPr>
        <p:txBody>
          <a:bodyPr wrap="square" tIns="91440" bIns="91440" anchor="ctr">
            <a:spAutoFit/>
          </a:bodyPr>
          <a:lstStyle/>
          <a:p>
            <a:pPr algn="l">
              <a:spcAft>
                <a:spcPts val="0"/>
              </a:spcAft>
            </a:pPr>
            <a:r>
              <a:rPr sz="1100" b="0">
                <a:solidFill>
                  <a:srgbClr val="667085"/>
                </a:solidFill>
                <a:latin typeface="WenQuanYi Micro Hei"/>
              </a:rPr>
              <a:t>SMEC 教科書シリーズ｜教科書本文を基に自動生成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800" b="1">
                <a:solidFill>
                  <a:srgbClr val="172033"/>
                </a:solidFill>
                <a:latin typeface="WenQuanYi Micro Hei"/>
              </a:rPr>
              <a:t>このスライドの使い方</a:t>
            </a:r>
          </a:p>
        </p:txBody>
      </p:sp>
      <p:sp>
        <p:nvSpPr>
          <p:cNvPr id="4" name="Oval 3"/>
          <p:cNvSpPr/>
          <p:nvPr/>
        </p:nvSpPr>
        <p:spPr>
          <a:xfrm>
            <a:off x="1499616" y="1261872"/>
            <a:ext cx="685800" cy="68580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1</a:t>
            </a:r>
          </a:p>
        </p:txBody>
      </p:sp>
      <p:sp>
        <p:nvSpPr>
          <p:cNvPr id="5" name="Rounded Rectangle 4"/>
          <p:cNvSpPr/>
          <p:nvPr/>
        </p:nvSpPr>
        <p:spPr>
          <a:xfrm>
            <a:off x="658368" y="2121408"/>
            <a:ext cx="2377440" cy="157276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21408"/>
            <a:ext cx="73152" cy="157276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212848"/>
            <a:ext cx="205740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全体像</a:t>
            </a:r>
          </a:p>
        </p:txBody>
      </p:sp>
      <p:sp>
        <p:nvSpPr>
          <p:cNvPr id="8" name="TextBox 7"/>
          <p:cNvSpPr txBox="1"/>
          <p:nvPr/>
        </p:nvSpPr>
        <p:spPr>
          <a:xfrm>
            <a:off x="859536"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まず図の関係性を眺める</a:t>
            </a:r>
          </a:p>
        </p:txBody>
      </p:sp>
      <p:sp>
        <p:nvSpPr>
          <p:cNvPr id="9" name="Chevron 8"/>
          <p:cNvSpPr/>
          <p:nvPr/>
        </p:nvSpPr>
        <p:spPr>
          <a:xfrm>
            <a:off x="3099815" y="2615184"/>
            <a:ext cx="347472" cy="502920"/>
          </a:xfrm>
          <a:prstGeom prst="chevron">
            <a:avLst/>
          </a:prstGeom>
          <a:solidFill>
            <a:srgbClr val="4F9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52544" y="1261872"/>
            <a:ext cx="685800" cy="68580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2</a:t>
            </a:r>
          </a:p>
        </p:txBody>
      </p:sp>
      <p:sp>
        <p:nvSpPr>
          <p:cNvPr id="11" name="Rounded Rectangle 10"/>
          <p:cNvSpPr/>
          <p:nvPr/>
        </p:nvSpPr>
        <p:spPr>
          <a:xfrm>
            <a:off x="3511296" y="2121408"/>
            <a:ext cx="2377440" cy="157276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2121408"/>
            <a:ext cx="73152" cy="157276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2212848"/>
            <a:ext cx="205740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具体例</a:t>
            </a:r>
          </a:p>
        </p:txBody>
      </p:sp>
      <p:sp>
        <p:nvSpPr>
          <p:cNvPr id="14" name="TextBox 13"/>
          <p:cNvSpPr txBox="1"/>
          <p:nvPr/>
        </p:nvSpPr>
        <p:spPr>
          <a:xfrm>
            <a:off x="3712463"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身近な場面へ置き換える</a:t>
            </a:r>
          </a:p>
        </p:txBody>
      </p:sp>
      <p:sp>
        <p:nvSpPr>
          <p:cNvPr id="15" name="Chevron 14"/>
          <p:cNvSpPr/>
          <p:nvPr/>
        </p:nvSpPr>
        <p:spPr>
          <a:xfrm>
            <a:off x="5952744" y="2615184"/>
            <a:ext cx="347472" cy="502920"/>
          </a:xfrm>
          <a:prstGeom prst="chevron">
            <a:avLst/>
          </a:prstGeom>
          <a:solidFill>
            <a:srgbClr val="4F9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05472" y="1261872"/>
            <a:ext cx="685800" cy="68580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3</a:t>
            </a:r>
          </a:p>
        </p:txBody>
      </p:sp>
      <p:sp>
        <p:nvSpPr>
          <p:cNvPr id="17" name="Rounded Rectangle 16"/>
          <p:cNvSpPr/>
          <p:nvPr/>
        </p:nvSpPr>
        <p:spPr>
          <a:xfrm>
            <a:off x="6364224" y="2121408"/>
            <a:ext cx="2377440" cy="157276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2121408"/>
            <a:ext cx="73152" cy="157276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212848"/>
            <a:ext cx="205740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注意</a:t>
            </a:r>
          </a:p>
        </p:txBody>
      </p:sp>
      <p:sp>
        <p:nvSpPr>
          <p:cNvPr id="20" name="TextBox 19"/>
          <p:cNvSpPr txBox="1"/>
          <p:nvPr/>
        </p:nvSpPr>
        <p:spPr>
          <a:xfrm>
            <a:off x="6565392"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誤答パターンを見分ける</a:t>
            </a:r>
          </a:p>
        </p:txBody>
      </p:sp>
      <p:sp>
        <p:nvSpPr>
          <p:cNvPr id="21" name="Chevron 20"/>
          <p:cNvSpPr/>
          <p:nvPr/>
        </p:nvSpPr>
        <p:spPr>
          <a:xfrm>
            <a:off x="8805672" y="2615184"/>
            <a:ext cx="347472" cy="502920"/>
          </a:xfrm>
          <a:prstGeom prst="chevron">
            <a:avLst/>
          </a:prstGeom>
          <a:solidFill>
            <a:srgbClr val="4F96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0" y="1261872"/>
            <a:ext cx="685800" cy="68580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4</a:t>
            </a:r>
          </a:p>
        </p:txBody>
      </p:sp>
      <p:sp>
        <p:nvSpPr>
          <p:cNvPr id="23" name="Rounded Rectangle 22"/>
          <p:cNvSpPr/>
          <p:nvPr/>
        </p:nvSpPr>
        <p:spPr>
          <a:xfrm>
            <a:off x="9217152" y="2121408"/>
            <a:ext cx="2377440" cy="157276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17152" y="2121408"/>
            <a:ext cx="73152" cy="157276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2212848"/>
            <a:ext cx="205740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演習</a:t>
            </a:r>
          </a:p>
        </p:txBody>
      </p:sp>
      <p:sp>
        <p:nvSpPr>
          <p:cNvPr id="26" name="TextBox 25"/>
          <p:cNvSpPr txBox="1"/>
          <p:nvPr/>
        </p:nvSpPr>
        <p:spPr>
          <a:xfrm>
            <a:off x="9418320"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教科書の参照先で定着させる</a:t>
            </a:r>
          </a:p>
        </p:txBody>
      </p:sp>
      <p:sp>
        <p:nvSpPr>
          <p:cNvPr id="27" name="Rounded Rectangle 26"/>
          <p:cNvSpPr/>
          <p:nvPr/>
        </p:nvSpPr>
        <p:spPr>
          <a:xfrm>
            <a:off x="685800" y="4251960"/>
            <a:ext cx="10817352" cy="1280160"/>
          </a:xfrm>
          <a:prstGeom prst="roundRect">
            <a:avLst/>
          </a:prstGeom>
          <a:solidFill>
            <a:srgbClr val="F0F9FF"/>
          </a:solidFill>
          <a:ln w="12700">
            <a:solidFill>
              <a:srgbClr val="74ACC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500" b="0">
                <a:solidFill>
                  <a:srgbClr val="172033"/>
                </a:solidFill>
                <a:latin typeface="WenQuanYi Micro Hei"/>
              </a:rPr>
              <a:t>経営情報システムは、「情報通信技術に関する基礎的知識」と「経営情報管理」の2分野で構成される科目です。IT分野は技術の移り変わりが早く、専門用語も多いため「文系だから苦手」「聞いたことのない単語ばかりで嫌になる」という声が多い科目ですが、出題される内容はある程度パターン化されており、正しく理解すれば得点源にできます。この教科書は problem_sets/…</a:t>
            </a:r>
          </a:p>
        </p:txBody>
      </p:sp>
      <p:sp>
        <p:nvSpPr>
          <p:cNvPr id="28" name="TextBox 27"/>
          <p:cNvSpPr txBox="1"/>
          <p:nvPr/>
        </p:nvSpPr>
        <p:spPr>
          <a:xfrm>
            <a:off x="713232" y="5760720"/>
            <a:ext cx="10698480" cy="320040"/>
          </a:xfrm>
          <a:prstGeom prst="rect">
            <a:avLst/>
          </a:prstGeom>
          <a:noFill/>
        </p:spPr>
        <p:txBody>
          <a:bodyPr wrap="square" tIns="91440" bIns="91440" anchor="ctr">
            <a:spAutoFit/>
          </a:bodyPr>
          <a:lstStyle/>
          <a:p>
            <a:pPr algn="ctr">
              <a:spcAft>
                <a:spcPts val="0"/>
              </a:spcAft>
            </a:pPr>
            <a:r>
              <a:rPr sz="1100" b="0">
                <a:solidFill>
                  <a:srgbClr val="B42318"/>
                </a:solidFill>
                <a:latin typeface="WenQuanYi Micro Hei"/>
              </a:rPr>
              <a:t>※ 数値・法令・制度は出題年度によって変わる場合があります。最新の公式情報も確認してください。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0F9FF"/>
          </a:solidFill>
          <a:ln w="25400">
            <a:solidFill>
              <a:srgbClr val="74AC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369A1"/>
                </a:solidFill>
                <a:latin typeface="WenQuanYi Micro Hei"/>
              </a:rPr>
              <a:t>SECTION 01</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情報通信技術に関する基礎的知識</a:t>
            </a:r>
          </a:p>
        </p:txBody>
      </p:sp>
      <p:sp>
        <p:nvSpPr>
          <p:cNvPr id="6" name="Rounded Rectangle 5"/>
          <p:cNvSpPr/>
          <p:nvPr/>
        </p:nvSpPr>
        <p:spPr>
          <a:xfrm>
            <a:off x="4261104" y="3968496"/>
            <a:ext cx="3657600" cy="749808"/>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11 論点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ハードウェア（構成要素、機能と処理）</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566928" y="1051560"/>
            <a:ext cx="5394960" cy="420624"/>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入力装置</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外部からデータを取り込む / タッチパネル、マイク、カメラ</a:t>
            </a:r>
          </a:p>
        </p:txBody>
      </p:sp>
      <p:sp>
        <p:nvSpPr>
          <p:cNvPr id="11" name="Rounded Rectangle 10"/>
          <p:cNvSpPr/>
          <p:nvPr/>
        </p:nvSpPr>
        <p:spPr>
          <a:xfrm>
            <a:off x="566928" y="279806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記憶装置</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データやプログラムを保存する / 内蔵メモリ、SDカード</a:t>
            </a:r>
          </a:p>
        </p:txBody>
      </p:sp>
      <p:sp>
        <p:nvSpPr>
          <p:cNvPr id="15" name="Rounded Rectangle 14"/>
          <p:cNvSpPr/>
          <p:nvPr/>
        </p:nvSpPr>
        <p:spPr>
          <a:xfrm>
            <a:off x="566928" y="398678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演算装置</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計算・処理を行う / CPU（の一部）</a:t>
            </a:r>
          </a:p>
        </p:txBody>
      </p:sp>
      <p:sp>
        <p:nvSpPr>
          <p:cNvPr id="19" name="Rounded Rectangle 18"/>
          <p:cNvSpPr/>
          <p:nvPr/>
        </p:nvSpPr>
        <p:spPr>
          <a:xfrm>
            <a:off x="6217920" y="1051560"/>
            <a:ext cx="5394960" cy="420624"/>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369A1"/>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制御装置</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各装置に指示を出す / CPU（の一部）</a:t>
            </a:r>
          </a:p>
        </p:txBody>
      </p:sp>
      <p:sp>
        <p:nvSpPr>
          <p:cNvPr id="24" name="Rounded Rectangle 23"/>
          <p:cNvSpPr/>
          <p:nvPr/>
        </p:nvSpPr>
        <p:spPr>
          <a:xfrm>
            <a:off x="6217920" y="279806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出力装置</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処理結果を外部に表示・出力する / 画面、スピーカー</a:t>
            </a:r>
          </a:p>
        </p:txBody>
      </p:sp>
      <p:sp>
        <p:nvSpPr>
          <p:cNvPr id="28" name="Rounded Rectangle 27"/>
          <p:cNvSpPr/>
          <p:nvPr/>
        </p:nvSpPr>
        <p:spPr>
          <a:xfrm>
            <a:off x="6217920" y="398678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RAIDレベル</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仕組み / 特徴</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ノートパソコンで動画編集ソフトを使うと動作が重くなるのは、動画データを一時的にRAM（主記憶）に大量に読み込むためです。RAMを増設すると、同時に多くの作業を快適にこなせるようになります。一方、パソコンの電源…</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主記憶装置は不揮発性で、電源を切ってもデータが保持される」という記述は誤りです（主記憶＝RAMは揮発性）。また、RAIDのレベルごとの最低必要台数・耐えられる故障台数（RAID1は1台、RAID5は1台、R…</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ソフトウェア（OS、ミドルウェア、パッケージ）</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1｜OS（オペレーティングシステム、基本ソフトウェ…　ハードウェアを直接管理し、複数のアプリが動くための土台を提供する（例：Windows、macOS、Andro…</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2｜ミドルウェア　OSとアプリケーションソフトの中間に位置し、特定の機能をアプリに提供する（例：データベース管理システム＝DB…</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3｜アプリケーションソフト（応用ソフトウェア）　利用者が実際に使う目的別のソフト（例：ワープロソフト、会計ソフト、SNSアプリ）。既製品として販売されるパッ…</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4｜ソフトウェア　コンピュータに「何をするか」を指示するプログラム群です。</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5｜役割によって階層があります。　</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スマホで家計簿アプリ（アプリケーションソフト）を使うとき、そのアプリはAndroidやiOSという土台（OS）の上で動いており、データの保存にはOSが提供するファイル管理の仕組みを利用しています。企業のWeb…</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ミドルウェアはOSの一部である」という記述は誤りです。ミドルウェアはOSとは独立してインストールされる、OSとアプリの中間層のソフトウェアです。また、パッケージソフトウェアは自社の業務に合わせて自由にゼロか…</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プログラム設計（アルゴリズム、データ構造）</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566928" y="1051560"/>
            <a:ext cx="5394960" cy="420624"/>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配列</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同じ種類のデータを連続した場所に並べて格納。番号（添字）で直接アクセスできる / 座席番号で管理された座席表</a:t>
            </a:r>
          </a:p>
        </p:txBody>
      </p:sp>
      <p:sp>
        <p:nvSpPr>
          <p:cNvPr id="11" name="Rounded Rectangle 10"/>
          <p:cNvSpPr/>
          <p:nvPr/>
        </p:nvSpPr>
        <p:spPr>
          <a:xfrm>
            <a:off x="566928" y="279806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リスト（連結リスト）</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データ同士を「次はこれ」という矢印（ポインタ）でつなげる。途中への挿入・削除が得意 / 電車の連結車両</a:t>
            </a:r>
          </a:p>
        </p:txBody>
      </p:sp>
      <p:sp>
        <p:nvSpPr>
          <p:cNvPr id="15" name="Rounded Rectangle 14"/>
          <p:cNvSpPr/>
          <p:nvPr/>
        </p:nvSpPr>
        <p:spPr>
          <a:xfrm>
            <a:off x="566928" y="398678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スタック</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後から入れたものを先に取り出す（LIFO：Last In First Out） / 積み重ねたお皿（上から取る）</a:t>
            </a:r>
          </a:p>
        </p:txBody>
      </p:sp>
      <p:sp>
        <p:nvSpPr>
          <p:cNvPr id="19" name="Rounded Rectangle 18"/>
          <p:cNvSpPr/>
          <p:nvPr/>
        </p:nvSpPr>
        <p:spPr>
          <a:xfrm>
            <a:off x="6217920" y="1051560"/>
            <a:ext cx="5394960" cy="420624"/>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369A1"/>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キュー</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先に入れたものを先に取り出す（FIFO：First In First Out） / レジの待ち行列（先着順）</a:t>
            </a:r>
          </a:p>
        </p:txBody>
      </p:sp>
      <p:sp>
        <p:nvSpPr>
          <p:cNvPr id="24" name="Rounded Rectangle 23"/>
          <p:cNvSpPr/>
          <p:nvPr/>
        </p:nvSpPr>
        <p:spPr>
          <a:xfrm>
            <a:off x="6217920" y="279806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木構造</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親子関係で階層的にデータをつなげる / 会社の組織図、パソコンのフォルダ構造</a:t>
            </a:r>
          </a:p>
        </p:txBody>
      </p:sp>
      <p:sp>
        <p:nvSpPr>
          <p:cNvPr id="28" name="Rounded Rectangle 27"/>
          <p:cNvSpPr/>
          <p:nvPr/>
        </p:nvSpPr>
        <p:spPr>
          <a:xfrm>
            <a:off x="6217920" y="398678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アルゴリズム</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とは、問題を解決するための「手順」のことです。料理のレシピのように、「何を、どの順番で行うか」を明確にしたものだと考えてく…</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スマホの連絡先アプリで、五十音順に並んだ連絡先の中から特定の相手を探すとき、上から1件ずつ確認する（線形探索）よりも、あらかじめ並んでいることを利用して真ん中から絞り込む（二分探索）方が速く見つかります。また…</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スタック（LIFO：後入れ先出し）とキュー（FIFO：先入れ先出し）の入出力順序を逆に覚えてしまうミスが非常に多いので注意してください。また「二分探索はデータが並び替えられていなくても使える」という記述は誤り…</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ソフトウェア開発（構造化、オブジェクト指向）</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1｜構造化プログラミング　は、どんなに複雑な処理も、次の3つの基本構造の組み合わせだけで表現できるという考え方です。</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2｜順次構造　上から下へ、書かれた順番に処理を実行する</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3｜選択（分岐）構造　条件によって処理を分ける（もし〇〇なら△△する、そうでなければ□□する）</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4｜反復（繰り返し）構造　条件を満たす間、同じ処理を繰り返す</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5｜モジュール分割　（トップダウンで全体から部分へ設計を進める）も構造化プログラミングの重要な考え方です。</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家計簿アプリを構造化プログラミングで作る場合、「入力を受け取る」「合計を計算する」「表示する」といった処理を順番に実行しつつ（順次）、「支出か収入かによって処理を分ける」（選択）、「入力された件数分だけ繰り返…</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カプセル化とは、複数のクラスをまとめて1つの大きなクラスにすることである」という説明は誤りです。カプセル化は、データと処理を1つのオブジェクトにまとめ、内部の詳細を外部から隠すことを指します。また「継承とは…</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システム構成（クライアントサーバ、仮想化）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1｜クライアントサーバシステム　は、サービスを提供する側（サーバ）と、サービスを利用する側（クライアント）に役割を分けた仕組みです。例えば…</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2｜ピアツーピア（P2P）方式　もあります（ファイル共有ソフトなどで使われる）。</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3｜仮想化技術　は、1台の物理的なコンピュータ（ハードウェア）の上に、複数の独立した仮想的なコンピュータ環境を作り出す技術で…</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4｜デュアルシステム　（片方が故障してももう片方が処理を続ける、信頼性重視）や、普段は主系統だけで処理を行い、故障時に予備系統に切…</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5｜複数のコンピュータをどう組み合わせてシステムを作るか…　</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ネットショップでは、利用者が操作するスマホ・パソコン（クライアント）からの注文を、Webサーバが受け付け、その裏でアプリケーションサーバが在庫確認などの処理を行い、データベースサーバが商品情報や注文履歴を管理…</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P2P方式は、クライアントサーバ方式の一種であり、サーバの機能を複数のコンピュータで分担する仕組みである」という説明は誤りです。P2Pはサーバを介さず対等なコンピュータ同士が直接通信する方式であり、クライア…</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情報処理の形態（集中/分散/並列、リアルタイム/バッチ）</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566928" y="1051560"/>
            <a:ext cx="5394960" cy="420624"/>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処理場所による分類</a:t>
            </a:r>
          </a:p>
        </p:txBody>
      </p:sp>
      <p:sp>
        <p:nvSpPr>
          <p:cNvPr id="10" name="Rounded Rectangle 9"/>
          <p:cNvSpPr/>
          <p:nvPr/>
        </p:nvSpPr>
        <p:spPr>
          <a:xfrm>
            <a:off x="566928" y="279806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79806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集中処理</a:t>
            </a:r>
          </a:p>
        </p:txBody>
      </p:sp>
      <p:sp>
        <p:nvSpPr>
          <p:cNvPr id="13" name="TextBox 12"/>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1台の大型コンピュータ（ホストコンピュータ）に処理を集約する方式。管理はしやすいが、そのコンピュータが故障すると全体が止まる</a:t>
            </a:r>
          </a:p>
        </p:txBody>
      </p:sp>
      <p:sp>
        <p:nvSpPr>
          <p:cNvPr id="14" name="Rounded Rectangle 13"/>
          <p:cNvSpPr/>
          <p:nvPr/>
        </p:nvSpPr>
        <p:spPr>
          <a:xfrm>
            <a:off x="566928" y="398678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98678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分散処理</a:t>
            </a:r>
          </a:p>
        </p:txBody>
      </p:sp>
      <p:sp>
        <p:nvSpPr>
          <p:cNvPr id="17" name="TextBox 16"/>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複数のコンピュータに処理を分散させる方式。柔軟性・拡張性は高いが、管理は複雑になる</a:t>
            </a:r>
          </a:p>
        </p:txBody>
      </p:sp>
      <p:sp>
        <p:nvSpPr>
          <p:cNvPr id="18" name="Rounded Rectangle 17"/>
          <p:cNvSpPr/>
          <p:nvPr/>
        </p:nvSpPr>
        <p:spPr>
          <a:xfrm>
            <a:off x="6217920" y="1051560"/>
            <a:ext cx="5394960" cy="420624"/>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369A1"/>
                </a:solidFill>
                <a:latin typeface="WenQuanYi Micro Hei"/>
              </a:rPr>
              <a:t>視点 B</a:t>
            </a:r>
          </a:p>
        </p:txBody>
      </p:sp>
      <p:sp>
        <p:nvSpPr>
          <p:cNvPr id="19" name="Rounded Rectangle 18"/>
          <p:cNvSpPr/>
          <p:nvPr/>
        </p:nvSpPr>
        <p:spPr>
          <a:xfrm>
            <a:off x="6217920" y="1609344"/>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609344"/>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処理単位による分類</a:t>
            </a:r>
          </a:p>
        </p:txBody>
      </p:sp>
      <p:sp>
        <p:nvSpPr>
          <p:cNvPr id="22" name="Rounded Rectangle 21"/>
          <p:cNvSpPr/>
          <p:nvPr/>
        </p:nvSpPr>
        <p:spPr>
          <a:xfrm>
            <a:off x="6217920" y="279806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279806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並列処理</a:t>
            </a:r>
          </a:p>
        </p:txBody>
      </p:sp>
      <p:sp>
        <p:nvSpPr>
          <p:cNvPr id="25" name="TextBox 24"/>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複数のCPU（コア）で処理を同時並行して実行し、全体の処理時間を短縮する方式</a:t>
            </a:r>
          </a:p>
        </p:txBody>
      </p:sp>
      <p:sp>
        <p:nvSpPr>
          <p:cNvPr id="26" name="Rounded Rectangle 25"/>
          <p:cNvSpPr/>
          <p:nvPr/>
        </p:nvSpPr>
        <p:spPr>
          <a:xfrm>
            <a:off x="6217920" y="398678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98678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処理タイミングによる分類</a:t>
            </a:r>
          </a:p>
        </p:txBody>
      </p:sp>
      <p:sp>
        <p:nvSpPr>
          <p:cNvPr id="29" name="Rounded Rectangle 2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ATMで現金を引き出すと、その場で口座残高が減り、即座に結果（明細書や残高）が返ってきます。これは1件ごとに即時処理するリアルタイム処理の例です。一方、企業の給与計算システムでは、月末に全社員分の勤怠データを…</a:t>
            </a:r>
          </a:p>
        </p:txBody>
      </p:sp>
      <p:sp>
        <p:nvSpPr>
          <p:cNvPr id="30" name="Rounded Rectangle 2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バッチ処理は処理結果がすぐに得られるため、緊急性の高い業務に向いている」という記述は誤りです。バッチ処理はデータをためて一括処理する方式のため、処理結果が得られるまでに時間がかかります。緊急性・即時性が求め…</a:t>
            </a:r>
          </a:p>
        </p:txBody>
      </p:sp>
      <p:sp>
        <p:nvSpPr>
          <p:cNvPr id="31" name="Rectangle 3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3" name="TextBox 3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ヒューマンインタフェース（Webデザイン、マルチメディア）</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566928" y="1051560"/>
            <a:ext cx="5394960" cy="420624"/>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ヒューマンインタフェース</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とは、人間とコンピュータとの間で情報をやり取りする接点（画面や操作方法）のことです。文字だけで操作するCUI（キャラクタユ…</a:t>
            </a:r>
          </a:p>
        </p:txBody>
      </p:sp>
      <p:sp>
        <p:nvSpPr>
          <p:cNvPr id="11" name="Rounded Rectangle 10"/>
          <p:cNvSpPr/>
          <p:nvPr/>
        </p:nvSpPr>
        <p:spPr>
          <a:xfrm>
            <a:off x="566928" y="279806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ユーザビリティ</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目的の操作を、どれだけ効率よく・迷わず・快適に行えるか（使いやすさ）</a:t>
            </a:r>
          </a:p>
        </p:txBody>
      </p:sp>
      <p:sp>
        <p:nvSpPr>
          <p:cNvPr id="15" name="Rounded Rectangle 14"/>
          <p:cNvSpPr/>
          <p:nvPr/>
        </p:nvSpPr>
        <p:spPr>
          <a:xfrm>
            <a:off x="566928" y="398678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アクセシビリティ</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年齢・障がいの有無・利用環境などにかかわらず、誰もが情報や機能に到達し利用できるか（利用しやすさの公平性。例：色覚特性に配…</a:t>
            </a:r>
          </a:p>
        </p:txBody>
      </p:sp>
      <p:sp>
        <p:nvSpPr>
          <p:cNvPr id="19" name="Rounded Rectangle 18"/>
          <p:cNvSpPr/>
          <p:nvPr/>
        </p:nvSpPr>
        <p:spPr>
          <a:xfrm>
            <a:off x="6217920" y="1051560"/>
            <a:ext cx="5394960" cy="420624"/>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0369A1"/>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マルチメディア</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とは、文字・音声・静止画・動画などの複数のメディア（表現形式）を組み合わせて扱う技術です。動画や音声、画像はデータ量が大き…</a:t>
            </a:r>
          </a:p>
        </p:txBody>
      </p:sp>
      <p:sp>
        <p:nvSpPr>
          <p:cNvPr id="24" name="Rounded Rectangle 23"/>
          <p:cNvSpPr/>
          <p:nvPr/>
        </p:nvSpPr>
        <p:spPr>
          <a:xfrm>
            <a:off x="6217920" y="279806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可逆圧縮</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圧縮したデータを完全に元通りに復元できる方式（例：ZIP、PNG、FLAC）。データの欠落は許されない文書や一部の画像形式…</a:t>
            </a:r>
          </a:p>
        </p:txBody>
      </p:sp>
      <p:sp>
        <p:nvSpPr>
          <p:cNvPr id="28" name="Rounded Rectangle 27"/>
          <p:cNvSpPr/>
          <p:nvPr/>
        </p:nvSpPr>
        <p:spPr>
          <a:xfrm>
            <a:off x="6217920" y="3986783"/>
            <a:ext cx="5394960" cy="1078992"/>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非可逆圧縮</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一部の情報を間引いて捨てることで、より高い圧縮率を実現する方式（例：JPEG、MP3、MPEG）。人間の目や耳では気づきに…</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スマホで写真を撮ると、そのファイルは多くの場合JPEG形式（非可逆圧縮）で保存されます。多少画質が劣化しても、ファイルサイズを大きく小さくできるためです。一方、業務システムの帳票データをそのまま正確に保存した…</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JPEGは可逆圧縮形式であり、圧縮後も元の画質を完全に復元できる」という記述は誤りです。JPEGは非可逆圧縮の代表例で、圧縮すると元の画質には戻せません。また、「ユーザビリティが高ければアクセシビリティも自…</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外部情報資源の活用（クラウド、OSS）</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1｜SaaS（Software as a Serv…　アプリケーションソフトそのもの / データの入力・利用のみ / Gmail、会計クラウドサービス</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2｜PaaS（Platform as a Serv…　アプリケーションを開発・実行するための基盤（OS、DB等） / 自社で開発したアプリケーション / 開発プラ…</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3｜IaaS（Infrastructure as…　サーバ・ストレージ・ネットワークなどのインフラのみ / OS、ミドルウェア、アプリケーション全て / 仮想サ…</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4｜クラウドコンピューティング　です。インターネット経由で、サーバやソフトウェアなどの情報資源を必要な分だけ利用できるサービス形態で、自社で…</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5｜OSS（オープンソースソフトウェア）　です。ソースコード（プログラムの設計図に当たる文書）が公開されており、一定のライセンス条件の下で誰でも自由に…</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中小企業が自社でメールサーバを構築・運用する代わりに、クラウド型のメールサービス（SaaS）を月額料金で利用すれば、サーバの保守・セキュリティ対応の手間を大幅に減らせます。自社独自の業務アプリを開発したい場合…</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SaaS・PaaS・IaaSは「利用者がどこからどこまで自分で用意・管理する必要があるか」の範囲で区別します。「SaaSは、利用者が自らアプリケーションを開発してサーバ上で稼働させるサービス形態である」という…</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データベースの種類と構成、DBMS（正規化）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1｜第1正規形（1NF）　各セル（項目）に単一の値のみが入っており、繰り返し項目（同じ属性の値が1行に複数入る構造）がない</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2｜第2正規形（2NF）　第1正規形であり、かつ非キー属性が主キーの一部にのみ依存する状態（部分関数従属）が存在しない（主キーが単一属…</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3｜第3正規形（3NF）　第2正規形であり、かつ非キー属性同士が、別の非キー属性を経由して間接的に決まる関係（推移的関数従属）が存在し…</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4｜データベース　とは、大量のデータを整理して保存し、後から検索・更新しやすくした仕組みです。最も広く使われているのが、データ…</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5｜DBMS（データベース管理システム）　と呼びます。DBMSは主に次の機能を持ちます。</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学校の講座管理表に「開講コード（主キー）」「講座コード」「講座名」「講師コード」「講師名」の列があり、複数の開講コードで同じ講座コード・講座名の組み合わせが繰り返し登場するとします。この場合、「開講コード…</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主キーが単一の属性（複合キーではない）の表は、第1正規形を満たしていれば自動的に第2正規形の条件もクリアします（部分関数従属は、複合キーの場合にのみ発生しうる問題だからです）。したがって「主キーが1つの属性し…</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通信ネットワークの種類と構成、プロトコル</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1｜7 アプリケーション層　具体的な通信サービスの提供 / HTTP、SMTP、FTP</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2｜6 プレゼンテーション層　データの形式（文字コード、圧縮、暗号化）の変換 /</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3｜5 セッション層　通信の開始・終了の管理 /</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4｜4 トランスポート層　通信の信頼性・速度の制御 / TCP、UDP</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5｜3 ネットワーク層　宛先までの経路選択・アドレス指定 / IP</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スマホでWebブラウザにサイトのアドレス（ドメイン名）を入力すると、まずDNSがそのドメイン名に対応するIPアドレスを調べ、そのIPアドレスに向けてHTTPS（暗号化された通信）でページのデータを要求します…</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信頼性よりも速度を重視し再送制御を行わないプロトコル」はUDP（TCPではない）、「IPアドレス等の設定情報を自動的に割り当てるプロトコル」はDHCP（機器の稼働状況監視を行うSNMPではない）、「経路選択…</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システム評価（性能、信頼性、経済性）</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情報通信技術に関する基礎的知識（F-1〜F-11）</a:t>
            </a:r>
          </a:p>
        </p:txBody>
      </p:sp>
      <p:sp>
        <p:nvSpPr>
          <p:cNvPr id="6" name="Rounded Rectangle 5"/>
          <p:cNvSpPr/>
          <p:nvPr/>
        </p:nvSpPr>
        <p:spPr>
          <a:xfrm>
            <a:off x="777240" y="1188720"/>
            <a:ext cx="10634472" cy="1170432"/>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0369A1"/>
                </a:solidFill>
                <a:latin typeface="WenQuanYi Micro Hei"/>
              </a:rPr>
              <a:t>経済性の評価では、導入時の費用だけでなく、運用・保守・廃棄までの全期間にかかる総費用であるTCO（総所有コスト）という考え方が重要です。安価に導入できても、保守費用が高額なシステムはTCO…</a:t>
            </a:r>
          </a:p>
        </p:txBody>
      </p:sp>
      <p:sp>
        <p:nvSpPr>
          <p:cNvPr id="7" name="Rounded Rectangle 6"/>
          <p:cNvSpPr/>
          <p:nvPr/>
        </p:nvSpPr>
        <p:spPr>
          <a:xfrm>
            <a:off x="777240" y="2670048"/>
            <a:ext cx="3401568" cy="201168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フォールトアボイダンス</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部品一つひとつの品質・信頼性を高め、そもそも故障が発生しないようにする</a:t>
            </a:r>
          </a:p>
        </p:txBody>
      </p:sp>
      <p:sp>
        <p:nvSpPr>
          <p:cNvPr id="11" name="Rounded Rectangle 10"/>
          <p:cNvSpPr/>
          <p:nvPr/>
        </p:nvSpPr>
        <p:spPr>
          <a:xfrm>
            <a:off x="4370832" y="2670048"/>
            <a:ext cx="3401568" cy="201168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フォールトトレランス</a:t>
            </a:r>
          </a:p>
        </p:txBody>
      </p:sp>
      <p:sp>
        <p:nvSpPr>
          <p:cNvPr id="14" name="TextBox 13"/>
          <p:cNvSpPr txBox="1"/>
          <p:nvPr/>
        </p:nvSpPr>
        <p:spPr>
          <a:xfrm>
            <a:off x="4572000"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部品を多重化・冗長化し、一部が故障しても全体としては正常に稼働し続けられるようにする</a:t>
            </a:r>
          </a:p>
        </p:txBody>
      </p:sp>
      <p:sp>
        <p:nvSpPr>
          <p:cNvPr id="15" name="Rounded Rectangle 14"/>
          <p:cNvSpPr/>
          <p:nvPr/>
        </p:nvSpPr>
        <p:spPr>
          <a:xfrm>
            <a:off x="7964424" y="2670048"/>
            <a:ext cx="3401568" cy="201168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64424" y="2670048"/>
            <a:ext cx="73152" cy="201168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フェイルセーフ</a:t>
            </a:r>
          </a:p>
        </p:txBody>
      </p:sp>
      <p:sp>
        <p:nvSpPr>
          <p:cNvPr id="18" name="TextBox 17"/>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故障が発生した際に、システムを安全側の状態に導き、被害を最小限に抑える</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具体例｜ある工場の生産管理システムで、MTBFが200時間、MTTRが10時間だとすると、稼働率は200÷(200+10)≒0.952、つまり約95.2％と計算できます。この数値を高めるには、故障間隔を延ばす（MTB…</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フェイルオーバ」（待機系への切り替え）と「フェイルソフト・フォールバック」（機能を縮退させて稼働継続）、「フォールトアボイダンス」（故障を未然に防ぐ）と「フォールトトレランス」（故障しても全体は動き続ける）…</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0F9FF"/>
          </a:solidFill>
          <a:ln w="25400">
            <a:solidFill>
              <a:srgbClr val="74AC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0369A1"/>
                </a:solidFill>
                <a:latin typeface="WenQuanYi Micro Hei"/>
              </a:rPr>
              <a:t>SECTION 02</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経営情報管理</a:t>
            </a:r>
          </a:p>
        </p:txBody>
      </p:sp>
      <p:sp>
        <p:nvSpPr>
          <p:cNvPr id="6" name="Rounded Rectangle 5"/>
          <p:cNvSpPr/>
          <p:nvPr/>
        </p:nvSpPr>
        <p:spPr>
          <a:xfrm>
            <a:off x="4261104" y="3968496"/>
            <a:ext cx="3657600" cy="749808"/>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13 論点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情報システム戦略（経営戦略との連携、システム化計画）</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1｜情報システム戦略　とは、会社の経営戦略（何を目指すか）を実現するために、情報システムをどう位置づけ、どう整備していくかという方…</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2｜全体最適化計画　会社全体として、どの業務にどのようなシステムを配置すべきかという大きな設計図を描く</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3｜個別システム化構想・計画　全体最適化計画をもとに、個別のシステムをいつ、どのように開発するかを具体化する</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4｜開発・導入　</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5｜運用・保守・評価　</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製造業の会社が「多品種少量生産への対応力強化」という経営戦略を掲げたとします。この戦略を実現するために、生産管理システムを刷新して製造ラインの切り替え時間を可視化・短縮する、という情報システム戦略を立てる…</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情報システム戦略は「個別のシステムをどう開発するか」という現場レベルの話（F-16・F-17の情報システム開発の話）とは異なり、より上位の「経営戦略とどう整合させるか」という話である点を区別しましょう。全体最…</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経営革新と情報システム（DX、業務プロセス改善）</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1｜DX（デジタルトランスフォーメーション）　とは、単にITツールを導入して業務を効率化する（デジタル化）にとどまらず、デジタル技術の活用を通じて、業務プ…</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2｜BPR（ビジネスプロセスリエンジニアリング）　と呼びます。既存の業務のやり方を前提とせず、ゼロベースで「本来どうあるべきか」を考え直す点が特徴です。</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3｜RPA（ロボティック・プロセス・オートメーショ…　があります。人手不足が課題の中小企業でも、比較的低コストで導入しやすい業務効率化の手段として普及が進んでいま…</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4｜レガシーシステム　と呼びます。経済産業省の報告書では、レガシーシステムを放置すると2025年以降、多額の経済損失が生じる可能性…</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5｜経済産業省の「DX推進ガイドライン」等でも、この「変革…　</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紙の伝票をExcelに手入力していた業務を、そのままシステム化して「入力する画面」をパソコンに変えただけでは単なるデジタル化（IT化）にとどまります。一方、伝票そのものを電子化し、取引先とのデータ連携・自動集…</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DXとは、単に紙の書類をデータ化すること（デジタイゼーション）を指す」という説明は不十分です。DXは、デジタル化（デジタイゼーション）やデジタル化された個々の業務プロセスの効率化（デジタライゼーション）を土…</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ITガバナンス（内部統制、システム監査）</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Rounded Rectangle 5"/>
          <p:cNvSpPr/>
          <p:nvPr/>
        </p:nvSpPr>
        <p:spPr>
          <a:xfrm>
            <a:off x="566928" y="1444752"/>
            <a:ext cx="2356866" cy="3063240"/>
          </a:xfrm>
          <a:prstGeom prst="roundRect">
            <a:avLst/>
          </a:prstGeom>
          <a:solidFill>
            <a:srgbClr val="F0F9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89329"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2119122"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ITガバナンス</a:t>
            </a:r>
          </a:p>
        </p:txBody>
      </p:sp>
      <p:sp>
        <p:nvSpPr>
          <p:cNvPr id="9" name="TextBox 8"/>
          <p:cNvSpPr txBox="1"/>
          <p:nvPr/>
        </p:nvSpPr>
        <p:spPr>
          <a:xfrm>
            <a:off x="713232"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とは、経営者が主体となって、情報システムへの投資や運用が経営戦略に沿って適切に行わ…</a:t>
            </a:r>
          </a:p>
        </p:txBody>
      </p:sp>
      <p:sp>
        <p:nvSpPr>
          <p:cNvPr id="10" name="Chevron 9"/>
          <p:cNvSpPr/>
          <p:nvPr/>
        </p:nvSpPr>
        <p:spPr>
          <a:xfrm>
            <a:off x="3033522" y="2596896"/>
            <a:ext cx="310896" cy="640080"/>
          </a:xfrm>
          <a:prstGeom prst="chevron">
            <a:avLst/>
          </a:prstGeom>
          <a:solidFill>
            <a:srgbClr val="4A9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54146" y="1444752"/>
            <a:ext cx="2356866" cy="3063240"/>
          </a:xfrm>
          <a:prstGeom prst="roundRect">
            <a:avLst/>
          </a:prstGeom>
          <a:solidFill>
            <a:srgbClr val="FFFF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76547"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3573018" y="1810512"/>
            <a:ext cx="2119122"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内部統制</a:t>
            </a:r>
          </a:p>
        </p:txBody>
      </p:sp>
      <p:sp>
        <p:nvSpPr>
          <p:cNvPr id="14" name="TextBox 13"/>
          <p:cNvSpPr txBox="1"/>
          <p:nvPr/>
        </p:nvSpPr>
        <p:spPr>
          <a:xfrm>
            <a:off x="3600450"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会社が経営目標を達成し、不正やミスを防ぐために自ら構築・運用する社内のルール・仕組…</a:t>
            </a:r>
          </a:p>
        </p:txBody>
      </p:sp>
      <p:sp>
        <p:nvSpPr>
          <p:cNvPr id="15" name="Chevron 14"/>
          <p:cNvSpPr/>
          <p:nvPr/>
        </p:nvSpPr>
        <p:spPr>
          <a:xfrm>
            <a:off x="5920740" y="2596896"/>
            <a:ext cx="310896" cy="640080"/>
          </a:xfrm>
          <a:prstGeom prst="chevron">
            <a:avLst/>
          </a:prstGeom>
          <a:solidFill>
            <a:srgbClr val="4A9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1364" y="1444752"/>
            <a:ext cx="2356866" cy="3063240"/>
          </a:xfrm>
          <a:prstGeom prst="roundRect">
            <a:avLst/>
          </a:prstGeom>
          <a:solidFill>
            <a:srgbClr val="F0F9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63764"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6460236" y="1810512"/>
            <a:ext cx="2119122"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システム監査</a:t>
            </a:r>
          </a:p>
        </p:txBody>
      </p:sp>
      <p:sp>
        <p:nvSpPr>
          <p:cNvPr id="19" name="TextBox 18"/>
          <p:cNvSpPr txBox="1"/>
          <p:nvPr/>
        </p:nvSpPr>
        <p:spPr>
          <a:xfrm>
            <a:off x="6487668"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情報システムが適切に管理・運用されているかを、開発や運用を行う部門から独立した第三…</a:t>
            </a:r>
          </a:p>
        </p:txBody>
      </p:sp>
      <p:sp>
        <p:nvSpPr>
          <p:cNvPr id="20" name="Chevron 19"/>
          <p:cNvSpPr/>
          <p:nvPr/>
        </p:nvSpPr>
        <p:spPr>
          <a:xfrm>
            <a:off x="8807957" y="2596896"/>
            <a:ext cx="310896" cy="640080"/>
          </a:xfrm>
          <a:prstGeom prst="chevron">
            <a:avLst/>
          </a:prstGeom>
          <a:solidFill>
            <a:srgbClr val="4A9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28582" y="1444752"/>
            <a:ext cx="2356866" cy="3063240"/>
          </a:xfrm>
          <a:prstGeom prst="roundRect">
            <a:avLst/>
          </a:prstGeom>
          <a:solidFill>
            <a:srgbClr val="FFFF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50983"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9347454" y="1810512"/>
            <a:ext cx="2119122"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関連する重要な2つの概念があり…</a:t>
            </a:r>
          </a:p>
        </p:txBody>
      </p:sp>
      <p:sp>
        <p:nvSpPr>
          <p:cNvPr id="24" name="TextBox 23"/>
          <p:cNvSpPr txBox="1"/>
          <p:nvPr/>
        </p:nvSpPr>
        <p:spPr>
          <a:xfrm>
            <a:off x="9374886"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社内で、システムの利用権限を「申請→上長の承認→システム管理者が付与」という手順にしているのは内部統制（統制活動）の一例です。この統制の仕組みが実際に機能しているかどうかを、開発・運用を行った部門とは別の立場…</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内部統制とシステム監査を混同しないようにしましょう。内部統制は「経営者自身が構築・運用する社内の仕組み」であるのに対し、システム監査は「独立した第三者の立場から、その仕組みが適切に機能しているかを検証・評価す…</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情報システムの適用領域（SCM、CRM）</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Oval 5"/>
          <p:cNvSpPr/>
          <p:nvPr/>
        </p:nvSpPr>
        <p:spPr>
          <a:xfrm>
            <a:off x="4709160" y="1993392"/>
            <a:ext cx="2788920" cy="150876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600" b="1">
                <a:solidFill>
                  <a:srgbClr val="FFFFFF"/>
                </a:solidFill>
                <a:latin typeface="WenQuanYi Micro Hei"/>
              </a:rPr>
              <a:t>情報システムの適用領域</a:t>
            </a:r>
          </a:p>
        </p:txBody>
      </p:sp>
      <p:cxnSp>
        <p:nvCxnSpPr>
          <p:cNvPr id="7" name="Connector 6"/>
          <p:cNvCxnSpPr/>
          <p:nvPr/>
        </p:nvCxnSpPr>
        <p:spPr>
          <a:xfrm flipH="1" flipV="1">
            <a:off x="1920240" y="1508760"/>
            <a:ext cx="4178808" cy="123444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0515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0515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1430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ERP（統合基幹業務システム）</a:t>
            </a:r>
          </a:p>
        </p:txBody>
      </p:sp>
      <p:sp>
        <p:nvSpPr>
          <p:cNvPr id="11" name="TextBox 10"/>
          <p:cNvSpPr txBox="1"/>
          <p:nvPr/>
        </p:nvSpPr>
        <p:spPr>
          <a:xfrm>
            <a:off x="749808"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会計、人事、生産、販売など、会社の基幹業務（コアとなる業務）のデータを一元的に管理・連携させるシステム。部門ごとにバラバラ…</a:t>
            </a:r>
          </a:p>
        </p:txBody>
      </p:sp>
      <p:cxnSp>
        <p:nvCxnSpPr>
          <p:cNvPr id="12" name="Connector 11"/>
          <p:cNvCxnSpPr/>
          <p:nvPr/>
        </p:nvCxnSpPr>
        <p:spPr>
          <a:xfrm flipV="1">
            <a:off x="6099048" y="1508760"/>
            <a:ext cx="4160520" cy="123444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87968" y="10515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87968" y="10515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1430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SCM（サプライチェーンマネジメント）</a:t>
            </a:r>
          </a:p>
        </p:txBody>
      </p:sp>
      <p:sp>
        <p:nvSpPr>
          <p:cNvPr id="16" name="TextBox 15"/>
          <p:cNvSpPr txBox="1"/>
          <p:nvPr/>
        </p:nvSpPr>
        <p:spPr>
          <a:xfrm>
            <a:off x="9089136"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原材料の調達から、生産、物流、販売に至る一連の供給の流れ（サプライチェーン）を、企業の垣根を越えて一気通貫で最適化するマネ…</a:t>
            </a:r>
          </a:p>
        </p:txBody>
      </p:sp>
      <p:cxnSp>
        <p:nvCxnSpPr>
          <p:cNvPr id="17" name="Connector 16"/>
          <p:cNvCxnSpPr/>
          <p:nvPr/>
        </p:nvCxnSpPr>
        <p:spPr>
          <a:xfrm flipH="1">
            <a:off x="1920240" y="2743200"/>
            <a:ext cx="4178808" cy="128016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35661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576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CRM（顧客関係管理）</a:t>
            </a:r>
          </a:p>
        </p:txBody>
      </p:sp>
      <p:sp>
        <p:nvSpPr>
          <p:cNvPr id="21" name="TextBox 20"/>
          <p:cNvSpPr txBox="1"/>
          <p:nvPr/>
        </p:nvSpPr>
        <p:spPr>
          <a:xfrm>
            <a:off x="749808"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顧客の属性・購買履歴などの情報を一元管理し、顧客一人ひとりとの関係を強化・維持していくためのマネジメント手法・システム</a:t>
            </a:r>
          </a:p>
        </p:txBody>
      </p:sp>
      <p:cxnSp>
        <p:nvCxnSpPr>
          <p:cNvPr id="22" name="Connector 21"/>
          <p:cNvCxnSpPr/>
          <p:nvPr/>
        </p:nvCxnSpPr>
        <p:spPr>
          <a:xfrm>
            <a:off x="6099048" y="2743200"/>
            <a:ext cx="4160520" cy="128016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87968" y="35661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35661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36576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SFA（営業支援システム）</a:t>
            </a:r>
          </a:p>
        </p:txBody>
      </p:sp>
      <p:sp>
        <p:nvSpPr>
          <p:cNvPr id="26" name="TextBox 25"/>
          <p:cNvSpPr txBox="1"/>
          <p:nvPr/>
        </p:nvSpPr>
        <p:spPr>
          <a:xfrm>
            <a:off x="9089136"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営業担当者の商談状況や案件の進捗などを可視化・管理し、営業活動を効率化・標準化するシステム</a:t>
            </a:r>
          </a:p>
        </p:txBody>
      </p:sp>
      <p:cxnSp>
        <p:nvCxnSpPr>
          <p:cNvPr id="27" name="Connector 26"/>
          <p:cNvCxnSpPr/>
          <p:nvPr/>
        </p:nvCxnSpPr>
        <p:spPr>
          <a:xfrm flipH="1">
            <a:off x="4160520" y="2743200"/>
            <a:ext cx="1938528" cy="1810512"/>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88920" y="4096512"/>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4096512"/>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90088" y="4187952"/>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POSシステム（販売時点情報管理）</a:t>
            </a:r>
          </a:p>
        </p:txBody>
      </p:sp>
      <p:sp>
        <p:nvSpPr>
          <p:cNvPr id="31" name="TextBox 30"/>
          <p:cNvSpPr txBox="1"/>
          <p:nvPr/>
        </p:nvSpPr>
        <p:spPr>
          <a:xfrm>
            <a:off x="2990088" y="4517136"/>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商品が販売された時点で、いつ、何が、いくつ売れたかという情報をリアルタイムに記録・集計する仕組み。小売店のレジで広く使われ…</a:t>
            </a:r>
          </a:p>
        </p:txBody>
      </p:sp>
      <p:cxnSp>
        <p:nvCxnSpPr>
          <p:cNvPr id="32" name="Connector 31"/>
          <p:cNvCxnSpPr/>
          <p:nvPr/>
        </p:nvCxnSpPr>
        <p:spPr>
          <a:xfrm>
            <a:off x="6099048" y="2743200"/>
            <a:ext cx="1901952" cy="1810512"/>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629400" y="4096512"/>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29400" y="4096512"/>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0568" y="4187952"/>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経営のさまざまな場面で活用される代表的な情報シス…</a:t>
            </a:r>
          </a:p>
        </p:txBody>
      </p:sp>
      <p:sp>
        <p:nvSpPr>
          <p:cNvPr id="36" name="Rounded Rectangle 3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コンビニのレジでバーコードを読み取ると、その商品の販売実績がPOSシステムに記録され、発注担当者はその販売データを見て翌日の発注量を決めます。この販売データが、メーカー・卸・小売の間で共有され、生産計画や配送…</a:t>
            </a:r>
          </a:p>
        </p:txBody>
      </p:sp>
      <p:sp>
        <p:nvSpPr>
          <p:cNvPr id="37" name="Rounded Rectangle 3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SCMは「供給側（調達・生産・物流）の最適化」、CRMは「顧客側（販売後の関係維持）の管理」というように、対象とする範囲・向いている方向が異なる点を区別しましょう。「SCMとCRMは同じ概念で、呼び方が違うだ…</a:t>
            </a:r>
          </a:p>
        </p:txBody>
      </p:sp>
      <p:sp>
        <p:nvSpPr>
          <p:cNvPr id="38" name="Rectangle 3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40" name="TextBox 3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情報システム開発（ウォーターフォール型）</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Rounded Rectangle 5"/>
          <p:cNvSpPr/>
          <p:nvPr/>
        </p:nvSpPr>
        <p:spPr>
          <a:xfrm>
            <a:off x="566928" y="1444752"/>
            <a:ext cx="1779422" cy="3063240"/>
          </a:xfrm>
          <a:prstGeom prst="roundRect">
            <a:avLst/>
          </a:prstGeom>
          <a:solidFill>
            <a:srgbClr val="F0F9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ウォーターフォール型開発</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は、システム開発の工程を上流から下流へ、滝が流れ落ちるように一方向に順番に進めてい…</a:t>
            </a:r>
          </a:p>
        </p:txBody>
      </p:sp>
      <p:sp>
        <p:nvSpPr>
          <p:cNvPr id="10" name="Chevron 9"/>
          <p:cNvSpPr/>
          <p:nvPr/>
        </p:nvSpPr>
        <p:spPr>
          <a:xfrm>
            <a:off x="2456078" y="2596896"/>
            <a:ext cx="310896" cy="640080"/>
          </a:xfrm>
          <a:prstGeom prst="chevron">
            <a:avLst/>
          </a:prstGeom>
          <a:solidFill>
            <a:srgbClr val="4A9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要件定義</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利用者が何を実現したいか（システムに求める機能・要件）を明確にする</a:t>
            </a:r>
          </a:p>
        </p:txBody>
      </p:sp>
      <p:sp>
        <p:nvSpPr>
          <p:cNvPr id="15" name="Chevron 14"/>
          <p:cNvSpPr/>
          <p:nvPr/>
        </p:nvSpPr>
        <p:spPr>
          <a:xfrm>
            <a:off x="4765852" y="2596896"/>
            <a:ext cx="310896" cy="640080"/>
          </a:xfrm>
          <a:prstGeom prst="chevron">
            <a:avLst/>
          </a:prstGeom>
          <a:solidFill>
            <a:srgbClr val="4A9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0F9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外部設計（概要設計）</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利用者から見える部分（画面、帳票など）の仕様を設計する</a:t>
            </a:r>
          </a:p>
        </p:txBody>
      </p:sp>
      <p:sp>
        <p:nvSpPr>
          <p:cNvPr id="20" name="Chevron 19"/>
          <p:cNvSpPr/>
          <p:nvPr/>
        </p:nvSpPr>
        <p:spPr>
          <a:xfrm>
            <a:off x="7075627" y="2596896"/>
            <a:ext cx="310896" cy="640080"/>
          </a:xfrm>
          <a:prstGeom prst="chevron">
            <a:avLst/>
          </a:prstGeom>
          <a:solidFill>
            <a:srgbClr val="4A9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内部設計（詳細設計）</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プログラムの内部構造など、開発者側の視点での詳細な設計を行う</a:t>
            </a:r>
          </a:p>
        </p:txBody>
      </p:sp>
      <p:sp>
        <p:nvSpPr>
          <p:cNvPr id="25" name="Chevron 24"/>
          <p:cNvSpPr/>
          <p:nvPr/>
        </p:nvSpPr>
        <p:spPr>
          <a:xfrm>
            <a:off x="9385401" y="2596896"/>
            <a:ext cx="310896" cy="640080"/>
          </a:xfrm>
          <a:prstGeom prst="chevron">
            <a:avLst/>
          </a:prstGeom>
          <a:solidFill>
            <a:srgbClr val="4A9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0F9FF"/>
          </a:solidFill>
          <a:ln w="1778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0369A1"/>
                </a:solidFill>
                <a:latin typeface="WenQuanYi Micro Hei"/>
              </a:rPr>
              <a:t>プログラミング（コーディング）</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設計書に基づき実際にプログラムを作成する</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銀行の勘定系システムのように、要件が明確で、後から仕様が大きく変わることが想定しにくく、かつ高い品質・確実な検証が求められるシステムの開発では、工程を段階的に確実に進められるウォーターフォール型が採用されやす…</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ウォーターフォール型は、要件変更に柔軟に対応しやすい開発手法である」という記述は誤りです。むしろウォーターフォール型は、前の工程に戻る手戻りのコストが大きいため、開発途中の要件変更には弱い手法です（変化への…</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情報システム開発（アジャイル型、インクリメンタル型）</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Oval 5"/>
          <p:cNvSpPr/>
          <p:nvPr/>
        </p:nvSpPr>
        <p:spPr>
          <a:xfrm>
            <a:off x="4892040" y="2304288"/>
            <a:ext cx="2395728" cy="141732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アジャイル型開発</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は、要件のすべてを最初に確定させるのではなく、小さな機能単位（イテレーション、またはスプリント）で「計画→設計→実装→テス…</a:t>
            </a:r>
          </a:p>
        </p:txBody>
      </p:sp>
      <p:cxnSp>
        <p:nvCxnSpPr>
          <p:cNvPr id="11" name="Connector 10"/>
          <p:cNvCxnSpPr/>
          <p:nvPr/>
        </p:nvCxnSpPr>
        <p:spPr>
          <a:xfrm>
            <a:off x="5980176" y="1563624"/>
            <a:ext cx="3447288" cy="123444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スクラム</a:t>
            </a:r>
          </a:p>
        </p:txBody>
      </p:sp>
      <p:sp>
        <p:nvSpPr>
          <p:cNvPr id="15" name="TextBox 14"/>
          <p:cNvSpPr txBox="1"/>
          <p:nvPr/>
        </p:nvSpPr>
        <p:spPr>
          <a:xfrm>
            <a:off x="8174736"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です。主な役割・イベントは次の通りです。</a:t>
            </a:r>
          </a:p>
        </p:txBody>
      </p:sp>
      <p:cxnSp>
        <p:nvCxnSpPr>
          <p:cNvPr id="16" name="Connector 15"/>
          <p:cNvCxnSpPr/>
          <p:nvPr/>
        </p:nvCxnSpPr>
        <p:spPr>
          <a:xfrm flipH="1">
            <a:off x="5980176" y="2798064"/>
            <a:ext cx="3447288" cy="150876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26280" y="379476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379476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プロダクトオーナー</a:t>
            </a:r>
          </a:p>
        </p:txBody>
      </p:sp>
      <p:sp>
        <p:nvSpPr>
          <p:cNvPr id="20" name="TextBox 19"/>
          <p:cNvSpPr txBox="1"/>
          <p:nvPr/>
        </p:nvSpPr>
        <p:spPr>
          <a:xfrm>
            <a:off x="4727448" y="42153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開発する機能の優先順位を決める責任者</a:t>
            </a:r>
          </a:p>
        </p:txBody>
      </p:sp>
      <p:cxnSp>
        <p:nvCxnSpPr>
          <p:cNvPr id="21" name="Connector 20"/>
          <p:cNvCxnSpPr/>
          <p:nvPr/>
        </p:nvCxnSpPr>
        <p:spPr>
          <a:xfrm flipH="1" flipV="1">
            <a:off x="2532888" y="2798064"/>
            <a:ext cx="3447288" cy="150876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78992" y="228600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78992" y="228600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スクラムマスター</a:t>
            </a:r>
          </a:p>
        </p:txBody>
      </p:sp>
      <p:sp>
        <p:nvSpPr>
          <p:cNvPr id="25" name="TextBox 24"/>
          <p:cNvSpPr txBox="1"/>
          <p:nvPr/>
        </p:nvSpPr>
        <p:spPr>
          <a:xfrm>
            <a:off x="1280160"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チームがスクラムの進め方どおりに機能するよう支援する役割</a:t>
            </a:r>
          </a:p>
        </p:txBody>
      </p:sp>
      <p:cxnSp>
        <p:nvCxnSpPr>
          <p:cNvPr id="26" name="Connector 25"/>
          <p:cNvCxnSpPr/>
          <p:nvPr/>
        </p:nvCxnSpPr>
        <p:spPr>
          <a:xfrm flipV="1">
            <a:off x="2532888" y="1563624"/>
            <a:ext cx="3447288" cy="123444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しいスマホアプリを開発する際、最初から全機能を作り込むのではなく、まず「ログイン機能」だけを2週間で作って利用者に試してもらい、フィードバックを踏まえて次の2週間で「投稿機能」を追加する、というように小さい…</a:t>
            </a:r>
          </a:p>
        </p:txBody>
      </p:sp>
      <p:sp>
        <p:nvSpPr>
          <p:cNvPr id="28" name="Rounded Rectangle 2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デイリースクラムは、スプリントの成果をステークホルダーに提示しフィードバックを得る場である」という説明は誤りで、これはスプリントレビューの説明です。「ローコード開発とは、システムの全体像をモデル化し優先度を…</a:t>
            </a:r>
          </a:p>
        </p:txBody>
      </p:sp>
      <p:sp>
        <p:nvSpPr>
          <p:cNvPr id="29" name="Rectangle 2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1" name="TextBox 3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組織と人材（プロジェクトマネジメント、サービスマネジメント）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Oval 5"/>
          <p:cNvSpPr/>
          <p:nvPr/>
        </p:nvSpPr>
        <p:spPr>
          <a:xfrm>
            <a:off x="4892040" y="2304288"/>
            <a:ext cx="2395728" cy="141732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プロジェクトマネジメント</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です。代表的な標準がPMBOK（Project Management Body of Knowledge）で、プロジェクト…</a:t>
            </a:r>
          </a:p>
        </p:txBody>
      </p:sp>
      <p:cxnSp>
        <p:nvCxnSpPr>
          <p:cNvPr id="11" name="Connector 10"/>
          <p:cNvCxnSpPr/>
          <p:nvPr/>
        </p:nvCxnSpPr>
        <p:spPr>
          <a:xfrm>
            <a:off x="5980176" y="1563624"/>
            <a:ext cx="3447288" cy="123444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WBS（Work Breakdown Stru…</a:t>
            </a:r>
          </a:p>
        </p:txBody>
      </p:sp>
      <p:sp>
        <p:nvSpPr>
          <p:cNvPr id="15" name="TextBox 14"/>
          <p:cNvSpPr txBox="1"/>
          <p:nvPr/>
        </p:nvSpPr>
        <p:spPr>
          <a:xfrm>
            <a:off x="8174736"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です。プロジェクト全体の成果物を、階層的に細かい作業に分解していく手法で、次の用語が重要です。</a:t>
            </a:r>
          </a:p>
        </p:txBody>
      </p:sp>
      <p:cxnSp>
        <p:nvCxnSpPr>
          <p:cNvPr id="16" name="Connector 15"/>
          <p:cNvCxnSpPr/>
          <p:nvPr/>
        </p:nvCxnSpPr>
        <p:spPr>
          <a:xfrm flipH="1">
            <a:off x="5980176" y="2798064"/>
            <a:ext cx="3447288" cy="150876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26280" y="379476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379476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ワークパッケージ</a:t>
            </a:r>
          </a:p>
        </p:txBody>
      </p:sp>
      <p:sp>
        <p:nvSpPr>
          <p:cNvPr id="20" name="TextBox 19"/>
          <p:cNvSpPr txBox="1"/>
          <p:nvPr/>
        </p:nvSpPr>
        <p:spPr>
          <a:xfrm>
            <a:off x="4727448" y="42153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WBSで分解した最下位レベルの作業単位。進捗・コストを管理する際の最小単位となる</a:t>
            </a:r>
          </a:p>
        </p:txBody>
      </p:sp>
      <p:cxnSp>
        <p:nvCxnSpPr>
          <p:cNvPr id="21" name="Connector 20"/>
          <p:cNvCxnSpPr/>
          <p:nvPr/>
        </p:nvCxnSpPr>
        <p:spPr>
          <a:xfrm flipH="1" flipV="1">
            <a:off x="2532888" y="2798064"/>
            <a:ext cx="3447288" cy="150876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78992" y="228600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78992" y="228600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100％ルール</a:t>
            </a:r>
          </a:p>
        </p:txBody>
      </p:sp>
      <p:sp>
        <p:nvSpPr>
          <p:cNvPr id="25" name="TextBox 24"/>
          <p:cNvSpPr txBox="1"/>
          <p:nvPr/>
        </p:nvSpPr>
        <p:spPr>
          <a:xfrm>
            <a:off x="1280160"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WBSの各階層において、上位の作業（成果物）の範囲を、抜け漏れなく・重複なく下位の複数の作業に分解しなければならないという…</a:t>
            </a:r>
          </a:p>
        </p:txBody>
      </p:sp>
      <p:cxnSp>
        <p:nvCxnSpPr>
          <p:cNvPr id="26" name="Connector 25"/>
          <p:cNvCxnSpPr/>
          <p:nvPr/>
        </p:nvCxnSpPr>
        <p:spPr>
          <a:xfrm flipV="1">
            <a:off x="2532888" y="1563624"/>
            <a:ext cx="3447288" cy="123444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システム開発プロジェクトのWBSで、「要件定義」という上位の作業を、「業務ヒアリング」「要件一覧の作成」「レビュー」という3つの下位作業に、抜け漏れ・重複なく分解するのが100％ルールの適用例です。また、シ…</a:t>
            </a:r>
          </a:p>
        </p:txBody>
      </p:sp>
      <p:sp>
        <p:nvSpPr>
          <p:cNvPr id="28" name="Rounded Rectangle 2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WBS辞書とは、プロジェクト全体の範囲や成果物、制約条件を記述した文書である」という説明は誤りで、これはスコープ記述書の説明です。「イテレーションとは、早期に完了すべき作業を詳細に計画し将来の作業は概略にと…</a:t>
            </a:r>
          </a:p>
        </p:txBody>
      </p:sp>
      <p:sp>
        <p:nvSpPr>
          <p:cNvPr id="29" name="Rectangle 2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1" name="TextBox 3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F-19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情報セキュリティの概念（機密性・完全性・可用性）</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Rounded Rectangle 5"/>
          <p:cNvSpPr/>
          <p:nvPr/>
        </p:nvSpPr>
        <p:spPr>
          <a:xfrm>
            <a:off x="502920" y="1024128"/>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CIA</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）は次の通りです。</a:t>
            </a:r>
          </a:p>
        </p:txBody>
      </p:sp>
      <p:sp>
        <p:nvSpPr>
          <p:cNvPr id="10" name="Rounded Rectangle 9"/>
          <p:cNvSpPr/>
          <p:nvPr/>
        </p:nvSpPr>
        <p:spPr>
          <a:xfrm>
            <a:off x="4303776" y="1024128"/>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機密性（Confidentiality）</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許可された人だけが情報にアクセスできる状態を保つこと（例：アクセス権限の設定、パスワードによる保護）</a:t>
            </a:r>
          </a:p>
        </p:txBody>
      </p:sp>
      <p:sp>
        <p:nvSpPr>
          <p:cNvPr id="14" name="Rounded Rectangle 13"/>
          <p:cNvSpPr/>
          <p:nvPr/>
        </p:nvSpPr>
        <p:spPr>
          <a:xfrm>
            <a:off x="8104632" y="1024128"/>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完全性（Integrity）</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情報が正確であり、不正に改ざん・破壊されていない状態を保つこと（例：データの改ざん検知の仕組み）</a:t>
            </a:r>
          </a:p>
        </p:txBody>
      </p:sp>
      <p:sp>
        <p:nvSpPr>
          <p:cNvPr id="18" name="Rounded Rectangle 17"/>
          <p:cNvSpPr/>
          <p:nvPr/>
        </p:nvSpPr>
        <p:spPr>
          <a:xfrm>
            <a:off x="502920" y="3145536"/>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可用性（Availability）</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許可された人が、必要なときに情報やシステムを使える状態を保つこと（例：システムの二重化、バックアップ）</a:t>
            </a:r>
          </a:p>
        </p:txBody>
      </p:sp>
      <p:sp>
        <p:nvSpPr>
          <p:cNvPr id="22" name="Rounded Rectangle 21"/>
          <p:cNvSpPr/>
          <p:nvPr/>
        </p:nvSpPr>
        <p:spPr>
          <a:xfrm>
            <a:off x="4303776" y="3145536"/>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真正性</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、後になって「自分はやっていない」と否認されないように証拠を残す否認防止、誰が何をしたかを後から追跡できる責任追跡性、シス…</a:t>
            </a:r>
          </a:p>
        </p:txBody>
      </p:sp>
      <p:sp>
        <p:nvSpPr>
          <p:cNvPr id="26" name="Rounded Rectangle 25"/>
          <p:cNvSpPr/>
          <p:nvPr/>
        </p:nvSpPr>
        <p:spPr>
          <a:xfrm>
            <a:off x="8104632" y="3145536"/>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リスクマネジメント</a:t>
            </a:r>
          </a:p>
        </p:txBody>
      </p:sp>
      <p:sp>
        <p:nvSpPr>
          <p:cNvPr id="29" name="TextBox 28"/>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です。リスクへの対応方針には、リスクの原因となる活動自体をやめるリスク回避、対策を講じて発生確率や被害を小さくするリスク低…</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顧客情報を保管するデータベースに、担当者しかアクセスできないよう権限を設定するのは「機密性」の確保です。そのデータが第三者に不正に書き換えられていないことを確認する仕組みは「完全性」の確保です。そして、災害時…</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ある対策が「機密性・完全性・可用性のどれに当たるか」を問う問題では、「情報が漏れないようにする」対策は機密性、「情報が正しく保たれるようにする」対策は完全性、「必要なときに使えるようにする」対策は可用性、と整…</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F-20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情報セキュリティ管理・対策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Oval 5"/>
          <p:cNvSpPr/>
          <p:nvPr/>
        </p:nvSpPr>
        <p:spPr>
          <a:xfrm>
            <a:off x="4709160" y="1993392"/>
            <a:ext cx="2788920" cy="150876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600" b="1">
                <a:solidFill>
                  <a:srgbClr val="FFFFFF"/>
                </a:solidFill>
                <a:latin typeface="WenQuanYi Micro Hei"/>
              </a:rPr>
              <a:t>情報セキュリティ管理・対策</a:t>
            </a:r>
          </a:p>
        </p:txBody>
      </p:sp>
      <p:cxnSp>
        <p:nvCxnSpPr>
          <p:cNvPr id="7" name="Connector 6"/>
          <p:cNvCxnSpPr/>
          <p:nvPr/>
        </p:nvCxnSpPr>
        <p:spPr>
          <a:xfrm flipH="1" flipV="1">
            <a:off x="1920240" y="1508760"/>
            <a:ext cx="4178808" cy="123444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0515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0515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1430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ファイアウォール</a:t>
            </a:r>
          </a:p>
        </p:txBody>
      </p:sp>
      <p:sp>
        <p:nvSpPr>
          <p:cNvPr id="11" name="TextBox 10"/>
          <p:cNvSpPr txBox="1"/>
          <p:nvPr/>
        </p:nvSpPr>
        <p:spPr>
          <a:xfrm>
            <a:off x="749808"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外部ネットワークと内部ネットワークの境界に設置し、あらかじめ決めたルールに基づいて通信を許可・遮断する仕組み</a:t>
            </a:r>
          </a:p>
        </p:txBody>
      </p:sp>
      <p:cxnSp>
        <p:nvCxnSpPr>
          <p:cNvPr id="12" name="Connector 11"/>
          <p:cNvCxnSpPr/>
          <p:nvPr/>
        </p:nvCxnSpPr>
        <p:spPr>
          <a:xfrm flipV="1">
            <a:off x="6099048" y="1508760"/>
            <a:ext cx="4160520" cy="123444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87968" y="10515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87968" y="10515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1430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IDS（不正侵入検知システム）／IPS（不正侵…</a:t>
            </a:r>
          </a:p>
        </p:txBody>
      </p:sp>
      <p:sp>
        <p:nvSpPr>
          <p:cNvPr id="16" name="TextBox 15"/>
          <p:cNvSpPr txBox="1"/>
          <p:nvPr/>
        </p:nvSpPr>
        <p:spPr>
          <a:xfrm>
            <a:off x="9089136"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ネットワーク上の不審な通信を検知し（IDS）、あるいは検知したうえで自動的に遮断する（IPS）仕組み</a:t>
            </a:r>
          </a:p>
        </p:txBody>
      </p:sp>
      <p:cxnSp>
        <p:nvCxnSpPr>
          <p:cNvPr id="17" name="Connector 16"/>
          <p:cNvCxnSpPr/>
          <p:nvPr/>
        </p:nvCxnSpPr>
        <p:spPr>
          <a:xfrm flipH="1">
            <a:off x="1920240" y="2743200"/>
            <a:ext cx="4178808" cy="128016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35661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576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EPP（Endpoint Protection…</a:t>
            </a:r>
          </a:p>
        </p:txBody>
      </p:sp>
      <p:sp>
        <p:nvSpPr>
          <p:cNvPr id="21" name="TextBox 20"/>
          <p:cNvSpPr txBox="1"/>
          <p:nvPr/>
        </p:nvSpPr>
        <p:spPr>
          <a:xfrm>
            <a:off x="749808"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PCやサーバなどの端末（エンドポイント）へのマルウェア感染を未然に防ぐ、従来型のウイルス対策ソフトの発展形（侵入の事前防止…</a:t>
            </a:r>
          </a:p>
        </p:txBody>
      </p:sp>
      <p:cxnSp>
        <p:nvCxnSpPr>
          <p:cNvPr id="22" name="Connector 21"/>
          <p:cNvCxnSpPr/>
          <p:nvPr/>
        </p:nvCxnSpPr>
        <p:spPr>
          <a:xfrm>
            <a:off x="6099048" y="2743200"/>
            <a:ext cx="4160520" cy="128016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87968" y="35661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35661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36576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EDR（Endpoint Detection…</a:t>
            </a:r>
          </a:p>
        </p:txBody>
      </p:sp>
      <p:sp>
        <p:nvSpPr>
          <p:cNvPr id="26" name="TextBox 25"/>
          <p:cNvSpPr txBox="1"/>
          <p:nvPr/>
        </p:nvSpPr>
        <p:spPr>
          <a:xfrm>
            <a:off x="9089136"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端末に侵入・感染してしまった後の不審な挙動を検知し、調査・隔離・復旧を支援する仕組み（侵入後の検知・対応が主目的）</a:t>
            </a:r>
          </a:p>
        </p:txBody>
      </p:sp>
      <p:cxnSp>
        <p:nvCxnSpPr>
          <p:cNvPr id="27" name="Connector 26"/>
          <p:cNvCxnSpPr/>
          <p:nvPr/>
        </p:nvCxnSpPr>
        <p:spPr>
          <a:xfrm flipH="1">
            <a:off x="4160520" y="2743200"/>
            <a:ext cx="1938528" cy="1810512"/>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88920" y="4096512"/>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4096512"/>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90088" y="4187952"/>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暗号化</a:t>
            </a:r>
          </a:p>
        </p:txBody>
      </p:sp>
      <p:sp>
        <p:nvSpPr>
          <p:cNvPr id="31" name="TextBox 30"/>
          <p:cNvSpPr txBox="1"/>
          <p:nvPr/>
        </p:nvSpPr>
        <p:spPr>
          <a:xfrm>
            <a:off x="2990088" y="4517136"/>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データを第三者に読み取られないよう変換する技術。送信者と受信者が同じ鍵を使う共通鍵暗号方式（処理は高速だが鍵の受け渡し方法…</a:t>
            </a:r>
          </a:p>
        </p:txBody>
      </p:sp>
      <p:cxnSp>
        <p:nvCxnSpPr>
          <p:cNvPr id="32" name="Connector 31"/>
          <p:cNvCxnSpPr/>
          <p:nvPr/>
        </p:nvCxnSpPr>
        <p:spPr>
          <a:xfrm>
            <a:off x="6099048" y="2743200"/>
            <a:ext cx="1901952" cy="1810512"/>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629400" y="4096512"/>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29400" y="4096512"/>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0568" y="4187952"/>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電子署名</a:t>
            </a:r>
          </a:p>
        </p:txBody>
      </p:sp>
      <p:sp>
        <p:nvSpPr>
          <p:cNvPr id="36" name="TextBox 35"/>
          <p:cNvSpPr txBox="1"/>
          <p:nvPr/>
        </p:nvSpPr>
        <p:spPr>
          <a:xfrm>
            <a:off x="6830568" y="4517136"/>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公開鍵暗号技術を応用し、データの作成者が本人であること（真正性）とデータが改ざんされていないこと（完全性）を証明する仕組み</a:t>
            </a:r>
          </a:p>
        </p:txBody>
      </p:sp>
      <p:sp>
        <p:nvSpPr>
          <p:cNvPr id="37" name="Rounded Rectangle 3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中小企業でパソコンがランサムウェアに感染した場合、まず被害拡大を防ぐためLANケーブルを抜くなどしてそのパソコンをネットワークから切り離し、その後にシステム担当者やセキュリティベンダに報告する、という初動…</a:t>
            </a:r>
          </a:p>
        </p:txBody>
      </p:sp>
      <p:sp>
        <p:nvSpPr>
          <p:cNvPr id="38" name="Rounded Rectangle 3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EPPとEDRの役割（EPP＝侵入の事前防止、EDR＝侵入後の検知・対応）を入れ替えるひっかけが頻出です。また「ランサムウェア対策として、バックアップ機器は常にネットワークに接続しておくべきである」という記述…</a:t>
            </a:r>
          </a:p>
        </p:txBody>
      </p:sp>
      <p:sp>
        <p:nvSpPr>
          <p:cNvPr id="39" name="Rectangle 3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41" name="TextBox 4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F-21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情報システムの評価（品質評価、価値評価）</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Rounded Rectangle 5"/>
          <p:cNvSpPr/>
          <p:nvPr/>
        </p:nvSpPr>
        <p:spPr>
          <a:xfrm>
            <a:off x="502920" y="1024128"/>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品質評価</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では、システムが備えるべき性質をいくつかの観点（品質特性）に分けて評価します。代表的な観点は次の通りです。</a:t>
            </a:r>
          </a:p>
        </p:txBody>
      </p:sp>
      <p:sp>
        <p:nvSpPr>
          <p:cNvPr id="10" name="Rounded Rectangle 9"/>
          <p:cNvSpPr/>
          <p:nvPr/>
        </p:nvSpPr>
        <p:spPr>
          <a:xfrm>
            <a:off x="4303776" y="1024128"/>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機能性</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利用者が必要とする機能を、正確に満たしているか</a:t>
            </a:r>
          </a:p>
        </p:txBody>
      </p:sp>
      <p:sp>
        <p:nvSpPr>
          <p:cNvPr id="14" name="Rounded Rectangle 13"/>
          <p:cNvSpPr/>
          <p:nvPr/>
        </p:nvSpPr>
        <p:spPr>
          <a:xfrm>
            <a:off x="8104632" y="1024128"/>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信頼性</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故障や障害が少なく、安定して稼働するか（F-11の信頼性設計の考え方とも関連）</a:t>
            </a:r>
          </a:p>
        </p:txBody>
      </p:sp>
      <p:sp>
        <p:nvSpPr>
          <p:cNvPr id="18" name="Rounded Rectangle 17"/>
          <p:cNvSpPr/>
          <p:nvPr/>
        </p:nvSpPr>
        <p:spPr>
          <a:xfrm>
            <a:off x="502920" y="3145536"/>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使用性（ユーザビリティ）</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利用者にとって使いやすいか（F-7の内容とも関連）</a:t>
            </a:r>
          </a:p>
        </p:txBody>
      </p:sp>
      <p:sp>
        <p:nvSpPr>
          <p:cNvPr id="22" name="Rounded Rectangle 21"/>
          <p:cNvSpPr/>
          <p:nvPr/>
        </p:nvSpPr>
        <p:spPr>
          <a:xfrm>
            <a:off x="4303776" y="3145536"/>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効率性</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限られた資源（処理時間、メモリ等）で効率よく動作するか</a:t>
            </a:r>
          </a:p>
        </p:txBody>
      </p:sp>
      <p:sp>
        <p:nvSpPr>
          <p:cNvPr id="26" name="Rounded Rectangle 25"/>
          <p:cNvSpPr/>
          <p:nvPr/>
        </p:nvSpPr>
        <p:spPr>
          <a:xfrm>
            <a:off x="8104632" y="3145536"/>
            <a:ext cx="3599688" cy="192024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保守性</a:t>
            </a:r>
          </a:p>
        </p:txBody>
      </p:sp>
      <p:sp>
        <p:nvSpPr>
          <p:cNvPr id="29" name="TextBox 28"/>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不具合の修正や機能追加がしやすいか</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しい在庫管理システムを導入した際、「入力ミスが減ったか」（機能性・信頼性）、「現場の担当者が迷わず操作できるか」（使用性）、「将来の店舗拡大にも対応できる作りになっているか」（保守性・移植性）といった品質面…</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品質評価の各観点（機能性・信頼性・使用性・効率性・保守性・移植性）は名前が似ているため、それぞれが何を指すかを混同しないようにしましょう。特に「効率性」（限られた資源での動作の良さ）と「効果性」（目的をどれだ…</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F-22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意思決定支援：問題分析・意思決定技法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Oval 5"/>
          <p:cNvSpPr/>
          <p:nvPr/>
        </p:nvSpPr>
        <p:spPr>
          <a:xfrm>
            <a:off x="4709160" y="1993392"/>
            <a:ext cx="2788920" cy="150876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600" b="1">
                <a:solidFill>
                  <a:srgbClr val="FFFFFF"/>
                </a:solidFill>
                <a:latin typeface="WenQuanYi Micro Hei"/>
              </a:rPr>
              <a:t>意思決定支援：問題分析・意思決定技法</a:t>
            </a:r>
          </a:p>
        </p:txBody>
      </p:sp>
      <p:cxnSp>
        <p:nvCxnSpPr>
          <p:cNvPr id="7" name="Connector 6"/>
          <p:cNvCxnSpPr/>
          <p:nvPr/>
        </p:nvCxnSpPr>
        <p:spPr>
          <a:xfrm flipH="1" flipV="1">
            <a:off x="1920240" y="1508760"/>
            <a:ext cx="4178808" cy="123444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0515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0515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1430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線形計画法（LP：リニア・プログラミング）</a:t>
            </a:r>
          </a:p>
        </p:txBody>
      </p:sp>
      <p:sp>
        <p:nvSpPr>
          <p:cNvPr id="11" name="TextBox 10"/>
          <p:cNvSpPr txBox="1"/>
          <p:nvPr/>
        </p:nvSpPr>
        <p:spPr>
          <a:xfrm>
            <a:off x="749808"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複数の制約条件（原材料の量、人員の稼働時間など）のもとで、利益を最大化する、あるいはコストを最小化するような、複数製品の最…</a:t>
            </a:r>
          </a:p>
        </p:txBody>
      </p:sp>
      <p:cxnSp>
        <p:nvCxnSpPr>
          <p:cNvPr id="12" name="Connector 11"/>
          <p:cNvCxnSpPr/>
          <p:nvPr/>
        </p:nvCxnSpPr>
        <p:spPr>
          <a:xfrm flipV="1">
            <a:off x="6099048" y="1508760"/>
            <a:ext cx="4160520" cy="123444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87968" y="10515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87968" y="10515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1430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デシジョンツリー分析（決定木分析）</a:t>
            </a:r>
          </a:p>
        </p:txBody>
      </p:sp>
      <p:sp>
        <p:nvSpPr>
          <p:cNvPr id="16" name="TextBox 15"/>
          <p:cNvSpPr txBox="1"/>
          <p:nvPr/>
        </p:nvSpPr>
        <p:spPr>
          <a:xfrm>
            <a:off x="9089136"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意思決定の選択肢と、その結果として起こりうる不確実な事象を、樹木のように枝分かれさせて図示し、それぞれの選択肢の期待値（見…</a:t>
            </a:r>
          </a:p>
        </p:txBody>
      </p:sp>
      <p:cxnSp>
        <p:nvCxnSpPr>
          <p:cNvPr id="17" name="Connector 16"/>
          <p:cNvCxnSpPr/>
          <p:nvPr/>
        </p:nvCxnSpPr>
        <p:spPr>
          <a:xfrm flipH="1">
            <a:off x="1920240" y="2743200"/>
            <a:ext cx="4178808" cy="128016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35661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576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PERT図（アローダイアグラム）／CPM（クリ…</a:t>
            </a:r>
          </a:p>
        </p:txBody>
      </p:sp>
      <p:sp>
        <p:nvSpPr>
          <p:cNvPr id="21" name="TextBox 20"/>
          <p:cNvSpPr txBox="1"/>
          <p:nvPr/>
        </p:nvSpPr>
        <p:spPr>
          <a:xfrm>
            <a:off x="749808"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複数の作業の順序関係をネットワーク図で表し、プロジェクト全体の所要期間や、最も時間のかかる経路（クリティカルパス）を求める…</a:t>
            </a:r>
          </a:p>
        </p:txBody>
      </p:sp>
      <p:cxnSp>
        <p:nvCxnSpPr>
          <p:cNvPr id="22" name="Connector 21"/>
          <p:cNvCxnSpPr/>
          <p:nvPr/>
        </p:nvCxnSpPr>
        <p:spPr>
          <a:xfrm>
            <a:off x="6099048" y="2743200"/>
            <a:ext cx="4160520" cy="1280160"/>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87968" y="3566160"/>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3566160"/>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3657600"/>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待ち行列理論</a:t>
            </a:r>
          </a:p>
        </p:txBody>
      </p:sp>
      <p:sp>
        <p:nvSpPr>
          <p:cNvPr id="26" name="TextBox 25"/>
          <p:cNvSpPr txBox="1"/>
          <p:nvPr/>
        </p:nvSpPr>
        <p:spPr>
          <a:xfrm>
            <a:off x="9089136"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窓口の数やサービスにかかる時間などの条件から、行列の長さや待ち時間を予測・分析する理論（コールセンターの受付窓口の数を検討…</a:t>
            </a:r>
          </a:p>
        </p:txBody>
      </p:sp>
      <p:cxnSp>
        <p:nvCxnSpPr>
          <p:cNvPr id="27" name="Connector 26"/>
          <p:cNvCxnSpPr/>
          <p:nvPr/>
        </p:nvCxnSpPr>
        <p:spPr>
          <a:xfrm flipH="1">
            <a:off x="4160520" y="2743200"/>
            <a:ext cx="1938528" cy="1810512"/>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88920" y="4096512"/>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4096512"/>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90088" y="4187952"/>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感度分析</a:t>
            </a:r>
          </a:p>
        </p:txBody>
      </p:sp>
      <p:sp>
        <p:nvSpPr>
          <p:cNvPr id="31" name="TextBox 30"/>
          <p:cNvSpPr txBox="1"/>
          <p:nvPr/>
        </p:nvSpPr>
        <p:spPr>
          <a:xfrm>
            <a:off x="2990088" y="4517136"/>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計画の前提となる条件（売上予測、原価など）が変化したときに、結果（利益など）がどれだけ変化するかを分析し、計画のリスクや不…</a:t>
            </a:r>
          </a:p>
        </p:txBody>
      </p:sp>
      <p:cxnSp>
        <p:nvCxnSpPr>
          <p:cNvPr id="32" name="Connector 31"/>
          <p:cNvCxnSpPr/>
          <p:nvPr/>
        </p:nvCxnSpPr>
        <p:spPr>
          <a:xfrm>
            <a:off x="6099048" y="2743200"/>
            <a:ext cx="1901952" cy="1810512"/>
          </a:xfrm>
          <a:prstGeom prst="line">
            <a:avLst/>
          </a:prstGeom>
          <a:ln w="19050">
            <a:solidFill>
              <a:srgbClr val="5B9EC2"/>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629400" y="4096512"/>
            <a:ext cx="2743200" cy="914400"/>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29400" y="4096512"/>
            <a:ext cx="73152" cy="91440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0568" y="4187952"/>
            <a:ext cx="2423160"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経営における意思決定を、勘や経験だけに頼らず、数…</a:t>
            </a:r>
          </a:p>
        </p:txBody>
      </p:sp>
      <p:sp>
        <p:nvSpPr>
          <p:cNvPr id="36" name="Rounded Rectangle 3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町工場が2種類の製品を作っているとします。それぞれの製品に必要な原材料の量と、工場の1日あたりの原材料の在庫量（制約条件）が決まっている中で、利益を最大にするにはそれぞれ何個ずつ作れば良いかを求めるのが線…</a:t>
            </a:r>
          </a:p>
        </p:txBody>
      </p:sp>
      <p:sp>
        <p:nvSpPr>
          <p:cNvPr id="37" name="Rounded Rectangle 3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デシジョンツリーの図で、意思決定者自身がコントロールできる分岐点（四角：□）と、確率に左右されコントロールできない分岐点（丸：○）を取り違えないようにしましょう。また、線形計画法は「利益の最大化」だけでなく「…</a:t>
            </a:r>
          </a:p>
        </p:txBody>
      </p:sp>
      <p:sp>
        <p:nvSpPr>
          <p:cNvPr id="38" name="Rectangle 3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40" name="TextBox 3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F-23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意思決定支援：データ分析技術と活用</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1｜平均　、データのばらつきの大きさを示す分散・標準偏差、2つの変数の間にどれだけ直線的な関係があるかを示す相関係数（…</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2｜回帰分析　ある変数（説明変数）から、別の変数（目的変数）の値を予測する式を統計的に求める手法。説明変数が2つ以上ある場…</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3｜多変量解析　多数の変数を同時に扱い、データの背後にある構造やパターンを分析する手法群の総称。次のような手法が含まれる</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4｜主成分分析　多数の変数が持つ情報を、できるだけ情報量を保ったまま少数の合成変数（主成分）に要約する手法</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5｜因子分析　観測されたいくつもの変数の背後に共通して存在する、直接は観測できない要因（因子）を推定する手法</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小売チェーンが、来店客数と気温のデータから「気温が1度上がると来店客数が何人増えるか」という関係式を求めるのは回帰分析です。また、多数の顧客の購買データをもとに「よくまとめ買いする客」「単価の高い商品を好…</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2つの変数に相関関係が見られれば、必ず一方がもう一方の原因である（因果関係がある）と言える」という考え方は誤りです。相関関係はあくまで「一緒に動く傾向がある」ことを示すに過ぎず、因果関係の証明にはなりません…</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0369A1"/>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F-24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意思決定支援：データサイエンス（AI、確率・統計）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0369A1"/>
                </a:solidFill>
                <a:latin typeface="WenQuanYi Micro Hei"/>
              </a:rPr>
              <a:t>経営情報管理（F-12〜F-24）</a:t>
            </a:r>
          </a:p>
        </p:txBody>
      </p:sp>
      <p:sp>
        <p:nvSpPr>
          <p:cNvPr id="6" name="Rounded Rectangle 5"/>
          <p:cNvSpPr/>
          <p:nvPr/>
        </p:nvSpPr>
        <p:spPr>
          <a:xfrm>
            <a:off x="838047" y="1024128"/>
            <a:ext cx="10515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1｜機械学習　とは、コンピュータが大量のデータからパターンやルールを自動的に学習する技術で、大きく3つに分類されます。</a:t>
            </a:r>
          </a:p>
        </p:txBody>
      </p:sp>
      <p:sp>
        <p:nvSpPr>
          <p:cNvPr id="7" name="Rounded Rectangle 6"/>
          <p:cNvSpPr/>
          <p:nvPr/>
        </p:nvSpPr>
        <p:spPr>
          <a:xfrm>
            <a:off x="1409547" y="1828800"/>
            <a:ext cx="9372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2｜教師あり学習　あらかじめ「正解」が付いたデータ（例：過去の顧客データと、実際に商品を購入したかどうかの結果）を使って学習し…</a:t>
            </a:r>
          </a:p>
        </p:txBody>
      </p:sp>
      <p:sp>
        <p:nvSpPr>
          <p:cNvPr id="8" name="Rounded Rectangle 7"/>
          <p:cNvSpPr/>
          <p:nvPr/>
        </p:nvSpPr>
        <p:spPr>
          <a:xfrm>
            <a:off x="1981047" y="2633472"/>
            <a:ext cx="8229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3｜教師なし学習　正解データを与えず、データそのものが持つパターンや構造（グループ分けなど）を発見する（F-23のクラスター分…</a:t>
            </a:r>
          </a:p>
        </p:txBody>
      </p:sp>
      <p:sp>
        <p:nvSpPr>
          <p:cNvPr id="9" name="Rounded Rectangle 8"/>
          <p:cNvSpPr/>
          <p:nvPr/>
        </p:nvSpPr>
        <p:spPr>
          <a:xfrm>
            <a:off x="2552547" y="3438144"/>
            <a:ext cx="7086600" cy="640080"/>
          </a:xfrm>
          <a:prstGeom prst="roundRect">
            <a:avLst/>
          </a:prstGeom>
          <a:solidFill>
            <a:srgbClr val="FFFF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4｜強化学習　試行錯誤を繰り返しながら、得られる報酬（成果）が最大になるような行動のルールを学習していく</a:t>
            </a:r>
          </a:p>
        </p:txBody>
      </p:sp>
      <p:sp>
        <p:nvSpPr>
          <p:cNvPr id="10" name="Rounded Rectangle 9"/>
          <p:cNvSpPr/>
          <p:nvPr/>
        </p:nvSpPr>
        <p:spPr>
          <a:xfrm>
            <a:off x="3124047" y="4242816"/>
            <a:ext cx="5943600" cy="640080"/>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5｜ディープラーニング（深層学習）　は、人間の脳の神経回路を模した「ニューラルネットワーク」を多層に重ねた構造を用いる機械学習の一手法で、画像認…</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過去の融資先データ（正解：返済できたか、延滞したか）を使って、新規の融資申込者が延滞するリスクを予測するモデルを作るのは教師あり学習の応用例です。一方、購買履歴データだけから「似た買い方をする顧客グループ」を…</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教師あり学習とは、正解データを使わずにデータのパターンを発見する手法である」という説明は誤りです（それは教師なし学習の説明）。教師あり学習と教師なし学習は、「正解データの有無」で区別される点を正確に覚えまし…</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docs/textbook/F_information_systems_textbook.md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0369A1"/>
                </a:solidFill>
                <a:latin typeface="WenQuanYi Micro He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700" b="1">
                <a:solidFill>
                  <a:srgbClr val="172033"/>
                </a:solidFill>
                <a:latin typeface="WenQuanYi Micro Hei"/>
              </a:rPr>
              <a:t>経営情報システム｜学習のまとめ</a:t>
            </a:r>
          </a:p>
        </p:txBody>
      </p:sp>
      <p:sp>
        <p:nvSpPr>
          <p:cNvPr id="4" name="Oval 3"/>
          <p:cNvSpPr/>
          <p:nvPr/>
        </p:nvSpPr>
        <p:spPr>
          <a:xfrm>
            <a:off x="4892040" y="2304288"/>
            <a:ext cx="2395728" cy="1417320"/>
          </a:xfrm>
          <a:prstGeom prst="ellipse">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5" name="Rounded Rectangle 4"/>
          <p:cNvSpPr/>
          <p:nvPr/>
        </p:nvSpPr>
        <p:spPr>
          <a:xfrm>
            <a:off x="4526280" y="105156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6280" y="105156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この教科書で、24論点すべての用語の意味・全体像…</a:t>
            </a:r>
          </a:p>
        </p:txBody>
      </p:sp>
      <p:cxnSp>
        <p:nvCxnSpPr>
          <p:cNvPr id="8" name="Connector 7"/>
          <p:cNvCxnSpPr/>
          <p:nvPr/>
        </p:nvCxnSpPr>
        <p:spPr>
          <a:xfrm>
            <a:off x="5980176" y="1563624"/>
            <a:ext cx="3447288" cy="123444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73568" y="228600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228600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problem_sets/1st_stage/e…</a:t>
            </a:r>
          </a:p>
        </p:txBody>
      </p:sp>
      <p:cxnSp>
        <p:nvCxnSpPr>
          <p:cNvPr id="12" name="Connector 11"/>
          <p:cNvCxnSpPr/>
          <p:nvPr/>
        </p:nvCxnSpPr>
        <p:spPr>
          <a:xfrm flipH="1">
            <a:off x="5980176" y="2798064"/>
            <a:ext cx="3447288" cy="150876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26280" y="379476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379476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problem_sets/1st_stage/F…</a:t>
            </a:r>
          </a:p>
        </p:txBody>
      </p:sp>
      <p:cxnSp>
        <p:nvCxnSpPr>
          <p:cNvPr id="16" name="Connector 15"/>
          <p:cNvCxnSpPr/>
          <p:nvPr/>
        </p:nvCxnSpPr>
        <p:spPr>
          <a:xfrm flipH="1" flipV="1">
            <a:off x="2532888" y="2798064"/>
            <a:ext cx="3447288" cy="150876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78992" y="2286000"/>
            <a:ext cx="2907792" cy="1024128"/>
          </a:xfrm>
          <a:prstGeom prst="roundRect">
            <a:avLst/>
          </a:prstGeom>
          <a:solidFill>
            <a:srgbClr val="FFFFFF"/>
          </a:solidFill>
          <a:ln w="15240">
            <a:solidFill>
              <a:srgbClr val="8EB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78992" y="2286000"/>
            <a:ext cx="73152" cy="102412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0369A1"/>
                </a:solidFill>
                <a:latin typeface="WenQuanYi Micro Hei"/>
              </a:rPr>
              <a:t>過去問本体（past_exams/1st_sta…</a:t>
            </a:r>
          </a:p>
        </p:txBody>
      </p:sp>
      <p:cxnSp>
        <p:nvCxnSpPr>
          <p:cNvPr id="20" name="Connector 19"/>
          <p:cNvCxnSpPr/>
          <p:nvPr/>
        </p:nvCxnSpPr>
        <p:spPr>
          <a:xfrm flipV="1">
            <a:off x="2532888" y="1563624"/>
            <a:ext cx="3447288" cy="1234440"/>
          </a:xfrm>
          <a:prstGeom prst="line">
            <a:avLst/>
          </a:prstGeom>
          <a:ln w="22860">
            <a:solidFill>
              <a:srgbClr val="5B9EC2"/>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5074920"/>
            <a:ext cx="10652760" cy="969264"/>
          </a:xfrm>
          <a:prstGeom prst="roundRect">
            <a:avLst/>
          </a:prstGeom>
          <a:solidFill>
            <a:srgbClr val="F0F9FF"/>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50" b="1">
                <a:solidFill>
                  <a:srgbClr val="0369A1"/>
                </a:solidFill>
                <a:latin typeface="WenQuanYi Micro Hei"/>
              </a:rPr>
              <a:t>次の一歩｜problem_sets/1st_stage/ の論点表と exercises/ の演習で、24論点を定着させる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経営情報システム 図解スライド</dc:title>
  <dc:subject>中小企業診断士 第1次試験</dc:subject>
  <dc:creator>SMEC Project</dc:creator>
  <cp:keywords>中小企業診断士, 教科書, 図解, スライド</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